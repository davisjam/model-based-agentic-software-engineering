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5.xml" ContentType="application/vnd.openxmlformats-officedocument.presentationml.slide+xml"/>
  <Override PartName="/ppt/slides/slide8.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32.xml" ContentType="application/vnd.openxmlformats-officedocument.presentationml.slide+xml"/>
  <Override PartName="/ppt/notesSlides/notesSlide32.xml" ContentType="application/vnd.openxmlformats-officedocument.presentationml.notes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16.xml" ContentType="application/vnd.openxmlformats-officedocument.presentationml.notesSlide+xml"/>
  <Override PartName="/ppt/notesSlides/notesSlide5.xml" ContentType="application/vnd.openxmlformats-officedocument.presentationml.notesSlide+xml"/>
  <Override PartName="/ppt/notesSlides/notesSlide3.xml" ContentType="application/vnd.openxmlformats-officedocument.presentationml.notesSlide+xml"/>
  <Override PartName="/ppt/notesSlides/notesSlide8.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2.xml" ContentType="application/vnd.openxmlformats-officedocument.presentationml.notesSlide+xml"/>
  <Override PartName="/ppt/notesSlides/notesSlide17.xml" ContentType="application/vnd.openxmlformats-officedocument.presentationml.notesSlide+xml"/>
  <Override PartName="/ppt/notesSlides/notesSlide10.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15.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0.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1.xml" ContentType="application/vnd.openxmlformats-officedocument.presentationml.notesSlide+xml"/>
</Types>
</file>

<file path=_rels/.rels><?xml version="1.0" encoding="UTF-8"?><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3"/>
  </p:notesMasterIdLst>
  <p:sldIdLst>
    <p:sldId id="517" r:id="rId2"/>
    <p:sldId id="738" r:id="rId3"/>
    <p:sldId id="760" r:id="rId38"/>
    <p:sldId id="751" r:id="rId17"/>
    <p:sldId id="744" r:id="rId6"/>
    <p:sldId id="651" r:id="rId4"/>
    <p:sldId id="746" r:id="rId9"/>
    <p:sldId id="747" r:id="rId12"/>
    <p:sldId id="748" r:id="rId13"/>
    <p:sldId id="749" r:id="rId14"/>
    <p:sldId id="750" r:id="rId15"/>
    <p:sldId id="701" r:id="rId23"/>
    <p:sldId id="752" r:id="rId18"/>
    <p:sldId id="731" r:id="rId11"/>
    <p:sldId id="712" r:id="rId19"/>
    <p:sldId id="713" r:id="rId20"/>
    <p:sldId id="735" r:id="rId21"/>
    <p:sldId id="753" r:id="rId22"/>
    <p:sldId id="720" r:id="rId16"/>
    <p:sldId id="754" r:id="rId24"/>
    <p:sldId id="755" r:id="rId25"/>
    <p:sldId id="638" r:id="rId26"/>
    <p:sldId id="756" r:id="rId27"/>
    <p:sldId id="740" r:id="rId31"/>
    <p:sldId id="759" r:id="rId28"/>
    <p:sldId id="757" r:id="rId29"/>
    <p:sldId id="739" r:id="rId30"/>
    <p:sldId id="741" r:id="rId3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766" autoAdjust="0"/>
    <p:restoredTop sz="56137"/>
  </p:normalViewPr>
  <p:slideViewPr>
    <p:cSldViewPr snapToGrid="0" snapToObjects="1">
      <p:cViewPr varScale="1">
        <p:scale>
          <a:sx n="107" d="100"/>
          <a:sy n="107" d="100"/>
        </p:scale>
        <p:origin x="3048" y="176"/>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presProps" Target="presProps.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ableStyles" Target="tableStyles.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3" Type="http://schemas.openxmlformats.org/officeDocument/2006/relationships/slide" Target="slides/slide2.xml"/><Relationship Id="rId38" Type="http://schemas.openxmlformats.org/officeDocument/2006/relationships/slide" Target="slides/slide32.xml"/></Relationships>
</file>

<file path=ppt/notesMasters/_rels/notesMaster1.xml.rels><?xml version="1.0" encoding="UTF-8"?><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9/10/26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30 seconds — Frame the move from what is acceptable to how one acceptable system should be organized.</a:t>
            </a:r>
          </a:p>
          <a:p>
            <a:endParaRPr dirty="0"/>
          </a:p>
          <a:p>
            <a:r>
              <a:rPr dirty="0"/>
              <a:t>- Yesterday: Specification — which realizations we are willing to accept. Today: pick one and organize it.</a:t>
            </a:r>
          </a:p>
          <a:p>
            <a:endParaRPr dirty="0"/>
          </a:p>
          <a:p>
            <a:r>
              <a:rPr dirty="0"/>
              <a:t>- Do not define architecture here. The definition lands on slide 3, after the problem that motivates it.</a:t>
            </a:r>
          </a:p>
          <a:p>
            <a:endParaRPr dirty="0"/>
          </a:p>
          <a:p>
            <a:r>
              <a:rPr dirty="0"/>
              <a:t>=====</a:t>
            </a:r>
          </a:p>
          <a:p>
            <a:r>
              <a:rPr dirty="0"/>
              <a:t>Last time we asked what must be true of an acceptable system, and we ended with a space of acceptable realizations. Today we take the next step: we choose one of those systems and ask how it should be organized.</a:t>
            </a:r>
          </a:p>
          <a:p>
            <a:endParaRPr dirty="0"/>
          </a:p>
          <a:p>
            <a:r>
              <a:rPr dirty="0"/>
              <a:t>That word — organized — is doing a lot of work. Before I define it, let me show you why we cannot avoid it.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90 seconds — Establish the problem that forces architecture: the separate views must coexist in one built machine.</a:t>
            </a:r>
          </a:p>
          <a:p>
            <a:endParaRPr dirty="0"/>
          </a:p>
          <a:p>
            <a:r>
              <a:rPr dirty="0"/>
              <a:t>- Explicit callback: yesterday we deliberately kept state, activity, schema, and timing as separate views. That separation was a modeling convenience, not a property of the product.</a:t>
            </a:r>
          </a:p>
          <a:p>
            <a:endParaRPr dirty="0"/>
          </a:p>
          <a:p>
            <a:r>
              <a:rPr dirty="0"/>
              <a:t>- Four quick clicks for the cards — do not re-teach the views; name each in a phrase and move.</a:t>
            </a:r>
          </a:p>
          <a:p>
            <a:endParaRPr dirty="0"/>
          </a:p>
          <a:p>
            <a:r>
              <a:rPr dirty="0"/>
              <a:t>- The last click is the point. Let ONE MACHINE sit for a beat before speaking over it.</a:t>
            </a:r>
          </a:p>
          <a:p>
            <a:endParaRPr dirty="0"/>
          </a:p>
          <a:p>
            <a:r>
              <a:rPr dirty="0"/>
              <a:t>=====</a:t>
            </a:r>
          </a:p>
          <a:p>
            <a:r>
              <a:rPr dirty="0"/>
              <a:t>Yesterday we were careful to keep our models apart. One view for state.</a:t>
            </a:r>
          </a:p>
          <a:p>
            <a:endParaRPr dirty="0"/>
          </a:p>
          <a:p>
            <a:r>
              <a:rPr dirty="0"/>
              <a:t>ANIMATE</a:t>
            </a:r>
          </a:p>
          <a:p>
            <a:endParaRPr dirty="0"/>
          </a:p>
          <a:p>
            <a:r>
              <a:rPr dirty="0"/>
              <a:t>One for activity — collect, then classify.</a:t>
            </a:r>
          </a:p>
          <a:p>
            <a:endParaRPr dirty="0"/>
          </a:p>
          <a:p>
            <a:r>
              <a:rPr dirty="0"/>
              <a:t>ANIMATE</a:t>
            </a:r>
          </a:p>
          <a:p>
            <a:endParaRPr dirty="0"/>
          </a:p>
          <a:p>
            <a:r>
              <a:rPr dirty="0"/>
              <a:t>One for the data — the night summary, the advice.</a:t>
            </a:r>
          </a:p>
          <a:p>
            <a:endParaRPr dirty="0"/>
          </a:p>
          <a:p>
            <a:r>
              <a:rPr dirty="0"/>
              <a:t>ANIMATE</a:t>
            </a:r>
          </a:p>
          <a:p>
            <a:endParaRPr dirty="0"/>
          </a:p>
          <a:p>
            <a:r>
              <a:rPr dirty="0"/>
              <a:t>And one for timing and the other obligations — sixty seconds, privacy, seven nights.</a:t>
            </a:r>
          </a:p>
          <a:p>
            <a:endParaRPr dirty="0"/>
          </a:p>
          <a:p>
            <a:r>
              <a:rPr dirty="0"/>
              <a:t>ANIMATE</a:t>
            </a:r>
          </a:p>
          <a:p>
            <a:endParaRPr dirty="0"/>
          </a:p>
          <a:p>
            <a:r>
              <a:rPr dirty="0"/>
              <a:t>Separation was the whole trick. Each view answered one kind of question well.</a:t>
            </a:r>
          </a:p>
          <a:p>
            <a:endParaRPr dirty="0"/>
          </a:p>
          <a:p>
            <a:r>
              <a:rPr dirty="0"/>
              <a:t>ANIMATE</a:t>
            </a:r>
          </a:p>
          <a:p>
            <a:endParaRPr dirty="0"/>
          </a:p>
          <a:p>
            <a:r>
              <a:rPr dirty="0"/>
              <a:t>But nobody ships four views.</a:t>
            </a:r>
          </a:p>
          <a:p>
            <a:endParaRPr dirty="0"/>
          </a:p>
          <a:p>
            <a:r>
              <a:rPr dirty="0"/>
              <a:t>ANIMATE</a:t>
            </a:r>
          </a:p>
          <a:p>
            <a:endParaRPr dirty="0"/>
          </a:p>
          <a:p>
            <a:r>
              <a:rPr dirty="0"/>
              <a:t>We have to build one machine, and in that machine every one of these concerns lives together — the state transitions run on the same processors that meet the timing budget, the schema lives in the same store the privacy rule governs. Something has to say how they coexist. That something needs a name and a definition.</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20 seconds — Mark the turn from what architecture is to how architectural decisions get made.</a:t>
            </a:r>
          </a:p>
          <a:p>
            <a:endParaRPr dirty="0"/>
          </a:p>
          <a:p>
            <a:r>
              <a:rPr dirty="0"/>
              <a:t>- Do not pause for discussion.</a:t>
            </a:r>
          </a:p>
          <a:p>
            <a:endParaRPr dirty="0"/>
          </a:p>
          <a:p>
            <a:r>
              <a:rPr dirty="0"/>
              <a:t>=====</a:t>
            </a:r>
          </a:p>
          <a:p>
            <a:r>
              <a:rPr dirty="0"/>
              <a:t>Section two. We have the vocabulary — parts, boundaries, interactions, properties. Now the uncomfortable part: several organizations satisfy the specification, and we must choose among them, under tradeoffs. Let us start by making you choose.</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Establish that boundaries decide what must be reasoned about together, and land the canonical boundary question.</a:t>
            </a:r>
          </a:p>
          <a:p>
            <a:endParaRPr dirty="0"/>
          </a:p>
          <a:p>
            <a:r>
              <a:rPr dirty="0"/>
              <a:t>- The header row is the test kit: change together? fail together? scale together? consistent together? secure together? owned together?</a:t>
            </a:r>
          </a:p>
          <a:p>
            <a:endParaRPr dirty="0"/>
          </a:p>
          <a:p>
            <a:r>
              <a:rPr dirty="0"/>
              <a:t>- Key sentence, say it verbatim: architecture allocates coupling; it does not eliminate it.</a:t>
            </a:r>
          </a:p>
          <a:p>
            <a:endParaRPr dirty="0"/>
          </a:p>
          <a:p>
            <a:r>
              <a:rPr dirty="0"/>
              <a:t>- Organizations A and B are both acceptable realizations of yesterday's system. Different boundaries, different coupling — neither is free.</a:t>
            </a:r>
          </a:p>
          <a:p>
            <a:endParaRPr dirty="0"/>
          </a:p>
          <a:p>
            <a:r>
              <a:rPr dirty="0"/>
              <a:t>=====</a:t>
            </a:r>
          </a:p>
          <a:p>
            <a:r>
              <a:rPr dirty="0"/>
              <a:t>A boundary is a promise about reasoning: things on the same side may be understood, changed, and operated together; things on opposite sides should be understandable apart.</a:t>
            </a:r>
          </a:p>
          <a:p>
            <a:endParaRPr dirty="0"/>
          </a:p>
          <a:p>
            <a:r>
              <a:rPr dirty="0"/>
              <a:t>Here are two organizations of the same system — the one we specified yesterday. Organization A slices by pipeline stage: collect, classify, summarize, advise. Organization B groups collection with storage, modeling with advice, and isolates sharing.</a:t>
            </a:r>
          </a:p>
          <a:p>
            <a:endParaRPr dirty="0"/>
          </a:p>
          <a:p>
            <a:r>
              <a:rPr dirty="0"/>
              <a:t>Run the tests in the header. Which pieces change together when the advice format changes? Which fail together when the store is down? Which must be consistent with each other? A and B give different answers — and neither eliminates the coupling; each one chooses where it lives.</a:t>
            </a:r>
          </a:p>
          <a:p>
            <a:endParaRPr dirty="0"/>
          </a:p>
          <a:p>
            <a:r>
              <a:rPr dirty="0"/>
              <a:t>So the canonical question of this lecture: where should we draw boundaries so the interactions and changes we expect are easy, while the interactions and changes we do not want are difficult?</a:t>
            </a:r>
          </a:p>
          <a:p>
            <a:endParaRPr dirty="0"/>
          </a:p>
          <a:p>
            <a:r>
              <a:rPr dirty="0"/>
              <a:t>Notice both organizations are acceptable. The specification will not choose between them. Somebody has to — and that is a decision. Section 2 is about making it honestly.</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5 minutes — Students confront a choice they cannot resolve without preference and information; that discomfort motivates the whole section.</a:t>
            </a:r>
          </a:p>
          <a:p>
            <a:endParaRPr dirty="0"/>
          </a:p>
          <a:p>
            <a:r>
              <a:rPr dirty="0"/>
              <a:t>- Hold the timing firmly: 1 think, 2 pair, 2 share. Do not let the share run.</a:t>
            </a:r>
          </a:p>
          <a:p>
            <a:endParaRPr dirty="0"/>
          </a:p>
          <a:p>
            <a:r>
              <a:rPr dirty="0"/>
              <a:t>- Force a commitment: everyone picks A or B before pairing. No abstentions — the point is what committing requires.</a:t>
            </a:r>
          </a:p>
          <a:p>
            <a:endParaRPr dirty="0"/>
          </a:p>
          <a:p>
            <a:r>
              <a:rPr dirty="0"/>
              <a:t>- Likely answers: 'A if latency matters, B if cost matters' (good — that is a missing preference); 'depends on how much traffic / how often it changes' (good — that is missing information). Push both kinds to say what exactly they would need to know.</a:t>
            </a:r>
          </a:p>
          <a:p>
            <a:endParaRPr dirty="0"/>
          </a:p>
          <a:p>
            <a:r>
              <a:rPr dirty="0"/>
              <a:t>- Do NOT teach dominance or Pareto here. Let the impasse stand; the next slides give it vocabulary.</a:t>
            </a:r>
          </a:p>
          <a:p>
            <a:endParaRPr dirty="0"/>
          </a:p>
          <a:p>
            <a:r>
              <a:rPr dirty="0"/>
              <a:t>=====</a:t>
            </a:r>
          </a:p>
          <a:p>
            <a:r>
              <a:rPr dirty="0"/>
              <a:t>Two architectures for the same specification. A is faster and more available; B is cheaper and easier to change locally. Both acceptable.</a:t>
            </a:r>
          </a:p>
          <a:p>
            <a:endParaRPr dirty="0"/>
          </a:p>
          <a:p>
            <a:r>
              <a:rPr dirty="0"/>
              <a:t>ANIMATE</a:t>
            </a:r>
          </a:p>
          <a:p>
            <a:endParaRPr dirty="0"/>
          </a:p>
          <a:p>
            <a:r>
              <a:rPr dirty="0"/>
              <a:t>Choose one. One minute, alone, and write down the reason you would defend.</a:t>
            </a:r>
          </a:p>
          <a:p>
            <a:endParaRPr dirty="0"/>
          </a:p>
          <a:p>
            <a:r>
              <a:rPr dirty="0"/>
              <a:t>Now two minutes with a neighbor: compare choices, and list what you would need to know — about the users, the budget, the future — to defend your answer to an engineering review.</a:t>
            </a:r>
          </a:p>
          <a:p>
            <a:endParaRPr dirty="0"/>
          </a:p>
          <a:p>
            <a:r>
              <a:rPr dirty="0"/>
              <a:t>Take two or three pairs. Push on the ones who disagree: what fact or what priority would settle it between you?</a:t>
            </a:r>
          </a:p>
          <a:p>
            <a:endParaRPr dirty="0"/>
          </a:p>
          <a:p>
            <a:r>
              <a:rPr dirty="0"/>
              <a:t>Close on the observation, not an answer: nobody could choose without either a preference — what matters more, latency or cost? — or information we do not have. Hold onto that. First, let me show you the wrong way to escape the discomfort.</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Layers constrain dependency direction; mmap shows the rule of thumb deliberately broken for profit.</a:t>
            </a:r>
          </a:p>
          <a:p>
            <a:endParaRPr dirty="0"/>
          </a:p>
          <a:p>
            <a:r>
              <a:rPr dirty="0"/>
              <a:t>- The pattern: each layer may depend only downward. The prior: substitution and change-isolation get easier; strictness costs indirection.</a:t>
            </a:r>
          </a:p>
          <a:p>
            <a:endParaRPr dirty="0"/>
          </a:p>
          <a:p>
            <a:r>
              <a:rPr dirty="0"/>
              <a:t>- mmap is not a bug or laziness — it is a deliberate crossing that buys something real: file-backed data participates in virtual memory; pages fault in on demand.</a:t>
            </a:r>
          </a:p>
          <a:p>
            <a:endParaRPr dirty="0"/>
          </a:p>
          <a:p>
            <a:r>
              <a:rPr dirty="0"/>
              <a:t>- That is precisely why 'follow the layered pattern' is a rule of thumb, not a law: the mature judgment is knowing what the rule buys and when crossing it buys more.</a:t>
            </a:r>
          </a:p>
          <a:p>
            <a:endParaRPr dirty="0"/>
          </a:p>
          <a:p>
            <a:r>
              <a:rPr dirty="0"/>
              <a:t>=====</a:t>
            </a:r>
          </a:p>
          <a:p>
            <a:r>
              <a:rPr dirty="0"/>
              <a:t>Layers: organize the system so each part depends only on the layer beneath it. The prior is strong — you can replace the infrastructure without rewriting the domain, understand one stratum at a time, contain change below an interface.</a:t>
            </a:r>
          </a:p>
          <a:p>
            <a:endParaRPr dirty="0"/>
          </a:p>
          <a:p>
            <a:r>
              <a:rPr dirty="0"/>
              <a:t>And then real systems do this. mmap. The application is supposed to reach files through the file API, layer by layer. mmap instead wires a file straight into the process's virtual memory: touch a page, the fault handler pulls it from storage.</a:t>
            </a:r>
          </a:p>
          <a:p>
            <a:endParaRPr dirty="0"/>
          </a:p>
          <a:p>
            <a:r>
              <a:rPr dirty="0"/>
              <a:t>That is a layer crossing, done on purpose, by people who understood layering perfectly well. And it buys something the clean route cannot: file-backed data participating in the paging machinery itself — no copy through the API, demand paging for free.</a:t>
            </a:r>
          </a:p>
          <a:p>
            <a:endParaRPr dirty="0"/>
          </a:p>
          <a:p>
            <a:r>
              <a:rPr dirty="0"/>
              <a:t>This is what I mean by rule of thumb, not law. The pattern earns its keep as a default; the exceptions are engineered, priced, and paid for. Follow the layered pattern — until you can name exactly what crossing it buys you.</a:t>
            </a:r>
          </a:p>
          <a:p>
            <a:endParaRPr dirty="0"/>
          </a:p>
          <a:p>
            <a:r>
              <a:rPr dirty="0"/>
              <a:t>Layers came from operating systems. The next pattern grew up in interactive applications.</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Inoculate against fake quantification: a spreadsheet does not turn preferences into measurement.</a:t>
            </a:r>
          </a:p>
          <a:p>
            <a:endParaRPr dirty="0"/>
          </a:p>
          <a:p>
            <a:r>
              <a:rPr dirty="0"/>
              <a:t>- Tone: autopsy, not ridicule. Every student will meet this matrix in industry; some will build one.</a:t>
            </a:r>
          </a:p>
          <a:p>
            <a:endParaRPr dirty="0"/>
          </a:p>
          <a:p>
            <a:r>
              <a:rPr dirty="0"/>
              <a:t>- Three callout clicks. Let students read the verdict line first — 3.95 to 3.70 looks decisive precisely because it is precise.</a:t>
            </a:r>
          </a:p>
          <a:p>
            <a:endParaRPr dirty="0"/>
          </a:p>
          <a:p>
            <a:r>
              <a:rPr dirty="0"/>
              <a:t>- The deliberately spurious precision is the trap: two decimal places of confidence resting on invented inputs.</a:t>
            </a:r>
          </a:p>
          <a:p>
            <a:endParaRPr dirty="0"/>
          </a:p>
          <a:p>
            <a:r>
              <a:rPr dirty="0"/>
              <a:t>=====</a:t>
            </a:r>
          </a:p>
          <a:p>
            <a:r>
              <a:rPr dirty="0"/>
              <a:t>Here is a popular way out of the discomfort you just felt. Score each architecture on each property, weight the properties, multiply, add. A wins, 3.95 to 3.70. Done — the numbers decided, no judgment required.</a:t>
            </a:r>
          </a:p>
          <a:p>
            <a:endParaRPr dirty="0"/>
          </a:p>
          <a:p>
            <a:r>
              <a:rPr dirty="0"/>
              <a:t>Three questions.</a:t>
            </a:r>
          </a:p>
          <a:p>
            <a:endParaRPr dirty="0"/>
          </a:p>
          <a:p>
            <a:r>
              <a:rPr dirty="0"/>
              <a:t>ANIMATE</a:t>
            </a:r>
          </a:p>
          <a:p>
            <a:endParaRPr dirty="0"/>
          </a:p>
          <a:p>
            <a:r>
              <a:rPr dirty="0"/>
              <a:t>Where did point-three-zero come from? Who decided performance is worth thirty percent — and would the ranking survive point-two-five?</a:t>
            </a:r>
          </a:p>
          <a:p>
            <a:endParaRPr dirty="0"/>
          </a:p>
          <a:p>
            <a:r>
              <a:rPr dirty="0"/>
              <a:t>ANIMATE</a:t>
            </a:r>
          </a:p>
          <a:p>
            <a:endParaRPr dirty="0"/>
          </a:p>
          <a:p>
            <a:r>
              <a:rPr dirty="0"/>
              <a:t>What is a five? What unit is reliability measured in, such that A has five of it? Is the distance from 3 to 4 the same as from 4 to 5?</a:t>
            </a:r>
          </a:p>
          <a:p>
            <a:endParaRPr dirty="0"/>
          </a:p>
          <a:p>
            <a:r>
              <a:rPr dirty="0"/>
              <a:t>ANIMATE</a:t>
            </a:r>
          </a:p>
          <a:p>
            <a:endParaRPr dirty="0"/>
          </a:p>
          <a:p>
            <a:r>
              <a:rPr dirty="0"/>
              <a:t>And why may cost compensate for reliability at all? The weighted sum assumes every dimension trades against every other at a fixed rate. Nobody decided that; the arithmetic smuggled it in.</a:t>
            </a:r>
          </a:p>
          <a:p>
            <a:endParaRPr dirty="0"/>
          </a:p>
          <a:p>
            <a:r>
              <a:rPr dirty="0"/>
              <a:t>It is not measurement merely because a spreadsheet produced a number. The inputs are judgments; the output inherits exactly their authority, dressed up with two decimal places.</a:t>
            </a:r>
          </a:p>
          <a:p>
            <a:endParaRPr dirty="0"/>
          </a:p>
          <a:p>
            <a:r>
              <a:rPr dirty="0"/>
              <a:t>So is there anything rigorous we can do? Yes — two honest moves, before judgment ever enters.</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Give the two legitimate elimination moves: specification removes the infeasible, dominance removes the clearly worse.</a:t>
            </a:r>
          </a:p>
          <a:p>
            <a:endParaRPr dirty="0"/>
          </a:p>
          <a:p>
            <a:r>
              <a:rPr dirty="0"/>
              <a:t>- Key sentence: constraints are not objectives. A required latency is not a preference to trade — it is a boundary.</a:t>
            </a:r>
          </a:p>
          <a:p>
            <a:endParaRPr dirty="0"/>
          </a:p>
          <a:p>
            <a:r>
              <a:rPr dirty="0"/>
              <a:t>- Explain dominance plainly: D is no better than A anywhere and worse somewhere, so discarding D costs nothing. No weights, no scores.</a:t>
            </a:r>
          </a:p>
          <a:p>
            <a:endParaRPr dirty="0"/>
          </a:p>
          <a:p>
            <a:r>
              <a:rPr dirty="0"/>
              <a:t>- These two moves are honest because they need no preference at all.</a:t>
            </a:r>
          </a:p>
          <a:p>
            <a:endParaRPr dirty="0"/>
          </a:p>
          <a:p>
            <a:r>
              <a:rPr dirty="0"/>
              <a:t>=====</a:t>
            </a:r>
          </a:p>
          <a:p>
            <a:r>
              <a:rPr dirty="0"/>
              <a:t>Before any judgment, two filters.</a:t>
            </a:r>
          </a:p>
          <a:p>
            <a:endParaRPr dirty="0"/>
          </a:p>
          <a:p>
            <a:r>
              <a:rPr dirty="0"/>
              <a:t>First, the specification. Constraints are not objectives — they are not properties we would like more of, they are lines we may not cross. B violates the required latency. B is not a worse choice; B is not a choice. Notice yesterday's work just did something for us: elimination is only rigorous because the obligations were explicit.</a:t>
            </a:r>
          </a:p>
          <a:p>
            <a:endParaRPr dirty="0"/>
          </a:p>
          <a:p>
            <a:r>
              <a:rPr dirty="0"/>
              <a:t>Second, dominance. Compare D with A: on every property we care about, D is no better, and on at least one it is strictly worse. Choosing D over A could never be right, under any weighting of the properties. So D goes — and notice we never needed a weight or a score to say so.</a:t>
            </a:r>
          </a:p>
          <a:p>
            <a:endParaRPr dirty="0"/>
          </a:p>
          <a:p>
            <a:r>
              <a:rPr dirty="0"/>
              <a:t>Both moves are mechanical. Neither required us to decide what matters more. The question is what happens when the filters finish and more than one candidate is still standing.</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90 seconds — Establish that among nondominated alternatives, mathematics has no further move; judgment chooses.</a:t>
            </a:r>
          </a:p>
          <a:p>
            <a:endParaRPr dirty="0"/>
          </a:p>
          <a:p>
            <a:r>
              <a:rPr dirty="0"/>
              <a:t>- Axes are deliberately generic — instantiate orally with the running pair: rightward better latency, upward lower cost. A fast and expensive; C cheap and slower.</a:t>
            </a:r>
          </a:p>
          <a:p>
            <a:endParaRPr dirty="0"/>
          </a:p>
          <a:p>
            <a:r>
              <a:rPr dirty="0"/>
              <a:t>- Each remaining point beats the others somewhere. That is what a real tradeoff IS.</a:t>
            </a:r>
          </a:p>
          <a:p>
            <a:endParaRPr dirty="0"/>
          </a:p>
          <a:p>
            <a:r>
              <a:rPr dirty="0"/>
              <a:t>- Judgment here is not arbitrary: stakeholder priorities, consequence of failure, context. It is accountable — but it is not arithmetic.</a:t>
            </a:r>
          </a:p>
          <a:p>
            <a:endParaRPr dirty="0"/>
          </a:p>
          <a:p>
            <a:r>
              <a:rPr dirty="0"/>
              <a:t>=====</a:t>
            </a:r>
          </a:p>
          <a:p>
            <a:r>
              <a:rPr dirty="0"/>
              <a:t>Here is what remains after the two filters. Suppose each axis represents a property for which movement toward the arrow is better. A sits fast but expensive; C cheap but slower. No survivor dominates another: each is the best answer to some legitimate weighting of what matters.</a:t>
            </a:r>
          </a:p>
          <a:p>
            <a:endParaRPr dirty="0"/>
          </a:p>
          <a:p>
            <a:r>
              <a:rPr dirty="0"/>
              <a:t>This is the honest picture of an architectural decision. Mathematics carried us exactly this far — it removed the infeasible and the indefensible — and it has no next move. The choice among these points belongs to judgment: whose needs dominate, what failure costs, what this organization can operate.</a:t>
            </a:r>
          </a:p>
          <a:p>
            <a:endParaRPr dirty="0"/>
          </a:p>
          <a:p>
            <a:r>
              <a:rPr dirty="0"/>
              <a:t>Judgment is not a coin flip. It can be argued, reviewed, and owned. But there is one more honest move available before committing — sometimes the right decision is to not decide yet.</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90 seconds — Give the buy-information rule: if resolving an uncertainty could change the choice, evidence may be worth its price.</a:t>
            </a:r>
          </a:p>
          <a:p>
            <a:endParaRPr dirty="0"/>
          </a:p>
          <a:p>
            <a:r>
              <a:rPr dirty="0"/>
              <a:t>- The test is the diamond: could knowing more change the decision? If no — deciding now is free. If yes — model, prototype, measure, IF the information costs less than it is worth.</a:t>
            </a:r>
          </a:p>
          <a:p>
            <a:endParaRPr dirty="0"/>
          </a:p>
          <a:p>
            <a:r>
              <a:rPr dirty="0"/>
              <a:t>- No expected-utility math. Keep it as an intuition with two failure modes: buying evidence that could not change anything, and refusing to buy evidence that would.</a:t>
            </a:r>
          </a:p>
          <a:p>
            <a:endParaRPr dirty="0"/>
          </a:p>
          <a:p>
            <a:r>
              <a:rPr dirty="0"/>
              <a:t>- Plant quietly: Section 4 is entirely about the cheapest of these purchases — models. The closing slide of that section returns to this box.</a:t>
            </a:r>
          </a:p>
          <a:p>
            <a:endParaRPr dirty="0"/>
          </a:p>
          <a:p>
            <a:r>
              <a:rPr dirty="0"/>
              <a:t>=====</a:t>
            </a:r>
          </a:p>
          <a:p>
            <a:r>
              <a:rPr dirty="0"/>
              <a:t>You are uncertain between A and C. Ask one question first: if I knew the answer — the real traffic, the real failure rate — could it change which architecture I pick?</a:t>
            </a:r>
          </a:p>
          <a:p>
            <a:endParaRPr dirty="0"/>
          </a:p>
          <a:p>
            <a:r>
              <a:rPr dirty="0"/>
              <a:t>If no, stop. Information that cannot change the decision is worthless, however interesting. Decide now.</a:t>
            </a:r>
          </a:p>
          <a:p>
            <a:endParaRPr dirty="0"/>
          </a:p>
          <a:p>
            <a:r>
              <a:rPr dirty="0"/>
              <a:t>If yes, you can buy the answer: build a model, a prototype, a measurement. Evidence has a price in time and money — the purchase is rational when the decision it might save is worth more than the evidence costs.</a:t>
            </a:r>
          </a:p>
          <a:p>
            <a:endParaRPr dirty="0"/>
          </a:p>
          <a:p>
            <a:r>
              <a:rPr dirty="0"/>
              <a:t>Engineers skip this move in both directions: agonizing without buying the fact that would settle it, or measuring things no decision depends on. The test is always the same diamond.</a:t>
            </a:r>
          </a:p>
          <a:p>
            <a:endParaRPr dirty="0"/>
          </a:p>
          <a:p>
            <a:r>
              <a:rPr dirty="0"/>
              <a:t>Now — everything so far assumed candidates on the table. Where do candidate organizations come from in the first place? You are not the first engineer to face this. Section three.</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20 seconds — Mark the turn from priors to analysis: what can we actually know before building?</a:t>
            </a:r>
          </a:p>
          <a:p>
            <a:endParaRPr dirty="0"/>
          </a:p>
          <a:p>
            <a:r>
              <a:rPr dirty="0"/>
              <a:t>- Do not pause for discussion.</a:t>
            </a:r>
          </a:p>
          <a:p>
            <a:endParaRPr dirty="0"/>
          </a:p>
          <a:p>
            <a:r>
              <a:rPr dirty="0"/>
              <a:t>=====</a:t>
            </a:r>
          </a:p>
          <a:p>
            <a:r>
              <a:rPr dirty="0"/>
              <a:t>Section four. We have candidate organizations and rules of thumb about them. The question now: how much can we know about a system that does not exist yet? More than you might think — architecture makes some properties analyzable.</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 minute — Lay out the four questions as the map for the lecture; each later section answers one.</a:t>
            </a:r>
          </a:p>
          <a:p>
            <a:endParaRPr dirty="0"/>
          </a:p>
          <a:p>
            <a:r>
              <a:rPr dirty="0"/>
              <a:t>- Read all four; do not elaborate any of them yet. Every section of today answers one or more.</a:t>
            </a:r>
          </a:p>
          <a:p>
            <a:endParaRPr dirty="0"/>
          </a:p>
          <a:p>
            <a:r>
              <a:rPr dirty="0"/>
              <a:t>- The fourth question — properties — is the one students underrate. Flag it: latency, security, change, failure are decided here, not discovered later.</a:t>
            </a:r>
          </a:p>
          <a:p>
            <a:endParaRPr dirty="0"/>
          </a:p>
          <a:p>
            <a:r>
              <a:rPr dirty="0"/>
              <a:t>=====</a:t>
            </a:r>
          </a:p>
          <a:p>
            <a:r>
              <a:rPr dirty="0"/>
              <a:t>Unpack the definition and you get four questions. What are the parts? Where are the boundaries between them? How may the parts interact? And what properties must the organization support — latency, security, tolerance to change, behavior under failure?</a:t>
            </a:r>
          </a:p>
          <a:p>
            <a:endParaRPr dirty="0"/>
          </a:p>
          <a:p>
            <a:r>
              <a:rPr dirty="0"/>
              <a:t>The first three sound structural. The fourth is why the structure matters: we do not draw boxes for their own sake, we draw them because the drawing determines what the system can promise.</a:t>
            </a:r>
          </a:p>
          <a:p>
            <a:endParaRPr dirty="0"/>
          </a:p>
          <a:p>
            <a:r>
              <a:rPr dirty="0"/>
              <a:t>Of these, the boundary question is where the consequences concentrate. Let us look at it properly.</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Patterns matter twice: they supply candidate organizations, and priors about the consequences. Priors are evidence, not guarantees.</a:t>
            </a:r>
          </a:p>
          <a:p>
            <a:endParaRPr dirty="0"/>
          </a:p>
          <a:p>
            <a:r>
              <a:rPr dirty="0"/>
              <a:t>- Two outputs of the diagram: an organization to try, and an expectation — tends to make X easier and Y harder.</a:t>
            </a:r>
          </a:p>
          <a:p>
            <a:endParaRPr dirty="0"/>
          </a:p>
          <a:p>
            <a:r>
              <a:rPr dirty="0"/>
              <a:t>- Resolve the tension with the matrix slide EXPLICITLY — students who were paying attention should be asking. The matrix invented numbers and called them proof. A prior is a legitimate input to judgment; the dishonesty was the arithmetic costume, not the use of experience.</a:t>
            </a:r>
          </a:p>
          <a:p>
            <a:endParaRPr dirty="0"/>
          </a:p>
          <a:p>
            <a:r>
              <a:rPr dirty="0"/>
              <a:t>- The dial: small, familiar, low-consequence — take the conventional organization and proceed; an educated guess, or an AI agent, recognizes it fine. As scale, novelty, interaction, or consequence rises, the canned tradeoff degrades into a hypothesis to investigate.</a:t>
            </a:r>
          </a:p>
          <a:p>
            <a:endParaRPr dirty="0"/>
          </a:p>
          <a:p>
            <a:r>
              <a:rPr dirty="0"/>
              <a:t>=====</a:t>
            </a:r>
          </a:p>
          <a:p>
            <a:r>
              <a:rPr dirty="0"/>
              <a:t>A pattern is compressed experience. Enough engineers hit a recurring problem, some organizations kept working, and the field remembered two things: the organization itself, and what tended to happen to the systems organized that way.</a:t>
            </a:r>
          </a:p>
          <a:p>
            <a:endParaRPr dirty="0"/>
          </a:p>
          <a:p>
            <a:r>
              <a:rPr dirty="0"/>
              <a:t>So patterns feed our decision framework twice. They put candidates on the table you would not have invented from scratch. And they hand each candidate a prior: this shape tends to make X easier and Y harder.</a:t>
            </a:r>
          </a:p>
          <a:p>
            <a:endParaRPr dirty="0"/>
          </a:p>
          <a:p>
            <a:r>
              <a:rPr dirty="0"/>
              <a:t>Now, some of you should be objecting. Twenty minutes ago I mocked a spreadsheet for exactly this — deciding from opinions. Here is the difference. The matrix took judgments, dressed them as arithmetic, and claimed the number proved the choice. A rule of thumb claims nothing of the sort — it is experience, offered as evidence, with its uncertainty showing. Rules of thumb are legitimate inputs to judgment. They are not analytical proof.</a:t>
            </a:r>
          </a:p>
          <a:p>
            <a:endParaRPr dirty="0"/>
          </a:p>
          <a:p>
            <a:r>
              <a:rPr dirty="0"/>
              <a:t>So the discipline: for a small, familiar, low-stakes system, take the conventional organization and get on with it — an educated guess is fine, and frankly an AI agent will recognize the convention too. But as scale, novelty, interaction, or consequence grows, the pattern's promise stops being a conclusion and becomes a hypothesis you must test.</a:t>
            </a:r>
          </a:p>
          <a:p>
            <a:endParaRPr dirty="0"/>
          </a:p>
          <a:p>
            <a:r>
              <a:rPr dirty="0"/>
              <a:t>Let us meet four of these patterns — and for each one, I want you to hear both the prior and the question it does not answer. Start with the oldest: layers.</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 minute — MVC separates model, view, and interaction logic; the prior and its price in three sentences each.</a:t>
            </a:r>
          </a:p>
          <a:p>
            <a:endParaRPr dirty="0"/>
          </a:p>
          <a:p>
            <a:r>
              <a:rPr dirty="0"/>
              <a:t>- Prior: multiple presentations of one model, and independent evolution of each corner.</a:t>
            </a:r>
          </a:p>
          <a:p>
            <a:endParaRPr dirty="0"/>
          </a:p>
          <a:p>
            <a:r>
              <a:rPr dirty="0"/>
              <a:t>- Price: coordination and indirection — a simple edit now takes a tour.</a:t>
            </a:r>
          </a:p>
          <a:p>
            <a:endParaRPr dirty="0"/>
          </a:p>
          <a:p>
            <a:r>
              <a:rPr dirty="0"/>
              <a:t>- Engineering question the prior does not answer: does THIS system need multiple presentations, and can we afford the indirection where the interaction is hot?</a:t>
            </a:r>
          </a:p>
          <a:p>
            <a:endParaRPr dirty="0"/>
          </a:p>
          <a:p>
            <a:r>
              <a:rPr dirty="0"/>
              <a:t>=====</a:t>
            </a:r>
          </a:p>
          <a:p>
            <a:r>
              <a:rPr dirty="0"/>
              <a:t>Model-view-controller. Keep what the system knows — the model — apart from what the user sees — the view — apart from the logic that turns input into change — the controller.</a:t>
            </a:r>
          </a:p>
          <a:p>
            <a:endParaRPr dirty="0"/>
          </a:p>
          <a:p>
            <a:r>
              <a:rPr dirty="0"/>
              <a:t>The expectation it carries: you can hang several views off one model, and the three corners evolve independently. The cost it carries: indirection — a one-line change of behavior can become a three-part negotiation.</a:t>
            </a:r>
          </a:p>
          <a:p>
            <a:endParaRPr dirty="0"/>
          </a:p>
          <a:p>
            <a:r>
              <a:rPr dirty="0"/>
              <a:t>And the question the pattern cannot answer for you: does this system actually need multiple presentations? Will it, within its lifetime? If not, you are paying the coordination tax for a benefit that never arrives.</a:t>
            </a:r>
          </a:p>
          <a:p>
            <a:endParaRPr dirty="0"/>
          </a:p>
          <a:p>
            <a:r>
              <a:rPr dirty="0"/>
              <a:t>MVC separates computation from presentation. Sometimes the organizing pressure is different — everyone needs the same state.</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 minute — Repository organizes around shared authoritative state; consistency bought with central coupling.</a:t>
            </a:r>
          </a:p>
          <a:p>
            <a:endParaRPr dirty="0"/>
          </a:p>
          <a:p>
            <a:r>
              <a:rPr dirty="0"/>
              <a:t>- Prior: one authoritative representation simplifies consistency and integration — everyone reads the same truth.</a:t>
            </a:r>
          </a:p>
          <a:p>
            <a:endParaRPr dirty="0"/>
          </a:p>
          <a:p>
            <a:r>
              <a:rPr dirty="0"/>
              <a:t>- Price: everyone depends on the center — schema coupling, potential bottleneck, shared fate.</a:t>
            </a:r>
          </a:p>
          <a:p>
            <a:endParaRPr dirty="0"/>
          </a:p>
          <a:p>
            <a:r>
              <a:rPr dirty="0"/>
              <a:t>- Engineering question: under OUR load and OUR change pattern, is the center a bottleneck — in performance or in evolution?</a:t>
            </a:r>
          </a:p>
          <a:p>
            <a:endParaRPr dirty="0"/>
          </a:p>
          <a:p>
            <a:r>
              <a:rPr dirty="0"/>
              <a:t>=====</a:t>
            </a:r>
          </a:p>
          <a:p>
            <a:r>
              <a:rPr dirty="0"/>
              <a:t>The repository. Put the authoritative state in the middle; the tools — input, analysis, reporting, optimization — all read and write the shared representation.</a:t>
            </a:r>
          </a:p>
          <a:p>
            <a:endParaRPr dirty="0"/>
          </a:p>
          <a:p>
            <a:r>
              <a:rPr dirty="0"/>
              <a:t>What experience says it buys: consistency and integration become almost free. No pairwise translations between tools; one truth.</a:t>
            </a:r>
          </a:p>
          <a:p>
            <a:endParaRPr dirty="0"/>
          </a:p>
          <a:p>
            <a:r>
              <a:rPr dirty="0"/>
              <a:t>What experience says it costs: the center is now everyone's dependency. Change the shared schema and every tool feels it. Load the store and every tool waits. Consistency up; central coupling up — the slide says both because both are the pattern.</a:t>
            </a:r>
          </a:p>
          <a:p>
            <a:endParaRPr dirty="0"/>
          </a:p>
          <a:p>
            <a:r>
              <a:rPr dirty="0"/>
              <a:t>The question the prior leaves open: for our workload and our rate of schema change, is the center a convenience or a chokepoint?</a:t>
            </a:r>
          </a:p>
          <a:p>
            <a:endParaRPr dirty="0"/>
          </a:p>
          <a:p>
            <a:r>
              <a:rPr dirty="0"/>
              <a:t>Both patterns so far accepted the dependencies and arranged them. The next one is more aggressive: it turns a dependency around.</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90 seconds — Ports and adapters: deliberately arrange the direction of dependency so infrastructure choices do not become domain dependencies.</a:t>
            </a:r>
          </a:p>
          <a:p>
            <a:endParaRPr dirty="0"/>
          </a:p>
          <a:p>
            <a:r>
              <a:rPr dirty="0"/>
              <a:t>- The shift to flag aloud: we are no longer merely grouping responsibilities — we are choosing which way the arrows point.</a:t>
            </a:r>
          </a:p>
          <a:p>
            <a:endParaRPr dirty="0"/>
          </a:p>
          <a:p>
            <a:r>
              <a:rPr dirty="0"/>
              <a:t>- Before: the domain imports the database; the vendor is now a domain dependency. After: the domain defines the interface; the adapter implements it; the arrow points INTO the domain.</a:t>
            </a:r>
          </a:p>
          <a:p>
            <a:endParaRPr dirty="0"/>
          </a:p>
          <a:p>
            <a:r>
              <a:rPr dirty="0"/>
              <a:t>- Names in the wild: ports-and-adapters, hexagonal, clean architecture. Same move.</a:t>
            </a:r>
          </a:p>
          <a:p>
            <a:endParaRPr dirty="0"/>
          </a:p>
          <a:p>
            <a:r>
              <a:rPr dirty="0"/>
              <a:t>- Engineering question: is the indirection worth it for the changes THIS system actually expects?</a:t>
            </a:r>
          </a:p>
          <a:p>
            <a:endParaRPr dirty="0"/>
          </a:p>
          <a:p>
            <a:r>
              <a:rPr dirty="0"/>
              <a:t>=====</a:t>
            </a:r>
          </a:p>
          <a:p>
            <a:r>
              <a:rPr dirty="0"/>
              <a:t>So far we have grouped responsibilities. This pattern does something sharper: it chooses the direction of a dependency.</a:t>
            </a:r>
          </a:p>
          <a:p>
            <a:endParaRPr dirty="0"/>
          </a:p>
          <a:p>
            <a:r>
              <a:rPr dirty="0"/>
              <a:t>Before: the UI calls the domain, the domain calls the database. Innocent — until you notice the domain logic now depends on a storage vendor. Swap the database and your business rules are in the diff.</a:t>
            </a:r>
          </a:p>
          <a:p>
            <a:endParaRPr dirty="0"/>
          </a:p>
          <a:p>
            <a:r>
              <a:rPr dirty="0"/>
              <a:t>After: the domain declares the interface it needs — a port. The database code implements it — an adapter. Same runtime calls, but the compile-time arrow now points into the domain. Infrastructure orbits the domain instead of anchoring it.</a:t>
            </a:r>
          </a:p>
          <a:p>
            <a:endParaRPr dirty="0"/>
          </a:p>
          <a:p>
            <a:r>
              <a:rPr dirty="0"/>
              <a:t>You will meet this as ports-and-adapters, hexagonal architecture, clean architecture — one move, three names. And the prior does not answer: will the changes this system actually faces ever cross that seam? Indirection is a premium; you pay it against expected change.</a:t>
            </a:r>
          </a:p>
          <a:p>
            <a:endParaRPr dirty="0"/>
          </a:p>
          <a:p>
            <a:r>
              <a:rPr dirty="0"/>
              <a:t>One pattern left — and this one reorganizes who is allowed to know about whom at runtime.</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Events decouple producers from consumers; then close the section: as complexity and consequence rise, priors hand off to analysis. STRETCH BREAK after this slide.</a:t>
            </a:r>
          </a:p>
          <a:p>
            <a:endParaRPr dirty="0"/>
          </a:p>
          <a:p>
            <a:r>
              <a:rPr dirty="0"/>
              <a:t>- Contrast on-slide: direct — A knows B, C, D; event-based — A knows the event, not the consumers.</a:t>
            </a:r>
          </a:p>
          <a:p>
            <a:endParaRPr dirty="0"/>
          </a:p>
          <a:p>
            <a:r>
              <a:rPr dirty="0"/>
              <a:t>- Rule of thumb: adding consumers gets easier. Engineering question, read it with weight: does THIS event architecture satisfy our ordering, latency, reliability, and observability obligations?</a:t>
            </a:r>
          </a:p>
          <a:p>
            <a:endParaRPr dirty="0"/>
          </a:p>
          <a:p>
            <a:r>
              <a:rPr dirty="0"/>
              <a:t>- The bottom band is the section's synthesis: pattern knowledge shades into analysis as complexity and consequence increase — from 'reasonable expectation' to 'show me'.</a:t>
            </a:r>
          </a:p>
          <a:p>
            <a:endParaRPr dirty="0"/>
          </a:p>
          <a:p>
            <a:r>
              <a:rPr dirty="0"/>
              <a:t>- Call the STRETCH BREAK, 2 minutes, before Section 4.</a:t>
            </a:r>
          </a:p>
          <a:p>
            <a:endParaRPr dirty="0"/>
          </a:p>
          <a:p>
            <a:r>
              <a:rPr dirty="0"/>
              <a:t>=====</a:t>
            </a:r>
          </a:p>
          <a:p>
            <a:r>
              <a:rPr dirty="0"/>
              <a:t>Events. In the direct organization, A calls B, C, and D — so A knows all three, and adding a fourth consumer means editing A. In the event organization, A announces what happened; whoever cares subscribes. A knows the event, not the audience.</a:t>
            </a:r>
          </a:p>
          <a:p>
            <a:endParaRPr dirty="0"/>
          </a:p>
          <a:p>
            <a:r>
              <a:rPr dirty="0"/>
              <a:t>The rule of thumb: when you expect the audience to grow, events make growth cheap. And now apply the discipline from the top of this section. Fine — but does this event architecture, the one you are about to build, satisfy our ordering obligations? Our latency budget? What happens to a lost event, and how would we even see it? The pattern promises none of that. Those are analysis questions.</a:t>
            </a:r>
          </a:p>
          <a:p>
            <a:endParaRPr dirty="0"/>
          </a:p>
          <a:p>
            <a:r>
              <a:rPr dirty="0"/>
              <a:t>And that is the section in one line — read the band: pattern knowledge on the left, analysis on the right, and what moves you rightward is complexity and consequence. 'Reasonable expectation' gives way to 'show me.'</a:t>
            </a:r>
          </a:p>
          <a:p>
            <a:endParaRPr dirty="0"/>
          </a:p>
          <a:p>
            <a:r>
              <a:rPr dirty="0"/>
              <a:t>Stand up, stretch, two minutes. When we sit back down: what can 'show me' actually deliver before the system exists?</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20 seconds — Mark the turn from decision method to the accumulated knowledge that supplies candidates.</a:t>
            </a:r>
          </a:p>
          <a:p>
            <a:endParaRPr dirty="0"/>
          </a:p>
          <a:p>
            <a:r>
              <a:rPr dirty="0"/>
              <a:t>- Do not pause for discussion.</a:t>
            </a:r>
          </a:p>
          <a:p>
            <a:endParaRPr dirty="0"/>
          </a:p>
          <a:p>
            <a:r>
              <a:rPr dirty="0"/>
              <a:t>=====</a:t>
            </a:r>
          </a:p>
          <a:p>
            <a:r>
              <a:rPr dirty="0"/>
              <a:t>Section three. Patterns — the field's accumulated engineering experience about how systems can be organized. Not just shapes to imitate: each one arrives carrying expectations about what it buys and what it costs.</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90 seconds — A diagram earns its place only by answering a question; different question, different model.</a:t>
            </a:r>
          </a:p>
          <a:p>
            <a:endParaRPr dirty="0"/>
          </a:p>
          <a:p>
            <a:r>
              <a:rPr dirty="0"/>
              <a:t>- Callback to Specification: same lesson as choosing a representation — the question picks the model. Students have seen this move; name the echo.</a:t>
            </a:r>
          </a:p>
          <a:p>
            <a:endParaRPr dirty="0"/>
          </a:p>
          <a:p>
            <a:r>
              <a:rPr dirty="0"/>
              <a:t>- Three question-to-model pairs on-slide: change → dependency view; latency → weighted flow; failure → deployment view.</a:t>
            </a:r>
          </a:p>
          <a:p>
            <a:endParaRPr dirty="0"/>
          </a:p>
          <a:p>
            <a:r>
              <a:rPr dirty="0"/>
              <a:t>- The anti-pattern: THE architecture diagram, one box-and-line picture expected to answer everything — a diagram that can answer no question is decoration.</a:t>
            </a:r>
          </a:p>
          <a:p>
            <a:endParaRPr dirty="0"/>
          </a:p>
          <a:p>
            <a:r>
              <a:rPr dirty="0"/>
              <a:t>=====</a:t>
            </a:r>
          </a:p>
          <a:p>
            <a:r>
              <a:rPr dirty="0"/>
              <a:t>Yesterday you learned that the representation of a specification depends on the question you need it to answer. The same discipline governs architecture models.</a:t>
            </a:r>
          </a:p>
          <a:p>
            <a:endParaRPr dirty="0"/>
          </a:p>
          <a:p>
            <a:r>
              <a:rPr dirty="0"/>
              <a:t>Want to know whether a change stays contained? Draw the dependency view — who knows about whom. Want to know how fast a request can possibly be? Draw the flow with costs on the edges. Want to know what dies together? Draw the deployment view — what runs where.</a:t>
            </a:r>
          </a:p>
          <a:p>
            <a:endParaRPr dirty="0"/>
          </a:p>
          <a:p>
            <a:r>
              <a:rPr dirty="0"/>
              <a:t>Same system, three different drawings, because three different questions. There is no such thing as THE architecture diagram. A diagram that cannot support any question is decoration — it goes on a poster, and it cannot carry an argument.</a:t>
            </a:r>
          </a:p>
          <a:p>
            <a:endParaRPr dirty="0"/>
          </a:p>
          <a:p>
            <a:r>
              <a:rPr dirty="0"/>
              <a:t>So the real question about any model: what kind of claim can it support, and how much are we still betting? It turns out claims come in grades.</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Order architectural claims by how much betting remains: expectation, structural argument, quantitative prediction, observed evidence.</a:t>
            </a:r>
          </a:p>
          <a:p>
            <a:endParaRPr dirty="0"/>
          </a:p>
          <a:p>
            <a:r>
              <a:rPr dirty="0"/>
              <a:t>- Walk left to right, one example phrase each: 'should remain local' / 'no dependency crosses this boundary' / 'about 11.5 seconds' / '11.8 measured'.</a:t>
            </a:r>
          </a:p>
          <a:p>
            <a:endParaRPr dirty="0"/>
          </a:p>
          <a:p>
            <a:r>
              <a:rPr dirty="0"/>
              <a:t>- The governing line, say it verbatim: the more faithfully the model captures the property we care about, the less we have to bet.</a:t>
            </a:r>
          </a:p>
          <a:p>
            <a:endParaRPr dirty="0"/>
          </a:p>
          <a:p>
            <a:r>
              <a:rPr dirty="0"/>
              <a:t>- All four rungs are legitimate — the sin is billing a reasoned expectation as a prediction. Match the claim to the stake.</a:t>
            </a:r>
          </a:p>
          <a:p>
            <a:endParaRPr dirty="0"/>
          </a:p>
          <a:p>
            <a:r>
              <a:rPr dirty="0"/>
              <a:t>=====</a:t>
            </a:r>
          </a:p>
          <a:p>
            <a:r>
              <a:rPr dirty="0"/>
              <a:t>Every architectural claim is a bet, and the bets are not equal.</a:t>
            </a:r>
          </a:p>
          <a:p>
            <a:endParaRPr dirty="0"/>
          </a:p>
          <a:p>
            <a:r>
              <a:rPr dirty="0"/>
              <a:t>Leftmost: reasoned expectation. 'This change should remain local' — a pattern prior, an educated guess. Real evidence; maximum betting.</a:t>
            </a:r>
          </a:p>
          <a:p>
            <a:endParaRPr dirty="0"/>
          </a:p>
          <a:p>
            <a:r>
              <a:rPr dirty="0"/>
              <a:t>Next: structural argument. 'No dependency crosses this boundary — look.' The model proves a property of the structure, if the model is faithful to the code.</a:t>
            </a:r>
          </a:p>
          <a:p>
            <a:endParaRPr dirty="0"/>
          </a:p>
          <a:p>
            <a:r>
              <a:rPr dirty="0"/>
              <a:t>Then: quantitative prediction. 'About eleven and a half seconds' — a number derived from the model before the system exists.</a:t>
            </a:r>
          </a:p>
          <a:p>
            <a:endParaRPr dirty="0"/>
          </a:p>
          <a:p>
            <a:r>
              <a:rPr dirty="0"/>
              <a:t>Rightmost: observed evidence. 'Eleven point eight, measured.' The system itself speaking; least betting.</a:t>
            </a:r>
          </a:p>
          <a:p>
            <a:endParaRPr dirty="0"/>
          </a:p>
          <a:p>
            <a:r>
              <a:rPr dirty="0"/>
              <a:t>The rule of the spectrum: the more faithfully the model captures the property we care about, the less we have to bet. All four rungs are honest work — what is dishonest is selling a rung-one claim in rung-three clothes. Stakes decide how far right you must climb.</a:t>
            </a:r>
          </a:p>
          <a:p>
            <a:endParaRPr dirty="0"/>
          </a:p>
          <a:p>
            <a:r>
              <a:rPr dirty="0"/>
              <a:t>Let us climb it twice, for real — once for change, once for latency.</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Walk the change-locality analysis: specification names the expected change, architecture builds the seam, the dependency model shows whether the change crosses it.</a:t>
            </a:r>
          </a:p>
          <a:p>
            <a:endParaRPr dirty="0"/>
          </a:p>
          <a:p>
            <a:r>
              <a:rPr dirty="0"/>
              <a:t>- A-7E callback: yesterday's specification did not just constrain behavior — it identified expected changes. That is the input to this analysis.</a:t>
            </a:r>
          </a:p>
          <a:p>
            <a:endParaRPr dirty="0"/>
          </a:p>
          <a:p>
            <a:r>
              <a:rPr dirty="0"/>
              <a:t>- Running example: swap the illness model. Before — the delta touches UI, advice, storage. After — a model-service interface; the delta stays behind the seam.</a:t>
            </a:r>
          </a:p>
          <a:p>
            <a:endParaRPr dirty="0"/>
          </a:p>
          <a:p>
            <a:r>
              <a:rPr dirty="0"/>
              <a:t>- Precision question for the class: what claim did the model establish? A structural guarantee about the DEPENDENCY GRAPH — no edge crosses the seam — which underwrites qualitative confidence about the change, not a certainty about every future edit.</a:t>
            </a:r>
          </a:p>
          <a:p>
            <a:endParaRPr dirty="0"/>
          </a:p>
          <a:p>
            <a:r>
              <a:rPr dirty="0"/>
              <a:t>=====</a:t>
            </a:r>
          </a:p>
          <a:p>
            <a:r>
              <a:rPr dirty="0"/>
              <a:t>Remember the A-7E from yesterday: the specification told the implementor where the world was expected to move. Expected change is specification output — and architecture is where we act on it.</a:t>
            </a:r>
          </a:p>
          <a:p>
            <a:endParaRPr dirty="0"/>
          </a:p>
          <a:p>
            <a:r>
              <a:rPr dirty="0"/>
              <a:t>Suppose the expected change is replacing the illness model. In the organization on the left, look where the delta lands: the UI formats model output, advice reads its internals, storage knows its shape. One expected change touches everything.</a:t>
            </a:r>
          </a:p>
          <a:p>
            <a:endParaRPr dirty="0"/>
          </a:p>
          <a:p>
            <a:r>
              <a:rPr dirty="0"/>
              <a:t>On the right, we drew a seam — a model-service interface — and pointed every dependency at the interface instead of the model. Now inspect the dependency view: does any edge cross from outside to the model's insides? No. The change stays behind the seam.</a:t>
            </a:r>
          </a:p>
          <a:p>
            <a:endParaRPr dirty="0"/>
          </a:p>
          <a:p>
            <a:r>
              <a:rPr dirty="0"/>
              <a:t>Be precise about the rung we are standing on. The model establishes a structural fact: no dependency crosses the boundary. That is a guarantee about the graph — and it buys strong qualitative confidence about the change, provided the graph is faithful to the code and the change is the one we anticipated. That is rung two — and for most change arguments, rung two is exactly what you need.</a:t>
            </a:r>
          </a:p>
          <a:p>
            <a:endParaRPr dirty="0"/>
          </a:p>
          <a:p>
            <a:r>
              <a:rPr dirty="0"/>
              <a:t>Can architecture ever get us to rung three — an actual number, before we build? It can. This one is from a real system.</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2.5 minutes — Show a quantitative prediction from an architectural model: the weighted dependency graph sets a latency floor, and decomposition is a candidate change you test on the model.</a:t>
            </a:r>
          </a:p>
          <a:p>
            <a:endParaRPr dirty="0"/>
          </a:p>
          <a:p>
            <a:r>
              <a:rPr dirty="0"/>
              <a:t>- Provenance, say it: this graph is from DocAble, the document-accessibility system our case studies draw from. The full episode is the Interlude 'One Problem, Many Models' in the book — assigned reading; say so.</a:t>
            </a:r>
          </a:p>
          <a:p>
            <a:endParaRPr dirty="0"/>
          </a:p>
          <a:p>
            <a:r>
              <a:rPr dirty="0"/>
              <a:t>- Walk the arithmetic on-slide: critical path A to B to F, 120 ms. Everything off the path is latency-irrelevant.</a:t>
            </a:r>
          </a:p>
          <a:p>
            <a:endParaRPr dirty="0"/>
          </a:p>
          <a:p>
            <a:r>
              <a:rPr dirty="0"/>
              <a:t>- The payoff move: decompose B into B1, B2, B3 — a candidate change evaluated against the model, before any implementation exists.</a:t>
            </a:r>
          </a:p>
          <a:p>
            <a:endParaRPr dirty="0"/>
          </a:p>
          <a:p>
            <a:r>
              <a:rPr dirty="0"/>
              <a:t>=====</a:t>
            </a:r>
          </a:p>
          <a:p>
            <a:r>
              <a:rPr dirty="0"/>
              <a:t>This one is real. The graph is from DocAble, a document-accessibility system we will keep returning to this semester — the full story of this analysis is in the Interlude called 'One Problem, Many Models,' which is in your assigned reading.</a:t>
            </a:r>
          </a:p>
          <a:p>
            <a:endParaRPr dirty="0"/>
          </a:p>
          <a:p>
            <a:r>
              <a:rPr dirty="0"/>
              <a:t>Same drawing discipline as before, but now the edges carry costs. Ask the latency question: how fast can a request possibly be? Follow the paths: the critical path runs A to B to F — one hundred twenty milliseconds. That is not an implementation detail; that is a floor the organization itself imposes. Given these dependencies and modeled costs, the critical path establishes the predicted latency floor for this organization.</a:t>
            </a:r>
          </a:p>
          <a:p>
            <a:endParaRPr dirty="0"/>
          </a:p>
          <a:p>
            <a:r>
              <a:rPr dirty="0"/>
              <a:t>And here is what makes the model worth having: it evaluates changes we have not made. Suppose we split B into three parallel parts — B1, B2, B3. Rerun the path arithmetic on the modified graph, and you have a predicted new floor, before anyone implements the split. That is rung three of yesterday's spectrum: a number, from a model, about a system that does not exist yet.</a:t>
            </a:r>
          </a:p>
          <a:p>
            <a:endParaRPr dirty="0"/>
          </a:p>
          <a:p>
            <a:r>
              <a:rPr dirty="0"/>
              <a:t>The DocAble team did exactly this before committing to the decomposition. Notice what that is: buying information — Section 2's move — and the purchase was cheap because the model already existed.</a:t>
            </a:r>
          </a:p>
          <a:p>
            <a:endParaRPr dirty="0"/>
          </a:p>
          <a:p>
            <a:r>
              <a:rPr dirty="0"/>
              <a:t>Which raises an uncomfortable historical fact: it usually has not been cheap. What happens when it becomes cheap?</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20 seconds — Release them into the decision: vocabulary is over, judgment begins.</a:t>
            </a:r>
          </a:p>
          <a:p>
            <a:endParaRPr dirty="0"/>
          </a:p>
          <a:p>
            <a:r>
              <a:rPr dirty="0"/>
              <a:t>- Do not pause for discussion.</a:t>
            </a:r>
          </a:p>
          <a:p>
            <a:endParaRPr dirty="0"/>
          </a:p>
          <a:p>
            <a:r>
              <a:rPr dirty="0"/>
              <a:t>=====</a:t>
            </a:r>
          </a:p>
          <a:p>
            <a:r>
              <a:rPr dirty="0"/>
              <a:t>Section five. You have the four questions, the decision discipline, a stock of patterns with priors, and models that turn some bets into claims. Enough vocabulary. Make the decision.</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8 minutes — Teams produce TWO plausible organizations of a specified system; divergence, not convergence, is the deliverable.</a:t>
            </a:r>
          </a:p>
          <a:p>
            <a:endParaRPr dirty="0"/>
          </a:p>
          <a:p>
            <a:r>
              <a:rPr dirty="0"/>
              <a:t>- Teams of 3-4. Read the specification excerpt aloud once: two-second latency, privacy, the expected change, availability, consistency.</a:t>
            </a:r>
          </a:p>
          <a:p>
            <a:endParaRPr dirty="0"/>
          </a:p>
          <a:p>
            <a:r>
              <a:rPr dirty="0"/>
              <a:t>- The deliverable, repeat it twice: TWO plausible organizations — parts, boundaries, interactions sketched for each. Do not converge yet; do not pick a winner.</a:t>
            </a:r>
          </a:p>
          <a:p>
            <a:endParaRPr dirty="0"/>
          </a:p>
          <a:p>
            <a:r>
              <a:rPr dirty="0"/>
              <a:t>- Circulate. Watch for the failure modes: teams that converge in the first minute (make them build the rival seriously); boxes with no boundary rationale (ask: what does this boundary buy — which test from slide 5?); teams drawing THE diagram (ask which question it answers).</a:t>
            </a:r>
          </a:p>
          <a:p>
            <a:endParaRPr dirty="0"/>
          </a:p>
          <a:p>
            <a:r>
              <a:rPr dirty="0"/>
              <a:t>- If a team stalls, seed with the section-3 catalog: what would the event-based organization look like? The repository-centered one?</a:t>
            </a:r>
          </a:p>
          <a:p>
            <a:endParaRPr dirty="0"/>
          </a:p>
          <a:p>
            <a:r>
              <a:rPr dirty="0"/>
              <a:t>=====</a:t>
            </a:r>
          </a:p>
          <a:p>
            <a:r>
              <a:rPr dirty="0"/>
              <a:t>Here is a specification. Teams of three or four. Sketch the major parts, the boundaries between them, and how the parts may interact.</a:t>
            </a:r>
          </a:p>
          <a:p>
            <a:endParaRPr dirty="0"/>
          </a:p>
          <a:p>
            <a:r>
              <a:rPr dirty="0"/>
              <a:t>And produce two plausible organizations — two, genuinely different, both defensible. Do not converge on your favorite; do not vote yet. If your second candidate is a strawman, you have done the exercise wrong — build the organization your rival team would build.</a:t>
            </a:r>
          </a:p>
          <a:p>
            <a:endParaRPr dirty="0"/>
          </a:p>
          <a:p>
            <a:r>
              <a:rPr dirty="0"/>
              <a:t>Eight minutes. Go.</a:t>
            </a:r>
          </a:p>
          <a:p>
            <a:endParaRPr dirty="0"/>
          </a:p>
          <a:p>
            <a:r>
              <a:rPr dirty="0"/>
              <a:t>While circulating, keep asking one question: what does that boundary buy you? Change together, fail together, scale together — which test justifies the line?</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5 minutes — Teams defend a choice by walking the framework; the defense, not the winner, is what gets graded.</a:t>
            </a:r>
          </a:p>
          <a:p>
            <a:endParaRPr dirty="0"/>
          </a:p>
          <a:p>
            <a:r>
              <a:rPr dirty="0"/>
              <a:t>- Walk the checklist on-slide, in order: specification violations? Pareto-dominated? what tradeoff remains? what model would distinguish the candidates? what information would you buy before committing?</a:t>
            </a:r>
          </a:p>
          <a:p>
            <a:endParaRPr dirty="0"/>
          </a:p>
          <a:p>
            <a:r>
              <a:rPr dirty="0"/>
              <a:t>- Take 2-3 teams. For each: make them locate their argument on the framework — which step eliminated which candidate, and what remains a genuine tradeoff.</a:t>
            </a:r>
          </a:p>
          <a:p>
            <a:endParaRPr dirty="0"/>
          </a:p>
          <a:p>
            <a:r>
              <a:rPr dirty="0"/>
              <a:t>- Push on the model question: name the model and the claim it would establish — 'we would draw the dependency view and check the expected change crosses no seam.'</a:t>
            </a:r>
          </a:p>
          <a:p>
            <a:endParaRPr dirty="0"/>
          </a:p>
          <a:p>
            <a:r>
              <a:rPr dirty="0"/>
              <a:t>- Land the closing line verbatim: there need not be one correct architecture. Different judgments, honestly defended, can both be right.</a:t>
            </a:r>
          </a:p>
          <a:p>
            <a:endParaRPr dirty="0"/>
          </a:p>
          <a:p>
            <a:r>
              <a:rPr dirty="0"/>
              <a:t>=====</a:t>
            </a:r>
          </a:p>
          <a:p>
            <a:r>
              <a:rPr dirty="0"/>
              <a:t>Now defend one. Not 'which did you like' — walk the framework.</a:t>
            </a:r>
          </a:p>
          <a:p>
            <a:endParaRPr dirty="0"/>
          </a:p>
          <a:p>
            <a:r>
              <a:rPr dirty="0"/>
              <a:t>First: does either candidate violate the specification? If so it is out, and that is not a preference. Second: is either dominated — worse or equal everywhere? Out, for free. Third: what genuine tradeoff remains between the survivors — what does each buy that the other cannot?</a:t>
            </a:r>
          </a:p>
          <a:p>
            <a:endParaRPr dirty="0"/>
          </a:p>
          <a:p>
            <a:r>
              <a:rPr dirty="0"/>
              <a:t>Fourth — and this is the section-4 move — what architectural model would distinguish them? Which view would you draw, and what claim would it establish? And fifth: what would you want to know before committing, and is it worth buying?</a:t>
            </a:r>
          </a:p>
          <a:p>
            <a:endParaRPr dirty="0"/>
          </a:p>
          <a:p>
            <a:r>
              <a:rPr dirty="0"/>
              <a:t>Take a couple of teams through it. Disagreement between teams is the desired outcome — surface a pair that chose differently and let each give the framework defense.</a:t>
            </a:r>
          </a:p>
          <a:p>
            <a:endParaRPr dirty="0"/>
          </a:p>
          <a:p>
            <a:r>
              <a:rPr dirty="0"/>
              <a:t>Close on this: there need not be one correct architecture. What is required is that the choice survive the walk you just did. That is what defending an architectural decision means.</a:t>
            </a:r>
          </a:p>
          <a:p>
            <a:endParaRPr dirty="0"/>
          </a:p>
          <a:p>
            <a:r>
              <a:rPr dirty="0"/>
              <a:t>Last thing today: where does this sit in the arc of the course?</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3 minutes — The MAGE Moment: GenAI does not remove architectural tradeoffs; it lowers the cost of evidence about them, so the rational amount of evidence rises.</a:t>
            </a:r>
          </a:p>
          <a:p>
            <a:endParaRPr dirty="0"/>
          </a:p>
          <a:p>
            <a:r>
              <a:rPr dirty="0"/>
              <a:t>- Left side first, static: uncertainty, buy information, the price tags — models, prototypes, workload generators, competing implementations all cost engineering time. That cost historically rationed the buy-information box.</a:t>
            </a:r>
          </a:p>
          <a:p>
            <a:endParaRPr dirty="0"/>
          </a:p>
          <a:p>
            <a:r>
              <a:rPr dirty="0"/>
              <a:t>- Click 1: GenAI drops the cost of evidence; more questions become worth investigating. Keep it sober: the tradeoffs are untouched; the ECONOMICS of the diamond changed.</a:t>
            </a:r>
          </a:p>
          <a:p>
            <a:endParaRPr dirty="0"/>
          </a:p>
          <a:p>
            <a:r>
              <a:rPr dirty="0"/>
              <a:t>- Click 2: the MAGE Moment badge and the closer. Read the closer slowly, twice if the room is still writing.</a:t>
            </a:r>
          </a:p>
          <a:p>
            <a:endParaRPr dirty="0"/>
          </a:p>
          <a:p>
            <a:r>
              <a:rPr dirty="0"/>
              <a:t>- Anticipated pushback: 'so the agent picks the architecture?' No — deciding still needs preference and judgment; what got cheap is evidence, not responsibility.</a:t>
            </a:r>
          </a:p>
          <a:p>
            <a:endParaRPr dirty="0"/>
          </a:p>
          <a:p>
            <a:r>
              <a:rPr dirty="0"/>
              <a:t>=====</a:t>
            </a:r>
          </a:p>
          <a:p>
            <a:r>
              <a:rPr dirty="0"/>
              <a:t>Back in Section 2 I told you the rule: when uncertainty might change the decision, buy information. What I did not dwell on is the price list. A performance model is engineering days. A prototype is engineering weeks. Two competing implementations to compare honestly? Almost nobody pays that. The buy-evidence box was rationed. Historically, many architectural questions have been resolved primarily through engineering judgment because obtaining stronger evidence was too expensive.</a:t>
            </a:r>
          </a:p>
          <a:p>
            <a:endParaRPr dirty="0"/>
          </a:p>
          <a:p>
            <a:r>
              <a:rPr dirty="0"/>
              <a:t>ANIMATE</a:t>
            </a:r>
          </a:p>
          <a:p>
            <a:endParaRPr dirty="0"/>
          </a:p>
          <a:p>
            <a:r>
              <a:rPr dirty="0"/>
              <a:t>That price list is what just changed. An agent can build the throwaway prototype this afternoon. It can generate the workload, instrument both candidates, run the comparison. GenAI does not remove a single architectural tradeoff — latency still fights cost, coupling still fights flexibility. What it does is make evidence about those tradeoffs cheap. And when evidence gets cheap, the rational amount of evidence goes up. Questions that were never worth investigating now are.</a:t>
            </a:r>
          </a:p>
          <a:p>
            <a:endParaRPr dirty="0"/>
          </a:p>
          <a:p>
            <a:r>
              <a:rPr dirty="0"/>
              <a:t>ANIMATE</a:t>
            </a:r>
          </a:p>
          <a:p>
            <a:endParaRPr dirty="0"/>
          </a:p>
          <a:p>
            <a:r>
              <a:rPr dirty="0"/>
              <a:t>So the discipline, and it is the one line I want you to keep: do not ask the agent to choose your architecture. Use it to reduce how much of your architecture remains a bet. The choosing still takes a preference, a stake, and a person who owns the outcome. The betting is what you can now buy down.</a:t>
            </a:r>
          </a:p>
          <a:p>
            <a:endParaRPr dirty="0"/>
          </a:p>
          <a:p>
            <a:r>
              <a:rPr dirty="0"/>
              <a:t>That is the full toolkit. Time to use all of it.</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Close by locating architecture between specification and design, and hand off to next lecture.</a:t>
            </a:r>
          </a:p>
          <a:p>
            <a:endParaRPr dirty="0"/>
          </a:p>
          <a:p>
            <a:r>
              <a:rPr dirty="0"/>
              <a:t>- It is the realization-space picture from slide 3, extended downward. Students should recognize it; do not re-teach it.</a:t>
            </a:r>
          </a:p>
          <a:p>
            <a:endParaRPr dirty="0"/>
          </a:p>
          <a:p>
            <a:r>
              <a:rPr dirty="0"/>
              <a:t>- Six quick builds. Keep the pace up until the brace; the closing question is the handoff.</a:t>
            </a:r>
          </a:p>
          <a:p>
            <a:endParaRPr dirty="0"/>
          </a:p>
          <a:p>
            <a:r>
              <a:rPr dirty="0"/>
              <a:t>- The three-line summary is the takeaway: specification constrains WHAT an acceptable system may do; architecture chooses HOW it is organized; design chooses how each part realizes its responsibility.</a:t>
            </a:r>
          </a:p>
          <a:p>
            <a:endParaRPr dirty="0"/>
          </a:p>
          <a:p>
            <a:r>
              <a:rPr dirty="0"/>
              <a:t>=====</a:t>
            </a:r>
          </a:p>
          <a:p>
            <a:r>
              <a:rPr dirty="0"/>
              <a:t>We close where we opened. Requirements — what should be true.</a:t>
            </a:r>
          </a:p>
          <a:p>
            <a:endParaRPr dirty="0"/>
          </a:p>
          <a:p>
            <a:r>
              <a:rPr dirty="0"/>
              <a:t>ANIMATE</a:t>
            </a:r>
          </a:p>
          <a:p>
            <a:endParaRPr dirty="0"/>
          </a:p>
          <a:p>
            <a:r>
              <a:rPr dirty="0"/>
              <a:t>Specification — the consequential obligations, made explicit.</a:t>
            </a:r>
          </a:p>
          <a:p>
            <a:endParaRPr dirty="0"/>
          </a:p>
          <a:p>
            <a:r>
              <a:rPr dirty="0"/>
              <a:t>ANIMATE</a:t>
            </a:r>
          </a:p>
          <a:p>
            <a:endParaRPr dirty="0"/>
          </a:p>
          <a:p>
            <a:r>
              <a:rPr dirty="0"/>
              <a:t>Which leaves a space of acceptable realizations: A, B, C.</a:t>
            </a:r>
          </a:p>
          <a:p>
            <a:endParaRPr dirty="0"/>
          </a:p>
          <a:p>
            <a:r>
              <a:rPr dirty="0"/>
              <a:t>ANIMATE</a:t>
            </a:r>
          </a:p>
          <a:p>
            <a:endParaRPr dirty="0"/>
          </a:p>
          <a:p>
            <a:r>
              <a:rPr dirty="0"/>
              <a:t>Today's move: choose one, and organize it. Architecture — the parts, the boundaries, the rules of interaction, chosen under tradeoffs, defended with judgment and, where the stakes warrant, with models.</a:t>
            </a:r>
          </a:p>
          <a:p>
            <a:endParaRPr dirty="0"/>
          </a:p>
          <a:p>
            <a:r>
              <a:rPr dirty="0"/>
              <a:t>ANIMATE</a:t>
            </a:r>
          </a:p>
          <a:p>
            <a:endParaRPr dirty="0"/>
          </a:p>
          <a:p>
            <a:r>
              <a:rPr dirty="0"/>
              <a:t>The organization gives us parts — each with a responsibility and an interface.</a:t>
            </a:r>
          </a:p>
          <a:p>
            <a:endParaRPr dirty="0"/>
          </a:p>
          <a:p>
            <a:r>
              <a:rPr dirty="0"/>
              <a:t>ANIMATE</a:t>
            </a:r>
          </a:p>
          <a:p>
            <a:endParaRPr dirty="0"/>
          </a:p>
          <a:p>
            <a:r>
              <a:rPr dirty="0"/>
              <a:t>And each part now poses its own problem: how should it realize its responsibility? That is design.</a:t>
            </a:r>
          </a:p>
          <a:p>
            <a:endParaRPr dirty="0"/>
          </a:p>
          <a:p>
            <a:r>
              <a:rPr dirty="0"/>
              <a:t>ANIMATE</a:t>
            </a:r>
          </a:p>
          <a:p>
            <a:endParaRPr dirty="0"/>
          </a:p>
          <a:p>
            <a:r>
              <a:rPr dirty="0"/>
              <a:t>So the ladder: specification constrains what an acceptable system may do. Architecture chooses how it is organized and how its parts interact. Design chooses how each part does its job. Next time: given one of these parts, how do we engineer it well?</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Pick up yesterday's acceptable-realizations argument and deliver the definition of architecture orally.</a:t>
            </a:r>
          </a:p>
          <a:p>
            <a:endParaRPr dirty="0"/>
          </a:p>
          <a:p>
            <a:r>
              <a:rPr dirty="0"/>
              <a:t>- The figure is yesterday's model extended; students should recognize it instantly. Walk it briskly until the selection ring.</a:t>
            </a:r>
          </a:p>
          <a:p>
            <a:endParaRPr dirty="0"/>
          </a:p>
          <a:p>
            <a:r>
              <a:rPr dirty="0"/>
              <a:t>- DEFINITION (deliver orally, exact phrasing): Architecture describes the consequential organization of the system: its major parts, their responsibilities, their interfaces, and the rules governing their interaction.</a:t>
            </a:r>
          </a:p>
          <a:p>
            <a:endParaRPr dirty="0"/>
          </a:p>
          <a:p>
            <a:r>
              <a:rPr dirty="0"/>
              <a:t>- Lean on 'consequential' — architecture is not every organizational fact, only the ones that matter. It echoes 'consequential obligations' from yesterday on purpose.</a:t>
            </a:r>
          </a:p>
          <a:p>
            <a:endParaRPr dirty="0"/>
          </a:p>
          <a:p>
            <a:r>
              <a:rPr dirty="0"/>
              <a:t>=====</a:t>
            </a:r>
          </a:p>
          <a:p>
            <a:r>
              <a:rPr dirty="0"/>
              <a:t>This is yesterday's picture. Requirements told us what should be true; the specification made the consequential obligations explicit.</a:t>
            </a:r>
          </a:p>
          <a:p>
            <a:endParaRPr dirty="0"/>
          </a:p>
          <a:p>
            <a:r>
              <a:rPr dirty="0"/>
              <a:t>ANIMATE</a:t>
            </a:r>
          </a:p>
          <a:p>
            <a:endParaRPr dirty="0"/>
          </a:p>
          <a:p>
            <a:r>
              <a:rPr dirty="0"/>
              <a:t>And it did two things at once: it constrained what matters, and it deliberately left degrees of freedom open.</a:t>
            </a:r>
          </a:p>
          <a:p>
            <a:endParaRPr dirty="0"/>
          </a:p>
          <a:p>
            <a:r>
              <a:rPr dirty="0"/>
              <a:t>ANIMATE</a:t>
            </a:r>
          </a:p>
          <a:p>
            <a:endParaRPr dirty="0"/>
          </a:p>
          <a:p>
            <a:r>
              <a:rPr dirty="0"/>
              <a:t>So several genuinely different systems — A, B, C — all satisfy every obligation.</a:t>
            </a:r>
          </a:p>
          <a:p>
            <a:endParaRPr dirty="0"/>
          </a:p>
          <a:p>
            <a:r>
              <a:rPr dirty="0"/>
              <a:t>ANIMATE</a:t>
            </a:r>
          </a:p>
          <a:p>
            <a:endParaRPr dirty="0"/>
          </a:p>
          <a:p>
            <a:r>
              <a:rPr dirty="0"/>
              <a:t>And some, like D, do not. The specification drew a boundary, not a point.</a:t>
            </a:r>
          </a:p>
          <a:p>
            <a:endParaRPr dirty="0"/>
          </a:p>
          <a:p>
            <a:r>
              <a:rPr dirty="0"/>
              <a:t>ANIMATE</a:t>
            </a:r>
          </a:p>
          <a:p>
            <a:endParaRPr dirty="0"/>
          </a:p>
          <a:p>
            <a:r>
              <a:rPr dirty="0"/>
              <a:t>Today we pick one of the acceptable systems. And the moment we do, yesterday's question flips: not 'is this system acceptable?' but 'how should this system be organized?'</a:t>
            </a:r>
          </a:p>
          <a:p>
            <a:endParaRPr dirty="0"/>
          </a:p>
          <a:p>
            <a:r>
              <a:rPr dirty="0"/>
              <a:t>Here is the definition, and it is the only one you need today. Architecture describes the consequential organization of the system: its major parts, their responsibilities, their interfaces, and the rules governing their interaction. Consequential is the operative word — thousands of organizational facts are true of any system; architecture is the subset that it would be expensive to get wrong.</a:t>
            </a:r>
          </a:p>
          <a:p>
            <a:endParaRPr dirty="0"/>
          </a:p>
          <a:p>
            <a:r>
              <a:rPr dirty="0"/>
              <a:t>That definition compresses into four questions, and the four questions are today's map.</a:t>
            </a:r>
          </a:p>
        </p:txBody>
      </p:sp>
    </p:spTree>
  </p:cSld>
  <p:clrMapOvr>
    <a:masterClrMapping/>
  </p:clrMapOvr>
</p:notes>
</file>

<file path=ppt/slideLayouts/_rels/slideLayout1.xml.rels><?xml version="1.0" encoding="UTF-8"?><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icture 2" descr="Electrical and Computer Engineering Black and Gold Co-Brand Logo">
            <a:extLst>
              <a:ext uri="{FF2B5EF4-FFF2-40B4-BE49-F238E27FC236}">
                <a16:creationId xmlns:a16="http://schemas.microsoft.com/office/drawing/2014/main" id="{DA2A365A-4E3B-2A48-8812-990B2A2EE92D}"/>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3876158" y="5721845"/>
            <a:ext cx="1264684" cy="9996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8.xml.rels><?xml version="1.0" encoding="UTF-8"?><Relationships xmlns="http://schemas.openxmlformats.org/package/2006/relationships"><Relationship Id="rId3" Type="http://schemas.openxmlformats.org/officeDocument/2006/relationships/image" Target="../media/image4.png"/><Relationship Id="rId1"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Relationships xmlns="http://schemas.openxmlformats.org/package/2006/relationships"><Relationship Id="rId3" Type="http://schemas.openxmlformats.org/officeDocument/2006/relationships/image" Target="../media/image5.png"/><Relationship Id="rId1"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Relationships xmlns="http://schemas.openxmlformats.org/package/2006/relationships"><Relationship Id="rId3" Type="http://schemas.openxmlformats.org/officeDocument/2006/relationships/image" Target="../media/image6.png"/><Relationship Id="rId1"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Relationships xmlns="http://schemas.openxmlformats.org/package/2006/relationships"><Relationship Id="rId3" Type="http://schemas.openxmlformats.org/officeDocument/2006/relationships/image" Target="../media/image7.png"/><Relationship Id="rId1" Type="http://schemas.openxmlformats.org/officeDocument/2006/relationships/slideLayout" Target="../slideLayouts/slideLayout2.xml"/><Relationship Id="rId4" Type="http://schemas.openxmlformats.org/officeDocument/2006/relationships/notesSlide" Target="../notesSlides/notesSlide13.xml"/></Relationships>
</file>

<file path=ppt/slides/_rels/slide14.xml.rels><?xml version="1.0" encoding="UTF-8"?><Relationships xmlns="http://schemas.openxmlformats.org/package/2006/relationships"><Relationship Id="rId3" Type="http://schemas.openxmlformats.org/officeDocument/2006/relationships/image" Target="../media/image8.png"/><Relationship Id="rId1"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Relationships xmlns="http://schemas.openxmlformats.org/package/2006/relationships"><Relationship Id="rId3" Type="http://schemas.openxmlformats.org/officeDocument/2006/relationships/image" Target="../media/image9.svg"/><Relationship Id="rId1" Type="http://schemas.openxmlformats.org/officeDocument/2006/relationships/slideLayout" Target="../slideLayouts/slideLayout4.xml"/><Relationship Id="rId4" Type="http://schemas.openxmlformats.org/officeDocument/2006/relationships/image" Target="../media/image10.svg"/><Relationship Id="rId5" Type="http://schemas.openxmlformats.org/officeDocument/2006/relationships/notesSlide" Target="../notesSlides/notesSlide15.xml"/></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Relationships xmlns="http://schemas.openxmlformats.org/package/2006/relationships"><Relationship Id="rId3" Type="http://schemas.openxmlformats.org/officeDocument/2006/relationships/image" Target="../media/image9.svg"/><Relationship Id="rId1" Type="http://schemas.openxmlformats.org/officeDocument/2006/relationships/slideLayout" Target="../slideLayouts/slideLayout2.xml"/><Relationship Id="rId4" Type="http://schemas.openxmlformats.org/officeDocument/2006/relationships/notesSlide" Target="../notesSlides/notesSlide18.xml"/></Relationships>
</file>

<file path=ppt/slides/_rels/slide19.xml.rels><?xml version="1.0" encoding="UTF-8"?><Relationships xmlns="http://schemas.openxmlformats.org/package/2006/relationships"><Relationship Id="rId3" Type="http://schemas.openxmlformats.org/officeDocument/2006/relationships/image" Target="../media/image9.svg"/><Relationship Id="rId1" Type="http://schemas.openxmlformats.org/officeDocument/2006/relationships/slideLayout" Target="../slideLayouts/slideLayout2.xml"/><Relationship Id="rId4" Type="http://schemas.openxmlformats.org/officeDocument/2006/relationships/notesSlide" Target="../notesSlides/notesSlide19.xml"/></Relationships>
</file>

<file path=ppt/slides/_rels/slide20.xml.rels><?xml version="1.0" encoding="UTF-8"?><Relationships xmlns="http://schemas.openxmlformats.org/package/2006/relationships"><Relationship Id="rId3" Type="http://schemas.openxmlformats.org/officeDocument/2006/relationships/image" Target="../media/image9.svg"/><Relationship Id="rId1" Type="http://schemas.openxmlformats.org/officeDocument/2006/relationships/slideLayout" Target="../slideLayouts/slideLayout2.xml"/><Relationship Id="rId4" Type="http://schemas.openxmlformats.org/officeDocument/2006/relationships/notesSlide" Target="../notesSlides/notesSlide20.xml"/></Relationships>
</file>

<file path=ppt/slides/_rels/slide21.xml.rels><?xml version="1.0" encoding="UTF-8"?><Relationships xmlns="http://schemas.openxmlformats.org/package/2006/relationships"><Relationship Id="rId3" Type="http://schemas.openxmlformats.org/officeDocument/2006/relationships/image" Target="../media/image9.svg"/><Relationship Id="rId1"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Relationships xmlns="http://schemas.openxmlformats.org/package/2006/relationships"><Relationship Id="rId3" Type="http://schemas.openxmlformats.org/officeDocument/2006/relationships/image" Target="../media/image4.png"/><Relationship Id="rId1" Type="http://schemas.openxmlformats.org/officeDocument/2006/relationships/slideLayout" Target="../slideLayouts/slideLayout2.xml"/><Relationship Id="rId4" Type="http://schemas.openxmlformats.org/officeDocument/2006/relationships/notesSlide" Target="../notesSlides/notesSlide25.xml"/></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Relationships xmlns="http://schemas.openxmlformats.org/package/2006/relationships"><Relationship Id="rId3" Type="http://schemas.openxmlformats.org/officeDocument/2006/relationships/image" Target="../media/image11.emf"/><Relationship Id="rId1" Type="http://schemas.openxmlformats.org/officeDocument/2006/relationships/slideLayout" Target="../slideLayouts/slideLayout4.xml"/><Relationship Id="rId4" Type="http://schemas.openxmlformats.org/officeDocument/2006/relationships/image" Target="../media/image12.emf"/><Relationship Id="rId5" Type="http://schemas.openxmlformats.org/officeDocument/2006/relationships/notesSlide" Target="../notesSlides/notesSlide27.xml"/></Relationships>
</file>

<file path=ppt/slides/_rels/slide28.xml.rels><?xml version="1.0" encoding="UTF-8"?><Relationships xmlns="http://schemas.openxmlformats.org/package/2006/relationships"><Relationship Id="rId3" Type="http://schemas.openxmlformats.org/officeDocument/2006/relationships/image" Target="../media/image13.jpeg"/><Relationship Id="rId1" Type="http://schemas.openxmlformats.org/officeDocument/2006/relationships/slideLayout" Target="../slideLayouts/slideLayout2.xml"/><Relationship Id="rId5" Type="http://schemas.openxmlformats.org/officeDocument/2006/relationships/image" Target="../media/image15.svg"/><Relationship Id="rId4" Type="http://schemas.openxmlformats.org/officeDocument/2006/relationships/image" Target="../media/image14.svg"/><Relationship Id="rId6" Type="http://schemas.openxmlformats.org/officeDocument/2006/relationships/notesSlide" Target="../notesSlides/notesSlide28.xml"/></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89D1F61-B74F-FD46-9676-D29849AD2577}"/>
              </a:ext>
            </a:extLst>
          </p:cNvPr>
          <p:cNvSpPr>
            <a:spLocks noGrp="1"/>
          </p:cNvSpPr>
          <p:nvPr>
            <p:ph type="ctrTitle"/>
          </p:nvPr>
        </p:nvSpPr>
        <p:spPr>
          <a:xfrm>
            <a:off x="439339" y="565150"/>
            <a:ext cx="8265319" cy="874712"/>
          </a:xfrm>
        </p:spPr>
        <p:txBody>
          <a:bodyPr>
            <a:normAutofit/>
          </a:bodyPr>
          <a:lstStyle/>
          <a:p>
            <a:pPr>
              <a:defRPr b="0"/>
            </a:pPr>
            <a:r>
              <a:rPr lang="en-US" sz="2000" b="0" i="1" dirty="0"/>
              <a:t>ECE 30861/46100: Software Engineering</a:t>
            </a:r>
          </a:p>
        </p:txBody>
      </p:sp>
      <p:sp>
        <p:nvSpPr>
          <p:cNvPr id="6" name="Slide Number Placeholder 5">
            <a:extLst>
              <a:ext uri="{FF2B5EF4-FFF2-40B4-BE49-F238E27FC236}">
                <a16:creationId xmlns:a16="http://schemas.microsoft.com/office/drawing/2014/main" id="{97B22D48-A395-DA43-BD56-73B6F8BCBF40}"/>
              </a:ext>
            </a:extLst>
          </p:cNvPr>
          <p:cNvSpPr>
            <a:spLocks noGrp="1"/>
          </p:cNvSpPr>
          <p:nvPr>
            <p:ph type="sldNum" sz="quarter" idx="4"/>
          </p:nvPr>
        </p:nvSpPr>
        <p:spPr/>
        <p:txBody>
          <a:bodyPr/>
          <a:lstStyle/>
          <a:p>
            <a:fld id="{B7EB45DA-9A0D-DC49-8E02-F30A5DDC21C3}" type="slidenum">
              <a:rPr/>
              <a:t>1</a:t>
            </a:fld>
            <a:endParaRPr lang="en-US"/>
          </a:p>
        </p:txBody>
      </p:sp>
      <p:sp>
        <p:nvSpPr>
          <p:cNvPr id="7" name="Subtitle 1">
            <a:extLst>
              <a:ext uri="{FF2B5EF4-FFF2-40B4-BE49-F238E27FC236}">
                <a16:creationId xmlns:a16="http://schemas.microsoft.com/office/drawing/2014/main" id="{8F813479-8512-DCF4-B5C8-FFAD6ABA1785}"/>
              </a:ext>
            </a:extLst>
          </p:cNvPr>
          <p:cNvSpPr txBox="1">
            <a:spLocks/>
          </p:cNvSpPr>
          <p:nvPr/>
        </p:nvSpPr>
        <p:spPr>
          <a:xfrm>
            <a:off x="224171" y="2488405"/>
            <a:ext cx="8695654" cy="2887635"/>
          </a:xfrm>
          <a:prstGeom prst="rect">
            <a:avLst/>
          </a:prstGeom>
        </p:spPr>
        <p:txBody>
          <a:bodyPr vert="horz" lIns="91440" tIns="45720" rIns="91440" bIns="45720" rtlCol="0">
            <a:normAutofit/>
          </a:bodyPr>
          <a:lstStyle>
            <a:lvl1pPr marL="0" indent="0" algn="ctr" defTabSz="914400" rtl="0" eaLnBrk="1" latinLnBrk="0" hangingPunct="1">
              <a:lnSpc>
                <a:spcPct val="100000"/>
              </a:lnSpc>
              <a:spcBef>
                <a:spcPts val="1000"/>
              </a:spcBef>
              <a:buClr>
                <a:schemeClr val="accent2"/>
              </a:buClr>
              <a:buFont typeface="Times" pitchFamily="18" charset="0"/>
              <a:buNone/>
              <a:defRPr sz="1800" kern="1200">
                <a:solidFill>
                  <a:srgbClr val="000000"/>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a:lstStyle>
          <a:p>
            <a:r>
              <a:rPr lang="en-US" sz="5200" dirty="0"/>
              <a:t>Software Architecture</a:t>
            </a:r>
          </a:p>
          <a:p>
            <a:r>
              <a:rPr lang="en-US" sz="2800" i="1" dirty="0">
                <a:solidFill>
                  <a:srgbClr val="8E6F3E"/>
                </a:solidFill>
              </a:rPr>
              <a:t>How should one acceptable system be organized?</a:t>
            </a:r>
          </a:p>
          <a:p>
            <a:endParaRPr lang="en-US" sz="1200" dirty="0"/>
          </a:p>
          <a:p>
            <a:r>
              <a:rPr lang="en-US" i="1" dirty="0"/>
              <a:t>Prof. James C. Davis</a:t>
            </a:r>
          </a:p>
          <a:p>
            <a:r>
              <a:rPr lang="en-US" i="1" dirty="0"/>
              <a:t>Prof. Steve France</a:t>
            </a:r>
          </a:p>
        </p:txBody>
      </p:sp>
    </p:spTree>
    <p:extLst>
      <p:ext uri="{BB962C8B-B14F-4D97-AF65-F5344CB8AC3E}">
        <p14:creationId xmlns:p14="http://schemas.microsoft.com/office/powerpoint/2010/main" val="4073495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400" b="0" i="0" dirty="0">
                <a:solidFill>
                  <a:srgbClr val="000000"/>
                </a:solidFill>
              </a:rPr>
              <a:t xml:space="preserve">Yesterday we kept these separate. We have to build ONE MACHINE.</a:t>
            </a:r>
          </a:p>
        </p:txBody>
      </p:sp>
      <p:sp>
        <p:nvSpPr>
          <p:cNvPr id="3" name="Slide Number Placeholder 2"/>
          <p:cNvSpPr>
            <a:spLocks noGrp="1"/>
          </p:cNvSpPr>
          <p:nvPr>
            <p:ph type="sldNum" sz="quarter" idx="4"/>
          </p:nvPr>
        </p:nvSpPr>
        <p:spPr/>
        <p:txBody>
          <a:bodyPr/>
          <a:lstStyle/>
          <a:p>
            <a:fld id="{B7EB45DA-9A0D-DC49-8E02-F30A5DDC21C3}" type="slidenum">
              <a:rPr lang="en-US" smtClean="0"/>
              <a:t>0</a:t>
            </a:fld>
            <a:endParaRPr lang="en-US"/>
          </a:p>
        </p:txBody>
      </p:sp>
      <p:sp>
        <p:nvSpPr>
          <p:cNvPr id="60" name="StateCard"/>
          <p:cNvSpPr/>
          <p:nvPr/>
        </p:nvSpPr>
        <p:spPr>
          <a:xfrm>
            <a:off x="289408" y="1090300"/>
            <a:ext cx="2755000" cy="1432600"/>
          </a:xfrm>
          <a:prstGeom prst="rect">
            <a:avLst/>
          </a:prstGeom>
          <a:solidFill>
            <a:srgbClr val="FFFFFF"/>
          </a:solidFill>
          <a:ln w="20993">
            <a:solidFill>
              <a:srgbClr val="8E6F3E"/>
            </a:solidFill>
          </a:ln>
        </p:spPr>
        <p:txBody>
          <a:bodyPr wrap="square" lIns="109728" tIns="82296" rIns="109728" bIns="82296" anchor="ctr">
            <a:normAutofit/>
          </a:bodyPr>
          <a:lstStyle/>
          <a:p>
            <a:pPr algn="ctr">
              <a:buNone/>
            </a:pPr>
            <a:r>
              <a:rPr lang="en-US" sz="2400" b="1" i="0" dirty="0">
                <a:solidFill>
                  <a:srgbClr val="8E6F3E"/>
                </a:solidFill>
              </a:rPr>
              <a:t xml:space="preserve">STATE VIEW</a:t>
            </a:r>
          </a:p>
          <a:p>
            <a:pPr algn="ctr">
              <a:spcBef>
                <a:spcPts val="204"/>
              </a:spcBef>
              <a:buNone/>
            </a:pPr>
            <a:r>
              <a:rPr lang="en-US" sz="2700" b="0" i="0" dirty="0">
                <a:solidFill>
                  <a:srgbClr val="000000"/>
                </a:solidFill>
              </a:rPr>
              <a:t xml:space="preserve">asleep  →  awake</a:t>
            </a:r>
          </a:p>
        </p:txBody>
      </p:sp>
      <p:sp>
        <p:nvSpPr>
          <p:cNvPr id="61" name="ActivityCard"/>
          <p:cNvSpPr/>
          <p:nvPr/>
        </p:nvSpPr>
        <p:spPr>
          <a:xfrm>
            <a:off x="6099592" y="1090300"/>
            <a:ext cx="2755000" cy="1432600"/>
          </a:xfrm>
          <a:prstGeom prst="rect">
            <a:avLst/>
          </a:prstGeom>
          <a:solidFill>
            <a:srgbClr val="FFFFFF"/>
          </a:solidFill>
          <a:ln w="20993">
            <a:solidFill>
              <a:srgbClr val="8E6F3E"/>
            </a:solidFill>
          </a:ln>
        </p:spPr>
        <p:txBody>
          <a:bodyPr wrap="square" lIns="109728" tIns="82296" rIns="109728" bIns="82296" anchor="ctr">
            <a:normAutofit/>
          </a:bodyPr>
          <a:lstStyle/>
          <a:p>
            <a:pPr algn="ctr">
              <a:buNone/>
            </a:pPr>
            <a:r>
              <a:rPr lang="en-US" sz="2400" b="1" i="0" dirty="0">
                <a:solidFill>
                  <a:srgbClr val="8E6F3E"/>
                </a:solidFill>
              </a:rPr>
              <a:t xml:space="preserve">ACTIVITY</a:t>
            </a:r>
          </a:p>
          <a:p>
            <a:pPr algn="ctr">
              <a:spcBef>
                <a:spcPts val="204"/>
              </a:spcBef>
              <a:buNone/>
            </a:pPr>
            <a:r>
              <a:rPr lang="en-US" sz="2700" b="0" i="0" dirty="0">
                <a:solidFill>
                  <a:srgbClr val="000000"/>
                </a:solidFill>
              </a:rPr>
              <a:t xml:space="preserve">collect  →  classify</a:t>
            </a:r>
          </a:p>
        </p:txBody>
      </p:sp>
      <p:sp>
        <p:nvSpPr>
          <p:cNvPr id="62" name="SchemaCard"/>
          <p:cNvSpPr/>
          <p:nvPr/>
        </p:nvSpPr>
        <p:spPr>
          <a:xfrm>
            <a:off x="289408" y="4837100"/>
            <a:ext cx="2755000" cy="1432600"/>
          </a:xfrm>
          <a:prstGeom prst="rect">
            <a:avLst/>
          </a:prstGeom>
          <a:solidFill>
            <a:srgbClr val="FFFFFF"/>
          </a:solidFill>
          <a:ln w="20993">
            <a:solidFill>
              <a:srgbClr val="8E6F3E"/>
            </a:solidFill>
          </a:ln>
        </p:spPr>
        <p:txBody>
          <a:bodyPr wrap="square" lIns="109728" tIns="82296" rIns="109728" bIns="82296" anchor="ctr">
            <a:normAutofit/>
          </a:bodyPr>
          <a:lstStyle/>
          <a:p>
            <a:pPr algn="ctr">
              <a:buNone/>
            </a:pPr>
            <a:r>
              <a:rPr lang="en-US" sz="2400" b="1" i="0" dirty="0">
                <a:solidFill>
                  <a:srgbClr val="8E6F3E"/>
                </a:solidFill>
              </a:rPr>
              <a:t xml:space="preserve">SCHEMA</a:t>
            </a:r>
          </a:p>
          <a:p>
            <a:pPr algn="ctr">
              <a:spcBef>
                <a:spcPts val="204"/>
              </a:spcBef>
              <a:buNone/>
            </a:pPr>
            <a:r>
              <a:rPr lang="en-US" sz="2400" b="0" i="0" dirty="0">
                <a:solidFill>
                  <a:srgbClr val="000000"/>
                </a:solidFill>
              </a:rPr>
              <a:t xml:space="preserve">Night Summary</a:t>
            </a:r>
          </a:p>
          <a:p>
            <a:pPr algn="ctr">
              <a:spcBef>
                <a:spcPts val="136"/>
              </a:spcBef>
              <a:buNone/>
            </a:pPr>
            <a:r>
              <a:rPr lang="en-US" sz="2400" b="0" i="0" dirty="0">
                <a:solidFill>
                  <a:srgbClr val="000000"/>
                </a:solidFill>
              </a:rPr>
              <a:t xml:space="preserve">Advice</a:t>
            </a:r>
          </a:p>
        </p:txBody>
      </p:sp>
      <p:sp>
        <p:nvSpPr>
          <p:cNvPr id="63" name="TimingCard"/>
          <p:cNvSpPr/>
          <p:nvPr/>
        </p:nvSpPr>
        <p:spPr>
          <a:xfrm>
            <a:off x="6099592" y="4837100"/>
            <a:ext cx="2755000" cy="1432600"/>
          </a:xfrm>
          <a:prstGeom prst="rect">
            <a:avLst/>
          </a:prstGeom>
          <a:solidFill>
            <a:srgbClr val="FFFFFF"/>
          </a:solidFill>
          <a:ln w="20993">
            <a:solidFill>
              <a:srgbClr val="8E6F3E"/>
            </a:solidFill>
          </a:ln>
        </p:spPr>
        <p:txBody>
          <a:bodyPr wrap="square" lIns="109728" tIns="82296" rIns="109728" bIns="82296" anchor="ctr">
            <a:normAutofit/>
          </a:bodyPr>
          <a:lstStyle/>
          <a:p>
            <a:pPr algn="ctr">
              <a:buNone/>
            </a:pPr>
            <a:r>
              <a:rPr lang="en-US" sz="2400" b="1" i="0" dirty="0">
                <a:solidFill>
                  <a:srgbClr val="8E6F3E"/>
                </a:solidFill>
              </a:rPr>
              <a:t xml:space="preserve">TIMING / OTHER</a:t>
            </a:r>
          </a:p>
          <a:p>
            <a:pPr algn="ctr">
              <a:spcBef>
                <a:spcPts val="204"/>
              </a:spcBef>
              <a:buNone/>
            </a:pPr>
            <a:r>
              <a:rPr lang="en-US" sz="2400" b="0" i="0" dirty="0">
                <a:solidFill>
                  <a:srgbClr val="000000"/>
                </a:solidFill>
              </a:rPr>
              <a:t xml:space="preserve">≤ 60 seconds</a:t>
            </a:r>
          </a:p>
          <a:p>
            <a:pPr algn="ctr">
              <a:spcBef>
                <a:spcPts val="136"/>
              </a:spcBef>
              <a:buNone/>
            </a:pPr>
            <a:r>
              <a:rPr lang="en-US" sz="2400" b="0" i="0" dirty="0">
                <a:solidFill>
                  <a:srgbClr val="000000"/>
                </a:solidFill>
              </a:rPr>
              <a:t xml:space="preserve">privacy · 7 nights</a:t>
            </a:r>
          </a:p>
        </p:txBody>
      </p:sp>
      <p:cxnSp>
        <p:nvCxnSpPr>
          <p:cNvPr id="64" name="Arr64"/>
          <p:cNvCxnSpPr/>
          <p:nvPr/>
        </p:nvCxnSpPr>
        <p:spPr>
          <a:xfrm>
            <a:off x="3170256" y="2633100"/>
            <a:ext cx="716300" cy="606100"/>
          </a:xfrm>
          <a:prstGeom prst="line">
            <a:avLst/>
          </a:prstGeom>
          <a:ln w="31490">
            <a:solidFill>
              <a:srgbClr val="8E6F3E"/>
            </a:solidFill>
            <a:tailEnd type="triangle" w="med" len="med"/>
          </a:ln>
        </p:spPr>
      </p:cxnSp>
      <p:cxnSp>
        <p:nvCxnSpPr>
          <p:cNvPr id="65" name="Arr65"/>
          <p:cNvCxnSpPr/>
          <p:nvPr/>
        </p:nvCxnSpPr>
        <p:spPr>
          <a:xfrm flipH="1">
            <a:off x="5257444" y="2633100"/>
            <a:ext cx="716300" cy="606100"/>
          </a:xfrm>
          <a:prstGeom prst="line">
            <a:avLst/>
          </a:prstGeom>
          <a:ln w="31490">
            <a:solidFill>
              <a:srgbClr val="8E6F3E"/>
            </a:solidFill>
            <a:tailEnd type="triangle" w="med" len="med"/>
          </a:ln>
        </p:spPr>
      </p:cxnSp>
      <p:cxnSp>
        <p:nvCxnSpPr>
          <p:cNvPr id="66" name="Arr66"/>
          <p:cNvCxnSpPr/>
          <p:nvPr/>
        </p:nvCxnSpPr>
        <p:spPr>
          <a:xfrm flipV="1">
            <a:off x="3170256" y="4396300"/>
            <a:ext cx="716300" cy="606100"/>
          </a:xfrm>
          <a:prstGeom prst="line">
            <a:avLst/>
          </a:prstGeom>
          <a:ln w="31490">
            <a:solidFill>
              <a:srgbClr val="8E6F3E"/>
            </a:solidFill>
            <a:tailEnd type="triangle" w="med" len="med"/>
          </a:ln>
        </p:spPr>
      </p:cxnSp>
      <p:cxnSp>
        <p:nvCxnSpPr>
          <p:cNvPr id="67" name="Arr67"/>
          <p:cNvCxnSpPr/>
          <p:nvPr/>
        </p:nvCxnSpPr>
        <p:spPr>
          <a:xfrm flipH="1" flipV="1">
            <a:off x="5257444" y="4396300"/>
            <a:ext cx="716300" cy="606100"/>
          </a:xfrm>
          <a:prstGeom prst="line">
            <a:avLst/>
          </a:prstGeom>
          <a:ln w="31490">
            <a:solidFill>
              <a:srgbClr val="8E6F3E"/>
            </a:solidFill>
            <a:tailEnd type="triangle" w="med" len="med"/>
          </a:ln>
        </p:spPr>
      </p:cxnSp>
      <p:sp>
        <p:nvSpPr>
          <p:cNvPr id="68" name="OneMachine"/>
          <p:cNvSpPr/>
          <p:nvPr/>
        </p:nvSpPr>
        <p:spPr>
          <a:xfrm>
            <a:off x="3029200" y="3239200"/>
            <a:ext cx="3085600" cy="1157100"/>
          </a:xfrm>
          <a:prstGeom prst="rect">
            <a:avLst/>
          </a:prstGeom>
          <a:solidFill>
            <a:srgbClr val="8E6F3E"/>
          </a:solidFill>
          <a:ln>
            <a:noFill/>
          </a:ln>
        </p:spPr>
        <p:txBody>
          <a:bodyPr wrap="square" lIns="109728" tIns="82296" rIns="109728" bIns="82296" anchor="ctr">
            <a:normAutofit/>
          </a:bodyPr>
          <a:lstStyle/>
          <a:p>
            <a:pPr algn="ctr">
              <a:buNone/>
            </a:pPr>
            <a:r>
              <a:rPr lang="en-US" sz="3800" b="1" i="0" dirty="0">
                <a:solidFill>
                  <a:srgbClr val="FFFFFF"/>
                </a:solidFill>
              </a:rPr>
              <a:t xml:space="preserve">ONE MACHINE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0"/>
                                        </p:tgtEl>
                                        <p:attrNameLst>
                                          <p:attrName>style.visibility</p:attrName>
                                        </p:attrNameLst>
                                      </p:cBhvr>
                                      <p:to>
                                        <p:strVal val="visible"/>
                                      </p:to>
                                    </p:set>
                                    <p:animEffect transition="in" filter="fade">
                                      <p:cBhvr>
                                        <p:cTn id="7" dur="400"/>
                                        <p:tgtEl>
                                          <p:spTgt spid="6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61"/>
                                        </p:tgtEl>
                                        <p:attrNameLst>
                                          <p:attrName>style.visibility</p:attrName>
                                        </p:attrNameLst>
                                      </p:cBhvr>
                                      <p:to>
                                        <p:strVal val="visible"/>
                                      </p:to>
                                    </p:set>
                                    <p:animEffect transition="in" filter="fade">
                                      <p:cBhvr>
                                        <p:cTn id="12" dur="400"/>
                                        <p:tgtEl>
                                          <p:spTgt spid="6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62"/>
                                        </p:tgtEl>
                                        <p:attrNameLst>
                                          <p:attrName>style.visibility</p:attrName>
                                        </p:attrNameLst>
                                      </p:cBhvr>
                                      <p:to>
                                        <p:strVal val="visible"/>
                                      </p:to>
                                    </p:set>
                                    <p:animEffect transition="in" filter="fade">
                                      <p:cBhvr>
                                        <p:cTn id="17" dur="400"/>
                                        <p:tgtEl>
                                          <p:spTgt spid="6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3"/>
                                        </p:tgtEl>
                                        <p:attrNameLst>
                                          <p:attrName>style.visibility</p:attrName>
                                        </p:attrNameLst>
                                      </p:cBhvr>
                                      <p:to>
                                        <p:strVal val="visible"/>
                                      </p:to>
                                    </p:set>
                                    <p:animEffect transition="in" filter="fade">
                                      <p:cBhvr>
                                        <p:cTn id="22" dur="400"/>
                                        <p:tgtEl>
                                          <p:spTgt spid="6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64"/>
                                        </p:tgtEl>
                                        <p:attrNameLst>
                                          <p:attrName>style.visibility</p:attrName>
                                        </p:attrNameLst>
                                      </p:cBhvr>
                                      <p:to>
                                        <p:strVal val="visible"/>
                                      </p:to>
                                    </p:set>
                                    <p:animEffect transition="in" filter="fade">
                                      <p:cBhvr>
                                        <p:cTn id="27" dur="400"/>
                                        <p:tgtEl>
                                          <p:spTgt spid="64"/>
                                        </p:tgtEl>
                                      </p:cBhvr>
                                    </p:animEffect>
                                  </p:childTnLst>
                                </p:cTn>
                              </p:par>
                              <p:par>
                                <p:cTn id="28" presetID="10" presetClass="entr" presetSubtype="0" fill="hold" nodeType="withEffect">
                                  <p:stCondLst>
                                    <p:cond delay="0"/>
                                  </p:stCondLst>
                                  <p:childTnLst>
                                    <p:set>
                                      <p:cBhvr>
                                        <p:cTn id="29" dur="1" fill="hold">
                                          <p:stCondLst>
                                            <p:cond delay="0"/>
                                          </p:stCondLst>
                                        </p:cTn>
                                        <p:tgtEl>
                                          <p:spTgt spid="65"/>
                                        </p:tgtEl>
                                        <p:attrNameLst>
                                          <p:attrName>style.visibility</p:attrName>
                                        </p:attrNameLst>
                                      </p:cBhvr>
                                      <p:to>
                                        <p:strVal val="visible"/>
                                      </p:to>
                                    </p:set>
                                    <p:animEffect transition="in" filter="fade">
                                      <p:cBhvr>
                                        <p:cTn id="30" dur="400"/>
                                        <p:tgtEl>
                                          <p:spTgt spid="65"/>
                                        </p:tgtEl>
                                      </p:cBhvr>
                                    </p:animEffect>
                                  </p:childTnLst>
                                </p:cTn>
                              </p:par>
                              <p:par>
                                <p:cTn id="31" presetID="10" presetClass="entr" presetSubtype="0" fill="hold" nodeType="withEffect">
                                  <p:stCondLst>
                                    <p:cond delay="0"/>
                                  </p:stCondLst>
                                  <p:childTnLst>
                                    <p:set>
                                      <p:cBhvr>
                                        <p:cTn id="32" dur="1" fill="hold">
                                          <p:stCondLst>
                                            <p:cond delay="0"/>
                                          </p:stCondLst>
                                        </p:cTn>
                                        <p:tgtEl>
                                          <p:spTgt spid="66"/>
                                        </p:tgtEl>
                                        <p:attrNameLst>
                                          <p:attrName>style.visibility</p:attrName>
                                        </p:attrNameLst>
                                      </p:cBhvr>
                                      <p:to>
                                        <p:strVal val="visible"/>
                                      </p:to>
                                    </p:set>
                                    <p:animEffect transition="in" filter="fade">
                                      <p:cBhvr>
                                        <p:cTn id="33" dur="400"/>
                                        <p:tgtEl>
                                          <p:spTgt spid="66"/>
                                        </p:tgtEl>
                                      </p:cBhvr>
                                    </p:animEffect>
                                  </p:childTnLst>
                                </p:cTn>
                              </p:par>
                              <p:par>
                                <p:cTn id="34" presetID="10" presetClass="entr" presetSubtype="0" fill="hold" nodeType="withEffect">
                                  <p:stCondLst>
                                    <p:cond delay="0"/>
                                  </p:stCondLst>
                                  <p:childTnLst>
                                    <p:set>
                                      <p:cBhvr>
                                        <p:cTn id="35" dur="1" fill="hold">
                                          <p:stCondLst>
                                            <p:cond delay="0"/>
                                          </p:stCondLst>
                                        </p:cTn>
                                        <p:tgtEl>
                                          <p:spTgt spid="67"/>
                                        </p:tgtEl>
                                        <p:attrNameLst>
                                          <p:attrName>style.visibility</p:attrName>
                                        </p:attrNameLst>
                                      </p:cBhvr>
                                      <p:to>
                                        <p:strVal val="visible"/>
                                      </p:to>
                                    </p:set>
                                    <p:animEffect transition="in" filter="fade">
                                      <p:cBhvr>
                                        <p:cTn id="36" dur="400"/>
                                        <p:tgtEl>
                                          <p:spTgt spid="67"/>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68"/>
                                        </p:tgtEl>
                                        <p:attrNameLst>
                                          <p:attrName>style.visibility</p:attrName>
                                        </p:attrNameLst>
                                      </p:cBhvr>
                                      <p:to>
                                        <p:strVal val="visible"/>
                                      </p:to>
                                    </p:set>
                                    <p:animEffect transition="in" filter="fade">
                                      <p:cBhvr>
                                        <p:cTn id="41" dur="400"/>
                                        <p:tgtEl>
                                          <p:spTgt spid="6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a:bodyPr>
          <a:lstStyle/>
          <a:p>
            <a:pPr algn="ctr">
              <a:buNone/>
              <a:defRPr b="0"/>
            </a:pPr>
            <a:r>
              <a:rPr lang="en-US" sz="3600" b="0" i="0" dirty="0">
                <a:solidFill>
                  <a:srgbClr val="000000"/>
                </a:solidFill>
              </a:rPr>
              <a:t xml:space="preserve">Choosing among acceptable organizations</a:t>
            </a:r>
          </a:p>
        </p:txBody>
      </p:sp>
      <p:sp>
        <p:nvSpPr>
          <p:cNvPr id="3" name="Slide Number Placeholder 2"/>
          <p:cNvSpPr>
            <a:spLocks noGrp="1"/>
          </p:cNvSpPr>
          <p:nvPr>
            <p:ph type="sldNum" sz="quarter" idx="4"/>
          </p:nvPr>
        </p:nvSpPr>
        <p:spPr/>
        <p:txBody>
          <a:bodyPr/>
          <a:lstStyle/>
          <a:p>
            <a:fld id="{B7EB45DA-9A0D-DC49-8E02-F30A5DDC21C3}" type="slidenum">
              <a:rPr lang="en-US" smtClean="0"/>
              <a:t>0</a:t>
            </a:fld>
            <a:endParaRPr lang="en-US"/>
          </a:p>
        </p:txBody>
      </p:sp>
      <p:sp>
        <p:nvSpPr>
          <p:cNvPr id="50" name="T50"/>
          <p:cNvSpPr txBox="1"/>
          <p:nvPr/>
        </p:nvSpPr>
        <p:spPr>
          <a:xfrm>
            <a:off x="685800" y="1737360"/>
            <a:ext cx="7772400" cy="355600"/>
          </a:xfrm>
          <a:prstGeom prst="rect">
            <a:avLst/>
          </a:prstGeom>
          <a:noFill/>
          <a:ln>
            <a:noFill/>
          </a:ln>
        </p:spPr>
        <p:txBody>
          <a:bodyPr wrap="square" lIns="0" tIns="0" rIns="0" bIns="0" anchor="t">
            <a:normAutofit/>
          </a:bodyPr>
          <a:lstStyle/>
          <a:p>
            <a:pPr algn="ctr">
              <a:buNone/>
            </a:pPr>
            <a:r>
              <a:rPr lang="en-US" sz="2200" b="1" i="0" dirty="0">
                <a:solidFill>
                  <a:srgbClr val="8E6F3E"/>
                </a:solidFill>
              </a:rPr>
              <a:t xml:space="preserve">SECTION 2</a:t>
            </a:r>
          </a:p>
        </p:txBody>
      </p:sp>
      <p:sp>
        <p:nvSpPr>
          <p:cNvPr id="51" name="S51"/>
          <p:cNvSpPr/>
          <p:nvPr/>
        </p:nvSpPr>
        <p:spPr>
          <a:xfrm>
            <a:off x="3429000" y="3383280"/>
            <a:ext cx="2286000" cy="50800"/>
          </a:xfrm>
          <a:prstGeom prst="rect">
            <a:avLst/>
          </a:prstGeom>
          <a:solidFill>
            <a:srgbClr val="8E6F3E"/>
          </a:solidFill>
          <a:ln>
            <a:noFill/>
          </a:ln>
        </p:spPr>
        <p:txBody>
          <a:bodyPr wrap="square" lIns="109728" tIns="82296" rIns="109728" bIns="82296" anchor="ctr">
            <a:normAutofit/>
          </a:bodyPr>
          <a:lstStyle/>
          <a:p>
            <a:endParaRPr/>
          </a:p>
        </p:txBody>
      </p:sp>
      <p:sp>
        <p:nvSpPr>
          <p:cNvPr id="52" name="T52"/>
          <p:cNvSpPr txBox="1"/>
          <p:nvPr/>
        </p:nvSpPr>
        <p:spPr>
          <a:xfrm>
            <a:off x="1371600" y="3977640"/>
            <a:ext cx="6400800" cy="1005840"/>
          </a:xfrm>
          <a:prstGeom prst="rect">
            <a:avLst/>
          </a:prstGeom>
          <a:noFill/>
          <a:ln>
            <a:noFill/>
          </a:ln>
        </p:spPr>
        <p:txBody>
          <a:bodyPr wrap="square" lIns="0" tIns="0" rIns="0" bIns="0" anchor="t">
            <a:normAutofit/>
          </a:bodyPr>
          <a:lstStyle/>
          <a:p>
            <a:pPr algn="ctr">
              <a:buNone/>
            </a:pPr>
            <a:r>
              <a:rPr lang="en-US" sz="2800" b="0" i="0" dirty="0">
                <a:solidFill>
                  <a:srgbClr val="555960"/>
                </a:solidFill>
              </a:rPr>
              <a:t xml:space="preserve">Architecture is decision-making</a:t>
            </a:r>
            <a:br>
              <a:rPr lang="en-US" sz="2800"/>
            </a:br>
            <a:r>
              <a:rPr lang="en-US" sz="2800" b="0" i="0" dirty="0">
                <a:solidFill>
                  <a:srgbClr val="555960"/>
                </a:solidFill>
              </a:rPr>
              <a:t xml:space="preserve">under tradeoffs.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 xml:space="preserve">Where should the boundaries go?</a:t>
            </a:r>
          </a:p>
        </p:txBody>
      </p:sp>
      <p:sp>
        <p:nvSpPr>
          <p:cNvPr id="3" name="Slide Number Placeholder 2"/>
          <p:cNvSpPr>
            <a:spLocks noGrp="1"/>
          </p:cNvSpPr>
          <p:nvPr>
            <p:ph type="sldNum" sz="quarter" idx="4"/>
          </p:nvPr>
        </p:nvSpPr>
        <p:spPr/>
        <p:txBody>
          <a:bodyPr/>
          <a:lstStyle/>
          <a:p>
            <a:fld id="{B7EB45DA-9A0D-DC49-8E02-F30A5DDC21C3}" type="slidenum">
              <a:rPr lang="en-US" smtClean="0"/>
              <a:t>0</a:t>
            </a:fld>
            <a:endParaRPr lang="en-US"/>
          </a:p>
        </p:txBody>
      </p:sp>
      <p:sp>
        <p:nvSpPr>
          <p:cNvPr id="61" name="Band61"/>
          <p:cNvSpPr/>
          <p:nvPr/>
        </p:nvSpPr>
        <p:spPr>
          <a:xfrm>
            <a:off x="279400" y="4230000"/>
            <a:ext cx="8585200" cy="820000"/>
          </a:xfrm>
          <a:prstGeom prst="rect">
            <a:avLst/>
          </a:prstGeom>
          <a:solidFill>
            <a:srgbClr val="F5F1E8"/>
          </a:solidFill>
          <a:ln>
            <a:noFill/>
          </a:ln>
        </p:spPr>
        <p:txBody>
          <a:bodyPr wrap="square" lIns="109728" tIns="82296" rIns="109728" bIns="82296" anchor="ctr">
            <a:normAutofit/>
          </a:bodyPr>
          <a:lstStyle/>
          <a:p>
            <a:pPr algn="ctr">
              <a:buNone/>
            </a:pPr>
            <a:r>
              <a:rPr lang="en-US" sz="2200" b="1" i="0" dirty="0">
                <a:solidFill>
                  <a:srgbClr val="8E6F3E"/>
                </a:solidFill>
              </a:rPr>
              <a:t xml:space="preserve">CHANGE TOGETHER? · FAIL TOGETHER? · SCALE TOGETHER? · CONSISTENT TOGETHER? · SECURE TOGETHER? · OWNED TOGETHER?</a:t>
            </a:r>
          </a:p>
        </p:txBody>
      </p:sp>
      <p:sp>
        <p:nvSpPr>
          <p:cNvPr id="62" name="T62"/>
          <p:cNvSpPr txBox="1"/>
          <p:nvPr/>
        </p:nvSpPr>
        <p:spPr>
          <a:xfrm>
            <a:off x="685800" y="5120000"/>
            <a:ext cx="7772400" cy="420000"/>
          </a:xfrm>
          <a:prstGeom prst="rect">
            <a:avLst/>
          </a:prstGeom>
          <a:noFill/>
          <a:ln>
            <a:noFill/>
          </a:ln>
        </p:spPr>
        <p:txBody>
          <a:bodyPr wrap="square" lIns="0" tIns="0" rIns="0" bIns="0" anchor="t">
            <a:normAutofit/>
          </a:bodyPr>
          <a:lstStyle/>
          <a:p>
            <a:pPr algn="ctr">
              <a:buNone/>
            </a:pPr>
            <a:r>
              <a:rPr lang="en-US" sz="2600" b="0" i="1" dirty="0">
                <a:solidFill>
                  <a:srgbClr val="000000"/>
                </a:solidFill>
              </a:rPr>
              <a:t xml:space="preserve">Architecture allocates coupling; it does not eliminate it.</a:t>
            </a:r>
          </a:p>
        </p:txBody>
      </p:sp>
      <p:sp>
        <p:nvSpPr>
          <p:cNvPr id="63" name="Band63"/>
          <p:cNvSpPr/>
          <p:nvPr/>
        </p:nvSpPr>
        <p:spPr>
          <a:xfrm>
            <a:off x="279400" y="5580000"/>
            <a:ext cx="8585200" cy="880000"/>
          </a:xfrm>
          <a:prstGeom prst="rect">
            <a:avLst/>
          </a:prstGeom>
          <a:solidFill>
            <a:srgbClr val="8E6F3E"/>
          </a:solidFill>
          <a:ln>
            <a:noFill/>
          </a:ln>
        </p:spPr>
        <p:txBody>
          <a:bodyPr wrap="square" lIns="109728" tIns="82296" rIns="109728" bIns="82296" anchor="ctr">
            <a:normAutofit/>
          </a:bodyPr>
          <a:lstStyle/>
          <a:p>
            <a:pPr algn="ctr">
              <a:buNone/>
            </a:pPr>
            <a:r>
              <a:rPr lang="en-US" sz="2400" b="1" i="0" dirty="0">
                <a:solidFill>
                  <a:srgbClr val="FFFFFF"/>
                </a:solidFill>
              </a:rPr>
              <a:t xml:space="preserve">Where should we draw boundaries so the interactions and changes we expect are easy, while the interactions and changes we do not want are difficult?</a:t>
            </a:r>
          </a:p>
        </p:txBody>
      </p:sp>
      <p:sp>
        <p:nvSpPr>
          <p:cNvPr id="100" name="OrgALbl"/>
          <p:cNvSpPr txBox="1"/>
          <p:nvPr/>
        </p:nvSpPr>
        <p:spPr>
          <a:xfrm>
            <a:off x="142000" y="908600"/>
            <a:ext cx="4416000" cy="414000"/>
          </a:xfrm>
          <a:prstGeom prst="rect">
            <a:avLst/>
          </a:prstGeom>
          <a:noFill/>
          <a:ln>
            <a:noFill/>
          </a:ln>
        </p:spPr>
        <p:txBody>
          <a:bodyPr wrap="square" lIns="0" tIns="0" rIns="0" bIns="0" anchor="t">
            <a:normAutofit/>
          </a:bodyPr>
          <a:lstStyle/>
          <a:p>
            <a:pPr algn="ctr">
              <a:buNone/>
            </a:pPr>
            <a:r>
              <a:rPr lang="en-US" sz="2500" b="1" i="0" dirty="0">
                <a:solidFill>
                  <a:srgbClr val="8E6F3E"/>
                </a:solidFill>
              </a:rPr>
              <a:t xml:space="preserve">ORGANIZATION A</a:t>
            </a:r>
          </a:p>
        </p:txBody>
      </p:sp>
      <p:sp>
        <p:nvSpPr>
          <p:cNvPr id="101" name="OrgA0"/>
          <p:cNvSpPr/>
          <p:nvPr/>
        </p:nvSpPr>
        <p:spPr>
          <a:xfrm>
            <a:off x="1246000" y="1433000"/>
            <a:ext cx="2208000" cy="579600"/>
          </a:xfrm>
          <a:prstGeom prst="rect">
            <a:avLst/>
          </a:prstGeom>
          <a:solidFill>
            <a:srgbClr val="F5F1E8"/>
          </a:solidFill>
          <a:ln w="17526">
            <a:solidFill>
              <a:srgbClr val="C9B991"/>
            </a:solidFill>
          </a:ln>
        </p:spPr>
        <p:txBody>
          <a:bodyPr wrap="square" lIns="54864" tIns="27432" rIns="54864" bIns="27432" anchor="ctr">
            <a:normAutofit/>
          </a:bodyPr>
          <a:lstStyle/>
          <a:p>
            <a:pPr algn="ctr">
              <a:buNone/>
            </a:pPr>
            <a:r>
              <a:rPr lang="en-US" sz="2400" b="0" i="0" dirty="0">
                <a:solidFill>
                  <a:srgbClr val="5C4826"/>
                </a:solidFill>
              </a:rPr>
              <a:t xml:space="preserve">collect</a:t>
            </a:r>
          </a:p>
        </p:txBody>
      </p:sp>
      <p:sp>
        <p:nvSpPr>
          <p:cNvPr id="102" name="OrgA1"/>
          <p:cNvSpPr/>
          <p:nvPr/>
        </p:nvSpPr>
        <p:spPr>
          <a:xfrm>
            <a:off x="1246000" y="2012600"/>
            <a:ext cx="2208000" cy="579600"/>
          </a:xfrm>
          <a:prstGeom prst="rect">
            <a:avLst/>
          </a:prstGeom>
          <a:solidFill>
            <a:srgbClr val="F5F1E8"/>
          </a:solidFill>
          <a:ln w="17526">
            <a:solidFill>
              <a:srgbClr val="C9B991"/>
            </a:solidFill>
          </a:ln>
        </p:spPr>
        <p:txBody>
          <a:bodyPr wrap="square" lIns="54864" tIns="27432" rIns="54864" bIns="27432" anchor="ctr">
            <a:normAutofit/>
          </a:bodyPr>
          <a:lstStyle/>
          <a:p>
            <a:pPr algn="ctr">
              <a:buNone/>
            </a:pPr>
            <a:r>
              <a:rPr lang="en-US" sz="2400" b="0" i="0" dirty="0">
                <a:solidFill>
                  <a:srgbClr val="5C4826"/>
                </a:solidFill>
              </a:rPr>
              <a:t xml:space="preserve">classify</a:t>
            </a:r>
          </a:p>
        </p:txBody>
      </p:sp>
      <p:sp>
        <p:nvSpPr>
          <p:cNvPr id="103" name="OrgA2"/>
          <p:cNvSpPr/>
          <p:nvPr/>
        </p:nvSpPr>
        <p:spPr>
          <a:xfrm>
            <a:off x="1246000" y="2592200"/>
            <a:ext cx="2208000" cy="579600"/>
          </a:xfrm>
          <a:prstGeom prst="rect">
            <a:avLst/>
          </a:prstGeom>
          <a:solidFill>
            <a:srgbClr val="F5F1E8"/>
          </a:solidFill>
          <a:ln w="17526">
            <a:solidFill>
              <a:srgbClr val="C9B991"/>
            </a:solidFill>
          </a:ln>
        </p:spPr>
        <p:txBody>
          <a:bodyPr wrap="square" lIns="54864" tIns="27432" rIns="54864" bIns="27432" anchor="ctr">
            <a:normAutofit/>
          </a:bodyPr>
          <a:lstStyle/>
          <a:p>
            <a:pPr algn="ctr">
              <a:buNone/>
            </a:pPr>
            <a:r>
              <a:rPr lang="en-US" sz="2400" b="0" i="0" dirty="0">
                <a:solidFill>
                  <a:srgbClr val="5C4826"/>
                </a:solidFill>
              </a:rPr>
              <a:t xml:space="preserve">summarize</a:t>
            </a:r>
          </a:p>
        </p:txBody>
      </p:sp>
      <p:sp>
        <p:nvSpPr>
          <p:cNvPr id="104" name="OrgA3"/>
          <p:cNvSpPr/>
          <p:nvPr/>
        </p:nvSpPr>
        <p:spPr>
          <a:xfrm>
            <a:off x="1246000" y="3171800"/>
            <a:ext cx="2208000" cy="579600"/>
          </a:xfrm>
          <a:prstGeom prst="rect">
            <a:avLst/>
          </a:prstGeom>
          <a:solidFill>
            <a:srgbClr val="F5F1E8"/>
          </a:solidFill>
          <a:ln w="17526">
            <a:solidFill>
              <a:srgbClr val="C9B991"/>
            </a:solidFill>
          </a:ln>
        </p:spPr>
        <p:txBody>
          <a:bodyPr wrap="square" lIns="54864" tIns="27432" rIns="54864" bIns="27432" anchor="ctr">
            <a:normAutofit/>
          </a:bodyPr>
          <a:lstStyle/>
          <a:p>
            <a:pPr algn="ctr">
              <a:buNone/>
            </a:pPr>
            <a:r>
              <a:rPr lang="en-US" sz="2400" b="0" i="0" dirty="0">
                <a:solidFill>
                  <a:srgbClr val="5C4826"/>
                </a:solidFill>
              </a:rPr>
              <a:t xml:space="preserve">advise</a:t>
            </a:r>
          </a:p>
        </p:txBody>
      </p:sp>
      <p:sp>
        <p:nvSpPr>
          <p:cNvPr id="105" name="OrgAOuter"/>
          <p:cNvSpPr/>
          <p:nvPr/>
        </p:nvSpPr>
        <p:spPr>
          <a:xfrm>
            <a:off x="1246000" y="1433000"/>
            <a:ext cx="2208000" cy="2318400"/>
          </a:xfrm>
          <a:prstGeom prst="rect">
            <a:avLst/>
          </a:prstGeom>
          <a:noFill/>
          <a:ln w="35052">
            <a:solidFill>
              <a:srgbClr val="8E6F3E"/>
            </a:solidFill>
          </a:ln>
        </p:spPr>
        <p:txBody>
          <a:bodyPr wrap="square" lIns="54864" tIns="27432" rIns="54864" bIns="27432" anchor="ctr">
            <a:normAutofit/>
          </a:bodyPr>
          <a:lstStyle/>
          <a:p>
            <a:endParaRPr/>
          </a:p>
        </p:txBody>
      </p:sp>
      <p:cxnSp>
        <p:nvCxnSpPr>
          <p:cNvPr id="106" name="Div"/>
          <p:cNvCxnSpPr/>
          <p:nvPr/>
        </p:nvCxnSpPr>
        <p:spPr>
          <a:xfrm>
            <a:off x="4572000" y="1150000"/>
            <a:ext cx="0" cy="2650000"/>
          </a:xfrm>
          <a:prstGeom prst="line">
            <a:avLst/>
          </a:prstGeom>
          <a:ln w="12700">
            <a:solidFill>
              <a:srgbClr val="C9B991"/>
            </a:solidFill>
            <a:prstDash val="dash"/>
          </a:ln>
        </p:spPr>
      </p:cxnSp>
      <p:sp>
        <p:nvSpPr>
          <p:cNvPr id="107" name="OrgBLbl"/>
          <p:cNvSpPr txBox="1"/>
          <p:nvPr/>
        </p:nvSpPr>
        <p:spPr>
          <a:xfrm>
            <a:off x="4592000" y="915500"/>
            <a:ext cx="4416000" cy="414000"/>
          </a:xfrm>
          <a:prstGeom prst="rect">
            <a:avLst/>
          </a:prstGeom>
          <a:noFill/>
          <a:ln>
            <a:noFill/>
          </a:ln>
        </p:spPr>
        <p:txBody>
          <a:bodyPr wrap="square" lIns="0" tIns="0" rIns="0" bIns="0" anchor="t">
            <a:normAutofit/>
          </a:bodyPr>
          <a:lstStyle/>
          <a:p>
            <a:pPr algn="ctr">
              <a:buNone/>
            </a:pPr>
            <a:r>
              <a:rPr lang="en-US" sz="2500" b="1" i="0" dirty="0">
                <a:solidFill>
                  <a:srgbClr val="8E6F3E"/>
                </a:solidFill>
              </a:rPr>
              <a:t xml:space="preserve">ORGANIZATION B</a:t>
            </a:r>
          </a:p>
        </p:txBody>
      </p:sp>
      <p:sp>
        <p:nvSpPr>
          <p:cNvPr id="108" name="OrgB1"/>
          <p:cNvSpPr/>
          <p:nvPr/>
        </p:nvSpPr>
        <p:spPr>
          <a:xfrm>
            <a:off x="4799000" y="1439900"/>
            <a:ext cx="1863000" cy="690000"/>
          </a:xfrm>
          <a:prstGeom prst="rect">
            <a:avLst/>
          </a:prstGeom>
          <a:solidFill>
            <a:srgbClr val="F5F1E8"/>
          </a:solidFill>
          <a:ln w="17526">
            <a:solidFill>
              <a:srgbClr val="C9B991"/>
            </a:solidFill>
          </a:ln>
        </p:spPr>
        <p:txBody>
          <a:bodyPr wrap="square" lIns="54864" tIns="27432" rIns="54864" bIns="27432" anchor="ctr">
            <a:normAutofit/>
          </a:bodyPr>
          <a:lstStyle/>
          <a:p>
            <a:pPr algn="ctr">
              <a:buNone/>
            </a:pPr>
            <a:r>
              <a:rPr lang="en-US" sz="2400" b="0" i="0" dirty="0">
                <a:solidFill>
                  <a:srgbClr val="5C4826"/>
                </a:solidFill>
              </a:rPr>
              <a:t xml:space="preserve">collect · store</a:t>
            </a:r>
          </a:p>
        </p:txBody>
      </p:sp>
      <p:sp>
        <p:nvSpPr>
          <p:cNvPr id="109" name="OrgB2"/>
          <p:cNvSpPr/>
          <p:nvPr/>
        </p:nvSpPr>
        <p:spPr>
          <a:xfrm>
            <a:off x="7007000" y="1439900"/>
            <a:ext cx="1863000" cy="690000"/>
          </a:xfrm>
          <a:prstGeom prst="rect">
            <a:avLst/>
          </a:prstGeom>
          <a:solidFill>
            <a:srgbClr val="F5F1E8"/>
          </a:solidFill>
          <a:ln w="17526">
            <a:solidFill>
              <a:srgbClr val="C9B991"/>
            </a:solidFill>
          </a:ln>
        </p:spPr>
        <p:txBody>
          <a:bodyPr wrap="square" lIns="54864" tIns="27432" rIns="54864" bIns="27432" anchor="ctr">
            <a:normAutofit/>
          </a:bodyPr>
          <a:lstStyle/>
          <a:p>
            <a:pPr algn="ctr">
              <a:buNone/>
            </a:pPr>
            <a:r>
              <a:rPr lang="en-US" sz="2400" b="0" i="0" dirty="0">
                <a:solidFill>
                  <a:srgbClr val="5C4826"/>
                </a:solidFill>
              </a:rPr>
              <a:t xml:space="preserve">model · advise</a:t>
            </a:r>
          </a:p>
        </p:txBody>
      </p:sp>
      <p:sp>
        <p:nvSpPr>
          <p:cNvPr id="110" name="OrgBShare"/>
          <p:cNvSpPr/>
          <p:nvPr/>
        </p:nvSpPr>
        <p:spPr>
          <a:xfrm>
            <a:off x="5903000" y="3054500"/>
            <a:ext cx="1863000" cy="690000"/>
          </a:xfrm>
          <a:prstGeom prst="rect">
            <a:avLst/>
          </a:prstGeom>
          <a:solidFill>
            <a:srgbClr val="8E6F3E"/>
          </a:solidFill>
          <a:ln>
            <a:noFill/>
          </a:ln>
        </p:spPr>
        <p:txBody>
          <a:bodyPr wrap="square" lIns="54864" tIns="27432" rIns="54864" bIns="27432" anchor="ctr">
            <a:normAutofit/>
          </a:bodyPr>
          <a:lstStyle/>
          <a:p>
            <a:pPr algn="ctr">
              <a:buNone/>
            </a:pPr>
            <a:r>
              <a:rPr lang="en-US" sz="2400" b="1" i="0" dirty="0">
                <a:solidFill>
                  <a:srgbClr val="FFFFFF"/>
                </a:solidFill>
              </a:rPr>
              <a:t xml:space="preserve">sharing</a:t>
            </a:r>
          </a:p>
        </p:txBody>
      </p:sp>
      <p:cxnSp>
        <p:nvCxnSpPr>
          <p:cNvPr id="111" name="OrgBa1"/>
          <p:cNvCxnSpPr/>
          <p:nvPr/>
        </p:nvCxnSpPr>
        <p:spPr>
          <a:xfrm>
            <a:off x="5730500" y="2129900"/>
            <a:ext cx="793500" cy="924600"/>
          </a:xfrm>
          <a:prstGeom prst="line">
            <a:avLst/>
          </a:prstGeom>
          <a:ln w="26289">
            <a:solidFill>
              <a:srgbClr val="8E6F3E"/>
            </a:solidFill>
            <a:tailEnd type="triangle" w="med" len="med"/>
          </a:ln>
        </p:spPr>
      </p:cxnSp>
      <p:cxnSp>
        <p:nvCxnSpPr>
          <p:cNvPr id="112" name="OrgBa2"/>
          <p:cNvCxnSpPr/>
          <p:nvPr/>
        </p:nvCxnSpPr>
        <p:spPr>
          <a:xfrm flipH="1">
            <a:off x="7145000" y="2129900"/>
            <a:ext cx="793500" cy="924600"/>
          </a:xfrm>
          <a:prstGeom prst="line">
            <a:avLst/>
          </a:prstGeom>
          <a:ln w="26289">
            <a:solidFill>
              <a:srgbClr val="8E6F3E"/>
            </a:solidFill>
            <a:tailEnd type="triangle" w="med" len="med"/>
          </a:ln>
        </p:spPr>
      </p:cxnSp>
      <p:sp>
        <p:nvSpPr>
          <p:cNvPr id="113" name="Cap"/>
          <p:cNvSpPr txBox="1"/>
          <p:nvPr/>
        </p:nvSpPr>
        <p:spPr>
          <a:xfrm>
            <a:off x="685800" y="3790000"/>
            <a:ext cx="7772400" cy="430000"/>
          </a:xfrm>
          <a:prstGeom prst="rect">
            <a:avLst/>
          </a:prstGeom>
          <a:noFill/>
          <a:ln>
            <a:noFill/>
          </a:ln>
        </p:spPr>
        <p:txBody>
          <a:bodyPr wrap="square" lIns="0" tIns="0" rIns="0" bIns="0" anchor="t">
            <a:normAutofit/>
          </a:bodyPr>
          <a:lstStyle/>
          <a:p>
            <a:pPr algn="ctr">
              <a:buNone/>
            </a:pPr>
            <a:r>
              <a:rPr lang="en-US" sz="2400" b="0" i="1" dirty="0">
                <a:solidFill>
                  <a:srgbClr val="5C4826"/>
                </a:solidFill>
              </a:rPr>
              <a:t xml:space="preserve">Different boundaries → different coupling.</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 xml:space="preserve">Two architectures. Which one is better?</a:t>
            </a:r>
          </a:p>
        </p:txBody>
      </p:sp>
      <p:sp>
        <p:nvSpPr>
          <p:cNvPr id="3" name="Slide Number Placeholder 2"/>
          <p:cNvSpPr>
            <a:spLocks noGrp="1"/>
          </p:cNvSpPr>
          <p:nvPr>
            <p:ph type="sldNum" sz="quarter" idx="4"/>
          </p:nvPr>
        </p:nvSpPr>
        <p:spPr/>
        <p:txBody>
          <a:bodyPr/>
          <a:lstStyle/>
          <a:p>
            <a:fld id="{B7EB45DA-9A0D-DC49-8E02-F30A5DDC21C3}" type="slidenum">
              <a:rPr lang="en-US" smtClean="0"/>
              <a:t>0</a:t>
            </a:fld>
            <a:endParaRPr lang="en-US"/>
          </a:p>
        </p:txBody>
      </p:sp>
      <p:pic>
        <p:nvPicPr>
          <p:cNvPr id="60" name="Think Pair Share banner" descr="Think, Pair, Share"/>
          <p:cNvPicPr>
            <a:picLocks noChangeAspect="1"/>
          </p:cNvPicPr>
          <p:nvPr/>
        </p:nvPicPr>
        <p:blipFill>
          <a:blip r:embed="rId3"/>
          <a:stretch>
            <a:fillRect/>
          </a:stretch>
        </p:blipFill>
        <p:spPr>
          <a:xfrm>
            <a:off x="482497" y="764355"/>
            <a:ext cx="3871754" cy="1114596"/>
          </a:xfrm>
          <a:prstGeom prst="rect">
            <a:avLst/>
          </a:prstGeom>
        </p:spPr>
      </p:pic>
      <p:sp>
        <p:nvSpPr>
          <p:cNvPr id="101" name="C101"/>
          <p:cNvSpPr/>
          <p:nvPr/>
        </p:nvSpPr>
        <p:spPr>
          <a:xfrm>
            <a:off x="3634500" y="1895000"/>
            <a:ext cx="2375000" cy="650000"/>
          </a:xfrm>
          <a:prstGeom prst="rect">
            <a:avLst/>
          </a:prstGeom>
          <a:solidFill>
            <a:srgbClr val="8E6F3E"/>
          </a:solidFill>
          <a:ln>
            <a:noFill/>
          </a:ln>
        </p:spPr>
        <p:txBody>
          <a:bodyPr wrap="square" lIns="109728" tIns="82296" rIns="109728" bIns="82296" anchor="ctr">
            <a:normAutofit/>
          </a:bodyPr>
          <a:lstStyle/>
          <a:p>
            <a:pPr algn="ctr">
              <a:buNone/>
            </a:pPr>
            <a:r>
              <a:rPr lang="en-US" sz="2700" b="1" i="0" dirty="0">
                <a:solidFill>
                  <a:srgbClr val="FFFFFF"/>
                </a:solidFill>
              </a:rPr>
              <a:t xml:space="preserve">A</a:t>
            </a:r>
          </a:p>
        </p:txBody>
      </p:sp>
      <p:sp>
        <p:nvSpPr>
          <p:cNvPr id="102" name="C102"/>
          <p:cNvSpPr/>
          <p:nvPr/>
        </p:nvSpPr>
        <p:spPr>
          <a:xfrm>
            <a:off x="6009500" y="1895000"/>
            <a:ext cx="2375000" cy="650000"/>
          </a:xfrm>
          <a:prstGeom prst="rect">
            <a:avLst/>
          </a:prstGeom>
          <a:solidFill>
            <a:srgbClr val="8E6F3E"/>
          </a:solidFill>
          <a:ln>
            <a:noFill/>
          </a:ln>
        </p:spPr>
        <p:txBody>
          <a:bodyPr wrap="square" lIns="109728" tIns="82296" rIns="109728" bIns="82296" anchor="ctr">
            <a:normAutofit/>
          </a:bodyPr>
          <a:lstStyle/>
          <a:p>
            <a:pPr algn="ctr">
              <a:buNone/>
            </a:pPr>
            <a:r>
              <a:rPr lang="en-US" sz="2700" b="1" i="0" dirty="0">
                <a:solidFill>
                  <a:srgbClr val="FFFFFF"/>
                </a:solidFill>
              </a:rPr>
              <a:t xml:space="preserve">B</a:t>
            </a:r>
          </a:p>
        </p:txBody>
      </p:sp>
      <p:sp>
        <p:nvSpPr>
          <p:cNvPr id="103" name="C103"/>
          <p:cNvSpPr/>
          <p:nvPr/>
        </p:nvSpPr>
        <p:spPr>
          <a:xfrm>
            <a:off x="759500" y="2545000"/>
            <a:ext cx="2875000" cy="650000"/>
          </a:xfrm>
          <a:prstGeom prst="rect">
            <a:avLst/>
          </a:prstGeom>
          <a:solidFill>
            <a:srgbClr val="F5F1E8"/>
          </a:solidFill>
          <a:ln w="15875">
            <a:solidFill>
              <a:srgbClr val="C9B991"/>
            </a:solidFill>
          </a:ln>
        </p:spPr>
        <p:txBody>
          <a:bodyPr wrap="square" lIns="109728" tIns="82296" rIns="109728" bIns="82296" anchor="ctr">
            <a:normAutofit/>
          </a:bodyPr>
          <a:lstStyle/>
          <a:p>
            <a:pPr algn="l">
              <a:buNone/>
            </a:pPr>
            <a:r>
              <a:rPr lang="en-US" sz="2400" b="1" i="0" dirty="0">
                <a:solidFill>
                  <a:srgbClr val="5C4826"/>
                </a:solidFill>
              </a:rPr>
              <a:t xml:space="preserve">Latency</a:t>
            </a:r>
          </a:p>
        </p:txBody>
      </p:sp>
      <p:sp>
        <p:nvSpPr>
          <p:cNvPr id="104" name="C104"/>
          <p:cNvSpPr/>
          <p:nvPr/>
        </p:nvSpPr>
        <p:spPr>
          <a:xfrm>
            <a:off x="3634500" y="2545000"/>
            <a:ext cx="2375000" cy="650000"/>
          </a:xfrm>
          <a:prstGeom prst="rect">
            <a:avLst/>
          </a:prstGeom>
          <a:solidFill>
            <a:srgbClr val="FFFFFF"/>
          </a:solidFill>
          <a:ln w="15875">
            <a:solidFill>
              <a:srgbClr val="C9B991"/>
            </a:solidFill>
          </a:ln>
        </p:spPr>
        <p:txBody>
          <a:bodyPr wrap="square" lIns="109728" tIns="82296" rIns="109728" bIns="82296" anchor="ctr">
            <a:normAutofit/>
          </a:bodyPr>
          <a:lstStyle/>
          <a:p>
            <a:pPr algn="ctr">
              <a:buNone/>
            </a:pPr>
            <a:r>
              <a:rPr lang="en-US" sz="2400" b="0" i="0" dirty="0">
                <a:solidFill>
                  <a:srgbClr val="000000"/>
                </a:solidFill>
              </a:rPr>
              <a:t xml:space="preserve">~100 ms</a:t>
            </a:r>
          </a:p>
        </p:txBody>
      </p:sp>
      <p:sp>
        <p:nvSpPr>
          <p:cNvPr id="105" name="C105"/>
          <p:cNvSpPr/>
          <p:nvPr/>
        </p:nvSpPr>
        <p:spPr>
          <a:xfrm>
            <a:off x="6009500" y="2545000"/>
            <a:ext cx="2375000" cy="650000"/>
          </a:xfrm>
          <a:prstGeom prst="rect">
            <a:avLst/>
          </a:prstGeom>
          <a:solidFill>
            <a:srgbClr val="FFFFFF"/>
          </a:solidFill>
          <a:ln w="15875">
            <a:solidFill>
              <a:srgbClr val="C9B991"/>
            </a:solidFill>
          </a:ln>
        </p:spPr>
        <p:txBody>
          <a:bodyPr wrap="square" lIns="109728" tIns="82296" rIns="109728" bIns="82296" anchor="ctr">
            <a:normAutofit/>
          </a:bodyPr>
          <a:lstStyle/>
          <a:p>
            <a:pPr algn="ctr">
              <a:buNone/>
            </a:pPr>
            <a:r>
              <a:rPr lang="en-US" sz="2400" b="0" i="0" dirty="0">
                <a:solidFill>
                  <a:srgbClr val="000000"/>
                </a:solidFill>
              </a:rPr>
              <a:t xml:space="preserve">~180 ms</a:t>
            </a:r>
          </a:p>
        </p:txBody>
      </p:sp>
      <p:sp>
        <p:nvSpPr>
          <p:cNvPr id="106" name="C106"/>
          <p:cNvSpPr/>
          <p:nvPr/>
        </p:nvSpPr>
        <p:spPr>
          <a:xfrm>
            <a:off x="759500" y="3195000"/>
            <a:ext cx="2875000" cy="650000"/>
          </a:xfrm>
          <a:prstGeom prst="rect">
            <a:avLst/>
          </a:prstGeom>
          <a:solidFill>
            <a:srgbClr val="F5F1E8"/>
          </a:solidFill>
          <a:ln w="15875">
            <a:solidFill>
              <a:srgbClr val="C9B991"/>
            </a:solidFill>
          </a:ln>
        </p:spPr>
        <p:txBody>
          <a:bodyPr wrap="square" lIns="109728" tIns="82296" rIns="109728" bIns="82296" anchor="ctr">
            <a:normAutofit/>
          </a:bodyPr>
          <a:lstStyle/>
          <a:p>
            <a:pPr algn="l">
              <a:buNone/>
            </a:pPr>
            <a:r>
              <a:rPr lang="en-US" sz="2400" b="1" i="0" dirty="0">
                <a:solidFill>
                  <a:srgbClr val="5C4826"/>
                </a:solidFill>
              </a:rPr>
              <a:t xml:space="preserve">Cost</a:t>
            </a:r>
          </a:p>
        </p:txBody>
      </p:sp>
      <p:sp>
        <p:nvSpPr>
          <p:cNvPr id="107" name="C107"/>
          <p:cNvSpPr/>
          <p:nvPr/>
        </p:nvSpPr>
        <p:spPr>
          <a:xfrm>
            <a:off x="3634500" y="3195000"/>
            <a:ext cx="2375000" cy="650000"/>
          </a:xfrm>
          <a:prstGeom prst="rect">
            <a:avLst/>
          </a:prstGeom>
          <a:solidFill>
            <a:srgbClr val="FFFFFF"/>
          </a:solidFill>
          <a:ln w="15875">
            <a:solidFill>
              <a:srgbClr val="C9B991"/>
            </a:solidFill>
          </a:ln>
        </p:spPr>
        <p:txBody>
          <a:bodyPr wrap="square" lIns="109728" tIns="82296" rIns="109728" bIns="82296" anchor="ctr">
            <a:normAutofit/>
          </a:bodyPr>
          <a:lstStyle/>
          <a:p>
            <a:pPr algn="ctr">
              <a:buNone/>
            </a:pPr>
            <a:r>
              <a:rPr lang="en-US" sz="2400" b="0" i="0" dirty="0">
                <a:solidFill>
                  <a:srgbClr val="000000"/>
                </a:solidFill>
              </a:rPr>
              <a:t xml:space="preserve">$$$</a:t>
            </a:r>
          </a:p>
        </p:txBody>
      </p:sp>
      <p:sp>
        <p:nvSpPr>
          <p:cNvPr id="108" name="C108"/>
          <p:cNvSpPr/>
          <p:nvPr/>
        </p:nvSpPr>
        <p:spPr>
          <a:xfrm>
            <a:off x="6009500" y="3195000"/>
            <a:ext cx="2375000" cy="650000"/>
          </a:xfrm>
          <a:prstGeom prst="rect">
            <a:avLst/>
          </a:prstGeom>
          <a:solidFill>
            <a:srgbClr val="FFFFFF"/>
          </a:solidFill>
          <a:ln w="15875">
            <a:solidFill>
              <a:srgbClr val="C9B991"/>
            </a:solidFill>
          </a:ln>
        </p:spPr>
        <p:txBody>
          <a:bodyPr wrap="square" lIns="109728" tIns="82296" rIns="109728" bIns="82296" anchor="ctr">
            <a:normAutofit/>
          </a:bodyPr>
          <a:lstStyle/>
          <a:p>
            <a:pPr algn="ctr">
              <a:buNone/>
            </a:pPr>
            <a:r>
              <a:rPr lang="en-US" sz="2400" b="0" i="0" dirty="0">
                <a:solidFill>
                  <a:srgbClr val="000000"/>
                </a:solidFill>
              </a:rPr>
              <a:t xml:space="preserve">$</a:t>
            </a:r>
          </a:p>
        </p:txBody>
      </p:sp>
      <p:sp>
        <p:nvSpPr>
          <p:cNvPr id="109" name="C109"/>
          <p:cNvSpPr/>
          <p:nvPr/>
        </p:nvSpPr>
        <p:spPr>
          <a:xfrm>
            <a:off x="759500" y="3845000"/>
            <a:ext cx="2875000" cy="650000"/>
          </a:xfrm>
          <a:prstGeom prst="rect">
            <a:avLst/>
          </a:prstGeom>
          <a:solidFill>
            <a:srgbClr val="F5F1E8"/>
          </a:solidFill>
          <a:ln w="15875">
            <a:solidFill>
              <a:srgbClr val="C9B991"/>
            </a:solidFill>
          </a:ln>
        </p:spPr>
        <p:txBody>
          <a:bodyPr wrap="square" lIns="109728" tIns="82296" rIns="109728" bIns="82296" anchor="ctr">
            <a:normAutofit/>
          </a:bodyPr>
          <a:lstStyle/>
          <a:p>
            <a:pPr algn="l">
              <a:buNone/>
            </a:pPr>
            <a:r>
              <a:rPr lang="en-US" sz="2400" b="1" i="0" dirty="0">
                <a:solidFill>
                  <a:srgbClr val="5C4826"/>
                </a:solidFill>
              </a:rPr>
              <a:t xml:space="preserve">Change</a:t>
            </a:r>
          </a:p>
        </p:txBody>
      </p:sp>
      <p:sp>
        <p:nvSpPr>
          <p:cNvPr id="110" name="C110"/>
          <p:cNvSpPr/>
          <p:nvPr/>
        </p:nvSpPr>
        <p:spPr>
          <a:xfrm>
            <a:off x="3634500" y="3845000"/>
            <a:ext cx="2375000" cy="650000"/>
          </a:xfrm>
          <a:prstGeom prst="rect">
            <a:avLst/>
          </a:prstGeom>
          <a:solidFill>
            <a:srgbClr val="FFFFFF"/>
          </a:solidFill>
          <a:ln w="15875">
            <a:solidFill>
              <a:srgbClr val="C9B991"/>
            </a:solidFill>
          </a:ln>
        </p:spPr>
        <p:txBody>
          <a:bodyPr wrap="square" lIns="109728" tIns="82296" rIns="109728" bIns="82296" anchor="ctr">
            <a:normAutofit/>
          </a:bodyPr>
          <a:lstStyle/>
          <a:p>
            <a:pPr algn="ctr">
              <a:buNone/>
            </a:pPr>
            <a:r>
              <a:rPr lang="en-US" sz="2400" b="0" i="0" dirty="0">
                <a:solidFill>
                  <a:srgbClr val="000000"/>
                </a:solidFill>
              </a:rPr>
              <a:t xml:space="preserve">more coupled</a:t>
            </a:r>
          </a:p>
        </p:txBody>
      </p:sp>
      <p:sp>
        <p:nvSpPr>
          <p:cNvPr id="111" name="C111"/>
          <p:cNvSpPr/>
          <p:nvPr/>
        </p:nvSpPr>
        <p:spPr>
          <a:xfrm>
            <a:off x="6009500" y="3845000"/>
            <a:ext cx="2375000" cy="650000"/>
          </a:xfrm>
          <a:prstGeom prst="rect">
            <a:avLst/>
          </a:prstGeom>
          <a:solidFill>
            <a:srgbClr val="FFFFFF"/>
          </a:solidFill>
          <a:ln w="15875">
            <a:solidFill>
              <a:srgbClr val="C9B991"/>
            </a:solidFill>
          </a:ln>
        </p:spPr>
        <p:txBody>
          <a:bodyPr wrap="square" lIns="109728" tIns="82296" rIns="109728" bIns="82296" anchor="ctr">
            <a:normAutofit/>
          </a:bodyPr>
          <a:lstStyle/>
          <a:p>
            <a:pPr algn="ctr">
              <a:buNone/>
            </a:pPr>
            <a:r>
              <a:rPr lang="en-US" sz="2400" b="0" i="0" dirty="0">
                <a:solidFill>
                  <a:srgbClr val="000000"/>
                </a:solidFill>
              </a:rPr>
              <a:t xml:space="preserve">more local</a:t>
            </a:r>
          </a:p>
        </p:txBody>
      </p:sp>
      <p:sp>
        <p:nvSpPr>
          <p:cNvPr id="112" name="C112"/>
          <p:cNvSpPr/>
          <p:nvPr/>
        </p:nvSpPr>
        <p:spPr>
          <a:xfrm>
            <a:off x="759500" y="4495000"/>
            <a:ext cx="2875000" cy="650000"/>
          </a:xfrm>
          <a:prstGeom prst="rect">
            <a:avLst/>
          </a:prstGeom>
          <a:solidFill>
            <a:srgbClr val="F5F1E8"/>
          </a:solidFill>
          <a:ln w="15875">
            <a:solidFill>
              <a:srgbClr val="C9B991"/>
            </a:solidFill>
          </a:ln>
        </p:spPr>
        <p:txBody>
          <a:bodyPr wrap="square" lIns="109728" tIns="82296" rIns="109728" bIns="82296" anchor="ctr">
            <a:normAutofit/>
          </a:bodyPr>
          <a:lstStyle/>
          <a:p>
            <a:pPr algn="l">
              <a:buNone/>
            </a:pPr>
            <a:r>
              <a:rPr lang="en-US" sz="2400" b="1" i="0" dirty="0">
                <a:solidFill>
                  <a:srgbClr val="5C4826"/>
                </a:solidFill>
              </a:rPr>
              <a:t xml:space="preserve">Availability</a:t>
            </a:r>
          </a:p>
        </p:txBody>
      </p:sp>
      <p:sp>
        <p:nvSpPr>
          <p:cNvPr id="113" name="C113"/>
          <p:cNvSpPr/>
          <p:nvPr/>
        </p:nvSpPr>
        <p:spPr>
          <a:xfrm>
            <a:off x="3634500" y="4495000"/>
            <a:ext cx="2375000" cy="650000"/>
          </a:xfrm>
          <a:prstGeom prst="rect">
            <a:avLst/>
          </a:prstGeom>
          <a:solidFill>
            <a:srgbClr val="FFFFFF"/>
          </a:solidFill>
          <a:ln w="15875">
            <a:solidFill>
              <a:srgbClr val="C9B991"/>
            </a:solidFill>
          </a:ln>
        </p:spPr>
        <p:txBody>
          <a:bodyPr wrap="square" lIns="109728" tIns="82296" rIns="109728" bIns="82296" anchor="ctr">
            <a:normAutofit/>
          </a:bodyPr>
          <a:lstStyle/>
          <a:p>
            <a:pPr algn="ctr">
              <a:buNone/>
            </a:pPr>
            <a:r>
              <a:rPr lang="en-US" sz="2400" b="0" i="0" dirty="0">
                <a:solidFill>
                  <a:srgbClr val="000000"/>
                </a:solidFill>
              </a:rPr>
              <a:t xml:space="preserve">higher</a:t>
            </a:r>
          </a:p>
        </p:txBody>
      </p:sp>
      <p:sp>
        <p:nvSpPr>
          <p:cNvPr id="114" name="C114"/>
          <p:cNvSpPr/>
          <p:nvPr/>
        </p:nvSpPr>
        <p:spPr>
          <a:xfrm>
            <a:off x="6009500" y="4495000"/>
            <a:ext cx="2375000" cy="650000"/>
          </a:xfrm>
          <a:prstGeom prst="rect">
            <a:avLst/>
          </a:prstGeom>
          <a:solidFill>
            <a:srgbClr val="FFFFFF"/>
          </a:solidFill>
          <a:ln w="15875">
            <a:solidFill>
              <a:srgbClr val="C9B991"/>
            </a:solidFill>
          </a:ln>
        </p:spPr>
        <p:txBody>
          <a:bodyPr wrap="square" lIns="109728" tIns="82296" rIns="109728" bIns="82296" anchor="ctr">
            <a:normAutofit/>
          </a:bodyPr>
          <a:lstStyle/>
          <a:p>
            <a:pPr algn="ctr">
              <a:buNone/>
            </a:pPr>
            <a:r>
              <a:rPr lang="en-US" sz="2400" b="0" i="0" dirty="0">
                <a:solidFill>
                  <a:srgbClr val="000000"/>
                </a:solidFill>
              </a:rPr>
              <a:t xml:space="preserve">lower</a:t>
            </a:r>
          </a:p>
        </p:txBody>
      </p:sp>
      <p:sp>
        <p:nvSpPr>
          <p:cNvPr id="80" name="S80"/>
          <p:cNvSpPr/>
          <p:nvPr/>
        </p:nvSpPr>
        <p:spPr>
          <a:xfrm>
            <a:off x="279400" y="5330000"/>
            <a:ext cx="88900" cy="620000"/>
          </a:xfrm>
          <a:prstGeom prst="rect">
            <a:avLst/>
          </a:prstGeom>
          <a:solidFill>
            <a:srgbClr val="8E6F3E"/>
          </a:solidFill>
          <a:ln>
            <a:noFill/>
          </a:ln>
        </p:spPr>
        <p:txBody>
          <a:bodyPr wrap="square" lIns="109728" tIns="82296" rIns="109728" bIns="82296" anchor="ctr">
            <a:normAutofit/>
          </a:bodyPr>
          <a:lstStyle/>
          <a:p>
            <a:endParaRPr/>
          </a:p>
        </p:txBody>
      </p:sp>
      <p:sp>
        <p:nvSpPr>
          <p:cNvPr id="81" name="S81"/>
          <p:cNvSpPr/>
          <p:nvPr/>
        </p:nvSpPr>
        <p:spPr>
          <a:xfrm>
            <a:off x="368300" y="5330000"/>
            <a:ext cx="8293100" cy="620000"/>
          </a:xfrm>
          <a:prstGeom prst="rect">
            <a:avLst/>
          </a:prstGeom>
          <a:solidFill>
            <a:srgbClr val="F5F1E8"/>
          </a:solidFill>
          <a:ln>
            <a:noFill/>
          </a:ln>
        </p:spPr>
        <p:txBody>
          <a:bodyPr wrap="square" lIns="109728" tIns="82296" rIns="109728" bIns="82296" anchor="ctr">
            <a:normAutofit/>
          </a:bodyPr>
          <a:lstStyle/>
          <a:p>
            <a:pPr algn="ctr">
              <a:buNone/>
            </a:pPr>
            <a:r>
              <a:rPr lang="en-US" sz="2600" b="1" i="0" dirty="0">
                <a:solidFill>
                  <a:srgbClr val="5C4826"/>
                </a:solidFill>
              </a:rPr>
              <a:t xml:space="preserve">THINK 1 min   ·   PAIR 2 min   ·   SHARE 2 min</a:t>
            </a:r>
          </a:p>
        </p:txBody>
      </p:sp>
      <p:sp>
        <p:nvSpPr>
          <p:cNvPr id="82" name="T82"/>
          <p:cNvSpPr txBox="1"/>
          <p:nvPr/>
        </p:nvSpPr>
        <p:spPr>
          <a:xfrm>
            <a:off x="279400" y="6100000"/>
            <a:ext cx="8559800" cy="406400"/>
          </a:xfrm>
          <a:prstGeom prst="rect">
            <a:avLst/>
          </a:prstGeom>
          <a:noFill/>
          <a:ln>
            <a:noFill/>
          </a:ln>
        </p:spPr>
        <p:txBody>
          <a:bodyPr wrap="square" lIns="0" tIns="0" rIns="0" bIns="0" anchor="t">
            <a:normAutofit/>
          </a:bodyPr>
          <a:lstStyle/>
          <a:p>
            <a:pPr algn="ctr">
              <a:buNone/>
            </a:pPr>
            <a:r>
              <a:rPr lang="en-US" sz="2800" b="1" i="0" dirty="0">
                <a:solidFill>
                  <a:srgbClr val="000000"/>
                </a:solidFill>
              </a:rPr>
              <a:t xml:space="preserve">WHICH ONE?</a:t>
            </a:r>
            <a:r>
              <a:rPr lang="en-US" sz="2800" b="1" i="0" dirty="0">
                <a:solidFill>
                  <a:srgbClr val="8E6F3E"/>
                </a:solidFill>
              </a:rPr>
              <a:t xml:space="preserve">    ·    </a:t>
            </a:r>
            <a:r>
              <a:rPr lang="en-US" sz="2800" b="1" i="0" dirty="0">
                <a:solidFill>
                  <a:srgbClr val="000000"/>
                </a:solidFill>
              </a:rPr>
              <a:t xml:space="preserve">Choose one.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2"/>
                                        </p:tgtEl>
                                        <p:attrNameLst>
                                          <p:attrName>style.visibility</p:attrName>
                                        </p:attrNameLst>
                                      </p:cBhvr>
                                      <p:to>
                                        <p:strVal val="visible"/>
                                      </p:to>
                                    </p:set>
                                    <p:animEffect transition="in" filter="fade">
                                      <p:cBhvr>
                                        <p:cTn id="7" dur="400"/>
                                        <p:tgtEl>
                                          <p:spTgt spid="8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 xml:space="preserve">Layers: constrain which parts may depend on which.</a:t>
            </a:r>
          </a:p>
        </p:txBody>
      </p:sp>
      <p:sp>
        <p:nvSpPr>
          <p:cNvPr id="3" name="Slide Number Placeholder 2"/>
          <p:cNvSpPr>
            <a:spLocks noGrp="1"/>
          </p:cNvSpPr>
          <p:nvPr>
            <p:ph type="sldNum" sz="quarter" idx="4"/>
          </p:nvPr>
        </p:nvSpPr>
        <p:spPr/>
        <p:txBody>
          <a:bodyPr/>
          <a:lstStyle/>
          <a:p>
            <a:fld id="{B7EB45DA-9A0D-DC49-8E02-F30A5DDC21C3}" type="slidenum">
              <a:rPr lang="en-US" smtClean="0"/>
              <a:t>0</a:t>
            </a:fld>
            <a:endParaRPr lang="en-US"/>
          </a:p>
        </p:txBody>
      </p:sp>
      <p:sp>
        <p:nvSpPr>
          <p:cNvPr id="61" name="T61"/>
          <p:cNvSpPr txBox="1"/>
          <p:nvPr/>
        </p:nvSpPr>
        <p:spPr>
          <a:xfrm>
            <a:off x="685800" y="5300000"/>
            <a:ext cx="7772400" cy="900000"/>
          </a:xfrm>
          <a:prstGeom prst="rect">
            <a:avLst/>
          </a:prstGeom>
          <a:noFill/>
          <a:ln>
            <a:noFill/>
          </a:ln>
        </p:spPr>
        <p:txBody>
          <a:bodyPr wrap="square" lIns="0" tIns="0" rIns="0" bIns="0" anchor="t">
            <a:normAutofit/>
          </a:bodyPr>
          <a:lstStyle/>
          <a:p>
            <a:pPr algn="ctr">
              <a:buNone/>
            </a:pPr>
            <a:r>
              <a:rPr lang="en-US" sz="2400" b="0" i="1" dirty="0">
                <a:solidFill>
                  <a:srgbClr val="000000"/>
                </a:solidFill>
              </a:rPr>
              <a:t xml:space="preserve">mmap deliberately crosses the abstraction: sometimes breaking the rule buys something important.</a:t>
            </a:r>
          </a:p>
        </p:txBody>
      </p:sp>
      <p:sp>
        <p:nvSpPr>
          <p:cNvPr id="100" name="LblPat"/>
          <p:cNvSpPr txBox="1"/>
          <p:nvPr/>
        </p:nvSpPr>
        <p:spPr>
          <a:xfrm>
            <a:off x="912500" y="1028800"/>
            <a:ext cx="2750000" cy="358400"/>
          </a:xfrm>
          <a:prstGeom prst="rect">
            <a:avLst/>
          </a:prstGeom>
          <a:noFill/>
          <a:ln>
            <a:noFill/>
          </a:ln>
        </p:spPr>
        <p:txBody>
          <a:bodyPr wrap="square" lIns="0" tIns="0" rIns="0" bIns="0" anchor="t">
            <a:normAutofit/>
          </a:bodyPr>
          <a:lstStyle/>
          <a:p>
            <a:pPr algn="ctr">
              <a:buNone/>
            </a:pPr>
            <a:r>
              <a:rPr lang="en-US" sz="2400" b="1" i="0" dirty="0">
                <a:solidFill>
                  <a:srgbClr val="8E6F3E"/>
                </a:solidFill>
              </a:rPr>
              <a:t xml:space="preserve">THE PATTERN</a:t>
            </a:r>
          </a:p>
        </p:txBody>
      </p:sp>
      <p:sp>
        <p:nvSpPr>
          <p:cNvPr id="101" name="LblReal"/>
          <p:cNvSpPr txBox="1"/>
          <p:nvPr/>
        </p:nvSpPr>
        <p:spPr>
          <a:xfrm>
            <a:off x="5170000" y="1078800"/>
            <a:ext cx="2200000" cy="358400"/>
          </a:xfrm>
          <a:prstGeom prst="rect">
            <a:avLst/>
          </a:prstGeom>
          <a:noFill/>
          <a:ln>
            <a:noFill/>
          </a:ln>
        </p:spPr>
        <p:txBody>
          <a:bodyPr wrap="square" lIns="0" tIns="0" rIns="0" bIns="0" anchor="t">
            <a:normAutofit/>
          </a:bodyPr>
          <a:lstStyle/>
          <a:p>
            <a:pPr algn="ctr">
              <a:buNone/>
            </a:pPr>
            <a:r>
              <a:rPr lang="en-US" sz="2400" b="1" i="0" dirty="0">
                <a:solidFill>
                  <a:srgbClr val="8E6F3E"/>
                </a:solidFill>
              </a:rPr>
              <a:t xml:space="preserve">IN PRACTICE: mmap</a:t>
            </a:r>
          </a:p>
        </p:txBody>
      </p:sp>
      <p:sp>
        <p:nvSpPr>
          <p:cNvPr id="102" name="L0"/>
          <p:cNvSpPr/>
          <p:nvPr/>
        </p:nvSpPr>
        <p:spPr>
          <a:xfrm>
            <a:off x="912500" y="1464000"/>
            <a:ext cx="2750000" cy="742400"/>
          </a:xfrm>
          <a:prstGeom prst="rect">
            <a:avLst/>
          </a:prstGeom>
          <a:solidFill>
            <a:srgbClr val="F5F1E8"/>
          </a:solidFill>
          <a:ln w="15875">
            <a:solidFill>
              <a:srgbClr val="C9B991"/>
            </a:solidFill>
          </a:ln>
        </p:spPr>
        <p:txBody>
          <a:bodyPr wrap="square" lIns="54864" tIns="27432" rIns="54864" bIns="27432" anchor="ctr">
            <a:normAutofit/>
          </a:bodyPr>
          <a:lstStyle/>
          <a:p>
            <a:pPr algn="ctr">
              <a:buNone/>
            </a:pPr>
            <a:r>
              <a:rPr lang="en-US" sz="2400" b="1" i="0" dirty="0">
                <a:solidFill>
                  <a:srgbClr val="5C4826"/>
                </a:solidFill>
              </a:rPr>
              <a:t xml:space="preserve">UI</a:t>
            </a:r>
          </a:p>
        </p:txBody>
      </p:sp>
      <p:sp>
        <p:nvSpPr>
          <p:cNvPr id="103" name="L1"/>
          <p:cNvSpPr/>
          <p:nvPr/>
        </p:nvSpPr>
        <p:spPr>
          <a:xfrm>
            <a:off x="912500" y="2385600"/>
            <a:ext cx="2750000" cy="742400"/>
          </a:xfrm>
          <a:prstGeom prst="rect">
            <a:avLst/>
          </a:prstGeom>
          <a:solidFill>
            <a:srgbClr val="F5F1E8"/>
          </a:solidFill>
          <a:ln w="15875">
            <a:solidFill>
              <a:srgbClr val="C9B991"/>
            </a:solidFill>
          </a:ln>
        </p:spPr>
        <p:txBody>
          <a:bodyPr wrap="square" lIns="54864" tIns="27432" rIns="54864" bIns="27432" anchor="ctr">
            <a:normAutofit/>
          </a:bodyPr>
          <a:lstStyle/>
          <a:p>
            <a:pPr algn="ctr">
              <a:buNone/>
            </a:pPr>
            <a:r>
              <a:rPr lang="en-US" sz="2400" b="1" i="0" dirty="0">
                <a:solidFill>
                  <a:srgbClr val="5C4826"/>
                </a:solidFill>
              </a:rPr>
              <a:t xml:space="preserve">APPLICATION</a:t>
            </a:r>
          </a:p>
        </p:txBody>
      </p:sp>
      <p:cxnSp>
        <p:nvCxnSpPr>
          <p:cNvPr id="104" name="LA1"/>
          <p:cNvCxnSpPr/>
          <p:nvPr/>
        </p:nvCxnSpPr>
        <p:spPr>
          <a:xfrm>
            <a:off x="2287500" y="2206400"/>
            <a:ext cx="0" cy="179200"/>
          </a:xfrm>
          <a:prstGeom prst="line">
            <a:avLst/>
          </a:prstGeom>
          <a:ln w="23812">
            <a:solidFill>
              <a:srgbClr val="8E6F3E"/>
            </a:solidFill>
            <a:tailEnd type="triangle" w="med" len="med"/>
          </a:ln>
        </p:spPr>
      </p:cxnSp>
      <p:sp>
        <p:nvSpPr>
          <p:cNvPr id="105" name="L2"/>
          <p:cNvSpPr/>
          <p:nvPr/>
        </p:nvSpPr>
        <p:spPr>
          <a:xfrm>
            <a:off x="912500" y="3307200"/>
            <a:ext cx="2750000" cy="742400"/>
          </a:xfrm>
          <a:prstGeom prst="rect">
            <a:avLst/>
          </a:prstGeom>
          <a:solidFill>
            <a:srgbClr val="F5F1E8"/>
          </a:solidFill>
          <a:ln w="15875">
            <a:solidFill>
              <a:srgbClr val="C9B991"/>
            </a:solidFill>
          </a:ln>
        </p:spPr>
        <p:txBody>
          <a:bodyPr wrap="square" lIns="54864" tIns="27432" rIns="54864" bIns="27432" anchor="ctr">
            <a:normAutofit/>
          </a:bodyPr>
          <a:lstStyle/>
          <a:p>
            <a:pPr algn="ctr">
              <a:buNone/>
            </a:pPr>
            <a:r>
              <a:rPr lang="en-US" sz="2400" b="1" i="0" dirty="0">
                <a:solidFill>
                  <a:srgbClr val="5C4826"/>
                </a:solidFill>
              </a:rPr>
              <a:t xml:space="preserve">DOMAIN</a:t>
            </a:r>
          </a:p>
        </p:txBody>
      </p:sp>
      <p:cxnSp>
        <p:nvCxnSpPr>
          <p:cNvPr id="106" name="LA2"/>
          <p:cNvCxnSpPr/>
          <p:nvPr/>
        </p:nvCxnSpPr>
        <p:spPr>
          <a:xfrm>
            <a:off x="2287500" y="3128000"/>
            <a:ext cx="0" cy="179200"/>
          </a:xfrm>
          <a:prstGeom prst="line">
            <a:avLst/>
          </a:prstGeom>
          <a:ln w="23812">
            <a:solidFill>
              <a:srgbClr val="8E6F3E"/>
            </a:solidFill>
            <a:tailEnd type="triangle" w="med" len="med"/>
          </a:ln>
        </p:spPr>
      </p:cxnSp>
      <p:sp>
        <p:nvSpPr>
          <p:cNvPr id="107" name="L3"/>
          <p:cNvSpPr/>
          <p:nvPr/>
        </p:nvSpPr>
        <p:spPr>
          <a:xfrm>
            <a:off x="912500" y="4228800"/>
            <a:ext cx="2750000" cy="742400"/>
          </a:xfrm>
          <a:prstGeom prst="rect">
            <a:avLst/>
          </a:prstGeom>
          <a:solidFill>
            <a:srgbClr val="F5F1E8"/>
          </a:solidFill>
          <a:ln w="15875">
            <a:solidFill>
              <a:srgbClr val="C9B991"/>
            </a:solidFill>
          </a:ln>
        </p:spPr>
        <p:txBody>
          <a:bodyPr wrap="square" lIns="54864" tIns="27432" rIns="54864" bIns="27432" anchor="ctr">
            <a:normAutofit/>
          </a:bodyPr>
          <a:lstStyle/>
          <a:p>
            <a:pPr algn="ctr">
              <a:buNone/>
            </a:pPr>
            <a:r>
              <a:rPr lang="en-US" sz="2400" b="1" i="0" dirty="0">
                <a:solidFill>
                  <a:srgbClr val="5C4826"/>
                </a:solidFill>
              </a:rPr>
              <a:t xml:space="preserve">INFRASTRUCTURE</a:t>
            </a:r>
          </a:p>
        </p:txBody>
      </p:sp>
      <p:cxnSp>
        <p:nvCxnSpPr>
          <p:cNvPr id="108" name="LA3"/>
          <p:cNvCxnSpPr/>
          <p:nvPr/>
        </p:nvCxnSpPr>
        <p:spPr>
          <a:xfrm>
            <a:off x="2287500" y="4049600"/>
            <a:ext cx="0" cy="179200"/>
          </a:xfrm>
          <a:prstGeom prst="line">
            <a:avLst/>
          </a:prstGeom>
          <a:ln w="23812">
            <a:solidFill>
              <a:srgbClr val="8E6F3E"/>
            </a:solidFill>
            <a:tailEnd type="triangle" w="med" len="med"/>
          </a:ln>
        </p:spPr>
      </p:cxnSp>
      <p:cxnSp>
        <p:nvCxnSpPr>
          <p:cNvPr id="109" name="Allowed"/>
          <p:cNvCxnSpPr/>
          <p:nvPr/>
        </p:nvCxnSpPr>
        <p:spPr>
          <a:xfrm>
            <a:off x="537500" y="1630400"/>
            <a:ext cx="0" cy="3136000"/>
          </a:xfrm>
          <a:prstGeom prst="line">
            <a:avLst/>
          </a:prstGeom>
          <a:ln w="23812">
            <a:solidFill>
              <a:srgbClr val="C9B991"/>
            </a:solidFill>
            <a:tailEnd type="triangle" w="med" len="med"/>
          </a:ln>
        </p:spPr>
      </p:cxnSp>
      <p:sp>
        <p:nvSpPr>
          <p:cNvPr id="110" name="AllowedLbl"/>
          <p:cNvSpPr txBox="1"/>
          <p:nvPr/>
        </p:nvSpPr>
        <p:spPr>
          <a:xfrm rot="-5400000">
            <a:off x="-550000" y="2840000"/>
            <a:ext cx="1800000" cy="320000"/>
          </a:xfrm>
          <a:prstGeom prst="rect">
            <a:avLst/>
          </a:prstGeom>
          <a:noFill/>
          <a:ln>
            <a:noFill/>
          </a:ln>
        </p:spPr>
        <p:txBody>
          <a:bodyPr wrap="square" lIns="0" tIns="0" rIns="0" bIns="0" anchor="t">
            <a:normAutofit/>
          </a:bodyPr>
          <a:lstStyle/>
          <a:p>
            <a:pPr algn="ctr">
              <a:buNone/>
            </a:pPr>
            <a:r>
              <a:rPr lang="en-US" sz="2000" b="0" i="1" dirty="0">
                <a:solidFill>
                  <a:srgbClr val="555960"/>
                </a:solidFill>
              </a:rPr>
              <a:t xml:space="preserve">allowed dependencies</a:t>
            </a:r>
          </a:p>
        </p:txBody>
      </p:sp>
      <p:sp>
        <p:nvSpPr>
          <p:cNvPr id="111" name="R0"/>
          <p:cNvSpPr/>
          <p:nvPr/>
        </p:nvSpPr>
        <p:spPr>
          <a:xfrm>
            <a:off x="5170000" y="1514000"/>
            <a:ext cx="2200000" cy="7424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2400" b="1" i="0" dirty="0">
                <a:solidFill>
                  <a:srgbClr val="5C4826"/>
                </a:solidFill>
              </a:rPr>
              <a:t xml:space="preserve">APPLICATION</a:t>
            </a:r>
          </a:p>
        </p:txBody>
      </p:sp>
      <p:sp>
        <p:nvSpPr>
          <p:cNvPr id="112" name="R1"/>
          <p:cNvSpPr/>
          <p:nvPr/>
        </p:nvSpPr>
        <p:spPr>
          <a:xfrm>
            <a:off x="5170000" y="2435600"/>
            <a:ext cx="2200000" cy="7424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2400" b="1" i="0" dirty="0">
                <a:solidFill>
                  <a:srgbClr val="5C4826"/>
                </a:solidFill>
              </a:rPr>
              <a:t xml:space="preserve">FILE / STORAGE API</a:t>
            </a:r>
          </a:p>
        </p:txBody>
      </p:sp>
      <p:cxnSp>
        <p:nvCxnSpPr>
          <p:cNvPr id="113" name="RA1"/>
          <p:cNvCxnSpPr/>
          <p:nvPr/>
        </p:nvCxnSpPr>
        <p:spPr>
          <a:xfrm>
            <a:off x="6270000" y="2256400"/>
            <a:ext cx="0" cy="179200"/>
          </a:xfrm>
          <a:prstGeom prst="line">
            <a:avLst/>
          </a:prstGeom>
          <a:ln w="19050">
            <a:solidFill>
              <a:srgbClr val="8E6F3E"/>
            </a:solidFill>
            <a:tailEnd type="triangle" w="med" len="med"/>
          </a:ln>
        </p:spPr>
      </p:cxnSp>
      <p:sp>
        <p:nvSpPr>
          <p:cNvPr id="114" name="R2"/>
          <p:cNvSpPr/>
          <p:nvPr/>
        </p:nvSpPr>
        <p:spPr>
          <a:xfrm>
            <a:off x="5170000" y="3357200"/>
            <a:ext cx="2200000" cy="7424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2400" b="1" i="0" dirty="0">
                <a:solidFill>
                  <a:srgbClr val="5C4826"/>
                </a:solidFill>
              </a:rPr>
              <a:t xml:space="preserve">OPERATING SYSTEM</a:t>
            </a:r>
          </a:p>
        </p:txBody>
      </p:sp>
      <p:cxnSp>
        <p:nvCxnSpPr>
          <p:cNvPr id="115" name="RA2"/>
          <p:cNvCxnSpPr/>
          <p:nvPr/>
        </p:nvCxnSpPr>
        <p:spPr>
          <a:xfrm>
            <a:off x="6270000" y="3178000"/>
            <a:ext cx="0" cy="179200"/>
          </a:xfrm>
          <a:prstGeom prst="line">
            <a:avLst/>
          </a:prstGeom>
          <a:ln w="19050">
            <a:solidFill>
              <a:srgbClr val="8E6F3E"/>
            </a:solidFill>
            <a:tailEnd type="triangle" w="med" len="med"/>
          </a:ln>
        </p:spPr>
      </p:cxnSp>
      <p:sp>
        <p:nvSpPr>
          <p:cNvPr id="116" name="R3"/>
          <p:cNvSpPr/>
          <p:nvPr/>
        </p:nvSpPr>
        <p:spPr>
          <a:xfrm>
            <a:off x="5170000" y="4278800"/>
            <a:ext cx="2200000" cy="7424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2400" b="1" i="0" dirty="0">
                <a:solidFill>
                  <a:srgbClr val="5C4826"/>
                </a:solidFill>
              </a:rPr>
              <a:t xml:space="preserve">STORAGE</a:t>
            </a:r>
          </a:p>
        </p:txBody>
      </p:sp>
      <p:cxnSp>
        <p:nvCxnSpPr>
          <p:cNvPr id="117" name="RA3"/>
          <p:cNvCxnSpPr/>
          <p:nvPr/>
        </p:nvCxnSpPr>
        <p:spPr>
          <a:xfrm>
            <a:off x="6270000" y="4099600"/>
            <a:ext cx="0" cy="179200"/>
          </a:xfrm>
          <a:prstGeom prst="line">
            <a:avLst/>
          </a:prstGeom>
          <a:ln w="19050">
            <a:solidFill>
              <a:srgbClr val="8E6F3E"/>
            </a:solidFill>
            <a:tailEnd type="triangle" w="med" len="med"/>
          </a:ln>
        </p:spPr>
      </p:cxnSp>
      <p:sp>
        <p:nvSpPr>
          <p:cNvPr id="118" name="VM"/>
          <p:cNvSpPr/>
          <p:nvPr/>
        </p:nvSpPr>
        <p:spPr>
          <a:xfrm>
            <a:off x="7770000" y="2435600"/>
            <a:ext cx="1150000" cy="742400"/>
          </a:xfrm>
          <a:prstGeom prst="rect">
            <a:avLst/>
          </a:prstGeom>
          <a:solidFill>
            <a:srgbClr val="FFFFFF"/>
          </a:solidFill>
          <a:ln w="15875">
            <a:solidFill>
              <a:srgbClr val="8E6F3E"/>
            </a:solidFill>
          </a:ln>
        </p:spPr>
        <p:txBody>
          <a:bodyPr wrap="square" lIns="54864" tIns="27432" rIns="54864" bIns="27432" anchor="ctr">
            <a:normAutofit/>
          </a:bodyPr>
          <a:lstStyle/>
          <a:p>
            <a:pPr algn="ctr">
              <a:buNone/>
            </a:pPr>
            <a:r>
              <a:rPr lang="en-US" sz="2400" b="1" i="0" dirty="0">
                <a:solidFill>
                  <a:srgbClr val="5C4826"/>
                </a:solidFill>
              </a:rPr>
              <a:t xml:space="preserve">VIRTUAL</a:t>
            </a:r>
          </a:p>
          <a:p>
            <a:pPr algn="ctr">
              <a:spcBef>
                <a:spcPts val="555"/>
              </a:spcBef>
              <a:buNone/>
            </a:pPr>
            <a:r>
              <a:rPr lang="en-US" sz="2400" b="1" i="0" dirty="0">
                <a:solidFill>
                  <a:srgbClr val="5C4826"/>
                </a:solidFill>
              </a:rPr>
              <a:t xml:space="preserve">MEMORY</a:t>
            </a:r>
          </a:p>
        </p:txBody>
      </p:sp>
      <p:cxnSp>
        <p:nvCxnSpPr>
          <p:cNvPr id="119" name="MmapA"/>
          <p:cNvCxnSpPr/>
          <p:nvPr/>
        </p:nvCxnSpPr>
        <p:spPr>
          <a:xfrm>
            <a:off x="7370000" y="1885200"/>
            <a:ext cx="600000" cy="550400"/>
          </a:xfrm>
          <a:prstGeom prst="line">
            <a:avLst/>
          </a:prstGeom>
          <a:ln w="19050">
            <a:solidFill>
              <a:srgbClr val="8E6F3E"/>
            </a:solidFill>
            <a:prstDash val="dash"/>
            <a:tailEnd type="triangle" w="med" len="med"/>
          </a:ln>
        </p:spPr>
      </p:cxnSp>
      <p:sp>
        <p:nvSpPr>
          <p:cNvPr id="120" name="MmapLbl"/>
          <p:cNvSpPr txBox="1"/>
          <p:nvPr/>
        </p:nvSpPr>
        <p:spPr>
          <a:xfrm>
            <a:off x="7830000" y="1910800"/>
            <a:ext cx="900000" cy="332800"/>
          </a:xfrm>
          <a:prstGeom prst="rect">
            <a:avLst/>
          </a:prstGeom>
          <a:noFill/>
          <a:ln>
            <a:noFill/>
          </a:ln>
        </p:spPr>
        <p:txBody>
          <a:bodyPr wrap="square" lIns="0" tIns="0" rIns="0" bIns="0" anchor="t">
            <a:normAutofit/>
          </a:bodyPr>
          <a:lstStyle/>
          <a:p>
            <a:pPr algn="l">
              <a:buNone/>
            </a:pPr>
            <a:r>
              <a:rPr lang="en-US" sz="2400" b="1" i="1" dirty="0">
                <a:solidFill>
                  <a:srgbClr val="8E6F3E"/>
                </a:solidFill>
              </a:rPr>
              <a:t xml:space="preserve">mmap</a:t>
            </a:r>
          </a:p>
        </p:txBody>
      </p:sp>
      <p:cxnSp>
        <p:nvCxnSpPr>
          <p:cNvPr id="121" name="PfA"/>
          <p:cNvCxnSpPr/>
          <p:nvPr/>
        </p:nvCxnSpPr>
        <p:spPr>
          <a:xfrm flipH="1">
            <a:off x="7370000" y="3178000"/>
            <a:ext cx="975000" cy="1382400"/>
          </a:xfrm>
          <a:prstGeom prst="line">
            <a:avLst/>
          </a:prstGeom>
          <a:ln w="19050">
            <a:solidFill>
              <a:srgbClr val="8E6F3E"/>
            </a:solidFill>
            <a:prstDash val="dash"/>
            <a:tailEnd type="triangle" w="med" len="med"/>
          </a:ln>
        </p:spPr>
      </p:cxnSp>
      <p:sp>
        <p:nvSpPr>
          <p:cNvPr id="122" name="PfLbl"/>
          <p:cNvSpPr txBox="1"/>
          <p:nvPr/>
        </p:nvSpPr>
        <p:spPr>
          <a:xfrm>
            <a:off x="8080000" y="3920400"/>
            <a:ext cx="1050000" cy="614400"/>
          </a:xfrm>
          <a:prstGeom prst="rect">
            <a:avLst/>
          </a:prstGeom>
          <a:noFill/>
          <a:ln>
            <a:noFill/>
          </a:ln>
        </p:spPr>
        <p:txBody>
          <a:bodyPr wrap="square" lIns="0" tIns="0" rIns="0" bIns="0" anchor="t">
            <a:normAutofit/>
          </a:bodyPr>
          <a:lstStyle/>
          <a:p>
            <a:pPr algn="l">
              <a:buNone/>
            </a:pPr>
            <a:r>
              <a:rPr lang="en-US" sz="2400" b="0" i="1" dirty="0">
                <a:solidFill>
                  <a:srgbClr val="555960"/>
                </a:solidFill>
              </a:rPr>
              <a:t xml:space="preserve">page faults</a:t>
            </a:r>
          </a:p>
          <a:p>
            <a:pPr algn="l">
              <a:spcBef>
                <a:spcPts val="555"/>
              </a:spcBef>
              <a:buNone/>
            </a:pPr>
            <a:r>
              <a:rPr lang="en-US" sz="2400" b="0" i="1" dirty="0">
                <a:solidFill>
                  <a:srgbClr val="555960"/>
                </a:solidFill>
              </a:rPr>
              <a:t xml:space="preserve">→ FILE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600" b="0" i="0" dirty="0">
                <a:solidFill>
                  <a:srgbClr val="000000"/>
                </a:solidFill>
              </a:rPr>
              <a:t xml:space="preserve">The decision matrix says Architecture A wins, 3.95 to 3.70.</a:t>
            </a:r>
          </a:p>
        </p:txBody>
      </p:sp>
      <p:sp>
        <p:nvSpPr>
          <p:cNvPr id="3" name="Slide Number Placeholder 2"/>
          <p:cNvSpPr>
            <a:spLocks noGrp="1"/>
          </p:cNvSpPr>
          <p:nvPr>
            <p:ph type="sldNum" sz="quarter" idx="4"/>
          </p:nvPr>
        </p:nvSpPr>
        <p:spPr/>
        <p:txBody>
          <a:bodyPr/>
          <a:lstStyle/>
          <a:p>
            <a:fld id="{B7EB45DA-9A0D-DC49-8E02-F30A5DDC21C3}" type="slidenum">
              <a:rPr lang="en-US" smtClean="0"/>
              <a:t>0</a:t>
            </a:fld>
            <a:endParaRPr lang="en-US"/>
          </a:p>
        </p:txBody>
      </p:sp>
      <p:sp>
        <p:nvSpPr>
          <p:cNvPr id="61" name="C61"/>
          <p:cNvSpPr/>
          <p:nvPr/>
        </p:nvSpPr>
        <p:spPr>
          <a:xfrm>
            <a:off x="3385000" y="1128000"/>
            <a:ext cx="1326000" cy="624000"/>
          </a:xfrm>
          <a:prstGeom prst="rect">
            <a:avLst/>
          </a:prstGeom>
          <a:solidFill>
            <a:srgbClr val="8E6F3E"/>
          </a:solidFill>
          <a:ln>
            <a:noFill/>
          </a:ln>
        </p:spPr>
        <p:txBody>
          <a:bodyPr wrap="square" lIns="109728" tIns="82296" rIns="109728" bIns="82296" anchor="ctr">
            <a:normAutofit/>
          </a:bodyPr>
          <a:lstStyle/>
          <a:p>
            <a:pPr algn="ctr">
              <a:buNone/>
            </a:pPr>
            <a:r>
              <a:rPr lang="en-US" sz="2400" b="1" i="0" dirty="0">
                <a:solidFill>
                  <a:srgbClr val="FFFFFF"/>
                </a:solidFill>
              </a:rPr>
              <a:t xml:space="preserve">Weight</a:t>
            </a:r>
          </a:p>
        </p:txBody>
      </p:sp>
      <p:sp>
        <p:nvSpPr>
          <p:cNvPr id="62" name="C62"/>
          <p:cNvSpPr/>
          <p:nvPr/>
        </p:nvSpPr>
        <p:spPr>
          <a:xfrm>
            <a:off x="4711000" y="1128000"/>
            <a:ext cx="1326000" cy="624000"/>
          </a:xfrm>
          <a:prstGeom prst="rect">
            <a:avLst/>
          </a:prstGeom>
          <a:solidFill>
            <a:srgbClr val="8E6F3E"/>
          </a:solidFill>
          <a:ln>
            <a:noFill/>
          </a:ln>
        </p:spPr>
        <p:txBody>
          <a:bodyPr wrap="square" lIns="109728" tIns="82296" rIns="109728" bIns="82296" anchor="ctr">
            <a:normAutofit/>
          </a:bodyPr>
          <a:lstStyle/>
          <a:p>
            <a:pPr algn="ctr">
              <a:buNone/>
            </a:pPr>
            <a:r>
              <a:rPr lang="en-US" sz="2400" b="1" i="0" dirty="0">
                <a:solidFill>
                  <a:srgbClr val="FFFFFF"/>
                </a:solidFill>
              </a:rPr>
              <a:t xml:space="preserve">A</a:t>
            </a:r>
          </a:p>
        </p:txBody>
      </p:sp>
      <p:sp>
        <p:nvSpPr>
          <p:cNvPr id="63" name="C63"/>
          <p:cNvSpPr/>
          <p:nvPr/>
        </p:nvSpPr>
        <p:spPr>
          <a:xfrm>
            <a:off x="6037000" y="1128000"/>
            <a:ext cx="1326000" cy="624000"/>
          </a:xfrm>
          <a:prstGeom prst="rect">
            <a:avLst/>
          </a:prstGeom>
          <a:solidFill>
            <a:srgbClr val="8E6F3E"/>
          </a:solidFill>
          <a:ln>
            <a:noFill/>
          </a:ln>
        </p:spPr>
        <p:txBody>
          <a:bodyPr wrap="square" lIns="109728" tIns="82296" rIns="109728" bIns="82296" anchor="ctr">
            <a:normAutofit/>
          </a:bodyPr>
          <a:lstStyle/>
          <a:p>
            <a:pPr algn="ctr">
              <a:buNone/>
            </a:pPr>
            <a:r>
              <a:rPr lang="en-US" sz="2400" b="1" i="0" dirty="0">
                <a:solidFill>
                  <a:srgbClr val="FFFFFF"/>
                </a:solidFill>
              </a:rPr>
              <a:t xml:space="preserve">B</a:t>
            </a:r>
          </a:p>
        </p:txBody>
      </p:sp>
      <p:sp>
        <p:nvSpPr>
          <p:cNvPr id="64" name="C64"/>
          <p:cNvSpPr/>
          <p:nvPr/>
        </p:nvSpPr>
        <p:spPr>
          <a:xfrm>
            <a:off x="937000" y="1752000"/>
            <a:ext cx="2448000" cy="624000"/>
          </a:xfrm>
          <a:prstGeom prst="rect">
            <a:avLst/>
          </a:prstGeom>
          <a:solidFill>
            <a:srgbClr val="F5F1E8"/>
          </a:solidFill>
          <a:ln w="12954">
            <a:solidFill>
              <a:srgbClr val="C9B991"/>
            </a:solidFill>
          </a:ln>
        </p:spPr>
        <p:txBody>
          <a:bodyPr wrap="square" lIns="109728" tIns="82296" rIns="109728" bIns="82296" anchor="ctr">
            <a:normAutofit/>
          </a:bodyPr>
          <a:lstStyle/>
          <a:p>
            <a:pPr algn="l">
              <a:buNone/>
            </a:pPr>
            <a:r>
              <a:rPr lang="en-US" sz="2400" b="1" i="0" dirty="0">
                <a:solidFill>
                  <a:srgbClr val="5C4826"/>
                </a:solidFill>
              </a:rPr>
              <a:t xml:space="preserve">Performance</a:t>
            </a:r>
          </a:p>
        </p:txBody>
      </p:sp>
      <p:sp>
        <p:nvSpPr>
          <p:cNvPr id="65" name="C65"/>
          <p:cNvSpPr/>
          <p:nvPr/>
        </p:nvSpPr>
        <p:spPr>
          <a:xfrm>
            <a:off x="3385000" y="1752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 xml:space="preserve">.30</a:t>
            </a:r>
          </a:p>
        </p:txBody>
      </p:sp>
      <p:sp>
        <p:nvSpPr>
          <p:cNvPr id="66" name="C66"/>
          <p:cNvSpPr/>
          <p:nvPr/>
        </p:nvSpPr>
        <p:spPr>
          <a:xfrm>
            <a:off x="4711000" y="1752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 xml:space="preserve">5</a:t>
            </a:r>
          </a:p>
        </p:txBody>
      </p:sp>
      <p:sp>
        <p:nvSpPr>
          <p:cNvPr id="67" name="C67"/>
          <p:cNvSpPr/>
          <p:nvPr/>
        </p:nvSpPr>
        <p:spPr>
          <a:xfrm>
            <a:off x="6037000" y="1752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 xml:space="preserve">3</a:t>
            </a:r>
          </a:p>
        </p:txBody>
      </p:sp>
      <p:sp>
        <p:nvSpPr>
          <p:cNvPr id="68" name="C68"/>
          <p:cNvSpPr/>
          <p:nvPr/>
        </p:nvSpPr>
        <p:spPr>
          <a:xfrm>
            <a:off x="937000" y="2376000"/>
            <a:ext cx="2448000" cy="624000"/>
          </a:xfrm>
          <a:prstGeom prst="rect">
            <a:avLst/>
          </a:prstGeom>
          <a:solidFill>
            <a:srgbClr val="F5F1E8"/>
          </a:solidFill>
          <a:ln w="12954">
            <a:solidFill>
              <a:srgbClr val="C9B991"/>
            </a:solidFill>
          </a:ln>
        </p:spPr>
        <p:txBody>
          <a:bodyPr wrap="square" lIns="109728" tIns="82296" rIns="109728" bIns="82296" anchor="ctr">
            <a:normAutofit/>
          </a:bodyPr>
          <a:lstStyle/>
          <a:p>
            <a:pPr algn="l">
              <a:buNone/>
            </a:pPr>
            <a:r>
              <a:rPr lang="en-US" sz="2400" b="1" i="0" dirty="0">
                <a:solidFill>
                  <a:srgbClr val="5C4826"/>
                </a:solidFill>
              </a:rPr>
              <a:t xml:space="preserve">Cost</a:t>
            </a:r>
          </a:p>
        </p:txBody>
      </p:sp>
      <p:sp>
        <p:nvSpPr>
          <p:cNvPr id="69" name="C69"/>
          <p:cNvSpPr/>
          <p:nvPr/>
        </p:nvSpPr>
        <p:spPr>
          <a:xfrm>
            <a:off x="3385000" y="2376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 xml:space="preserve">.25</a:t>
            </a:r>
          </a:p>
        </p:txBody>
      </p:sp>
      <p:sp>
        <p:nvSpPr>
          <p:cNvPr id="70" name="C70"/>
          <p:cNvSpPr/>
          <p:nvPr/>
        </p:nvSpPr>
        <p:spPr>
          <a:xfrm>
            <a:off x="4711000" y="2376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 xml:space="preserve">2</a:t>
            </a:r>
          </a:p>
        </p:txBody>
      </p:sp>
      <p:sp>
        <p:nvSpPr>
          <p:cNvPr id="71" name="C71"/>
          <p:cNvSpPr/>
          <p:nvPr/>
        </p:nvSpPr>
        <p:spPr>
          <a:xfrm>
            <a:off x="6037000" y="2376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 xml:space="preserve">5</a:t>
            </a:r>
          </a:p>
        </p:txBody>
      </p:sp>
      <p:sp>
        <p:nvSpPr>
          <p:cNvPr id="72" name="C72"/>
          <p:cNvSpPr/>
          <p:nvPr/>
        </p:nvSpPr>
        <p:spPr>
          <a:xfrm>
            <a:off x="937000" y="3000000"/>
            <a:ext cx="2448000" cy="624000"/>
          </a:xfrm>
          <a:prstGeom prst="rect">
            <a:avLst/>
          </a:prstGeom>
          <a:solidFill>
            <a:srgbClr val="F5F1E8"/>
          </a:solidFill>
          <a:ln w="12954">
            <a:solidFill>
              <a:srgbClr val="C9B991"/>
            </a:solidFill>
          </a:ln>
        </p:spPr>
        <p:txBody>
          <a:bodyPr wrap="square" lIns="109728" tIns="82296" rIns="109728" bIns="82296" anchor="ctr">
            <a:normAutofit/>
          </a:bodyPr>
          <a:lstStyle/>
          <a:p>
            <a:pPr algn="l">
              <a:buNone/>
            </a:pPr>
            <a:r>
              <a:rPr lang="en-US" sz="2400" b="1" i="0" dirty="0">
                <a:solidFill>
                  <a:srgbClr val="5C4826"/>
                </a:solidFill>
              </a:rPr>
              <a:t xml:space="preserve">Changeability</a:t>
            </a:r>
          </a:p>
        </p:txBody>
      </p:sp>
      <p:sp>
        <p:nvSpPr>
          <p:cNvPr id="73" name="C73"/>
          <p:cNvSpPr/>
          <p:nvPr/>
        </p:nvSpPr>
        <p:spPr>
          <a:xfrm>
            <a:off x="3385000" y="3000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 xml:space="preserve">.20</a:t>
            </a:r>
          </a:p>
        </p:txBody>
      </p:sp>
      <p:sp>
        <p:nvSpPr>
          <p:cNvPr id="74" name="C74"/>
          <p:cNvSpPr/>
          <p:nvPr/>
        </p:nvSpPr>
        <p:spPr>
          <a:xfrm>
            <a:off x="4711000" y="3000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 xml:space="preserve">4</a:t>
            </a:r>
          </a:p>
        </p:txBody>
      </p:sp>
      <p:sp>
        <p:nvSpPr>
          <p:cNvPr id="75" name="C75"/>
          <p:cNvSpPr/>
          <p:nvPr/>
        </p:nvSpPr>
        <p:spPr>
          <a:xfrm>
            <a:off x="6037000" y="3000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 xml:space="preserve">3</a:t>
            </a:r>
          </a:p>
        </p:txBody>
      </p:sp>
      <p:sp>
        <p:nvSpPr>
          <p:cNvPr id="76" name="C76"/>
          <p:cNvSpPr/>
          <p:nvPr/>
        </p:nvSpPr>
        <p:spPr>
          <a:xfrm>
            <a:off x="937000" y="3624000"/>
            <a:ext cx="2448000" cy="624000"/>
          </a:xfrm>
          <a:prstGeom prst="rect">
            <a:avLst/>
          </a:prstGeom>
          <a:solidFill>
            <a:srgbClr val="F5F1E8"/>
          </a:solidFill>
          <a:ln w="12954">
            <a:solidFill>
              <a:srgbClr val="C9B991"/>
            </a:solidFill>
          </a:ln>
        </p:spPr>
        <p:txBody>
          <a:bodyPr wrap="square" lIns="109728" tIns="82296" rIns="109728" bIns="82296" anchor="ctr">
            <a:normAutofit/>
          </a:bodyPr>
          <a:lstStyle/>
          <a:p>
            <a:pPr algn="l">
              <a:buNone/>
            </a:pPr>
            <a:r>
              <a:rPr lang="en-US" sz="2400" b="1" i="0" dirty="0">
                <a:solidFill>
                  <a:srgbClr val="5C4826"/>
                </a:solidFill>
              </a:rPr>
              <a:t xml:space="preserve">Reliability</a:t>
            </a:r>
          </a:p>
        </p:txBody>
      </p:sp>
      <p:sp>
        <p:nvSpPr>
          <p:cNvPr id="77" name="C77"/>
          <p:cNvSpPr/>
          <p:nvPr/>
        </p:nvSpPr>
        <p:spPr>
          <a:xfrm>
            <a:off x="3385000" y="3624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 xml:space="preserve">.25</a:t>
            </a:r>
          </a:p>
        </p:txBody>
      </p:sp>
      <p:sp>
        <p:nvSpPr>
          <p:cNvPr id="78" name="C78"/>
          <p:cNvSpPr/>
          <p:nvPr/>
        </p:nvSpPr>
        <p:spPr>
          <a:xfrm>
            <a:off x="4711000" y="3624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 xml:space="preserve">5</a:t>
            </a:r>
          </a:p>
        </p:txBody>
      </p:sp>
      <p:sp>
        <p:nvSpPr>
          <p:cNvPr id="79" name="C79"/>
          <p:cNvSpPr/>
          <p:nvPr/>
        </p:nvSpPr>
        <p:spPr>
          <a:xfrm>
            <a:off x="6037000" y="3624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 xml:space="preserve">4</a:t>
            </a:r>
          </a:p>
        </p:txBody>
      </p:sp>
      <p:sp>
        <p:nvSpPr>
          <p:cNvPr id="80" name="C80"/>
          <p:cNvSpPr/>
          <p:nvPr/>
        </p:nvSpPr>
        <p:spPr>
          <a:xfrm>
            <a:off x="937000" y="4248000"/>
            <a:ext cx="2448000" cy="624000"/>
          </a:xfrm>
          <a:prstGeom prst="rect">
            <a:avLst/>
          </a:prstGeom>
          <a:solidFill>
            <a:srgbClr val="F5F1E8"/>
          </a:solidFill>
          <a:ln w="12954">
            <a:solidFill>
              <a:srgbClr val="C9B991"/>
            </a:solidFill>
          </a:ln>
        </p:spPr>
        <p:txBody>
          <a:bodyPr wrap="square" lIns="109728" tIns="82296" rIns="109728" bIns="82296" anchor="ctr">
            <a:normAutofit/>
          </a:bodyPr>
          <a:lstStyle/>
          <a:p>
            <a:pPr algn="l">
              <a:buNone/>
            </a:pPr>
            <a:r>
              <a:rPr lang="en-US" sz="2400" b="1" i="0" dirty="0">
                <a:solidFill>
                  <a:srgbClr val="5C4826"/>
                </a:solidFill>
              </a:rPr>
              <a:t xml:space="preserve">Weighted</a:t>
            </a:r>
          </a:p>
        </p:txBody>
      </p:sp>
      <p:sp>
        <p:nvSpPr>
          <p:cNvPr id="82" name="C82"/>
          <p:cNvSpPr/>
          <p:nvPr/>
        </p:nvSpPr>
        <p:spPr>
          <a:xfrm>
            <a:off x="4711000" y="4248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1" i="0" dirty="0">
                <a:solidFill>
                  <a:srgbClr val="000000"/>
                </a:solidFill>
              </a:rPr>
              <a:t xml:space="preserve">3.95</a:t>
            </a:r>
          </a:p>
        </p:txBody>
      </p:sp>
      <p:sp>
        <p:nvSpPr>
          <p:cNvPr id="83" name="C83"/>
          <p:cNvSpPr/>
          <p:nvPr/>
        </p:nvSpPr>
        <p:spPr>
          <a:xfrm>
            <a:off x="6037000" y="4248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1" i="0" dirty="0">
                <a:solidFill>
                  <a:srgbClr val="000000"/>
                </a:solidFill>
              </a:rPr>
              <a:t xml:space="preserve">3.70</a:t>
            </a:r>
          </a:p>
        </p:txBody>
      </p:sp>
      <p:sp>
        <p:nvSpPr>
          <p:cNvPr id="90" name="T90"/>
          <p:cNvSpPr txBox="1"/>
          <p:nvPr/>
        </p:nvSpPr>
        <p:spPr>
          <a:xfrm>
            <a:off x="685800" y="4980000"/>
            <a:ext cx="7772400" cy="500000"/>
          </a:xfrm>
          <a:prstGeom prst="rect">
            <a:avLst/>
          </a:prstGeom>
          <a:noFill/>
          <a:ln>
            <a:noFill/>
          </a:ln>
        </p:spPr>
        <p:txBody>
          <a:bodyPr wrap="square" lIns="0" tIns="0" rIns="0" bIns="0" anchor="t">
            <a:normAutofit/>
          </a:bodyPr>
          <a:lstStyle/>
          <a:p>
            <a:pPr algn="ctr">
              <a:buNone/>
            </a:pPr>
            <a:r>
              <a:rPr lang="en-US" sz="3200" b="1" i="0" dirty="0">
                <a:solidFill>
                  <a:srgbClr val="8E6F3E"/>
                </a:solidFill>
              </a:rPr>
              <a:t xml:space="preserve">🏆  A WINS  🏆</a:t>
            </a:r>
          </a:p>
        </p:txBody>
      </p:sp>
      <p:sp>
        <p:nvSpPr>
          <p:cNvPr id="92" name="T92"/>
          <p:cNvSpPr txBox="1"/>
          <p:nvPr/>
        </p:nvSpPr>
        <p:spPr>
          <a:xfrm>
            <a:off x="685800" y="5750000"/>
            <a:ext cx="7772400" cy="500000"/>
          </a:xfrm>
          <a:prstGeom prst="rect">
            <a:avLst/>
          </a:prstGeom>
          <a:noFill/>
          <a:ln>
            <a:noFill/>
          </a:ln>
        </p:spPr>
        <p:txBody>
          <a:bodyPr wrap="square" lIns="0" tIns="0" rIns="0" bIns="0" anchor="t">
            <a:normAutofit/>
          </a:bodyPr>
          <a:lstStyle/>
          <a:p>
            <a:pPr algn="ctr">
              <a:buNone/>
            </a:pPr>
            <a:r>
              <a:rPr lang="en-US" sz="2300" b="0" i="1" dirty="0">
                <a:solidFill>
                  <a:srgbClr val="000000"/>
                </a:solidFill>
              </a:rPr>
              <a:t xml:space="preserve">This is not measurement merely</a:t>
            </a:r>
            <a:br>
              <a:rPr lang="en-US" sz="2300" b="0" i="1" dirty="0">
                <a:solidFill>
                  <a:srgbClr val="000000"/>
                </a:solidFill>
              </a:rPr>
            </a:br>
            <a:r>
              <a:rPr lang="en-US" sz="2300" b="0" i="1" dirty="0">
                <a:solidFill>
                  <a:srgbClr val="000000"/>
                </a:solidFill>
              </a:rPr>
              <a:t>because a spreadsheet produced a number.</a:t>
            </a:r>
          </a:p>
        </p:txBody>
      </p:sp>
      <p:sp>
        <p:nvSpPr>
          <p:cNvPr id="120" name="Callout1"/>
          <p:cNvSpPr/>
          <p:nvPr/>
        </p:nvSpPr>
        <p:spPr>
          <a:xfrm>
            <a:off x="100000" y="1350000"/>
            <a:ext cx="1150000" cy="520000"/>
          </a:xfrm>
          <a:prstGeom prst="roundRect">
            <a:avLst/>
          </a:prstGeom>
          <a:solidFill>
            <a:srgbClr val="FFFFFF"/>
          </a:solidFill>
          <a:ln w="15875">
            <a:solidFill>
              <a:srgbClr val="B23B3B"/>
            </a:solidFill>
          </a:ln>
        </p:spPr>
        <p:txBody>
          <a:bodyPr wrap="square" lIns="54864" tIns="27432" rIns="54864" bIns="27432" anchor="ctr">
            <a:normAutofit/>
          </a:bodyPr>
          <a:lstStyle/>
          <a:p>
            <a:pPr algn="ctr">
              <a:buNone/>
            </a:pPr>
            <a:r>
              <a:rPr lang="en-US" sz="1600" b="1" i="0" dirty="0">
                <a:solidFill>
                  <a:srgbClr val="B23B3B"/>
                </a:solidFill>
              </a:rPr>
              <a:t xml:space="preserve">WHY .30?</a:t>
            </a:r>
          </a:p>
        </p:txBody>
      </p:sp>
      <p:cxnSp>
        <p:nvCxnSpPr>
          <p:cNvPr id="121" name="CalloutArw1"/>
          <p:cNvCxnSpPr/>
          <p:nvPr/>
        </p:nvCxnSpPr>
        <p:spPr>
          <a:xfrm>
            <a:off x="1270000" y="1620000"/>
            <a:ext cx="2100000" cy="380000"/>
          </a:xfrm>
          <a:prstGeom prst="line">
            <a:avLst/>
          </a:prstGeom>
          <a:ln w="15875">
            <a:solidFill>
              <a:srgbClr val="B23B3B"/>
            </a:solidFill>
            <a:tailEnd type="triangle" w="med" len="med"/>
          </a:ln>
        </p:spPr>
      </p:cxnSp>
      <p:sp>
        <p:nvSpPr>
          <p:cNvPr id="122" name="Callout2"/>
          <p:cNvSpPr/>
          <p:nvPr/>
        </p:nvSpPr>
        <p:spPr>
          <a:xfrm>
            <a:off x="7560000" y="1150000"/>
            <a:ext cx="1520000" cy="640000"/>
          </a:xfrm>
          <a:prstGeom prst="roundRect">
            <a:avLst/>
          </a:prstGeom>
          <a:solidFill>
            <a:srgbClr val="FFFFFF"/>
          </a:solidFill>
          <a:ln w="15875">
            <a:solidFill>
              <a:srgbClr val="B23B3B"/>
            </a:solidFill>
          </a:ln>
        </p:spPr>
        <p:txBody>
          <a:bodyPr wrap="square" lIns="54864" tIns="27432" rIns="54864" bIns="27432" anchor="ctr">
            <a:normAutofit/>
          </a:bodyPr>
          <a:lstStyle/>
          <a:p>
            <a:pPr algn="ctr">
              <a:buNone/>
            </a:pPr>
            <a:r>
              <a:rPr lang="en-US" sz="1600" b="1" i="0" dirty="0">
                <a:solidFill>
                  <a:srgbClr val="B23B3B"/>
                </a:solidFill>
              </a:rPr>
              <a:t xml:space="preserve">WHAT IS</a:t>
            </a:r>
          </a:p>
          <a:p>
            <a:pPr algn="ctr">
              <a:spcBef>
                <a:spcPts val="300"/>
              </a:spcBef>
              <a:buNone/>
            </a:pPr>
            <a:r>
              <a:rPr lang="en-US" sz="1600" b="1" i="0" dirty="0">
                <a:solidFill>
                  <a:srgbClr val="B23B3B"/>
                </a:solidFill>
              </a:rPr>
              <a:t xml:space="preserve">A “5”?</a:t>
            </a:r>
          </a:p>
        </p:txBody>
      </p:sp>
      <p:cxnSp>
        <p:nvCxnSpPr>
          <p:cNvPr id="123" name="CalloutArw2"/>
          <p:cNvCxnSpPr/>
          <p:nvPr/>
        </p:nvCxnSpPr>
        <p:spPr>
          <a:xfrm flipH="1">
            <a:off x="6040000" y="1785000"/>
            <a:ext cx="1620000" cy="55000"/>
          </a:xfrm>
          <a:prstGeom prst="line">
            <a:avLst/>
          </a:prstGeom>
          <a:ln w="15875">
            <a:solidFill>
              <a:srgbClr val="B23B3B"/>
            </a:solidFill>
            <a:tailEnd type="triangle" w="med" len="med"/>
          </a:ln>
        </p:spPr>
      </p:cxnSp>
      <p:sp>
        <p:nvSpPr>
          <p:cNvPr id="124" name="CalloutBrace"/>
          <p:cNvSpPr/>
          <p:nvPr/>
        </p:nvSpPr>
        <p:spPr>
          <a:xfrm>
            <a:off x="7420000" y="2376000"/>
            <a:ext cx="240000" cy="1872000"/>
          </a:xfrm>
          <a:prstGeom prst="leftBrace">
            <a:avLst/>
          </a:prstGeom>
          <a:noFill/>
          <a:ln w="15875">
            <a:solidFill>
              <a:srgbClr val="B23B3B"/>
            </a:solidFill>
          </a:ln>
        </p:spPr>
        <p:txBody>
          <a:bodyPr wrap="square" lIns="54864" tIns="27432" rIns="54864" bIns="27432" anchor="ctr">
            <a:normAutofit/>
          </a:bodyPr>
          <a:lstStyle/>
          <a:p>
            <a:endParaRPr/>
          </a:p>
        </p:txBody>
      </p:sp>
      <p:sp>
        <p:nvSpPr>
          <p:cNvPr id="125" name="Callout3"/>
          <p:cNvSpPr/>
          <p:nvPr/>
        </p:nvSpPr>
        <p:spPr>
          <a:xfrm>
            <a:off x="7660000" y="2450000"/>
            <a:ext cx="1440000" cy="1750000"/>
          </a:xfrm>
          <a:prstGeom prst="roundRect">
            <a:avLst/>
          </a:prstGeom>
          <a:solidFill>
            <a:srgbClr val="FFFFFF"/>
          </a:solidFill>
          <a:ln w="15875">
            <a:solidFill>
              <a:srgbClr val="B23B3B"/>
            </a:solidFill>
          </a:ln>
        </p:spPr>
        <p:txBody>
          <a:bodyPr wrap="square" lIns="45720" tIns="27432" rIns="45720" bIns="27432" anchor="ctr">
            <a:normAutofit/>
          </a:bodyPr>
          <a:lstStyle/>
          <a:p>
            <a:pPr algn="ctr">
              <a:buNone/>
            </a:pPr>
            <a:r>
              <a:rPr lang="en-US" sz="1500" b="1" i="0" dirty="0">
                <a:solidFill>
                  <a:srgbClr val="B23B3B"/>
                </a:solidFill>
              </a:rPr>
              <a:t xml:space="preserve">WHY CAN COST</a:t>
            </a:r>
          </a:p>
          <a:p>
            <a:pPr algn="ctr">
              <a:spcBef>
                <a:spcPts val="300"/>
              </a:spcBef>
              <a:buNone/>
            </a:pPr>
            <a:r>
              <a:rPr lang="en-US" sz="1500" b="1" i="0" dirty="0">
                <a:solidFill>
                  <a:srgbClr val="B23B3B"/>
                </a:solidFill>
              </a:rPr>
              <a:t xml:space="preserve">COMPENSATE FOR</a:t>
            </a:r>
          </a:p>
          <a:p>
            <a:pPr algn="ctr">
              <a:spcBef>
                <a:spcPts val="300"/>
              </a:spcBef>
              <a:buNone/>
            </a:pPr>
            <a:r>
              <a:rPr lang="en-US" sz="1500" b="1" i="0" dirty="0">
                <a:solidFill>
                  <a:srgbClr val="B23B3B"/>
                </a:solidFill>
              </a:rPr>
              <a:t xml:space="preserve">RELIABILITY?</a:t>
            </a:r>
          </a:p>
        </p:txBody>
      </p:sp>
    </p:spTree>
  </p:cSld>
  <p:clrMapOvr>
    <a:masterClrMapping/>
  </p:clrMapOvr>
  <p:timing>
    <p:tnLst>
      <p:par>
        <p:cTn id="1" dur="indefinite" restart="never" nodeType="tmRoot">
          <p:childTnLst>
            <p:seq concurrent="1" nextAc="seek">
              <p:cTn id="2" dur="indefinite" nodeType="mainSeq">
                <p:childTnLst>
                  <p:par>
                    <p:cTn id="11" fill="hold">
                      <p:stCondLst>
                        <p:cond delay="indefinite"/>
                      </p:stCondLst>
                      <p:childTnLst>
                        <p:par>
                          <p:cTn id="12" fill="hold">
                            <p:stCondLst>
                              <p:cond delay="0"/>
                            </p:stCondLst>
                            <p:childTnLst>
                              <p:par>
                                <p:cTn id="3" presetID="10" presetClass="entr" presetSubtype="0" fill="hold" nodeType="clickEffect">
                                  <p:stCondLst>
                                    <p:cond delay="0"/>
                                  </p:stCondLst>
                                  <p:childTnLst>
                                    <p:set>
                                      <p:cBhvr>
                                        <p:cTn id="5" dur="1" fill="hold">
                                          <p:stCondLst>
                                            <p:cond delay="0"/>
                                          </p:stCondLst>
                                        </p:cTn>
                                        <p:tgtEl>
                                          <p:spTgt spid="120"/>
                                        </p:tgtEl>
                                        <p:attrNameLst>
                                          <p:attrName>style.visibility</p:attrName>
                                        </p:attrNameLst>
                                      </p:cBhvr>
                                      <p:to>
                                        <p:strVal val="visible"/>
                                      </p:to>
                                    </p:set>
                                    <p:animEffect transition="in" filter="fade">
                                      <p:cBhvr>
                                        <p:cTn id="6" dur="400"/>
                                        <p:tgtEl>
                                          <p:spTgt spid="120"/>
                                        </p:tgtEl>
                                      </p:cBhvr>
                                    </p:animEffect>
                                  </p:childTnLst>
                                </p:cTn>
                              </p:par>
                              <p:par>
                                <p:cTn id="7" presetID="10" presetClass="entr" presetSubtype="0" fill="hold" nodeType="withEffect">
                                  <p:stCondLst>
                                    <p:cond delay="0"/>
                                  </p:stCondLst>
                                  <p:childTnLst>
                                    <p:set>
                                      <p:cBhvr>
                                        <p:cTn id="9" dur="1" fill="hold">
                                          <p:stCondLst>
                                            <p:cond delay="0"/>
                                          </p:stCondLst>
                                        </p:cTn>
                                        <p:tgtEl>
                                          <p:spTgt spid="121"/>
                                        </p:tgtEl>
                                        <p:attrNameLst>
                                          <p:attrName>style.visibility</p:attrName>
                                        </p:attrNameLst>
                                      </p:cBhvr>
                                      <p:to>
                                        <p:strVal val="visible"/>
                                      </p:to>
                                    </p:set>
                                    <p:animEffect transition="in" filter="fade">
                                      <p:cBhvr>
                                        <p:cTn id="10" dur="400"/>
                                        <p:tgtEl>
                                          <p:spTgt spid="121"/>
                                        </p:tgtEl>
                                      </p:cBhvr>
                                    </p:animEffect>
                                  </p:childTnLst>
                                </p:cTn>
                              </p:par>
                            </p:childTnLst>
                          </p:cTn>
                        </p:par>
                      </p:childTnLst>
                    </p:cTn>
                  </p:par>
                  <p:par>
                    <p:cTn id="21" fill="hold">
                      <p:stCondLst>
                        <p:cond delay="indefinite"/>
                      </p:stCondLst>
                      <p:childTnLst>
                        <p:par>
                          <p:cTn id="22" fill="hold">
                            <p:stCondLst>
                              <p:cond delay="0"/>
                            </p:stCondLst>
                            <p:childTnLst>
                              <p:par>
                                <p:cTn id="13" presetID="10" presetClass="entr" presetSubtype="0" fill="hold" nodeType="clickEffect">
                                  <p:stCondLst>
                                    <p:cond delay="0"/>
                                  </p:stCondLst>
                                  <p:childTnLst>
                                    <p:set>
                                      <p:cBhvr>
                                        <p:cTn id="15" dur="1" fill="hold">
                                          <p:stCondLst>
                                            <p:cond delay="0"/>
                                          </p:stCondLst>
                                        </p:cTn>
                                        <p:tgtEl>
                                          <p:spTgt spid="122"/>
                                        </p:tgtEl>
                                        <p:attrNameLst>
                                          <p:attrName>style.visibility</p:attrName>
                                        </p:attrNameLst>
                                      </p:cBhvr>
                                      <p:to>
                                        <p:strVal val="visible"/>
                                      </p:to>
                                    </p:set>
                                    <p:animEffect transition="in" filter="fade">
                                      <p:cBhvr>
                                        <p:cTn id="16" dur="400"/>
                                        <p:tgtEl>
                                          <p:spTgt spid="122"/>
                                        </p:tgtEl>
                                      </p:cBhvr>
                                    </p:animEffect>
                                  </p:childTnLst>
                                </p:cTn>
                              </p:par>
                              <p:par>
                                <p:cTn id="17" presetID="10" presetClass="entr" presetSubtype="0" fill="hold" nodeType="withEffect">
                                  <p:stCondLst>
                                    <p:cond delay="0"/>
                                  </p:stCondLst>
                                  <p:childTnLst>
                                    <p:set>
                                      <p:cBhvr>
                                        <p:cTn id="19" dur="1" fill="hold">
                                          <p:stCondLst>
                                            <p:cond delay="0"/>
                                          </p:stCondLst>
                                        </p:cTn>
                                        <p:tgtEl>
                                          <p:spTgt spid="123"/>
                                        </p:tgtEl>
                                        <p:attrNameLst>
                                          <p:attrName>style.visibility</p:attrName>
                                        </p:attrNameLst>
                                      </p:cBhvr>
                                      <p:to>
                                        <p:strVal val="visible"/>
                                      </p:to>
                                    </p:set>
                                    <p:animEffect transition="in" filter="fade">
                                      <p:cBhvr>
                                        <p:cTn id="20" dur="400"/>
                                        <p:tgtEl>
                                          <p:spTgt spid="123"/>
                                        </p:tgtEl>
                                      </p:cBhvr>
                                    </p:animEffect>
                                  </p:childTnLst>
                                </p:cTn>
                              </p:par>
                            </p:childTnLst>
                          </p:cTn>
                        </p:par>
                      </p:childTnLst>
                    </p:cTn>
                  </p:par>
                  <p:par>
                    <p:cTn id="31" fill="hold">
                      <p:stCondLst>
                        <p:cond delay="indefinite"/>
                      </p:stCondLst>
                      <p:childTnLst>
                        <p:par>
                          <p:cTn id="32" fill="hold">
                            <p:stCondLst>
                              <p:cond delay="0"/>
                            </p:stCondLst>
                            <p:childTnLst>
                              <p:par>
                                <p:cTn id="23" presetID="10" presetClass="entr" presetSubtype="0" fill="hold" nodeType="clickEffect">
                                  <p:stCondLst>
                                    <p:cond delay="0"/>
                                  </p:stCondLst>
                                  <p:childTnLst>
                                    <p:set>
                                      <p:cBhvr>
                                        <p:cTn id="25" dur="1" fill="hold">
                                          <p:stCondLst>
                                            <p:cond delay="0"/>
                                          </p:stCondLst>
                                        </p:cTn>
                                        <p:tgtEl>
                                          <p:spTgt spid="124"/>
                                        </p:tgtEl>
                                        <p:attrNameLst>
                                          <p:attrName>style.visibility</p:attrName>
                                        </p:attrNameLst>
                                      </p:cBhvr>
                                      <p:to>
                                        <p:strVal val="visible"/>
                                      </p:to>
                                    </p:set>
                                    <p:animEffect transition="in" filter="fade">
                                      <p:cBhvr>
                                        <p:cTn id="26" dur="400"/>
                                        <p:tgtEl>
                                          <p:spTgt spid="124"/>
                                        </p:tgtEl>
                                      </p:cBhvr>
                                    </p:animEffect>
                                  </p:childTnLst>
                                </p:cTn>
                              </p:par>
                              <p:par>
                                <p:cTn id="27" presetID="10" presetClass="entr" presetSubtype="0" fill="hold" nodeType="withEffect">
                                  <p:stCondLst>
                                    <p:cond delay="0"/>
                                  </p:stCondLst>
                                  <p:childTnLst>
                                    <p:set>
                                      <p:cBhvr>
                                        <p:cTn id="29" dur="1" fill="hold">
                                          <p:stCondLst>
                                            <p:cond delay="0"/>
                                          </p:stCondLst>
                                        </p:cTn>
                                        <p:tgtEl>
                                          <p:spTgt spid="125"/>
                                        </p:tgtEl>
                                        <p:attrNameLst>
                                          <p:attrName>style.visibility</p:attrName>
                                        </p:attrNameLst>
                                      </p:cBhvr>
                                      <p:to>
                                        <p:strVal val="visible"/>
                                      </p:to>
                                    </p:set>
                                    <p:animEffect transition="in" filter="fade">
                                      <p:cBhvr>
                                        <p:cTn id="30" dur="400"/>
                                        <p:tgtEl>
                                          <p:spTgt spid="1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 xml:space="preserve">First eliminate unacceptable and dominated alternatives.</a:t>
            </a:r>
          </a:p>
        </p:txBody>
      </p:sp>
      <p:sp>
        <p:nvSpPr>
          <p:cNvPr id="3" name="Slide Number Placeholder 2"/>
          <p:cNvSpPr>
            <a:spLocks noGrp="1"/>
          </p:cNvSpPr>
          <p:nvPr>
            <p:ph type="sldNum" sz="quarter" idx="4"/>
          </p:nvPr>
        </p:nvSpPr>
        <p:spPr/>
        <p:txBody>
          <a:bodyPr/>
          <a:lstStyle/>
          <a:p>
            <a:fld id="{B7EB45DA-9A0D-DC49-8E02-F30A5DDC21C3}" type="slidenum">
              <a:rPr lang="en-US" smtClean="0"/>
              <a:t>0</a:t>
            </a:fld>
            <a:endParaRPr lang="en-US"/>
          </a:p>
        </p:txBody>
      </p:sp>
      <p:sp>
        <p:nvSpPr>
          <p:cNvPr id="61" name="T61"/>
          <p:cNvSpPr txBox="1"/>
          <p:nvPr/>
        </p:nvSpPr>
        <p:spPr>
          <a:xfrm>
            <a:off x="685800" y="5050000"/>
            <a:ext cx="7772400" cy="900000"/>
          </a:xfrm>
          <a:prstGeom prst="rect">
            <a:avLst/>
          </a:prstGeom>
          <a:noFill/>
          <a:ln>
            <a:noFill/>
          </a:ln>
        </p:spPr>
        <p:txBody>
          <a:bodyPr wrap="square" lIns="0" tIns="0" rIns="0" bIns="0" anchor="t">
            <a:normAutofit/>
          </a:bodyPr>
          <a:lstStyle/>
          <a:p>
            <a:pPr algn="ctr">
              <a:buNone/>
            </a:pPr>
            <a:r>
              <a:rPr lang="en-US" sz="2500" b="1" i="0" dirty="0">
                <a:solidFill>
                  <a:srgbClr val="000000"/>
                </a:solidFill>
              </a:rPr>
              <a:t xml:space="preserve">Constraints are not objectives.</a:t>
            </a:r>
          </a:p>
          <a:p>
            <a:pPr algn="ctr">
              <a:spcBef>
                <a:spcPts val="230"/>
              </a:spcBef>
              <a:buNone/>
            </a:pPr>
            <a:r>
              <a:rPr lang="en-US" sz="2400" b="0" i="0" dirty="0">
                <a:solidFill>
                  <a:srgbClr val="000000"/>
                </a:solidFill>
              </a:rPr>
              <a:t xml:space="preserve">Specification first removes infeasible candidates; then dominance removes the clearly-worse ones.</a:t>
            </a:r>
          </a:p>
        </p:txBody>
      </p:sp>
      <p:sp>
        <p:nvSpPr>
          <p:cNvPr id="100" name="S1Lbl"/>
          <p:cNvSpPr txBox="1"/>
          <p:nvPr/>
        </p:nvSpPr>
        <p:spPr>
          <a:xfrm>
            <a:off x="685800" y="1300000"/>
            <a:ext cx="3600000" cy="300000"/>
          </a:xfrm>
          <a:prstGeom prst="rect">
            <a:avLst/>
          </a:prstGeom>
          <a:noFill/>
          <a:ln>
            <a:noFill/>
          </a:ln>
        </p:spPr>
        <p:txBody>
          <a:bodyPr wrap="square" lIns="0" tIns="0" rIns="0" bIns="0" anchor="t">
            <a:normAutofit/>
          </a:bodyPr>
          <a:lstStyle/>
          <a:p>
            <a:pPr algn="l">
              <a:buNone/>
            </a:pPr>
            <a:r>
              <a:rPr lang="en-US" sz="2200" b="1" i="0" dirty="0">
                <a:solidFill>
                  <a:srgbClr val="8E6F3E"/>
                </a:solidFill>
              </a:rPr>
              <a:t xml:space="preserve">STAGE 1 — SPECIFICATION</a:t>
            </a:r>
          </a:p>
        </p:txBody>
      </p:sp>
      <p:sp>
        <p:nvSpPr>
          <p:cNvPr id="101" name="S1A"/>
          <p:cNvSpPr/>
          <p:nvPr/>
        </p:nvSpPr>
        <p:spPr>
          <a:xfrm>
            <a:off x="298000" y="1880000"/>
            <a:ext cx="936000" cy="1020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600" b="1" i="0" dirty="0">
                <a:solidFill>
                  <a:srgbClr val="5C4826"/>
                </a:solidFill>
              </a:rPr>
              <a:t xml:space="preserve">A</a:t>
            </a:r>
          </a:p>
          <a:p>
            <a:pPr algn="ctr">
              <a:spcBef>
                <a:spcPts val="480"/>
              </a:spcBef>
              <a:buNone/>
            </a:pPr>
            <a:r>
              <a:rPr lang="en-US" sz="2600" b="1" i="0" dirty="0">
                <a:solidFill>
                  <a:srgbClr val="1F7A4D"/>
                </a:solidFill>
              </a:rPr>
              <a:t xml:space="preserve">✓</a:t>
            </a:r>
          </a:p>
        </p:txBody>
      </p:sp>
      <p:sp>
        <p:nvSpPr>
          <p:cNvPr id="102" name="S1B"/>
          <p:cNvSpPr/>
          <p:nvPr/>
        </p:nvSpPr>
        <p:spPr>
          <a:xfrm>
            <a:off x="1354000" y="1880000"/>
            <a:ext cx="936000" cy="1020000"/>
          </a:xfrm>
          <a:prstGeom prst="rect">
            <a:avLst/>
          </a:prstGeom>
          <a:solidFill>
            <a:srgbClr val="F5F1E8"/>
          </a:solidFill>
          <a:ln w="22860">
            <a:solidFill>
              <a:srgbClr val="B23B3B"/>
            </a:solidFill>
          </a:ln>
        </p:spPr>
        <p:txBody>
          <a:bodyPr wrap="square" lIns="54864" tIns="27432" rIns="54864" bIns="27432" anchor="ctr">
            <a:normAutofit/>
          </a:bodyPr>
          <a:lstStyle/>
          <a:p>
            <a:pPr algn="ctr">
              <a:buNone/>
            </a:pPr>
            <a:r>
              <a:rPr lang="en-US" sz="2600" b="1" i="0" dirty="0">
                <a:solidFill>
                  <a:srgbClr val="5C4826"/>
                </a:solidFill>
              </a:rPr>
              <a:t xml:space="preserve">B</a:t>
            </a:r>
          </a:p>
          <a:p>
            <a:pPr algn="ctr">
              <a:spcBef>
                <a:spcPts val="480"/>
              </a:spcBef>
              <a:buNone/>
            </a:pPr>
            <a:r>
              <a:rPr lang="en-US" sz="2600" b="1" i="0" dirty="0">
                <a:solidFill>
                  <a:srgbClr val="B23B3B"/>
                </a:solidFill>
              </a:rPr>
              <a:t xml:space="preserve">✗</a:t>
            </a:r>
          </a:p>
        </p:txBody>
      </p:sp>
      <p:sp>
        <p:nvSpPr>
          <p:cNvPr id="103" name="S1C"/>
          <p:cNvSpPr/>
          <p:nvPr/>
        </p:nvSpPr>
        <p:spPr>
          <a:xfrm>
            <a:off x="2410000" y="1880000"/>
            <a:ext cx="936000" cy="1020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600" b="1" i="0" dirty="0">
                <a:solidFill>
                  <a:srgbClr val="5C4826"/>
                </a:solidFill>
              </a:rPr>
              <a:t xml:space="preserve">C</a:t>
            </a:r>
          </a:p>
          <a:p>
            <a:pPr algn="ctr">
              <a:spcBef>
                <a:spcPts val="480"/>
              </a:spcBef>
              <a:buNone/>
            </a:pPr>
            <a:r>
              <a:rPr lang="en-US" sz="2600" b="1" i="0" dirty="0">
                <a:solidFill>
                  <a:srgbClr val="1F7A4D"/>
                </a:solidFill>
              </a:rPr>
              <a:t xml:space="preserve">✓</a:t>
            </a:r>
          </a:p>
        </p:txBody>
      </p:sp>
      <p:sp>
        <p:nvSpPr>
          <p:cNvPr id="104" name="S1D"/>
          <p:cNvSpPr/>
          <p:nvPr/>
        </p:nvSpPr>
        <p:spPr>
          <a:xfrm>
            <a:off x="3466000" y="1880000"/>
            <a:ext cx="936000" cy="1020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600" b="1" i="0" dirty="0">
                <a:solidFill>
                  <a:srgbClr val="5C4826"/>
                </a:solidFill>
              </a:rPr>
              <a:t xml:space="preserve">D</a:t>
            </a:r>
          </a:p>
          <a:p>
            <a:pPr algn="ctr">
              <a:spcBef>
                <a:spcPts val="480"/>
              </a:spcBef>
              <a:buNone/>
            </a:pPr>
            <a:r>
              <a:rPr lang="en-US" sz="2600" b="1" i="0" dirty="0">
                <a:solidFill>
                  <a:srgbClr val="1F7A4D"/>
                </a:solidFill>
              </a:rPr>
              <a:t xml:space="preserve">✓</a:t>
            </a:r>
          </a:p>
        </p:txBody>
      </p:sp>
      <p:sp>
        <p:nvSpPr>
          <p:cNvPr id="105" name="S1Btag"/>
          <p:cNvSpPr txBox="1"/>
          <p:nvPr/>
        </p:nvSpPr>
        <p:spPr>
          <a:xfrm>
            <a:off x="850000" y="3020000"/>
            <a:ext cx="1920000" cy="600000"/>
          </a:xfrm>
          <a:prstGeom prst="rect">
            <a:avLst/>
          </a:prstGeom>
          <a:noFill/>
          <a:ln>
            <a:noFill/>
          </a:ln>
        </p:spPr>
        <p:txBody>
          <a:bodyPr wrap="square" lIns="0" tIns="0" rIns="0" bIns="0" anchor="t">
            <a:normAutofit/>
          </a:bodyPr>
          <a:lstStyle/>
          <a:p>
            <a:pPr algn="ctr">
              <a:buNone/>
            </a:pPr>
            <a:r>
              <a:rPr lang="en-US" sz="2000" b="0" i="1" dirty="0">
                <a:solidFill>
                  <a:srgbClr val="B23B3B"/>
                </a:solidFill>
              </a:rPr>
              <a:t xml:space="preserve">B violates</a:t>
            </a:r>
          </a:p>
          <a:p>
            <a:pPr algn="ctr">
              <a:spcBef>
                <a:spcPts val="480"/>
              </a:spcBef>
              <a:buNone/>
            </a:pPr>
            <a:r>
              <a:rPr lang="en-US" sz="2000" b="0" i="1" dirty="0">
                <a:solidFill>
                  <a:srgbClr val="B23B3B"/>
                </a:solidFill>
              </a:rPr>
              <a:t xml:space="preserve">required latency</a:t>
            </a:r>
          </a:p>
        </p:txBody>
      </p:sp>
      <p:cxnSp>
        <p:nvCxnSpPr>
          <p:cNvPr id="106" name="Div"/>
          <p:cNvCxnSpPr/>
          <p:nvPr/>
        </p:nvCxnSpPr>
        <p:spPr>
          <a:xfrm>
            <a:off x="4600000" y="1350000"/>
            <a:ext cx="0" cy="2950000"/>
          </a:xfrm>
          <a:prstGeom prst="line">
            <a:avLst/>
          </a:prstGeom>
          <a:ln w="12700">
            <a:solidFill>
              <a:srgbClr val="C9B991"/>
            </a:solidFill>
            <a:prstDash val="dash"/>
          </a:ln>
        </p:spPr>
      </p:cxnSp>
      <p:sp>
        <p:nvSpPr>
          <p:cNvPr id="107" name="S2Lbl"/>
          <p:cNvSpPr txBox="1"/>
          <p:nvPr/>
        </p:nvSpPr>
        <p:spPr>
          <a:xfrm>
            <a:off x="4950000" y="1300000"/>
            <a:ext cx="3600000" cy="300000"/>
          </a:xfrm>
          <a:prstGeom prst="rect">
            <a:avLst/>
          </a:prstGeom>
          <a:noFill/>
          <a:ln>
            <a:noFill/>
          </a:ln>
        </p:spPr>
        <p:txBody>
          <a:bodyPr wrap="square" lIns="0" tIns="0" rIns="0" bIns="0" anchor="t">
            <a:normAutofit/>
          </a:bodyPr>
          <a:lstStyle/>
          <a:p>
            <a:pPr algn="l">
              <a:buNone/>
            </a:pPr>
            <a:r>
              <a:rPr lang="en-US" sz="2200" b="1" i="0" dirty="0">
                <a:solidFill>
                  <a:srgbClr val="8E6F3E"/>
                </a:solidFill>
              </a:rPr>
              <a:t xml:space="preserve">STAGE 2 — DOMINANCE</a:t>
            </a:r>
          </a:p>
        </p:txBody>
      </p:sp>
      <p:cxnSp>
        <p:nvCxnSpPr>
          <p:cNvPr id="108" name="AxX"/>
          <p:cNvCxnSpPr/>
          <p:nvPr/>
        </p:nvCxnSpPr>
        <p:spPr>
          <a:xfrm>
            <a:off x="4868750" y="4525000"/>
            <a:ext cx="4062500" cy="0"/>
          </a:xfrm>
          <a:prstGeom prst="line">
            <a:avLst/>
          </a:prstGeom>
          <a:ln w="23812">
            <a:solidFill>
              <a:srgbClr val="8E6F3E"/>
            </a:solidFill>
            <a:tailEnd type="triangle" w="med" len="med"/>
          </a:ln>
        </p:spPr>
      </p:cxnSp>
      <p:cxnSp>
        <p:nvCxnSpPr>
          <p:cNvPr id="109" name="AxY"/>
          <p:cNvCxnSpPr/>
          <p:nvPr/>
        </p:nvCxnSpPr>
        <p:spPr>
          <a:xfrm flipV="1">
            <a:off x="4868750" y="1587500"/>
            <a:ext cx="0" cy="2937500"/>
          </a:xfrm>
          <a:prstGeom prst="line">
            <a:avLst/>
          </a:prstGeom>
          <a:ln w="23812">
            <a:solidFill>
              <a:srgbClr val="8E6F3E"/>
            </a:solidFill>
            <a:tailEnd type="triangle" w="med" len="med"/>
          </a:ln>
        </p:spPr>
      </p:cxnSp>
      <p:sp>
        <p:nvSpPr>
          <p:cNvPr id="110" name="AxXLbl"/>
          <p:cNvSpPr txBox="1"/>
          <p:nvPr/>
        </p:nvSpPr>
        <p:spPr>
          <a:xfrm>
            <a:off x="7700000" y="4620000"/>
            <a:ext cx="1300000" cy="350000"/>
          </a:xfrm>
          <a:prstGeom prst="rect">
            <a:avLst/>
          </a:prstGeom>
          <a:noFill/>
          <a:ln>
            <a:noFill/>
          </a:ln>
        </p:spPr>
        <p:txBody>
          <a:bodyPr wrap="square" lIns="0" tIns="0" rIns="0" bIns="0" anchor="t">
            <a:normAutofit/>
          </a:bodyPr>
          <a:lstStyle/>
          <a:p>
            <a:pPr algn="r">
              <a:buNone/>
            </a:pPr>
            <a:r>
              <a:rPr lang="en-US" sz="2000" b="0" i="1" dirty="0">
                <a:solidFill>
                  <a:srgbClr val="555960"/>
                </a:solidFill>
              </a:rPr>
              <a:t xml:space="preserve">better →</a:t>
            </a:r>
          </a:p>
        </p:txBody>
      </p:sp>
      <p:sp>
        <p:nvSpPr>
          <p:cNvPr id="111" name="AxYLbl"/>
          <p:cNvSpPr txBox="1"/>
          <p:nvPr/>
        </p:nvSpPr>
        <p:spPr>
          <a:xfrm rot="-5400000">
            <a:off x="4020000" y="2875000"/>
            <a:ext cx="1400000" cy="350000"/>
          </a:xfrm>
          <a:prstGeom prst="rect">
            <a:avLst/>
          </a:prstGeom>
          <a:noFill/>
          <a:ln>
            <a:noFill/>
          </a:ln>
        </p:spPr>
        <p:txBody>
          <a:bodyPr wrap="square" lIns="0" tIns="0" rIns="0" bIns="0" anchor="t">
            <a:normAutofit/>
          </a:bodyPr>
          <a:lstStyle/>
          <a:p>
            <a:pPr algn="ctr">
              <a:buNone/>
            </a:pPr>
            <a:r>
              <a:rPr lang="en-US" sz="2000" b="0" i="1" dirty="0">
                <a:solidFill>
                  <a:srgbClr val="555960"/>
                </a:solidFill>
              </a:rPr>
              <a:t xml:space="preserve">better →</a:t>
            </a:r>
          </a:p>
        </p:txBody>
      </p:sp>
      <p:sp>
        <p:nvSpPr>
          <p:cNvPr id="112" name="DomRegion"/>
          <p:cNvSpPr/>
          <p:nvPr/>
        </p:nvSpPr>
        <p:spPr>
          <a:xfrm>
            <a:off x="4868750" y="2462500"/>
            <a:ext cx="2875000" cy="2062500"/>
          </a:xfrm>
          <a:prstGeom prst="rect">
            <a:avLst/>
          </a:prstGeom>
          <a:solidFill>
            <a:srgbClr val="B23B3B">
              <a:alpha val="9000"/>
            </a:srgbClr>
          </a:solidFill>
          <a:ln w="15875">
            <a:solidFill>
              <a:srgbClr val="B23B3B"/>
            </a:solidFill>
            <a:prstDash val="dash"/>
          </a:ln>
        </p:spPr>
        <p:txBody>
          <a:bodyPr wrap="square" lIns="54864" tIns="27432" rIns="54864" bIns="27432" anchor="ctr">
            <a:normAutofit/>
          </a:bodyPr>
          <a:lstStyle/>
          <a:p>
            <a:endParaRPr/>
          </a:p>
        </p:txBody>
      </p:sp>
      <p:sp>
        <p:nvSpPr>
          <p:cNvPr id="113" name="PtA"/>
          <p:cNvSpPr/>
          <p:nvPr/>
        </p:nvSpPr>
        <p:spPr>
          <a:xfrm>
            <a:off x="7625000" y="2343750"/>
            <a:ext cx="237500" cy="237500"/>
          </a:xfrm>
          <a:prstGeom prst="ellipse">
            <a:avLst/>
          </a:prstGeom>
          <a:solidFill>
            <a:srgbClr val="8E6F3E"/>
          </a:solidFill>
          <a:ln>
            <a:noFill/>
          </a:ln>
        </p:spPr>
        <p:txBody>
          <a:bodyPr wrap="square" lIns="54864" tIns="27432" rIns="54864" bIns="27432" anchor="ctr">
            <a:normAutofit/>
          </a:bodyPr>
          <a:lstStyle/>
          <a:p>
            <a:endParaRPr/>
          </a:p>
        </p:txBody>
      </p:sp>
      <p:sp>
        <p:nvSpPr>
          <p:cNvPr id="114" name="PtLblA"/>
          <p:cNvSpPr txBox="1"/>
          <p:nvPr/>
        </p:nvSpPr>
        <p:spPr>
          <a:xfrm>
            <a:off x="7881250" y="2100000"/>
            <a:ext cx="437500" cy="375000"/>
          </a:xfrm>
          <a:prstGeom prst="rect">
            <a:avLst/>
          </a:prstGeom>
          <a:noFill/>
          <a:ln>
            <a:noFill/>
          </a:ln>
        </p:spPr>
        <p:txBody>
          <a:bodyPr wrap="square" lIns="0" tIns="0" rIns="0" bIns="0" anchor="t">
            <a:normAutofit/>
          </a:bodyPr>
          <a:lstStyle/>
          <a:p>
            <a:pPr algn="l">
              <a:buNone/>
            </a:pPr>
            <a:r>
              <a:rPr lang="en-US" sz="2600" b="1" i="0" dirty="0">
                <a:solidFill>
                  <a:srgbClr val="5C4826"/>
                </a:solidFill>
              </a:rPr>
              <a:t xml:space="preserve">A</a:t>
            </a:r>
          </a:p>
        </p:txBody>
      </p:sp>
      <p:sp>
        <p:nvSpPr>
          <p:cNvPr id="115" name="PtC"/>
          <p:cNvSpPr/>
          <p:nvPr/>
        </p:nvSpPr>
        <p:spPr>
          <a:xfrm>
            <a:off x="5625000" y="1718750"/>
            <a:ext cx="237500" cy="237500"/>
          </a:xfrm>
          <a:prstGeom prst="ellipse">
            <a:avLst/>
          </a:prstGeom>
          <a:solidFill>
            <a:srgbClr val="8E6F3E"/>
          </a:solidFill>
          <a:ln>
            <a:noFill/>
          </a:ln>
        </p:spPr>
        <p:txBody>
          <a:bodyPr wrap="square" lIns="54864" tIns="27432" rIns="54864" bIns="27432" anchor="ctr">
            <a:normAutofit/>
          </a:bodyPr>
          <a:lstStyle/>
          <a:p>
            <a:endParaRPr/>
          </a:p>
        </p:txBody>
      </p:sp>
      <p:sp>
        <p:nvSpPr>
          <p:cNvPr id="116" name="PtLblC"/>
          <p:cNvSpPr txBox="1"/>
          <p:nvPr/>
        </p:nvSpPr>
        <p:spPr>
          <a:xfrm>
            <a:off x="5881250" y="1475000"/>
            <a:ext cx="437500" cy="375000"/>
          </a:xfrm>
          <a:prstGeom prst="rect">
            <a:avLst/>
          </a:prstGeom>
          <a:noFill/>
          <a:ln>
            <a:noFill/>
          </a:ln>
        </p:spPr>
        <p:txBody>
          <a:bodyPr wrap="square" lIns="0" tIns="0" rIns="0" bIns="0" anchor="t">
            <a:normAutofit/>
          </a:bodyPr>
          <a:lstStyle/>
          <a:p>
            <a:pPr algn="l">
              <a:buNone/>
            </a:pPr>
            <a:r>
              <a:rPr lang="en-US" sz="2600" b="1" i="0" dirty="0">
                <a:solidFill>
                  <a:srgbClr val="5C4826"/>
                </a:solidFill>
              </a:rPr>
              <a:t xml:space="preserve">C</a:t>
            </a:r>
          </a:p>
        </p:txBody>
      </p:sp>
      <p:sp>
        <p:nvSpPr>
          <p:cNvPr id="117" name="PtD"/>
          <p:cNvSpPr/>
          <p:nvPr/>
        </p:nvSpPr>
        <p:spPr>
          <a:xfrm>
            <a:off x="6625000" y="3406250"/>
            <a:ext cx="237500" cy="237500"/>
          </a:xfrm>
          <a:prstGeom prst="ellipse">
            <a:avLst/>
          </a:prstGeom>
          <a:solidFill>
            <a:srgbClr val="B23B3B"/>
          </a:solidFill>
          <a:ln>
            <a:noFill/>
          </a:ln>
        </p:spPr>
        <p:txBody>
          <a:bodyPr wrap="square" lIns="54864" tIns="27432" rIns="54864" bIns="27432" anchor="ctr">
            <a:normAutofit/>
          </a:bodyPr>
          <a:lstStyle/>
          <a:p>
            <a:endParaRPr/>
          </a:p>
        </p:txBody>
      </p:sp>
      <p:sp>
        <p:nvSpPr>
          <p:cNvPr id="118" name="PtLblD"/>
          <p:cNvSpPr txBox="1"/>
          <p:nvPr/>
        </p:nvSpPr>
        <p:spPr>
          <a:xfrm>
            <a:off x="6881250" y="3162500"/>
            <a:ext cx="437500" cy="375000"/>
          </a:xfrm>
          <a:prstGeom prst="rect">
            <a:avLst/>
          </a:prstGeom>
          <a:noFill/>
          <a:ln>
            <a:noFill/>
          </a:ln>
        </p:spPr>
        <p:txBody>
          <a:bodyPr wrap="square" lIns="0" tIns="0" rIns="0" bIns="0" anchor="t">
            <a:normAutofit/>
          </a:bodyPr>
          <a:lstStyle/>
          <a:p>
            <a:pPr algn="l">
              <a:buNone/>
            </a:pPr>
            <a:r>
              <a:rPr lang="en-US" sz="2600" b="1" i="0" dirty="0">
                <a:solidFill>
                  <a:srgbClr val="B23B3B"/>
                </a:solidFill>
              </a:rPr>
              <a:t xml:space="preserve">D</a:t>
            </a:r>
          </a:p>
        </p:txBody>
      </p:sp>
      <p:sp>
        <p:nvSpPr>
          <p:cNvPr id="119" name="DomLbl"/>
          <p:cNvSpPr txBox="1"/>
          <p:nvPr/>
        </p:nvSpPr>
        <p:spPr>
          <a:xfrm>
            <a:off x="5050000" y="3900000"/>
            <a:ext cx="2600000" cy="400000"/>
          </a:xfrm>
          <a:prstGeom prst="rect">
            <a:avLst/>
          </a:prstGeom>
          <a:noFill/>
          <a:ln>
            <a:noFill/>
          </a:ln>
        </p:spPr>
        <p:txBody>
          <a:bodyPr wrap="square" lIns="0" tIns="0" rIns="0" bIns="0" anchor="t">
            <a:normAutofit/>
          </a:bodyPr>
          <a:lstStyle/>
          <a:p>
            <a:pPr algn="l">
              <a:buNone/>
            </a:pPr>
            <a:r>
              <a:rPr lang="en-US" sz="2000" b="0" i="1" dirty="0">
                <a:solidFill>
                  <a:srgbClr val="B23B3B"/>
                </a:solidFill>
              </a:rPr>
              <a:t xml:space="preserve">D is dominated by A</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 xml:space="preserve">A real tradeoff requires judgment.</a:t>
            </a:r>
          </a:p>
        </p:txBody>
      </p:sp>
      <p:sp>
        <p:nvSpPr>
          <p:cNvPr id="3" name="Slide Number Placeholder 2"/>
          <p:cNvSpPr>
            <a:spLocks noGrp="1"/>
          </p:cNvSpPr>
          <p:nvPr>
            <p:ph type="sldNum" sz="quarter" idx="4"/>
          </p:nvPr>
        </p:nvSpPr>
        <p:spPr/>
        <p:txBody>
          <a:bodyPr/>
          <a:lstStyle/>
          <a:p>
            <a:fld id="{B7EB45DA-9A0D-DC49-8E02-F30A5DDC21C3}" type="slidenum">
              <a:rPr lang="en-US" smtClean="0"/>
              <a:t>0</a:t>
            </a:fld>
            <a:endParaRPr lang="en-US"/>
          </a:p>
        </p:txBody>
      </p:sp>
      <p:sp>
        <p:nvSpPr>
          <p:cNvPr id="61" name="Band61"/>
          <p:cNvSpPr/>
          <p:nvPr/>
        </p:nvSpPr>
        <p:spPr>
          <a:xfrm>
            <a:off x="279400" y="5450000"/>
            <a:ext cx="8585200" cy="800000"/>
          </a:xfrm>
          <a:prstGeom prst="rect">
            <a:avLst/>
          </a:prstGeom>
          <a:solidFill>
            <a:srgbClr val="8E6F3E"/>
          </a:solidFill>
          <a:ln>
            <a:noFill/>
          </a:ln>
        </p:spPr>
        <p:txBody>
          <a:bodyPr wrap="square" lIns="109728" tIns="82296" rIns="109728" bIns="82296" anchor="ctr">
            <a:normAutofit/>
          </a:bodyPr>
          <a:lstStyle/>
          <a:p>
            <a:pPr algn="ctr">
              <a:buNone/>
            </a:pPr>
            <a:r>
              <a:rPr lang="en-US" sz="2800" b="1" i="0" dirty="0">
                <a:solidFill>
                  <a:srgbClr val="FFFFFF"/>
                </a:solidFill>
              </a:rPr>
              <a:t xml:space="preserve">Mathematics has not chosen for us.</a:t>
            </a:r>
          </a:p>
        </p:txBody>
      </p:sp>
      <p:cxnSp>
        <p:nvCxnSpPr>
          <p:cNvPr id="100" name="AxX"/>
          <p:cNvCxnSpPr/>
          <p:nvPr/>
        </p:nvCxnSpPr>
        <p:spPr>
          <a:xfrm>
            <a:off x="381250" y="5007500"/>
            <a:ext cx="8437500" cy="0"/>
          </a:xfrm>
          <a:prstGeom prst="line">
            <a:avLst/>
          </a:prstGeom>
          <a:ln w="25718">
            <a:solidFill>
              <a:srgbClr val="8E6F3E"/>
            </a:solidFill>
            <a:tailEnd type="triangle" w="med" len="med"/>
          </a:ln>
        </p:spPr>
      </p:cxnSp>
      <p:cxnSp>
        <p:nvCxnSpPr>
          <p:cNvPr id="101" name="AxY"/>
          <p:cNvCxnSpPr/>
          <p:nvPr/>
        </p:nvCxnSpPr>
        <p:spPr>
          <a:xfrm flipV="1">
            <a:off x="381250" y="1092500"/>
            <a:ext cx="0" cy="3915000"/>
          </a:xfrm>
          <a:prstGeom prst="line">
            <a:avLst/>
          </a:prstGeom>
          <a:ln w="25718">
            <a:solidFill>
              <a:srgbClr val="8E6F3E"/>
            </a:solidFill>
            <a:tailEnd type="triangle" w="med" len="med"/>
          </a:ln>
        </p:spPr>
      </p:cxnSp>
      <p:sp>
        <p:nvSpPr>
          <p:cNvPr id="102" name="AxXLbl"/>
          <p:cNvSpPr txBox="1"/>
          <p:nvPr/>
        </p:nvSpPr>
        <p:spPr>
          <a:xfrm>
            <a:off x="7100000" y="5060000"/>
            <a:ext cx="1700000" cy="320000"/>
          </a:xfrm>
          <a:prstGeom prst="rect">
            <a:avLst/>
          </a:prstGeom>
          <a:noFill/>
          <a:ln>
            <a:noFill/>
          </a:ln>
        </p:spPr>
        <p:txBody>
          <a:bodyPr wrap="square" lIns="0" tIns="0" rIns="0" bIns="0" anchor="t">
            <a:normAutofit/>
          </a:bodyPr>
          <a:lstStyle/>
          <a:p>
            <a:pPr algn="r">
              <a:buNone/>
            </a:pPr>
            <a:r>
              <a:rPr lang="en-US" sz="2000" b="0" i="1" dirty="0">
                <a:solidFill>
                  <a:srgbClr val="555960"/>
                </a:solidFill>
              </a:rPr>
              <a:t xml:space="preserve">Property X → better</a:t>
            </a:r>
          </a:p>
        </p:txBody>
      </p:sp>
      <p:sp>
        <p:nvSpPr>
          <p:cNvPr id="103" name="AxYLbl"/>
          <p:cNvSpPr txBox="1"/>
          <p:nvPr/>
        </p:nvSpPr>
        <p:spPr>
          <a:xfrm rot="-5400000">
            <a:off x="-785000" y="2875000"/>
            <a:ext cx="2050000" cy="350000"/>
          </a:xfrm>
          <a:prstGeom prst="rect">
            <a:avLst/>
          </a:prstGeom>
          <a:noFill/>
          <a:ln>
            <a:noFill/>
          </a:ln>
        </p:spPr>
        <p:txBody>
          <a:bodyPr wrap="square" lIns="0" tIns="0" rIns="0" bIns="0" anchor="t">
            <a:normAutofit/>
          </a:bodyPr>
          <a:lstStyle/>
          <a:p>
            <a:pPr algn="ctr">
              <a:buNone/>
            </a:pPr>
            <a:r>
              <a:rPr lang="en-US" sz="2000" b="0" i="1" dirty="0">
                <a:solidFill>
                  <a:srgbClr val="555960"/>
                </a:solidFill>
              </a:rPr>
              <a:t xml:space="preserve">Property Y → better</a:t>
            </a:r>
          </a:p>
        </p:txBody>
      </p:sp>
      <p:cxnSp>
        <p:nvCxnSpPr>
          <p:cNvPr id="104" name="Fr0"/>
          <p:cNvCxnSpPr/>
          <p:nvPr/>
        </p:nvCxnSpPr>
        <p:spPr>
          <a:xfrm>
            <a:off x="1461250" y="1632500"/>
            <a:ext cx="2160000" cy="675000"/>
          </a:xfrm>
          <a:prstGeom prst="line">
            <a:avLst/>
          </a:prstGeom>
          <a:ln w="25718">
            <a:solidFill>
              <a:srgbClr val="C9B991"/>
            </a:solidFill>
            <a:prstDash val="dash"/>
          </a:ln>
        </p:spPr>
      </p:cxnSp>
      <p:cxnSp>
        <p:nvCxnSpPr>
          <p:cNvPr id="105" name="Fr1"/>
          <p:cNvCxnSpPr/>
          <p:nvPr/>
        </p:nvCxnSpPr>
        <p:spPr>
          <a:xfrm>
            <a:off x="3621250" y="2307500"/>
            <a:ext cx="2160000" cy="945000"/>
          </a:xfrm>
          <a:prstGeom prst="line">
            <a:avLst/>
          </a:prstGeom>
          <a:ln w="25718">
            <a:solidFill>
              <a:srgbClr val="C9B991"/>
            </a:solidFill>
            <a:prstDash val="dash"/>
          </a:ln>
        </p:spPr>
      </p:cxnSp>
      <p:cxnSp>
        <p:nvCxnSpPr>
          <p:cNvPr id="106" name="Fr2"/>
          <p:cNvCxnSpPr/>
          <p:nvPr/>
        </p:nvCxnSpPr>
        <p:spPr>
          <a:xfrm>
            <a:off x="5781250" y="3252500"/>
            <a:ext cx="2025000" cy="1147500"/>
          </a:xfrm>
          <a:prstGeom prst="line">
            <a:avLst/>
          </a:prstGeom>
          <a:ln w="25718">
            <a:solidFill>
              <a:srgbClr val="C9B991"/>
            </a:solidFill>
            <a:prstDash val="dash"/>
          </a:ln>
        </p:spPr>
      </p:cxnSp>
      <p:sp>
        <p:nvSpPr>
          <p:cNvPr id="107" name="PtA"/>
          <p:cNvSpPr/>
          <p:nvPr/>
        </p:nvSpPr>
        <p:spPr>
          <a:xfrm>
            <a:off x="1326250" y="1497500"/>
            <a:ext cx="270000" cy="270000"/>
          </a:xfrm>
          <a:prstGeom prst="ellipse">
            <a:avLst/>
          </a:prstGeom>
          <a:solidFill>
            <a:srgbClr val="8E6F3E"/>
          </a:solidFill>
          <a:ln>
            <a:noFill/>
          </a:ln>
        </p:spPr>
        <p:txBody>
          <a:bodyPr wrap="square" lIns="54864" tIns="27432" rIns="54864" bIns="27432" anchor="ctr">
            <a:normAutofit/>
          </a:bodyPr>
          <a:lstStyle/>
          <a:p>
            <a:endParaRPr/>
          </a:p>
        </p:txBody>
      </p:sp>
      <p:sp>
        <p:nvSpPr>
          <p:cNvPr id="108" name="PtLblA"/>
          <p:cNvSpPr txBox="1"/>
          <p:nvPr/>
        </p:nvSpPr>
        <p:spPr>
          <a:xfrm>
            <a:off x="1623250" y="1173500"/>
            <a:ext cx="540000" cy="432000"/>
          </a:xfrm>
          <a:prstGeom prst="rect">
            <a:avLst/>
          </a:prstGeom>
          <a:noFill/>
          <a:ln>
            <a:noFill/>
          </a:ln>
        </p:spPr>
        <p:txBody>
          <a:bodyPr wrap="square" lIns="0" tIns="0" rIns="0" bIns="0" anchor="t">
            <a:normAutofit/>
          </a:bodyPr>
          <a:lstStyle/>
          <a:p>
            <a:pPr algn="l">
              <a:buNone/>
            </a:pPr>
            <a:r>
              <a:rPr lang="en-US" sz="2600" b="1" i="0" dirty="0">
                <a:solidFill>
                  <a:srgbClr val="5C4826"/>
                </a:solidFill>
              </a:rPr>
              <a:t xml:space="preserve">A</a:t>
            </a:r>
          </a:p>
        </p:txBody>
      </p:sp>
      <p:sp>
        <p:nvSpPr>
          <p:cNvPr id="109" name="PtB"/>
          <p:cNvSpPr/>
          <p:nvPr/>
        </p:nvSpPr>
        <p:spPr>
          <a:xfrm>
            <a:off x="3486250" y="2172500"/>
            <a:ext cx="270000" cy="270000"/>
          </a:xfrm>
          <a:prstGeom prst="ellipse">
            <a:avLst/>
          </a:prstGeom>
          <a:solidFill>
            <a:srgbClr val="8E6F3E"/>
          </a:solidFill>
          <a:ln>
            <a:noFill/>
          </a:ln>
        </p:spPr>
        <p:txBody>
          <a:bodyPr wrap="square" lIns="54864" tIns="27432" rIns="54864" bIns="27432" anchor="ctr">
            <a:normAutofit/>
          </a:bodyPr>
          <a:lstStyle/>
          <a:p>
            <a:endParaRPr/>
          </a:p>
        </p:txBody>
      </p:sp>
      <p:sp>
        <p:nvSpPr>
          <p:cNvPr id="110" name="PtLblB"/>
          <p:cNvSpPr txBox="1"/>
          <p:nvPr/>
        </p:nvSpPr>
        <p:spPr>
          <a:xfrm>
            <a:off x="3783250" y="1848500"/>
            <a:ext cx="540000" cy="432000"/>
          </a:xfrm>
          <a:prstGeom prst="rect">
            <a:avLst/>
          </a:prstGeom>
          <a:noFill/>
          <a:ln>
            <a:noFill/>
          </a:ln>
        </p:spPr>
        <p:txBody>
          <a:bodyPr wrap="square" lIns="0" tIns="0" rIns="0" bIns="0" anchor="t">
            <a:normAutofit/>
          </a:bodyPr>
          <a:lstStyle/>
          <a:p>
            <a:pPr algn="l">
              <a:buNone/>
            </a:pPr>
            <a:r>
              <a:rPr lang="en-US" sz="2600" b="1" i="0" dirty="0">
                <a:solidFill>
                  <a:srgbClr val="5C4826"/>
                </a:solidFill>
              </a:rPr>
              <a:t xml:space="preserve">B</a:t>
            </a:r>
          </a:p>
        </p:txBody>
      </p:sp>
      <p:sp>
        <p:nvSpPr>
          <p:cNvPr id="111" name="PtC"/>
          <p:cNvSpPr/>
          <p:nvPr/>
        </p:nvSpPr>
        <p:spPr>
          <a:xfrm>
            <a:off x="5646250" y="3117500"/>
            <a:ext cx="270000" cy="270000"/>
          </a:xfrm>
          <a:prstGeom prst="ellipse">
            <a:avLst/>
          </a:prstGeom>
          <a:solidFill>
            <a:srgbClr val="8E6F3E"/>
          </a:solidFill>
          <a:ln>
            <a:noFill/>
          </a:ln>
        </p:spPr>
        <p:txBody>
          <a:bodyPr wrap="square" lIns="54864" tIns="27432" rIns="54864" bIns="27432" anchor="ctr">
            <a:normAutofit/>
          </a:bodyPr>
          <a:lstStyle/>
          <a:p>
            <a:endParaRPr/>
          </a:p>
        </p:txBody>
      </p:sp>
      <p:sp>
        <p:nvSpPr>
          <p:cNvPr id="112" name="PtLblC"/>
          <p:cNvSpPr txBox="1"/>
          <p:nvPr/>
        </p:nvSpPr>
        <p:spPr>
          <a:xfrm>
            <a:off x="5943250" y="2793500"/>
            <a:ext cx="540000" cy="432000"/>
          </a:xfrm>
          <a:prstGeom prst="rect">
            <a:avLst/>
          </a:prstGeom>
          <a:noFill/>
          <a:ln>
            <a:noFill/>
          </a:ln>
        </p:spPr>
        <p:txBody>
          <a:bodyPr wrap="square" lIns="0" tIns="0" rIns="0" bIns="0" anchor="t">
            <a:normAutofit/>
          </a:bodyPr>
          <a:lstStyle/>
          <a:p>
            <a:pPr algn="l">
              <a:buNone/>
            </a:pPr>
            <a:r>
              <a:rPr lang="en-US" sz="2600" b="1" i="0" dirty="0">
                <a:solidFill>
                  <a:srgbClr val="5C4826"/>
                </a:solidFill>
              </a:rPr>
              <a:t xml:space="preserve">C</a:t>
            </a:r>
          </a:p>
        </p:txBody>
      </p:sp>
      <p:sp>
        <p:nvSpPr>
          <p:cNvPr id="113" name="PtD"/>
          <p:cNvSpPr/>
          <p:nvPr/>
        </p:nvSpPr>
        <p:spPr>
          <a:xfrm>
            <a:off x="7671250" y="4265000"/>
            <a:ext cx="270000" cy="270000"/>
          </a:xfrm>
          <a:prstGeom prst="ellipse">
            <a:avLst/>
          </a:prstGeom>
          <a:solidFill>
            <a:srgbClr val="8E6F3E"/>
          </a:solidFill>
          <a:ln>
            <a:noFill/>
          </a:ln>
        </p:spPr>
        <p:txBody>
          <a:bodyPr wrap="square" lIns="54864" tIns="27432" rIns="54864" bIns="27432" anchor="ctr">
            <a:normAutofit/>
          </a:bodyPr>
          <a:lstStyle/>
          <a:p>
            <a:endParaRPr/>
          </a:p>
        </p:txBody>
      </p:sp>
      <p:sp>
        <p:nvSpPr>
          <p:cNvPr id="114" name="PtLblD"/>
          <p:cNvSpPr txBox="1"/>
          <p:nvPr/>
        </p:nvSpPr>
        <p:spPr>
          <a:xfrm>
            <a:off x="7968250" y="3941000"/>
            <a:ext cx="540000" cy="432000"/>
          </a:xfrm>
          <a:prstGeom prst="rect">
            <a:avLst/>
          </a:prstGeom>
          <a:noFill/>
          <a:ln>
            <a:noFill/>
          </a:ln>
        </p:spPr>
        <p:txBody>
          <a:bodyPr wrap="square" lIns="0" tIns="0" rIns="0" bIns="0" anchor="t">
            <a:normAutofit/>
          </a:bodyPr>
          <a:lstStyle/>
          <a:p>
            <a:pPr algn="l">
              <a:buNone/>
            </a:pPr>
            <a:r>
              <a:rPr lang="en-US" sz="2600" b="1" i="0" dirty="0">
                <a:solidFill>
                  <a:srgbClr val="5C4826"/>
                </a:solidFill>
              </a:rPr>
              <a:t xml:space="preserve">D</a:t>
            </a:r>
          </a:p>
        </p:txBody>
      </p:sp>
      <p:sp>
        <p:nvSpPr>
          <p:cNvPr id="115" name="NoDom"/>
          <p:cNvSpPr txBox="1"/>
          <p:nvPr/>
        </p:nvSpPr>
        <p:spPr>
          <a:xfrm>
            <a:off x="5400000" y="1450000"/>
            <a:ext cx="3400000" cy="350000"/>
          </a:xfrm>
          <a:prstGeom prst="rect">
            <a:avLst/>
          </a:prstGeom>
          <a:noFill/>
          <a:ln>
            <a:noFill/>
          </a:ln>
        </p:spPr>
        <p:txBody>
          <a:bodyPr wrap="square" lIns="0" tIns="0" rIns="0" bIns="0" anchor="t">
            <a:normAutofit/>
          </a:bodyPr>
          <a:lstStyle/>
          <a:p>
            <a:pPr algn="l">
              <a:buNone/>
            </a:pPr>
            <a:r>
              <a:rPr lang="en-US" sz="1800" b="0" i="1" dirty="0">
                <a:solidFill>
                  <a:srgbClr val="555960"/>
                </a:solidFill>
              </a:rPr>
              <a:t xml:space="preserve">no point dominates another</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 xml:space="preserve">Sometimes the right decision is to buy more information.</a:t>
            </a:r>
          </a:p>
        </p:txBody>
      </p:sp>
      <p:sp>
        <p:nvSpPr>
          <p:cNvPr id="3" name="Slide Number Placeholder 2"/>
          <p:cNvSpPr>
            <a:spLocks noGrp="1"/>
          </p:cNvSpPr>
          <p:nvPr>
            <p:ph type="sldNum" sz="quarter" idx="4"/>
          </p:nvPr>
        </p:nvSpPr>
        <p:spPr/>
        <p:txBody>
          <a:bodyPr/>
          <a:lstStyle/>
          <a:p>
            <a:fld id="{B7EB45DA-9A0D-DC49-8E02-F30A5DDC21C3}" type="slidenum">
              <a:rPr lang="en-US" smtClean="0"/>
              <a:t>0</a:t>
            </a:fld>
            <a:endParaRPr lang="en-US"/>
          </a:p>
        </p:txBody>
      </p:sp>
      <p:sp>
        <p:nvSpPr>
          <p:cNvPr id="61" name="Band61"/>
          <p:cNvSpPr/>
          <p:nvPr/>
        </p:nvSpPr>
        <p:spPr>
          <a:xfrm>
            <a:off x="279400" y="5100000"/>
            <a:ext cx="8585200" cy="750000"/>
          </a:xfrm>
          <a:prstGeom prst="rect">
            <a:avLst/>
          </a:prstGeom>
          <a:solidFill>
            <a:srgbClr val="8E6F3E"/>
          </a:solidFill>
          <a:ln>
            <a:noFill/>
          </a:ln>
        </p:spPr>
        <p:txBody>
          <a:bodyPr wrap="square" lIns="109728" tIns="82296" rIns="109728" bIns="82296" anchor="ctr">
            <a:normAutofit/>
          </a:bodyPr>
          <a:lstStyle/>
          <a:p>
            <a:pPr algn="ctr">
              <a:buNone/>
            </a:pPr>
            <a:r>
              <a:rPr lang="en-US" sz="2600" b="1" i="0" dirty="0">
                <a:solidFill>
                  <a:srgbClr val="FFFFFF"/>
                </a:solidFill>
              </a:rPr>
              <a:t xml:space="preserve">Is the information worth more than it costs to obtain?</a:t>
            </a:r>
          </a:p>
        </p:txBody>
      </p:sp>
      <p:sp>
        <p:nvSpPr>
          <p:cNvPr id="100" name="Uncertain"/>
          <p:cNvSpPr/>
          <p:nvPr/>
        </p:nvSpPr>
        <p:spPr>
          <a:xfrm>
            <a:off x="240000" y="2500000"/>
            <a:ext cx="1540000" cy="700000"/>
          </a:xfrm>
          <a:prstGeom prst="rect">
            <a:avLst/>
          </a:prstGeom>
          <a:solidFill>
            <a:srgbClr val="F5F1E8"/>
          </a:solidFill>
          <a:ln w="12954">
            <a:solidFill>
              <a:srgbClr val="C9B991"/>
            </a:solidFill>
          </a:ln>
        </p:spPr>
        <p:txBody>
          <a:bodyPr wrap="square" lIns="54864" tIns="27432" rIns="54864" bIns="27432" anchor="ctr">
            <a:normAutofit/>
          </a:bodyPr>
          <a:lstStyle/>
          <a:p>
            <a:pPr algn="ctr">
              <a:buNone/>
            </a:pPr>
            <a:r>
              <a:rPr lang="en-US" sz="2300" b="1" i="0" dirty="0">
                <a:solidFill>
                  <a:srgbClr val="5C4826"/>
                </a:solidFill>
              </a:rPr>
              <a:t xml:space="preserve">UNCERTAIN CHOICE</a:t>
            </a:r>
          </a:p>
        </p:txBody>
      </p:sp>
      <p:cxnSp>
        <p:nvCxnSpPr>
          <p:cNvPr id="101" name="A1"/>
          <p:cNvCxnSpPr/>
          <p:nvPr/>
        </p:nvCxnSpPr>
        <p:spPr>
          <a:xfrm>
            <a:off x="1780000" y="2850000"/>
            <a:ext cx="170000" cy="0"/>
          </a:xfrm>
          <a:prstGeom prst="line">
            <a:avLst/>
          </a:prstGeom>
          <a:ln w="19431">
            <a:solidFill>
              <a:srgbClr val="8E6F3E"/>
            </a:solidFill>
            <a:tailEnd type="triangle" w="med" len="med"/>
          </a:ln>
        </p:spPr>
      </p:cxnSp>
      <p:sp>
        <p:nvSpPr>
          <p:cNvPr id="102" name="Diamond"/>
          <p:cNvSpPr/>
          <p:nvPr/>
        </p:nvSpPr>
        <p:spPr>
          <a:xfrm>
            <a:off x="1950000" y="1700000"/>
            <a:ext cx="2700000" cy="2300000"/>
          </a:xfrm>
          <a:prstGeom prst="diamond">
            <a:avLst/>
          </a:prstGeom>
          <a:solidFill>
            <a:srgbClr val="FFFFFF"/>
          </a:solidFill>
          <a:ln w="19431">
            <a:solidFill>
              <a:srgbClr val="8E6F3E"/>
            </a:solidFill>
          </a:ln>
        </p:spPr>
        <p:txBody>
          <a:bodyPr wrap="square" lIns="180000" tIns="180000" rIns="180000" bIns="180000" anchor="ctr">
            <a:normAutofit/>
          </a:bodyPr>
          <a:lstStyle/>
          <a:p>
            <a:pPr algn="ctr">
              <a:buNone/>
            </a:pPr>
            <a:r>
              <a:rPr lang="en-US" sz="2000" b="1" i="0" dirty="0">
                <a:solidFill>
                  <a:srgbClr val="5C4826"/>
                </a:solidFill>
              </a:rPr>
              <a:t xml:space="preserve">Could knowing</a:t>
            </a:r>
          </a:p>
          <a:p>
            <a:pPr algn="ctr">
              <a:spcBef>
                <a:spcPts val="566"/>
              </a:spcBef>
              <a:buNone/>
            </a:pPr>
            <a:r>
              <a:rPr lang="en-US" sz="2000" b="1" i="0" dirty="0">
                <a:solidFill>
                  <a:srgbClr val="5C4826"/>
                </a:solidFill>
              </a:rPr>
              <a:t xml:space="preserve">more change</a:t>
            </a:r>
          </a:p>
          <a:p>
            <a:pPr algn="ctr">
              <a:spcBef>
                <a:spcPts val="566"/>
              </a:spcBef>
              <a:buNone/>
            </a:pPr>
            <a:r>
              <a:rPr lang="en-US" sz="2000" b="1" i="0" dirty="0">
                <a:solidFill>
                  <a:srgbClr val="5C4826"/>
                </a:solidFill>
              </a:rPr>
              <a:t xml:space="preserve">the decision?</a:t>
            </a:r>
          </a:p>
        </p:txBody>
      </p:sp>
      <p:cxnSp>
        <p:nvCxnSpPr>
          <p:cNvPr id="103" name="ANo"/>
          <p:cNvCxnSpPr/>
          <p:nvPr/>
        </p:nvCxnSpPr>
        <p:spPr>
          <a:xfrm>
            <a:off x="3300000" y="4000000"/>
            <a:ext cx="0" cy="450000"/>
          </a:xfrm>
          <a:prstGeom prst="line">
            <a:avLst/>
          </a:prstGeom>
          <a:ln w="19431">
            <a:solidFill>
              <a:srgbClr val="8E6F3E"/>
            </a:solidFill>
            <a:tailEnd type="triangle" w="med" len="med"/>
          </a:ln>
        </p:spPr>
      </p:cxnSp>
      <p:sp>
        <p:nvSpPr>
          <p:cNvPr id="104" name="NoLbl"/>
          <p:cNvSpPr txBox="1"/>
          <p:nvPr/>
        </p:nvSpPr>
        <p:spPr>
          <a:xfrm>
            <a:off x="3390000" y="4060000"/>
            <a:ext cx="600000" cy="330000"/>
          </a:xfrm>
          <a:prstGeom prst="rect">
            <a:avLst/>
          </a:prstGeom>
          <a:noFill/>
          <a:ln>
            <a:noFill/>
          </a:ln>
        </p:spPr>
        <p:txBody>
          <a:bodyPr wrap="square" lIns="0" tIns="0" rIns="0" bIns="0" anchor="t">
            <a:normAutofit/>
          </a:bodyPr>
          <a:lstStyle/>
          <a:p>
            <a:pPr algn="l">
              <a:buNone/>
            </a:pPr>
            <a:r>
              <a:rPr lang="en-US" sz="2000" b="1" i="0" dirty="0">
                <a:solidFill>
                  <a:srgbClr val="555960"/>
                </a:solidFill>
              </a:rPr>
              <a:t xml:space="preserve">NO</a:t>
            </a:r>
          </a:p>
        </p:txBody>
      </p:sp>
      <p:sp>
        <p:nvSpPr>
          <p:cNvPr id="105" name="Decide"/>
          <p:cNvSpPr/>
          <p:nvPr/>
        </p:nvSpPr>
        <p:spPr>
          <a:xfrm>
            <a:off x="2700000" y="4450000"/>
            <a:ext cx="1200000" cy="560000"/>
          </a:xfrm>
          <a:prstGeom prst="rect">
            <a:avLst/>
          </a:prstGeom>
          <a:solidFill>
            <a:srgbClr val="F5F1E8"/>
          </a:solidFill>
          <a:ln w="12954">
            <a:solidFill>
              <a:srgbClr val="C9B991"/>
            </a:solidFill>
          </a:ln>
        </p:spPr>
        <p:txBody>
          <a:bodyPr wrap="square" lIns="54864" tIns="27432" rIns="54864" bIns="27432" anchor="ctr">
            <a:normAutofit/>
          </a:bodyPr>
          <a:lstStyle/>
          <a:p>
            <a:pPr algn="ctr">
              <a:buNone/>
            </a:pPr>
            <a:r>
              <a:rPr lang="en-US" sz="2300" b="1" i="0" dirty="0">
                <a:solidFill>
                  <a:srgbClr val="5C4826"/>
                </a:solidFill>
              </a:rPr>
              <a:t xml:space="preserve">DECIDE</a:t>
            </a:r>
          </a:p>
        </p:txBody>
      </p:sp>
      <p:cxnSp>
        <p:nvCxnSpPr>
          <p:cNvPr id="106" name="AYes"/>
          <p:cNvCxnSpPr/>
          <p:nvPr/>
        </p:nvCxnSpPr>
        <p:spPr>
          <a:xfrm>
            <a:off x="4650000" y="2850000"/>
            <a:ext cx="350000" cy="0"/>
          </a:xfrm>
          <a:prstGeom prst="line">
            <a:avLst/>
          </a:prstGeom>
          <a:ln w="19431">
            <a:solidFill>
              <a:srgbClr val="8E6F3E"/>
            </a:solidFill>
            <a:tailEnd type="triangle" w="med" len="med"/>
          </a:ln>
        </p:spPr>
      </p:cxnSp>
      <p:sp>
        <p:nvSpPr>
          <p:cNvPr id="107" name="YesLbl"/>
          <p:cNvSpPr txBox="1"/>
          <p:nvPr/>
        </p:nvSpPr>
        <p:spPr>
          <a:xfrm>
            <a:off x="4525000" y="2470000"/>
            <a:ext cx="600000" cy="330000"/>
          </a:xfrm>
          <a:prstGeom prst="rect">
            <a:avLst/>
          </a:prstGeom>
          <a:noFill/>
          <a:ln>
            <a:noFill/>
          </a:ln>
        </p:spPr>
        <p:txBody>
          <a:bodyPr wrap="square" lIns="0" tIns="0" rIns="0" bIns="0" anchor="t">
            <a:normAutofit/>
          </a:bodyPr>
          <a:lstStyle/>
          <a:p>
            <a:pPr algn="l">
              <a:buNone/>
            </a:pPr>
            <a:r>
              <a:rPr lang="en-US" sz="2000" b="1" i="0" dirty="0">
                <a:solidFill>
                  <a:srgbClr val="555960"/>
                </a:solidFill>
              </a:rPr>
              <a:t xml:space="preserve">YES</a:t>
            </a:r>
          </a:p>
        </p:txBody>
      </p:sp>
      <p:sp>
        <p:nvSpPr>
          <p:cNvPr id="108" name="BuyEv"/>
          <p:cNvSpPr/>
          <p:nvPr/>
        </p:nvSpPr>
        <p:spPr>
          <a:xfrm>
            <a:off x="4900000" y="2500000"/>
            <a:ext cx="1400000" cy="700000"/>
          </a:xfrm>
          <a:prstGeom prst="rect">
            <a:avLst/>
          </a:prstGeom>
          <a:solidFill>
            <a:srgbClr val="8E6F3E"/>
          </a:solidFill>
          <a:ln>
            <a:noFill/>
          </a:ln>
        </p:spPr>
        <p:txBody>
          <a:bodyPr wrap="square" lIns="54864" tIns="27432" rIns="54864" bIns="27432" anchor="ctr">
            <a:normAutofit/>
          </a:bodyPr>
          <a:lstStyle/>
          <a:p>
            <a:pPr algn="ctr">
              <a:buNone/>
            </a:pPr>
            <a:r>
              <a:rPr lang="en-US" sz="2300" b="1" i="0" dirty="0">
                <a:solidFill>
                  <a:srgbClr val="FFFFFF"/>
                </a:solidFill>
              </a:rPr>
              <a:t xml:space="preserve">BUY EVIDENCE</a:t>
            </a:r>
          </a:p>
        </p:txBody>
      </p:sp>
      <p:sp>
        <p:nvSpPr>
          <p:cNvPr id="109" name="Kid0"/>
          <p:cNvSpPr/>
          <p:nvPr/>
        </p:nvSpPr>
        <p:spPr>
          <a:xfrm>
            <a:off x="6500000" y="1550000"/>
            <a:ext cx="1400000" cy="560000"/>
          </a:xfrm>
          <a:prstGeom prst="rect">
            <a:avLst/>
          </a:prstGeom>
          <a:solidFill>
            <a:srgbClr val="F5F1E8"/>
          </a:solidFill>
          <a:ln w="12954">
            <a:solidFill>
              <a:srgbClr val="C9B991"/>
            </a:solidFill>
          </a:ln>
        </p:spPr>
        <p:txBody>
          <a:bodyPr wrap="square" lIns="54864" tIns="27432" rIns="54864" bIns="27432" anchor="ctr">
            <a:normAutofit/>
          </a:bodyPr>
          <a:lstStyle/>
          <a:p>
            <a:pPr algn="ctr">
              <a:buNone/>
            </a:pPr>
            <a:r>
              <a:rPr lang="en-US" sz="2000" b="1" i="0" dirty="0">
                <a:solidFill>
                  <a:srgbClr val="5C4826"/>
                </a:solidFill>
              </a:rPr>
              <a:t xml:space="preserve">MODEL</a:t>
            </a:r>
          </a:p>
        </p:txBody>
      </p:sp>
      <p:cxnSp>
        <p:nvCxnSpPr>
          <p:cNvPr id="110" name="KA0"/>
          <p:cNvCxnSpPr/>
          <p:nvPr/>
        </p:nvCxnSpPr>
        <p:spPr>
          <a:xfrm flipV="1">
            <a:off x="6300000" y="1830000"/>
            <a:ext cx="200000" cy="1020000"/>
          </a:xfrm>
          <a:prstGeom prst="line">
            <a:avLst/>
          </a:prstGeom>
          <a:ln w="19431">
            <a:solidFill>
              <a:srgbClr val="8E6F3E"/>
            </a:solidFill>
            <a:tailEnd type="triangle" w="med" len="med"/>
          </a:ln>
        </p:spPr>
      </p:cxnSp>
      <p:sp>
        <p:nvSpPr>
          <p:cNvPr id="111" name="Kid1"/>
          <p:cNvSpPr/>
          <p:nvPr/>
        </p:nvSpPr>
        <p:spPr>
          <a:xfrm>
            <a:off x="6500000" y="2570000"/>
            <a:ext cx="1400000" cy="560000"/>
          </a:xfrm>
          <a:prstGeom prst="rect">
            <a:avLst/>
          </a:prstGeom>
          <a:solidFill>
            <a:srgbClr val="F5F1E8"/>
          </a:solidFill>
          <a:ln w="12954">
            <a:solidFill>
              <a:srgbClr val="C9B991"/>
            </a:solidFill>
          </a:ln>
        </p:spPr>
        <p:txBody>
          <a:bodyPr wrap="square" lIns="54864" tIns="27432" rIns="54864" bIns="27432" anchor="ctr">
            <a:normAutofit/>
          </a:bodyPr>
          <a:lstStyle/>
          <a:p>
            <a:pPr algn="ctr">
              <a:buNone/>
            </a:pPr>
            <a:r>
              <a:rPr lang="en-US" sz="2000" b="1" i="0" dirty="0">
                <a:solidFill>
                  <a:srgbClr val="5C4826"/>
                </a:solidFill>
              </a:rPr>
              <a:t xml:space="preserve">PROTOTYPE</a:t>
            </a:r>
          </a:p>
        </p:txBody>
      </p:sp>
      <p:cxnSp>
        <p:nvCxnSpPr>
          <p:cNvPr id="112" name="KA1"/>
          <p:cNvCxnSpPr/>
          <p:nvPr/>
        </p:nvCxnSpPr>
        <p:spPr>
          <a:xfrm>
            <a:off x="6300000" y="2850000"/>
            <a:ext cx="200000" cy="0"/>
          </a:xfrm>
          <a:prstGeom prst="line">
            <a:avLst/>
          </a:prstGeom>
          <a:ln w="19431">
            <a:solidFill>
              <a:srgbClr val="8E6F3E"/>
            </a:solidFill>
            <a:tailEnd type="triangle" w="med" len="med"/>
          </a:ln>
        </p:spPr>
      </p:cxnSp>
      <p:sp>
        <p:nvSpPr>
          <p:cNvPr id="113" name="Kid2"/>
          <p:cNvSpPr/>
          <p:nvPr/>
        </p:nvSpPr>
        <p:spPr>
          <a:xfrm>
            <a:off x="6500000" y="3590000"/>
            <a:ext cx="1400000" cy="560000"/>
          </a:xfrm>
          <a:prstGeom prst="rect">
            <a:avLst/>
          </a:prstGeom>
          <a:solidFill>
            <a:srgbClr val="F5F1E8"/>
          </a:solidFill>
          <a:ln w="12954">
            <a:solidFill>
              <a:srgbClr val="C9B991"/>
            </a:solidFill>
          </a:ln>
        </p:spPr>
        <p:txBody>
          <a:bodyPr wrap="square" lIns="54864" tIns="27432" rIns="54864" bIns="27432" anchor="ctr">
            <a:normAutofit/>
          </a:bodyPr>
          <a:lstStyle/>
          <a:p>
            <a:pPr algn="ctr">
              <a:buNone/>
            </a:pPr>
            <a:r>
              <a:rPr lang="en-US" sz="2000" b="1" i="0" dirty="0">
                <a:solidFill>
                  <a:srgbClr val="5C4826"/>
                </a:solidFill>
              </a:rPr>
              <a:t xml:space="preserve">MEASURE</a:t>
            </a:r>
          </a:p>
        </p:txBody>
      </p:sp>
      <p:cxnSp>
        <p:nvCxnSpPr>
          <p:cNvPr id="114" name="KA2"/>
          <p:cNvCxnSpPr/>
          <p:nvPr/>
        </p:nvCxnSpPr>
        <p:spPr>
          <a:xfrm>
            <a:off x="6300000" y="2850000"/>
            <a:ext cx="200000" cy="1020000"/>
          </a:xfrm>
          <a:prstGeom prst="line">
            <a:avLst/>
          </a:prstGeom>
          <a:ln w="19431">
            <a:solidFill>
              <a:srgbClr val="8E6F3E"/>
            </a:solidFill>
            <a:tailEnd type="triangle" w="med" len="med"/>
          </a:ln>
        </p:spPr>
      </p:cxnSp>
      <p:sp>
        <p:nvSpPr>
          <p:cNvPr id="115" name="DecideBetter"/>
          <p:cNvSpPr/>
          <p:nvPr/>
        </p:nvSpPr>
        <p:spPr>
          <a:xfrm>
            <a:off x="8050000" y="2500000"/>
            <a:ext cx="870000" cy="700000"/>
          </a:xfrm>
          <a:prstGeom prst="rect">
            <a:avLst/>
          </a:prstGeom>
          <a:solidFill>
            <a:srgbClr val="8E6F3E"/>
          </a:solidFill>
          <a:ln>
            <a:noFill/>
          </a:ln>
        </p:spPr>
        <p:txBody>
          <a:bodyPr wrap="square" lIns="54864" tIns="27432" rIns="54864" bIns="27432" anchor="ctr">
            <a:normAutofit/>
          </a:bodyPr>
          <a:lstStyle/>
          <a:p>
            <a:pPr algn="ctr">
              <a:buNone/>
            </a:pPr>
            <a:r>
              <a:rPr lang="en-US" sz="2000" b="1" i="0" dirty="0">
                <a:solidFill>
                  <a:srgbClr val="FFFFFF"/>
                </a:solidFill>
              </a:rPr>
              <a:t xml:space="preserve">DECIDE</a:t>
            </a:r>
          </a:p>
          <a:p>
            <a:pPr algn="ctr">
              <a:spcBef>
                <a:spcPts val="534"/>
              </a:spcBef>
              <a:buNone/>
            </a:pPr>
            <a:r>
              <a:rPr lang="en-US" sz="2000" b="1" i="0" dirty="0">
                <a:solidFill>
                  <a:srgbClr val="FFFFFF"/>
                </a:solidFill>
              </a:rPr>
              <a:t xml:space="preserve">BETTER</a:t>
            </a:r>
          </a:p>
        </p:txBody>
      </p:sp>
      <p:cxnSp>
        <p:nvCxnSpPr>
          <p:cNvPr id="116" name="CA0"/>
          <p:cNvCxnSpPr/>
          <p:nvPr/>
        </p:nvCxnSpPr>
        <p:spPr>
          <a:xfrm>
            <a:off x="7900000" y="1830000"/>
            <a:ext cx="150000" cy="1020000"/>
          </a:xfrm>
          <a:prstGeom prst="line">
            <a:avLst/>
          </a:prstGeom>
          <a:ln w="19431">
            <a:solidFill>
              <a:srgbClr val="8E6F3E"/>
            </a:solidFill>
            <a:tailEnd type="triangle" w="med" len="med"/>
          </a:ln>
        </p:spPr>
      </p:cxnSp>
      <p:cxnSp>
        <p:nvCxnSpPr>
          <p:cNvPr id="117" name="CA1"/>
          <p:cNvCxnSpPr/>
          <p:nvPr/>
        </p:nvCxnSpPr>
        <p:spPr>
          <a:xfrm>
            <a:off x="7900000" y="2850000"/>
            <a:ext cx="150000" cy="0"/>
          </a:xfrm>
          <a:prstGeom prst="line">
            <a:avLst/>
          </a:prstGeom>
          <a:ln w="19431">
            <a:solidFill>
              <a:srgbClr val="8E6F3E"/>
            </a:solidFill>
            <a:tailEnd type="triangle" w="med" len="med"/>
          </a:ln>
        </p:spPr>
      </p:cxnSp>
      <p:cxnSp>
        <p:nvCxnSpPr>
          <p:cNvPr id="118" name="CA2"/>
          <p:cNvCxnSpPr/>
          <p:nvPr/>
        </p:nvCxnSpPr>
        <p:spPr>
          <a:xfrm flipV="1">
            <a:off x="7900000" y="2850000"/>
            <a:ext cx="150000" cy="1020000"/>
          </a:xfrm>
          <a:prstGeom prst="line">
            <a:avLst/>
          </a:prstGeom>
          <a:ln w="19431">
            <a:solidFill>
              <a:srgbClr val="8E6F3E"/>
            </a:solidFill>
            <a:tailEnd type="triangle" w="med" len="med"/>
          </a:ln>
        </p:spPr>
      </p:cxn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a:bodyPr>
          <a:lstStyle/>
          <a:p>
            <a:pPr algn="ctr">
              <a:buNone/>
              <a:defRPr b="0"/>
            </a:pPr>
            <a:r>
              <a:rPr lang="en-US" sz="3600" b="0" i="0" dirty="0">
                <a:solidFill>
                  <a:srgbClr val="000000"/>
                </a:solidFill>
              </a:rPr>
              <a:t xml:space="preserve">How much can we know before we build it?</a:t>
            </a:r>
          </a:p>
        </p:txBody>
      </p:sp>
      <p:sp>
        <p:nvSpPr>
          <p:cNvPr id="3" name="Slide Number Placeholder 2"/>
          <p:cNvSpPr>
            <a:spLocks noGrp="1"/>
          </p:cNvSpPr>
          <p:nvPr>
            <p:ph type="sldNum" sz="quarter" idx="4"/>
          </p:nvPr>
        </p:nvSpPr>
        <p:spPr/>
        <p:txBody>
          <a:bodyPr/>
          <a:lstStyle/>
          <a:p>
            <a:fld id="{B7EB45DA-9A0D-DC49-8E02-F30A5DDC21C3}" type="slidenum">
              <a:rPr lang="en-US" smtClean="0"/>
              <a:t>0</a:t>
            </a:fld>
            <a:endParaRPr lang="en-US"/>
          </a:p>
        </p:txBody>
      </p:sp>
      <p:sp>
        <p:nvSpPr>
          <p:cNvPr id="50" name="T50"/>
          <p:cNvSpPr txBox="1"/>
          <p:nvPr/>
        </p:nvSpPr>
        <p:spPr>
          <a:xfrm>
            <a:off x="685800" y="1737360"/>
            <a:ext cx="7772400" cy="355600"/>
          </a:xfrm>
          <a:prstGeom prst="rect">
            <a:avLst/>
          </a:prstGeom>
          <a:noFill/>
          <a:ln>
            <a:noFill/>
          </a:ln>
        </p:spPr>
        <p:txBody>
          <a:bodyPr wrap="square" lIns="0" tIns="0" rIns="0" bIns="0" anchor="t">
            <a:normAutofit/>
          </a:bodyPr>
          <a:lstStyle/>
          <a:p>
            <a:pPr algn="ctr">
              <a:buNone/>
            </a:pPr>
            <a:r>
              <a:rPr lang="en-US" sz="2200" b="1" i="0" dirty="0">
                <a:solidFill>
                  <a:srgbClr val="8E6F3E"/>
                </a:solidFill>
              </a:rPr>
              <a:t xml:space="preserve">SECTION 4</a:t>
            </a:r>
          </a:p>
        </p:txBody>
      </p:sp>
      <p:sp>
        <p:nvSpPr>
          <p:cNvPr id="51" name="S51"/>
          <p:cNvSpPr/>
          <p:nvPr/>
        </p:nvSpPr>
        <p:spPr>
          <a:xfrm>
            <a:off x="3429000" y="3383280"/>
            <a:ext cx="2286000" cy="50800"/>
          </a:xfrm>
          <a:prstGeom prst="rect">
            <a:avLst/>
          </a:prstGeom>
          <a:solidFill>
            <a:srgbClr val="8E6F3E"/>
          </a:solidFill>
          <a:ln>
            <a:noFill/>
          </a:ln>
        </p:spPr>
        <p:txBody>
          <a:bodyPr wrap="square" lIns="109728" tIns="82296" rIns="109728" bIns="82296" anchor="ctr">
            <a:normAutofit/>
          </a:bodyPr>
          <a:lstStyle/>
          <a:p>
            <a:endParaRPr/>
          </a:p>
        </p:txBody>
      </p:sp>
      <p:sp>
        <p:nvSpPr>
          <p:cNvPr id="52" name="T52"/>
          <p:cNvSpPr txBox="1"/>
          <p:nvPr/>
        </p:nvSpPr>
        <p:spPr>
          <a:xfrm>
            <a:off x="1371600" y="3977640"/>
            <a:ext cx="6400800" cy="1005840"/>
          </a:xfrm>
          <a:prstGeom prst="rect">
            <a:avLst/>
          </a:prstGeom>
          <a:noFill/>
          <a:ln>
            <a:noFill/>
          </a:ln>
        </p:spPr>
        <p:txBody>
          <a:bodyPr wrap="square" lIns="0" tIns="0" rIns="0" bIns="0" anchor="t">
            <a:normAutofit/>
          </a:bodyPr>
          <a:lstStyle/>
          <a:p>
            <a:pPr algn="ctr">
              <a:buNone/>
            </a:pPr>
            <a:r>
              <a:rPr lang="en-US" sz="2800" b="0" i="0" dirty="0">
                <a:solidFill>
                  <a:srgbClr val="555960"/>
                </a:solidFill>
              </a:rPr>
              <a:t xml:space="preserve">Architecture makes some</a:t>
            </a:r>
            <a:br>
              <a:rPr lang="en-US" sz="2800"/>
            </a:br>
            <a:r>
              <a:rPr lang="en-US" sz="2800" b="0" i="0" dirty="0">
                <a:solidFill>
                  <a:srgbClr val="555960"/>
                </a:solidFill>
              </a:rPr>
              <a:t xml:space="preserve">properties analyzable.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 xml:space="preserve">Architecture answers four questions.</a:t>
            </a:r>
          </a:p>
        </p:txBody>
      </p:sp>
      <p:sp>
        <p:nvSpPr>
          <p:cNvPr id="3" name="Slide Number Placeholder 2"/>
          <p:cNvSpPr>
            <a:spLocks noGrp="1"/>
          </p:cNvSpPr>
          <p:nvPr>
            <p:ph type="sldNum" sz="quarter" idx="4"/>
          </p:nvPr>
        </p:nvSpPr>
        <p:spPr/>
        <p:txBody>
          <a:bodyPr/>
          <a:lstStyle/>
          <a:p>
            <a:fld id="{B7EB45DA-9A0D-DC49-8E02-F30A5DDC21C3}" type="slidenum">
              <a:rPr lang="en-US" smtClean="0"/>
              <a:t>0</a:t>
            </a:fld>
            <a:endParaRPr lang="en-US"/>
          </a:p>
        </p:txBody>
      </p:sp>
      <p:sp>
        <p:nvSpPr>
          <p:cNvPr id="100" name="QCard0"/>
          <p:cNvSpPr/>
          <p:nvPr/>
        </p:nvSpPr>
        <p:spPr>
          <a:xfrm>
            <a:off x="258318" y="1250000"/>
            <a:ext cx="4116324" cy="2380000"/>
          </a:xfrm>
          <a:prstGeom prst="rect">
            <a:avLst/>
          </a:prstGeom>
          <a:solidFill>
            <a:srgbClr val="F5F1E8"/>
          </a:solidFill>
          <a:ln w="14097">
            <a:solidFill>
              <a:srgbClr val="C9B991"/>
            </a:solidFill>
          </a:ln>
        </p:spPr>
        <p:txBody>
          <a:bodyPr wrap="square" lIns="54864" tIns="27432" rIns="54864" bIns="27432" anchor="ctr">
            <a:normAutofit/>
          </a:bodyPr>
          <a:lstStyle/>
          <a:p>
            <a:endParaRPr/>
          </a:p>
        </p:txBody>
      </p:sp>
      <p:sp>
        <p:nvSpPr>
          <p:cNvPr id="101" name="QTxt0"/>
          <p:cNvSpPr txBox="1"/>
          <p:nvPr/>
        </p:nvSpPr>
        <p:spPr>
          <a:xfrm>
            <a:off x="424818" y="1426800"/>
            <a:ext cx="3783324" cy="761600"/>
          </a:xfrm>
          <a:prstGeom prst="rect">
            <a:avLst/>
          </a:prstGeom>
          <a:noFill/>
          <a:ln>
            <a:noFill/>
          </a:ln>
        </p:spPr>
        <p:txBody>
          <a:bodyPr wrap="square" lIns="0" tIns="0" rIns="0" bIns="0" anchor="t">
            <a:normAutofit/>
          </a:bodyPr>
          <a:lstStyle/>
          <a:p>
            <a:pPr algn="ctr">
              <a:buNone/>
            </a:pPr>
            <a:r>
              <a:rPr lang="en-US" sz="2700" b="1" i="0" dirty="0">
                <a:solidFill>
                  <a:srgbClr val="5C4826"/>
                </a:solidFill>
              </a:rPr>
              <a:t xml:space="preserve">What are the parts?</a:t>
            </a:r>
          </a:p>
        </p:txBody>
      </p:sp>
      <p:sp>
        <p:nvSpPr>
          <p:cNvPr id="102" name="QCard1"/>
          <p:cNvSpPr/>
          <p:nvPr/>
        </p:nvSpPr>
        <p:spPr>
          <a:xfrm>
            <a:off x="4769358" y="1250000"/>
            <a:ext cx="4116324" cy="2380000"/>
          </a:xfrm>
          <a:prstGeom prst="rect">
            <a:avLst/>
          </a:prstGeom>
          <a:solidFill>
            <a:srgbClr val="F5F1E8"/>
          </a:solidFill>
          <a:ln w="14097">
            <a:solidFill>
              <a:srgbClr val="C9B991"/>
            </a:solidFill>
          </a:ln>
        </p:spPr>
        <p:txBody>
          <a:bodyPr wrap="square" lIns="54864" tIns="27432" rIns="54864" bIns="27432" anchor="ctr">
            <a:normAutofit/>
          </a:bodyPr>
          <a:lstStyle/>
          <a:p>
            <a:endParaRPr/>
          </a:p>
        </p:txBody>
      </p:sp>
      <p:sp>
        <p:nvSpPr>
          <p:cNvPr id="103" name="QTxt1"/>
          <p:cNvSpPr txBox="1"/>
          <p:nvPr/>
        </p:nvSpPr>
        <p:spPr>
          <a:xfrm>
            <a:off x="4935858" y="1426800"/>
            <a:ext cx="3783324" cy="761600"/>
          </a:xfrm>
          <a:prstGeom prst="rect">
            <a:avLst/>
          </a:prstGeom>
          <a:noFill/>
          <a:ln>
            <a:noFill/>
          </a:ln>
        </p:spPr>
        <p:txBody>
          <a:bodyPr wrap="square" lIns="0" tIns="0" rIns="0" bIns="0" anchor="t">
            <a:normAutofit/>
          </a:bodyPr>
          <a:lstStyle/>
          <a:p>
            <a:pPr algn="ctr">
              <a:buNone/>
            </a:pPr>
            <a:r>
              <a:rPr lang="en-US" sz="2700" b="1" i="0" dirty="0">
                <a:solidFill>
                  <a:srgbClr val="5C4826"/>
                </a:solidFill>
              </a:rPr>
              <a:t xml:space="preserve">Where are the boundaries?</a:t>
            </a:r>
          </a:p>
        </p:txBody>
      </p:sp>
      <p:sp>
        <p:nvSpPr>
          <p:cNvPr id="104" name="QCard2"/>
          <p:cNvSpPr/>
          <p:nvPr/>
        </p:nvSpPr>
        <p:spPr>
          <a:xfrm>
            <a:off x="258318" y="3970000"/>
            <a:ext cx="4116324" cy="2380000"/>
          </a:xfrm>
          <a:prstGeom prst="rect">
            <a:avLst/>
          </a:prstGeom>
          <a:solidFill>
            <a:srgbClr val="F5F1E8"/>
          </a:solidFill>
          <a:ln w="14097">
            <a:solidFill>
              <a:srgbClr val="C9B991"/>
            </a:solidFill>
          </a:ln>
        </p:spPr>
        <p:txBody>
          <a:bodyPr wrap="square" lIns="54864" tIns="27432" rIns="54864" bIns="27432" anchor="ctr">
            <a:normAutofit/>
          </a:bodyPr>
          <a:lstStyle/>
          <a:p>
            <a:endParaRPr/>
          </a:p>
        </p:txBody>
      </p:sp>
      <p:sp>
        <p:nvSpPr>
          <p:cNvPr id="105" name="QTxt2"/>
          <p:cNvSpPr txBox="1"/>
          <p:nvPr/>
        </p:nvSpPr>
        <p:spPr>
          <a:xfrm>
            <a:off x="424818" y="4146800"/>
            <a:ext cx="3783324" cy="761600"/>
          </a:xfrm>
          <a:prstGeom prst="rect">
            <a:avLst/>
          </a:prstGeom>
          <a:noFill/>
          <a:ln>
            <a:noFill/>
          </a:ln>
        </p:spPr>
        <p:txBody>
          <a:bodyPr wrap="square" lIns="0" tIns="0" rIns="0" bIns="0" anchor="t">
            <a:normAutofit/>
          </a:bodyPr>
          <a:lstStyle/>
          <a:p>
            <a:pPr algn="ctr">
              <a:buNone/>
            </a:pPr>
            <a:r>
              <a:rPr lang="en-US" sz="2700" b="1" i="0" dirty="0">
                <a:solidFill>
                  <a:srgbClr val="5C4826"/>
                </a:solidFill>
              </a:rPr>
              <a:t xml:space="preserve">How may they interact?</a:t>
            </a:r>
          </a:p>
        </p:txBody>
      </p:sp>
      <p:sp>
        <p:nvSpPr>
          <p:cNvPr id="106" name="QCard3"/>
          <p:cNvSpPr/>
          <p:nvPr/>
        </p:nvSpPr>
        <p:spPr>
          <a:xfrm>
            <a:off x="4769358" y="3970000"/>
            <a:ext cx="4116324" cy="2380000"/>
          </a:xfrm>
          <a:prstGeom prst="rect">
            <a:avLst/>
          </a:prstGeom>
          <a:solidFill>
            <a:srgbClr val="F5F1E8"/>
          </a:solidFill>
          <a:ln w="14097">
            <a:solidFill>
              <a:srgbClr val="C9B991"/>
            </a:solidFill>
          </a:ln>
        </p:spPr>
        <p:txBody>
          <a:bodyPr wrap="square" lIns="54864" tIns="27432" rIns="54864" bIns="27432" anchor="ctr">
            <a:normAutofit/>
          </a:bodyPr>
          <a:lstStyle/>
          <a:p>
            <a:endParaRPr/>
          </a:p>
        </p:txBody>
      </p:sp>
      <p:sp>
        <p:nvSpPr>
          <p:cNvPr id="107" name="QTxt3"/>
          <p:cNvSpPr txBox="1"/>
          <p:nvPr/>
        </p:nvSpPr>
        <p:spPr>
          <a:xfrm>
            <a:off x="4935858" y="4146800"/>
            <a:ext cx="3783324" cy="761600"/>
          </a:xfrm>
          <a:prstGeom prst="rect">
            <a:avLst/>
          </a:prstGeom>
          <a:noFill/>
          <a:ln>
            <a:noFill/>
          </a:ln>
        </p:spPr>
        <p:txBody>
          <a:bodyPr wrap="square" lIns="0" tIns="0" rIns="0" bIns="0" anchor="t">
            <a:normAutofit/>
          </a:bodyPr>
          <a:lstStyle/>
          <a:p>
            <a:pPr algn="ctr">
              <a:buNone/>
            </a:pPr>
            <a:r>
              <a:rPr lang="en-US" sz="2700" b="1" i="0" dirty="0">
                <a:solidFill>
                  <a:srgbClr val="5C4826"/>
                </a:solidFill>
              </a:rPr>
              <a:t xml:space="preserve">What properties must the organization support?</a:t>
            </a:r>
          </a:p>
        </p:txBody>
      </p:sp>
      <p:sp>
        <p:nvSpPr>
          <p:cNvPr id="108" name="G1A"/>
          <p:cNvSpPr/>
          <p:nvPr/>
        </p:nvSpPr>
        <p:spPr>
          <a:xfrm>
            <a:off x="1428480" y="2542000"/>
            <a:ext cx="777000" cy="680000"/>
          </a:xfrm>
          <a:prstGeom prst="rect">
            <a:avLst/>
          </a:prstGeom>
          <a:solidFill>
            <a:srgbClr val="FFFFFF"/>
          </a:solidFill>
          <a:ln w="17621">
            <a:solidFill>
              <a:srgbClr val="8E6F3E"/>
            </a:solidFill>
          </a:ln>
        </p:spPr>
        <p:txBody>
          <a:bodyPr wrap="square" lIns="54864" tIns="27432" rIns="54864" bIns="27432" anchor="ctr">
            <a:normAutofit/>
          </a:bodyPr>
          <a:lstStyle/>
          <a:p>
            <a:pPr algn="ctr">
              <a:buNone/>
            </a:pPr>
            <a:r>
              <a:rPr lang="en-US" sz="2400" b="1" i="0" dirty="0">
                <a:solidFill>
                  <a:srgbClr val="5C4826"/>
                </a:solidFill>
              </a:rPr>
              <a:t xml:space="preserve">A</a:t>
            </a:r>
          </a:p>
        </p:txBody>
      </p:sp>
      <p:sp>
        <p:nvSpPr>
          <p:cNvPr id="109" name="G1B"/>
          <p:cNvSpPr/>
          <p:nvPr/>
        </p:nvSpPr>
        <p:spPr>
          <a:xfrm>
            <a:off x="2427480" y="2542000"/>
            <a:ext cx="777000" cy="680000"/>
          </a:xfrm>
          <a:prstGeom prst="rect">
            <a:avLst/>
          </a:prstGeom>
          <a:solidFill>
            <a:srgbClr val="FFFFFF"/>
          </a:solidFill>
          <a:ln w="17621">
            <a:solidFill>
              <a:srgbClr val="8E6F3E"/>
            </a:solidFill>
          </a:ln>
        </p:spPr>
        <p:txBody>
          <a:bodyPr wrap="square" lIns="54864" tIns="27432" rIns="54864" bIns="27432" anchor="ctr">
            <a:normAutofit/>
          </a:bodyPr>
          <a:lstStyle/>
          <a:p>
            <a:pPr algn="ctr">
              <a:buNone/>
            </a:pPr>
            <a:r>
              <a:rPr lang="en-US" sz="2400" b="1" i="0" dirty="0">
                <a:solidFill>
                  <a:srgbClr val="5C4826"/>
                </a:solidFill>
              </a:rPr>
              <a:t xml:space="preserve">B</a:t>
            </a:r>
          </a:p>
        </p:txBody>
      </p:sp>
      <p:sp>
        <p:nvSpPr>
          <p:cNvPr id="110" name="G2box"/>
          <p:cNvSpPr/>
          <p:nvPr/>
        </p:nvSpPr>
        <p:spPr>
          <a:xfrm>
            <a:off x="5939520" y="2542000"/>
            <a:ext cx="1776000" cy="680000"/>
          </a:xfrm>
          <a:prstGeom prst="rect">
            <a:avLst/>
          </a:prstGeom>
          <a:solidFill>
            <a:srgbClr val="FFFFFF"/>
          </a:solidFill>
          <a:ln w="17621">
            <a:solidFill>
              <a:srgbClr val="8E6F3E"/>
            </a:solidFill>
          </a:ln>
        </p:spPr>
        <p:txBody>
          <a:bodyPr wrap="square" lIns="54864" tIns="27432" rIns="54864" bIns="27432" anchor="ctr">
            <a:normAutofit/>
          </a:bodyPr>
          <a:lstStyle/>
          <a:p>
            <a:endParaRPr/>
          </a:p>
        </p:txBody>
      </p:sp>
      <p:cxnSp>
        <p:nvCxnSpPr>
          <p:cNvPr id="111" name="G2div"/>
          <p:cNvCxnSpPr/>
          <p:nvPr/>
        </p:nvCxnSpPr>
        <p:spPr>
          <a:xfrm>
            <a:off x="6827520" y="2419600"/>
            <a:ext cx="0" cy="924800"/>
          </a:xfrm>
          <a:prstGeom prst="line">
            <a:avLst/>
          </a:prstGeom>
          <a:ln w="31718">
            <a:solidFill>
              <a:srgbClr val="8E6F3E"/>
            </a:solidFill>
            <a:prstDash val="dash"/>
          </a:ln>
        </p:spPr>
      </p:cxnSp>
      <p:sp>
        <p:nvSpPr>
          <p:cNvPr id="112" name="G2A"/>
          <p:cNvSpPr txBox="1"/>
          <p:nvPr/>
        </p:nvSpPr>
        <p:spPr>
          <a:xfrm>
            <a:off x="5939520" y="2691600"/>
            <a:ext cx="888000" cy="408000"/>
          </a:xfrm>
          <a:prstGeom prst="rect">
            <a:avLst/>
          </a:prstGeom>
          <a:noFill/>
          <a:ln>
            <a:noFill/>
          </a:ln>
        </p:spPr>
        <p:txBody>
          <a:bodyPr wrap="square" lIns="0" tIns="0" rIns="0" bIns="0" anchor="t">
            <a:normAutofit/>
          </a:bodyPr>
          <a:lstStyle/>
          <a:p>
            <a:pPr algn="ctr">
              <a:buNone/>
            </a:pPr>
            <a:r>
              <a:rPr lang="en-US" sz="2400" b="1" i="0" dirty="0">
                <a:solidFill>
                  <a:srgbClr val="5C4826"/>
                </a:solidFill>
              </a:rPr>
              <a:t xml:space="preserve">A</a:t>
            </a:r>
          </a:p>
        </p:txBody>
      </p:sp>
      <p:sp>
        <p:nvSpPr>
          <p:cNvPr id="113" name="G2B"/>
          <p:cNvSpPr txBox="1"/>
          <p:nvPr/>
        </p:nvSpPr>
        <p:spPr>
          <a:xfrm>
            <a:off x="6827520" y="2691600"/>
            <a:ext cx="888000" cy="408000"/>
          </a:xfrm>
          <a:prstGeom prst="rect">
            <a:avLst/>
          </a:prstGeom>
          <a:noFill/>
          <a:ln>
            <a:noFill/>
          </a:ln>
        </p:spPr>
        <p:txBody>
          <a:bodyPr wrap="square" lIns="0" tIns="0" rIns="0" bIns="0" anchor="t">
            <a:normAutofit/>
          </a:bodyPr>
          <a:lstStyle/>
          <a:p>
            <a:pPr algn="ctr">
              <a:buNone/>
            </a:pPr>
            <a:r>
              <a:rPr lang="en-US" sz="2400" b="1" i="0" dirty="0">
                <a:solidFill>
                  <a:srgbClr val="5C4826"/>
                </a:solidFill>
              </a:rPr>
              <a:t xml:space="preserve">B</a:t>
            </a:r>
          </a:p>
        </p:txBody>
      </p:sp>
      <p:sp>
        <p:nvSpPr>
          <p:cNvPr id="114" name="G3A"/>
          <p:cNvSpPr/>
          <p:nvPr/>
        </p:nvSpPr>
        <p:spPr>
          <a:xfrm>
            <a:off x="1206480" y="5262000"/>
            <a:ext cx="777000" cy="680000"/>
          </a:xfrm>
          <a:prstGeom prst="rect">
            <a:avLst/>
          </a:prstGeom>
          <a:solidFill>
            <a:srgbClr val="FFFFFF"/>
          </a:solidFill>
          <a:ln w="17621">
            <a:solidFill>
              <a:srgbClr val="8E6F3E"/>
            </a:solidFill>
          </a:ln>
        </p:spPr>
        <p:txBody>
          <a:bodyPr wrap="square" lIns="54864" tIns="27432" rIns="54864" bIns="27432" anchor="ctr">
            <a:normAutofit/>
          </a:bodyPr>
          <a:lstStyle/>
          <a:p>
            <a:pPr algn="ctr">
              <a:buNone/>
            </a:pPr>
            <a:r>
              <a:rPr lang="en-US" sz="2400" b="1" i="0" dirty="0">
                <a:solidFill>
                  <a:srgbClr val="5C4826"/>
                </a:solidFill>
              </a:rPr>
              <a:t xml:space="preserve">A</a:t>
            </a:r>
          </a:p>
        </p:txBody>
      </p:sp>
      <p:sp>
        <p:nvSpPr>
          <p:cNvPr id="115" name="G3B"/>
          <p:cNvSpPr/>
          <p:nvPr/>
        </p:nvSpPr>
        <p:spPr>
          <a:xfrm>
            <a:off x="2649480" y="5262000"/>
            <a:ext cx="777000" cy="680000"/>
          </a:xfrm>
          <a:prstGeom prst="rect">
            <a:avLst/>
          </a:prstGeom>
          <a:solidFill>
            <a:srgbClr val="FFFFFF"/>
          </a:solidFill>
          <a:ln w="17621">
            <a:solidFill>
              <a:srgbClr val="8E6F3E"/>
            </a:solidFill>
          </a:ln>
        </p:spPr>
        <p:txBody>
          <a:bodyPr wrap="square" lIns="54864" tIns="27432" rIns="54864" bIns="27432" anchor="ctr">
            <a:normAutofit/>
          </a:bodyPr>
          <a:lstStyle/>
          <a:p>
            <a:pPr algn="ctr">
              <a:buNone/>
            </a:pPr>
            <a:r>
              <a:rPr lang="en-US" sz="2400" b="1" i="0" dirty="0">
                <a:solidFill>
                  <a:srgbClr val="5C4826"/>
                </a:solidFill>
              </a:rPr>
              <a:t xml:space="preserve">B</a:t>
            </a:r>
          </a:p>
        </p:txBody>
      </p:sp>
      <p:cxnSp>
        <p:nvCxnSpPr>
          <p:cNvPr id="116" name="G3arw"/>
          <p:cNvCxnSpPr/>
          <p:nvPr/>
        </p:nvCxnSpPr>
        <p:spPr>
          <a:xfrm>
            <a:off x="1983480" y="5602000"/>
            <a:ext cx="666000" cy="0"/>
          </a:xfrm>
          <a:prstGeom prst="line">
            <a:avLst/>
          </a:prstGeom>
          <a:ln w="28194">
            <a:solidFill>
              <a:srgbClr val="8E6F3E"/>
            </a:solidFill>
            <a:tailEnd type="triangle" w="med" len="med"/>
          </a:ln>
        </p:spPr>
      </p:cxnSp>
      <p:sp>
        <p:nvSpPr>
          <p:cNvPr id="117" name="G4clock"/>
          <p:cNvSpPr/>
          <p:nvPr/>
        </p:nvSpPr>
        <p:spPr>
          <a:xfrm>
            <a:off x="5095920" y="5287300"/>
            <a:ext cx="466200" cy="466200"/>
          </a:xfrm>
          <a:prstGeom prst="ellipse">
            <a:avLst/>
          </a:prstGeom>
          <a:noFill/>
          <a:ln w="28194">
            <a:solidFill>
              <a:srgbClr val="8E6F3E"/>
            </a:solidFill>
          </a:ln>
        </p:spPr>
        <p:txBody>
          <a:bodyPr wrap="square" lIns="54864" tIns="27432" rIns="54864" bIns="27432" anchor="ctr">
            <a:normAutofit/>
          </a:bodyPr>
          <a:lstStyle/>
          <a:p>
            <a:endParaRPr/>
          </a:p>
        </p:txBody>
      </p:sp>
      <p:cxnSp>
        <p:nvCxnSpPr>
          <p:cNvPr id="118" name="G4h1"/>
          <p:cNvCxnSpPr/>
          <p:nvPr/>
        </p:nvCxnSpPr>
        <p:spPr>
          <a:xfrm flipV="1">
            <a:off x="5329020" y="5372200"/>
            <a:ext cx="0" cy="133200"/>
          </a:xfrm>
          <a:prstGeom prst="line">
            <a:avLst/>
          </a:prstGeom>
          <a:ln w="21146">
            <a:solidFill>
              <a:srgbClr val="8E6F3E"/>
            </a:solidFill>
          </a:ln>
        </p:spPr>
      </p:cxnSp>
      <p:cxnSp>
        <p:nvCxnSpPr>
          <p:cNvPr id="119" name="G4h2"/>
          <p:cNvCxnSpPr/>
          <p:nvPr/>
        </p:nvCxnSpPr>
        <p:spPr>
          <a:xfrm>
            <a:off x="5329020" y="5520400"/>
            <a:ext cx="111000" cy="0"/>
          </a:xfrm>
          <a:prstGeom prst="line">
            <a:avLst/>
          </a:prstGeom>
          <a:ln w="21146">
            <a:solidFill>
              <a:srgbClr val="8E6F3E"/>
            </a:solidFill>
          </a:ln>
        </p:spPr>
      </p:cxnSp>
      <p:sp>
        <p:nvSpPr>
          <p:cNvPr id="120" name="G4shackle"/>
          <p:cNvSpPr/>
          <p:nvPr/>
        </p:nvSpPr>
        <p:spPr>
          <a:xfrm>
            <a:off x="6050520" y="5267300"/>
            <a:ext cx="288600" cy="288600"/>
          </a:xfrm>
          <a:prstGeom prst="ellipse">
            <a:avLst/>
          </a:prstGeom>
          <a:noFill/>
          <a:ln w="28194">
            <a:solidFill>
              <a:srgbClr val="8E6F3E"/>
            </a:solidFill>
          </a:ln>
        </p:spPr>
        <p:txBody>
          <a:bodyPr wrap="square" lIns="54864" tIns="27432" rIns="54864" bIns="27432" anchor="ctr">
            <a:normAutofit/>
          </a:bodyPr>
          <a:lstStyle/>
          <a:p>
            <a:endParaRPr/>
          </a:p>
        </p:txBody>
      </p:sp>
      <p:sp>
        <p:nvSpPr>
          <p:cNvPr id="121" name="G4lockbody"/>
          <p:cNvSpPr/>
          <p:nvPr/>
        </p:nvSpPr>
        <p:spPr>
          <a:xfrm>
            <a:off x="5961720" y="5487400"/>
            <a:ext cx="466200" cy="310800"/>
          </a:xfrm>
          <a:prstGeom prst="roundRect">
            <a:avLst/>
          </a:prstGeom>
          <a:solidFill>
            <a:srgbClr val="FFFFFF"/>
          </a:solidFill>
          <a:ln w="28194">
            <a:solidFill>
              <a:srgbClr val="8E6F3E"/>
            </a:solidFill>
          </a:ln>
        </p:spPr>
        <p:txBody>
          <a:bodyPr wrap="square" lIns="54864" tIns="27432" rIns="54864" bIns="27432" anchor="ctr">
            <a:normAutofit/>
          </a:bodyPr>
          <a:lstStyle/>
          <a:p>
            <a:endParaRPr/>
          </a:p>
        </p:txBody>
      </p:sp>
      <p:sp>
        <p:nvSpPr>
          <p:cNvPr id="122" name="G4cycle"/>
          <p:cNvSpPr/>
          <p:nvPr/>
        </p:nvSpPr>
        <p:spPr>
          <a:xfrm>
            <a:off x="6871920" y="5287300"/>
            <a:ext cx="466200" cy="466200"/>
          </a:xfrm>
          <a:prstGeom prst="circularArrow">
            <a:avLst/>
          </a:prstGeom>
          <a:solidFill>
            <a:srgbClr val="8E6F3E"/>
          </a:solidFill>
          <a:ln>
            <a:noFill/>
          </a:ln>
        </p:spPr>
        <p:txBody>
          <a:bodyPr wrap="square" lIns="54864" tIns="27432" rIns="54864" bIns="27432" anchor="ctr">
            <a:normAutofit/>
          </a:bodyPr>
          <a:lstStyle/>
          <a:p>
            <a:endParaRPr/>
          </a:p>
        </p:txBody>
      </p:sp>
      <p:sp>
        <p:nvSpPr>
          <p:cNvPr id="123" name="G4bang"/>
          <p:cNvSpPr/>
          <p:nvPr/>
        </p:nvSpPr>
        <p:spPr>
          <a:xfrm>
            <a:off x="7759920" y="5262600"/>
            <a:ext cx="466200" cy="488400"/>
          </a:xfrm>
          <a:prstGeom prst="triangle">
            <a:avLst/>
          </a:prstGeom>
          <a:noFill/>
          <a:ln w="28194">
            <a:solidFill>
              <a:srgbClr val="8E6F3E"/>
            </a:solidFill>
          </a:ln>
        </p:spPr>
        <p:txBody>
          <a:bodyPr wrap="square" lIns="0" tIns="120000" rIns="0" bIns="0" anchor="ctr">
            <a:normAutofit/>
          </a:bodyPr>
          <a:lstStyle/>
          <a:p>
            <a:endParaRPr/>
          </a:p>
        </p:txBody>
      </p:sp>
      <p:sp>
        <p:nvSpPr>
          <p:cNvPr id="124" name="G4cap"/>
          <p:cNvSpPr txBox="1"/>
          <p:nvPr/>
        </p:nvSpPr>
        <p:spPr>
          <a:xfrm>
            <a:off x="4991358" y="5942000"/>
            <a:ext cx="3672324" cy="353600"/>
          </a:xfrm>
          <a:prstGeom prst="rect">
            <a:avLst/>
          </a:prstGeom>
          <a:noFill/>
          <a:ln>
            <a:noFill/>
          </a:ln>
        </p:spPr>
        <p:txBody>
          <a:bodyPr wrap="square" lIns="0" tIns="0" rIns="0" bIns="0" anchor="t">
            <a:normAutofit/>
          </a:bodyPr>
          <a:lstStyle/>
          <a:p>
            <a:pPr algn="ctr">
              <a:buNone/>
            </a:pPr>
            <a:r>
              <a:rPr lang="en-US" sz="2400" b="0" i="1" dirty="0">
                <a:solidFill>
                  <a:srgbClr val="555960"/>
                </a:solidFill>
              </a:rPr>
              <a:t xml:space="preserve">latency · security · change · failure</a:t>
            </a:r>
          </a:p>
        </p:txBody>
      </p:sp>
      <p:sp>
        <p:nvSpPr>
          <p:cNvPr id="140" name="G4bangTxt"/>
          <p:cNvSpPr txBox="1"/>
          <p:nvPr/>
        </p:nvSpPr>
        <p:spPr>
          <a:xfrm>
            <a:off x="7759920" y="5484900"/>
            <a:ext cx="466200" cy="288600"/>
          </a:xfrm>
          <a:prstGeom prst="rect">
            <a:avLst/>
          </a:prstGeom>
          <a:noFill/>
          <a:ln>
            <a:noFill/>
          </a:ln>
        </p:spPr>
        <p:txBody>
          <a:bodyPr wrap="square" lIns="0" tIns="0" rIns="0" bIns="0" anchor="ctr">
            <a:normAutofit/>
          </a:bodyPr>
          <a:lstStyle/>
          <a:p>
            <a:pPr algn="ctr">
              <a:buNone/>
            </a:pPr>
            <a:r>
              <a:rPr lang="en-US" sz="2400" b="1" i="0" dirty="0">
                <a:solidFill>
                  <a:srgbClr val="8E6F3E"/>
                </a:solidFill>
              </a:rPr>
              <a:t xml:space="preserve">!</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600" b="0" i="0" dirty="0">
                <a:solidFill>
                  <a:srgbClr val="000000"/>
                </a:solidFill>
              </a:rPr>
              <a:t xml:space="preserve">Patterns give us alternatives—and expectations about their consequences.</a:t>
            </a:r>
          </a:p>
        </p:txBody>
      </p:sp>
      <p:sp>
        <p:nvSpPr>
          <p:cNvPr id="3" name="Slide Number Placeholder 2"/>
          <p:cNvSpPr>
            <a:spLocks noGrp="1"/>
          </p:cNvSpPr>
          <p:nvPr>
            <p:ph type="sldNum" sz="quarter" idx="4"/>
          </p:nvPr>
        </p:nvSpPr>
        <p:spPr/>
        <p:txBody>
          <a:bodyPr/>
          <a:lstStyle/>
          <a:p>
            <a:fld id="{B7EB45DA-9A0D-DC49-8E02-F30A5DDC21C3}" type="slidenum">
              <a:rPr lang="en-US" smtClean="0"/>
              <a:t>0</a:t>
            </a:fld>
            <a:endParaRPr lang="en-US"/>
          </a:p>
        </p:txBody>
      </p:sp>
      <p:sp>
        <p:nvSpPr>
          <p:cNvPr id="61" name="Band61"/>
          <p:cNvSpPr/>
          <p:nvPr/>
        </p:nvSpPr>
        <p:spPr>
          <a:xfrm>
            <a:off x="279400" y="4900000"/>
            <a:ext cx="8585200" cy="750000"/>
          </a:xfrm>
          <a:prstGeom prst="rect">
            <a:avLst/>
          </a:prstGeom>
          <a:solidFill>
            <a:srgbClr val="8E6F3E"/>
          </a:solidFill>
          <a:ln>
            <a:noFill/>
          </a:ln>
        </p:spPr>
        <p:txBody>
          <a:bodyPr wrap="square" lIns="109728" tIns="82296" rIns="109728" bIns="82296" anchor="ctr">
            <a:normAutofit/>
          </a:bodyPr>
          <a:lstStyle/>
          <a:p>
            <a:pPr algn="ctr">
              <a:buNone/>
            </a:pPr>
            <a:r>
              <a:rPr lang="en-US" sz="2600" b="1" i="0" dirty="0">
                <a:solidFill>
                  <a:srgbClr val="FFFFFF"/>
                </a:solidFill>
              </a:rPr>
              <a:t xml:space="preserve">These are rules of thumb, not guarantees.</a:t>
            </a:r>
          </a:p>
        </p:txBody>
      </p:sp>
      <p:sp>
        <p:nvSpPr>
          <p:cNvPr id="100" name="PastExp"/>
          <p:cNvSpPr/>
          <p:nvPr/>
        </p:nvSpPr>
        <p:spPr>
          <a:xfrm>
            <a:off x="571437" y="1980000"/>
            <a:ext cx="2163000" cy="1450000"/>
          </a:xfrm>
          <a:prstGeom prst="rect">
            <a:avLst/>
          </a:prstGeom>
          <a:solidFill>
            <a:srgbClr val="F5F1E8"/>
          </a:solidFill>
          <a:ln w="13081">
            <a:solidFill>
              <a:srgbClr val="C9B991"/>
            </a:solidFill>
          </a:ln>
        </p:spPr>
        <p:txBody>
          <a:bodyPr wrap="square" lIns="54864" tIns="27432" rIns="54864" bIns="27432" anchor="ctr">
            <a:normAutofit/>
          </a:bodyPr>
          <a:lstStyle/>
          <a:p>
            <a:pPr algn="ctr">
              <a:buNone/>
            </a:pPr>
            <a:r>
              <a:rPr lang="en-US" sz="2300" b="1" i="0" dirty="0">
                <a:solidFill>
                  <a:srgbClr val="5C4826"/>
                </a:solidFill>
              </a:rPr>
              <a:t xml:space="preserve">PAST ENGINEERING</a:t>
            </a:r>
          </a:p>
          <a:p>
            <a:pPr algn="ctr">
              <a:spcBef>
                <a:spcPts val="555"/>
              </a:spcBef>
              <a:buNone/>
            </a:pPr>
            <a:r>
              <a:rPr lang="en-US" sz="2300" b="1" i="0" dirty="0">
                <a:solidFill>
                  <a:srgbClr val="5C4826"/>
                </a:solidFill>
              </a:rPr>
              <a:t xml:space="preserve">EXPERIENCE</a:t>
            </a:r>
          </a:p>
          <a:p>
            <a:pPr algn="ctr">
              <a:spcBef>
                <a:spcPts val="555"/>
              </a:spcBef>
              <a:buNone/>
            </a:pPr>
            <a:r>
              <a:rPr lang="en-US" sz="2000" b="0" i="1" dirty="0">
                <a:solidFill>
                  <a:srgbClr val="555960"/>
                </a:solidFill>
              </a:rPr>
              <a:t xml:space="preserve">a recurring problem</a:t>
            </a:r>
          </a:p>
        </p:txBody>
      </p:sp>
      <p:cxnSp>
        <p:nvCxnSpPr>
          <p:cNvPr id="101" name="A1"/>
          <p:cNvCxnSpPr/>
          <p:nvPr/>
        </p:nvCxnSpPr>
        <p:spPr>
          <a:xfrm>
            <a:off x="2734437" y="2705000"/>
            <a:ext cx="581126" cy="0"/>
          </a:xfrm>
          <a:prstGeom prst="line">
            <a:avLst/>
          </a:prstGeom>
          <a:ln w="19622">
            <a:solidFill>
              <a:srgbClr val="8E6F3E"/>
            </a:solidFill>
            <a:tailEnd type="triangle" w="med" len="med"/>
          </a:ln>
        </p:spPr>
      </p:cxnSp>
      <p:sp>
        <p:nvSpPr>
          <p:cNvPr id="102" name="Pattern"/>
          <p:cNvSpPr/>
          <p:nvPr/>
        </p:nvSpPr>
        <p:spPr>
          <a:xfrm>
            <a:off x="3315563" y="2197500"/>
            <a:ext cx="1751000" cy="1015000"/>
          </a:xfrm>
          <a:prstGeom prst="rect">
            <a:avLst/>
          </a:prstGeom>
          <a:solidFill>
            <a:srgbClr val="8E6F3E"/>
          </a:solidFill>
          <a:ln>
            <a:noFill/>
          </a:ln>
        </p:spPr>
        <p:txBody>
          <a:bodyPr wrap="square" lIns="54864" tIns="27432" rIns="54864" bIns="27432" anchor="ctr">
            <a:normAutofit/>
          </a:bodyPr>
          <a:lstStyle/>
          <a:p>
            <a:pPr algn="ctr">
              <a:buNone/>
            </a:pPr>
            <a:r>
              <a:rPr lang="en-US" sz="3000" b="1" i="0" dirty="0">
                <a:solidFill>
                  <a:srgbClr val="FFFFFF"/>
                </a:solidFill>
              </a:rPr>
              <a:t xml:space="preserve">PATTERN</a:t>
            </a:r>
          </a:p>
        </p:txBody>
      </p:sp>
      <p:sp>
        <p:nvSpPr>
          <p:cNvPr id="103" name="Org"/>
          <p:cNvSpPr/>
          <p:nvPr/>
        </p:nvSpPr>
        <p:spPr>
          <a:xfrm>
            <a:off x="6045063" y="1110000"/>
            <a:ext cx="2523500" cy="1450000"/>
          </a:xfrm>
          <a:prstGeom prst="rect">
            <a:avLst/>
          </a:prstGeom>
          <a:solidFill>
            <a:srgbClr val="F5F1E8"/>
          </a:solidFill>
          <a:ln w="13081">
            <a:solidFill>
              <a:srgbClr val="C9B991"/>
            </a:solidFill>
          </a:ln>
        </p:spPr>
        <p:txBody>
          <a:bodyPr wrap="square" lIns="54864" tIns="27432" rIns="54864" bIns="27432" anchor="ctr">
            <a:normAutofit/>
          </a:bodyPr>
          <a:lstStyle/>
          <a:p>
            <a:pPr algn="ctr">
              <a:buNone/>
            </a:pPr>
            <a:r>
              <a:rPr lang="en-US" sz="2400" b="1" i="0" dirty="0">
                <a:solidFill>
                  <a:srgbClr val="5C4826"/>
                </a:solidFill>
              </a:rPr>
              <a:t xml:space="preserve">ORGANIZATION</a:t>
            </a:r>
          </a:p>
          <a:p>
            <a:pPr algn="ctr">
              <a:spcBef>
                <a:spcPts val="555"/>
              </a:spcBef>
              <a:buNone/>
            </a:pPr>
            <a:r>
              <a:rPr lang="en-US" sz="2000" b="0" i="1" dirty="0">
                <a:solidFill>
                  <a:srgbClr val="555960"/>
                </a:solidFill>
              </a:rPr>
              <a:t xml:space="preserve">“try organizing it this way”</a:t>
            </a:r>
          </a:p>
        </p:txBody>
      </p:sp>
      <p:sp>
        <p:nvSpPr>
          <p:cNvPr id="104" name="ExpProp"/>
          <p:cNvSpPr/>
          <p:nvPr/>
        </p:nvSpPr>
        <p:spPr>
          <a:xfrm>
            <a:off x="6045063" y="3140000"/>
            <a:ext cx="2523500" cy="1450000"/>
          </a:xfrm>
          <a:prstGeom prst="rect">
            <a:avLst/>
          </a:prstGeom>
          <a:solidFill>
            <a:srgbClr val="F5F1E8"/>
          </a:solidFill>
          <a:ln w="13081">
            <a:solidFill>
              <a:srgbClr val="C9B991"/>
            </a:solidFill>
          </a:ln>
        </p:spPr>
        <p:txBody>
          <a:bodyPr wrap="square" lIns="54864" tIns="27432" rIns="54864" bIns="27432" anchor="ctr">
            <a:normAutofit/>
          </a:bodyPr>
          <a:lstStyle/>
          <a:p>
            <a:pPr algn="ctr">
              <a:buNone/>
            </a:pPr>
            <a:r>
              <a:rPr lang="en-US" sz="2400" b="1" i="0" dirty="0">
                <a:solidFill>
                  <a:srgbClr val="5C4826"/>
                </a:solidFill>
              </a:rPr>
              <a:t xml:space="preserve">EXPECTED PROPERTIES</a:t>
            </a:r>
          </a:p>
          <a:p>
            <a:pPr algn="ctr">
              <a:spcBef>
                <a:spcPts val="555"/>
              </a:spcBef>
              <a:buNone/>
            </a:pPr>
            <a:r>
              <a:rPr lang="en-US" sz="2000" b="0" i="1" dirty="0">
                <a:solidFill>
                  <a:srgbClr val="555960"/>
                </a:solidFill>
              </a:rPr>
              <a:t xml:space="preserve">“tends to make X easier</a:t>
            </a:r>
          </a:p>
          <a:p>
            <a:pPr algn="ctr">
              <a:spcBef>
                <a:spcPts val="555"/>
              </a:spcBef>
              <a:buNone/>
            </a:pPr>
            <a:r>
              <a:rPr lang="en-US" sz="2000" b="0" i="1" dirty="0">
                <a:solidFill>
                  <a:srgbClr val="555960"/>
                </a:solidFill>
              </a:rPr>
              <a:t xml:space="preserve">and Y harder”</a:t>
            </a:r>
          </a:p>
        </p:txBody>
      </p:sp>
      <p:cxnSp>
        <p:nvCxnSpPr>
          <p:cNvPr id="105" name="A2"/>
          <p:cNvCxnSpPr/>
          <p:nvPr/>
        </p:nvCxnSpPr>
        <p:spPr>
          <a:xfrm flipV="1">
            <a:off x="5066563" y="1835000"/>
            <a:ext cx="978500" cy="652500"/>
          </a:xfrm>
          <a:prstGeom prst="line">
            <a:avLst/>
          </a:prstGeom>
          <a:ln w="19622">
            <a:solidFill>
              <a:srgbClr val="8E6F3E"/>
            </a:solidFill>
            <a:tailEnd type="triangle" w="med" len="med"/>
          </a:ln>
        </p:spPr>
      </p:cxnSp>
      <p:cxnSp>
        <p:nvCxnSpPr>
          <p:cNvPr id="106" name="A3"/>
          <p:cNvCxnSpPr/>
          <p:nvPr/>
        </p:nvCxnSpPr>
        <p:spPr>
          <a:xfrm>
            <a:off x="5066563" y="2922500"/>
            <a:ext cx="978500" cy="942500"/>
          </a:xfrm>
          <a:prstGeom prst="line">
            <a:avLst/>
          </a:prstGeom>
          <a:ln w="19622">
            <a:solidFill>
              <a:srgbClr val="8E6F3E"/>
            </a:solidFill>
            <a:tailEnd type="triangle" w="med" len="med"/>
          </a:ln>
        </p:spPr>
      </p:cxn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 xml:space="preserve">MVC: separate model, view, and interaction logic.</a:t>
            </a:r>
          </a:p>
        </p:txBody>
      </p:sp>
      <p:sp>
        <p:nvSpPr>
          <p:cNvPr id="3" name="Slide Number Placeholder 2"/>
          <p:cNvSpPr>
            <a:spLocks noGrp="1"/>
          </p:cNvSpPr>
          <p:nvPr>
            <p:ph type="sldNum" sz="quarter" idx="4"/>
          </p:nvPr>
        </p:nvSpPr>
        <p:spPr/>
        <p:txBody>
          <a:bodyPr/>
          <a:lstStyle/>
          <a:p>
            <a:fld id="{B7EB45DA-9A0D-DC49-8E02-F30A5DDC21C3}" type="slidenum">
              <a:rPr lang="en-US" smtClean="0"/>
              <a:t>0</a:t>
            </a:fld>
            <a:endParaRPr lang="en-US"/>
          </a:p>
        </p:txBody>
      </p:sp>
      <p:sp>
        <p:nvSpPr>
          <p:cNvPr id="61" name="T61"/>
          <p:cNvSpPr txBox="1"/>
          <p:nvPr/>
        </p:nvSpPr>
        <p:spPr>
          <a:xfrm>
            <a:off x="685800" y="4830000"/>
            <a:ext cx="7772400" cy="900000"/>
          </a:xfrm>
          <a:prstGeom prst="rect">
            <a:avLst/>
          </a:prstGeom>
          <a:noFill/>
          <a:ln>
            <a:noFill/>
          </a:ln>
        </p:spPr>
        <p:txBody>
          <a:bodyPr wrap="square" lIns="0" tIns="0" rIns="0" bIns="0" anchor="t">
            <a:normAutofit/>
          </a:bodyPr>
          <a:lstStyle/>
          <a:p>
            <a:pPr algn="ctr">
              <a:buNone/>
            </a:pPr>
            <a:r>
              <a:rPr lang="en-US" sz="2400" b="1" i="0" dirty="0">
                <a:solidFill>
                  <a:srgbClr val="000000"/>
                </a:solidFill>
              </a:rPr>
              <a:t xml:space="preserve">Expected tradeoff: </a:t>
            </a:r>
            <a:r>
              <a:rPr lang="en-US" sz="2400" b="0" i="1" dirty="0">
                <a:solidFill>
                  <a:srgbClr val="000000"/>
                </a:solidFill>
              </a:rPr>
              <a:t xml:space="preserve">multiple presentations and independent evolution — vs. coordination and indirection.</a:t>
            </a:r>
          </a:p>
        </p:txBody>
      </p:sp>
      <p:sp>
        <p:nvSpPr>
          <p:cNvPr id="100" name="User"/>
          <p:cNvSpPr/>
          <p:nvPr/>
        </p:nvSpPr>
        <p:spPr>
          <a:xfrm>
            <a:off x="480000" y="2414000"/>
            <a:ext cx="2240000" cy="992000"/>
          </a:xfrm>
          <a:prstGeom prst="rect">
            <a:avLst/>
          </a:prstGeom>
          <a:solidFill>
            <a:srgbClr val="FFFFFF"/>
          </a:solidFill>
          <a:ln w="15875">
            <a:solidFill>
              <a:srgbClr val="C9B991"/>
            </a:solidFill>
          </a:ln>
        </p:spPr>
        <p:txBody>
          <a:bodyPr wrap="square" lIns="54864" tIns="27432" rIns="54864" bIns="27432" anchor="ctr">
            <a:normAutofit/>
          </a:bodyPr>
          <a:lstStyle/>
          <a:p>
            <a:pPr algn="ctr">
              <a:buNone/>
            </a:pPr>
            <a:r>
              <a:rPr lang="en-US" sz="2600" b="1" i="0" dirty="0">
                <a:solidFill>
                  <a:srgbClr val="5C4826"/>
                </a:solidFill>
              </a:rPr>
              <a:t xml:space="preserve">USER</a:t>
            </a:r>
          </a:p>
        </p:txBody>
      </p:sp>
      <p:sp>
        <p:nvSpPr>
          <p:cNvPr id="101" name="Controller"/>
          <p:cNvSpPr/>
          <p:nvPr/>
        </p:nvSpPr>
        <p:spPr>
          <a:xfrm>
            <a:off x="3230000" y="1314000"/>
            <a:ext cx="3040000" cy="992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2600" b="1" i="0" dirty="0">
                <a:solidFill>
                  <a:srgbClr val="5C4826"/>
                </a:solidFill>
              </a:rPr>
              <a:t xml:space="preserve">CONTROLLER</a:t>
            </a:r>
          </a:p>
        </p:txBody>
      </p:sp>
      <p:sp>
        <p:nvSpPr>
          <p:cNvPr id="102" name="Model"/>
          <p:cNvSpPr/>
          <p:nvPr/>
        </p:nvSpPr>
        <p:spPr>
          <a:xfrm>
            <a:off x="6450000" y="2414000"/>
            <a:ext cx="2400000" cy="992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2600" b="1" i="0" dirty="0">
                <a:solidFill>
                  <a:srgbClr val="5C4826"/>
                </a:solidFill>
              </a:rPr>
              <a:t xml:space="preserve">MODEL</a:t>
            </a:r>
          </a:p>
        </p:txBody>
      </p:sp>
      <p:sp>
        <p:nvSpPr>
          <p:cNvPr id="103" name="View"/>
          <p:cNvSpPr/>
          <p:nvPr/>
        </p:nvSpPr>
        <p:spPr>
          <a:xfrm>
            <a:off x="3230000" y="3564000"/>
            <a:ext cx="3040000" cy="992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2600" b="1" i="0" dirty="0">
                <a:solidFill>
                  <a:srgbClr val="5C4826"/>
                </a:solidFill>
              </a:rPr>
              <a:t xml:space="preserve">VIEW</a:t>
            </a:r>
          </a:p>
        </p:txBody>
      </p:sp>
      <p:cxnSp>
        <p:nvCxnSpPr>
          <p:cNvPr id="104" name="UC"/>
          <p:cNvCxnSpPr/>
          <p:nvPr/>
        </p:nvCxnSpPr>
        <p:spPr>
          <a:xfrm flipV="1">
            <a:off x="2400000" y="1810000"/>
            <a:ext cx="830000" cy="790000"/>
          </a:xfrm>
          <a:prstGeom prst="line">
            <a:avLst/>
          </a:prstGeom>
          <a:ln w="19050">
            <a:solidFill>
              <a:srgbClr val="8E6F3E"/>
            </a:solidFill>
            <a:tailEnd type="triangle" w="med" len="med"/>
          </a:ln>
        </p:spPr>
      </p:cxnSp>
      <p:cxnSp>
        <p:nvCxnSpPr>
          <p:cNvPr id="105" name="CM"/>
          <p:cNvCxnSpPr/>
          <p:nvPr/>
        </p:nvCxnSpPr>
        <p:spPr>
          <a:xfrm>
            <a:off x="6270000" y="1900000"/>
            <a:ext cx="930000" cy="514000"/>
          </a:xfrm>
          <a:prstGeom prst="line">
            <a:avLst/>
          </a:prstGeom>
          <a:ln w="19050">
            <a:solidFill>
              <a:srgbClr val="8E6F3E"/>
            </a:solidFill>
            <a:tailEnd type="triangle" w="med" len="med"/>
          </a:ln>
        </p:spPr>
      </p:cxnSp>
      <p:sp>
        <p:nvSpPr>
          <p:cNvPr id="106" name="CMLbl"/>
          <p:cNvSpPr txBox="1"/>
          <p:nvPr/>
        </p:nvSpPr>
        <p:spPr>
          <a:xfrm>
            <a:off x="6550000" y="1650000"/>
            <a:ext cx="1500000" cy="320000"/>
          </a:xfrm>
          <a:prstGeom prst="rect">
            <a:avLst/>
          </a:prstGeom>
          <a:noFill/>
          <a:ln>
            <a:noFill/>
          </a:ln>
        </p:spPr>
        <p:txBody>
          <a:bodyPr wrap="square" lIns="0" tIns="0" rIns="0" bIns="0" anchor="t">
            <a:normAutofit/>
          </a:bodyPr>
          <a:lstStyle/>
          <a:p>
            <a:pPr algn="l">
              <a:buNone/>
            </a:pPr>
            <a:r>
              <a:rPr lang="en-US" sz="2000" b="0" i="1" dirty="0">
                <a:solidFill>
                  <a:srgbClr val="555960"/>
                </a:solidFill>
              </a:rPr>
              <a:t xml:space="preserve">changes</a:t>
            </a:r>
          </a:p>
        </p:txBody>
      </p:sp>
      <p:cxnSp>
        <p:nvCxnSpPr>
          <p:cNvPr id="107" name="MV"/>
          <p:cNvCxnSpPr/>
          <p:nvPr/>
        </p:nvCxnSpPr>
        <p:spPr>
          <a:xfrm flipH="1">
            <a:off x="6270000" y="3406000"/>
            <a:ext cx="1030000" cy="494000"/>
          </a:xfrm>
          <a:prstGeom prst="line">
            <a:avLst/>
          </a:prstGeom>
          <a:ln w="19050">
            <a:solidFill>
              <a:srgbClr val="8E6F3E"/>
            </a:solidFill>
            <a:tailEnd type="triangle" w="med" len="med"/>
          </a:ln>
        </p:spPr>
      </p:cxnSp>
      <p:sp>
        <p:nvSpPr>
          <p:cNvPr id="108" name="MVLbl"/>
          <p:cNvSpPr txBox="1"/>
          <p:nvPr/>
        </p:nvSpPr>
        <p:spPr>
          <a:xfrm>
            <a:off x="6650000" y="3960000"/>
            <a:ext cx="1900000" cy="320000"/>
          </a:xfrm>
          <a:prstGeom prst="rect">
            <a:avLst/>
          </a:prstGeom>
          <a:noFill/>
          <a:ln>
            <a:noFill/>
          </a:ln>
        </p:spPr>
        <p:txBody>
          <a:bodyPr wrap="square" lIns="0" tIns="0" rIns="0" bIns="0" anchor="t">
            <a:normAutofit/>
          </a:bodyPr>
          <a:lstStyle/>
          <a:p>
            <a:pPr algn="l">
              <a:buNone/>
            </a:pPr>
            <a:r>
              <a:rPr lang="en-US" sz="2000" b="0" i="1" dirty="0">
                <a:solidFill>
                  <a:srgbClr val="555960"/>
                </a:solidFill>
              </a:rPr>
              <a:t xml:space="preserve">observed by</a:t>
            </a:r>
          </a:p>
        </p:txBody>
      </p:sp>
      <p:cxnSp>
        <p:nvCxnSpPr>
          <p:cNvPr id="109" name="VU"/>
          <p:cNvCxnSpPr/>
          <p:nvPr/>
        </p:nvCxnSpPr>
        <p:spPr>
          <a:xfrm flipH="1" flipV="1">
            <a:off x="2100000" y="3406000"/>
            <a:ext cx="1130000" cy="494000"/>
          </a:xfrm>
          <a:prstGeom prst="line">
            <a:avLst/>
          </a:prstGeom>
          <a:ln w="19050">
            <a:solidFill>
              <a:srgbClr val="8E6F3E"/>
            </a:solidFill>
            <a:tailEnd type="triangle" w="med" len="med"/>
          </a:ln>
        </p:spPr>
      </p:cxn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 xml:space="preserve">Repository: organize around shared authoritative state.</a:t>
            </a:r>
          </a:p>
        </p:txBody>
      </p:sp>
      <p:sp>
        <p:nvSpPr>
          <p:cNvPr id="3" name="Slide Number Placeholder 2"/>
          <p:cNvSpPr>
            <a:spLocks noGrp="1"/>
          </p:cNvSpPr>
          <p:nvPr>
            <p:ph type="sldNum" sz="quarter" idx="4"/>
          </p:nvPr>
        </p:nvSpPr>
        <p:spPr/>
        <p:txBody>
          <a:bodyPr/>
          <a:lstStyle/>
          <a:p>
            <a:fld id="{B7EB45DA-9A0D-DC49-8E02-F30A5DDC21C3}" type="slidenum">
              <a:rPr lang="en-US" smtClean="0"/>
              <a:t>0</a:t>
            </a:fld>
            <a:endParaRPr lang="en-US"/>
          </a:p>
        </p:txBody>
      </p:sp>
      <p:sp>
        <p:nvSpPr>
          <p:cNvPr id="61" name="Band61"/>
          <p:cNvSpPr/>
          <p:nvPr/>
        </p:nvSpPr>
        <p:spPr>
          <a:xfrm>
            <a:off x="279400" y="4550000"/>
            <a:ext cx="8585200" cy="1300000"/>
          </a:xfrm>
          <a:prstGeom prst="rect">
            <a:avLst/>
          </a:prstGeom>
          <a:solidFill>
            <a:srgbClr val="F5F1E8"/>
          </a:solidFill>
          <a:ln>
            <a:noFill/>
          </a:ln>
        </p:spPr>
        <p:txBody>
          <a:bodyPr wrap="square" lIns="109728" tIns="82296" rIns="109728" bIns="82296" anchor="ctr">
            <a:normAutofit/>
          </a:bodyPr>
          <a:lstStyle/>
          <a:p>
            <a:pPr algn="l">
              <a:buNone/>
            </a:pPr>
            <a:r>
              <a:rPr lang="en-US" sz="2600" b="0" i="0" dirty="0">
                <a:solidFill>
                  <a:srgbClr val="000000"/>
                </a:solidFill>
              </a:rPr>
              <a:t xml:space="preserve">Consistency and integration become easier.</a:t>
            </a:r>
          </a:p>
          <a:p>
            <a:pPr algn="l">
              <a:spcBef>
                <a:spcPts val="200"/>
              </a:spcBef>
              <a:buNone/>
            </a:pPr>
            <a:r>
              <a:rPr lang="en-US" sz="2600" b="0" i="0" dirty="0">
                <a:solidFill>
                  <a:srgbClr val="000000"/>
                </a:solidFill>
              </a:rPr>
              <a:t xml:space="preserve">Everyone now depends on the center.</a:t>
            </a:r>
          </a:p>
        </p:txBody>
      </p:sp>
      <p:sp>
        <p:nvSpPr>
          <p:cNvPr id="100" name="Repo"/>
          <p:cNvSpPr/>
          <p:nvPr/>
        </p:nvSpPr>
        <p:spPr>
          <a:xfrm>
            <a:off x="3160000" y="2175000"/>
            <a:ext cx="2830000" cy="1150000"/>
          </a:xfrm>
          <a:prstGeom prst="rect">
            <a:avLst/>
          </a:prstGeom>
          <a:solidFill>
            <a:srgbClr val="8E6F3E"/>
          </a:solidFill>
          <a:ln>
            <a:noFill/>
          </a:ln>
        </p:spPr>
        <p:txBody>
          <a:bodyPr wrap="square" lIns="54864" tIns="27432" rIns="54864" bIns="27432" anchor="ctr">
            <a:normAutofit/>
          </a:bodyPr>
          <a:lstStyle/>
          <a:p>
            <a:pPr algn="ctr">
              <a:buNone/>
            </a:pPr>
            <a:r>
              <a:rPr lang="en-US" sz="2600" b="1" i="0" dirty="0">
                <a:solidFill>
                  <a:srgbClr val="FFFFFF"/>
                </a:solidFill>
              </a:rPr>
              <a:t xml:space="preserve">REPOSITORY</a:t>
            </a:r>
          </a:p>
          <a:p>
            <a:pPr algn="ctr">
              <a:spcBef>
                <a:spcPts val="525"/>
              </a:spcBef>
              <a:buNone/>
            </a:pPr>
            <a:r>
              <a:rPr lang="en-US" sz="1800" b="0" i="1" dirty="0">
                <a:solidFill>
                  <a:srgbClr val="FFFFFF"/>
                </a:solidFill>
              </a:rPr>
              <a:t xml:space="preserve">shared authoritative state</a:t>
            </a:r>
          </a:p>
        </p:txBody>
      </p:sp>
      <p:sp>
        <p:nvSpPr>
          <p:cNvPr id="101" name="Input"/>
          <p:cNvSpPr/>
          <p:nvPr/>
        </p:nvSpPr>
        <p:spPr>
          <a:xfrm>
            <a:off x="707500" y="2315000"/>
            <a:ext cx="1885000" cy="87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2400" b="1" i="0" dirty="0">
                <a:solidFill>
                  <a:srgbClr val="5C4826"/>
                </a:solidFill>
              </a:rPr>
              <a:t xml:space="preserve">INPUT</a:t>
            </a:r>
          </a:p>
        </p:txBody>
      </p:sp>
      <p:cxnSp>
        <p:nvCxnSpPr>
          <p:cNvPr id="102" name="AIn"/>
          <p:cNvCxnSpPr/>
          <p:nvPr/>
        </p:nvCxnSpPr>
        <p:spPr>
          <a:xfrm>
            <a:off x="2592500" y="2750000"/>
            <a:ext cx="567500" cy="0"/>
          </a:xfrm>
          <a:prstGeom prst="line">
            <a:avLst/>
          </a:prstGeom>
          <a:ln w="19050">
            <a:solidFill>
              <a:srgbClr val="8E6F3E"/>
            </a:solidFill>
            <a:tailEnd type="triangle" w="med" len="med"/>
          </a:ln>
        </p:spPr>
      </p:cxnSp>
      <p:sp>
        <p:nvSpPr>
          <p:cNvPr id="103" name="Reporter"/>
          <p:cNvSpPr/>
          <p:nvPr/>
        </p:nvSpPr>
        <p:spPr>
          <a:xfrm>
            <a:off x="6685000" y="2315000"/>
            <a:ext cx="2030000" cy="87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2400" b="1" i="0" dirty="0">
                <a:solidFill>
                  <a:srgbClr val="5C4826"/>
                </a:solidFill>
              </a:rPr>
              <a:t xml:space="preserve">REPORTER</a:t>
            </a:r>
          </a:p>
        </p:txBody>
      </p:sp>
      <p:cxnSp>
        <p:nvCxnSpPr>
          <p:cNvPr id="104" name="AOut"/>
          <p:cNvCxnSpPr/>
          <p:nvPr/>
        </p:nvCxnSpPr>
        <p:spPr>
          <a:xfrm>
            <a:off x="5990000" y="2750000"/>
            <a:ext cx="695000" cy="0"/>
          </a:xfrm>
          <a:prstGeom prst="line">
            <a:avLst/>
          </a:prstGeom>
          <a:ln w="19050">
            <a:solidFill>
              <a:srgbClr val="8E6F3E"/>
            </a:solidFill>
            <a:tailEnd type="triangle" w="med" len="med"/>
          </a:ln>
        </p:spPr>
      </p:cxnSp>
      <p:sp>
        <p:nvSpPr>
          <p:cNvPr id="105" name="Analyzer"/>
          <p:cNvSpPr/>
          <p:nvPr/>
        </p:nvSpPr>
        <p:spPr>
          <a:xfrm>
            <a:off x="3665000" y="1165000"/>
            <a:ext cx="1820000" cy="77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2400" b="1" i="0" dirty="0">
                <a:solidFill>
                  <a:srgbClr val="5C4826"/>
                </a:solidFill>
              </a:rPr>
              <a:t xml:space="preserve">ANALYZER</a:t>
            </a:r>
          </a:p>
        </p:txBody>
      </p:sp>
      <p:cxnSp>
        <p:nvCxnSpPr>
          <p:cNvPr id="106" name="ADown"/>
          <p:cNvCxnSpPr/>
          <p:nvPr/>
        </p:nvCxnSpPr>
        <p:spPr>
          <a:xfrm>
            <a:off x="4575000" y="1935000"/>
            <a:ext cx="0" cy="240000"/>
          </a:xfrm>
          <a:prstGeom prst="line">
            <a:avLst/>
          </a:prstGeom>
          <a:ln w="19050">
            <a:solidFill>
              <a:srgbClr val="8E6F3E"/>
            </a:solidFill>
            <a:tailEnd type="triangle" w="med" len="med"/>
          </a:ln>
        </p:spPr>
      </p:cxnSp>
      <p:sp>
        <p:nvSpPr>
          <p:cNvPr id="107" name="Optimizer"/>
          <p:cNvSpPr/>
          <p:nvPr/>
        </p:nvSpPr>
        <p:spPr>
          <a:xfrm>
            <a:off x="3665000" y="3615000"/>
            <a:ext cx="1820000" cy="77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2400" b="1" i="0" dirty="0">
                <a:solidFill>
                  <a:srgbClr val="5C4826"/>
                </a:solidFill>
              </a:rPr>
              <a:t xml:space="preserve">OPTIMIZER</a:t>
            </a:r>
          </a:p>
        </p:txBody>
      </p:sp>
      <p:cxnSp>
        <p:nvCxnSpPr>
          <p:cNvPr id="108" name="AUp"/>
          <p:cNvCxnSpPr/>
          <p:nvPr/>
        </p:nvCxnSpPr>
        <p:spPr>
          <a:xfrm flipV="1">
            <a:off x="4575000" y="3325000"/>
            <a:ext cx="0" cy="290000"/>
          </a:xfrm>
          <a:prstGeom prst="line">
            <a:avLst/>
          </a:prstGeom>
          <a:ln w="19050">
            <a:solidFill>
              <a:srgbClr val="8E6F3E"/>
            </a:solidFill>
            <a:tailEnd type="triangle" w="med" len="med"/>
          </a:ln>
        </p:spPr>
      </p:cxnSp>
      <p:sp>
        <p:nvSpPr>
          <p:cNvPr id="109" name="ConsLbl"/>
          <p:cNvSpPr txBox="1"/>
          <p:nvPr/>
        </p:nvSpPr>
        <p:spPr>
          <a:xfrm>
            <a:off x="850000" y="3900000"/>
            <a:ext cx="2400000" cy="380000"/>
          </a:xfrm>
          <a:prstGeom prst="rect">
            <a:avLst/>
          </a:prstGeom>
          <a:noFill/>
          <a:ln>
            <a:noFill/>
          </a:ln>
        </p:spPr>
        <p:txBody>
          <a:bodyPr wrap="square" lIns="0" tIns="0" rIns="0" bIns="0" anchor="t">
            <a:normAutofit/>
          </a:bodyPr>
          <a:lstStyle/>
          <a:p>
            <a:pPr algn="l">
              <a:buNone/>
            </a:pPr>
            <a:r>
              <a:rPr lang="en-US" sz="2000" b="1" i="1" dirty="0">
                <a:solidFill>
                  <a:srgbClr val="1F7A4D"/>
                </a:solidFill>
              </a:rPr>
              <a:t xml:space="preserve">consistency ↑</a:t>
            </a:r>
          </a:p>
        </p:txBody>
      </p:sp>
      <p:sp>
        <p:nvSpPr>
          <p:cNvPr id="110" name="CoupLbl"/>
          <p:cNvSpPr txBox="1"/>
          <p:nvPr/>
        </p:nvSpPr>
        <p:spPr>
          <a:xfrm>
            <a:off x="6250000" y="3900000"/>
            <a:ext cx="2700000" cy="380000"/>
          </a:xfrm>
          <a:prstGeom prst="rect">
            <a:avLst/>
          </a:prstGeom>
          <a:noFill/>
          <a:ln>
            <a:noFill/>
          </a:ln>
        </p:spPr>
        <p:txBody>
          <a:bodyPr wrap="square" lIns="0" tIns="0" rIns="0" bIns="0" anchor="t">
            <a:normAutofit/>
          </a:bodyPr>
          <a:lstStyle/>
          <a:p>
            <a:pPr algn="r">
              <a:buNone/>
            </a:pPr>
            <a:r>
              <a:rPr lang="en-US" sz="2000" b="1" i="1" dirty="0">
                <a:solidFill>
                  <a:srgbClr val="B23B3B"/>
                </a:solidFill>
              </a:rPr>
              <a:t xml:space="preserve">central coupling ↑</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 xml:space="preserve">Control dependencies across boundaries.</a:t>
            </a:r>
          </a:p>
        </p:txBody>
      </p:sp>
      <p:sp>
        <p:nvSpPr>
          <p:cNvPr id="3" name="Slide Number Placeholder 2"/>
          <p:cNvSpPr>
            <a:spLocks noGrp="1"/>
          </p:cNvSpPr>
          <p:nvPr>
            <p:ph type="sldNum" sz="quarter" idx="4"/>
          </p:nvPr>
        </p:nvSpPr>
        <p:spPr/>
        <p:txBody>
          <a:bodyPr/>
          <a:lstStyle/>
          <a:p>
            <a:fld id="{B7EB45DA-9A0D-DC49-8E02-F30A5DDC21C3}" type="slidenum">
              <a:rPr lang="en-US" smtClean="0"/>
              <a:t>0</a:t>
            </a:fld>
            <a:endParaRPr lang="en-US"/>
          </a:p>
        </p:txBody>
      </p:sp>
      <p:sp>
        <p:nvSpPr>
          <p:cNvPr id="62" name="T62"/>
          <p:cNvSpPr txBox="1"/>
          <p:nvPr/>
        </p:nvSpPr>
        <p:spPr>
          <a:xfrm>
            <a:off x="685800" y="6050000"/>
            <a:ext cx="7772400" cy="350000"/>
          </a:xfrm>
          <a:prstGeom prst="rect">
            <a:avLst/>
          </a:prstGeom>
          <a:noFill/>
          <a:ln>
            <a:noFill/>
          </a:ln>
        </p:spPr>
        <p:txBody>
          <a:bodyPr wrap="square" lIns="0" tIns="0" rIns="0" bIns="0" anchor="t">
            <a:normAutofit/>
          </a:bodyPr>
          <a:lstStyle/>
          <a:p>
            <a:pPr algn="ctr">
              <a:buNone/>
            </a:pPr>
            <a:r>
              <a:rPr lang="en-US" sz="1600" b="0" i="1" dirty="0">
                <a:solidFill>
                  <a:srgbClr val="555960"/>
                </a:solidFill>
              </a:rPr>
              <a:t xml:space="preserve">Often called ports-and-adapters / hexagonal / clean architecture.</a:t>
            </a:r>
          </a:p>
        </p:txBody>
      </p:sp>
      <p:sp>
        <p:nvSpPr>
          <p:cNvPr id="100" name="BeforeLbl"/>
          <p:cNvSpPr txBox="1"/>
          <p:nvPr/>
        </p:nvSpPr>
        <p:spPr>
          <a:xfrm>
            <a:off x="300000" y="1022000"/>
            <a:ext cx="1778000" cy="355600"/>
          </a:xfrm>
          <a:prstGeom prst="rect">
            <a:avLst/>
          </a:prstGeom>
          <a:noFill/>
          <a:ln>
            <a:noFill/>
          </a:ln>
        </p:spPr>
        <p:txBody>
          <a:bodyPr wrap="square" lIns="0" tIns="0" rIns="0" bIns="0" anchor="t">
            <a:normAutofit/>
          </a:bodyPr>
          <a:lstStyle/>
          <a:p>
            <a:pPr algn="l">
              <a:buNone/>
            </a:pPr>
            <a:r>
              <a:rPr lang="en-US" sz="2000" b="1" i="0" dirty="0">
                <a:solidFill>
                  <a:srgbClr val="8E6F3E"/>
                </a:solidFill>
              </a:rPr>
              <a:t xml:space="preserve">BEFORE</a:t>
            </a:r>
          </a:p>
        </p:txBody>
      </p:sp>
      <p:sp>
        <p:nvSpPr>
          <p:cNvPr id="101" name="BUI"/>
          <p:cNvSpPr/>
          <p:nvPr/>
        </p:nvSpPr>
        <p:spPr>
          <a:xfrm>
            <a:off x="545017" y="1453800"/>
            <a:ext cx="1651000" cy="698500"/>
          </a:xfrm>
          <a:prstGeom prst="rect">
            <a:avLst/>
          </a:prstGeom>
          <a:solidFill>
            <a:srgbClr val="F5F1E8"/>
          </a:solidFill>
          <a:ln w="16129">
            <a:solidFill>
              <a:srgbClr val="C9B991"/>
            </a:solidFill>
          </a:ln>
        </p:spPr>
        <p:txBody>
          <a:bodyPr wrap="square" lIns="54864" tIns="27432" rIns="54864" bIns="27432" anchor="ctr">
            <a:normAutofit/>
          </a:bodyPr>
          <a:lstStyle/>
          <a:p>
            <a:pPr algn="ctr">
              <a:buNone/>
            </a:pPr>
            <a:r>
              <a:rPr lang="en-US" sz="2400" b="1" i="0" dirty="0">
                <a:solidFill>
                  <a:srgbClr val="5C4826"/>
                </a:solidFill>
              </a:rPr>
              <a:t xml:space="preserve">UI</a:t>
            </a:r>
          </a:p>
        </p:txBody>
      </p:sp>
      <p:sp>
        <p:nvSpPr>
          <p:cNvPr id="102" name="BDomain"/>
          <p:cNvSpPr/>
          <p:nvPr/>
        </p:nvSpPr>
        <p:spPr>
          <a:xfrm>
            <a:off x="3212017" y="1453800"/>
            <a:ext cx="2032000" cy="698500"/>
          </a:xfrm>
          <a:prstGeom prst="rect">
            <a:avLst/>
          </a:prstGeom>
          <a:solidFill>
            <a:srgbClr val="F5F1E8"/>
          </a:solidFill>
          <a:ln w="16129">
            <a:solidFill>
              <a:srgbClr val="C9B991"/>
            </a:solidFill>
          </a:ln>
        </p:spPr>
        <p:txBody>
          <a:bodyPr wrap="square" lIns="54864" tIns="27432" rIns="54864" bIns="27432" anchor="ctr">
            <a:normAutofit/>
          </a:bodyPr>
          <a:lstStyle/>
          <a:p>
            <a:pPr algn="ctr">
              <a:buNone/>
            </a:pPr>
            <a:r>
              <a:rPr lang="en-US" sz="2400" b="1" i="0" dirty="0">
                <a:solidFill>
                  <a:srgbClr val="5C4826"/>
                </a:solidFill>
              </a:rPr>
              <a:t xml:space="preserve">DOMAIN</a:t>
            </a:r>
          </a:p>
        </p:txBody>
      </p:sp>
      <p:sp>
        <p:nvSpPr>
          <p:cNvPr id="103" name="BDb"/>
          <p:cNvSpPr/>
          <p:nvPr/>
        </p:nvSpPr>
        <p:spPr>
          <a:xfrm>
            <a:off x="6260017" y="1453800"/>
            <a:ext cx="2032000" cy="698500"/>
          </a:xfrm>
          <a:prstGeom prst="rect">
            <a:avLst/>
          </a:prstGeom>
          <a:solidFill>
            <a:srgbClr val="F5F1E8"/>
          </a:solidFill>
          <a:ln w="16129">
            <a:solidFill>
              <a:srgbClr val="C9B991"/>
            </a:solidFill>
          </a:ln>
        </p:spPr>
        <p:txBody>
          <a:bodyPr wrap="square" lIns="54864" tIns="27432" rIns="54864" bIns="27432" anchor="ctr">
            <a:normAutofit/>
          </a:bodyPr>
          <a:lstStyle/>
          <a:p>
            <a:pPr algn="ctr">
              <a:buNone/>
            </a:pPr>
            <a:r>
              <a:rPr lang="en-US" sz="2400" b="1" i="0" dirty="0">
                <a:solidFill>
                  <a:srgbClr val="5C4826"/>
                </a:solidFill>
              </a:rPr>
              <a:t xml:space="preserve">DATABASE</a:t>
            </a:r>
          </a:p>
        </p:txBody>
      </p:sp>
      <p:cxnSp>
        <p:nvCxnSpPr>
          <p:cNvPr id="104" name="BA1"/>
          <p:cNvCxnSpPr/>
          <p:nvPr/>
        </p:nvCxnSpPr>
        <p:spPr>
          <a:xfrm>
            <a:off x="2196017" y="1803050"/>
            <a:ext cx="1016000" cy="0"/>
          </a:xfrm>
          <a:prstGeom prst="line">
            <a:avLst/>
          </a:prstGeom>
          <a:ln w="24194">
            <a:solidFill>
              <a:srgbClr val="8E6F3E"/>
            </a:solidFill>
            <a:tailEnd type="triangle" w="med" len="med"/>
          </a:ln>
        </p:spPr>
      </p:cxnSp>
      <p:cxnSp>
        <p:nvCxnSpPr>
          <p:cNvPr id="105" name="BA2"/>
          <p:cNvCxnSpPr/>
          <p:nvPr/>
        </p:nvCxnSpPr>
        <p:spPr>
          <a:xfrm>
            <a:off x="5244017" y="1803050"/>
            <a:ext cx="1016000" cy="0"/>
          </a:xfrm>
          <a:prstGeom prst="line">
            <a:avLst/>
          </a:prstGeom>
          <a:ln w="24194">
            <a:solidFill>
              <a:srgbClr val="B23B3B"/>
            </a:solidFill>
            <a:tailEnd type="triangle" w="med" len="med"/>
          </a:ln>
        </p:spPr>
      </p:cxnSp>
      <p:sp>
        <p:nvSpPr>
          <p:cNvPr id="106" name="BCap"/>
          <p:cNvSpPr txBox="1"/>
          <p:nvPr/>
        </p:nvSpPr>
        <p:spPr>
          <a:xfrm>
            <a:off x="3974017" y="2317400"/>
            <a:ext cx="4572000" cy="355600"/>
          </a:xfrm>
          <a:prstGeom prst="rect">
            <a:avLst/>
          </a:prstGeom>
          <a:noFill/>
          <a:ln>
            <a:noFill/>
          </a:ln>
        </p:spPr>
        <p:txBody>
          <a:bodyPr wrap="square" lIns="0" tIns="0" rIns="0" bIns="0" anchor="t">
            <a:normAutofit/>
          </a:bodyPr>
          <a:lstStyle/>
          <a:p>
            <a:pPr algn="l">
              <a:buNone/>
            </a:pPr>
            <a:r>
              <a:rPr lang="en-US" sz="1900" b="0" i="1" dirty="0">
                <a:solidFill>
                  <a:srgbClr val="B23B3B"/>
                </a:solidFill>
              </a:rPr>
              <a:t xml:space="preserve">infrastructure becomes a domain dependency</a:t>
            </a:r>
          </a:p>
        </p:txBody>
      </p:sp>
      <p:sp>
        <p:nvSpPr>
          <p:cNvPr id="107" name="AfterLbl"/>
          <p:cNvSpPr txBox="1"/>
          <p:nvPr/>
        </p:nvSpPr>
        <p:spPr>
          <a:xfrm>
            <a:off x="300000" y="3777000"/>
            <a:ext cx="1778000" cy="355600"/>
          </a:xfrm>
          <a:prstGeom prst="rect">
            <a:avLst/>
          </a:prstGeom>
          <a:noFill/>
          <a:ln>
            <a:noFill/>
          </a:ln>
        </p:spPr>
        <p:txBody>
          <a:bodyPr wrap="square" lIns="0" tIns="0" rIns="0" bIns="0" anchor="t">
            <a:normAutofit/>
          </a:bodyPr>
          <a:lstStyle/>
          <a:p>
            <a:pPr algn="l">
              <a:buNone/>
            </a:pPr>
            <a:r>
              <a:rPr lang="en-US" sz="2000" b="1" i="0" dirty="0">
                <a:solidFill>
                  <a:srgbClr val="8E6F3E"/>
                </a:solidFill>
              </a:rPr>
              <a:t xml:space="preserve">AFTER</a:t>
            </a:r>
          </a:p>
        </p:txBody>
      </p:sp>
      <p:sp>
        <p:nvSpPr>
          <p:cNvPr id="108" name="AUI"/>
          <p:cNvSpPr/>
          <p:nvPr/>
        </p:nvSpPr>
        <p:spPr>
          <a:xfrm>
            <a:off x="545017" y="4208800"/>
            <a:ext cx="1651000" cy="698500"/>
          </a:xfrm>
          <a:prstGeom prst="rect">
            <a:avLst/>
          </a:prstGeom>
          <a:solidFill>
            <a:srgbClr val="F5F1E8"/>
          </a:solidFill>
          <a:ln w="16129">
            <a:solidFill>
              <a:srgbClr val="C9B991"/>
            </a:solidFill>
          </a:ln>
        </p:spPr>
        <p:txBody>
          <a:bodyPr wrap="square" lIns="54864" tIns="27432" rIns="54864" bIns="27432" anchor="ctr">
            <a:normAutofit/>
          </a:bodyPr>
          <a:lstStyle/>
          <a:p>
            <a:pPr algn="ctr">
              <a:buNone/>
            </a:pPr>
            <a:r>
              <a:rPr lang="en-US" sz="2400" b="1" i="0" dirty="0">
                <a:solidFill>
                  <a:srgbClr val="5C4826"/>
                </a:solidFill>
              </a:rPr>
              <a:t xml:space="preserve">UI</a:t>
            </a:r>
          </a:p>
        </p:txBody>
      </p:sp>
      <p:sp>
        <p:nvSpPr>
          <p:cNvPr id="109" name="ADomain"/>
          <p:cNvSpPr/>
          <p:nvPr/>
        </p:nvSpPr>
        <p:spPr>
          <a:xfrm>
            <a:off x="3212017" y="4208800"/>
            <a:ext cx="2032000" cy="698500"/>
          </a:xfrm>
          <a:prstGeom prst="rect">
            <a:avLst/>
          </a:prstGeom>
          <a:solidFill>
            <a:srgbClr val="F5F1E8"/>
          </a:solidFill>
          <a:ln w="16129">
            <a:solidFill>
              <a:srgbClr val="C9B991"/>
            </a:solidFill>
          </a:ln>
        </p:spPr>
        <p:txBody>
          <a:bodyPr wrap="square" lIns="54864" tIns="27432" rIns="54864" bIns="27432" anchor="ctr">
            <a:normAutofit/>
          </a:bodyPr>
          <a:lstStyle/>
          <a:p>
            <a:pPr algn="ctr">
              <a:buNone/>
            </a:pPr>
            <a:r>
              <a:rPr lang="en-US" sz="2400" b="1" i="0" dirty="0">
                <a:solidFill>
                  <a:srgbClr val="5C4826"/>
                </a:solidFill>
              </a:rPr>
              <a:t xml:space="preserve">DOMAIN</a:t>
            </a:r>
          </a:p>
        </p:txBody>
      </p:sp>
      <p:sp>
        <p:nvSpPr>
          <p:cNvPr id="110" name="Iface"/>
          <p:cNvSpPr/>
          <p:nvPr/>
        </p:nvSpPr>
        <p:spPr>
          <a:xfrm>
            <a:off x="5244017" y="4119900"/>
            <a:ext cx="127000" cy="876300"/>
          </a:xfrm>
          <a:prstGeom prst="rect">
            <a:avLst/>
          </a:prstGeom>
          <a:solidFill>
            <a:srgbClr val="8E6F3E"/>
          </a:solidFill>
          <a:ln>
            <a:noFill/>
          </a:ln>
        </p:spPr>
        <p:txBody>
          <a:bodyPr wrap="square" lIns="54864" tIns="27432" rIns="54864" bIns="27432" anchor="ctr">
            <a:normAutofit/>
          </a:bodyPr>
          <a:lstStyle/>
          <a:p>
            <a:endParaRPr/>
          </a:p>
        </p:txBody>
      </p:sp>
      <p:sp>
        <p:nvSpPr>
          <p:cNvPr id="111" name="IfaceLbl"/>
          <p:cNvSpPr txBox="1"/>
          <p:nvPr/>
        </p:nvSpPr>
        <p:spPr>
          <a:xfrm>
            <a:off x="4164517" y="3789700"/>
            <a:ext cx="3556000" cy="330200"/>
          </a:xfrm>
          <a:prstGeom prst="rect">
            <a:avLst/>
          </a:prstGeom>
          <a:noFill/>
          <a:ln>
            <a:noFill/>
          </a:ln>
        </p:spPr>
        <p:txBody>
          <a:bodyPr wrap="square" lIns="0" tIns="0" rIns="0" bIns="0" anchor="t">
            <a:normAutofit/>
          </a:bodyPr>
          <a:lstStyle/>
          <a:p>
            <a:pPr algn="l">
              <a:buNone/>
            </a:pPr>
            <a:r>
              <a:rPr lang="en-US" sz="1800" b="1" i="0" dirty="0">
                <a:solidFill>
                  <a:srgbClr val="8E6F3E"/>
                </a:solidFill>
              </a:rPr>
              <a:t xml:space="preserve">DOMAIN-DEFINED INTERFACE</a:t>
            </a:r>
          </a:p>
        </p:txBody>
      </p:sp>
      <p:sp>
        <p:nvSpPr>
          <p:cNvPr id="112" name="AAdapter"/>
          <p:cNvSpPr/>
          <p:nvPr/>
        </p:nvSpPr>
        <p:spPr>
          <a:xfrm>
            <a:off x="6260017" y="4208800"/>
            <a:ext cx="2032000" cy="698500"/>
          </a:xfrm>
          <a:prstGeom prst="rect">
            <a:avLst/>
          </a:prstGeom>
          <a:solidFill>
            <a:srgbClr val="F5F1E8"/>
          </a:solidFill>
          <a:ln w="16129">
            <a:solidFill>
              <a:srgbClr val="C9B991"/>
            </a:solidFill>
          </a:ln>
        </p:spPr>
        <p:txBody>
          <a:bodyPr wrap="square" lIns="54864" tIns="27432" rIns="54864" bIns="27432" anchor="ctr">
            <a:normAutofit/>
          </a:bodyPr>
          <a:lstStyle/>
          <a:p>
            <a:pPr algn="ctr">
              <a:buNone/>
            </a:pPr>
            <a:r>
              <a:rPr lang="en-US" sz="2400" b="1" i="0" dirty="0">
                <a:solidFill>
                  <a:srgbClr val="5C4826"/>
                </a:solidFill>
              </a:rPr>
              <a:t xml:space="preserve">DB ADAPTER</a:t>
            </a:r>
          </a:p>
        </p:txBody>
      </p:sp>
      <p:cxnSp>
        <p:nvCxnSpPr>
          <p:cNvPr id="113" name="AA1"/>
          <p:cNvCxnSpPr/>
          <p:nvPr/>
        </p:nvCxnSpPr>
        <p:spPr>
          <a:xfrm>
            <a:off x="2196017" y="4558050"/>
            <a:ext cx="1016000" cy="0"/>
          </a:xfrm>
          <a:prstGeom prst="line">
            <a:avLst/>
          </a:prstGeom>
          <a:ln w="24194">
            <a:solidFill>
              <a:srgbClr val="8E6F3E"/>
            </a:solidFill>
            <a:tailEnd type="triangle" w="med" len="med"/>
          </a:ln>
        </p:spPr>
      </p:cxnSp>
      <p:cxnSp>
        <p:nvCxnSpPr>
          <p:cNvPr id="114" name="AA2"/>
          <p:cNvCxnSpPr/>
          <p:nvPr/>
        </p:nvCxnSpPr>
        <p:spPr>
          <a:xfrm flipH="1">
            <a:off x="5409117" y="4558050"/>
            <a:ext cx="850900" cy="0"/>
          </a:xfrm>
          <a:prstGeom prst="line">
            <a:avLst/>
          </a:prstGeom>
          <a:ln w="32258">
            <a:solidFill>
              <a:srgbClr val="1F7A4D"/>
            </a:solidFill>
            <a:tailEnd type="triangle" w="med" len="med"/>
          </a:ln>
        </p:spPr>
      </p:cxnSp>
      <p:sp>
        <p:nvSpPr>
          <p:cNvPr id="115" name="ACap"/>
          <p:cNvSpPr txBox="1"/>
          <p:nvPr/>
        </p:nvSpPr>
        <p:spPr>
          <a:xfrm>
            <a:off x="3974017" y="5072400"/>
            <a:ext cx="5334000" cy="355600"/>
          </a:xfrm>
          <a:prstGeom prst="rect">
            <a:avLst/>
          </a:prstGeom>
          <a:noFill/>
          <a:ln>
            <a:noFill/>
          </a:ln>
        </p:spPr>
        <p:txBody>
          <a:bodyPr wrap="square" lIns="0" tIns="0" rIns="0" bIns="0" anchor="t">
            <a:normAutofit/>
          </a:bodyPr>
          <a:lstStyle/>
          <a:p>
            <a:pPr algn="l">
              <a:buNone/>
            </a:pPr>
            <a:r>
              <a:rPr lang="en-US" sz="1900" b="0" i="1" dirty="0">
                <a:solidFill>
                  <a:srgbClr val="1F7A4D"/>
                </a:solidFill>
              </a:rPr>
              <a:t xml:space="preserve">the dependency now points into the domain</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 xml:space="preserve">Events: producers need not know their consumers.</a:t>
            </a:r>
          </a:p>
        </p:txBody>
      </p:sp>
      <p:sp>
        <p:nvSpPr>
          <p:cNvPr id="3" name="Slide Number Placeholder 2"/>
          <p:cNvSpPr>
            <a:spLocks noGrp="1"/>
          </p:cNvSpPr>
          <p:nvPr>
            <p:ph type="sldNum" sz="quarter" idx="4"/>
          </p:nvPr>
        </p:nvSpPr>
        <p:spPr/>
        <p:txBody>
          <a:bodyPr/>
          <a:lstStyle/>
          <a:p>
            <a:fld id="{B7EB45DA-9A0D-DC49-8E02-F30A5DDC21C3}" type="slidenum">
              <a:rPr lang="en-US" smtClean="0"/>
              <a:t>0</a:t>
            </a:fld>
            <a:endParaRPr lang="en-US"/>
          </a:p>
        </p:txBody>
      </p:sp>
      <p:sp>
        <p:nvSpPr>
          <p:cNvPr id="61" name="T61"/>
          <p:cNvSpPr txBox="1"/>
          <p:nvPr/>
        </p:nvSpPr>
        <p:spPr>
          <a:xfrm>
            <a:off x="685800" y="4230000"/>
            <a:ext cx="7772400" cy="420000"/>
          </a:xfrm>
          <a:prstGeom prst="rect">
            <a:avLst/>
          </a:prstGeom>
          <a:noFill/>
          <a:ln>
            <a:noFill/>
          </a:ln>
        </p:spPr>
        <p:txBody>
          <a:bodyPr wrap="square" lIns="0" tIns="0" rIns="0" bIns="0" anchor="t">
            <a:normAutofit/>
          </a:bodyPr>
          <a:lstStyle/>
          <a:p>
            <a:pPr algn="ctr">
              <a:buNone/>
            </a:pPr>
            <a:r>
              <a:rPr lang="en-US" sz="2200" b="1" i="0" dirty="0">
                <a:solidFill>
                  <a:srgbClr val="000000"/>
                </a:solidFill>
              </a:rPr>
              <a:t xml:space="preserve">Rule of thumb: </a:t>
            </a:r>
            <a:r>
              <a:rPr lang="en-US" sz="2200" b="0" i="0" dirty="0">
                <a:solidFill>
                  <a:srgbClr val="000000"/>
                </a:solidFill>
              </a:rPr>
              <a:t xml:space="preserve">event-based often makes adding consumers easier.</a:t>
            </a:r>
          </a:p>
        </p:txBody>
      </p:sp>
      <p:sp>
        <p:nvSpPr>
          <p:cNvPr id="62" name="T62"/>
          <p:cNvSpPr txBox="1"/>
          <p:nvPr/>
        </p:nvSpPr>
        <p:spPr>
          <a:xfrm>
            <a:off x="685800" y="4680000"/>
            <a:ext cx="7772400" cy="640000"/>
          </a:xfrm>
          <a:prstGeom prst="rect">
            <a:avLst/>
          </a:prstGeom>
          <a:noFill/>
          <a:ln>
            <a:noFill/>
          </a:ln>
        </p:spPr>
        <p:txBody>
          <a:bodyPr wrap="square" lIns="0" tIns="0" rIns="0" bIns="0" anchor="t">
            <a:normAutofit/>
          </a:bodyPr>
          <a:lstStyle/>
          <a:p>
            <a:pPr algn="ctr">
              <a:buNone/>
            </a:pPr>
            <a:r>
              <a:rPr lang="en-US" sz="2200" b="1" i="0" dirty="0">
                <a:solidFill>
                  <a:srgbClr val="5C4826"/>
                </a:solidFill>
              </a:rPr>
              <a:t xml:space="preserve">Engineering question: </a:t>
            </a:r>
            <a:r>
              <a:rPr lang="en-US" sz="2200" b="0" i="1" dirty="0">
                <a:solidFill>
                  <a:srgbClr val="000000"/>
                </a:solidFill>
              </a:rPr>
              <a:t xml:space="preserve">does THIS event architecture satisfy our ordering, latency, reliability, and observability obligations?</a:t>
            </a:r>
          </a:p>
        </p:txBody>
      </p:sp>
      <p:sp>
        <p:nvSpPr>
          <p:cNvPr id="63" name="Band63"/>
          <p:cNvSpPr/>
          <p:nvPr/>
        </p:nvSpPr>
        <p:spPr>
          <a:xfrm>
            <a:off x="279400" y="5330000"/>
            <a:ext cx="8585200" cy="900000"/>
          </a:xfrm>
          <a:prstGeom prst="rect">
            <a:avLst/>
          </a:prstGeom>
          <a:solidFill>
            <a:srgbClr val="8E6F3E"/>
          </a:solidFill>
          <a:ln>
            <a:noFill/>
          </a:ln>
        </p:spPr>
        <p:txBody>
          <a:bodyPr wrap="square" lIns="109728" tIns="82296" rIns="109728" bIns="82296" anchor="ctr">
            <a:normAutofit/>
          </a:bodyPr>
          <a:lstStyle/>
          <a:p>
            <a:pPr algn="ctr">
              <a:buNone/>
            </a:pPr>
            <a:r>
              <a:rPr lang="en-US" sz="2100" b="1" i="0" dirty="0">
                <a:solidFill>
                  <a:srgbClr val="FFFFFF"/>
                </a:solidFill>
              </a:rPr>
              <a:t xml:space="preserve">PATTERN KNOWLEDGE  —  increasing complexity / consequence  —▶  ANALYSIS</a:t>
            </a:r>
          </a:p>
          <a:p>
            <a:pPr algn="ctr">
              <a:spcBef>
                <a:spcPts val="182"/>
              </a:spcBef>
              <a:buNone/>
            </a:pPr>
            <a:r>
              <a:rPr lang="en-US" sz="1800" b="0" i="1" dirty="0">
                <a:solidFill>
                  <a:srgbClr val="FFFFFF"/>
                </a:solidFill>
              </a:rPr>
              <a:t xml:space="preserve">“reasonable expectation”  →  “show me”</a:t>
            </a:r>
          </a:p>
        </p:txBody>
      </p:sp>
      <p:sp>
        <p:nvSpPr>
          <p:cNvPr id="64" name="T64"/>
          <p:cNvSpPr txBox="1"/>
          <p:nvPr/>
        </p:nvSpPr>
        <p:spPr>
          <a:xfrm>
            <a:off x="685800" y="6400000"/>
            <a:ext cx="7772400" cy="350000"/>
          </a:xfrm>
          <a:prstGeom prst="rect">
            <a:avLst/>
          </a:prstGeom>
          <a:noFill/>
          <a:ln>
            <a:noFill/>
          </a:ln>
        </p:spPr>
        <p:txBody>
          <a:bodyPr wrap="square" lIns="0" tIns="0" rIns="0" bIns="0" anchor="t">
            <a:normAutofit/>
          </a:bodyPr>
          <a:lstStyle/>
          <a:p>
            <a:pPr algn="ctr">
              <a:buNone/>
            </a:pPr>
            <a:r>
              <a:rPr lang="en-US" sz="2000" b="1" i="0" dirty="0">
                <a:solidFill>
                  <a:srgbClr val="8E6F3E"/>
                </a:solidFill>
              </a:rPr>
              <a:t xml:space="preserve">—  STRETCH BREAK  —</a:t>
            </a:r>
          </a:p>
        </p:txBody>
      </p:sp>
      <p:sp>
        <p:nvSpPr>
          <p:cNvPr id="100" name="DirLbl"/>
          <p:cNvSpPr txBox="1"/>
          <p:nvPr/>
        </p:nvSpPr>
        <p:spPr>
          <a:xfrm>
            <a:off x="571437" y="1050000"/>
            <a:ext cx="2060000" cy="369600"/>
          </a:xfrm>
          <a:prstGeom prst="rect">
            <a:avLst/>
          </a:prstGeom>
          <a:noFill/>
          <a:ln>
            <a:noFill/>
          </a:ln>
        </p:spPr>
        <p:txBody>
          <a:bodyPr wrap="square" lIns="0" tIns="0" rIns="0" bIns="0" anchor="t">
            <a:normAutofit/>
          </a:bodyPr>
          <a:lstStyle/>
          <a:p>
            <a:pPr algn="l">
              <a:buNone/>
            </a:pPr>
            <a:r>
              <a:rPr lang="en-US" sz="2400" b="1" i="0" dirty="0">
                <a:solidFill>
                  <a:srgbClr val="8E6F3E"/>
                </a:solidFill>
              </a:rPr>
              <a:t xml:space="preserve">DIRECT</a:t>
            </a:r>
          </a:p>
        </p:txBody>
      </p:sp>
      <p:sp>
        <p:nvSpPr>
          <p:cNvPr id="101" name="DA"/>
          <p:cNvSpPr/>
          <p:nvPr/>
        </p:nvSpPr>
        <p:spPr>
          <a:xfrm>
            <a:off x="689063" y="2238000"/>
            <a:ext cx="721000" cy="660000"/>
          </a:xfrm>
          <a:prstGeom prst="rect">
            <a:avLst/>
          </a:prstGeom>
          <a:solidFill>
            <a:srgbClr val="F5F1E8"/>
          </a:solidFill>
          <a:ln w="13081">
            <a:solidFill>
              <a:srgbClr val="C9B991"/>
            </a:solidFill>
          </a:ln>
        </p:spPr>
        <p:txBody>
          <a:bodyPr wrap="square" lIns="54864" tIns="27432" rIns="54864" bIns="27432" anchor="ctr">
            <a:normAutofit/>
          </a:bodyPr>
          <a:lstStyle/>
          <a:p>
            <a:pPr algn="ctr">
              <a:buNone/>
            </a:pPr>
            <a:r>
              <a:rPr lang="en-US" sz="2500" b="1" i="0" dirty="0">
                <a:solidFill>
                  <a:srgbClr val="5C4826"/>
                </a:solidFill>
              </a:rPr>
              <a:t xml:space="preserve">A</a:t>
            </a:r>
          </a:p>
        </p:txBody>
      </p:sp>
      <p:sp>
        <p:nvSpPr>
          <p:cNvPr id="102" name="DB"/>
          <p:cNvSpPr/>
          <p:nvPr/>
        </p:nvSpPr>
        <p:spPr>
          <a:xfrm>
            <a:off x="2697563" y="1512000"/>
            <a:ext cx="721000" cy="580800"/>
          </a:xfrm>
          <a:prstGeom prst="rect">
            <a:avLst/>
          </a:prstGeom>
          <a:solidFill>
            <a:srgbClr val="F5F1E8"/>
          </a:solidFill>
          <a:ln w="13081">
            <a:solidFill>
              <a:srgbClr val="C9B991"/>
            </a:solidFill>
          </a:ln>
        </p:spPr>
        <p:txBody>
          <a:bodyPr wrap="square" lIns="54864" tIns="27432" rIns="54864" bIns="27432" anchor="ctr">
            <a:normAutofit/>
          </a:bodyPr>
          <a:lstStyle/>
          <a:p>
            <a:pPr algn="ctr">
              <a:buNone/>
            </a:pPr>
            <a:r>
              <a:rPr lang="en-US" sz="2400" b="1" i="0" dirty="0">
                <a:solidFill>
                  <a:srgbClr val="5C4826"/>
                </a:solidFill>
              </a:rPr>
              <a:t xml:space="preserve">B</a:t>
            </a:r>
          </a:p>
        </p:txBody>
      </p:sp>
      <p:cxnSp>
        <p:nvCxnSpPr>
          <p:cNvPr id="103" name="DA0"/>
          <p:cNvCxnSpPr/>
          <p:nvPr/>
        </p:nvCxnSpPr>
        <p:spPr>
          <a:xfrm flipV="1">
            <a:off x="1410063" y="1802400"/>
            <a:ext cx="1287500" cy="765600"/>
          </a:xfrm>
          <a:prstGeom prst="line">
            <a:avLst/>
          </a:prstGeom>
          <a:ln w="19622">
            <a:solidFill>
              <a:srgbClr val="8E6F3E"/>
            </a:solidFill>
            <a:tailEnd type="triangle" w="med" len="med"/>
          </a:ln>
        </p:spPr>
      </p:cxnSp>
      <p:sp>
        <p:nvSpPr>
          <p:cNvPr id="104" name="DC"/>
          <p:cNvSpPr/>
          <p:nvPr/>
        </p:nvSpPr>
        <p:spPr>
          <a:xfrm>
            <a:off x="2697563" y="2277600"/>
            <a:ext cx="721000" cy="580800"/>
          </a:xfrm>
          <a:prstGeom prst="rect">
            <a:avLst/>
          </a:prstGeom>
          <a:solidFill>
            <a:srgbClr val="F5F1E8"/>
          </a:solidFill>
          <a:ln w="13081">
            <a:solidFill>
              <a:srgbClr val="C9B991"/>
            </a:solidFill>
          </a:ln>
        </p:spPr>
        <p:txBody>
          <a:bodyPr wrap="square" lIns="54864" tIns="27432" rIns="54864" bIns="27432" anchor="ctr">
            <a:normAutofit/>
          </a:bodyPr>
          <a:lstStyle/>
          <a:p>
            <a:pPr algn="ctr">
              <a:buNone/>
            </a:pPr>
            <a:r>
              <a:rPr lang="en-US" sz="2400" b="1" i="0" dirty="0">
                <a:solidFill>
                  <a:srgbClr val="5C4826"/>
                </a:solidFill>
              </a:rPr>
              <a:t xml:space="preserve">C</a:t>
            </a:r>
          </a:p>
        </p:txBody>
      </p:sp>
      <p:cxnSp>
        <p:nvCxnSpPr>
          <p:cNvPr id="105" name="DA1"/>
          <p:cNvCxnSpPr/>
          <p:nvPr/>
        </p:nvCxnSpPr>
        <p:spPr>
          <a:xfrm>
            <a:off x="1410063" y="2568000"/>
            <a:ext cx="1287500" cy="0"/>
          </a:xfrm>
          <a:prstGeom prst="line">
            <a:avLst/>
          </a:prstGeom>
          <a:ln w="19622">
            <a:solidFill>
              <a:srgbClr val="8E6F3E"/>
            </a:solidFill>
            <a:tailEnd type="triangle" w="med" len="med"/>
          </a:ln>
        </p:spPr>
      </p:cxnSp>
      <p:sp>
        <p:nvSpPr>
          <p:cNvPr id="106" name="DD"/>
          <p:cNvSpPr/>
          <p:nvPr/>
        </p:nvSpPr>
        <p:spPr>
          <a:xfrm>
            <a:off x="2697563" y="3043200"/>
            <a:ext cx="721000" cy="580800"/>
          </a:xfrm>
          <a:prstGeom prst="rect">
            <a:avLst/>
          </a:prstGeom>
          <a:solidFill>
            <a:srgbClr val="F5F1E8"/>
          </a:solidFill>
          <a:ln w="13081">
            <a:solidFill>
              <a:srgbClr val="C9B991"/>
            </a:solidFill>
          </a:ln>
        </p:spPr>
        <p:txBody>
          <a:bodyPr wrap="square" lIns="54864" tIns="27432" rIns="54864" bIns="27432" anchor="ctr">
            <a:normAutofit/>
          </a:bodyPr>
          <a:lstStyle/>
          <a:p>
            <a:pPr algn="ctr">
              <a:buNone/>
            </a:pPr>
            <a:r>
              <a:rPr lang="en-US" sz="2400" b="1" i="0" dirty="0">
                <a:solidFill>
                  <a:srgbClr val="5C4826"/>
                </a:solidFill>
              </a:rPr>
              <a:t xml:space="preserve">D</a:t>
            </a:r>
          </a:p>
        </p:txBody>
      </p:sp>
      <p:cxnSp>
        <p:nvCxnSpPr>
          <p:cNvPr id="107" name="DA2"/>
          <p:cNvCxnSpPr/>
          <p:nvPr/>
        </p:nvCxnSpPr>
        <p:spPr>
          <a:xfrm>
            <a:off x="1410063" y="2568000"/>
            <a:ext cx="1287500" cy="765600"/>
          </a:xfrm>
          <a:prstGeom prst="line">
            <a:avLst/>
          </a:prstGeom>
          <a:ln w="19622">
            <a:solidFill>
              <a:srgbClr val="8E6F3E"/>
            </a:solidFill>
            <a:tailEnd type="triangle" w="med" len="med"/>
          </a:ln>
        </p:spPr>
      </p:cxnSp>
      <p:sp>
        <p:nvSpPr>
          <p:cNvPr id="108" name="DCap"/>
          <p:cNvSpPr txBox="1"/>
          <p:nvPr/>
        </p:nvSpPr>
        <p:spPr>
          <a:xfrm>
            <a:off x="689063" y="3782400"/>
            <a:ext cx="2987000" cy="343200"/>
          </a:xfrm>
          <a:prstGeom prst="rect">
            <a:avLst/>
          </a:prstGeom>
          <a:noFill/>
          <a:ln>
            <a:noFill/>
          </a:ln>
        </p:spPr>
        <p:txBody>
          <a:bodyPr wrap="square" lIns="0" tIns="0" rIns="0" bIns="0" anchor="t">
            <a:normAutofit/>
          </a:bodyPr>
          <a:lstStyle/>
          <a:p>
            <a:pPr algn="l">
              <a:buNone/>
            </a:pPr>
            <a:r>
              <a:rPr lang="en-US" sz="2400" b="0" i="1" dirty="0">
                <a:solidFill>
                  <a:srgbClr val="555960"/>
                </a:solidFill>
              </a:rPr>
              <a:t xml:space="preserve">A knows B, C, D</a:t>
            </a:r>
          </a:p>
        </p:txBody>
      </p:sp>
      <p:cxnSp>
        <p:nvCxnSpPr>
          <p:cNvPr id="109" name="Div"/>
          <p:cNvCxnSpPr/>
          <p:nvPr/>
        </p:nvCxnSpPr>
        <p:spPr>
          <a:xfrm>
            <a:off x="4366163" y="1248000"/>
            <a:ext cx="0" cy="2574000"/>
          </a:xfrm>
          <a:prstGeom prst="line">
            <a:avLst/>
          </a:prstGeom>
          <a:ln w="13081">
            <a:solidFill>
              <a:srgbClr val="C9B991"/>
            </a:solidFill>
            <a:prstDash val="dash"/>
          </a:ln>
        </p:spPr>
      </p:cxnSp>
      <p:sp>
        <p:nvSpPr>
          <p:cNvPr id="110" name="EvLbl"/>
          <p:cNvSpPr txBox="1"/>
          <p:nvPr/>
        </p:nvSpPr>
        <p:spPr>
          <a:xfrm>
            <a:off x="4757563" y="1050000"/>
            <a:ext cx="2678000" cy="369600"/>
          </a:xfrm>
          <a:prstGeom prst="rect">
            <a:avLst/>
          </a:prstGeom>
          <a:noFill/>
          <a:ln>
            <a:noFill/>
          </a:ln>
        </p:spPr>
        <p:txBody>
          <a:bodyPr wrap="square" lIns="0" tIns="0" rIns="0" bIns="0" anchor="t">
            <a:normAutofit/>
          </a:bodyPr>
          <a:lstStyle/>
          <a:p>
            <a:pPr algn="l">
              <a:buNone/>
            </a:pPr>
            <a:r>
              <a:rPr lang="en-US" sz="2400" b="1" i="0" dirty="0">
                <a:solidFill>
                  <a:srgbClr val="8E6F3E"/>
                </a:solidFill>
              </a:rPr>
              <a:t xml:space="preserve">EVENT-BASED</a:t>
            </a:r>
          </a:p>
        </p:txBody>
      </p:sp>
      <p:sp>
        <p:nvSpPr>
          <p:cNvPr id="111" name="EA"/>
          <p:cNvSpPr/>
          <p:nvPr/>
        </p:nvSpPr>
        <p:spPr>
          <a:xfrm>
            <a:off x="4757563" y="2238000"/>
            <a:ext cx="721000" cy="660000"/>
          </a:xfrm>
          <a:prstGeom prst="rect">
            <a:avLst/>
          </a:prstGeom>
          <a:solidFill>
            <a:srgbClr val="F5F1E8"/>
          </a:solidFill>
          <a:ln w="13081">
            <a:solidFill>
              <a:srgbClr val="C9B991"/>
            </a:solidFill>
          </a:ln>
        </p:spPr>
        <p:txBody>
          <a:bodyPr wrap="square" lIns="54864" tIns="27432" rIns="54864" bIns="27432" anchor="ctr">
            <a:normAutofit/>
          </a:bodyPr>
          <a:lstStyle/>
          <a:p>
            <a:pPr algn="ctr">
              <a:buNone/>
            </a:pPr>
            <a:r>
              <a:rPr lang="en-US" sz="2500" b="1" i="0" dirty="0">
                <a:solidFill>
                  <a:srgbClr val="5C4826"/>
                </a:solidFill>
              </a:rPr>
              <a:t xml:space="preserve">A</a:t>
            </a:r>
          </a:p>
        </p:txBody>
      </p:sp>
      <p:sp>
        <p:nvSpPr>
          <p:cNvPr id="112" name="EBus"/>
          <p:cNvSpPr/>
          <p:nvPr/>
        </p:nvSpPr>
        <p:spPr>
          <a:xfrm>
            <a:off x="6045063" y="1446000"/>
            <a:ext cx="391400" cy="2178000"/>
          </a:xfrm>
          <a:prstGeom prst="rect">
            <a:avLst/>
          </a:prstGeom>
          <a:solidFill>
            <a:srgbClr val="8E6F3E"/>
          </a:solidFill>
          <a:ln>
            <a:noFill/>
          </a:ln>
        </p:spPr>
        <p:txBody>
          <a:bodyPr wrap="square" lIns="54864" tIns="27432" rIns="54864" bIns="27432" anchor="ctr">
            <a:normAutofit/>
          </a:bodyPr>
          <a:lstStyle/>
          <a:p>
            <a:endParaRPr/>
          </a:p>
        </p:txBody>
      </p:sp>
      <p:sp>
        <p:nvSpPr>
          <p:cNvPr id="113" name="EBusLbl"/>
          <p:cNvSpPr txBox="1"/>
          <p:nvPr/>
        </p:nvSpPr>
        <p:spPr>
          <a:xfrm rot="-5400000">
            <a:off x="5313763" y="2363400"/>
            <a:ext cx="1854000" cy="343200"/>
          </a:xfrm>
          <a:prstGeom prst="rect">
            <a:avLst/>
          </a:prstGeom>
          <a:noFill/>
          <a:ln>
            <a:noFill/>
          </a:ln>
        </p:spPr>
        <p:txBody>
          <a:bodyPr wrap="square" lIns="0" tIns="0" rIns="0" bIns="0" anchor="t">
            <a:normAutofit/>
          </a:bodyPr>
          <a:lstStyle/>
          <a:p>
            <a:pPr algn="ctr">
              <a:buNone/>
            </a:pPr>
            <a:r>
              <a:rPr lang="en-US" sz="2400" b="1" i="0" dirty="0">
                <a:solidFill>
                  <a:srgbClr val="FFFFFF"/>
                </a:solidFill>
              </a:rPr>
              <a:t xml:space="preserve">EVENT BUS</a:t>
            </a:r>
          </a:p>
        </p:txBody>
      </p:sp>
      <p:cxnSp>
        <p:nvCxnSpPr>
          <p:cNvPr id="114" name="EAB"/>
          <p:cNvCxnSpPr/>
          <p:nvPr/>
        </p:nvCxnSpPr>
        <p:spPr>
          <a:xfrm>
            <a:off x="5478563" y="2568000"/>
            <a:ext cx="566500" cy="0"/>
          </a:xfrm>
          <a:prstGeom prst="line">
            <a:avLst/>
          </a:prstGeom>
          <a:ln w="19622">
            <a:solidFill>
              <a:srgbClr val="8E6F3E"/>
            </a:solidFill>
            <a:tailEnd type="triangle" w="med" len="med"/>
          </a:ln>
        </p:spPr>
      </p:cxnSp>
      <p:sp>
        <p:nvSpPr>
          <p:cNvPr id="115" name="EB"/>
          <p:cNvSpPr/>
          <p:nvPr/>
        </p:nvSpPr>
        <p:spPr>
          <a:xfrm>
            <a:off x="7332563" y="1512000"/>
            <a:ext cx="721000" cy="580800"/>
          </a:xfrm>
          <a:prstGeom prst="rect">
            <a:avLst/>
          </a:prstGeom>
          <a:solidFill>
            <a:srgbClr val="F5F1E8"/>
          </a:solidFill>
          <a:ln w="13081">
            <a:solidFill>
              <a:srgbClr val="C9B991"/>
            </a:solidFill>
          </a:ln>
        </p:spPr>
        <p:txBody>
          <a:bodyPr wrap="square" lIns="54864" tIns="27432" rIns="54864" bIns="27432" anchor="ctr">
            <a:normAutofit/>
          </a:bodyPr>
          <a:lstStyle/>
          <a:p>
            <a:pPr algn="ctr">
              <a:buNone/>
            </a:pPr>
            <a:r>
              <a:rPr lang="en-US" sz="2400" b="1" i="0" dirty="0">
                <a:solidFill>
                  <a:srgbClr val="5C4826"/>
                </a:solidFill>
              </a:rPr>
              <a:t xml:space="preserve">B</a:t>
            </a:r>
          </a:p>
        </p:txBody>
      </p:sp>
      <p:cxnSp>
        <p:nvCxnSpPr>
          <p:cNvPr id="116" name="EA0"/>
          <p:cNvCxnSpPr/>
          <p:nvPr/>
        </p:nvCxnSpPr>
        <p:spPr>
          <a:xfrm flipV="1">
            <a:off x="6436463" y="1802400"/>
            <a:ext cx="896100" cy="765600"/>
          </a:xfrm>
          <a:prstGeom prst="line">
            <a:avLst/>
          </a:prstGeom>
          <a:ln w="19622">
            <a:solidFill>
              <a:srgbClr val="8E6F3E"/>
            </a:solidFill>
            <a:tailEnd type="triangle" w="med" len="med"/>
          </a:ln>
        </p:spPr>
      </p:cxnSp>
      <p:sp>
        <p:nvSpPr>
          <p:cNvPr id="117" name="EC"/>
          <p:cNvSpPr/>
          <p:nvPr/>
        </p:nvSpPr>
        <p:spPr>
          <a:xfrm>
            <a:off x="7332563" y="2277600"/>
            <a:ext cx="721000" cy="580800"/>
          </a:xfrm>
          <a:prstGeom prst="rect">
            <a:avLst/>
          </a:prstGeom>
          <a:solidFill>
            <a:srgbClr val="F5F1E8"/>
          </a:solidFill>
          <a:ln w="13081">
            <a:solidFill>
              <a:srgbClr val="C9B991"/>
            </a:solidFill>
          </a:ln>
        </p:spPr>
        <p:txBody>
          <a:bodyPr wrap="square" lIns="54864" tIns="27432" rIns="54864" bIns="27432" anchor="ctr">
            <a:normAutofit/>
          </a:bodyPr>
          <a:lstStyle/>
          <a:p>
            <a:pPr algn="ctr">
              <a:buNone/>
            </a:pPr>
            <a:r>
              <a:rPr lang="en-US" sz="2400" b="1" i="0" dirty="0">
                <a:solidFill>
                  <a:srgbClr val="5C4826"/>
                </a:solidFill>
              </a:rPr>
              <a:t xml:space="preserve">C</a:t>
            </a:r>
          </a:p>
        </p:txBody>
      </p:sp>
      <p:cxnSp>
        <p:nvCxnSpPr>
          <p:cNvPr id="118" name="EA1"/>
          <p:cNvCxnSpPr/>
          <p:nvPr/>
        </p:nvCxnSpPr>
        <p:spPr>
          <a:xfrm>
            <a:off x="6436463" y="2568000"/>
            <a:ext cx="896100" cy="0"/>
          </a:xfrm>
          <a:prstGeom prst="line">
            <a:avLst/>
          </a:prstGeom>
          <a:ln w="19622">
            <a:solidFill>
              <a:srgbClr val="8E6F3E"/>
            </a:solidFill>
            <a:tailEnd type="triangle" w="med" len="med"/>
          </a:ln>
        </p:spPr>
      </p:cxnSp>
      <p:sp>
        <p:nvSpPr>
          <p:cNvPr id="119" name="ED"/>
          <p:cNvSpPr/>
          <p:nvPr/>
        </p:nvSpPr>
        <p:spPr>
          <a:xfrm>
            <a:off x="7332563" y="3043200"/>
            <a:ext cx="721000" cy="580800"/>
          </a:xfrm>
          <a:prstGeom prst="rect">
            <a:avLst/>
          </a:prstGeom>
          <a:solidFill>
            <a:srgbClr val="F5F1E8"/>
          </a:solidFill>
          <a:ln w="13081">
            <a:solidFill>
              <a:srgbClr val="C9B991"/>
            </a:solidFill>
          </a:ln>
        </p:spPr>
        <p:txBody>
          <a:bodyPr wrap="square" lIns="54864" tIns="27432" rIns="54864" bIns="27432" anchor="ctr">
            <a:normAutofit/>
          </a:bodyPr>
          <a:lstStyle/>
          <a:p>
            <a:pPr algn="ctr">
              <a:buNone/>
            </a:pPr>
            <a:r>
              <a:rPr lang="en-US" sz="2400" b="1" i="0" dirty="0">
                <a:solidFill>
                  <a:srgbClr val="5C4826"/>
                </a:solidFill>
              </a:rPr>
              <a:t xml:space="preserve">D</a:t>
            </a:r>
          </a:p>
        </p:txBody>
      </p:sp>
      <p:cxnSp>
        <p:nvCxnSpPr>
          <p:cNvPr id="120" name="EA2"/>
          <p:cNvCxnSpPr/>
          <p:nvPr/>
        </p:nvCxnSpPr>
        <p:spPr>
          <a:xfrm>
            <a:off x="6436463" y="2568000"/>
            <a:ext cx="896100" cy="765600"/>
          </a:xfrm>
          <a:prstGeom prst="line">
            <a:avLst/>
          </a:prstGeom>
          <a:ln w="19622">
            <a:solidFill>
              <a:srgbClr val="8E6F3E"/>
            </a:solidFill>
            <a:tailEnd type="triangle" w="med" len="med"/>
          </a:ln>
        </p:spPr>
      </p:cxnSp>
      <p:sp>
        <p:nvSpPr>
          <p:cNvPr id="121" name="ECap"/>
          <p:cNvSpPr txBox="1"/>
          <p:nvPr/>
        </p:nvSpPr>
        <p:spPr>
          <a:xfrm>
            <a:off x="4757563" y="3782400"/>
            <a:ext cx="3811000" cy="343200"/>
          </a:xfrm>
          <a:prstGeom prst="rect">
            <a:avLst/>
          </a:prstGeom>
          <a:noFill/>
          <a:ln>
            <a:noFill/>
          </a:ln>
        </p:spPr>
        <p:txBody>
          <a:bodyPr wrap="square" lIns="0" tIns="0" rIns="0" bIns="0" anchor="t">
            <a:normAutofit/>
          </a:bodyPr>
          <a:lstStyle/>
          <a:p>
            <a:pPr algn="l">
              <a:buNone/>
            </a:pPr>
            <a:r>
              <a:rPr lang="en-US" sz="2400" b="0" i="1" dirty="0">
                <a:solidFill>
                  <a:srgbClr val="555960"/>
                </a:solidFill>
              </a:rPr>
              <a:t xml:space="preserve">A knows the event, not the consumers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a:bodyPr>
          <a:lstStyle/>
          <a:p>
            <a:pPr algn="ctr">
              <a:buNone/>
              <a:defRPr b="0"/>
            </a:pPr>
            <a:r>
              <a:rPr lang="en-US" sz="3200" b="0" i="0" dirty="0">
                <a:solidFill>
                  <a:srgbClr val="000000"/>
                </a:solidFill>
              </a:rPr>
              <a:t xml:space="preserve">Patterns capture recurring architectural choices</a:t>
            </a:r>
          </a:p>
        </p:txBody>
      </p:sp>
      <p:sp>
        <p:nvSpPr>
          <p:cNvPr id="3" name="Slide Number Placeholder 2"/>
          <p:cNvSpPr>
            <a:spLocks noGrp="1"/>
          </p:cNvSpPr>
          <p:nvPr>
            <p:ph type="sldNum" sz="quarter" idx="4"/>
          </p:nvPr>
        </p:nvSpPr>
        <p:spPr/>
        <p:txBody>
          <a:bodyPr/>
          <a:lstStyle/>
          <a:p>
            <a:fld id="{B7EB45DA-9A0D-DC49-8E02-F30A5DDC21C3}" type="slidenum">
              <a:rPr lang="en-US" smtClean="0"/>
              <a:t>0</a:t>
            </a:fld>
            <a:endParaRPr lang="en-US"/>
          </a:p>
        </p:txBody>
      </p:sp>
      <p:sp>
        <p:nvSpPr>
          <p:cNvPr id="50" name="T50"/>
          <p:cNvSpPr txBox="1"/>
          <p:nvPr/>
        </p:nvSpPr>
        <p:spPr>
          <a:xfrm>
            <a:off x="685800" y="1737360"/>
            <a:ext cx="7772400" cy="355600"/>
          </a:xfrm>
          <a:prstGeom prst="rect">
            <a:avLst/>
          </a:prstGeom>
          <a:noFill/>
          <a:ln>
            <a:noFill/>
          </a:ln>
        </p:spPr>
        <p:txBody>
          <a:bodyPr wrap="square" lIns="0" tIns="0" rIns="0" bIns="0" anchor="t">
            <a:normAutofit/>
          </a:bodyPr>
          <a:lstStyle/>
          <a:p>
            <a:pPr algn="ctr">
              <a:buNone/>
            </a:pPr>
            <a:r>
              <a:rPr lang="en-US" sz="2200" b="1" i="0" dirty="0">
                <a:solidFill>
                  <a:srgbClr val="8E6F3E"/>
                </a:solidFill>
              </a:rPr>
              <a:t xml:space="preserve">SECTION 3</a:t>
            </a:r>
          </a:p>
        </p:txBody>
      </p:sp>
      <p:sp>
        <p:nvSpPr>
          <p:cNvPr id="51" name="S51"/>
          <p:cNvSpPr/>
          <p:nvPr/>
        </p:nvSpPr>
        <p:spPr>
          <a:xfrm>
            <a:off x="3429000" y="3383280"/>
            <a:ext cx="2286000" cy="50800"/>
          </a:xfrm>
          <a:prstGeom prst="rect">
            <a:avLst/>
          </a:prstGeom>
          <a:solidFill>
            <a:srgbClr val="8E6F3E"/>
          </a:solidFill>
          <a:ln>
            <a:noFill/>
          </a:ln>
        </p:spPr>
        <p:txBody>
          <a:bodyPr wrap="square" lIns="109728" tIns="82296" rIns="109728" bIns="82296" anchor="ctr">
            <a:normAutofit/>
          </a:bodyPr>
          <a:lstStyle/>
          <a:p>
            <a:endParaRPr/>
          </a:p>
        </p:txBody>
      </p:sp>
      <p:sp>
        <p:nvSpPr>
          <p:cNvPr id="52" name="T52"/>
          <p:cNvSpPr txBox="1"/>
          <p:nvPr/>
        </p:nvSpPr>
        <p:spPr>
          <a:xfrm>
            <a:off x="1371600" y="3977640"/>
            <a:ext cx="6400800" cy="1005840"/>
          </a:xfrm>
          <a:prstGeom prst="rect">
            <a:avLst/>
          </a:prstGeom>
          <a:noFill/>
          <a:ln>
            <a:noFill/>
          </a:ln>
        </p:spPr>
        <p:txBody>
          <a:bodyPr wrap="square" lIns="0" tIns="0" rIns="0" bIns="0" anchor="t">
            <a:normAutofit/>
          </a:bodyPr>
          <a:lstStyle/>
          <a:p>
            <a:pPr algn="ctr">
              <a:buNone/>
            </a:pPr>
            <a:r>
              <a:rPr lang="en-US" sz="2800" b="0" i="0" dirty="0">
                <a:solidFill>
                  <a:srgbClr val="555960"/>
                </a:solidFill>
              </a:rPr>
              <a:t xml:space="preserve">What organizations recur, and what do they tend to buy—and cost?</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600" b="0" i="0" dirty="0">
                <a:solidFill>
                  <a:srgbClr val="000000"/>
                </a:solidFill>
              </a:rPr>
              <a:t xml:space="preserve">An architecture diagram is useful only if it answers a question.</a:t>
            </a:r>
          </a:p>
        </p:txBody>
      </p:sp>
      <p:sp>
        <p:nvSpPr>
          <p:cNvPr id="3" name="Slide Number Placeholder 2"/>
          <p:cNvSpPr>
            <a:spLocks noGrp="1"/>
          </p:cNvSpPr>
          <p:nvPr>
            <p:ph type="sldNum" sz="quarter" idx="4"/>
          </p:nvPr>
        </p:nvSpPr>
        <p:spPr/>
        <p:txBody>
          <a:bodyPr/>
          <a:lstStyle/>
          <a:p>
            <a:fld id="{B7EB45DA-9A0D-DC49-8E02-F30A5DDC21C3}" type="slidenum">
              <a:rPr lang="en-US" smtClean="0"/>
              <a:t>0</a:t>
            </a:fld>
            <a:endParaRPr lang="en-US"/>
          </a:p>
        </p:txBody>
      </p:sp>
      <p:sp>
        <p:nvSpPr>
          <p:cNvPr id="61" name="T61"/>
          <p:cNvSpPr txBox="1"/>
          <p:nvPr/>
        </p:nvSpPr>
        <p:spPr>
          <a:xfrm>
            <a:off x="685800" y="5250000"/>
            <a:ext cx="7772400" cy="500000"/>
          </a:xfrm>
          <a:prstGeom prst="rect">
            <a:avLst/>
          </a:prstGeom>
          <a:noFill/>
          <a:ln>
            <a:noFill/>
          </a:ln>
        </p:spPr>
        <p:txBody>
          <a:bodyPr wrap="square" lIns="0" tIns="0" rIns="0" bIns="0" anchor="t">
            <a:normAutofit/>
          </a:bodyPr>
          <a:lstStyle/>
          <a:p>
            <a:pPr algn="ctr">
              <a:buNone/>
            </a:pPr>
            <a:r>
              <a:rPr lang="en-US" sz="2600" b="1" i="0" dirty="0">
                <a:solidFill>
                  <a:srgbClr val="000000"/>
                </a:solidFill>
              </a:rPr>
              <a:t xml:space="preserve">Different question → different model.</a:t>
            </a:r>
          </a:p>
        </p:txBody>
      </p:sp>
      <p:sp>
        <p:nvSpPr>
          <p:cNvPr id="100" name="PH0"/>
          <p:cNvSpPr txBox="1"/>
          <p:nvPr/>
        </p:nvSpPr>
        <p:spPr>
          <a:xfrm>
            <a:off x="156000" y="1120000"/>
            <a:ext cx="2832000" cy="377600"/>
          </a:xfrm>
          <a:prstGeom prst="rect">
            <a:avLst/>
          </a:prstGeom>
          <a:noFill/>
          <a:ln>
            <a:noFill/>
          </a:ln>
        </p:spPr>
        <p:txBody>
          <a:bodyPr wrap="square" lIns="0" tIns="0" rIns="0" bIns="0" anchor="t">
            <a:normAutofit/>
          </a:bodyPr>
          <a:lstStyle/>
          <a:p>
            <a:pPr algn="ctr">
              <a:buNone/>
            </a:pPr>
            <a:r>
              <a:rPr lang="en-US" sz="2600" b="1" i="0" dirty="0">
                <a:solidFill>
                  <a:srgbClr val="8E6F3E"/>
                </a:solidFill>
              </a:rPr>
              <a:t xml:space="preserve">CHANGE?</a:t>
            </a:r>
          </a:p>
        </p:txBody>
      </p:sp>
      <p:sp>
        <p:nvSpPr>
          <p:cNvPr id="101" name="PS0"/>
          <p:cNvSpPr txBox="1"/>
          <p:nvPr/>
        </p:nvSpPr>
        <p:spPr>
          <a:xfrm>
            <a:off x="156000" y="1540000"/>
            <a:ext cx="2832000" cy="306800"/>
          </a:xfrm>
          <a:prstGeom prst="rect">
            <a:avLst/>
          </a:prstGeom>
          <a:noFill/>
          <a:ln>
            <a:noFill/>
          </a:ln>
        </p:spPr>
        <p:txBody>
          <a:bodyPr wrap="square" lIns="0" tIns="0" rIns="0" bIns="0" anchor="t">
            <a:normAutofit/>
          </a:bodyPr>
          <a:lstStyle/>
          <a:p>
            <a:pPr algn="ctr">
              <a:buNone/>
            </a:pPr>
            <a:r>
              <a:rPr lang="en-US" sz="2000" b="0" i="1" dirty="0">
                <a:solidFill>
                  <a:srgbClr val="555960"/>
                </a:solidFill>
              </a:rPr>
              <a:t xml:space="preserve">dependency view</a:t>
            </a:r>
          </a:p>
        </p:txBody>
      </p:sp>
      <p:sp>
        <p:nvSpPr>
          <p:cNvPr id="102" name="PH1"/>
          <p:cNvSpPr txBox="1"/>
          <p:nvPr/>
        </p:nvSpPr>
        <p:spPr>
          <a:xfrm>
            <a:off x="3156000" y="1120000"/>
            <a:ext cx="2832000" cy="377600"/>
          </a:xfrm>
          <a:prstGeom prst="rect">
            <a:avLst/>
          </a:prstGeom>
          <a:noFill/>
          <a:ln>
            <a:noFill/>
          </a:ln>
        </p:spPr>
        <p:txBody>
          <a:bodyPr wrap="square" lIns="0" tIns="0" rIns="0" bIns="0" anchor="t">
            <a:normAutofit/>
          </a:bodyPr>
          <a:lstStyle/>
          <a:p>
            <a:pPr algn="ctr">
              <a:buNone/>
            </a:pPr>
            <a:r>
              <a:rPr lang="en-US" sz="2600" b="1" i="0" dirty="0">
                <a:solidFill>
                  <a:srgbClr val="8E6F3E"/>
                </a:solidFill>
              </a:rPr>
              <a:t xml:space="preserve">LATENCY?</a:t>
            </a:r>
          </a:p>
        </p:txBody>
      </p:sp>
      <p:sp>
        <p:nvSpPr>
          <p:cNvPr id="103" name="PS1"/>
          <p:cNvSpPr txBox="1"/>
          <p:nvPr/>
        </p:nvSpPr>
        <p:spPr>
          <a:xfrm>
            <a:off x="3156000" y="1540000"/>
            <a:ext cx="2832000" cy="306800"/>
          </a:xfrm>
          <a:prstGeom prst="rect">
            <a:avLst/>
          </a:prstGeom>
          <a:noFill/>
          <a:ln>
            <a:noFill/>
          </a:ln>
        </p:spPr>
        <p:txBody>
          <a:bodyPr wrap="square" lIns="0" tIns="0" rIns="0" bIns="0" anchor="t">
            <a:normAutofit/>
          </a:bodyPr>
          <a:lstStyle/>
          <a:p>
            <a:pPr algn="ctr">
              <a:buNone/>
            </a:pPr>
            <a:r>
              <a:rPr lang="en-US" sz="2000" b="0" i="1" dirty="0">
                <a:solidFill>
                  <a:srgbClr val="555960"/>
                </a:solidFill>
              </a:rPr>
              <a:t xml:space="preserve">weighted flow</a:t>
            </a:r>
          </a:p>
        </p:txBody>
      </p:sp>
      <p:cxnSp>
        <p:nvCxnSpPr>
          <p:cNvPr id="104" name="PDiv1"/>
          <p:cNvCxnSpPr/>
          <p:nvPr/>
        </p:nvCxnSpPr>
        <p:spPr>
          <a:xfrm>
            <a:off x="3072000" y="1200000"/>
            <a:ext cx="0" cy="3300000"/>
          </a:xfrm>
          <a:prstGeom prst="line">
            <a:avLst/>
          </a:prstGeom>
          <a:ln w="12700">
            <a:solidFill>
              <a:srgbClr val="C9B991"/>
            </a:solidFill>
            <a:prstDash val="dash"/>
          </a:ln>
        </p:spPr>
      </p:cxnSp>
      <p:sp>
        <p:nvSpPr>
          <p:cNvPr id="105" name="PH2"/>
          <p:cNvSpPr txBox="1"/>
          <p:nvPr/>
        </p:nvSpPr>
        <p:spPr>
          <a:xfrm>
            <a:off x="6156000" y="1120000"/>
            <a:ext cx="2832000" cy="377600"/>
          </a:xfrm>
          <a:prstGeom prst="rect">
            <a:avLst/>
          </a:prstGeom>
          <a:noFill/>
          <a:ln>
            <a:noFill/>
          </a:ln>
        </p:spPr>
        <p:txBody>
          <a:bodyPr wrap="square" lIns="0" tIns="0" rIns="0" bIns="0" anchor="t">
            <a:normAutofit/>
          </a:bodyPr>
          <a:lstStyle/>
          <a:p>
            <a:pPr algn="ctr">
              <a:buNone/>
            </a:pPr>
            <a:r>
              <a:rPr lang="en-US" sz="2600" b="1" i="0" dirty="0">
                <a:solidFill>
                  <a:srgbClr val="8E6F3E"/>
                </a:solidFill>
              </a:rPr>
              <a:t xml:space="preserve">FAILURE?</a:t>
            </a:r>
          </a:p>
        </p:txBody>
      </p:sp>
      <p:sp>
        <p:nvSpPr>
          <p:cNvPr id="106" name="PS2"/>
          <p:cNvSpPr txBox="1"/>
          <p:nvPr/>
        </p:nvSpPr>
        <p:spPr>
          <a:xfrm>
            <a:off x="6156000" y="1540000"/>
            <a:ext cx="2832000" cy="306800"/>
          </a:xfrm>
          <a:prstGeom prst="rect">
            <a:avLst/>
          </a:prstGeom>
          <a:noFill/>
          <a:ln>
            <a:noFill/>
          </a:ln>
        </p:spPr>
        <p:txBody>
          <a:bodyPr wrap="square" lIns="0" tIns="0" rIns="0" bIns="0" anchor="t">
            <a:normAutofit/>
          </a:bodyPr>
          <a:lstStyle/>
          <a:p>
            <a:pPr algn="ctr">
              <a:buNone/>
            </a:pPr>
            <a:r>
              <a:rPr lang="en-US" sz="2000" b="0" i="1" dirty="0">
                <a:solidFill>
                  <a:srgbClr val="555960"/>
                </a:solidFill>
              </a:rPr>
              <a:t xml:space="preserve">deployment view</a:t>
            </a:r>
          </a:p>
        </p:txBody>
      </p:sp>
      <p:cxnSp>
        <p:nvCxnSpPr>
          <p:cNvPr id="107" name="PDiv2"/>
          <p:cNvCxnSpPr/>
          <p:nvPr/>
        </p:nvCxnSpPr>
        <p:spPr>
          <a:xfrm>
            <a:off x="6072000" y="1200000"/>
            <a:ext cx="0" cy="3300000"/>
          </a:xfrm>
          <a:prstGeom prst="line">
            <a:avLst/>
          </a:prstGeom>
          <a:ln w="12700">
            <a:solidFill>
              <a:srgbClr val="C9B991"/>
            </a:solidFill>
            <a:prstDash val="dash"/>
          </a:ln>
        </p:spPr>
      </p:cxnSp>
      <p:sp>
        <p:nvSpPr>
          <p:cNvPr id="108" name="P1A"/>
          <p:cNvSpPr/>
          <p:nvPr/>
        </p:nvSpPr>
        <p:spPr>
          <a:xfrm>
            <a:off x="746000" y="21628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 xml:space="preserve">A</a:t>
            </a:r>
          </a:p>
        </p:txBody>
      </p:sp>
      <p:sp>
        <p:nvSpPr>
          <p:cNvPr id="109" name="P1B"/>
          <p:cNvSpPr/>
          <p:nvPr/>
        </p:nvSpPr>
        <p:spPr>
          <a:xfrm>
            <a:off x="746000" y="30478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 xml:space="preserve">B</a:t>
            </a:r>
          </a:p>
        </p:txBody>
      </p:sp>
      <p:sp>
        <p:nvSpPr>
          <p:cNvPr id="110" name="P1C"/>
          <p:cNvSpPr/>
          <p:nvPr/>
        </p:nvSpPr>
        <p:spPr>
          <a:xfrm>
            <a:off x="746000" y="39328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 xml:space="preserve">C</a:t>
            </a:r>
          </a:p>
        </p:txBody>
      </p:sp>
      <p:sp>
        <p:nvSpPr>
          <p:cNvPr id="111" name="P1D"/>
          <p:cNvSpPr/>
          <p:nvPr/>
        </p:nvSpPr>
        <p:spPr>
          <a:xfrm>
            <a:off x="2044000" y="30478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 xml:space="preserve">D</a:t>
            </a:r>
          </a:p>
        </p:txBody>
      </p:sp>
      <p:cxnSp>
        <p:nvCxnSpPr>
          <p:cNvPr id="112" name="P1ab"/>
          <p:cNvCxnSpPr/>
          <p:nvPr/>
        </p:nvCxnSpPr>
        <p:spPr>
          <a:xfrm>
            <a:off x="1123600" y="2670200"/>
            <a:ext cx="0" cy="377600"/>
          </a:xfrm>
          <a:prstGeom prst="line">
            <a:avLst/>
          </a:prstGeom>
          <a:ln w="22479">
            <a:solidFill>
              <a:srgbClr val="8E6F3E"/>
            </a:solidFill>
            <a:tailEnd type="triangle" w="med" len="med"/>
          </a:ln>
        </p:spPr>
      </p:cxnSp>
      <p:cxnSp>
        <p:nvCxnSpPr>
          <p:cNvPr id="113" name="P1bc"/>
          <p:cNvCxnSpPr/>
          <p:nvPr/>
        </p:nvCxnSpPr>
        <p:spPr>
          <a:xfrm>
            <a:off x="1123600" y="3555200"/>
            <a:ext cx="0" cy="377600"/>
          </a:xfrm>
          <a:prstGeom prst="line">
            <a:avLst/>
          </a:prstGeom>
          <a:ln w="22479">
            <a:solidFill>
              <a:srgbClr val="8E6F3E"/>
            </a:solidFill>
            <a:tailEnd type="triangle" w="med" len="med"/>
          </a:ln>
        </p:spPr>
      </p:cxnSp>
      <p:cxnSp>
        <p:nvCxnSpPr>
          <p:cNvPr id="114" name="P1bd"/>
          <p:cNvCxnSpPr/>
          <p:nvPr/>
        </p:nvCxnSpPr>
        <p:spPr>
          <a:xfrm>
            <a:off x="1501200" y="3301500"/>
            <a:ext cx="542800" cy="0"/>
          </a:xfrm>
          <a:prstGeom prst="line">
            <a:avLst/>
          </a:prstGeom>
          <a:ln w="22479">
            <a:solidFill>
              <a:srgbClr val="8E6F3E"/>
            </a:solidFill>
            <a:tailEnd type="triangle" w="med" len="med"/>
          </a:ln>
        </p:spPr>
      </p:cxnSp>
      <p:sp>
        <p:nvSpPr>
          <p:cNvPr id="115" name="P2A"/>
          <p:cNvSpPr/>
          <p:nvPr/>
        </p:nvSpPr>
        <p:spPr>
          <a:xfrm>
            <a:off x="4194400" y="21038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 xml:space="preserve">A</a:t>
            </a:r>
          </a:p>
        </p:txBody>
      </p:sp>
      <p:sp>
        <p:nvSpPr>
          <p:cNvPr id="116" name="P2B"/>
          <p:cNvSpPr/>
          <p:nvPr/>
        </p:nvSpPr>
        <p:spPr>
          <a:xfrm>
            <a:off x="4194400" y="30478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 xml:space="preserve">B</a:t>
            </a:r>
          </a:p>
        </p:txBody>
      </p:sp>
      <p:sp>
        <p:nvSpPr>
          <p:cNvPr id="117" name="P2C"/>
          <p:cNvSpPr/>
          <p:nvPr/>
        </p:nvSpPr>
        <p:spPr>
          <a:xfrm>
            <a:off x="4194400" y="39918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 xml:space="preserve">C</a:t>
            </a:r>
          </a:p>
        </p:txBody>
      </p:sp>
      <p:cxnSp>
        <p:nvCxnSpPr>
          <p:cNvPr id="118" name="P2ab"/>
          <p:cNvCxnSpPr/>
          <p:nvPr/>
        </p:nvCxnSpPr>
        <p:spPr>
          <a:xfrm>
            <a:off x="4572000" y="2611200"/>
            <a:ext cx="0" cy="436600"/>
          </a:xfrm>
          <a:prstGeom prst="line">
            <a:avLst/>
          </a:prstGeom>
          <a:ln w="22479">
            <a:solidFill>
              <a:srgbClr val="8E6F3E"/>
            </a:solidFill>
            <a:tailEnd type="triangle" w="med" len="med"/>
          </a:ln>
        </p:spPr>
      </p:cxnSp>
      <p:sp>
        <p:nvSpPr>
          <p:cNvPr id="119" name="P2abL"/>
          <p:cNvSpPr txBox="1"/>
          <p:nvPr/>
        </p:nvSpPr>
        <p:spPr>
          <a:xfrm>
            <a:off x="4690000" y="2658400"/>
            <a:ext cx="826000" cy="306800"/>
          </a:xfrm>
          <a:prstGeom prst="rect">
            <a:avLst/>
          </a:prstGeom>
          <a:noFill/>
          <a:ln>
            <a:noFill/>
          </a:ln>
        </p:spPr>
        <p:txBody>
          <a:bodyPr wrap="square" lIns="0" tIns="0" rIns="0" bIns="0" anchor="t">
            <a:normAutofit/>
          </a:bodyPr>
          <a:lstStyle/>
          <a:p>
            <a:pPr algn="l">
              <a:buNone/>
            </a:pPr>
            <a:r>
              <a:rPr lang="en-US" sz="2000" b="0" i="1" dirty="0">
                <a:solidFill>
                  <a:srgbClr val="555960"/>
                </a:solidFill>
              </a:rPr>
              <a:t xml:space="preserve">20 ms</a:t>
            </a:r>
          </a:p>
        </p:txBody>
      </p:sp>
      <p:cxnSp>
        <p:nvCxnSpPr>
          <p:cNvPr id="120" name="P2bc"/>
          <p:cNvCxnSpPr/>
          <p:nvPr/>
        </p:nvCxnSpPr>
        <p:spPr>
          <a:xfrm>
            <a:off x="4572000" y="3555200"/>
            <a:ext cx="0" cy="436600"/>
          </a:xfrm>
          <a:prstGeom prst="line">
            <a:avLst/>
          </a:prstGeom>
          <a:ln w="44958">
            <a:solidFill>
              <a:srgbClr val="8E6F3E"/>
            </a:solidFill>
            <a:tailEnd type="triangle" w="med" len="med"/>
          </a:ln>
        </p:spPr>
      </p:cxnSp>
      <p:sp>
        <p:nvSpPr>
          <p:cNvPr id="121" name="P2bcL"/>
          <p:cNvSpPr txBox="1"/>
          <p:nvPr/>
        </p:nvSpPr>
        <p:spPr>
          <a:xfrm>
            <a:off x="4690000" y="3602400"/>
            <a:ext cx="826000" cy="306800"/>
          </a:xfrm>
          <a:prstGeom prst="rect">
            <a:avLst/>
          </a:prstGeom>
          <a:noFill/>
          <a:ln>
            <a:noFill/>
          </a:ln>
        </p:spPr>
        <p:txBody>
          <a:bodyPr wrap="square" lIns="0" tIns="0" rIns="0" bIns="0" anchor="t">
            <a:normAutofit/>
          </a:bodyPr>
          <a:lstStyle/>
          <a:p>
            <a:pPr algn="l">
              <a:buNone/>
            </a:pPr>
            <a:r>
              <a:rPr lang="en-US" sz="2000" b="1" i="1" dirty="0">
                <a:solidFill>
                  <a:srgbClr val="5C4826"/>
                </a:solidFill>
              </a:rPr>
              <a:t xml:space="preserve">80 ms</a:t>
            </a:r>
          </a:p>
        </p:txBody>
      </p:sp>
      <p:sp>
        <p:nvSpPr>
          <p:cNvPr id="122" name="P3R0"/>
          <p:cNvSpPr/>
          <p:nvPr/>
        </p:nvSpPr>
        <p:spPr>
          <a:xfrm>
            <a:off x="6226800" y="2151000"/>
            <a:ext cx="1274400" cy="2301000"/>
          </a:xfrm>
          <a:prstGeom prst="roundRect">
            <a:avLst/>
          </a:prstGeom>
          <a:solidFill>
            <a:srgbClr val="FBF8F2"/>
          </a:solidFill>
          <a:ln w="18732">
            <a:solidFill>
              <a:srgbClr val="C9B991"/>
            </a:solidFill>
            <a:prstDash val="dash"/>
          </a:ln>
        </p:spPr>
        <p:txBody>
          <a:bodyPr wrap="square" lIns="54864" tIns="27432" rIns="54864" bIns="27432" anchor="t">
            <a:normAutofit/>
          </a:bodyPr>
          <a:lstStyle/>
          <a:p>
            <a:pPr algn="ctr">
              <a:buNone/>
            </a:pPr>
            <a:r>
              <a:rPr lang="en-US" sz="2000" b="1" i="0" dirty="0">
                <a:solidFill>
                  <a:srgbClr val="8E6F3E"/>
                </a:solidFill>
              </a:rPr>
              <a:t xml:space="preserve">REGION 1</a:t>
            </a:r>
          </a:p>
        </p:txBody>
      </p:sp>
      <p:sp>
        <p:nvSpPr>
          <p:cNvPr id="123" name="P3A"/>
          <p:cNvSpPr/>
          <p:nvPr/>
        </p:nvSpPr>
        <p:spPr>
          <a:xfrm>
            <a:off x="6486400" y="26820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 xml:space="preserve">A</a:t>
            </a:r>
          </a:p>
        </p:txBody>
      </p:sp>
      <p:sp>
        <p:nvSpPr>
          <p:cNvPr id="124" name="P3B"/>
          <p:cNvSpPr/>
          <p:nvPr/>
        </p:nvSpPr>
        <p:spPr>
          <a:xfrm>
            <a:off x="6486400" y="35080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 xml:space="preserve">B</a:t>
            </a:r>
          </a:p>
        </p:txBody>
      </p:sp>
      <p:sp>
        <p:nvSpPr>
          <p:cNvPr id="125" name="P3R1"/>
          <p:cNvSpPr/>
          <p:nvPr/>
        </p:nvSpPr>
        <p:spPr>
          <a:xfrm>
            <a:off x="7678200" y="2151000"/>
            <a:ext cx="1274400" cy="2301000"/>
          </a:xfrm>
          <a:prstGeom prst="roundRect">
            <a:avLst/>
          </a:prstGeom>
          <a:solidFill>
            <a:srgbClr val="FBF8F2"/>
          </a:solidFill>
          <a:ln w="18732">
            <a:solidFill>
              <a:srgbClr val="C9B991"/>
            </a:solidFill>
            <a:prstDash val="dash"/>
          </a:ln>
        </p:spPr>
        <p:txBody>
          <a:bodyPr wrap="square" lIns="54864" tIns="27432" rIns="54864" bIns="27432" anchor="t">
            <a:normAutofit/>
          </a:bodyPr>
          <a:lstStyle/>
          <a:p>
            <a:pPr algn="ctr">
              <a:buNone/>
            </a:pPr>
            <a:r>
              <a:rPr lang="en-US" sz="2000" b="1" i="0" dirty="0">
                <a:solidFill>
                  <a:srgbClr val="8E6F3E"/>
                </a:solidFill>
              </a:rPr>
              <a:t xml:space="preserve">REGION 2</a:t>
            </a:r>
          </a:p>
        </p:txBody>
      </p:sp>
      <p:sp>
        <p:nvSpPr>
          <p:cNvPr id="126" name="P3C"/>
          <p:cNvSpPr/>
          <p:nvPr/>
        </p:nvSpPr>
        <p:spPr>
          <a:xfrm>
            <a:off x="7937800" y="26820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 xml:space="preserve">C</a:t>
            </a:r>
          </a:p>
        </p:txBody>
      </p:sp>
      <p:sp>
        <p:nvSpPr>
          <p:cNvPr id="127" name="P3D"/>
          <p:cNvSpPr/>
          <p:nvPr/>
        </p:nvSpPr>
        <p:spPr>
          <a:xfrm>
            <a:off x="7937800" y="35080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 xml:space="preserve">D</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 xml:space="preserve">Some claims require less betting than others.</a:t>
            </a:r>
          </a:p>
        </p:txBody>
      </p:sp>
      <p:sp>
        <p:nvSpPr>
          <p:cNvPr id="3" name="Slide Number Placeholder 2"/>
          <p:cNvSpPr>
            <a:spLocks noGrp="1"/>
          </p:cNvSpPr>
          <p:nvPr>
            <p:ph type="sldNum" sz="quarter" idx="4"/>
          </p:nvPr>
        </p:nvSpPr>
        <p:spPr/>
        <p:txBody>
          <a:bodyPr/>
          <a:lstStyle/>
          <a:p>
            <a:fld id="{B7EB45DA-9A0D-DC49-8E02-F30A5DDC21C3}" type="slidenum">
              <a:rPr lang="en-US" smtClean="0"/>
              <a:t>0</a:t>
            </a:fld>
            <a:endParaRPr lang="en-US"/>
          </a:p>
        </p:txBody>
      </p:sp>
      <p:sp>
        <p:nvSpPr>
          <p:cNvPr id="61" name="Band61"/>
          <p:cNvSpPr/>
          <p:nvPr/>
        </p:nvSpPr>
        <p:spPr>
          <a:xfrm>
            <a:off x="279400" y="5300000"/>
            <a:ext cx="8585200" cy="900000"/>
          </a:xfrm>
          <a:prstGeom prst="rect">
            <a:avLst/>
          </a:prstGeom>
          <a:solidFill>
            <a:srgbClr val="8E6F3E"/>
          </a:solidFill>
          <a:ln>
            <a:noFill/>
          </a:ln>
        </p:spPr>
        <p:txBody>
          <a:bodyPr wrap="square" lIns="109728" tIns="82296" rIns="109728" bIns="82296" anchor="ctr">
            <a:normAutofit/>
          </a:bodyPr>
          <a:lstStyle/>
          <a:p>
            <a:pPr algn="ctr">
              <a:buNone/>
            </a:pPr>
            <a:r>
              <a:rPr lang="en-US" sz="2400" b="1" i="0" dirty="0">
                <a:solidFill>
                  <a:srgbClr val="FFFFFF"/>
                </a:solidFill>
              </a:rPr>
              <a:t xml:space="preserve">The more faithfully the model captures the property we care about, the less we have to bet.</a:t>
            </a:r>
          </a:p>
        </p:txBody>
      </p:sp>
      <p:cxnSp>
        <p:nvCxnSpPr>
          <p:cNvPr id="100" name="Axis"/>
          <p:cNvCxnSpPr/>
          <p:nvPr/>
        </p:nvCxnSpPr>
        <p:spPr>
          <a:xfrm>
            <a:off x="745000" y="3109500"/>
            <a:ext cx="7694880" cy="0"/>
          </a:xfrm>
          <a:prstGeom prst="line">
            <a:avLst/>
          </a:prstGeom>
          <a:ln w="29146">
            <a:solidFill>
              <a:srgbClr val="8E6F3E"/>
            </a:solidFill>
            <a:headEnd type="triangle" w="med" len="med"/>
            <a:tailEnd type="triangle" w="med" len="med"/>
          </a:ln>
        </p:spPr>
      </p:cxnSp>
      <p:sp>
        <p:nvSpPr>
          <p:cNvPr id="101" name="MoreLbl"/>
          <p:cNvSpPr txBox="1"/>
          <p:nvPr/>
        </p:nvSpPr>
        <p:spPr>
          <a:xfrm>
            <a:off x="643000" y="2510100"/>
            <a:ext cx="1428000" cy="486000"/>
          </a:xfrm>
          <a:prstGeom prst="rect">
            <a:avLst/>
          </a:prstGeom>
          <a:noFill/>
          <a:ln>
            <a:noFill/>
          </a:ln>
        </p:spPr>
        <p:txBody>
          <a:bodyPr wrap="square" lIns="0" tIns="0" rIns="0" bIns="0" anchor="t">
            <a:normAutofit/>
          </a:bodyPr>
          <a:lstStyle/>
          <a:p>
            <a:pPr algn="l">
              <a:buNone/>
            </a:pPr>
            <a:r>
              <a:rPr lang="en-US" sz="2000" b="1" i="0" dirty="0">
                <a:solidFill>
                  <a:srgbClr val="5C4826"/>
                </a:solidFill>
              </a:rPr>
              <a:t xml:space="preserve">MORE BETTING</a:t>
            </a:r>
          </a:p>
        </p:txBody>
      </p:sp>
      <p:sp>
        <p:nvSpPr>
          <p:cNvPr id="102" name="LessLbl"/>
          <p:cNvSpPr txBox="1"/>
          <p:nvPr/>
        </p:nvSpPr>
        <p:spPr>
          <a:xfrm>
            <a:off x="7171000" y="2510100"/>
            <a:ext cx="1326000" cy="486000"/>
          </a:xfrm>
          <a:prstGeom prst="rect">
            <a:avLst/>
          </a:prstGeom>
          <a:noFill/>
          <a:ln>
            <a:noFill/>
          </a:ln>
        </p:spPr>
        <p:txBody>
          <a:bodyPr wrap="square" lIns="0" tIns="0" rIns="0" bIns="0" anchor="t">
            <a:normAutofit/>
          </a:bodyPr>
          <a:lstStyle/>
          <a:p>
            <a:pPr algn="r">
              <a:buNone/>
            </a:pPr>
            <a:r>
              <a:rPr lang="en-US" sz="2000" b="1" i="0" dirty="0">
                <a:solidFill>
                  <a:srgbClr val="5C4826"/>
                </a:solidFill>
              </a:rPr>
              <a:t xml:space="preserve">LESS BETTING</a:t>
            </a:r>
          </a:p>
        </p:txBody>
      </p:sp>
      <p:sp>
        <p:nvSpPr>
          <p:cNvPr id="103" name="Stop0"/>
          <p:cNvSpPr/>
          <p:nvPr/>
        </p:nvSpPr>
        <p:spPr>
          <a:xfrm>
            <a:off x="1737000" y="2979500"/>
            <a:ext cx="260000" cy="260000"/>
          </a:xfrm>
          <a:prstGeom prst="ellipse">
            <a:avLst/>
          </a:prstGeom>
          <a:solidFill>
            <a:srgbClr val="8E6F3E"/>
          </a:solidFill>
          <a:ln>
            <a:noFill/>
          </a:ln>
        </p:spPr>
        <p:txBody>
          <a:bodyPr wrap="square" lIns="54864" tIns="27432" rIns="54864" bIns="27432" anchor="ctr">
            <a:normAutofit/>
          </a:bodyPr>
          <a:lstStyle/>
          <a:p>
            <a:endParaRPr/>
          </a:p>
        </p:txBody>
      </p:sp>
      <p:sp>
        <p:nvSpPr>
          <p:cNvPr id="104" name="StopLbl0"/>
          <p:cNvSpPr txBox="1"/>
          <p:nvPr/>
        </p:nvSpPr>
        <p:spPr>
          <a:xfrm>
            <a:off x="977000" y="1570500"/>
            <a:ext cx="1780000" cy="874800"/>
          </a:xfrm>
          <a:prstGeom prst="rect">
            <a:avLst/>
          </a:prstGeom>
          <a:noFill/>
          <a:ln>
            <a:noFill/>
          </a:ln>
        </p:spPr>
        <p:txBody>
          <a:bodyPr wrap="square" lIns="0" tIns="0" rIns="0" bIns="0" anchor="t">
            <a:normAutofit/>
          </a:bodyPr>
          <a:lstStyle/>
          <a:p>
            <a:pPr algn="ctr">
              <a:buNone/>
            </a:pPr>
            <a:r>
              <a:rPr lang="en-US" sz="2100" b="1" i="0" dirty="0">
                <a:solidFill>
                  <a:srgbClr val="8E6F3E"/>
                </a:solidFill>
              </a:rPr>
              <a:t xml:space="preserve">REASONED</a:t>
            </a:r>
          </a:p>
          <a:p>
            <a:pPr algn="ctr">
              <a:spcBef>
                <a:spcPts val="262"/>
              </a:spcBef>
              <a:buNone/>
            </a:pPr>
            <a:r>
              <a:rPr lang="en-US" sz="2100" b="1" i="0" dirty="0">
                <a:solidFill>
                  <a:srgbClr val="8E6F3E"/>
                </a:solidFill>
              </a:rPr>
              <a:t xml:space="preserve">EXPECTATION</a:t>
            </a:r>
          </a:p>
        </p:txBody>
      </p:sp>
      <p:sp>
        <p:nvSpPr>
          <p:cNvPr id="105" name="StopQ0"/>
          <p:cNvSpPr txBox="1"/>
          <p:nvPr/>
        </p:nvSpPr>
        <p:spPr>
          <a:xfrm>
            <a:off x="1000000" y="3595500"/>
            <a:ext cx="1734000" cy="1134000"/>
          </a:xfrm>
          <a:prstGeom prst="rect">
            <a:avLst/>
          </a:prstGeom>
          <a:noFill/>
          <a:ln>
            <a:noFill/>
          </a:ln>
        </p:spPr>
        <p:txBody>
          <a:bodyPr wrap="square" lIns="0" tIns="0" rIns="0" bIns="0" anchor="t">
            <a:normAutofit/>
          </a:bodyPr>
          <a:lstStyle/>
          <a:p>
            <a:pPr algn="ctr">
              <a:buNone/>
            </a:pPr>
            <a:r>
              <a:rPr lang="en-US" sz="1900" b="0" i="1" dirty="0">
                <a:solidFill>
                  <a:srgbClr val="555960"/>
                </a:solidFill>
              </a:rPr>
              <a:t xml:space="preserve">“should remain local”</a:t>
            </a:r>
          </a:p>
        </p:txBody>
      </p:sp>
      <p:sp>
        <p:nvSpPr>
          <p:cNvPr id="106" name="Stop1"/>
          <p:cNvSpPr/>
          <p:nvPr/>
        </p:nvSpPr>
        <p:spPr>
          <a:xfrm>
            <a:off x="3471000" y="2979500"/>
            <a:ext cx="260000" cy="260000"/>
          </a:xfrm>
          <a:prstGeom prst="ellipse">
            <a:avLst/>
          </a:prstGeom>
          <a:solidFill>
            <a:srgbClr val="8E6F3E"/>
          </a:solidFill>
          <a:ln>
            <a:noFill/>
          </a:ln>
        </p:spPr>
        <p:txBody>
          <a:bodyPr wrap="square" lIns="54864" tIns="27432" rIns="54864" bIns="27432" anchor="ctr">
            <a:normAutofit/>
          </a:bodyPr>
          <a:lstStyle/>
          <a:p>
            <a:endParaRPr/>
          </a:p>
        </p:txBody>
      </p:sp>
      <p:sp>
        <p:nvSpPr>
          <p:cNvPr id="107" name="StopLbl1"/>
          <p:cNvSpPr txBox="1"/>
          <p:nvPr/>
        </p:nvSpPr>
        <p:spPr>
          <a:xfrm>
            <a:off x="2711000" y="1570500"/>
            <a:ext cx="1780000" cy="874800"/>
          </a:xfrm>
          <a:prstGeom prst="rect">
            <a:avLst/>
          </a:prstGeom>
          <a:noFill/>
          <a:ln>
            <a:noFill/>
          </a:ln>
        </p:spPr>
        <p:txBody>
          <a:bodyPr wrap="square" lIns="0" tIns="0" rIns="0" bIns="0" anchor="t">
            <a:normAutofit/>
          </a:bodyPr>
          <a:lstStyle/>
          <a:p>
            <a:pPr algn="ctr">
              <a:buNone/>
            </a:pPr>
            <a:r>
              <a:rPr lang="en-US" sz="2100" b="1" i="0" dirty="0">
                <a:solidFill>
                  <a:srgbClr val="8E6F3E"/>
                </a:solidFill>
              </a:rPr>
              <a:t xml:space="preserve">STRUCTURAL</a:t>
            </a:r>
          </a:p>
          <a:p>
            <a:pPr algn="ctr">
              <a:spcBef>
                <a:spcPts val="262"/>
              </a:spcBef>
              <a:buNone/>
            </a:pPr>
            <a:r>
              <a:rPr lang="en-US" sz="2100" b="1" i="0" dirty="0">
                <a:solidFill>
                  <a:srgbClr val="8E6F3E"/>
                </a:solidFill>
              </a:rPr>
              <a:t xml:space="preserve">ARGUMENT</a:t>
            </a:r>
          </a:p>
        </p:txBody>
      </p:sp>
      <p:sp>
        <p:nvSpPr>
          <p:cNvPr id="108" name="StopQ1"/>
          <p:cNvSpPr txBox="1"/>
          <p:nvPr/>
        </p:nvSpPr>
        <p:spPr>
          <a:xfrm>
            <a:off x="2734000" y="3595500"/>
            <a:ext cx="1734000" cy="1134000"/>
          </a:xfrm>
          <a:prstGeom prst="rect">
            <a:avLst/>
          </a:prstGeom>
          <a:noFill/>
          <a:ln>
            <a:noFill/>
          </a:ln>
        </p:spPr>
        <p:txBody>
          <a:bodyPr wrap="square" lIns="0" tIns="0" rIns="0" bIns="0" anchor="t">
            <a:normAutofit/>
          </a:bodyPr>
          <a:lstStyle/>
          <a:p>
            <a:pPr algn="ctr">
              <a:buNone/>
            </a:pPr>
            <a:r>
              <a:rPr lang="en-US" sz="1900" b="0" i="1" dirty="0">
                <a:solidFill>
                  <a:srgbClr val="555960"/>
                </a:solidFill>
              </a:rPr>
              <a:t xml:space="preserve">“no dependency crosses this boundary”</a:t>
            </a:r>
          </a:p>
        </p:txBody>
      </p:sp>
      <p:sp>
        <p:nvSpPr>
          <p:cNvPr id="109" name="Stop2"/>
          <p:cNvSpPr/>
          <p:nvPr/>
        </p:nvSpPr>
        <p:spPr>
          <a:xfrm>
            <a:off x="5205000" y="2979500"/>
            <a:ext cx="260000" cy="260000"/>
          </a:xfrm>
          <a:prstGeom prst="ellipse">
            <a:avLst/>
          </a:prstGeom>
          <a:solidFill>
            <a:srgbClr val="8E6F3E"/>
          </a:solidFill>
          <a:ln>
            <a:noFill/>
          </a:ln>
        </p:spPr>
        <p:txBody>
          <a:bodyPr wrap="square" lIns="54864" tIns="27432" rIns="54864" bIns="27432" anchor="ctr">
            <a:normAutofit/>
          </a:bodyPr>
          <a:lstStyle/>
          <a:p>
            <a:endParaRPr/>
          </a:p>
        </p:txBody>
      </p:sp>
      <p:sp>
        <p:nvSpPr>
          <p:cNvPr id="110" name="StopLbl2"/>
          <p:cNvSpPr txBox="1"/>
          <p:nvPr/>
        </p:nvSpPr>
        <p:spPr>
          <a:xfrm>
            <a:off x="4445000" y="1570500"/>
            <a:ext cx="1780000" cy="874800"/>
          </a:xfrm>
          <a:prstGeom prst="rect">
            <a:avLst/>
          </a:prstGeom>
          <a:noFill/>
          <a:ln>
            <a:noFill/>
          </a:ln>
        </p:spPr>
        <p:txBody>
          <a:bodyPr wrap="square" lIns="0" tIns="0" rIns="0" bIns="0" anchor="t">
            <a:normAutofit/>
          </a:bodyPr>
          <a:lstStyle/>
          <a:p>
            <a:pPr algn="ctr">
              <a:buNone/>
            </a:pPr>
            <a:r>
              <a:rPr lang="en-US" sz="2100" b="1" i="0" dirty="0">
                <a:solidFill>
                  <a:srgbClr val="8E6F3E"/>
                </a:solidFill>
              </a:rPr>
              <a:t xml:space="preserve">QUANTITATIVE</a:t>
            </a:r>
          </a:p>
          <a:p>
            <a:pPr algn="ctr">
              <a:spcBef>
                <a:spcPts val="262"/>
              </a:spcBef>
              <a:buNone/>
            </a:pPr>
            <a:r>
              <a:rPr lang="en-US" sz="2100" b="1" i="0" dirty="0">
                <a:solidFill>
                  <a:srgbClr val="8E6F3E"/>
                </a:solidFill>
              </a:rPr>
              <a:t xml:space="preserve">PREDICTION</a:t>
            </a:r>
          </a:p>
        </p:txBody>
      </p:sp>
      <p:sp>
        <p:nvSpPr>
          <p:cNvPr id="111" name="StopQ2"/>
          <p:cNvSpPr txBox="1"/>
          <p:nvPr/>
        </p:nvSpPr>
        <p:spPr>
          <a:xfrm>
            <a:off x="4468000" y="3595500"/>
            <a:ext cx="1734000" cy="1134000"/>
          </a:xfrm>
          <a:prstGeom prst="rect">
            <a:avLst/>
          </a:prstGeom>
          <a:noFill/>
          <a:ln>
            <a:noFill/>
          </a:ln>
        </p:spPr>
        <p:txBody>
          <a:bodyPr wrap="square" lIns="0" tIns="0" rIns="0" bIns="0" anchor="t">
            <a:normAutofit/>
          </a:bodyPr>
          <a:lstStyle/>
          <a:p>
            <a:pPr algn="ctr">
              <a:buNone/>
            </a:pPr>
            <a:r>
              <a:rPr lang="en-US" sz="1900" b="0" i="1" dirty="0">
                <a:solidFill>
                  <a:srgbClr val="555960"/>
                </a:solidFill>
              </a:rPr>
              <a:t xml:space="preserve">“≈ 11.5 s”</a:t>
            </a:r>
          </a:p>
        </p:txBody>
      </p:sp>
      <p:sp>
        <p:nvSpPr>
          <p:cNvPr id="112" name="Stop3"/>
          <p:cNvSpPr/>
          <p:nvPr/>
        </p:nvSpPr>
        <p:spPr>
          <a:xfrm>
            <a:off x="6939000" y="2979500"/>
            <a:ext cx="260000" cy="260000"/>
          </a:xfrm>
          <a:prstGeom prst="ellipse">
            <a:avLst/>
          </a:prstGeom>
          <a:solidFill>
            <a:srgbClr val="8E6F3E"/>
          </a:solidFill>
          <a:ln>
            <a:noFill/>
          </a:ln>
        </p:spPr>
        <p:txBody>
          <a:bodyPr wrap="square" lIns="54864" tIns="27432" rIns="54864" bIns="27432" anchor="ctr">
            <a:normAutofit/>
          </a:bodyPr>
          <a:lstStyle/>
          <a:p>
            <a:endParaRPr/>
          </a:p>
        </p:txBody>
      </p:sp>
      <p:sp>
        <p:nvSpPr>
          <p:cNvPr id="113" name="StopLbl3"/>
          <p:cNvSpPr txBox="1"/>
          <p:nvPr/>
        </p:nvSpPr>
        <p:spPr>
          <a:xfrm>
            <a:off x="6179000" y="1570500"/>
            <a:ext cx="1780000" cy="874800"/>
          </a:xfrm>
          <a:prstGeom prst="rect">
            <a:avLst/>
          </a:prstGeom>
          <a:noFill/>
          <a:ln>
            <a:noFill/>
          </a:ln>
        </p:spPr>
        <p:txBody>
          <a:bodyPr wrap="square" lIns="0" tIns="0" rIns="0" bIns="0" anchor="t">
            <a:normAutofit/>
          </a:bodyPr>
          <a:lstStyle/>
          <a:p>
            <a:pPr algn="ctr">
              <a:buNone/>
            </a:pPr>
            <a:r>
              <a:rPr lang="en-US" sz="2100" b="1" i="0" dirty="0">
                <a:solidFill>
                  <a:srgbClr val="8E6F3E"/>
                </a:solidFill>
              </a:rPr>
              <a:t xml:space="preserve">OBSERVED</a:t>
            </a:r>
          </a:p>
          <a:p>
            <a:pPr algn="ctr">
              <a:spcBef>
                <a:spcPts val="262"/>
              </a:spcBef>
              <a:buNone/>
            </a:pPr>
            <a:r>
              <a:rPr lang="en-US" sz="2100" b="1" i="0" dirty="0">
                <a:solidFill>
                  <a:srgbClr val="8E6F3E"/>
                </a:solidFill>
              </a:rPr>
              <a:t xml:space="preserve">EVIDENCE</a:t>
            </a:r>
          </a:p>
        </p:txBody>
      </p:sp>
      <p:sp>
        <p:nvSpPr>
          <p:cNvPr id="114" name="StopQ3"/>
          <p:cNvSpPr txBox="1"/>
          <p:nvPr/>
        </p:nvSpPr>
        <p:spPr>
          <a:xfrm>
            <a:off x="6202000" y="3595500"/>
            <a:ext cx="1734000" cy="1134000"/>
          </a:xfrm>
          <a:prstGeom prst="rect">
            <a:avLst/>
          </a:prstGeom>
          <a:noFill/>
          <a:ln>
            <a:noFill/>
          </a:ln>
        </p:spPr>
        <p:txBody>
          <a:bodyPr wrap="square" lIns="0" tIns="0" rIns="0" bIns="0" anchor="t">
            <a:normAutofit/>
          </a:bodyPr>
          <a:lstStyle/>
          <a:p>
            <a:pPr algn="ctr">
              <a:buNone/>
            </a:pPr>
            <a:r>
              <a:rPr lang="en-US" sz="1900" b="0" i="1" dirty="0">
                <a:solidFill>
                  <a:srgbClr val="555960"/>
                </a:solidFill>
              </a:rPr>
              <a:t xml:space="preserve">“11.8 s measured”</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 xml:space="preserve">Can this change remain local?</a:t>
            </a:r>
          </a:p>
        </p:txBody>
      </p:sp>
      <p:sp>
        <p:nvSpPr>
          <p:cNvPr id="3" name="Slide Number Placeholder 2"/>
          <p:cNvSpPr>
            <a:spLocks noGrp="1"/>
          </p:cNvSpPr>
          <p:nvPr>
            <p:ph type="sldNum" sz="quarter" idx="4"/>
          </p:nvPr>
        </p:nvSpPr>
        <p:spPr/>
        <p:txBody>
          <a:bodyPr/>
          <a:lstStyle/>
          <a:p>
            <a:fld id="{B7EB45DA-9A0D-DC49-8E02-F30A5DDC21C3}" type="slidenum">
              <a:rPr lang="en-US" smtClean="0"/>
              <a:t>0</a:t>
            </a:fld>
            <a:endParaRPr lang="en-US"/>
          </a:p>
        </p:txBody>
      </p:sp>
      <p:sp>
        <p:nvSpPr>
          <p:cNvPr id="61" name="T61"/>
          <p:cNvSpPr txBox="1"/>
          <p:nvPr/>
        </p:nvSpPr>
        <p:spPr>
          <a:xfrm>
            <a:off x="685800" y="5350000"/>
            <a:ext cx="7772400" cy="500000"/>
          </a:xfrm>
          <a:prstGeom prst="rect">
            <a:avLst/>
          </a:prstGeom>
          <a:noFill/>
          <a:ln>
            <a:noFill/>
          </a:ln>
        </p:spPr>
        <p:txBody>
          <a:bodyPr wrap="square" lIns="0" tIns="0" rIns="0" bIns="0" anchor="t">
            <a:normAutofit/>
          </a:bodyPr>
          <a:lstStyle/>
          <a:p>
            <a:pPr algn="ctr">
              <a:buNone/>
            </a:pPr>
            <a:r>
              <a:rPr lang="en-US" sz="2600" b="0" i="1" dirty="0">
                <a:solidFill>
                  <a:srgbClr val="000000"/>
                </a:solidFill>
              </a:rPr>
              <a:t xml:space="preserve">What claim can the dependency model actually establish?</a:t>
            </a:r>
          </a:p>
        </p:txBody>
      </p:sp>
      <p:sp>
        <p:nvSpPr>
          <p:cNvPr id="100" name="BeforeLbl"/>
          <p:cNvSpPr txBox="1"/>
          <p:nvPr/>
        </p:nvSpPr>
        <p:spPr>
          <a:xfrm>
            <a:off x="324764" y="1305600"/>
            <a:ext cx="1624000" cy="324800"/>
          </a:xfrm>
          <a:prstGeom prst="rect">
            <a:avLst/>
          </a:prstGeom>
          <a:noFill/>
          <a:ln>
            <a:noFill/>
          </a:ln>
        </p:spPr>
        <p:txBody>
          <a:bodyPr wrap="square" lIns="0" tIns="0" rIns="0" bIns="0" anchor="t">
            <a:normAutofit/>
          </a:bodyPr>
          <a:lstStyle/>
          <a:p>
            <a:pPr algn="l">
              <a:buNone/>
            </a:pPr>
            <a:r>
              <a:rPr lang="en-US" sz="2000" b="1" i="0" dirty="0">
                <a:solidFill>
                  <a:srgbClr val="8E6F3E"/>
                </a:solidFill>
              </a:rPr>
              <a:t xml:space="preserve">BEFORE</a:t>
            </a:r>
          </a:p>
        </p:txBody>
      </p:sp>
      <p:sp>
        <p:nvSpPr>
          <p:cNvPr id="101" name="BModel"/>
          <p:cNvSpPr/>
          <p:nvPr/>
        </p:nvSpPr>
        <p:spPr>
          <a:xfrm>
            <a:off x="457236" y="2697600"/>
            <a:ext cx="1798000" cy="812000"/>
          </a:xfrm>
          <a:prstGeom prst="rect">
            <a:avLst/>
          </a:prstGeom>
          <a:solidFill>
            <a:srgbClr val="F5F1E8"/>
          </a:solidFill>
          <a:ln w="14732">
            <a:solidFill>
              <a:srgbClr val="C9B991"/>
            </a:solidFill>
          </a:ln>
        </p:spPr>
        <p:txBody>
          <a:bodyPr wrap="square" lIns="54864" tIns="27432" rIns="54864" bIns="27432" anchor="ctr">
            <a:normAutofit/>
          </a:bodyPr>
          <a:lstStyle/>
          <a:p>
            <a:pPr algn="ctr">
              <a:buNone/>
            </a:pPr>
            <a:r>
              <a:rPr lang="en-US" sz="2300" b="1" i="0" dirty="0">
                <a:solidFill>
                  <a:srgbClr val="5C4826"/>
                </a:solidFill>
              </a:rPr>
              <a:t xml:space="preserve">ILLNESS</a:t>
            </a:r>
          </a:p>
          <a:p>
            <a:pPr algn="ctr">
              <a:spcBef>
                <a:spcPts val="300"/>
              </a:spcBef>
              <a:buNone/>
            </a:pPr>
            <a:r>
              <a:rPr lang="en-US" sz="2300" b="1" i="0" dirty="0">
                <a:solidFill>
                  <a:srgbClr val="5C4826"/>
                </a:solidFill>
              </a:rPr>
              <a:t xml:space="preserve">MODEL</a:t>
            </a:r>
          </a:p>
        </p:txBody>
      </p:sp>
      <p:sp>
        <p:nvSpPr>
          <p:cNvPr id="102" name="BDelta"/>
          <p:cNvSpPr/>
          <p:nvPr/>
        </p:nvSpPr>
        <p:spPr>
          <a:xfrm>
            <a:off x="2034836" y="2535200"/>
            <a:ext cx="348000" cy="348000"/>
          </a:xfrm>
          <a:prstGeom prst="ellipse">
            <a:avLst/>
          </a:prstGeom>
          <a:solidFill>
            <a:srgbClr val="B23B3B"/>
          </a:solidFill>
          <a:ln>
            <a:noFill/>
          </a:ln>
        </p:spPr>
        <p:txBody>
          <a:bodyPr wrap="square" lIns="0" tIns="0" rIns="0" bIns="0" anchor="ctr">
            <a:normAutofit/>
          </a:bodyPr>
          <a:lstStyle/>
          <a:p>
            <a:pPr algn="ctr">
              <a:buNone/>
            </a:pPr>
            <a:r>
              <a:rPr lang="en-US" sz="1800" b="1" i="0" dirty="0">
                <a:solidFill>
                  <a:srgbClr val="FFFFFF"/>
                </a:solidFill>
              </a:rPr>
              <a:t xml:space="preserve">Δ</a:t>
            </a:r>
          </a:p>
        </p:txBody>
      </p:sp>
      <p:sp>
        <p:nvSpPr>
          <p:cNvPr id="103" name="BUI"/>
          <p:cNvSpPr/>
          <p:nvPr/>
        </p:nvSpPr>
        <p:spPr>
          <a:xfrm>
            <a:off x="3183236" y="1711600"/>
            <a:ext cx="1334000" cy="603200"/>
          </a:xfrm>
          <a:prstGeom prst="rect">
            <a:avLst/>
          </a:prstGeom>
          <a:solidFill>
            <a:srgbClr val="F5F1E8"/>
          </a:solidFill>
          <a:ln w="14732">
            <a:solidFill>
              <a:srgbClr val="C9B991"/>
            </a:solidFill>
          </a:ln>
        </p:spPr>
        <p:txBody>
          <a:bodyPr wrap="square" lIns="54864" tIns="27432" rIns="54864" bIns="27432" anchor="ctr">
            <a:normAutofit/>
          </a:bodyPr>
          <a:lstStyle/>
          <a:p>
            <a:pPr algn="ctr">
              <a:buNone/>
            </a:pPr>
            <a:r>
              <a:rPr lang="en-US" sz="2200" b="1" i="0" dirty="0">
                <a:solidFill>
                  <a:srgbClr val="5C4826"/>
                </a:solidFill>
              </a:rPr>
              <a:t xml:space="preserve">UI</a:t>
            </a:r>
          </a:p>
        </p:txBody>
      </p:sp>
      <p:cxnSp>
        <p:nvCxnSpPr>
          <p:cNvPr id="104" name="BA0"/>
          <p:cNvCxnSpPr/>
          <p:nvPr/>
        </p:nvCxnSpPr>
        <p:spPr>
          <a:xfrm flipV="1">
            <a:off x="2255236" y="2013200"/>
            <a:ext cx="928000" cy="1090400"/>
          </a:xfrm>
          <a:prstGeom prst="line">
            <a:avLst/>
          </a:prstGeom>
          <a:ln w="22098">
            <a:solidFill>
              <a:srgbClr val="B23B3B"/>
            </a:solidFill>
            <a:prstDash val="dash"/>
            <a:tailEnd type="triangle" w="med" len="med"/>
          </a:ln>
        </p:spPr>
      </p:cxnSp>
      <p:sp>
        <p:nvSpPr>
          <p:cNvPr id="105" name="BADVICE"/>
          <p:cNvSpPr/>
          <p:nvPr/>
        </p:nvSpPr>
        <p:spPr>
          <a:xfrm>
            <a:off x="3183236" y="2813600"/>
            <a:ext cx="1334000" cy="603200"/>
          </a:xfrm>
          <a:prstGeom prst="rect">
            <a:avLst/>
          </a:prstGeom>
          <a:solidFill>
            <a:srgbClr val="F5F1E8"/>
          </a:solidFill>
          <a:ln w="14732">
            <a:solidFill>
              <a:srgbClr val="C9B991"/>
            </a:solidFill>
          </a:ln>
        </p:spPr>
        <p:txBody>
          <a:bodyPr wrap="square" lIns="54864" tIns="27432" rIns="54864" bIns="27432" anchor="ctr">
            <a:normAutofit/>
          </a:bodyPr>
          <a:lstStyle/>
          <a:p>
            <a:pPr algn="ctr">
              <a:buNone/>
            </a:pPr>
            <a:r>
              <a:rPr lang="en-US" sz="2200" b="1" i="0" dirty="0">
                <a:solidFill>
                  <a:srgbClr val="5C4826"/>
                </a:solidFill>
              </a:rPr>
              <a:t xml:space="preserve">ADVICE</a:t>
            </a:r>
          </a:p>
        </p:txBody>
      </p:sp>
      <p:cxnSp>
        <p:nvCxnSpPr>
          <p:cNvPr id="106" name="BA1"/>
          <p:cNvCxnSpPr/>
          <p:nvPr/>
        </p:nvCxnSpPr>
        <p:spPr>
          <a:xfrm>
            <a:off x="2255236" y="3103600"/>
            <a:ext cx="928000" cy="11600"/>
          </a:xfrm>
          <a:prstGeom prst="line">
            <a:avLst/>
          </a:prstGeom>
          <a:ln w="22098">
            <a:solidFill>
              <a:srgbClr val="B23B3B"/>
            </a:solidFill>
            <a:prstDash val="dash"/>
            <a:tailEnd type="triangle" w="med" len="med"/>
          </a:ln>
        </p:spPr>
      </p:cxnSp>
      <p:sp>
        <p:nvSpPr>
          <p:cNvPr id="107" name="BSTORAGE"/>
          <p:cNvSpPr/>
          <p:nvPr/>
        </p:nvSpPr>
        <p:spPr>
          <a:xfrm>
            <a:off x="3183236" y="3915600"/>
            <a:ext cx="1334000" cy="603200"/>
          </a:xfrm>
          <a:prstGeom prst="rect">
            <a:avLst/>
          </a:prstGeom>
          <a:solidFill>
            <a:srgbClr val="F5F1E8"/>
          </a:solidFill>
          <a:ln w="14732">
            <a:solidFill>
              <a:srgbClr val="C9B991"/>
            </a:solidFill>
          </a:ln>
        </p:spPr>
        <p:txBody>
          <a:bodyPr wrap="square" lIns="54864" tIns="27432" rIns="54864" bIns="27432" anchor="ctr">
            <a:normAutofit/>
          </a:bodyPr>
          <a:lstStyle/>
          <a:p>
            <a:pPr algn="ctr">
              <a:buNone/>
            </a:pPr>
            <a:r>
              <a:rPr lang="en-US" sz="2200" b="1" i="0" dirty="0">
                <a:solidFill>
                  <a:srgbClr val="5C4826"/>
                </a:solidFill>
              </a:rPr>
              <a:t xml:space="preserve">STORAGE</a:t>
            </a:r>
          </a:p>
        </p:txBody>
      </p:sp>
      <p:cxnSp>
        <p:nvCxnSpPr>
          <p:cNvPr id="108" name="BA2"/>
          <p:cNvCxnSpPr/>
          <p:nvPr/>
        </p:nvCxnSpPr>
        <p:spPr>
          <a:xfrm>
            <a:off x="2255236" y="3103600"/>
            <a:ext cx="928000" cy="1113600"/>
          </a:xfrm>
          <a:prstGeom prst="line">
            <a:avLst/>
          </a:prstGeom>
          <a:ln w="22098">
            <a:solidFill>
              <a:srgbClr val="B23B3B"/>
            </a:solidFill>
            <a:prstDash val="dash"/>
            <a:tailEnd type="triangle" w="med" len="med"/>
          </a:ln>
        </p:spPr>
      </p:cxnSp>
      <p:sp>
        <p:nvSpPr>
          <p:cNvPr id="109" name="BCap"/>
          <p:cNvSpPr txBox="1"/>
          <p:nvPr/>
        </p:nvSpPr>
        <p:spPr>
          <a:xfrm>
            <a:off x="399236" y="4669600"/>
            <a:ext cx="4176000" cy="324800"/>
          </a:xfrm>
          <a:prstGeom prst="rect">
            <a:avLst/>
          </a:prstGeom>
          <a:noFill/>
          <a:ln>
            <a:noFill/>
          </a:ln>
        </p:spPr>
        <p:txBody>
          <a:bodyPr wrap="square" lIns="0" tIns="0" rIns="0" bIns="0" anchor="t">
            <a:normAutofit/>
          </a:bodyPr>
          <a:lstStyle/>
          <a:p>
            <a:pPr algn="l">
              <a:buNone/>
            </a:pPr>
            <a:r>
              <a:rPr lang="en-US" sz="1900" b="0" i="1" dirty="0">
                <a:solidFill>
                  <a:srgbClr val="B23B3B"/>
                </a:solidFill>
              </a:rPr>
              <a:t xml:space="preserve">one expected change touches everything</a:t>
            </a:r>
          </a:p>
        </p:txBody>
      </p:sp>
      <p:cxnSp>
        <p:nvCxnSpPr>
          <p:cNvPr id="110" name="Div"/>
          <p:cNvCxnSpPr/>
          <p:nvPr/>
        </p:nvCxnSpPr>
        <p:spPr>
          <a:xfrm>
            <a:off x="4600000" y="1550000"/>
            <a:ext cx="0" cy="2950000"/>
          </a:xfrm>
          <a:prstGeom prst="line">
            <a:avLst/>
          </a:prstGeom>
          <a:ln w="12700">
            <a:solidFill>
              <a:srgbClr val="C9B991"/>
            </a:solidFill>
            <a:prstDash val="dash"/>
          </a:ln>
        </p:spPr>
      </p:cxnSp>
      <p:sp>
        <p:nvSpPr>
          <p:cNvPr id="111" name="AfterLbl"/>
          <p:cNvSpPr txBox="1"/>
          <p:nvPr/>
        </p:nvSpPr>
        <p:spPr>
          <a:xfrm>
            <a:off x="4779000" y="1305600"/>
            <a:ext cx="1624000" cy="324800"/>
          </a:xfrm>
          <a:prstGeom prst="rect">
            <a:avLst/>
          </a:prstGeom>
          <a:noFill/>
          <a:ln>
            <a:noFill/>
          </a:ln>
        </p:spPr>
        <p:txBody>
          <a:bodyPr wrap="square" lIns="0" tIns="0" rIns="0" bIns="0" anchor="t">
            <a:normAutofit/>
          </a:bodyPr>
          <a:lstStyle/>
          <a:p>
            <a:pPr algn="l">
              <a:buNone/>
            </a:pPr>
            <a:r>
              <a:rPr lang="en-US" sz="2000" b="1" i="0" dirty="0">
                <a:solidFill>
                  <a:srgbClr val="8E6F3E"/>
                </a:solidFill>
              </a:rPr>
              <a:t xml:space="preserve">AFTER</a:t>
            </a:r>
          </a:p>
        </p:txBody>
      </p:sp>
      <p:sp>
        <p:nvSpPr>
          <p:cNvPr id="112" name="AUI"/>
          <p:cNvSpPr/>
          <p:nvPr/>
        </p:nvSpPr>
        <p:spPr>
          <a:xfrm>
            <a:off x="4667000" y="1885600"/>
            <a:ext cx="1334000" cy="603200"/>
          </a:xfrm>
          <a:prstGeom prst="rect">
            <a:avLst/>
          </a:prstGeom>
          <a:solidFill>
            <a:srgbClr val="F5F1E8"/>
          </a:solidFill>
          <a:ln w="14732">
            <a:solidFill>
              <a:srgbClr val="C9B991"/>
            </a:solidFill>
          </a:ln>
        </p:spPr>
        <p:txBody>
          <a:bodyPr wrap="square" lIns="54864" tIns="27432" rIns="54864" bIns="27432" anchor="ctr">
            <a:normAutofit/>
          </a:bodyPr>
          <a:lstStyle/>
          <a:p>
            <a:pPr algn="ctr">
              <a:buNone/>
            </a:pPr>
            <a:r>
              <a:rPr lang="en-US" sz="2200" b="1" i="0" dirty="0">
                <a:solidFill>
                  <a:srgbClr val="5C4826"/>
                </a:solidFill>
              </a:rPr>
              <a:t xml:space="preserve">UI</a:t>
            </a:r>
          </a:p>
        </p:txBody>
      </p:sp>
      <p:sp>
        <p:nvSpPr>
          <p:cNvPr id="113" name="AAdvice"/>
          <p:cNvSpPr/>
          <p:nvPr/>
        </p:nvSpPr>
        <p:spPr>
          <a:xfrm>
            <a:off x="4667000" y="3045600"/>
            <a:ext cx="1334000" cy="603200"/>
          </a:xfrm>
          <a:prstGeom prst="rect">
            <a:avLst/>
          </a:prstGeom>
          <a:solidFill>
            <a:srgbClr val="F5F1E8"/>
          </a:solidFill>
          <a:ln w="14732">
            <a:solidFill>
              <a:srgbClr val="C9B991"/>
            </a:solidFill>
          </a:ln>
        </p:spPr>
        <p:txBody>
          <a:bodyPr wrap="square" lIns="54864" tIns="27432" rIns="54864" bIns="27432" anchor="ctr">
            <a:normAutofit/>
          </a:bodyPr>
          <a:lstStyle/>
          <a:p>
            <a:pPr algn="ctr">
              <a:buNone/>
            </a:pPr>
            <a:r>
              <a:rPr lang="en-US" sz="2200" b="1" i="0" dirty="0">
                <a:solidFill>
                  <a:srgbClr val="5C4826"/>
                </a:solidFill>
              </a:rPr>
              <a:t xml:space="preserve">ADVICE</a:t>
            </a:r>
          </a:p>
        </p:txBody>
      </p:sp>
      <p:sp>
        <p:nvSpPr>
          <p:cNvPr id="114" name="AIface"/>
          <p:cNvSpPr/>
          <p:nvPr/>
        </p:nvSpPr>
        <p:spPr>
          <a:xfrm>
            <a:off x="6639000" y="1769600"/>
            <a:ext cx="116000" cy="2030000"/>
          </a:xfrm>
          <a:prstGeom prst="rect">
            <a:avLst/>
          </a:prstGeom>
          <a:solidFill>
            <a:srgbClr val="8E6F3E"/>
          </a:solidFill>
          <a:ln>
            <a:noFill/>
          </a:ln>
        </p:spPr>
        <p:txBody>
          <a:bodyPr wrap="square" lIns="54864" tIns="27432" rIns="54864" bIns="27432" anchor="ctr">
            <a:normAutofit/>
          </a:bodyPr>
          <a:lstStyle/>
          <a:p>
            <a:endParaRPr/>
          </a:p>
        </p:txBody>
      </p:sp>
      <p:sp>
        <p:nvSpPr>
          <p:cNvPr id="115" name="AIfaceLbl"/>
          <p:cNvSpPr txBox="1"/>
          <p:nvPr/>
        </p:nvSpPr>
        <p:spPr>
          <a:xfrm>
            <a:off x="5363000" y="1398400"/>
            <a:ext cx="3828000" cy="301600"/>
          </a:xfrm>
          <a:prstGeom prst="rect">
            <a:avLst/>
          </a:prstGeom>
          <a:noFill/>
          <a:ln>
            <a:noFill/>
          </a:ln>
        </p:spPr>
        <p:txBody>
          <a:bodyPr wrap="square" lIns="0" tIns="0" rIns="0" bIns="0" anchor="t">
            <a:normAutofit/>
          </a:bodyPr>
          <a:lstStyle/>
          <a:p>
            <a:pPr algn="ctr">
              <a:buNone/>
            </a:pPr>
            <a:r>
              <a:rPr lang="en-US" sz="1800" b="1" i="0" dirty="0">
                <a:solidFill>
                  <a:srgbClr val="8E6F3E"/>
                </a:solidFill>
              </a:rPr>
              <a:t xml:space="preserve">MODEL SERVICE INTERFACE</a:t>
            </a:r>
          </a:p>
        </p:txBody>
      </p:sp>
      <p:sp>
        <p:nvSpPr>
          <p:cNvPr id="116" name="AModel"/>
          <p:cNvSpPr/>
          <p:nvPr/>
        </p:nvSpPr>
        <p:spPr>
          <a:xfrm>
            <a:off x="6929000" y="2407600"/>
            <a:ext cx="1856000" cy="870000"/>
          </a:xfrm>
          <a:prstGeom prst="rect">
            <a:avLst/>
          </a:prstGeom>
          <a:solidFill>
            <a:srgbClr val="F5F1E8"/>
          </a:solidFill>
          <a:ln w="14732">
            <a:solidFill>
              <a:srgbClr val="C9B991"/>
            </a:solidFill>
          </a:ln>
        </p:spPr>
        <p:txBody>
          <a:bodyPr wrap="square" lIns="54864" tIns="27432" rIns="54864" bIns="27432" anchor="ctr">
            <a:normAutofit/>
          </a:bodyPr>
          <a:lstStyle/>
          <a:p>
            <a:pPr algn="ctr">
              <a:buNone/>
            </a:pPr>
            <a:r>
              <a:rPr lang="en-US" sz="2300" b="1" i="0" dirty="0">
                <a:solidFill>
                  <a:srgbClr val="5C4826"/>
                </a:solidFill>
              </a:rPr>
              <a:t xml:space="preserve">ILLNESS</a:t>
            </a:r>
          </a:p>
          <a:p>
            <a:pPr algn="ctr">
              <a:spcBef>
                <a:spcPts val="300"/>
              </a:spcBef>
              <a:buNone/>
            </a:pPr>
            <a:r>
              <a:rPr lang="en-US" sz="2300" b="1" i="0" dirty="0">
                <a:solidFill>
                  <a:srgbClr val="5C4826"/>
                </a:solidFill>
              </a:rPr>
              <a:t xml:space="preserve">MODEL</a:t>
            </a:r>
          </a:p>
        </p:txBody>
      </p:sp>
      <p:sp>
        <p:nvSpPr>
          <p:cNvPr id="117" name="ADelta"/>
          <p:cNvSpPr/>
          <p:nvPr/>
        </p:nvSpPr>
        <p:spPr>
          <a:xfrm>
            <a:off x="8495000" y="2245200"/>
            <a:ext cx="348000" cy="348000"/>
          </a:xfrm>
          <a:prstGeom prst="ellipse">
            <a:avLst/>
          </a:prstGeom>
          <a:solidFill>
            <a:srgbClr val="B23B3B"/>
          </a:solidFill>
          <a:ln>
            <a:noFill/>
          </a:ln>
        </p:spPr>
        <p:txBody>
          <a:bodyPr wrap="square" lIns="0" tIns="0" rIns="0" bIns="0" anchor="ctr">
            <a:normAutofit/>
          </a:bodyPr>
          <a:lstStyle/>
          <a:p>
            <a:pPr algn="ctr">
              <a:buNone/>
            </a:pPr>
            <a:r>
              <a:rPr lang="en-US" sz="1800" b="1" i="0" dirty="0">
                <a:solidFill>
                  <a:srgbClr val="FFFFFF"/>
                </a:solidFill>
              </a:rPr>
              <a:t xml:space="preserve">Δ</a:t>
            </a:r>
          </a:p>
        </p:txBody>
      </p:sp>
      <p:cxnSp>
        <p:nvCxnSpPr>
          <p:cNvPr id="118" name="AA1"/>
          <p:cNvCxnSpPr/>
          <p:nvPr/>
        </p:nvCxnSpPr>
        <p:spPr>
          <a:xfrm>
            <a:off x="6001000" y="2187200"/>
            <a:ext cx="638000" cy="336400"/>
          </a:xfrm>
          <a:prstGeom prst="line">
            <a:avLst/>
          </a:prstGeom>
          <a:ln w="22098">
            <a:solidFill>
              <a:srgbClr val="8E6F3E"/>
            </a:solidFill>
            <a:tailEnd type="triangle" w="med" len="med"/>
          </a:ln>
        </p:spPr>
      </p:cxnSp>
      <p:cxnSp>
        <p:nvCxnSpPr>
          <p:cNvPr id="119" name="AA2"/>
          <p:cNvCxnSpPr/>
          <p:nvPr/>
        </p:nvCxnSpPr>
        <p:spPr>
          <a:xfrm flipV="1">
            <a:off x="6001000" y="3161600"/>
            <a:ext cx="638000" cy="185600"/>
          </a:xfrm>
          <a:prstGeom prst="line">
            <a:avLst/>
          </a:prstGeom>
          <a:ln w="22098">
            <a:solidFill>
              <a:srgbClr val="8E6F3E"/>
            </a:solidFill>
            <a:tailEnd type="triangle" w="med" len="med"/>
          </a:ln>
        </p:spPr>
      </p:cxnSp>
      <p:sp>
        <p:nvSpPr>
          <p:cNvPr id="120" name="ACap"/>
          <p:cNvSpPr txBox="1"/>
          <p:nvPr/>
        </p:nvSpPr>
        <p:spPr>
          <a:xfrm>
            <a:off x="4667000" y="4669600"/>
            <a:ext cx="4408000" cy="324800"/>
          </a:xfrm>
          <a:prstGeom prst="rect">
            <a:avLst/>
          </a:prstGeom>
          <a:noFill/>
          <a:ln>
            <a:noFill/>
          </a:ln>
        </p:spPr>
        <p:txBody>
          <a:bodyPr wrap="square" lIns="0" tIns="0" rIns="0" bIns="0" anchor="t">
            <a:normAutofit/>
          </a:bodyPr>
          <a:lstStyle/>
          <a:p>
            <a:pPr algn="l">
              <a:buNone/>
            </a:pPr>
            <a:r>
              <a:rPr lang="en-US" sz="1900" b="0" i="1" dirty="0">
                <a:solidFill>
                  <a:srgbClr val="1F7A4D"/>
                </a:solidFill>
              </a:rPr>
              <a:t xml:space="preserve">the change stays behind the seam</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 xml:space="preserve">What sets the latency floor?</a:t>
            </a:r>
          </a:p>
        </p:txBody>
      </p:sp>
      <p:sp>
        <p:nvSpPr>
          <p:cNvPr id="3" name="Slide Number Placeholder 2"/>
          <p:cNvSpPr>
            <a:spLocks noGrp="1"/>
          </p:cNvSpPr>
          <p:nvPr>
            <p:ph type="sldNum" sz="quarter" idx="4"/>
          </p:nvPr>
        </p:nvSpPr>
        <p:spPr/>
        <p:txBody>
          <a:bodyPr/>
          <a:lstStyle/>
          <a:p>
            <a:fld id="{B7EB45DA-9A0D-DC49-8E02-F30A5DDC21C3}" type="slidenum">
              <a:rPr lang="en-US" smtClean="0"/>
              <a:t>0</a:t>
            </a:fld>
            <a:endParaRPr lang="en-US"/>
          </a:p>
        </p:txBody>
      </p:sp>
      <p:sp>
        <p:nvSpPr>
          <p:cNvPr id="61" name="T61"/>
          <p:cNvSpPr txBox="1"/>
          <p:nvPr/>
        </p:nvSpPr>
        <p:spPr>
          <a:xfrm>
            <a:off x="685800" y="5400000"/>
            <a:ext cx="7772400" cy="500000"/>
          </a:xfrm>
          <a:prstGeom prst="rect">
            <a:avLst/>
          </a:prstGeom>
          <a:noFill/>
          <a:ln>
            <a:noFill/>
          </a:ln>
        </p:spPr>
        <p:txBody>
          <a:bodyPr wrap="square" lIns="0" tIns="0" rIns="0" bIns="0" anchor="t">
            <a:normAutofit/>
          </a:bodyPr>
          <a:lstStyle/>
          <a:p>
            <a:pPr algn="ctr">
              <a:buNone/>
            </a:pPr>
            <a:r>
              <a:rPr lang="en-US" sz="2600" b="0" i="1" dirty="0">
                <a:solidFill>
                  <a:srgbClr val="000000"/>
                </a:solidFill>
              </a:rPr>
              <a:t xml:space="preserve">Could decomposition shorten the critical path?</a:t>
            </a:r>
          </a:p>
        </p:txBody>
      </p:sp>
      <p:sp>
        <p:nvSpPr>
          <p:cNvPr id="100" name="NA"/>
          <p:cNvSpPr/>
          <p:nvPr/>
        </p:nvSpPr>
        <p:spPr>
          <a:xfrm>
            <a:off x="312500" y="2062500"/>
            <a:ext cx="812500" cy="562500"/>
          </a:xfrm>
          <a:prstGeom prst="rect">
            <a:avLst/>
          </a:prstGeom>
          <a:solidFill>
            <a:srgbClr val="8E6F3E"/>
          </a:solidFill>
          <a:ln>
            <a:noFill/>
          </a:ln>
        </p:spPr>
        <p:txBody>
          <a:bodyPr wrap="square" lIns="54864" tIns="27432" rIns="54864" bIns="27432" anchor="ctr">
            <a:normAutofit/>
          </a:bodyPr>
          <a:lstStyle/>
          <a:p>
            <a:pPr algn="ctr">
              <a:buNone/>
            </a:pPr>
            <a:r>
              <a:rPr lang="en-US" sz="2400" b="1" i="0" dirty="0">
                <a:solidFill>
                  <a:srgbClr val="FFFFFF"/>
                </a:solidFill>
              </a:rPr>
              <a:t xml:space="preserve">A</a:t>
            </a:r>
          </a:p>
        </p:txBody>
      </p:sp>
      <p:sp>
        <p:nvSpPr>
          <p:cNvPr id="101" name="NB"/>
          <p:cNvSpPr/>
          <p:nvPr/>
        </p:nvSpPr>
        <p:spPr>
          <a:xfrm>
            <a:off x="2562500" y="1312500"/>
            <a:ext cx="1187500" cy="687500"/>
          </a:xfrm>
          <a:prstGeom prst="rect">
            <a:avLst/>
          </a:prstGeom>
          <a:solidFill>
            <a:srgbClr val="8E6F3E"/>
          </a:solidFill>
          <a:ln>
            <a:noFill/>
          </a:ln>
        </p:spPr>
        <p:txBody>
          <a:bodyPr wrap="square" lIns="54864" tIns="27432" rIns="54864" bIns="27432" anchor="ctr">
            <a:normAutofit/>
          </a:bodyPr>
          <a:lstStyle/>
          <a:p>
            <a:pPr algn="ctr">
              <a:buNone/>
            </a:pPr>
            <a:r>
              <a:rPr lang="en-US" sz="2600" b="1" i="0" dirty="0">
                <a:solidFill>
                  <a:srgbClr val="FFFFFF"/>
                </a:solidFill>
              </a:rPr>
              <a:t xml:space="preserve">B</a:t>
            </a:r>
          </a:p>
        </p:txBody>
      </p:sp>
      <p:sp>
        <p:nvSpPr>
          <p:cNvPr id="102" name="NC"/>
          <p:cNvSpPr/>
          <p:nvPr/>
        </p:nvSpPr>
        <p:spPr>
          <a:xfrm>
            <a:off x="2875000" y="3125000"/>
            <a:ext cx="812500" cy="562500"/>
          </a:xfrm>
          <a:prstGeom prst="rect">
            <a:avLst/>
          </a:prstGeom>
          <a:solidFill>
            <a:srgbClr val="F5F1E8"/>
          </a:solidFill>
          <a:ln w="15875">
            <a:solidFill>
              <a:srgbClr val="C9B991"/>
            </a:solidFill>
          </a:ln>
        </p:spPr>
        <p:txBody>
          <a:bodyPr wrap="square" lIns="54864" tIns="27432" rIns="54864" bIns="27432" anchor="ctr">
            <a:normAutofit/>
          </a:bodyPr>
          <a:lstStyle/>
          <a:p>
            <a:pPr algn="ctr">
              <a:buNone/>
            </a:pPr>
            <a:r>
              <a:rPr lang="en-US" sz="2400" b="1" i="0" dirty="0">
                <a:solidFill>
                  <a:srgbClr val="5C4826"/>
                </a:solidFill>
              </a:rPr>
              <a:t xml:space="preserve">C</a:t>
            </a:r>
          </a:p>
        </p:txBody>
      </p:sp>
      <p:sp>
        <p:nvSpPr>
          <p:cNvPr id="103" name="NE"/>
          <p:cNvSpPr/>
          <p:nvPr/>
        </p:nvSpPr>
        <p:spPr>
          <a:xfrm>
            <a:off x="5187500" y="3125000"/>
            <a:ext cx="812500" cy="562500"/>
          </a:xfrm>
          <a:prstGeom prst="rect">
            <a:avLst/>
          </a:prstGeom>
          <a:solidFill>
            <a:srgbClr val="F5F1E8"/>
          </a:solidFill>
          <a:ln w="15875">
            <a:solidFill>
              <a:srgbClr val="C9B991"/>
            </a:solidFill>
          </a:ln>
        </p:spPr>
        <p:txBody>
          <a:bodyPr wrap="square" lIns="54864" tIns="27432" rIns="54864" bIns="27432" anchor="ctr">
            <a:normAutofit/>
          </a:bodyPr>
          <a:lstStyle/>
          <a:p>
            <a:pPr algn="ctr">
              <a:buNone/>
            </a:pPr>
            <a:r>
              <a:rPr lang="en-US" sz="2400" b="1" i="0" dirty="0">
                <a:solidFill>
                  <a:srgbClr val="5C4826"/>
                </a:solidFill>
              </a:rPr>
              <a:t xml:space="preserve">E</a:t>
            </a:r>
          </a:p>
        </p:txBody>
      </p:sp>
      <p:sp>
        <p:nvSpPr>
          <p:cNvPr id="104" name="ND"/>
          <p:cNvSpPr/>
          <p:nvPr/>
        </p:nvSpPr>
        <p:spPr>
          <a:xfrm>
            <a:off x="5062500" y="1062500"/>
            <a:ext cx="812500" cy="562500"/>
          </a:xfrm>
          <a:prstGeom prst="rect">
            <a:avLst/>
          </a:prstGeom>
          <a:solidFill>
            <a:srgbClr val="F5F1E8"/>
          </a:solidFill>
          <a:ln w="15875">
            <a:solidFill>
              <a:srgbClr val="C9B991"/>
            </a:solidFill>
          </a:ln>
        </p:spPr>
        <p:txBody>
          <a:bodyPr wrap="square" lIns="54864" tIns="27432" rIns="54864" bIns="27432" anchor="ctr">
            <a:normAutofit/>
          </a:bodyPr>
          <a:lstStyle/>
          <a:p>
            <a:pPr algn="ctr">
              <a:buNone/>
            </a:pPr>
            <a:r>
              <a:rPr lang="en-US" sz="2400" b="1" i="0" dirty="0">
                <a:solidFill>
                  <a:srgbClr val="5C4826"/>
                </a:solidFill>
              </a:rPr>
              <a:t xml:space="preserve">D</a:t>
            </a:r>
          </a:p>
        </p:txBody>
      </p:sp>
      <p:sp>
        <p:nvSpPr>
          <p:cNvPr id="105" name="NF"/>
          <p:cNvSpPr/>
          <p:nvPr/>
        </p:nvSpPr>
        <p:spPr>
          <a:xfrm>
            <a:off x="7437500" y="1875000"/>
            <a:ext cx="812500" cy="562500"/>
          </a:xfrm>
          <a:prstGeom prst="rect">
            <a:avLst/>
          </a:prstGeom>
          <a:solidFill>
            <a:srgbClr val="8E6F3E"/>
          </a:solidFill>
          <a:ln>
            <a:noFill/>
          </a:ln>
        </p:spPr>
        <p:txBody>
          <a:bodyPr wrap="square" lIns="54864" tIns="27432" rIns="54864" bIns="27432" anchor="ctr">
            <a:normAutofit/>
          </a:bodyPr>
          <a:lstStyle/>
          <a:p>
            <a:pPr algn="ctr">
              <a:buNone/>
            </a:pPr>
            <a:r>
              <a:rPr lang="en-US" sz="2400" b="1" i="0" dirty="0">
                <a:solidFill>
                  <a:srgbClr val="FFFFFF"/>
                </a:solidFill>
              </a:rPr>
              <a:t xml:space="preserve">F</a:t>
            </a:r>
          </a:p>
        </p:txBody>
      </p:sp>
      <p:cxnSp>
        <p:nvCxnSpPr>
          <p:cNvPr id="106" name="EAB"/>
          <p:cNvCxnSpPr/>
          <p:nvPr/>
        </p:nvCxnSpPr>
        <p:spPr>
          <a:xfrm flipV="1">
            <a:off x="1125000" y="1812500"/>
            <a:ext cx="1437500" cy="437500"/>
          </a:xfrm>
          <a:prstGeom prst="line">
            <a:avLst/>
          </a:prstGeom>
          <a:ln w="47625">
            <a:solidFill>
              <a:srgbClr val="8E6F3E"/>
            </a:solidFill>
            <a:tailEnd type="triangle" w="med" len="med"/>
          </a:ln>
        </p:spPr>
      </p:cxnSp>
      <p:sp>
        <p:nvSpPr>
          <p:cNvPr id="107" name="WAB"/>
          <p:cNvSpPr txBox="1"/>
          <p:nvPr/>
        </p:nvSpPr>
        <p:spPr>
          <a:xfrm>
            <a:off x="1500000" y="1437500"/>
            <a:ext cx="875000" cy="325000"/>
          </a:xfrm>
          <a:prstGeom prst="rect">
            <a:avLst/>
          </a:prstGeom>
          <a:noFill/>
          <a:ln>
            <a:noFill/>
          </a:ln>
        </p:spPr>
        <p:txBody>
          <a:bodyPr wrap="square" lIns="0" tIns="0" rIns="0" bIns="0" anchor="t">
            <a:normAutofit/>
          </a:bodyPr>
          <a:lstStyle/>
          <a:p>
            <a:pPr algn="l">
              <a:buNone/>
            </a:pPr>
            <a:r>
              <a:rPr lang="en-US" sz="1900" b="1" i="1" dirty="0">
                <a:solidFill>
                  <a:srgbClr val="5C4826"/>
                </a:solidFill>
              </a:rPr>
              <a:t xml:space="preserve">80 ms</a:t>
            </a:r>
          </a:p>
        </p:txBody>
      </p:sp>
      <p:cxnSp>
        <p:nvCxnSpPr>
          <p:cNvPr id="108" name="EBF"/>
          <p:cNvCxnSpPr/>
          <p:nvPr/>
        </p:nvCxnSpPr>
        <p:spPr>
          <a:xfrm>
            <a:off x="3750000" y="1656250"/>
            <a:ext cx="3687500" cy="406250"/>
          </a:xfrm>
          <a:prstGeom prst="line">
            <a:avLst/>
          </a:prstGeom>
          <a:ln w="47625">
            <a:solidFill>
              <a:srgbClr val="8E6F3E"/>
            </a:solidFill>
            <a:tailEnd type="triangle" w="med" len="med"/>
          </a:ln>
        </p:spPr>
      </p:cxnSp>
      <p:sp>
        <p:nvSpPr>
          <p:cNvPr id="109" name="WBF"/>
          <p:cNvSpPr txBox="1"/>
          <p:nvPr/>
        </p:nvSpPr>
        <p:spPr>
          <a:xfrm>
            <a:off x="6000000" y="2037500"/>
            <a:ext cx="875000" cy="325000"/>
          </a:xfrm>
          <a:prstGeom prst="rect">
            <a:avLst/>
          </a:prstGeom>
          <a:noFill/>
          <a:ln>
            <a:noFill/>
          </a:ln>
        </p:spPr>
        <p:txBody>
          <a:bodyPr wrap="square" lIns="0" tIns="0" rIns="0" bIns="0" anchor="t">
            <a:normAutofit/>
          </a:bodyPr>
          <a:lstStyle/>
          <a:p>
            <a:pPr algn="l">
              <a:buNone/>
            </a:pPr>
            <a:r>
              <a:rPr lang="en-US" sz="1900" b="1" i="1" dirty="0">
                <a:solidFill>
                  <a:srgbClr val="5C4826"/>
                </a:solidFill>
              </a:rPr>
              <a:t xml:space="preserve">40 ms</a:t>
            </a:r>
          </a:p>
        </p:txBody>
      </p:sp>
      <p:cxnSp>
        <p:nvCxnSpPr>
          <p:cNvPr id="110" name="EAC"/>
          <p:cNvCxnSpPr/>
          <p:nvPr/>
        </p:nvCxnSpPr>
        <p:spPr>
          <a:xfrm>
            <a:off x="906250" y="2625000"/>
            <a:ext cx="1968750" cy="687500"/>
          </a:xfrm>
          <a:prstGeom prst="line">
            <a:avLst/>
          </a:prstGeom>
          <a:ln w="23812">
            <a:solidFill>
              <a:srgbClr val="C9B991"/>
            </a:solidFill>
            <a:tailEnd type="triangle" w="med" len="med"/>
          </a:ln>
        </p:spPr>
      </p:cxnSp>
      <p:sp>
        <p:nvSpPr>
          <p:cNvPr id="111" name="WAC"/>
          <p:cNvSpPr txBox="1"/>
          <p:nvPr/>
        </p:nvSpPr>
        <p:spPr>
          <a:xfrm>
            <a:off x="1375000" y="3012500"/>
            <a:ext cx="875000" cy="325000"/>
          </a:xfrm>
          <a:prstGeom prst="rect">
            <a:avLst/>
          </a:prstGeom>
          <a:noFill/>
          <a:ln>
            <a:noFill/>
          </a:ln>
        </p:spPr>
        <p:txBody>
          <a:bodyPr wrap="square" lIns="0" tIns="0" rIns="0" bIns="0" anchor="t">
            <a:normAutofit/>
          </a:bodyPr>
          <a:lstStyle/>
          <a:p>
            <a:pPr algn="l">
              <a:buNone/>
            </a:pPr>
            <a:r>
              <a:rPr lang="en-US" sz="1900" b="0" i="1" dirty="0">
                <a:solidFill>
                  <a:srgbClr val="555960"/>
                </a:solidFill>
              </a:rPr>
              <a:t xml:space="preserve">10 ms</a:t>
            </a:r>
          </a:p>
        </p:txBody>
      </p:sp>
      <p:cxnSp>
        <p:nvCxnSpPr>
          <p:cNvPr id="112" name="ECE"/>
          <p:cNvCxnSpPr/>
          <p:nvPr/>
        </p:nvCxnSpPr>
        <p:spPr>
          <a:xfrm>
            <a:off x="3687500" y="3406250"/>
            <a:ext cx="1500000" cy="0"/>
          </a:xfrm>
          <a:prstGeom prst="line">
            <a:avLst/>
          </a:prstGeom>
          <a:ln w="23812">
            <a:solidFill>
              <a:srgbClr val="C9B991"/>
            </a:solidFill>
            <a:tailEnd type="triangle" w="med" len="med"/>
          </a:ln>
        </p:spPr>
      </p:cxnSp>
      <p:sp>
        <p:nvSpPr>
          <p:cNvPr id="113" name="WCE"/>
          <p:cNvSpPr txBox="1"/>
          <p:nvPr/>
        </p:nvSpPr>
        <p:spPr>
          <a:xfrm>
            <a:off x="4062500" y="3012500"/>
            <a:ext cx="875000" cy="325000"/>
          </a:xfrm>
          <a:prstGeom prst="rect">
            <a:avLst/>
          </a:prstGeom>
          <a:noFill/>
          <a:ln>
            <a:noFill/>
          </a:ln>
        </p:spPr>
        <p:txBody>
          <a:bodyPr wrap="square" lIns="0" tIns="0" rIns="0" bIns="0" anchor="t">
            <a:normAutofit/>
          </a:bodyPr>
          <a:lstStyle/>
          <a:p>
            <a:pPr algn="l">
              <a:buNone/>
            </a:pPr>
            <a:r>
              <a:rPr lang="en-US" sz="1900" b="0" i="1" dirty="0">
                <a:solidFill>
                  <a:srgbClr val="555960"/>
                </a:solidFill>
              </a:rPr>
              <a:t xml:space="preserve">15 ms</a:t>
            </a:r>
          </a:p>
        </p:txBody>
      </p:sp>
      <p:cxnSp>
        <p:nvCxnSpPr>
          <p:cNvPr id="114" name="EDF"/>
          <p:cNvCxnSpPr/>
          <p:nvPr/>
        </p:nvCxnSpPr>
        <p:spPr>
          <a:xfrm>
            <a:off x="5875000" y="1343750"/>
            <a:ext cx="1750000" cy="531250"/>
          </a:xfrm>
          <a:prstGeom prst="line">
            <a:avLst/>
          </a:prstGeom>
          <a:ln w="23812">
            <a:solidFill>
              <a:srgbClr val="C9B991"/>
            </a:solidFill>
            <a:tailEnd type="triangle" w="med" len="med"/>
          </a:ln>
        </p:spPr>
      </p:cxnSp>
      <p:sp>
        <p:nvSpPr>
          <p:cNvPr id="115" name="WDF"/>
          <p:cNvSpPr txBox="1"/>
          <p:nvPr/>
        </p:nvSpPr>
        <p:spPr>
          <a:xfrm>
            <a:off x="6687500" y="1037500"/>
            <a:ext cx="875000" cy="325000"/>
          </a:xfrm>
          <a:prstGeom prst="rect">
            <a:avLst/>
          </a:prstGeom>
          <a:noFill/>
          <a:ln>
            <a:noFill/>
          </a:ln>
        </p:spPr>
        <p:txBody>
          <a:bodyPr wrap="square" lIns="0" tIns="0" rIns="0" bIns="0" anchor="t">
            <a:normAutofit/>
          </a:bodyPr>
          <a:lstStyle/>
          <a:p>
            <a:pPr algn="l">
              <a:buNone/>
            </a:pPr>
            <a:r>
              <a:rPr lang="en-US" sz="1900" b="0" i="1" dirty="0">
                <a:solidFill>
                  <a:srgbClr val="555960"/>
                </a:solidFill>
              </a:rPr>
              <a:t xml:space="preserve">20 ms</a:t>
            </a:r>
          </a:p>
        </p:txBody>
      </p:sp>
      <p:sp>
        <p:nvSpPr>
          <p:cNvPr id="116" name="CritLbl"/>
          <p:cNvSpPr txBox="1"/>
          <p:nvPr/>
        </p:nvSpPr>
        <p:spPr>
          <a:xfrm>
            <a:off x="7060000" y="2650000"/>
            <a:ext cx="2070000" cy="800000"/>
          </a:xfrm>
          <a:prstGeom prst="rect">
            <a:avLst/>
          </a:prstGeom>
          <a:noFill/>
          <a:ln>
            <a:noFill/>
          </a:ln>
        </p:spPr>
        <p:txBody>
          <a:bodyPr wrap="square" lIns="0" tIns="0" rIns="0" bIns="0" anchor="t">
            <a:normAutofit/>
          </a:bodyPr>
          <a:lstStyle/>
          <a:p>
            <a:pPr algn="l">
              <a:buNone/>
            </a:pPr>
            <a:r>
              <a:rPr lang="en-US" sz="2000" b="1" i="0" dirty="0">
                <a:solidFill>
                  <a:srgbClr val="8E6F3E"/>
                </a:solidFill>
              </a:rPr>
              <a:t xml:space="preserve">critical path</a:t>
            </a:r>
          </a:p>
          <a:p>
            <a:pPr algn="l">
              <a:spcBef>
                <a:spcPts val="273"/>
              </a:spcBef>
              <a:buNone/>
            </a:pPr>
            <a:r>
              <a:rPr lang="en-US" sz="2000" b="1" i="0" dirty="0">
                <a:solidFill>
                  <a:srgbClr val="8E6F3E"/>
                </a:solidFill>
              </a:rPr>
              <a:t xml:space="preserve">A → B → F  ·  120 ms</a:t>
            </a:r>
          </a:p>
        </p:txBody>
      </p:sp>
      <p:cxnSp>
        <p:nvCxnSpPr>
          <p:cNvPr id="117" name="CandArw"/>
          <p:cNvCxnSpPr/>
          <p:nvPr/>
        </p:nvCxnSpPr>
        <p:spPr>
          <a:xfrm flipH="1">
            <a:off x="2500000" y="2000000"/>
            <a:ext cx="312500" cy="2000000"/>
          </a:xfrm>
          <a:prstGeom prst="line">
            <a:avLst/>
          </a:prstGeom>
          <a:ln w="23812">
            <a:solidFill>
              <a:srgbClr val="8E6F3E"/>
            </a:solidFill>
            <a:prstDash val="dash"/>
            <a:tailEnd type="triangle" w="med" len="med"/>
          </a:ln>
        </p:spPr>
      </p:cxnSp>
      <p:sp>
        <p:nvSpPr>
          <p:cNvPr id="118" name="CandBox"/>
          <p:cNvSpPr/>
          <p:nvPr/>
        </p:nvSpPr>
        <p:spPr>
          <a:xfrm>
            <a:off x="1812500" y="4000000"/>
            <a:ext cx="3375000" cy="1062500"/>
          </a:xfrm>
          <a:prstGeom prst="roundRect">
            <a:avLst/>
          </a:prstGeom>
          <a:solidFill>
            <a:srgbClr val="FBF8F2"/>
          </a:solidFill>
          <a:ln w="23812">
            <a:solidFill>
              <a:srgbClr val="8E6F3E"/>
            </a:solidFill>
            <a:prstDash val="dash"/>
          </a:ln>
        </p:spPr>
        <p:txBody>
          <a:bodyPr wrap="square" lIns="54864" tIns="27432" rIns="54864" bIns="27432" anchor="ctr">
            <a:normAutofit/>
          </a:bodyPr>
          <a:lstStyle/>
          <a:p>
            <a:endParaRPr/>
          </a:p>
        </p:txBody>
      </p:sp>
      <p:sp>
        <p:nvSpPr>
          <p:cNvPr id="119" name="CandB1"/>
          <p:cNvSpPr/>
          <p:nvPr/>
        </p:nvSpPr>
        <p:spPr>
          <a:xfrm>
            <a:off x="2062500" y="4262500"/>
            <a:ext cx="875000" cy="537500"/>
          </a:xfrm>
          <a:prstGeom prst="rect">
            <a:avLst/>
          </a:prstGeom>
          <a:solidFill>
            <a:srgbClr val="F5F1E8"/>
          </a:solidFill>
          <a:ln w="15875">
            <a:solidFill>
              <a:srgbClr val="C9B991"/>
            </a:solidFill>
          </a:ln>
        </p:spPr>
        <p:txBody>
          <a:bodyPr wrap="square" lIns="54864" tIns="27432" rIns="54864" bIns="27432" anchor="ctr">
            <a:normAutofit/>
          </a:bodyPr>
          <a:lstStyle/>
          <a:p>
            <a:pPr algn="ctr">
              <a:buNone/>
            </a:pPr>
            <a:r>
              <a:rPr lang="en-US" sz="2200" b="1" i="0" dirty="0">
                <a:solidFill>
                  <a:srgbClr val="5C4826"/>
                </a:solidFill>
              </a:rPr>
              <a:t xml:space="preserve">B1</a:t>
            </a:r>
          </a:p>
        </p:txBody>
      </p:sp>
      <p:sp>
        <p:nvSpPr>
          <p:cNvPr id="120" name="CandB2"/>
          <p:cNvSpPr/>
          <p:nvPr/>
        </p:nvSpPr>
        <p:spPr>
          <a:xfrm>
            <a:off x="3062500" y="4262500"/>
            <a:ext cx="875000" cy="537500"/>
          </a:xfrm>
          <a:prstGeom prst="rect">
            <a:avLst/>
          </a:prstGeom>
          <a:solidFill>
            <a:srgbClr val="F5F1E8"/>
          </a:solidFill>
          <a:ln w="15875">
            <a:solidFill>
              <a:srgbClr val="C9B991"/>
            </a:solidFill>
          </a:ln>
        </p:spPr>
        <p:txBody>
          <a:bodyPr wrap="square" lIns="54864" tIns="27432" rIns="54864" bIns="27432" anchor="ctr">
            <a:normAutofit/>
          </a:bodyPr>
          <a:lstStyle/>
          <a:p>
            <a:pPr algn="ctr">
              <a:buNone/>
            </a:pPr>
            <a:r>
              <a:rPr lang="en-US" sz="2200" b="1" i="0" dirty="0">
                <a:solidFill>
                  <a:srgbClr val="5C4826"/>
                </a:solidFill>
              </a:rPr>
              <a:t xml:space="preserve">B2</a:t>
            </a:r>
          </a:p>
        </p:txBody>
      </p:sp>
      <p:sp>
        <p:nvSpPr>
          <p:cNvPr id="121" name="CandB3"/>
          <p:cNvSpPr/>
          <p:nvPr/>
        </p:nvSpPr>
        <p:spPr>
          <a:xfrm>
            <a:off x="4062500" y="4262500"/>
            <a:ext cx="875000" cy="537500"/>
          </a:xfrm>
          <a:prstGeom prst="rect">
            <a:avLst/>
          </a:prstGeom>
          <a:solidFill>
            <a:srgbClr val="F5F1E8"/>
          </a:solidFill>
          <a:ln w="15875">
            <a:solidFill>
              <a:srgbClr val="C9B991"/>
            </a:solidFill>
          </a:ln>
        </p:spPr>
        <p:txBody>
          <a:bodyPr wrap="square" lIns="54864" tIns="27432" rIns="54864" bIns="27432" anchor="ctr">
            <a:normAutofit/>
          </a:bodyPr>
          <a:lstStyle/>
          <a:p>
            <a:pPr algn="ctr">
              <a:buNone/>
            </a:pPr>
            <a:r>
              <a:rPr lang="en-US" sz="2200" b="1" i="0" dirty="0">
                <a:solidFill>
                  <a:srgbClr val="5C4826"/>
                </a:solidFill>
              </a:rPr>
              <a:t xml:space="preserve">B3</a:t>
            </a:r>
          </a:p>
        </p:txBody>
      </p:sp>
      <p:sp>
        <p:nvSpPr>
          <p:cNvPr id="122" name="CandLbl"/>
          <p:cNvSpPr txBox="1"/>
          <p:nvPr/>
        </p:nvSpPr>
        <p:spPr>
          <a:xfrm>
            <a:off x="5437500" y="4437500"/>
            <a:ext cx="3250000" cy="350000"/>
          </a:xfrm>
          <a:prstGeom prst="rect">
            <a:avLst/>
          </a:prstGeom>
          <a:noFill/>
          <a:ln>
            <a:noFill/>
          </a:ln>
        </p:spPr>
        <p:txBody>
          <a:bodyPr wrap="square" lIns="0" tIns="0" rIns="0" bIns="0" anchor="t">
            <a:normAutofit/>
          </a:bodyPr>
          <a:lstStyle/>
          <a:p>
            <a:pPr algn="l">
              <a:buNone/>
            </a:pPr>
            <a:r>
              <a:rPr lang="en-US" sz="1900" b="0" i="1" dirty="0">
                <a:solidFill>
                  <a:srgbClr val="8E6F3E"/>
                </a:solidFill>
              </a:rPr>
              <a:t xml:space="preserve">candidate: decompose B</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a:bodyPr>
          <a:lstStyle/>
          <a:p>
            <a:pPr algn="ctr">
              <a:buNone/>
              <a:defRPr b="0"/>
            </a:pPr>
            <a:r>
              <a:rPr lang="en-US" sz="4000" b="0" i="0" dirty="0">
                <a:solidFill>
                  <a:srgbClr val="000000"/>
                </a:solidFill>
              </a:rPr>
              <a:t xml:space="preserve">Architect one system</a:t>
            </a:r>
          </a:p>
        </p:txBody>
      </p:sp>
      <p:sp>
        <p:nvSpPr>
          <p:cNvPr id="3" name="Slide Number Placeholder 2"/>
          <p:cNvSpPr>
            <a:spLocks noGrp="1"/>
          </p:cNvSpPr>
          <p:nvPr>
            <p:ph type="sldNum" sz="quarter" idx="4"/>
          </p:nvPr>
        </p:nvSpPr>
        <p:spPr/>
        <p:txBody>
          <a:bodyPr/>
          <a:lstStyle/>
          <a:p>
            <a:fld id="{B7EB45DA-9A0D-DC49-8E02-F30A5DDC21C3}" type="slidenum">
              <a:rPr lang="en-US" smtClean="0"/>
              <a:t>0</a:t>
            </a:fld>
            <a:endParaRPr lang="en-US"/>
          </a:p>
        </p:txBody>
      </p:sp>
      <p:sp>
        <p:nvSpPr>
          <p:cNvPr id="50" name="T50"/>
          <p:cNvSpPr txBox="1"/>
          <p:nvPr/>
        </p:nvSpPr>
        <p:spPr>
          <a:xfrm>
            <a:off x="685800" y="1737360"/>
            <a:ext cx="7772400" cy="355600"/>
          </a:xfrm>
          <a:prstGeom prst="rect">
            <a:avLst/>
          </a:prstGeom>
          <a:noFill/>
          <a:ln>
            <a:noFill/>
          </a:ln>
        </p:spPr>
        <p:txBody>
          <a:bodyPr wrap="square" lIns="0" tIns="0" rIns="0" bIns="0" anchor="t">
            <a:normAutofit/>
          </a:bodyPr>
          <a:lstStyle/>
          <a:p>
            <a:pPr algn="ctr">
              <a:buNone/>
            </a:pPr>
            <a:r>
              <a:rPr lang="en-US" sz="2200" b="1" i="0" dirty="0">
                <a:solidFill>
                  <a:srgbClr val="8E6F3E"/>
                </a:solidFill>
              </a:rPr>
              <a:t xml:space="preserve">SECTION 5</a:t>
            </a:r>
          </a:p>
        </p:txBody>
      </p:sp>
      <p:sp>
        <p:nvSpPr>
          <p:cNvPr id="51" name="S51"/>
          <p:cNvSpPr/>
          <p:nvPr/>
        </p:nvSpPr>
        <p:spPr>
          <a:xfrm>
            <a:off x="3429000" y="3383280"/>
            <a:ext cx="2286000" cy="50800"/>
          </a:xfrm>
          <a:prstGeom prst="rect">
            <a:avLst/>
          </a:prstGeom>
          <a:solidFill>
            <a:srgbClr val="8E6F3E"/>
          </a:solidFill>
          <a:ln>
            <a:noFill/>
          </a:ln>
        </p:spPr>
        <p:txBody>
          <a:bodyPr wrap="square" lIns="109728" tIns="82296" rIns="109728" bIns="82296" anchor="ctr">
            <a:normAutofit/>
          </a:bodyPr>
          <a:lstStyle/>
          <a:p>
            <a:endParaRPr/>
          </a:p>
        </p:txBody>
      </p:sp>
      <p:sp>
        <p:nvSpPr>
          <p:cNvPr id="52" name="T52"/>
          <p:cNvSpPr txBox="1"/>
          <p:nvPr/>
        </p:nvSpPr>
        <p:spPr>
          <a:xfrm>
            <a:off x="1371600" y="3977640"/>
            <a:ext cx="6400800" cy="1005840"/>
          </a:xfrm>
          <a:prstGeom prst="rect">
            <a:avLst/>
          </a:prstGeom>
          <a:noFill/>
          <a:ln>
            <a:noFill/>
          </a:ln>
        </p:spPr>
        <p:txBody>
          <a:bodyPr wrap="square" lIns="0" tIns="0" rIns="0" bIns="0" anchor="t">
            <a:normAutofit/>
          </a:bodyPr>
          <a:lstStyle/>
          <a:p>
            <a:pPr algn="ctr">
              <a:buNone/>
            </a:pPr>
            <a:r>
              <a:rPr lang="en-US" sz="2800" b="0" i="0" dirty="0">
                <a:solidFill>
                  <a:srgbClr val="555960"/>
                </a:solidFill>
              </a:rPr>
              <a:t xml:space="preserve">Enough vocabulary. Make the decision.</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 xml:space="preserve">Exercise: Here is the specification.</a:t>
            </a:r>
          </a:p>
        </p:txBody>
      </p:sp>
      <p:sp>
        <p:nvSpPr>
          <p:cNvPr id="3" name="Slide Number Placeholder 2"/>
          <p:cNvSpPr>
            <a:spLocks noGrp="1"/>
          </p:cNvSpPr>
          <p:nvPr>
            <p:ph type="sldNum" sz="quarter" idx="4"/>
          </p:nvPr>
        </p:nvSpPr>
        <p:spPr/>
        <p:txBody>
          <a:bodyPr/>
          <a:lstStyle/>
          <a:p>
            <a:fld id="{B7EB45DA-9A0D-DC49-8E02-F30A5DDC21C3}" type="slidenum">
              <a:rPr lang="en-US" smtClean="0"/>
              <a:t>0</a:t>
            </a:fld>
            <a:endParaRPr lang="en-US"/>
          </a:p>
        </p:txBody>
      </p:sp>
      <p:sp>
        <p:nvSpPr>
          <p:cNvPr id="61" name="Band61"/>
          <p:cNvSpPr/>
          <p:nvPr/>
        </p:nvSpPr>
        <p:spPr>
          <a:xfrm>
            <a:off x="279400" y="4500000"/>
            <a:ext cx="8585200" cy="1300000"/>
          </a:xfrm>
          <a:prstGeom prst="rect">
            <a:avLst/>
          </a:prstGeom>
          <a:solidFill>
            <a:srgbClr val="F5F1E8"/>
          </a:solidFill>
          <a:ln>
            <a:noFill/>
          </a:ln>
        </p:spPr>
        <p:txBody>
          <a:bodyPr wrap="square" lIns="109728" tIns="82296" rIns="109728" bIns="82296" anchor="ctr">
            <a:normAutofit/>
          </a:bodyPr>
          <a:lstStyle/>
          <a:p>
            <a:pPr algn="l">
              <a:buNone/>
            </a:pPr>
            <a:r>
              <a:rPr lang="en-US" sz="2400" b="1" i="0" dirty="0">
                <a:solidFill>
                  <a:srgbClr val="000000"/>
                </a:solidFill>
              </a:rPr>
              <a:t xml:space="preserve">Sketch the major parts, the boundaries, and the interactions.</a:t>
            </a:r>
          </a:p>
          <a:p>
            <a:pPr algn="l">
              <a:spcBef>
                <a:spcPts val="200"/>
              </a:spcBef>
              <a:buNone/>
            </a:pPr>
            <a:r>
              <a:rPr lang="en-US" sz="2400" b="0" i="0" dirty="0">
                <a:solidFill>
                  <a:srgbClr val="000000"/>
                </a:solidFill>
              </a:rPr>
              <a:t xml:space="preserve">Produce TWO plausible organizations —</a:t>
            </a:r>
            <a:br>
              <a:rPr lang="en-US" sz="2400" b="0" i="0" dirty="0">
                <a:solidFill>
                  <a:srgbClr val="000000"/>
                </a:solidFill>
              </a:rPr>
            </a:br>
            <a:r>
              <a:rPr lang="en-US" sz="2400" b="0" i="0" dirty="0">
                <a:solidFill>
                  <a:srgbClr val="000000"/>
                </a:solidFill>
              </a:rPr>
              <a:t>do not converge on one yet.</a:t>
            </a:r>
          </a:p>
        </p:txBody>
      </p:sp>
      <p:sp>
        <p:nvSpPr>
          <p:cNvPr id="100" name="SysBox"/>
          <p:cNvSpPr/>
          <p:nvPr/>
        </p:nvSpPr>
        <p:spPr>
          <a:xfrm>
            <a:off x="3125000" y="2150000"/>
            <a:ext cx="2900000" cy="1400000"/>
          </a:xfrm>
          <a:prstGeom prst="roundRect">
            <a:avLst/>
          </a:prstGeom>
          <a:solidFill>
            <a:srgbClr val="FBF8F2"/>
          </a:solidFill>
          <a:ln w="19050">
            <a:solidFill>
              <a:srgbClr val="8E6F3E"/>
            </a:solidFill>
            <a:prstDash val="dash"/>
          </a:ln>
        </p:spPr>
        <p:txBody>
          <a:bodyPr wrap="square" lIns="54864" tIns="27432" rIns="54864" bIns="27432" anchor="ctr">
            <a:normAutofit/>
          </a:bodyPr>
          <a:lstStyle/>
          <a:p>
            <a:pPr algn="ctr">
              <a:buNone/>
            </a:pPr>
            <a:r>
              <a:rPr lang="en-US" sz="2800" b="1" i="0" dirty="0">
                <a:solidFill>
                  <a:srgbClr val="8E6F3E"/>
                </a:solidFill>
              </a:rPr>
              <a:t xml:space="preserve">SYSTEM ?</a:t>
            </a:r>
          </a:p>
          <a:p>
            <a:pPr algn="ctr">
              <a:spcBef>
                <a:spcPts val="525"/>
              </a:spcBef>
              <a:buNone/>
            </a:pPr>
            <a:r>
              <a:rPr lang="en-US" sz="1800" b="0" i="1" dirty="0">
                <a:solidFill>
                  <a:srgbClr val="8E6F3E"/>
                </a:solidFill>
              </a:rPr>
              <a:t xml:space="preserve">YOUR ARCHITECTURE</a:t>
            </a:r>
          </a:p>
          <a:p>
            <a:pPr algn="ctr">
              <a:spcBef>
                <a:spcPts val="525"/>
              </a:spcBef>
              <a:buNone/>
            </a:pPr>
            <a:r>
              <a:rPr lang="en-US" sz="1800" b="0" i="1" dirty="0">
                <a:solidFill>
                  <a:srgbClr val="8E6F3E"/>
                </a:solidFill>
              </a:rPr>
              <a:t xml:space="preserve">GOES HERE</a:t>
            </a:r>
          </a:p>
        </p:txBody>
      </p:sp>
      <p:sp>
        <p:nvSpPr>
          <p:cNvPr id="101" name="Obl0"/>
          <p:cNvSpPr/>
          <p:nvPr/>
        </p:nvSpPr>
        <p:spPr>
          <a:xfrm>
            <a:off x="3455000" y="1150000"/>
            <a:ext cx="2240000" cy="65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2200" b="1" i="0" dirty="0">
                <a:solidFill>
                  <a:srgbClr val="5C4826"/>
                </a:solidFill>
              </a:rPr>
              <a:t xml:space="preserve">≤ 2 s latency</a:t>
            </a:r>
          </a:p>
        </p:txBody>
      </p:sp>
      <p:cxnSp>
        <p:nvCxnSpPr>
          <p:cNvPr id="102" name="OblA0"/>
          <p:cNvCxnSpPr/>
          <p:nvPr/>
        </p:nvCxnSpPr>
        <p:spPr>
          <a:xfrm>
            <a:off x="4575000" y="1800000"/>
            <a:ext cx="0" cy="350000"/>
          </a:xfrm>
          <a:prstGeom prst="line">
            <a:avLst/>
          </a:prstGeom>
          <a:ln w="19050">
            <a:solidFill>
              <a:srgbClr val="C9B991"/>
            </a:solidFill>
            <a:tailEnd type="triangle" w="med" len="med"/>
          </a:ln>
        </p:spPr>
      </p:cxnSp>
      <p:sp>
        <p:nvSpPr>
          <p:cNvPr id="103" name="Obl1"/>
          <p:cNvSpPr/>
          <p:nvPr/>
        </p:nvSpPr>
        <p:spPr>
          <a:xfrm>
            <a:off x="680000" y="1675000"/>
            <a:ext cx="2240000" cy="65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2200" b="1" i="0" dirty="0">
                <a:solidFill>
                  <a:srgbClr val="5C4826"/>
                </a:solidFill>
              </a:rPr>
              <a:t xml:space="preserve">privacy</a:t>
            </a:r>
          </a:p>
        </p:txBody>
      </p:sp>
      <p:cxnSp>
        <p:nvCxnSpPr>
          <p:cNvPr id="104" name="OblA1"/>
          <p:cNvCxnSpPr/>
          <p:nvPr/>
        </p:nvCxnSpPr>
        <p:spPr>
          <a:xfrm>
            <a:off x="2920000" y="2200000"/>
            <a:ext cx="205000" cy="450000"/>
          </a:xfrm>
          <a:prstGeom prst="line">
            <a:avLst/>
          </a:prstGeom>
          <a:ln w="19050">
            <a:solidFill>
              <a:srgbClr val="C9B991"/>
            </a:solidFill>
            <a:tailEnd type="triangle" w="med" len="med"/>
          </a:ln>
        </p:spPr>
      </p:cxnSp>
      <p:sp>
        <p:nvSpPr>
          <p:cNvPr id="105" name="Obl2"/>
          <p:cNvSpPr/>
          <p:nvPr/>
        </p:nvSpPr>
        <p:spPr>
          <a:xfrm>
            <a:off x="6230000" y="1675000"/>
            <a:ext cx="2240000" cy="65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2200" b="1" i="0" dirty="0">
                <a:solidFill>
                  <a:srgbClr val="5C4826"/>
                </a:solidFill>
              </a:rPr>
              <a:t xml:space="preserve">expected change</a:t>
            </a:r>
          </a:p>
        </p:txBody>
      </p:sp>
      <p:cxnSp>
        <p:nvCxnSpPr>
          <p:cNvPr id="106" name="OblA2"/>
          <p:cNvCxnSpPr/>
          <p:nvPr/>
        </p:nvCxnSpPr>
        <p:spPr>
          <a:xfrm flipH="1">
            <a:off x="6025000" y="2200000"/>
            <a:ext cx="205000" cy="450000"/>
          </a:xfrm>
          <a:prstGeom prst="line">
            <a:avLst/>
          </a:prstGeom>
          <a:ln w="19050">
            <a:solidFill>
              <a:srgbClr val="C9B991"/>
            </a:solidFill>
            <a:tailEnd type="triangle" w="med" len="med"/>
          </a:ln>
        </p:spPr>
      </p:cxnSp>
      <p:sp>
        <p:nvSpPr>
          <p:cNvPr id="107" name="Obl3"/>
          <p:cNvSpPr/>
          <p:nvPr/>
        </p:nvSpPr>
        <p:spPr>
          <a:xfrm>
            <a:off x="1080000" y="3675000"/>
            <a:ext cx="2240000" cy="65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2200" b="1" i="0" dirty="0">
                <a:solidFill>
                  <a:srgbClr val="5C4826"/>
                </a:solidFill>
              </a:rPr>
              <a:t xml:space="preserve">availability</a:t>
            </a:r>
          </a:p>
        </p:txBody>
      </p:sp>
      <p:cxnSp>
        <p:nvCxnSpPr>
          <p:cNvPr id="108" name="OblA3"/>
          <p:cNvCxnSpPr/>
          <p:nvPr/>
        </p:nvCxnSpPr>
        <p:spPr>
          <a:xfrm flipV="1">
            <a:off x="3350000" y="3550000"/>
            <a:ext cx="450000" cy="250000"/>
          </a:xfrm>
          <a:prstGeom prst="line">
            <a:avLst/>
          </a:prstGeom>
          <a:ln w="19050">
            <a:solidFill>
              <a:srgbClr val="C9B991"/>
            </a:solidFill>
            <a:tailEnd type="triangle" w="med" len="med"/>
          </a:ln>
        </p:spPr>
      </p:cxnSp>
      <p:sp>
        <p:nvSpPr>
          <p:cNvPr id="109" name="Obl4"/>
          <p:cNvSpPr/>
          <p:nvPr/>
        </p:nvSpPr>
        <p:spPr>
          <a:xfrm>
            <a:off x="5880000" y="3675000"/>
            <a:ext cx="2240000" cy="65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2200" b="1" i="0" dirty="0">
                <a:solidFill>
                  <a:srgbClr val="5C4826"/>
                </a:solidFill>
              </a:rPr>
              <a:t xml:space="preserve">consistency</a:t>
            </a:r>
          </a:p>
        </p:txBody>
      </p:sp>
      <p:cxnSp>
        <p:nvCxnSpPr>
          <p:cNvPr id="110" name="OblA4"/>
          <p:cNvCxnSpPr/>
          <p:nvPr/>
        </p:nvCxnSpPr>
        <p:spPr>
          <a:xfrm flipH="1" flipV="1">
            <a:off x="5350000" y="3550000"/>
            <a:ext cx="530000" cy="250000"/>
          </a:xfrm>
          <a:prstGeom prst="line">
            <a:avLst/>
          </a:prstGeom>
          <a:ln w="19050">
            <a:solidFill>
              <a:srgbClr val="C9B991"/>
            </a:solidFill>
            <a:tailEnd type="triangle" w="med" len="med"/>
          </a:ln>
        </p:spPr>
      </p:cxn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 xml:space="preserve">Defend the architectural decision.</a:t>
            </a:r>
          </a:p>
        </p:txBody>
      </p:sp>
      <p:sp>
        <p:nvSpPr>
          <p:cNvPr id="3" name="Slide Number Placeholder 2"/>
          <p:cNvSpPr>
            <a:spLocks noGrp="1"/>
          </p:cNvSpPr>
          <p:nvPr>
            <p:ph type="sldNum" sz="quarter" idx="4"/>
          </p:nvPr>
        </p:nvSpPr>
        <p:spPr/>
        <p:txBody>
          <a:bodyPr/>
          <a:lstStyle/>
          <a:p>
            <a:fld id="{B7EB45DA-9A0D-DC49-8E02-F30A5DDC21C3}" type="slidenum">
              <a:rPr lang="en-US" smtClean="0"/>
              <a:t>0</a:t>
            </a:fld>
            <a:endParaRPr lang="en-US"/>
          </a:p>
        </p:txBody>
      </p:sp>
      <p:sp>
        <p:nvSpPr>
          <p:cNvPr id="61" name="Band61"/>
          <p:cNvSpPr/>
          <p:nvPr/>
        </p:nvSpPr>
        <p:spPr>
          <a:xfrm>
            <a:off x="279400" y="4300000"/>
            <a:ext cx="8585200" cy="1700000"/>
          </a:xfrm>
          <a:prstGeom prst="rect">
            <a:avLst/>
          </a:prstGeom>
          <a:solidFill>
            <a:srgbClr val="F5F1E8"/>
          </a:solidFill>
          <a:ln>
            <a:noFill/>
          </a:ln>
        </p:spPr>
        <p:txBody>
          <a:bodyPr wrap="square" lIns="109728" tIns="82296" rIns="109728" bIns="82296" anchor="ctr">
            <a:normAutofit/>
          </a:bodyPr>
          <a:lstStyle/>
          <a:p>
            <a:pPr algn="l">
              <a:buNone/>
            </a:pPr>
            <a:r>
              <a:rPr lang="en-US" sz="2200" b="1" i="0" dirty="0">
                <a:solidFill>
                  <a:srgbClr val="8E6F3E"/>
                </a:solidFill>
              </a:rPr>
              <a:t xml:space="preserve">·  </a:t>
            </a:r>
            <a:r>
              <a:rPr lang="en-US" sz="2200" b="0" i="0" dirty="0">
                <a:solidFill>
                  <a:srgbClr val="000000"/>
                </a:solidFill>
              </a:rPr>
              <a:t xml:space="preserve">Which candidates violate specification?</a:t>
            </a:r>
          </a:p>
          <a:p>
            <a:pPr algn="l">
              <a:spcBef>
                <a:spcPts val="150"/>
              </a:spcBef>
              <a:buNone/>
            </a:pPr>
            <a:r>
              <a:rPr lang="en-US" sz="2200" b="1" i="0" dirty="0">
                <a:solidFill>
                  <a:srgbClr val="8E6F3E"/>
                </a:solidFill>
              </a:rPr>
              <a:t xml:space="preserve">·  </a:t>
            </a:r>
            <a:r>
              <a:rPr lang="en-US" sz="2200" b="0" i="0" dirty="0">
                <a:solidFill>
                  <a:srgbClr val="000000"/>
                </a:solidFill>
              </a:rPr>
              <a:t xml:space="preserve">Is anything Pareto-dominated?</a:t>
            </a:r>
          </a:p>
          <a:p>
            <a:pPr algn="l">
              <a:spcBef>
                <a:spcPts val="150"/>
              </a:spcBef>
              <a:buNone/>
            </a:pPr>
            <a:r>
              <a:rPr lang="en-US" sz="2200" b="1" i="0" dirty="0">
                <a:solidFill>
                  <a:srgbClr val="8E6F3E"/>
                </a:solidFill>
              </a:rPr>
              <a:t xml:space="preserve">·  </a:t>
            </a:r>
            <a:r>
              <a:rPr lang="en-US" sz="2200" b="0" i="0" dirty="0">
                <a:solidFill>
                  <a:srgbClr val="000000"/>
                </a:solidFill>
              </a:rPr>
              <a:t xml:space="preserve">What genuine tradeoff remains?</a:t>
            </a:r>
          </a:p>
          <a:p>
            <a:pPr algn="l">
              <a:spcBef>
                <a:spcPts val="150"/>
              </a:spcBef>
              <a:buNone/>
            </a:pPr>
            <a:r>
              <a:rPr lang="en-US" sz="2200" b="1" i="0" dirty="0">
                <a:solidFill>
                  <a:srgbClr val="8E6F3E"/>
                </a:solidFill>
              </a:rPr>
              <a:t xml:space="preserve">·  </a:t>
            </a:r>
            <a:r>
              <a:rPr lang="en-US" sz="2200" b="0" i="0" dirty="0">
                <a:solidFill>
                  <a:srgbClr val="000000"/>
                </a:solidFill>
              </a:rPr>
              <a:t xml:space="preserve">What architectural model would help distinguish the alternatives?</a:t>
            </a:r>
          </a:p>
          <a:p>
            <a:pPr algn="l">
              <a:spcBef>
                <a:spcPts val="150"/>
              </a:spcBef>
              <a:buNone/>
            </a:pPr>
            <a:r>
              <a:rPr lang="en-US" sz="2200" b="1" i="0" dirty="0">
                <a:solidFill>
                  <a:srgbClr val="8E6F3E"/>
                </a:solidFill>
              </a:rPr>
              <a:t xml:space="preserve">·  </a:t>
            </a:r>
            <a:r>
              <a:rPr lang="en-US" sz="2200" b="0" i="0" dirty="0">
                <a:solidFill>
                  <a:srgbClr val="000000"/>
                </a:solidFill>
              </a:rPr>
              <a:t xml:space="preserve">What information would you buy before committing?</a:t>
            </a:r>
          </a:p>
        </p:txBody>
      </p:sp>
      <p:sp>
        <p:nvSpPr>
          <p:cNvPr id="62" name="T62"/>
          <p:cNvSpPr txBox="1"/>
          <p:nvPr/>
        </p:nvSpPr>
        <p:spPr>
          <a:xfrm>
            <a:off x="685800" y="6080000"/>
            <a:ext cx="7772400" cy="400000"/>
          </a:xfrm>
          <a:prstGeom prst="rect">
            <a:avLst/>
          </a:prstGeom>
          <a:noFill/>
          <a:ln>
            <a:noFill/>
          </a:ln>
        </p:spPr>
        <p:txBody>
          <a:bodyPr wrap="square" lIns="0" tIns="0" rIns="0" bIns="0" anchor="t">
            <a:normAutofit/>
          </a:bodyPr>
          <a:lstStyle/>
          <a:p>
            <a:pPr algn="ctr">
              <a:buNone/>
            </a:pPr>
            <a:r>
              <a:rPr lang="en-US" sz="2400" b="0" i="1" dirty="0">
                <a:solidFill>
                  <a:srgbClr val="000000"/>
                </a:solidFill>
              </a:rPr>
              <a:t xml:space="preserve">There need not be one “correct” architecture.</a:t>
            </a:r>
          </a:p>
        </p:txBody>
      </p:sp>
      <p:sp>
        <p:nvSpPr>
          <p:cNvPr id="100" name="CandA"/>
          <p:cNvSpPr/>
          <p:nvPr/>
        </p:nvSpPr>
        <p:spPr>
          <a:xfrm>
            <a:off x="2907000" y="1150000"/>
            <a:ext cx="840000" cy="396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200" b="1" i="0" dirty="0">
                <a:solidFill>
                  <a:srgbClr val="5C4826"/>
                </a:solidFill>
              </a:rPr>
              <a:t xml:space="preserve">A</a:t>
            </a:r>
          </a:p>
        </p:txBody>
      </p:sp>
      <p:sp>
        <p:nvSpPr>
          <p:cNvPr id="101" name="CandB"/>
          <p:cNvSpPr/>
          <p:nvPr/>
        </p:nvSpPr>
        <p:spPr>
          <a:xfrm>
            <a:off x="4017000" y="1150000"/>
            <a:ext cx="840000" cy="396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200" b="1" i="0" dirty="0">
                <a:solidFill>
                  <a:srgbClr val="5C4826"/>
                </a:solidFill>
              </a:rPr>
              <a:t xml:space="preserve">B</a:t>
            </a:r>
          </a:p>
        </p:txBody>
      </p:sp>
      <p:sp>
        <p:nvSpPr>
          <p:cNvPr id="102" name="CandC"/>
          <p:cNvSpPr/>
          <p:nvPr/>
        </p:nvSpPr>
        <p:spPr>
          <a:xfrm>
            <a:off x="5127000" y="1150000"/>
            <a:ext cx="840000" cy="396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200" b="1" i="0" dirty="0">
                <a:solidFill>
                  <a:srgbClr val="5C4826"/>
                </a:solidFill>
              </a:rPr>
              <a:t xml:space="preserve">C</a:t>
            </a:r>
          </a:p>
        </p:txBody>
      </p:sp>
      <p:cxnSp>
        <p:nvCxnSpPr>
          <p:cNvPr id="103" name="FunA0"/>
          <p:cNvCxnSpPr/>
          <p:nvPr/>
        </p:nvCxnSpPr>
        <p:spPr>
          <a:xfrm>
            <a:off x="4437000" y="1558000"/>
            <a:ext cx="0" cy="132000"/>
          </a:xfrm>
          <a:prstGeom prst="line">
            <a:avLst/>
          </a:prstGeom>
          <a:ln w="22860">
            <a:solidFill>
              <a:srgbClr val="8E6F3E"/>
            </a:solidFill>
            <a:tailEnd type="triangle" w="med" len="med"/>
          </a:ln>
        </p:spPr>
      </p:cxnSp>
      <p:cxnSp>
        <p:nvCxnSpPr>
          <p:cNvPr id="300" name="FunAa"/>
          <p:cNvCxnSpPr/>
          <p:nvPr/>
        </p:nvCxnSpPr>
        <p:spPr>
          <a:xfrm>
            <a:off x="3327000" y="1558000"/>
            <a:ext cx="0" cy="132000"/>
          </a:xfrm>
          <a:prstGeom prst="line">
            <a:avLst/>
          </a:prstGeom>
          <a:ln w="22860">
            <a:solidFill>
              <a:srgbClr val="8E6F3E"/>
            </a:solidFill>
            <a:tailEnd type="triangle" w="med" len="med"/>
          </a:ln>
        </p:spPr>
      </p:cxnSp>
      <p:cxnSp>
        <p:nvCxnSpPr>
          <p:cNvPr id="301" name="FunAc"/>
          <p:cNvCxnSpPr/>
          <p:nvPr/>
        </p:nvCxnSpPr>
        <p:spPr>
          <a:xfrm>
            <a:off x="5547000" y="1558000"/>
            <a:ext cx="0" cy="132000"/>
          </a:xfrm>
          <a:prstGeom prst="line">
            <a:avLst/>
          </a:prstGeom>
          <a:ln w="22860">
            <a:solidFill>
              <a:srgbClr val="8E6F3E"/>
            </a:solidFill>
            <a:tailEnd type="triangle" w="med" len="med"/>
          </a:ln>
        </p:spPr>
      </p:cxnSp>
      <p:sp>
        <p:nvSpPr>
          <p:cNvPr id="104" name="FunR0"/>
          <p:cNvSpPr/>
          <p:nvPr/>
        </p:nvSpPr>
        <p:spPr>
          <a:xfrm>
            <a:off x="972000" y="1690000"/>
            <a:ext cx="7200000" cy="396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000" b="1" i="0" dirty="0">
                <a:solidFill>
                  <a:srgbClr val="5C4826"/>
                </a:solidFill>
              </a:rPr>
              <a:t xml:space="preserve">SPECIFICATION — eliminate the invalid</a:t>
            </a:r>
          </a:p>
        </p:txBody>
      </p:sp>
      <p:cxnSp>
        <p:nvCxnSpPr>
          <p:cNvPr id="105" name="FunA1"/>
          <p:cNvCxnSpPr/>
          <p:nvPr/>
        </p:nvCxnSpPr>
        <p:spPr>
          <a:xfrm>
            <a:off x="4572000" y="2086000"/>
            <a:ext cx="0" cy="132000"/>
          </a:xfrm>
          <a:prstGeom prst="line">
            <a:avLst/>
          </a:prstGeom>
          <a:ln w="22860">
            <a:solidFill>
              <a:srgbClr val="8E6F3E"/>
            </a:solidFill>
            <a:tailEnd type="triangle" w="med" len="med"/>
          </a:ln>
        </p:spPr>
      </p:cxnSp>
      <p:sp>
        <p:nvSpPr>
          <p:cNvPr id="106" name="FunR1"/>
          <p:cNvSpPr/>
          <p:nvPr/>
        </p:nvSpPr>
        <p:spPr>
          <a:xfrm>
            <a:off x="1692000" y="2218000"/>
            <a:ext cx="5760000" cy="396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000" b="1" i="0" dirty="0">
                <a:solidFill>
                  <a:srgbClr val="5C4826"/>
                </a:solidFill>
              </a:rPr>
              <a:t xml:space="preserve">DOMINANCE — eliminate the clearly worse</a:t>
            </a:r>
          </a:p>
        </p:txBody>
      </p:sp>
      <p:cxnSp>
        <p:nvCxnSpPr>
          <p:cNvPr id="107" name="FunA2"/>
          <p:cNvCxnSpPr/>
          <p:nvPr/>
        </p:nvCxnSpPr>
        <p:spPr>
          <a:xfrm>
            <a:off x="4572000" y="2614000"/>
            <a:ext cx="0" cy="132000"/>
          </a:xfrm>
          <a:prstGeom prst="line">
            <a:avLst/>
          </a:prstGeom>
          <a:ln w="22860">
            <a:solidFill>
              <a:srgbClr val="8E6F3E"/>
            </a:solidFill>
            <a:tailEnd type="triangle" w="med" len="med"/>
          </a:ln>
        </p:spPr>
      </p:cxnSp>
      <p:sp>
        <p:nvSpPr>
          <p:cNvPr id="108" name="FunR2"/>
          <p:cNvSpPr/>
          <p:nvPr/>
        </p:nvSpPr>
        <p:spPr>
          <a:xfrm>
            <a:off x="2352000" y="2746000"/>
            <a:ext cx="4440000" cy="396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000" b="1" i="0" dirty="0">
                <a:solidFill>
                  <a:srgbClr val="5C4826"/>
                </a:solidFill>
              </a:rPr>
              <a:t xml:space="preserve">WHAT DON’T WE KNOW?</a:t>
            </a:r>
          </a:p>
        </p:txBody>
      </p:sp>
      <p:cxnSp>
        <p:nvCxnSpPr>
          <p:cNvPr id="109" name="FunA3"/>
          <p:cNvCxnSpPr/>
          <p:nvPr/>
        </p:nvCxnSpPr>
        <p:spPr>
          <a:xfrm>
            <a:off x="4572000" y="3142000"/>
            <a:ext cx="0" cy="132000"/>
          </a:xfrm>
          <a:prstGeom prst="line">
            <a:avLst/>
          </a:prstGeom>
          <a:ln w="22860">
            <a:solidFill>
              <a:srgbClr val="8E6F3E"/>
            </a:solidFill>
            <a:tailEnd type="triangle" w="med" len="med"/>
          </a:ln>
        </p:spPr>
      </p:cxnSp>
      <p:sp>
        <p:nvSpPr>
          <p:cNvPr id="110" name="FunR3"/>
          <p:cNvSpPr/>
          <p:nvPr/>
        </p:nvSpPr>
        <p:spPr>
          <a:xfrm>
            <a:off x="2832000" y="3274000"/>
            <a:ext cx="3480000" cy="396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000" b="1" i="0" dirty="0">
                <a:solidFill>
                  <a:srgbClr val="5C4826"/>
                </a:solidFill>
              </a:rPr>
              <a:t xml:space="preserve">BUY INFORMATION?</a:t>
            </a:r>
          </a:p>
        </p:txBody>
      </p:sp>
      <p:cxnSp>
        <p:nvCxnSpPr>
          <p:cNvPr id="111" name="FunA4"/>
          <p:cNvCxnSpPr/>
          <p:nvPr/>
        </p:nvCxnSpPr>
        <p:spPr>
          <a:xfrm>
            <a:off x="4572000" y="3670000"/>
            <a:ext cx="0" cy="132000"/>
          </a:xfrm>
          <a:prstGeom prst="line">
            <a:avLst/>
          </a:prstGeom>
          <a:ln w="22860">
            <a:solidFill>
              <a:srgbClr val="8E6F3E"/>
            </a:solidFill>
            <a:tailEnd type="triangle" w="med" len="med"/>
          </a:ln>
        </p:spPr>
      </p:cxnSp>
      <p:sp>
        <p:nvSpPr>
          <p:cNvPr id="112" name="FunR4"/>
          <p:cNvSpPr/>
          <p:nvPr/>
        </p:nvSpPr>
        <p:spPr>
          <a:xfrm>
            <a:off x="3372000" y="3802000"/>
            <a:ext cx="2400000" cy="396000"/>
          </a:xfrm>
          <a:prstGeom prst="rect">
            <a:avLst/>
          </a:prstGeom>
          <a:solidFill>
            <a:srgbClr val="8E6F3E"/>
          </a:solidFill>
          <a:ln>
            <a:noFill/>
          </a:ln>
        </p:spPr>
        <p:txBody>
          <a:bodyPr wrap="square" lIns="54864" tIns="27432" rIns="54864" bIns="27432" anchor="ctr">
            <a:normAutofit/>
          </a:bodyPr>
          <a:lstStyle/>
          <a:p>
            <a:pPr algn="ctr">
              <a:buNone/>
            </a:pPr>
            <a:r>
              <a:rPr lang="en-US" sz="2000" b="1" i="0" dirty="0">
                <a:solidFill>
                  <a:srgbClr val="FFFFFF"/>
                </a:solidFill>
              </a:rPr>
              <a:t xml:space="preserve">DECIDE</a:t>
            </a:r>
          </a:p>
        </p:txBody>
      </p:sp>
      <p:sp>
        <p:nvSpPr>
          <p:cNvPr id="113" name="TradeLbl"/>
          <p:cNvSpPr txBox="1"/>
          <p:nvPr/>
        </p:nvSpPr>
        <p:spPr>
          <a:xfrm>
            <a:off x="6950000" y="2850000"/>
            <a:ext cx="2100000" cy="700000"/>
          </a:xfrm>
          <a:prstGeom prst="rect">
            <a:avLst/>
          </a:prstGeom>
          <a:noFill/>
          <a:ln>
            <a:noFill/>
          </a:ln>
        </p:spPr>
        <p:txBody>
          <a:bodyPr wrap="square" lIns="0" tIns="0" rIns="0" bIns="0" anchor="t">
            <a:normAutofit/>
          </a:bodyPr>
          <a:lstStyle/>
          <a:p>
            <a:pPr algn="l">
              <a:buNone/>
            </a:pPr>
            <a:r>
              <a:rPr lang="en-US" sz="1800" b="0" i="1" dirty="0">
                <a:solidFill>
                  <a:srgbClr val="555960"/>
                </a:solidFill>
              </a:rPr>
              <a:t xml:space="preserve">a genuine tradeoff</a:t>
            </a:r>
          </a:p>
          <a:p>
            <a:pPr algn="l">
              <a:spcBef>
                <a:spcPts val="300"/>
              </a:spcBef>
              <a:buNone/>
            </a:pPr>
            <a:r>
              <a:rPr lang="en-US" sz="1800" b="0" i="1" dirty="0">
                <a:solidFill>
                  <a:srgbClr val="555960"/>
                </a:solidFill>
              </a:rPr>
              <a:t xml:space="preserve">remains</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 xml:space="preserve">What happens when architectural evidence gets cheap?</a:t>
            </a:r>
          </a:p>
        </p:txBody>
      </p:sp>
      <p:sp>
        <p:nvSpPr>
          <p:cNvPr id="3" name="Slide Number Placeholder 2"/>
          <p:cNvSpPr>
            <a:spLocks noGrp="1"/>
          </p:cNvSpPr>
          <p:nvPr>
            <p:ph type="sldNum" sz="quarter" idx="4"/>
          </p:nvPr>
        </p:nvSpPr>
        <p:spPr/>
        <p:txBody>
          <a:bodyPr/>
          <a:lstStyle/>
          <a:p>
            <a:fld id="{B7EB45DA-9A0D-DC49-8E02-F30A5DDC21C3}" type="slidenum">
              <a:rPr lang="en-US" smtClean="0"/>
              <a:t>0</a:t>
            </a:fld>
            <a:endParaRPr lang="en-US"/>
          </a:p>
        </p:txBody>
      </p:sp>
      <p:sp>
        <p:nvSpPr>
          <p:cNvPr id="61" name="T61"/>
          <p:cNvSpPr txBox="1"/>
          <p:nvPr/>
        </p:nvSpPr>
        <p:spPr>
          <a:xfrm>
            <a:off x="685800" y="3880000"/>
            <a:ext cx="7772400" cy="640000"/>
          </a:xfrm>
          <a:prstGeom prst="rect">
            <a:avLst/>
          </a:prstGeom>
          <a:noFill/>
          <a:ln>
            <a:noFill/>
          </a:ln>
        </p:spPr>
        <p:txBody>
          <a:bodyPr wrap="square" lIns="0" tIns="0" rIns="0" bIns="0" anchor="t">
            <a:normAutofit/>
          </a:bodyPr>
          <a:lstStyle/>
          <a:p>
            <a:pPr algn="ctr">
              <a:buNone/>
            </a:pPr>
            <a:r>
              <a:rPr lang="en-US" sz="2300" b="0" i="1" dirty="0">
                <a:solidFill>
                  <a:srgbClr val="000000"/>
                </a:solidFill>
              </a:rPr>
              <a:t xml:space="preserve">GenAI doesn’t remove architectural tradeoffs. It can make evidence about those tradeoffs cheaper.</a:t>
            </a:r>
          </a:p>
        </p:txBody>
      </p:sp>
      <p:sp>
        <p:nvSpPr>
          <p:cNvPr id="6" name="MAGE Moment badge"/>
          <p:cNvSpPr txBox="1"/>
          <p:nvPr/>
        </p:nvSpPr>
        <p:spPr>
          <a:xfrm>
            <a:off x="2691524" y="4550000"/>
            <a:ext cx="5080000" cy="787400"/>
          </a:xfrm>
          <a:prstGeom prst="rect">
            <a:avLst/>
          </a:prstGeom>
          <a:noFill/>
        </p:spPr>
        <p:txBody>
          <a:bodyPr wrap="square" rtlCol="0" anchor="t">
            <a:noAutofit/>
          </a:bodyPr>
          <a:lstStyle/>
          <a:p>
            <a:pPr algn="l">
              <a:buNone/>
            </a:pPr>
            <a:r>
              <a:rPr lang="en-US" sz="4800" dirty="0"/>
              <a:t>🧙</a:t>
            </a:r>
            <a:r>
              <a:rPr lang="en-US" sz="2400" i="1" dirty="0"/>
              <a:t xml:space="preserve">  MAGE Moment</a:t>
            </a:r>
          </a:p>
        </p:txBody>
      </p:sp>
      <p:sp>
        <p:nvSpPr>
          <p:cNvPr id="7" name="TextBox 6"/>
          <p:cNvSpPr txBox="1"/>
          <p:nvPr/>
        </p:nvSpPr>
        <p:spPr>
          <a:xfrm>
            <a:off x="628649" y="5330000"/>
            <a:ext cx="8341929" cy="1230997"/>
          </a:xfrm>
          <a:prstGeom prst="rect">
            <a:avLst/>
          </a:prstGeom>
          <a:noFill/>
        </p:spPr>
        <p:txBody>
          <a:bodyPr wrap="square" rtlCol="0">
            <a:normAutofit/>
          </a:bodyPr>
          <a:lstStyle/>
          <a:p>
            <a:pPr algn="ctr">
              <a:buNone/>
            </a:pPr>
            <a:r>
              <a:rPr lang="en-US" sz="2400" b="1" dirty="0">
                <a:solidFill>
                  <a:srgbClr val="5C4826"/>
                </a:solidFill>
              </a:rPr>
              <a:t>DON’T ASK THE AGENT TO CHOOSE YOUR ARCHITECTURE.</a:t>
            </a:r>
          </a:p>
          <a:p>
            <a:pPr algn="ctr">
              <a:buNone/>
            </a:pPr>
            <a:r>
              <a:rPr lang="en-US" sz="2400" b="1" dirty="0">
                <a:solidFill>
                  <a:srgbClr val="5C4826"/>
                </a:solidFill>
              </a:rPr>
              <a:t>USE IT TO REDUCE HOW MUCH OF</a:t>
            </a:r>
            <a:br>
              <a:rPr lang="en-US" sz="2400"/>
            </a:br>
            <a:r>
              <a:rPr lang="en-US" sz="2400" b="1" dirty="0">
                <a:solidFill>
                  <a:srgbClr val="5C4826"/>
                </a:solidFill>
              </a:rPr>
              <a:t>YOUR ARCHITECTURE REMAINS A BET.</a:t>
            </a:r>
          </a:p>
        </p:txBody>
      </p:sp>
      <p:sp>
        <p:nvSpPr>
          <p:cNvPr id="100" name="ArchUnc"/>
          <p:cNvSpPr/>
          <p:nvPr/>
        </p:nvSpPr>
        <p:spPr>
          <a:xfrm>
            <a:off x="308000" y="1572000"/>
            <a:ext cx="1728000" cy="735000"/>
          </a:xfrm>
          <a:prstGeom prst="rect">
            <a:avLst/>
          </a:prstGeom>
          <a:solidFill>
            <a:srgbClr val="F5F1E8"/>
          </a:solidFill>
          <a:ln w="13335">
            <a:solidFill>
              <a:srgbClr val="C9B991"/>
            </a:solidFill>
          </a:ln>
        </p:spPr>
        <p:txBody>
          <a:bodyPr wrap="square" lIns="54864" tIns="27432" rIns="54864" bIns="27432" anchor="ctr">
            <a:normAutofit/>
          </a:bodyPr>
          <a:lstStyle/>
          <a:p>
            <a:pPr algn="ctr">
              <a:buNone/>
            </a:pPr>
            <a:r>
              <a:rPr lang="en-US" sz="2100" b="1" i="0" dirty="0">
                <a:solidFill>
                  <a:srgbClr val="5C4826"/>
                </a:solidFill>
              </a:rPr>
              <a:t xml:space="preserve">ARCHITECTURAL</a:t>
            </a:r>
          </a:p>
          <a:p>
            <a:pPr algn="ctr">
              <a:spcBef>
                <a:spcPts val="300"/>
              </a:spcBef>
              <a:buNone/>
            </a:pPr>
            <a:r>
              <a:rPr lang="en-US" sz="2100" b="1" i="0" dirty="0">
                <a:solidFill>
                  <a:srgbClr val="5C4826"/>
                </a:solidFill>
              </a:rPr>
              <a:t xml:space="preserve">UNCERTAINTY</a:t>
            </a:r>
          </a:p>
        </p:txBody>
      </p:sp>
      <p:cxnSp>
        <p:nvCxnSpPr>
          <p:cNvPr id="101" name="A1"/>
          <p:cNvCxnSpPr/>
          <p:nvPr/>
        </p:nvCxnSpPr>
        <p:spPr>
          <a:xfrm>
            <a:off x="2036000" y="1939500"/>
            <a:ext cx="345600" cy="0"/>
          </a:xfrm>
          <a:prstGeom prst="line">
            <a:avLst/>
          </a:prstGeom>
          <a:ln w="20002">
            <a:solidFill>
              <a:srgbClr val="8E6F3E"/>
            </a:solidFill>
            <a:tailEnd type="triangle" w="med" len="med"/>
          </a:ln>
        </p:spPr>
      </p:cxnSp>
      <p:sp>
        <p:nvSpPr>
          <p:cNvPr id="102" name="BuyInfo"/>
          <p:cNvSpPr/>
          <p:nvPr/>
        </p:nvSpPr>
        <p:spPr>
          <a:xfrm>
            <a:off x="2381600" y="1624500"/>
            <a:ext cx="1620000" cy="630000"/>
          </a:xfrm>
          <a:prstGeom prst="rect">
            <a:avLst/>
          </a:prstGeom>
          <a:solidFill>
            <a:srgbClr val="8E6F3E"/>
          </a:solidFill>
          <a:ln>
            <a:noFill/>
          </a:ln>
        </p:spPr>
        <p:txBody>
          <a:bodyPr wrap="square" lIns="54864" tIns="27432" rIns="54864" bIns="27432" anchor="ctr">
            <a:normAutofit/>
          </a:bodyPr>
          <a:lstStyle/>
          <a:p>
            <a:pPr algn="ctr">
              <a:buNone/>
            </a:pPr>
            <a:r>
              <a:rPr lang="en-US" sz="2100" b="1" i="0" dirty="0">
                <a:solidFill>
                  <a:srgbClr val="FFFFFF"/>
                </a:solidFill>
              </a:rPr>
              <a:t xml:space="preserve">BUY</a:t>
            </a:r>
          </a:p>
          <a:p>
            <a:pPr algn="ctr">
              <a:spcBef>
                <a:spcPts val="300"/>
              </a:spcBef>
              <a:buNone/>
            </a:pPr>
            <a:r>
              <a:rPr lang="en-US" sz="2100" b="1" i="0" dirty="0">
                <a:solidFill>
                  <a:srgbClr val="FFFFFF"/>
                </a:solidFill>
              </a:rPr>
              <a:t xml:space="preserve">INFORMATION</a:t>
            </a:r>
          </a:p>
        </p:txBody>
      </p:sp>
      <p:sp>
        <p:nvSpPr>
          <p:cNvPr id="103" name="Kid0"/>
          <p:cNvSpPr/>
          <p:nvPr/>
        </p:nvSpPr>
        <p:spPr>
          <a:xfrm>
            <a:off x="4628000" y="1099500"/>
            <a:ext cx="1458000" cy="483000"/>
          </a:xfrm>
          <a:prstGeom prst="rect">
            <a:avLst/>
          </a:prstGeom>
          <a:solidFill>
            <a:srgbClr val="F5F1E8"/>
          </a:solidFill>
          <a:ln w="13335">
            <a:solidFill>
              <a:srgbClr val="C9B991"/>
            </a:solidFill>
          </a:ln>
        </p:spPr>
        <p:txBody>
          <a:bodyPr wrap="square" lIns="54864" tIns="27432" rIns="54864" bIns="27432" anchor="ctr">
            <a:normAutofit/>
          </a:bodyPr>
          <a:lstStyle/>
          <a:p>
            <a:pPr algn="ctr">
              <a:buNone/>
            </a:pPr>
            <a:r>
              <a:rPr lang="en-US" sz="2000" b="1" i="0" dirty="0">
                <a:solidFill>
                  <a:srgbClr val="5C4826"/>
                </a:solidFill>
              </a:rPr>
              <a:t xml:space="preserve">MODEL</a:t>
            </a:r>
          </a:p>
        </p:txBody>
      </p:sp>
      <p:cxnSp>
        <p:nvCxnSpPr>
          <p:cNvPr id="104" name="KA0"/>
          <p:cNvCxnSpPr/>
          <p:nvPr/>
        </p:nvCxnSpPr>
        <p:spPr>
          <a:xfrm flipV="1">
            <a:off x="4001600" y="1341000"/>
            <a:ext cx="626400" cy="598500"/>
          </a:xfrm>
          <a:prstGeom prst="line">
            <a:avLst/>
          </a:prstGeom>
          <a:ln w="20002">
            <a:solidFill>
              <a:srgbClr val="8E6F3E"/>
            </a:solidFill>
            <a:tailEnd type="triangle" w="med" len="med"/>
          </a:ln>
        </p:spPr>
      </p:cxnSp>
      <p:sp>
        <p:nvSpPr>
          <p:cNvPr id="105" name="Kid1"/>
          <p:cNvSpPr/>
          <p:nvPr/>
        </p:nvSpPr>
        <p:spPr>
          <a:xfrm>
            <a:off x="4628000" y="1708500"/>
            <a:ext cx="1458000" cy="483000"/>
          </a:xfrm>
          <a:prstGeom prst="rect">
            <a:avLst/>
          </a:prstGeom>
          <a:solidFill>
            <a:srgbClr val="F5F1E8"/>
          </a:solidFill>
          <a:ln w="13335">
            <a:solidFill>
              <a:srgbClr val="C9B991"/>
            </a:solidFill>
          </a:ln>
        </p:spPr>
        <p:txBody>
          <a:bodyPr wrap="square" lIns="54864" tIns="27432" rIns="54864" bIns="27432" anchor="ctr">
            <a:normAutofit/>
          </a:bodyPr>
          <a:lstStyle/>
          <a:p>
            <a:pPr algn="ctr">
              <a:buNone/>
            </a:pPr>
            <a:r>
              <a:rPr lang="en-US" sz="2000" b="1" i="0" dirty="0">
                <a:solidFill>
                  <a:srgbClr val="5C4826"/>
                </a:solidFill>
              </a:rPr>
              <a:t xml:space="preserve">PROTOTYPE</a:t>
            </a:r>
          </a:p>
        </p:txBody>
      </p:sp>
      <p:cxnSp>
        <p:nvCxnSpPr>
          <p:cNvPr id="106" name="KA1"/>
          <p:cNvCxnSpPr/>
          <p:nvPr/>
        </p:nvCxnSpPr>
        <p:spPr>
          <a:xfrm>
            <a:off x="4001600" y="1939500"/>
            <a:ext cx="626400" cy="10500"/>
          </a:xfrm>
          <a:prstGeom prst="line">
            <a:avLst/>
          </a:prstGeom>
          <a:ln w="20002">
            <a:solidFill>
              <a:srgbClr val="8E6F3E"/>
            </a:solidFill>
            <a:tailEnd type="triangle" w="med" len="med"/>
          </a:ln>
        </p:spPr>
      </p:cxnSp>
      <p:sp>
        <p:nvSpPr>
          <p:cNvPr id="107" name="Kid2"/>
          <p:cNvSpPr/>
          <p:nvPr/>
        </p:nvSpPr>
        <p:spPr>
          <a:xfrm>
            <a:off x="4628000" y="2317500"/>
            <a:ext cx="1458000" cy="483000"/>
          </a:xfrm>
          <a:prstGeom prst="rect">
            <a:avLst/>
          </a:prstGeom>
          <a:solidFill>
            <a:srgbClr val="F5F1E8"/>
          </a:solidFill>
          <a:ln w="13335">
            <a:solidFill>
              <a:srgbClr val="C9B991"/>
            </a:solidFill>
          </a:ln>
        </p:spPr>
        <p:txBody>
          <a:bodyPr wrap="square" lIns="54864" tIns="27432" rIns="54864" bIns="27432" anchor="ctr">
            <a:normAutofit/>
          </a:bodyPr>
          <a:lstStyle/>
          <a:p>
            <a:pPr algn="ctr">
              <a:buNone/>
            </a:pPr>
            <a:r>
              <a:rPr lang="en-US" sz="2000" b="1" i="0" dirty="0">
                <a:solidFill>
                  <a:srgbClr val="5C4826"/>
                </a:solidFill>
              </a:rPr>
              <a:t xml:space="preserve">EXPERIMENT</a:t>
            </a:r>
          </a:p>
        </p:txBody>
      </p:sp>
      <p:cxnSp>
        <p:nvCxnSpPr>
          <p:cNvPr id="108" name="KA2"/>
          <p:cNvCxnSpPr/>
          <p:nvPr/>
        </p:nvCxnSpPr>
        <p:spPr>
          <a:xfrm>
            <a:off x="4001600" y="1939500"/>
            <a:ext cx="626400" cy="619500"/>
          </a:xfrm>
          <a:prstGeom prst="line">
            <a:avLst/>
          </a:prstGeom>
          <a:ln w="20002">
            <a:solidFill>
              <a:srgbClr val="8E6F3E"/>
            </a:solidFill>
            <a:tailEnd type="triangle" w="med" len="med"/>
          </a:ln>
        </p:spPr>
      </p:cxnSp>
      <p:sp>
        <p:nvSpPr>
          <p:cNvPr id="109" name="CostBox"/>
          <p:cNvSpPr/>
          <p:nvPr/>
        </p:nvSpPr>
        <p:spPr>
          <a:xfrm>
            <a:off x="6842000" y="1656000"/>
            <a:ext cx="1350000" cy="651000"/>
          </a:xfrm>
          <a:prstGeom prst="rect">
            <a:avLst/>
          </a:prstGeom>
          <a:solidFill>
            <a:srgbClr val="FFFFFF"/>
          </a:solidFill>
          <a:ln w="20002">
            <a:solidFill>
              <a:srgbClr val="B23B3B"/>
            </a:solidFill>
          </a:ln>
        </p:spPr>
        <p:txBody>
          <a:bodyPr wrap="square" lIns="54864" tIns="27432" rIns="54864" bIns="27432" anchor="ctr">
            <a:normAutofit/>
          </a:bodyPr>
          <a:lstStyle/>
          <a:p>
            <a:pPr algn="ctr">
              <a:buNone/>
            </a:pPr>
            <a:r>
              <a:rPr lang="en-US" sz="2100" b="1" i="0" dirty="0">
                <a:solidFill>
                  <a:srgbClr val="B23B3B"/>
                </a:solidFill>
              </a:rPr>
              <a:t xml:space="preserve">$$$ · TIME</a:t>
            </a:r>
          </a:p>
        </p:txBody>
      </p:sp>
      <p:cxnSp>
        <p:nvCxnSpPr>
          <p:cNvPr id="110" name="CA0"/>
          <p:cNvCxnSpPr/>
          <p:nvPr/>
        </p:nvCxnSpPr>
        <p:spPr>
          <a:xfrm>
            <a:off x="6086000" y="1341000"/>
            <a:ext cx="756000" cy="640500"/>
          </a:xfrm>
          <a:prstGeom prst="line">
            <a:avLst/>
          </a:prstGeom>
          <a:ln w="20002">
            <a:solidFill>
              <a:srgbClr val="8E6F3E"/>
            </a:solidFill>
            <a:tailEnd type="triangle" w="med" len="med"/>
          </a:ln>
        </p:spPr>
      </p:cxnSp>
      <p:cxnSp>
        <p:nvCxnSpPr>
          <p:cNvPr id="111" name="CA1"/>
          <p:cNvCxnSpPr/>
          <p:nvPr/>
        </p:nvCxnSpPr>
        <p:spPr>
          <a:xfrm>
            <a:off x="6086000" y="1950000"/>
            <a:ext cx="756000" cy="31500"/>
          </a:xfrm>
          <a:prstGeom prst="line">
            <a:avLst/>
          </a:prstGeom>
          <a:ln w="20002">
            <a:solidFill>
              <a:srgbClr val="8E6F3E"/>
            </a:solidFill>
            <a:tailEnd type="triangle" w="med" len="med"/>
          </a:ln>
        </p:spPr>
      </p:cxnSp>
      <p:cxnSp>
        <p:nvCxnSpPr>
          <p:cNvPr id="112" name="CA2"/>
          <p:cNvCxnSpPr/>
          <p:nvPr/>
        </p:nvCxnSpPr>
        <p:spPr>
          <a:xfrm flipV="1">
            <a:off x="6086000" y="1981500"/>
            <a:ext cx="756000" cy="577500"/>
          </a:xfrm>
          <a:prstGeom prst="line">
            <a:avLst/>
          </a:prstGeom>
          <a:ln w="20002">
            <a:solidFill>
              <a:srgbClr val="8E6F3E"/>
            </a:solidFill>
            <a:tailEnd type="triangle" w="med" len="med"/>
          </a:ln>
        </p:spPr>
      </p:cxnSp>
      <p:sp>
        <p:nvSpPr>
          <p:cNvPr id="150" name="GenAI"/>
          <p:cNvSpPr/>
          <p:nvPr/>
        </p:nvSpPr>
        <p:spPr>
          <a:xfrm>
            <a:off x="350000" y="3000000"/>
            <a:ext cx="1500000" cy="750000"/>
          </a:xfrm>
          <a:prstGeom prst="rect">
            <a:avLst/>
          </a:prstGeom>
          <a:solidFill>
            <a:srgbClr val="8E6F3E"/>
          </a:solidFill>
          <a:ln>
            <a:noFill/>
          </a:ln>
        </p:spPr>
        <p:txBody>
          <a:bodyPr wrap="square" lIns="54864" tIns="27432" rIns="54864" bIns="27432" anchor="ctr">
            <a:normAutofit/>
          </a:bodyPr>
          <a:lstStyle/>
          <a:p>
            <a:pPr algn="ctr">
              <a:buNone/>
            </a:pPr>
            <a:r>
              <a:rPr lang="en-US" sz="2400" b="1" i="0" dirty="0">
                <a:solidFill>
                  <a:srgbClr val="FFFFFF"/>
                </a:solidFill>
              </a:rPr>
              <a:t xml:space="preserve">GenAI</a:t>
            </a:r>
          </a:p>
        </p:txBody>
      </p:sp>
      <p:cxnSp>
        <p:nvCxnSpPr>
          <p:cNvPr id="151" name="G1"/>
          <p:cNvCxnSpPr/>
          <p:nvPr/>
        </p:nvCxnSpPr>
        <p:spPr>
          <a:xfrm>
            <a:off x="1850000" y="3375000"/>
            <a:ext cx="380000" cy="0"/>
          </a:xfrm>
          <a:prstGeom prst="line">
            <a:avLst/>
          </a:prstGeom>
          <a:ln w="19050">
            <a:solidFill>
              <a:srgbClr val="8E6F3E"/>
            </a:solidFill>
            <a:tailEnd type="triangle" w="med" len="med"/>
          </a:ln>
        </p:spPr>
      </p:cxnSp>
      <p:sp>
        <p:nvSpPr>
          <p:cNvPr id="152" name="CostDown"/>
          <p:cNvSpPr/>
          <p:nvPr/>
        </p:nvSpPr>
        <p:spPr>
          <a:xfrm>
            <a:off x="2230000" y="3000000"/>
            <a:ext cx="2450000" cy="750000"/>
          </a:xfrm>
          <a:prstGeom prst="rect">
            <a:avLst/>
          </a:prstGeom>
          <a:solidFill>
            <a:srgbClr val="FFFFFF"/>
          </a:solidFill>
          <a:ln w="19050">
            <a:solidFill>
              <a:srgbClr val="8E6F3E"/>
            </a:solidFill>
          </a:ln>
        </p:spPr>
        <p:txBody>
          <a:bodyPr wrap="square" lIns="54864" tIns="27432" rIns="54864" bIns="27432" anchor="ctr">
            <a:normAutofit/>
          </a:bodyPr>
          <a:lstStyle/>
          <a:p>
            <a:pPr algn="ctr">
              <a:buNone/>
            </a:pPr>
            <a:r>
              <a:rPr lang="en-US" sz="2400" b="1" i="0" dirty="0">
                <a:solidFill>
                  <a:srgbClr val="5C4826"/>
                </a:solidFill>
              </a:rPr>
              <a:t xml:space="preserve">COST OF EVIDENCE ↓</a:t>
            </a:r>
          </a:p>
        </p:txBody>
      </p:sp>
      <p:cxnSp>
        <p:nvCxnSpPr>
          <p:cNvPr id="153" name="G2"/>
          <p:cNvCxnSpPr/>
          <p:nvPr/>
        </p:nvCxnSpPr>
        <p:spPr>
          <a:xfrm>
            <a:off x="4680000" y="3375000"/>
            <a:ext cx="380000" cy="0"/>
          </a:xfrm>
          <a:prstGeom prst="line">
            <a:avLst/>
          </a:prstGeom>
          <a:ln w="19050">
            <a:solidFill>
              <a:srgbClr val="8E6F3E"/>
            </a:solidFill>
            <a:tailEnd type="triangle" w="med" len="med"/>
          </a:ln>
        </p:spPr>
      </p:cxnSp>
      <p:sp>
        <p:nvSpPr>
          <p:cNvPr id="154" name="MoreQ"/>
          <p:cNvSpPr/>
          <p:nvPr/>
        </p:nvSpPr>
        <p:spPr>
          <a:xfrm>
            <a:off x="5060000" y="3000000"/>
            <a:ext cx="3900000" cy="75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2200" b="1" i="0" dirty="0">
                <a:solidFill>
                  <a:srgbClr val="5C4826"/>
                </a:solidFill>
              </a:rPr>
              <a:t xml:space="preserve">MORE QUESTIONS BECOME WORTH INVESTIGATING</a:t>
            </a:r>
          </a:p>
        </p:txBody>
      </p:sp>
    </p:spTree>
  </p:cSld>
  <p:clrMapOvr>
    <a:masterClrMapping/>
  </p:clrMapOvr>
  <p:timing>
    <p:tnLst>
      <p:par>
        <p:cTn id="1" dur="indefinite" restart="never" nodeType="tmRoot">
          <p:childTnLst>
            <p:seq concurrent="1" nextAc="seek">
              <p:cTn id="2" dur="indefinite" nodeType="mainSeq">
                <p:childTnLst>
                  <p:par>
                    <p:cTn id="221" fill="hold">
                      <p:stCondLst>
                        <p:cond delay="indefinite"/>
                      </p:stCondLst>
                      <p:childTnLst>
                        <p:par>
                          <p:cTn id="222" fill="hold">
                            <p:stCondLst>
                              <p:cond delay="0"/>
                            </p:stCondLst>
                            <p:childTnLst>
                              <p:par>
                                <p:cTn id="201" presetID="10" presetClass="entr" presetSubtype="0" fill="hold" nodeType="clickEffect">
                                  <p:stCondLst>
                                    <p:cond delay="0"/>
                                  </p:stCondLst>
                                  <p:childTnLst>
                                    <p:set>
                                      <p:cBhvr>
                                        <p:cTn id="203" dur="1" fill="hold">
                                          <p:stCondLst>
                                            <p:cond delay="0"/>
                                          </p:stCondLst>
                                        </p:cTn>
                                        <p:tgtEl>
                                          <p:spTgt spid="150"/>
                                        </p:tgtEl>
                                        <p:attrNameLst>
                                          <p:attrName>style.visibility</p:attrName>
                                        </p:attrNameLst>
                                      </p:cBhvr>
                                      <p:to>
                                        <p:strVal val="visible"/>
                                      </p:to>
                                    </p:set>
                                    <p:animEffect transition="in" filter="fade">
                                      <p:cBhvr>
                                        <p:cTn id="204" dur="400"/>
                                        <p:tgtEl>
                                          <p:spTgt spid="150"/>
                                        </p:tgtEl>
                                      </p:cBhvr>
                                    </p:animEffect>
                                  </p:childTnLst>
                                </p:cTn>
                              </p:par>
                              <p:par>
                                <p:cTn id="205" presetID="10" presetClass="entr" presetSubtype="0" fill="hold" nodeType="withEffect">
                                  <p:stCondLst>
                                    <p:cond delay="0"/>
                                  </p:stCondLst>
                                  <p:childTnLst>
                                    <p:set>
                                      <p:cBhvr>
                                        <p:cTn id="207" dur="1" fill="hold">
                                          <p:stCondLst>
                                            <p:cond delay="0"/>
                                          </p:stCondLst>
                                        </p:cTn>
                                        <p:tgtEl>
                                          <p:spTgt spid="151"/>
                                        </p:tgtEl>
                                        <p:attrNameLst>
                                          <p:attrName>style.visibility</p:attrName>
                                        </p:attrNameLst>
                                      </p:cBhvr>
                                      <p:to>
                                        <p:strVal val="visible"/>
                                      </p:to>
                                    </p:set>
                                    <p:animEffect transition="in" filter="fade">
                                      <p:cBhvr>
                                        <p:cTn id="208" dur="400"/>
                                        <p:tgtEl>
                                          <p:spTgt spid="151"/>
                                        </p:tgtEl>
                                      </p:cBhvr>
                                    </p:animEffect>
                                  </p:childTnLst>
                                </p:cTn>
                              </p:par>
                              <p:par>
                                <p:cTn id="209" presetID="10" presetClass="entr" presetSubtype="0" fill="hold" nodeType="withEffect">
                                  <p:stCondLst>
                                    <p:cond delay="0"/>
                                  </p:stCondLst>
                                  <p:childTnLst>
                                    <p:set>
                                      <p:cBhvr>
                                        <p:cTn id="211" dur="1" fill="hold">
                                          <p:stCondLst>
                                            <p:cond delay="0"/>
                                          </p:stCondLst>
                                        </p:cTn>
                                        <p:tgtEl>
                                          <p:spTgt spid="152"/>
                                        </p:tgtEl>
                                        <p:attrNameLst>
                                          <p:attrName>style.visibility</p:attrName>
                                        </p:attrNameLst>
                                      </p:cBhvr>
                                      <p:to>
                                        <p:strVal val="visible"/>
                                      </p:to>
                                    </p:set>
                                    <p:animEffect transition="in" filter="fade">
                                      <p:cBhvr>
                                        <p:cTn id="212" dur="400"/>
                                        <p:tgtEl>
                                          <p:spTgt spid="152"/>
                                        </p:tgtEl>
                                      </p:cBhvr>
                                    </p:animEffect>
                                  </p:childTnLst>
                                </p:cTn>
                              </p:par>
                              <p:par>
                                <p:cTn id="213" presetID="10" presetClass="entr" presetSubtype="0" fill="hold" nodeType="withEffect">
                                  <p:stCondLst>
                                    <p:cond delay="0"/>
                                  </p:stCondLst>
                                  <p:childTnLst>
                                    <p:set>
                                      <p:cBhvr>
                                        <p:cTn id="215" dur="1" fill="hold">
                                          <p:stCondLst>
                                            <p:cond delay="0"/>
                                          </p:stCondLst>
                                        </p:cTn>
                                        <p:tgtEl>
                                          <p:spTgt spid="153"/>
                                        </p:tgtEl>
                                        <p:attrNameLst>
                                          <p:attrName>style.visibility</p:attrName>
                                        </p:attrNameLst>
                                      </p:cBhvr>
                                      <p:to>
                                        <p:strVal val="visible"/>
                                      </p:to>
                                    </p:set>
                                    <p:animEffect transition="in" filter="fade">
                                      <p:cBhvr>
                                        <p:cTn id="216" dur="400"/>
                                        <p:tgtEl>
                                          <p:spTgt spid="153"/>
                                        </p:tgtEl>
                                      </p:cBhvr>
                                    </p:animEffect>
                                  </p:childTnLst>
                                </p:cTn>
                              </p:par>
                              <p:par>
                                <p:cTn id="217" presetID="10" presetClass="entr" presetSubtype="0" fill="hold" nodeType="withEffect">
                                  <p:stCondLst>
                                    <p:cond delay="0"/>
                                  </p:stCondLst>
                                  <p:childTnLst>
                                    <p:set>
                                      <p:cBhvr>
                                        <p:cTn id="219" dur="1" fill="hold">
                                          <p:stCondLst>
                                            <p:cond delay="0"/>
                                          </p:stCondLst>
                                        </p:cTn>
                                        <p:tgtEl>
                                          <p:spTgt spid="154"/>
                                        </p:tgtEl>
                                        <p:attrNameLst>
                                          <p:attrName>style.visibility</p:attrName>
                                        </p:attrNameLst>
                                      </p:cBhvr>
                                      <p:to>
                                        <p:strVal val="visible"/>
                                      </p:to>
                                    </p:set>
                                    <p:animEffect transition="in" filter="fade">
                                      <p:cBhvr>
                                        <p:cTn id="220" dur="400"/>
                                        <p:tgtEl>
                                          <p:spTgt spid="154"/>
                                        </p:tgtEl>
                                      </p:cBhvr>
                                    </p:animEffect>
                                  </p:childTnLst>
                                </p:cTn>
                              </p:par>
                            </p:childTnLst>
                          </p:cTn>
                        </p:par>
                      </p:childTnLst>
                    </p:cTn>
                  </p:par>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6A07E37-5A58-8F72-4386-C963BB75869E}"/>
              </a:ext>
            </a:extLst>
          </p:cNvPr>
          <p:cNvSpPr>
            <a:spLocks noGrp="1"/>
          </p:cNvSpPr>
          <p:nvPr>
            <p:ph type="title"/>
          </p:nvPr>
        </p:nvSpPr>
        <p:spPr/>
        <p:txBody>
          <a:bodyPr>
            <a:normAutofit fontScale="90000"/>
          </a:bodyPr>
          <a:lstStyle/>
          <a:p>
            <a:pPr algn="l">
              <a:buNone/>
              <a:defRPr b="0"/>
            </a:pPr>
            <a:r>
              <a:rPr lang="en-US" sz="2400" b="0" i="0" dirty="0">
                <a:solidFill>
                  <a:srgbClr val="000000"/>
                </a:solidFill>
              </a:rPr>
              <a:t>Specification → Architecture → Design</a:t>
            </a:r>
          </a:p>
        </p:txBody>
      </p:sp>
      <p:sp>
        <p:nvSpPr>
          <p:cNvPr id="4" name="Slide Number Placeholder 3">
            <a:extLst>
              <a:ext uri="{FF2B5EF4-FFF2-40B4-BE49-F238E27FC236}">
                <a16:creationId xmlns:a16="http://schemas.microsoft.com/office/drawing/2014/main" id="{1E315202-6E93-5123-3161-3510B7FB3A5C}"/>
              </a:ext>
            </a:extLst>
          </p:cNvPr>
          <p:cNvSpPr>
            <a:spLocks noGrp="1"/>
          </p:cNvSpPr>
          <p:nvPr>
            <p:ph type="sldNum" sz="quarter" idx="4"/>
          </p:nvPr>
        </p:nvSpPr>
        <p:spPr/>
        <p:txBody>
          <a:bodyPr/>
          <a:lstStyle/>
          <a:p>
            <a:fld id="{B7EB45DA-9A0D-DC49-8E02-F30A5DDC21C3}" type="slidenum">
              <a:rPr lang="en-US" smtClean="0"/>
              <a:t>31</a:t>
            </a:fld>
            <a:endParaRPr lang="en-US"/>
          </a:p>
        </p:txBody>
      </p:sp>
      <p:sp>
        <p:nvSpPr>
          <p:cNvPr id="2" name="Right Brace 1">
            <a:extLst>
              <a:ext uri="{FF2B5EF4-FFF2-40B4-BE49-F238E27FC236}">
                <a16:creationId xmlns:a16="http://schemas.microsoft.com/office/drawing/2014/main" id="{6FC471C8-BA11-64E0-E312-9EF0CB33BB27}"/>
              </a:ext>
            </a:extLst>
          </p:cNvPr>
          <p:cNvSpPr/>
          <p:nvPr/>
        </p:nvSpPr>
        <p:spPr>
          <a:xfrm>
            <a:off x="5680000" y="2040000"/>
            <a:ext cx="300000" cy="4300000"/>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5" name="TextBox 4">
            <a:extLst>
              <a:ext uri="{FF2B5EF4-FFF2-40B4-BE49-F238E27FC236}">
                <a16:creationId xmlns:a16="http://schemas.microsoft.com/office/drawing/2014/main" id="{16ED68F9-9FC5-8DCB-B698-72DAEEC94731}"/>
              </a:ext>
            </a:extLst>
          </p:cNvPr>
          <p:cNvSpPr txBox="1"/>
          <p:nvPr/>
        </p:nvSpPr>
        <p:spPr>
          <a:xfrm>
            <a:off x="6050000" y="1870000"/>
            <a:ext cx="3020000" cy="900000"/>
          </a:xfrm>
          <a:prstGeom prst="rect">
            <a:avLst/>
          </a:prstGeom>
          <a:noFill/>
        </p:spPr>
        <p:txBody>
          <a:bodyPr wrap="square" rtlCol="0" anchor="ctr">
            <a:normAutofit/>
          </a:bodyPr>
          <a:lstStyle/>
          <a:p>
            <a:pPr algn="l">
              <a:buNone/>
            </a:pPr>
            <a:r>
              <a:rPr lang="en-US" sz="2000" b="1" dirty="0">
                <a:solidFill>
                  <a:srgbClr val="8E6F3E"/>
                </a:solidFill>
              </a:rPr>
              <a:t>Specification</a:t>
            </a:r>
            <a:r>
              <a:rPr lang="en-US" sz="2000" dirty="0">
                <a:solidFill>
                  <a:srgbClr val="000000"/>
                </a:solidFill>
              </a:rPr>
              <a:t xml:space="preserve"> — constrain what an acceptable system may do.</a:t>
            </a:r>
          </a:p>
        </p:txBody>
      </p:sp>
      <p:sp>
        <p:nvSpPr>
          <p:cNvPr id="300" name="ArchDefLbl"/>
          <p:cNvSpPr txBox="1"/>
          <p:nvPr/>
        </p:nvSpPr>
        <p:spPr>
          <a:xfrm>
            <a:off x="6050000" y="3660000"/>
            <a:ext cx="3020000" cy="1100000"/>
          </a:xfrm>
          <a:prstGeom prst="rect">
            <a:avLst/>
          </a:prstGeom>
          <a:noFill/>
        </p:spPr>
        <p:txBody>
          <a:bodyPr wrap="square" rtlCol="0" anchor="ctr">
            <a:normAutofit/>
          </a:bodyPr>
          <a:lstStyle/>
          <a:p>
            <a:pPr algn="l">
              <a:spcBef>
                <a:spcPts val="300"/>
              </a:spcBef>
              <a:buNone/>
            </a:pPr>
            <a:r>
              <a:rPr lang="en-US" sz="2000" b="1" dirty="0">
                <a:solidFill>
                  <a:srgbClr val="8E6F3E"/>
                </a:solidFill>
              </a:rPr>
              <a:t>Architecture</a:t>
            </a:r>
            <a:r>
              <a:rPr lang="en-US" sz="2000" dirty="0">
                <a:solidFill>
                  <a:srgbClr val="000000"/>
                </a:solidFill>
              </a:rPr>
              <a:t xml:space="preserve"> — choose how the acceptable system is organized and how its parts may interact.</a:t>
            </a:r>
          </a:p>
        </p:txBody>
      </p:sp>
      <p:sp>
        <p:nvSpPr>
          <p:cNvPr id="301" name="DesignDefLbl"/>
          <p:cNvSpPr txBox="1"/>
          <p:nvPr/>
        </p:nvSpPr>
        <p:spPr>
          <a:xfrm>
            <a:off x="6050000" y="5480000"/>
            <a:ext cx="3020000" cy="820000"/>
          </a:xfrm>
          <a:prstGeom prst="rect">
            <a:avLst/>
          </a:prstGeom>
          <a:noFill/>
        </p:spPr>
        <p:txBody>
          <a:bodyPr wrap="square" rtlCol="0" anchor="ctr">
            <a:normAutofit/>
          </a:bodyPr>
          <a:lstStyle/>
          <a:p>
            <a:pPr algn="l">
              <a:spcBef>
                <a:spcPts val="300"/>
              </a:spcBef>
              <a:buNone/>
            </a:pPr>
            <a:r>
              <a:rPr lang="en-US" sz="2000" b="1" dirty="0">
                <a:solidFill>
                  <a:srgbClr val="8E6F3E"/>
                </a:solidFill>
              </a:rPr>
              <a:t>Design</a:t>
            </a:r>
            <a:r>
              <a:rPr lang="en-US" sz="2000" dirty="0">
                <a:solidFill>
                  <a:srgbClr val="000000"/>
                </a:solidFill>
              </a:rPr>
              <a:t xml:space="preserve"> — choose how each part realizes its responsibility.</a:t>
            </a:r>
          </a:p>
        </p:txBody>
      </p:sp>
      <p:sp>
        <p:nvSpPr>
          <p:cNvPr id="90" name="T90"/>
          <p:cNvSpPr txBox="1"/>
          <p:nvPr/>
        </p:nvSpPr>
        <p:spPr>
          <a:xfrm>
            <a:off x="279400" y="6400800"/>
            <a:ext cx="8585200" cy="355600"/>
          </a:xfrm>
          <a:prstGeom prst="rect">
            <a:avLst/>
          </a:prstGeom>
          <a:noFill/>
          <a:ln>
            <a:noFill/>
          </a:ln>
        </p:spPr>
        <p:txBody>
          <a:bodyPr wrap="square" lIns="0" tIns="0" rIns="0" bIns="0" anchor="t">
            <a:normAutofit/>
          </a:bodyPr>
          <a:lstStyle/>
          <a:p>
            <a:pPr algn="ctr">
              <a:buNone/>
            </a:pPr>
            <a:r>
              <a:rPr lang="en-US" sz="2000" b="0" i="1" dirty="0">
                <a:solidFill>
                  <a:srgbClr val="5C4826"/>
                </a:solidFill>
              </a:rPr>
              <a:t>Next time: given one of these parts, how should we engineer it well?</a:t>
            </a:r>
          </a:p>
        </p:txBody>
      </p:sp>
      <p:sp>
        <p:nvSpPr>
          <p:cNvPr id="100" name="Req"/>
          <p:cNvSpPr/>
          <p:nvPr/>
        </p:nvSpPr>
        <p:spPr>
          <a:xfrm>
            <a:off x="1685000" y="1340000"/>
            <a:ext cx="2530000" cy="52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2400" b="1" i="0" dirty="0">
                <a:solidFill>
                  <a:srgbClr val="5C4826"/>
                </a:solidFill>
              </a:rPr>
              <a:t xml:space="preserve">REQUIREMENTS</a:t>
            </a:r>
          </a:p>
        </p:txBody>
      </p:sp>
      <p:cxnSp>
        <p:nvCxnSpPr>
          <p:cNvPr id="101" name="Arr1"/>
          <p:cNvCxnSpPr/>
          <p:nvPr/>
        </p:nvCxnSpPr>
        <p:spPr>
          <a:xfrm>
            <a:off x="2950000" y="1860000"/>
            <a:ext cx="0" cy="180000"/>
          </a:xfrm>
          <a:prstGeom prst="line">
            <a:avLst/>
          </a:prstGeom>
          <a:ln w="19050">
            <a:solidFill>
              <a:srgbClr val="8E6F3E"/>
            </a:solidFill>
            <a:tailEnd type="triangle" w="med" len="med"/>
          </a:ln>
        </p:spPr>
      </p:cxnSp>
      <p:sp>
        <p:nvSpPr>
          <p:cNvPr id="102" name="Spec"/>
          <p:cNvSpPr/>
          <p:nvPr/>
        </p:nvSpPr>
        <p:spPr>
          <a:xfrm>
            <a:off x="1685000" y="2040000"/>
            <a:ext cx="2530000" cy="560000"/>
          </a:xfrm>
          <a:prstGeom prst="rect">
            <a:avLst/>
          </a:prstGeom>
          <a:solidFill>
            <a:srgbClr val="8E6F3E"/>
          </a:solidFill>
          <a:ln>
            <a:noFill/>
          </a:ln>
        </p:spPr>
        <p:txBody>
          <a:bodyPr wrap="square" lIns="54864" tIns="27432" rIns="54864" bIns="27432" anchor="ctr">
            <a:normAutofit/>
          </a:bodyPr>
          <a:lstStyle/>
          <a:p>
            <a:pPr algn="ctr">
              <a:buNone/>
            </a:pPr>
            <a:r>
              <a:rPr lang="en-US" sz="2400" b="1" i="0" dirty="0">
                <a:solidFill>
                  <a:srgbClr val="FFFFFF"/>
                </a:solidFill>
              </a:rPr>
              <a:t xml:space="preserve">SPECIFICATION</a:t>
            </a:r>
          </a:p>
        </p:txBody>
      </p:sp>
      <p:cxnSp>
        <p:nvCxnSpPr>
          <p:cNvPr id="103" name="Arr2"/>
          <p:cNvCxnSpPr/>
          <p:nvPr/>
        </p:nvCxnSpPr>
        <p:spPr>
          <a:xfrm>
            <a:off x="2950000" y="2600000"/>
            <a:ext cx="0" cy="180000"/>
          </a:xfrm>
          <a:prstGeom prst="line">
            <a:avLst/>
          </a:prstGeom>
          <a:ln w="19050">
            <a:solidFill>
              <a:srgbClr val="8E6F3E"/>
            </a:solidFill>
            <a:tailEnd type="triangle" w="med" len="med"/>
          </a:ln>
        </p:spPr>
      </p:cxnSp>
      <p:sp>
        <p:nvSpPr>
          <p:cNvPr id="104" name="Cont1"/>
          <p:cNvSpPr/>
          <p:nvPr/>
        </p:nvSpPr>
        <p:spPr>
          <a:xfrm>
            <a:off x="255000" y="2780000"/>
            <a:ext cx="5390000" cy="950000"/>
          </a:xfrm>
          <a:prstGeom prst="roundRect">
            <a:avLst/>
          </a:prstGeom>
          <a:solidFill>
            <a:srgbClr val="FBF8F2"/>
          </a:solidFill>
          <a:ln w="19050">
            <a:solidFill>
              <a:srgbClr val="8E6F3E"/>
            </a:solidFill>
            <a:prstDash val="dash"/>
          </a:ln>
        </p:spPr>
        <p:txBody>
          <a:bodyPr wrap="square" lIns="54864" tIns="27432" rIns="54864" bIns="27432" anchor="t">
            <a:normAutofit/>
          </a:bodyPr>
          <a:lstStyle/>
          <a:p>
            <a:pPr algn="l">
              <a:buNone/>
            </a:pPr>
            <a:r>
              <a:rPr lang="en-US" sz="1800" b="1" i="0" dirty="0">
                <a:solidFill>
                  <a:srgbClr val="8E6F3E"/>
                </a:solidFill>
              </a:rPr>
              <a:t xml:space="preserve">ACCEPTABLE REALIZATIONS</a:t>
            </a:r>
          </a:p>
        </p:txBody>
      </p:sp>
      <p:sp>
        <p:nvSpPr>
          <p:cNvPr id="105" name="RealA"/>
          <p:cNvSpPr/>
          <p:nvPr/>
        </p:nvSpPr>
        <p:spPr>
          <a:xfrm>
            <a:off x="530000" y="3200000"/>
            <a:ext cx="1375000" cy="43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2000" b="1" i="0" dirty="0">
                <a:solidFill>
                  <a:srgbClr val="5C4826"/>
                </a:solidFill>
              </a:rPr>
              <a:t xml:space="preserve">A</a:t>
            </a:r>
          </a:p>
        </p:txBody>
      </p:sp>
      <p:sp>
        <p:nvSpPr>
          <p:cNvPr id="106" name="RealB"/>
          <p:cNvSpPr/>
          <p:nvPr/>
        </p:nvSpPr>
        <p:spPr>
          <a:xfrm>
            <a:off x="2290000" y="3200000"/>
            <a:ext cx="1375000" cy="43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2000" b="1" i="0" dirty="0">
                <a:solidFill>
                  <a:srgbClr val="5C4826"/>
                </a:solidFill>
              </a:rPr>
              <a:t xml:space="preserve">B</a:t>
            </a:r>
          </a:p>
        </p:txBody>
      </p:sp>
      <p:sp>
        <p:nvSpPr>
          <p:cNvPr id="107" name="RealC"/>
          <p:cNvSpPr/>
          <p:nvPr/>
        </p:nvSpPr>
        <p:spPr>
          <a:xfrm>
            <a:off x="4050000" y="3200000"/>
            <a:ext cx="1375000" cy="43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2000" b="1" i="0" dirty="0">
                <a:solidFill>
                  <a:srgbClr val="5C4826"/>
                </a:solidFill>
              </a:rPr>
              <a:t xml:space="preserve">C</a:t>
            </a:r>
          </a:p>
        </p:txBody>
      </p:sp>
      <p:cxnSp>
        <p:nvCxnSpPr>
          <p:cNvPr id="108" name="Arr3"/>
          <p:cNvCxnSpPr/>
          <p:nvPr/>
        </p:nvCxnSpPr>
        <p:spPr>
          <a:xfrm>
            <a:off x="2950000" y="3730000"/>
            <a:ext cx="0" cy="180000"/>
          </a:xfrm>
          <a:prstGeom prst="line">
            <a:avLst/>
          </a:prstGeom>
          <a:ln w="19050">
            <a:solidFill>
              <a:srgbClr val="8E6F3E"/>
            </a:solidFill>
            <a:tailEnd type="triangle" w="med" len="med"/>
          </a:ln>
        </p:spPr>
      </p:cxnSp>
      <p:sp>
        <p:nvSpPr>
          <p:cNvPr id="109" name="ChooseLbl"/>
          <p:cNvSpPr txBox="1"/>
          <p:nvPr/>
        </p:nvSpPr>
        <p:spPr>
          <a:xfrm>
            <a:off x="4290000" y="3735000"/>
            <a:ext cx="1700000" cy="300000"/>
          </a:xfrm>
          <a:prstGeom prst="rect">
            <a:avLst/>
          </a:prstGeom>
          <a:noFill/>
          <a:ln>
            <a:noFill/>
          </a:ln>
        </p:spPr>
        <p:txBody>
          <a:bodyPr wrap="square" lIns="0" tIns="0" rIns="0" bIns="0" anchor="t">
            <a:normAutofit/>
          </a:bodyPr>
          <a:lstStyle/>
          <a:p>
            <a:pPr algn="l">
              <a:buNone/>
            </a:pPr>
            <a:r>
              <a:rPr lang="en-US" sz="1600" b="0" i="1" dirty="0">
                <a:solidFill>
                  <a:srgbClr val="555960"/>
                </a:solidFill>
              </a:rPr>
              <a:t xml:space="preserve">choose one</a:t>
            </a:r>
          </a:p>
        </p:txBody>
      </p:sp>
      <p:sp>
        <p:nvSpPr>
          <p:cNvPr id="110" name="Arch"/>
          <p:cNvSpPr/>
          <p:nvPr/>
        </p:nvSpPr>
        <p:spPr>
          <a:xfrm>
            <a:off x="1685000" y="3910000"/>
            <a:ext cx="2530000" cy="560000"/>
          </a:xfrm>
          <a:prstGeom prst="rect">
            <a:avLst/>
          </a:prstGeom>
          <a:solidFill>
            <a:srgbClr val="FFFFFF"/>
          </a:solidFill>
          <a:ln w="19050">
            <a:solidFill>
              <a:srgbClr val="8E6F3E"/>
            </a:solidFill>
          </a:ln>
        </p:spPr>
        <p:txBody>
          <a:bodyPr wrap="square" lIns="54864" tIns="27432" rIns="54864" bIns="27432" anchor="ctr">
            <a:normAutofit/>
          </a:bodyPr>
          <a:lstStyle/>
          <a:p>
            <a:pPr algn="ctr">
              <a:buNone/>
            </a:pPr>
            <a:r>
              <a:rPr lang="en-US" sz="2400" b="1" i="0" dirty="0">
                <a:solidFill>
                  <a:srgbClr val="5C4826"/>
                </a:solidFill>
              </a:rPr>
              <a:t xml:space="preserve">ARCHITECTURE</a:t>
            </a:r>
          </a:p>
        </p:txBody>
      </p:sp>
      <p:cxnSp>
        <p:nvCxnSpPr>
          <p:cNvPr id="111" name="Arr4"/>
          <p:cNvCxnSpPr/>
          <p:nvPr/>
        </p:nvCxnSpPr>
        <p:spPr>
          <a:xfrm>
            <a:off x="2950000" y="4470000"/>
            <a:ext cx="0" cy="180000"/>
          </a:xfrm>
          <a:prstGeom prst="line">
            <a:avLst/>
          </a:prstGeom>
          <a:ln w="19050">
            <a:solidFill>
              <a:srgbClr val="8E6F3E"/>
            </a:solidFill>
            <a:tailEnd type="triangle" w="med" len="med"/>
          </a:ln>
        </p:spPr>
      </p:cxnSp>
      <p:sp>
        <p:nvSpPr>
          <p:cNvPr id="112" name="Cont2"/>
          <p:cNvSpPr/>
          <p:nvPr/>
        </p:nvSpPr>
        <p:spPr>
          <a:xfrm>
            <a:off x="255000" y="4650000"/>
            <a:ext cx="5390000" cy="950000"/>
          </a:xfrm>
          <a:prstGeom prst="roundRect">
            <a:avLst/>
          </a:prstGeom>
          <a:solidFill>
            <a:srgbClr val="FBF8F2"/>
          </a:solidFill>
          <a:ln w="19050">
            <a:solidFill>
              <a:srgbClr val="8E6F3E"/>
            </a:solidFill>
            <a:prstDash val="dash"/>
          </a:ln>
        </p:spPr>
        <p:txBody>
          <a:bodyPr wrap="square" lIns="54864" tIns="27432" rIns="54864" bIns="27432" anchor="t">
            <a:normAutofit/>
          </a:bodyPr>
          <a:lstStyle/>
          <a:p>
            <a:pPr algn="l">
              <a:buNone/>
            </a:pPr>
            <a:r>
              <a:rPr lang="en-US" sz="1800" b="1" i="0" dirty="0">
                <a:solidFill>
                  <a:srgbClr val="8E6F3E"/>
                </a:solidFill>
              </a:rPr>
              <a:t xml:space="preserve">PARTS OF THE CHOSEN SYSTEM</a:t>
            </a:r>
          </a:p>
        </p:txBody>
      </p:sp>
      <p:sp>
        <p:nvSpPr>
          <p:cNvPr id="113" name="Part0"/>
          <p:cNvSpPr/>
          <p:nvPr/>
        </p:nvSpPr>
        <p:spPr>
          <a:xfrm>
            <a:off x="486000" y="5070000"/>
            <a:ext cx="1155000" cy="43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800" b="1" i="0" dirty="0">
                <a:solidFill>
                  <a:srgbClr val="5C4826"/>
                </a:solidFill>
              </a:rPr>
              <a:t xml:space="preserve">PART A</a:t>
            </a:r>
          </a:p>
        </p:txBody>
      </p:sp>
      <p:sp>
        <p:nvSpPr>
          <p:cNvPr id="114" name="Part1"/>
          <p:cNvSpPr/>
          <p:nvPr/>
        </p:nvSpPr>
        <p:spPr>
          <a:xfrm>
            <a:off x="1784000" y="5070000"/>
            <a:ext cx="1155000" cy="43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800" b="1" i="0" dirty="0">
                <a:solidFill>
                  <a:srgbClr val="5C4826"/>
                </a:solidFill>
              </a:rPr>
              <a:t xml:space="preserve">PART B</a:t>
            </a:r>
          </a:p>
        </p:txBody>
      </p:sp>
      <p:sp>
        <p:nvSpPr>
          <p:cNvPr id="115" name="Part2"/>
          <p:cNvSpPr/>
          <p:nvPr/>
        </p:nvSpPr>
        <p:spPr>
          <a:xfrm>
            <a:off x="3082000" y="5070000"/>
            <a:ext cx="1155000" cy="43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800" b="1" i="0" dirty="0">
                <a:solidFill>
                  <a:srgbClr val="5C4826"/>
                </a:solidFill>
              </a:rPr>
              <a:t xml:space="preserve">PART C</a:t>
            </a:r>
          </a:p>
        </p:txBody>
      </p:sp>
      <p:sp>
        <p:nvSpPr>
          <p:cNvPr id="116" name="Part3"/>
          <p:cNvSpPr/>
          <p:nvPr/>
        </p:nvSpPr>
        <p:spPr>
          <a:xfrm>
            <a:off x="4380000" y="5070000"/>
            <a:ext cx="1155000" cy="43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800" b="1" i="0" dirty="0">
                <a:solidFill>
                  <a:srgbClr val="5C4826"/>
                </a:solidFill>
              </a:rPr>
              <a:t xml:space="preserve">PART D</a:t>
            </a:r>
          </a:p>
        </p:txBody>
      </p:sp>
      <p:cxnSp>
        <p:nvCxnSpPr>
          <p:cNvPr id="117" name="Arr5"/>
          <p:cNvCxnSpPr/>
          <p:nvPr/>
        </p:nvCxnSpPr>
        <p:spPr>
          <a:xfrm>
            <a:off x="2950000" y="5600000"/>
            <a:ext cx="0" cy="180000"/>
          </a:xfrm>
          <a:prstGeom prst="line">
            <a:avLst/>
          </a:prstGeom>
          <a:ln w="19050">
            <a:solidFill>
              <a:srgbClr val="8E6F3E"/>
            </a:solidFill>
            <a:tailEnd type="triangle" w="med" len="med"/>
          </a:ln>
        </p:spPr>
      </p:cxnSp>
      <p:sp>
        <p:nvSpPr>
          <p:cNvPr id="118" name="Design"/>
          <p:cNvSpPr/>
          <p:nvPr/>
        </p:nvSpPr>
        <p:spPr>
          <a:xfrm>
            <a:off x="1685000" y="5780000"/>
            <a:ext cx="2530000" cy="560000"/>
          </a:xfrm>
          <a:prstGeom prst="rect">
            <a:avLst/>
          </a:prstGeom>
          <a:solidFill>
            <a:srgbClr val="8E6F3E"/>
          </a:solidFill>
          <a:ln>
            <a:noFill/>
          </a:ln>
        </p:spPr>
        <p:txBody>
          <a:bodyPr wrap="square" lIns="54864" tIns="27432" rIns="54864" bIns="27432" anchor="ctr">
            <a:normAutofit/>
          </a:bodyPr>
          <a:lstStyle/>
          <a:p>
            <a:pPr algn="ctr">
              <a:buNone/>
            </a:pPr>
            <a:r>
              <a:rPr lang="en-US" sz="2400" b="1" i="0" dirty="0">
                <a:solidFill>
                  <a:srgbClr val="FFFFFF"/>
                </a:solidFill>
              </a:rPr>
              <a:t xml:space="preserve">DESIGN</a:t>
            </a:r>
          </a:p>
        </p:txBody>
      </p:sp>
    </p:spTree>
    <p:extLst>
      <p:ext uri="{BB962C8B-B14F-4D97-AF65-F5344CB8AC3E}">
        <p14:creationId xmlns:p14="http://schemas.microsoft.com/office/powerpoint/2010/main" val="2554976120"/>
      </p:ext>
    </p:extLst>
  </p:cSld>
  <p:clrMapOvr>
    <a:masterClrMapping/>
  </p:clrMapOvr>
  <p:timing>
    <p:tnLst>
      <p:par>
        <p:cTn id="1" dur="indefinite" restart="never" nodeType="tmRoot">
          <p:childTnLst>
            <p:seq concurrent="1" nextAc="seek">
              <p:cTn id="2" dur="indefinite" nodeType="mainSeq">
                <p:childTnLst>
                  <p:par>
                    <p:cTn id="11" fill="hold">
                      <p:stCondLst>
                        <p:cond delay="indefinite"/>
                      </p:stCondLst>
                      <p:childTnLst>
                        <p:par>
                          <p:cTn id="12" fill="hold">
                            <p:stCondLst>
                              <p:cond delay="0"/>
                            </p:stCondLst>
                            <p:childTnLst>
                              <p:par>
                                <p:cTn id="3" presetID="10" presetClass="entr" presetSubtype="0" fill="hold" nodeType="clickEffect">
                                  <p:stCondLst>
                                    <p:cond delay="0"/>
                                  </p:stCondLst>
                                  <p:childTnLst>
                                    <p:set>
                                      <p:cBhvr>
                                        <p:cTn id="5" dur="1" fill="hold">
                                          <p:stCondLst>
                                            <p:cond delay="0"/>
                                          </p:stCondLst>
                                        </p:cTn>
                                        <p:tgtEl>
                                          <p:spTgt spid="101"/>
                                        </p:tgtEl>
                                        <p:attrNameLst>
                                          <p:attrName>style.visibility</p:attrName>
                                        </p:attrNameLst>
                                      </p:cBhvr>
                                      <p:to>
                                        <p:strVal val="visible"/>
                                      </p:to>
                                    </p:set>
                                    <p:animEffect transition="in" filter="fade">
                                      <p:cBhvr>
                                        <p:cTn id="6" dur="400"/>
                                        <p:tgtEl>
                                          <p:spTgt spid="101"/>
                                        </p:tgtEl>
                                      </p:cBhvr>
                                    </p:animEffect>
                                  </p:childTnLst>
                                </p:cTn>
                              </p:par>
                              <p:par>
                                <p:cTn id="7" presetID="10" presetClass="entr" presetSubtype="0" fill="hold" nodeType="withEffect">
                                  <p:stCondLst>
                                    <p:cond delay="0"/>
                                  </p:stCondLst>
                                  <p:childTnLst>
                                    <p:set>
                                      <p:cBhvr>
                                        <p:cTn id="9" dur="1" fill="hold">
                                          <p:stCondLst>
                                            <p:cond delay="0"/>
                                          </p:stCondLst>
                                        </p:cTn>
                                        <p:tgtEl>
                                          <p:spTgt spid="102"/>
                                        </p:tgtEl>
                                        <p:attrNameLst>
                                          <p:attrName>style.visibility</p:attrName>
                                        </p:attrNameLst>
                                      </p:cBhvr>
                                      <p:to>
                                        <p:strVal val="visible"/>
                                      </p:to>
                                    </p:set>
                                    <p:animEffect transition="in" filter="fade">
                                      <p:cBhvr>
                                        <p:cTn id="10" dur="400"/>
                                        <p:tgtEl>
                                          <p:spTgt spid="102"/>
                                        </p:tgtEl>
                                      </p:cBhvr>
                                    </p:animEffect>
                                  </p:childTnLst>
                                </p:cTn>
                              </p:par>
                            </p:childTnLst>
                          </p:cTn>
                        </p:par>
                      </p:childTnLst>
                    </p:cTn>
                  </p:par>
                  <p:par>
                    <p:cTn id="33" fill="hold">
                      <p:stCondLst>
                        <p:cond delay="indefinite"/>
                      </p:stCondLst>
                      <p:childTnLst>
                        <p:par>
                          <p:cTn id="34" fill="hold">
                            <p:stCondLst>
                              <p:cond delay="0"/>
                            </p:stCondLst>
                            <p:childTnLst>
                              <p:par>
                                <p:cTn id="13" presetID="10" presetClass="entr" presetSubtype="0" fill="hold" nodeType="clickEffect">
                                  <p:stCondLst>
                                    <p:cond delay="0"/>
                                  </p:stCondLst>
                                  <p:childTnLst>
                                    <p:set>
                                      <p:cBhvr>
                                        <p:cTn id="15" dur="1" fill="hold">
                                          <p:stCondLst>
                                            <p:cond delay="0"/>
                                          </p:stCondLst>
                                        </p:cTn>
                                        <p:tgtEl>
                                          <p:spTgt spid="103"/>
                                        </p:tgtEl>
                                        <p:attrNameLst>
                                          <p:attrName>style.visibility</p:attrName>
                                        </p:attrNameLst>
                                      </p:cBhvr>
                                      <p:to>
                                        <p:strVal val="visible"/>
                                      </p:to>
                                    </p:set>
                                    <p:animEffect transition="in" filter="fade">
                                      <p:cBhvr>
                                        <p:cTn id="16" dur="400"/>
                                        <p:tgtEl>
                                          <p:spTgt spid="103"/>
                                        </p:tgtEl>
                                      </p:cBhvr>
                                    </p:animEffect>
                                  </p:childTnLst>
                                </p:cTn>
                              </p:par>
                              <p:par>
                                <p:cTn id="17" presetID="10" presetClass="entr" presetSubtype="0" fill="hold" nodeType="withEffect">
                                  <p:stCondLst>
                                    <p:cond delay="0"/>
                                  </p:stCondLst>
                                  <p:childTnLst>
                                    <p:set>
                                      <p:cBhvr>
                                        <p:cTn id="19" dur="1" fill="hold">
                                          <p:stCondLst>
                                            <p:cond delay="0"/>
                                          </p:stCondLst>
                                        </p:cTn>
                                        <p:tgtEl>
                                          <p:spTgt spid="104"/>
                                        </p:tgtEl>
                                        <p:attrNameLst>
                                          <p:attrName>style.visibility</p:attrName>
                                        </p:attrNameLst>
                                      </p:cBhvr>
                                      <p:to>
                                        <p:strVal val="visible"/>
                                      </p:to>
                                    </p:set>
                                    <p:animEffect transition="in" filter="fade">
                                      <p:cBhvr>
                                        <p:cTn id="20" dur="400"/>
                                        <p:tgtEl>
                                          <p:spTgt spid="104"/>
                                        </p:tgtEl>
                                      </p:cBhvr>
                                    </p:animEffect>
                                  </p:childTnLst>
                                </p:cTn>
                              </p:par>
                              <p:par>
                                <p:cTn id="21" presetID="10" presetClass="entr" presetSubtype="0" fill="hold" nodeType="withEffect">
                                  <p:stCondLst>
                                    <p:cond delay="0"/>
                                  </p:stCondLst>
                                  <p:childTnLst>
                                    <p:set>
                                      <p:cBhvr>
                                        <p:cTn id="23" dur="1" fill="hold">
                                          <p:stCondLst>
                                            <p:cond delay="0"/>
                                          </p:stCondLst>
                                        </p:cTn>
                                        <p:tgtEl>
                                          <p:spTgt spid="105"/>
                                        </p:tgtEl>
                                        <p:attrNameLst>
                                          <p:attrName>style.visibility</p:attrName>
                                        </p:attrNameLst>
                                      </p:cBhvr>
                                      <p:to>
                                        <p:strVal val="visible"/>
                                      </p:to>
                                    </p:set>
                                    <p:animEffect transition="in" filter="fade">
                                      <p:cBhvr>
                                        <p:cTn id="24" dur="400"/>
                                        <p:tgtEl>
                                          <p:spTgt spid="105"/>
                                        </p:tgtEl>
                                      </p:cBhvr>
                                    </p:animEffect>
                                  </p:childTnLst>
                                </p:cTn>
                              </p:par>
                              <p:par>
                                <p:cTn id="25" presetID="10" presetClass="entr" presetSubtype="0" fill="hold" nodeType="withEffect">
                                  <p:stCondLst>
                                    <p:cond delay="0"/>
                                  </p:stCondLst>
                                  <p:childTnLst>
                                    <p:set>
                                      <p:cBhvr>
                                        <p:cTn id="27" dur="1" fill="hold">
                                          <p:stCondLst>
                                            <p:cond delay="0"/>
                                          </p:stCondLst>
                                        </p:cTn>
                                        <p:tgtEl>
                                          <p:spTgt spid="106"/>
                                        </p:tgtEl>
                                        <p:attrNameLst>
                                          <p:attrName>style.visibility</p:attrName>
                                        </p:attrNameLst>
                                      </p:cBhvr>
                                      <p:to>
                                        <p:strVal val="visible"/>
                                      </p:to>
                                    </p:set>
                                    <p:animEffect transition="in" filter="fade">
                                      <p:cBhvr>
                                        <p:cTn id="28" dur="400"/>
                                        <p:tgtEl>
                                          <p:spTgt spid="106"/>
                                        </p:tgtEl>
                                      </p:cBhvr>
                                    </p:animEffect>
                                  </p:childTnLst>
                                </p:cTn>
                              </p:par>
                              <p:par>
                                <p:cTn id="29" presetID="10" presetClass="entr" presetSubtype="0" fill="hold" nodeType="withEffect">
                                  <p:stCondLst>
                                    <p:cond delay="0"/>
                                  </p:stCondLst>
                                  <p:childTnLst>
                                    <p:set>
                                      <p:cBhvr>
                                        <p:cTn id="31" dur="1" fill="hold">
                                          <p:stCondLst>
                                            <p:cond delay="0"/>
                                          </p:stCondLst>
                                        </p:cTn>
                                        <p:tgtEl>
                                          <p:spTgt spid="107"/>
                                        </p:tgtEl>
                                        <p:attrNameLst>
                                          <p:attrName>style.visibility</p:attrName>
                                        </p:attrNameLst>
                                      </p:cBhvr>
                                      <p:to>
                                        <p:strVal val="visible"/>
                                      </p:to>
                                    </p:set>
                                    <p:animEffect transition="in" filter="fade">
                                      <p:cBhvr>
                                        <p:cTn id="32" dur="400"/>
                                        <p:tgtEl>
                                          <p:spTgt spid="107"/>
                                        </p:tgtEl>
                                      </p:cBhvr>
                                    </p:animEffect>
                                  </p:childTnLst>
                                </p:cTn>
                              </p:par>
                            </p:childTnLst>
                          </p:cTn>
                        </p:par>
                      </p:childTnLst>
                    </p:cTn>
                  </p:par>
                  <p:par>
                    <p:cTn id="47" fill="hold">
                      <p:stCondLst>
                        <p:cond delay="indefinite"/>
                      </p:stCondLst>
                      <p:childTnLst>
                        <p:par>
                          <p:cTn id="48" fill="hold">
                            <p:stCondLst>
                              <p:cond delay="0"/>
                            </p:stCondLst>
                            <p:childTnLst>
                              <p:par>
                                <p:cTn id="35" presetID="10" presetClass="entr" presetSubtype="0" fill="hold" nodeType="clickEffect">
                                  <p:stCondLst>
                                    <p:cond delay="0"/>
                                  </p:stCondLst>
                                  <p:childTnLst>
                                    <p:set>
                                      <p:cBhvr>
                                        <p:cTn id="37" dur="1" fill="hold">
                                          <p:stCondLst>
                                            <p:cond delay="0"/>
                                          </p:stCondLst>
                                        </p:cTn>
                                        <p:tgtEl>
                                          <p:spTgt spid="108"/>
                                        </p:tgtEl>
                                        <p:attrNameLst>
                                          <p:attrName>style.visibility</p:attrName>
                                        </p:attrNameLst>
                                      </p:cBhvr>
                                      <p:to>
                                        <p:strVal val="visible"/>
                                      </p:to>
                                    </p:set>
                                    <p:animEffect transition="in" filter="fade">
                                      <p:cBhvr>
                                        <p:cTn id="38" dur="400"/>
                                        <p:tgtEl>
                                          <p:spTgt spid="108"/>
                                        </p:tgtEl>
                                      </p:cBhvr>
                                    </p:animEffect>
                                  </p:childTnLst>
                                </p:cTn>
                              </p:par>
                              <p:par>
                                <p:cTn id="39" presetID="10" presetClass="entr" presetSubtype="0" fill="hold" nodeType="withEffect">
                                  <p:stCondLst>
                                    <p:cond delay="0"/>
                                  </p:stCondLst>
                                  <p:childTnLst>
                                    <p:set>
                                      <p:cBhvr>
                                        <p:cTn id="41" dur="1" fill="hold">
                                          <p:stCondLst>
                                            <p:cond delay="0"/>
                                          </p:stCondLst>
                                        </p:cTn>
                                        <p:tgtEl>
                                          <p:spTgt spid="109"/>
                                        </p:tgtEl>
                                        <p:attrNameLst>
                                          <p:attrName>style.visibility</p:attrName>
                                        </p:attrNameLst>
                                      </p:cBhvr>
                                      <p:to>
                                        <p:strVal val="visible"/>
                                      </p:to>
                                    </p:set>
                                    <p:animEffect transition="in" filter="fade">
                                      <p:cBhvr>
                                        <p:cTn id="42" dur="400"/>
                                        <p:tgtEl>
                                          <p:spTgt spid="109"/>
                                        </p:tgtEl>
                                      </p:cBhvr>
                                    </p:animEffect>
                                  </p:childTnLst>
                                </p:cTn>
                              </p:par>
                              <p:par>
                                <p:cTn id="43" presetID="10" presetClass="entr" presetSubtype="0" fill="hold" nodeType="withEffect">
                                  <p:stCondLst>
                                    <p:cond delay="0"/>
                                  </p:stCondLst>
                                  <p:childTnLst>
                                    <p:set>
                                      <p:cBhvr>
                                        <p:cTn id="45" dur="1" fill="hold">
                                          <p:stCondLst>
                                            <p:cond delay="0"/>
                                          </p:stCondLst>
                                        </p:cTn>
                                        <p:tgtEl>
                                          <p:spTgt spid="110"/>
                                        </p:tgtEl>
                                        <p:attrNameLst>
                                          <p:attrName>style.visibility</p:attrName>
                                        </p:attrNameLst>
                                      </p:cBhvr>
                                      <p:to>
                                        <p:strVal val="visible"/>
                                      </p:to>
                                    </p:set>
                                    <p:animEffect transition="in" filter="fade">
                                      <p:cBhvr>
                                        <p:cTn id="46" dur="400"/>
                                        <p:tgtEl>
                                          <p:spTgt spid="110"/>
                                        </p:tgtEl>
                                      </p:cBhvr>
                                    </p:animEffect>
                                  </p:childTnLst>
                                </p:cTn>
                              </p:par>
                            </p:childTnLst>
                          </p:cTn>
                        </p:par>
                      </p:childTnLst>
                    </p:cTn>
                  </p:par>
                  <p:par>
                    <p:cTn id="73" fill="hold">
                      <p:stCondLst>
                        <p:cond delay="indefinite"/>
                      </p:stCondLst>
                      <p:childTnLst>
                        <p:par>
                          <p:cTn id="74" fill="hold">
                            <p:stCondLst>
                              <p:cond delay="0"/>
                            </p:stCondLst>
                            <p:childTnLst>
                              <p:par>
                                <p:cTn id="49" presetID="10" presetClass="entr" presetSubtype="0" fill="hold" nodeType="clickEffect">
                                  <p:stCondLst>
                                    <p:cond delay="0"/>
                                  </p:stCondLst>
                                  <p:childTnLst>
                                    <p:set>
                                      <p:cBhvr>
                                        <p:cTn id="51" dur="1" fill="hold">
                                          <p:stCondLst>
                                            <p:cond delay="0"/>
                                          </p:stCondLst>
                                        </p:cTn>
                                        <p:tgtEl>
                                          <p:spTgt spid="111"/>
                                        </p:tgtEl>
                                        <p:attrNameLst>
                                          <p:attrName>style.visibility</p:attrName>
                                        </p:attrNameLst>
                                      </p:cBhvr>
                                      <p:to>
                                        <p:strVal val="visible"/>
                                      </p:to>
                                    </p:set>
                                    <p:animEffect transition="in" filter="fade">
                                      <p:cBhvr>
                                        <p:cTn id="52" dur="400"/>
                                        <p:tgtEl>
                                          <p:spTgt spid="111"/>
                                        </p:tgtEl>
                                      </p:cBhvr>
                                    </p:animEffect>
                                  </p:childTnLst>
                                </p:cTn>
                              </p:par>
                              <p:par>
                                <p:cTn id="53" presetID="10" presetClass="entr" presetSubtype="0" fill="hold" nodeType="withEffect">
                                  <p:stCondLst>
                                    <p:cond delay="0"/>
                                  </p:stCondLst>
                                  <p:childTnLst>
                                    <p:set>
                                      <p:cBhvr>
                                        <p:cTn id="55" dur="1" fill="hold">
                                          <p:stCondLst>
                                            <p:cond delay="0"/>
                                          </p:stCondLst>
                                        </p:cTn>
                                        <p:tgtEl>
                                          <p:spTgt spid="112"/>
                                        </p:tgtEl>
                                        <p:attrNameLst>
                                          <p:attrName>style.visibility</p:attrName>
                                        </p:attrNameLst>
                                      </p:cBhvr>
                                      <p:to>
                                        <p:strVal val="visible"/>
                                      </p:to>
                                    </p:set>
                                    <p:animEffect transition="in" filter="fade">
                                      <p:cBhvr>
                                        <p:cTn id="56" dur="400"/>
                                        <p:tgtEl>
                                          <p:spTgt spid="112"/>
                                        </p:tgtEl>
                                      </p:cBhvr>
                                    </p:animEffect>
                                  </p:childTnLst>
                                </p:cTn>
                              </p:par>
                              <p:par>
                                <p:cTn id="57" presetID="10" presetClass="entr" presetSubtype="0" fill="hold" nodeType="withEffect">
                                  <p:stCondLst>
                                    <p:cond delay="0"/>
                                  </p:stCondLst>
                                  <p:childTnLst>
                                    <p:set>
                                      <p:cBhvr>
                                        <p:cTn id="59" dur="1" fill="hold">
                                          <p:stCondLst>
                                            <p:cond delay="0"/>
                                          </p:stCondLst>
                                        </p:cTn>
                                        <p:tgtEl>
                                          <p:spTgt spid="113"/>
                                        </p:tgtEl>
                                        <p:attrNameLst>
                                          <p:attrName>style.visibility</p:attrName>
                                        </p:attrNameLst>
                                      </p:cBhvr>
                                      <p:to>
                                        <p:strVal val="visible"/>
                                      </p:to>
                                    </p:set>
                                    <p:animEffect transition="in" filter="fade">
                                      <p:cBhvr>
                                        <p:cTn id="60" dur="400"/>
                                        <p:tgtEl>
                                          <p:spTgt spid="113"/>
                                        </p:tgtEl>
                                      </p:cBhvr>
                                    </p:animEffect>
                                  </p:childTnLst>
                                </p:cTn>
                              </p:par>
                              <p:par>
                                <p:cTn id="61" presetID="10" presetClass="entr" presetSubtype="0" fill="hold" nodeType="withEffect">
                                  <p:stCondLst>
                                    <p:cond delay="0"/>
                                  </p:stCondLst>
                                  <p:childTnLst>
                                    <p:set>
                                      <p:cBhvr>
                                        <p:cTn id="63" dur="1" fill="hold">
                                          <p:stCondLst>
                                            <p:cond delay="0"/>
                                          </p:stCondLst>
                                        </p:cTn>
                                        <p:tgtEl>
                                          <p:spTgt spid="114"/>
                                        </p:tgtEl>
                                        <p:attrNameLst>
                                          <p:attrName>style.visibility</p:attrName>
                                        </p:attrNameLst>
                                      </p:cBhvr>
                                      <p:to>
                                        <p:strVal val="visible"/>
                                      </p:to>
                                    </p:set>
                                    <p:animEffect transition="in" filter="fade">
                                      <p:cBhvr>
                                        <p:cTn id="64" dur="400"/>
                                        <p:tgtEl>
                                          <p:spTgt spid="114"/>
                                        </p:tgtEl>
                                      </p:cBhvr>
                                    </p:animEffect>
                                  </p:childTnLst>
                                </p:cTn>
                              </p:par>
                              <p:par>
                                <p:cTn id="65" presetID="10" presetClass="entr" presetSubtype="0" fill="hold" nodeType="withEffect">
                                  <p:stCondLst>
                                    <p:cond delay="0"/>
                                  </p:stCondLst>
                                  <p:childTnLst>
                                    <p:set>
                                      <p:cBhvr>
                                        <p:cTn id="67" dur="1" fill="hold">
                                          <p:stCondLst>
                                            <p:cond delay="0"/>
                                          </p:stCondLst>
                                        </p:cTn>
                                        <p:tgtEl>
                                          <p:spTgt spid="115"/>
                                        </p:tgtEl>
                                        <p:attrNameLst>
                                          <p:attrName>style.visibility</p:attrName>
                                        </p:attrNameLst>
                                      </p:cBhvr>
                                      <p:to>
                                        <p:strVal val="visible"/>
                                      </p:to>
                                    </p:set>
                                    <p:animEffect transition="in" filter="fade">
                                      <p:cBhvr>
                                        <p:cTn id="68" dur="400"/>
                                        <p:tgtEl>
                                          <p:spTgt spid="115"/>
                                        </p:tgtEl>
                                      </p:cBhvr>
                                    </p:animEffect>
                                  </p:childTnLst>
                                </p:cTn>
                              </p:par>
                              <p:par>
                                <p:cTn id="69" presetID="10" presetClass="entr" presetSubtype="0" fill="hold" nodeType="withEffect">
                                  <p:stCondLst>
                                    <p:cond delay="0"/>
                                  </p:stCondLst>
                                  <p:childTnLst>
                                    <p:set>
                                      <p:cBhvr>
                                        <p:cTn id="71" dur="1" fill="hold">
                                          <p:stCondLst>
                                            <p:cond delay="0"/>
                                          </p:stCondLst>
                                        </p:cTn>
                                        <p:tgtEl>
                                          <p:spTgt spid="116"/>
                                        </p:tgtEl>
                                        <p:attrNameLst>
                                          <p:attrName>style.visibility</p:attrName>
                                        </p:attrNameLst>
                                      </p:cBhvr>
                                      <p:to>
                                        <p:strVal val="visible"/>
                                      </p:to>
                                    </p:set>
                                    <p:animEffect transition="in" filter="fade">
                                      <p:cBhvr>
                                        <p:cTn id="72" dur="400"/>
                                        <p:tgtEl>
                                          <p:spTgt spid="116"/>
                                        </p:tgtEl>
                                      </p:cBhvr>
                                    </p:animEffect>
                                  </p:childTnLst>
                                </p:cTn>
                              </p:par>
                            </p:childTnLst>
                          </p:cTn>
                        </p:par>
                      </p:childTnLst>
                    </p:cTn>
                  </p:par>
                  <p:par>
                    <p:cTn id="83" fill="hold">
                      <p:stCondLst>
                        <p:cond delay="indefinite"/>
                      </p:stCondLst>
                      <p:childTnLst>
                        <p:par>
                          <p:cTn id="84" fill="hold">
                            <p:stCondLst>
                              <p:cond delay="0"/>
                            </p:stCondLst>
                            <p:childTnLst>
                              <p:par>
                                <p:cTn id="75" presetID="10" presetClass="entr" presetSubtype="0" fill="hold" nodeType="clickEffect">
                                  <p:stCondLst>
                                    <p:cond delay="0"/>
                                  </p:stCondLst>
                                  <p:childTnLst>
                                    <p:set>
                                      <p:cBhvr>
                                        <p:cTn id="77" dur="1" fill="hold">
                                          <p:stCondLst>
                                            <p:cond delay="0"/>
                                          </p:stCondLst>
                                        </p:cTn>
                                        <p:tgtEl>
                                          <p:spTgt spid="117"/>
                                        </p:tgtEl>
                                        <p:attrNameLst>
                                          <p:attrName>style.visibility</p:attrName>
                                        </p:attrNameLst>
                                      </p:cBhvr>
                                      <p:to>
                                        <p:strVal val="visible"/>
                                      </p:to>
                                    </p:set>
                                    <p:animEffect transition="in" filter="fade">
                                      <p:cBhvr>
                                        <p:cTn id="78" dur="400"/>
                                        <p:tgtEl>
                                          <p:spTgt spid="117"/>
                                        </p:tgtEl>
                                      </p:cBhvr>
                                    </p:animEffect>
                                  </p:childTnLst>
                                </p:cTn>
                              </p:par>
                              <p:par>
                                <p:cTn id="79" presetID="10" presetClass="entr" presetSubtype="0" fill="hold" nodeType="withEffect">
                                  <p:stCondLst>
                                    <p:cond delay="0"/>
                                  </p:stCondLst>
                                  <p:childTnLst>
                                    <p:set>
                                      <p:cBhvr>
                                        <p:cTn id="81" dur="1" fill="hold">
                                          <p:stCondLst>
                                            <p:cond delay="0"/>
                                          </p:stCondLst>
                                        </p:cTn>
                                        <p:tgtEl>
                                          <p:spTgt spid="118"/>
                                        </p:tgtEl>
                                        <p:attrNameLst>
                                          <p:attrName>style.visibility</p:attrName>
                                        </p:attrNameLst>
                                      </p:cBhvr>
                                      <p:to>
                                        <p:strVal val="visible"/>
                                      </p:to>
                                    </p:set>
                                    <p:animEffect transition="in" filter="fade">
                                      <p:cBhvr>
                                        <p:cTn id="82" dur="400"/>
                                        <p:tgtEl>
                                          <p:spTgt spid="118"/>
                                        </p:tgtEl>
                                      </p:cBhvr>
                                    </p:animEffect>
                                  </p:childTnLst>
                                </p:cTn>
                              </p:par>
                            </p:childTnLst>
                          </p:cTn>
                        </p:par>
                      </p:childTnLst>
                    </p:cTn>
                  </p:par>
                  <p:par>
                    <p:cTn id="93" fill="hold">
                      <p:stCondLst>
                        <p:cond delay="indefinite"/>
                      </p:stCondLst>
                      <p:childTnLst>
                        <p:par>
                          <p:cTn id="94" fill="hold">
                            <p:stCondLst>
                              <p:cond delay="0"/>
                            </p:stCondLst>
                            <p:childTnLst>
                              <p:par>
                                <p:cTn id="85" presetID="10" presetClass="entr" presetSubtype="0" fill="hold" nodeType="clickEffect">
                                  <p:stCondLst>
                                    <p:cond delay="0"/>
                                  </p:stCondLst>
                                  <p:childTnLst>
                                    <p:set>
                                      <p:cBhvr>
                                        <p:cTn id="87" dur="1" fill="hold">
                                          <p:stCondLst>
                                            <p:cond delay="0"/>
                                          </p:stCondLst>
                                        </p:cTn>
                                        <p:tgtEl>
                                          <p:spTgt spid="2"/>
                                        </p:tgtEl>
                                        <p:attrNameLst>
                                          <p:attrName>style.visibility</p:attrName>
                                        </p:attrNameLst>
                                      </p:cBhvr>
                                      <p:to>
                                        <p:strVal val="visible"/>
                                      </p:to>
                                    </p:set>
                                    <p:animEffect transition="in" filter="fade">
                                      <p:cBhvr>
                                        <p:cTn id="88" dur="400"/>
                                        <p:tgtEl>
                                          <p:spTgt spid="2"/>
                                        </p:tgtEl>
                                      </p:cBhvr>
                                    </p:animEffect>
                                  </p:childTnLst>
                                </p:cTn>
                              </p:par>
                              <p:par>
                                <p:cTn id="89" presetID="10" presetClass="entr" presetSubtype="0" fill="hold" nodeType="withEffect">
                                  <p:stCondLst>
                                    <p:cond delay="0"/>
                                  </p:stCondLst>
                                  <p:childTnLst>
                                    <p:set>
                                      <p:cBhvr>
                                        <p:cTn id="91" dur="1" fill="hold">
                                          <p:stCondLst>
                                            <p:cond delay="0"/>
                                          </p:stCondLst>
                                        </p:cTn>
                                        <p:tgtEl>
                                          <p:spTgt spid="5"/>
                                        </p:tgtEl>
                                        <p:attrNameLst>
                                          <p:attrName>style.visibility</p:attrName>
                                        </p:attrNameLst>
                                      </p:cBhvr>
                                      <p:to>
                                        <p:strVal val="visible"/>
                                      </p:to>
                                    </p:set>
                                    <p:animEffect transition="in" filter="fade">
                                      <p:cBhvr>
                                        <p:cTn id="92" dur="400"/>
                                        <p:tgtEl>
                                          <p:spTgt spid="5"/>
                                        </p:tgtEl>
                                      </p:cBhvr>
                                    </p:animEffect>
                                  </p:childTnLst>
                                </p:cTn>
                              </p:par>
                              <p:par>
                                <p:cTn id="104" presetID="10" presetClass="entr" presetSubtype="0" fill="hold" nodeType="withEffect">
                                  <p:stCondLst>
                                    <p:cond delay="0"/>
                                  </p:stCondLst>
                                  <p:childTnLst>
                                    <p:set>
                                      <p:cBhvr>
                                        <p:cTn id="105" dur="1" fill="hold">
                                          <p:stCondLst>
                                            <p:cond delay="0"/>
                                          </p:stCondLst>
                                        </p:cTn>
                                        <p:tgtEl>
                                          <p:spTgt spid="300"/>
                                        </p:tgtEl>
                                        <p:attrNameLst>
                                          <p:attrName>style.visibility</p:attrName>
                                        </p:attrNameLst>
                                      </p:cBhvr>
                                      <p:to>
                                        <p:strVal val="visible"/>
                                      </p:to>
                                    </p:set>
                                    <p:animEffect transition="in" filter="fade">
                                      <p:cBhvr>
                                        <p:cTn id="106" dur="400"/>
                                        <p:tgtEl>
                                          <p:spTgt spid="300"/>
                                        </p:tgtEl>
                                      </p:cBhvr>
                                    </p:animEffect>
                                  </p:childTnLst>
                                </p:cTn>
                              </p:par>
                              <p:par>
                                <p:cTn id="114" presetID="10" presetClass="entr" presetSubtype="0" fill="hold" nodeType="withEffect">
                                  <p:stCondLst>
                                    <p:cond delay="0"/>
                                  </p:stCondLst>
                                  <p:childTnLst>
                                    <p:set>
                                      <p:cBhvr>
                                        <p:cTn id="115" dur="1" fill="hold">
                                          <p:stCondLst>
                                            <p:cond delay="0"/>
                                          </p:stCondLst>
                                        </p:cTn>
                                        <p:tgtEl>
                                          <p:spTgt spid="301"/>
                                        </p:tgtEl>
                                        <p:attrNameLst>
                                          <p:attrName>style.visibility</p:attrName>
                                        </p:attrNameLst>
                                      </p:cBhvr>
                                      <p:to>
                                        <p:strVal val="visible"/>
                                      </p:to>
                                    </p:set>
                                    <p:animEffect transition="in" filter="fade">
                                      <p:cBhvr>
                                        <p:cTn id="116" dur="400"/>
                                        <p:tgtEl>
                                          <p:spTgt spid="30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B3E2FCF-E673-9928-E320-9D7777FE98F1}"/>
              </a:ext>
            </a:extLst>
          </p:cNvPr>
          <p:cNvSpPr>
            <a:spLocks noGrp="1"/>
          </p:cNvSpPr>
          <p:nvPr>
            <p:ph type="title"/>
          </p:nvPr>
        </p:nvSpPr>
        <p:spPr/>
        <p:txBody>
          <a:bodyPr>
            <a:normAutofit fontScale="75000"/>
          </a:bodyPr>
          <a:lstStyle/>
          <a:p>
            <a:pPr algn="l">
              <a:buNone/>
              <a:defRPr b="0"/>
            </a:pPr>
            <a:r>
              <a:rPr lang="en-US" sz="2400" b="0" i="0" dirty="0">
                <a:solidFill>
                  <a:srgbClr val="000000"/>
                </a:solidFill>
              </a:rPr>
              <a:t>A specification tells us what must be true—but deliberately leaves organization open.</a:t>
            </a:r>
          </a:p>
        </p:txBody>
      </p:sp>
      <p:sp>
        <p:nvSpPr>
          <p:cNvPr id="4" name="Slide Number Placeholder 3">
            <a:extLst>
              <a:ext uri="{FF2B5EF4-FFF2-40B4-BE49-F238E27FC236}">
                <a16:creationId xmlns:a16="http://schemas.microsoft.com/office/drawing/2014/main" id="{4525202C-4A61-F639-A638-0A90AFE88392}"/>
              </a:ext>
            </a:extLst>
          </p:cNvPr>
          <p:cNvSpPr>
            <a:spLocks noGrp="1"/>
          </p:cNvSpPr>
          <p:nvPr>
            <p:ph type="sldNum" sz="quarter" idx="4"/>
          </p:nvPr>
        </p:nvSpPr>
        <p:spPr/>
        <p:txBody>
          <a:bodyPr/>
          <a:lstStyle/>
          <a:p>
            <a:fld id="{B7EB45DA-9A0D-DC49-8E02-F30A5DDC21C3}" type="slidenum">
              <a:rPr lang="en-US" smtClean="0"/>
              <a:t>2</a:t>
            </a:fld>
            <a:endParaRPr lang="en-US"/>
          </a:p>
        </p:txBody>
      </p:sp>
      <p:sp>
        <p:nvSpPr>
          <p:cNvPr id="60" name="S60"/>
          <p:cNvSpPr/>
          <p:nvPr/>
        </p:nvSpPr>
        <p:spPr>
          <a:xfrm>
            <a:off x="3306572" y="899980"/>
            <a:ext cx="2423160" cy="592328"/>
          </a:xfrm>
          <a:prstGeom prst="rect">
            <a:avLst/>
          </a:prstGeom>
          <a:solidFill>
            <a:srgbClr val="F5F1E8"/>
          </a:solidFill>
          <a:ln w="13462">
            <a:solidFill>
              <a:srgbClr val="C9B991"/>
            </a:solidFill>
          </a:ln>
        </p:spPr>
        <p:txBody>
          <a:bodyPr wrap="square" lIns="109728" tIns="82296" rIns="109728" bIns="82296" anchor="ctr">
            <a:normAutofit/>
          </a:bodyPr>
          <a:lstStyle/>
          <a:p>
            <a:pPr algn="ctr">
              <a:buNone/>
            </a:pPr>
            <a:r>
              <a:rPr lang="en-US" sz="3100" b="1" i="0" dirty="0">
                <a:solidFill>
                  <a:srgbClr val="5C4826"/>
                </a:solidFill>
              </a:rPr>
              <a:t>REQUIREMENTS</a:t>
            </a:r>
          </a:p>
        </p:txBody>
      </p:sp>
      <p:cxnSp>
        <p:nvCxnSpPr>
          <p:cNvPr id="61" name="L61"/>
          <p:cNvCxnSpPr/>
          <p:nvPr/>
        </p:nvCxnSpPr>
        <p:spPr>
          <a:xfrm>
            <a:off x="4518152" y="1492308"/>
            <a:ext cx="0" cy="215392"/>
          </a:xfrm>
          <a:prstGeom prst="line">
            <a:avLst/>
          </a:prstGeom>
          <a:ln w="20193">
            <a:solidFill>
              <a:srgbClr val="8E6F3E"/>
            </a:solidFill>
            <a:tailEnd type="triangle" w="med" len="med"/>
          </a:ln>
        </p:spPr>
      </p:cxnSp>
      <p:sp>
        <p:nvSpPr>
          <p:cNvPr id="62" name="S62"/>
          <p:cNvSpPr/>
          <p:nvPr/>
        </p:nvSpPr>
        <p:spPr>
          <a:xfrm>
            <a:off x="2364232" y="1707700"/>
            <a:ext cx="4307840" cy="1184656"/>
          </a:xfrm>
          <a:prstGeom prst="rect">
            <a:avLst/>
          </a:prstGeom>
          <a:solidFill>
            <a:srgbClr val="8E6F3E"/>
          </a:solidFill>
          <a:ln>
            <a:noFill/>
          </a:ln>
        </p:spPr>
        <p:txBody>
          <a:bodyPr wrap="square" lIns="109728" tIns="82296" rIns="109728" bIns="82296" anchor="ctr">
            <a:normAutofit fontScale="92500" lnSpcReduction="10000"/>
          </a:bodyPr>
          <a:lstStyle/>
          <a:p>
            <a:pPr algn="ctr">
              <a:buNone/>
            </a:pPr>
            <a:r>
              <a:rPr lang="en-US" sz="3600" b="1" i="0" dirty="0">
                <a:solidFill>
                  <a:srgbClr val="FFFFFF"/>
                </a:solidFill>
              </a:rPr>
              <a:t>SPECIFICATION</a:t>
            </a:r>
          </a:p>
          <a:p>
            <a:pPr algn="ctr">
              <a:spcBef>
                <a:spcPts val="192"/>
              </a:spcBef>
              <a:buNone/>
            </a:pPr>
            <a:r>
              <a:rPr lang="en-US" sz="2800" b="0" i="0" dirty="0">
                <a:solidFill>
                  <a:srgbClr val="FFFFFF"/>
                </a:solidFill>
              </a:rPr>
              <a:t>consequential obligations</a:t>
            </a:r>
            <a:br>
              <a:rPr lang="en-US" sz="2800" b="0" i="0" dirty="0">
                <a:solidFill>
                  <a:srgbClr val="FFFFFF"/>
                </a:solidFill>
              </a:rPr>
            </a:br>
            <a:r>
              <a:rPr lang="en-US" sz="2800" b="0" i="0" dirty="0">
                <a:solidFill>
                  <a:srgbClr val="FFFFFF"/>
                </a:solidFill>
              </a:rPr>
              <a:t>made explicit</a:t>
            </a:r>
          </a:p>
        </p:txBody>
      </p:sp>
      <p:cxnSp>
        <p:nvCxnSpPr>
          <p:cNvPr id="63" name="L63"/>
          <p:cNvCxnSpPr/>
          <p:nvPr/>
        </p:nvCxnSpPr>
        <p:spPr>
          <a:xfrm>
            <a:off x="3064256" y="2892356"/>
            <a:ext cx="0" cy="508325"/>
          </a:xfrm>
          <a:prstGeom prst="line">
            <a:avLst/>
          </a:prstGeom>
          <a:ln w="20193">
            <a:solidFill>
              <a:srgbClr val="8E6F3E"/>
            </a:solidFill>
            <a:tailEnd type="triangle" w="med" len="med"/>
          </a:ln>
        </p:spPr>
      </p:cxnSp>
      <p:cxnSp>
        <p:nvCxnSpPr>
          <p:cNvPr id="64" name="L64"/>
          <p:cNvCxnSpPr/>
          <p:nvPr/>
        </p:nvCxnSpPr>
        <p:spPr>
          <a:xfrm>
            <a:off x="5972048" y="2892356"/>
            <a:ext cx="0" cy="508325"/>
          </a:xfrm>
          <a:prstGeom prst="line">
            <a:avLst/>
          </a:prstGeom>
          <a:ln w="20193">
            <a:solidFill>
              <a:srgbClr val="8E6F3E"/>
            </a:solidFill>
            <a:tailEnd type="triangle" w="med" len="med"/>
          </a:ln>
        </p:spPr>
      </p:cxnSp>
      <p:sp>
        <p:nvSpPr>
          <p:cNvPr id="65" name="S65"/>
          <p:cNvSpPr/>
          <p:nvPr/>
        </p:nvSpPr>
        <p:spPr>
          <a:xfrm>
            <a:off x="412242" y="3403912"/>
            <a:ext cx="3365500" cy="969264"/>
          </a:xfrm>
          <a:prstGeom prst="rect">
            <a:avLst/>
          </a:prstGeom>
          <a:solidFill>
            <a:srgbClr val="FFFFFF"/>
          </a:solidFill>
          <a:ln w="20193">
            <a:solidFill>
              <a:srgbClr val="8E6F3E"/>
            </a:solidFill>
          </a:ln>
        </p:spPr>
        <p:txBody>
          <a:bodyPr wrap="square" lIns="109728" tIns="82296" rIns="109728" bIns="82296" anchor="ctr">
            <a:normAutofit/>
          </a:bodyPr>
          <a:lstStyle/>
          <a:p>
            <a:pPr algn="ctr">
              <a:buNone/>
            </a:pPr>
            <a:r>
              <a:rPr lang="en-US" sz="3100" b="1" i="0" dirty="0">
                <a:solidFill>
                  <a:srgbClr val="5C4826"/>
                </a:solidFill>
              </a:rPr>
              <a:t>OBLIGATIONS</a:t>
            </a:r>
          </a:p>
          <a:p>
            <a:pPr algn="ctr">
              <a:spcBef>
                <a:spcPts val="154"/>
              </a:spcBef>
              <a:buNone/>
            </a:pPr>
            <a:r>
              <a:rPr lang="en-US" sz="2700" b="0" i="0" dirty="0">
                <a:solidFill>
                  <a:srgbClr val="000000"/>
                </a:solidFill>
              </a:rPr>
              <a:t>what we constrain</a:t>
            </a:r>
          </a:p>
        </p:txBody>
      </p:sp>
      <p:sp>
        <p:nvSpPr>
          <p:cNvPr id="66" name="S66"/>
          <p:cNvSpPr/>
          <p:nvPr/>
        </p:nvSpPr>
        <p:spPr>
          <a:xfrm>
            <a:off x="5258562" y="3403912"/>
            <a:ext cx="3365500" cy="969264"/>
          </a:xfrm>
          <a:prstGeom prst="rect">
            <a:avLst/>
          </a:prstGeom>
          <a:solidFill>
            <a:srgbClr val="FFFFFF"/>
          </a:solidFill>
          <a:ln w="20193">
            <a:solidFill>
              <a:srgbClr val="8E6F3E"/>
            </a:solidFill>
          </a:ln>
        </p:spPr>
        <p:txBody>
          <a:bodyPr wrap="square" lIns="109728" tIns="82296" rIns="109728" bIns="82296" anchor="ctr">
            <a:normAutofit/>
          </a:bodyPr>
          <a:lstStyle/>
          <a:p>
            <a:pPr algn="ctr">
              <a:buNone/>
            </a:pPr>
            <a:r>
              <a:rPr lang="en-US" sz="3100" b="1" i="0" dirty="0">
                <a:solidFill>
                  <a:srgbClr val="5C4826"/>
                </a:solidFill>
              </a:rPr>
              <a:t>DEGREES OF FREEDOM</a:t>
            </a:r>
          </a:p>
          <a:p>
            <a:pPr algn="ctr">
              <a:spcBef>
                <a:spcPts val="154"/>
              </a:spcBef>
              <a:buNone/>
            </a:pPr>
            <a:r>
              <a:rPr lang="en-US" sz="2700" b="0" i="0" dirty="0">
                <a:solidFill>
                  <a:srgbClr val="000000"/>
                </a:solidFill>
              </a:rPr>
              <a:t>what we leave open</a:t>
            </a:r>
          </a:p>
        </p:txBody>
      </p:sp>
      <p:cxnSp>
        <p:nvCxnSpPr>
          <p:cNvPr id="67" name="L67"/>
          <p:cNvCxnSpPr/>
          <p:nvPr/>
        </p:nvCxnSpPr>
        <p:spPr>
          <a:xfrm>
            <a:off x="2870403" y="4373176"/>
            <a:ext cx="0" cy="258470"/>
          </a:xfrm>
          <a:prstGeom prst="line">
            <a:avLst/>
          </a:prstGeom>
          <a:ln w="20193">
            <a:solidFill>
              <a:srgbClr val="8E6F3E"/>
            </a:solidFill>
            <a:tailEnd type="triangle" w="med" len="med"/>
          </a:ln>
        </p:spPr>
      </p:cxnSp>
      <p:cxnSp>
        <p:nvCxnSpPr>
          <p:cNvPr id="68" name="L68"/>
          <p:cNvCxnSpPr/>
          <p:nvPr/>
        </p:nvCxnSpPr>
        <p:spPr>
          <a:xfrm>
            <a:off x="6165901" y="4373176"/>
            <a:ext cx="0" cy="258470"/>
          </a:xfrm>
          <a:prstGeom prst="line">
            <a:avLst/>
          </a:prstGeom>
          <a:ln w="20193">
            <a:solidFill>
              <a:srgbClr val="8E6F3E"/>
            </a:solidFill>
            <a:tailEnd type="triangle" w="med" len="med"/>
          </a:ln>
        </p:spPr>
      </p:cxnSp>
      <p:sp>
        <p:nvSpPr>
          <p:cNvPr id="69" name="S69"/>
          <p:cNvSpPr/>
          <p:nvPr/>
        </p:nvSpPr>
        <p:spPr>
          <a:xfrm>
            <a:off x="1960372" y="4631646"/>
            <a:ext cx="5115560" cy="1269736"/>
          </a:xfrm>
          <a:prstGeom prst="roundRect">
            <a:avLst/>
          </a:prstGeom>
          <a:solidFill>
            <a:srgbClr val="FBF8F2"/>
          </a:solidFill>
          <a:ln w="20193">
            <a:solidFill>
              <a:srgbClr val="8E6F3E"/>
            </a:solidFill>
            <a:prstDash val="dash"/>
          </a:ln>
        </p:spPr>
        <p:txBody>
          <a:bodyPr wrap="square" lIns="109728" tIns="82296" rIns="109728" bIns="82296" anchor="t">
            <a:normAutofit/>
          </a:bodyPr>
          <a:lstStyle/>
          <a:p>
            <a:endParaRPr/>
          </a:p>
        </p:txBody>
      </p:sp>
      <p:sp>
        <p:nvSpPr>
          <p:cNvPr id="70" name="T70"/>
          <p:cNvSpPr txBox="1"/>
          <p:nvPr/>
        </p:nvSpPr>
        <p:spPr>
          <a:xfrm>
            <a:off x="2121916" y="4684956"/>
            <a:ext cx="4792472" cy="350012"/>
          </a:xfrm>
          <a:prstGeom prst="rect">
            <a:avLst/>
          </a:prstGeom>
          <a:noFill/>
          <a:ln>
            <a:noFill/>
          </a:ln>
        </p:spPr>
        <p:txBody>
          <a:bodyPr wrap="square" lIns="0" tIns="0" rIns="0" bIns="0" anchor="t">
            <a:normAutofit/>
          </a:bodyPr>
          <a:lstStyle/>
          <a:p>
            <a:pPr algn="l">
              <a:buNone/>
            </a:pPr>
            <a:r>
              <a:rPr lang="en-US" sz="2700" b="1" i="0" dirty="0">
                <a:solidFill>
                  <a:srgbClr val="8E6F3E"/>
                </a:solidFill>
              </a:rPr>
              <a:t>ACCEPTABLE REALIZATIONS</a:t>
            </a:r>
          </a:p>
        </p:txBody>
      </p:sp>
      <p:sp>
        <p:nvSpPr>
          <p:cNvPr id="71" name="S71"/>
          <p:cNvSpPr/>
          <p:nvPr/>
        </p:nvSpPr>
        <p:spPr>
          <a:xfrm>
            <a:off x="2296922" y="5180896"/>
            <a:ext cx="1346200" cy="592328"/>
          </a:xfrm>
          <a:prstGeom prst="rect">
            <a:avLst/>
          </a:prstGeom>
          <a:solidFill>
            <a:srgbClr val="F5F1E8"/>
          </a:solidFill>
          <a:ln w="13462">
            <a:solidFill>
              <a:srgbClr val="C9B991"/>
            </a:solidFill>
          </a:ln>
        </p:spPr>
        <p:txBody>
          <a:bodyPr wrap="square" lIns="109728" tIns="82296" rIns="109728" bIns="82296" anchor="ctr">
            <a:normAutofit lnSpcReduction="10000"/>
          </a:bodyPr>
          <a:lstStyle/>
          <a:p>
            <a:pPr algn="ctr">
              <a:buNone/>
            </a:pPr>
            <a:r>
              <a:rPr lang="en-US" sz="3300" b="1" i="0" dirty="0">
                <a:solidFill>
                  <a:srgbClr val="5C4826"/>
                </a:solidFill>
              </a:rPr>
              <a:t>A   ✓</a:t>
            </a:r>
          </a:p>
        </p:txBody>
      </p:sp>
      <p:sp>
        <p:nvSpPr>
          <p:cNvPr id="72" name="S72"/>
          <p:cNvSpPr/>
          <p:nvPr/>
        </p:nvSpPr>
        <p:spPr>
          <a:xfrm>
            <a:off x="3845052" y="5180896"/>
            <a:ext cx="1346200" cy="592328"/>
          </a:xfrm>
          <a:prstGeom prst="rect">
            <a:avLst/>
          </a:prstGeom>
          <a:solidFill>
            <a:srgbClr val="F5F1E8"/>
          </a:solidFill>
          <a:ln w="13462">
            <a:solidFill>
              <a:srgbClr val="C9B991"/>
            </a:solidFill>
          </a:ln>
        </p:spPr>
        <p:txBody>
          <a:bodyPr wrap="square" lIns="109728" tIns="82296" rIns="109728" bIns="82296" anchor="ctr">
            <a:normAutofit lnSpcReduction="10000"/>
          </a:bodyPr>
          <a:lstStyle/>
          <a:p>
            <a:pPr algn="ctr">
              <a:buNone/>
            </a:pPr>
            <a:r>
              <a:rPr lang="en-US" sz="3300" b="1" i="0" dirty="0">
                <a:solidFill>
                  <a:srgbClr val="5C4826"/>
                </a:solidFill>
              </a:rPr>
              <a:t>B   ✓</a:t>
            </a:r>
          </a:p>
        </p:txBody>
      </p:sp>
      <p:sp>
        <p:nvSpPr>
          <p:cNvPr id="73" name="S73"/>
          <p:cNvSpPr/>
          <p:nvPr/>
        </p:nvSpPr>
        <p:spPr>
          <a:xfrm>
            <a:off x="5393182" y="5180896"/>
            <a:ext cx="1346200" cy="592328"/>
          </a:xfrm>
          <a:prstGeom prst="rect">
            <a:avLst/>
          </a:prstGeom>
          <a:solidFill>
            <a:srgbClr val="F5F1E8"/>
          </a:solidFill>
          <a:ln w="13462">
            <a:solidFill>
              <a:srgbClr val="C9B991"/>
            </a:solidFill>
          </a:ln>
        </p:spPr>
        <p:txBody>
          <a:bodyPr wrap="square" lIns="109728" tIns="82296" rIns="109728" bIns="82296" anchor="ctr">
            <a:normAutofit lnSpcReduction="10000"/>
          </a:bodyPr>
          <a:lstStyle/>
          <a:p>
            <a:pPr algn="ctr">
              <a:buNone/>
            </a:pPr>
            <a:r>
              <a:rPr lang="en-US" sz="3300" b="1" i="0" dirty="0">
                <a:solidFill>
                  <a:srgbClr val="5C4826"/>
                </a:solidFill>
              </a:rPr>
              <a:t>C   ✓</a:t>
            </a:r>
          </a:p>
        </p:txBody>
      </p:sp>
      <p:sp>
        <p:nvSpPr>
          <p:cNvPr id="80" name="S80"/>
          <p:cNvSpPr/>
          <p:nvPr/>
        </p:nvSpPr>
        <p:spPr>
          <a:xfrm>
            <a:off x="7695184" y="5180896"/>
            <a:ext cx="1211580" cy="592328"/>
          </a:xfrm>
          <a:prstGeom prst="rect">
            <a:avLst/>
          </a:prstGeom>
          <a:solidFill>
            <a:srgbClr val="FFFFFF"/>
          </a:solidFill>
          <a:ln w="20193">
            <a:solidFill>
              <a:srgbClr val="555960"/>
            </a:solidFill>
            <a:prstDash val="dash"/>
          </a:ln>
        </p:spPr>
        <p:txBody>
          <a:bodyPr wrap="square" lIns="109728" tIns="82296" rIns="109728" bIns="82296" anchor="ctr">
            <a:normAutofit lnSpcReduction="10000"/>
          </a:bodyPr>
          <a:lstStyle/>
          <a:p>
            <a:pPr algn="ctr">
              <a:buNone/>
            </a:pPr>
            <a:r>
              <a:rPr lang="en-US" sz="3300" b="1" i="0" dirty="0">
                <a:solidFill>
                  <a:srgbClr val="555960"/>
                </a:solidFill>
              </a:rPr>
              <a:t>D   ✗</a:t>
            </a:r>
          </a:p>
        </p:txBody>
      </p:sp>
      <p:sp>
        <p:nvSpPr>
          <p:cNvPr id="81" name="T81"/>
          <p:cNvSpPr txBox="1"/>
          <p:nvPr/>
        </p:nvSpPr>
        <p:spPr>
          <a:xfrm>
            <a:off x="7230000" y="5790000"/>
            <a:ext cx="1700000" cy="280000"/>
          </a:xfrm>
          <a:prstGeom prst="rect">
            <a:avLst/>
          </a:prstGeom>
          <a:noFill/>
          <a:ln>
            <a:noFill/>
          </a:ln>
        </p:spPr>
        <p:txBody>
          <a:bodyPr wrap="square" lIns="0" tIns="0" rIns="0" bIns="0" anchor="t">
            <a:normAutofit/>
          </a:bodyPr>
          <a:lstStyle/>
          <a:p>
            <a:pPr algn="ctr">
              <a:buNone/>
            </a:pPr>
            <a:r>
              <a:rPr lang="en-US" sz="2200" b="0" i="0" dirty="0">
                <a:solidFill>
                  <a:srgbClr val="555960"/>
                </a:solidFill>
              </a:rPr>
              <a:t>not acceptable</a:t>
            </a:r>
          </a:p>
        </p:txBody>
      </p:sp>
      <p:sp>
        <p:nvSpPr>
          <p:cNvPr id="90" name="T90"/>
          <p:cNvSpPr txBox="1"/>
          <p:nvPr/>
        </p:nvSpPr>
        <p:spPr>
          <a:xfrm>
            <a:off x="-32004" y="6080000"/>
            <a:ext cx="9073388" cy="460000"/>
          </a:xfrm>
          <a:prstGeom prst="rect">
            <a:avLst/>
          </a:prstGeom>
          <a:noFill/>
          <a:ln>
            <a:noFill/>
          </a:ln>
        </p:spPr>
        <p:txBody>
          <a:bodyPr wrap="square" lIns="0" tIns="0" rIns="0" bIns="0" anchor="t">
            <a:normAutofit/>
          </a:bodyPr>
          <a:lstStyle/>
          <a:p>
            <a:pPr algn="ctr">
              <a:buNone/>
            </a:pPr>
            <a:r>
              <a:rPr lang="en-US" sz="2800" b="1" i="0" dirty="0">
                <a:solidFill>
                  <a:srgbClr val="5C4826"/>
                </a:solidFill>
              </a:rPr>
              <a:t>We pick one. But how should this realization be organized?</a:t>
            </a:r>
          </a:p>
        </p:txBody>
      </p:sp>
      <p:sp>
        <p:nvSpPr>
          <p:cNvPr id="100" name="SelectionRing"/>
          <p:cNvSpPr/>
          <p:nvPr/>
        </p:nvSpPr>
        <p:spPr>
          <a:xfrm>
            <a:off x="3737356" y="5073200"/>
            <a:ext cx="1561592" cy="807720"/>
          </a:xfrm>
          <a:prstGeom prst="roundRect">
            <a:avLst/>
          </a:prstGeom>
          <a:noFill/>
          <a:ln w="40386">
            <a:solidFill>
              <a:srgbClr val="5C4826"/>
            </a:solidFill>
          </a:ln>
        </p:spPr>
        <p:txBody>
          <a:bodyPr wrap="square" lIns="0" tIns="0" rIns="0" bIns="0" anchor="ctr">
            <a:normAutofit/>
          </a:bodyPr>
          <a:lstStyle/>
          <a:p>
            <a:endParaRPr/>
          </a:p>
        </p:txBody>
      </p:sp>
    </p:spTree>
    <p:extLst>
      <p:ext uri="{BB962C8B-B14F-4D97-AF65-F5344CB8AC3E}">
        <p14:creationId xmlns:p14="http://schemas.microsoft.com/office/powerpoint/2010/main" val="33745772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3"/>
                                        </p:tgtEl>
                                        <p:attrNameLst>
                                          <p:attrName>style.visibility</p:attrName>
                                        </p:attrNameLst>
                                      </p:cBhvr>
                                      <p:to>
                                        <p:strVal val="visible"/>
                                      </p:to>
                                    </p:set>
                                    <p:animEffect transition="in" filter="fade">
                                      <p:cBhvr>
                                        <p:cTn id="7" dur="400"/>
                                        <p:tgtEl>
                                          <p:spTgt spid="63"/>
                                        </p:tgtEl>
                                      </p:cBhvr>
                                    </p:animEffect>
                                  </p:childTnLst>
                                </p:cTn>
                              </p:par>
                              <p:par>
                                <p:cTn id="8" presetID="10" presetClass="entr" presetSubtype="0" fill="hold" nodeType="withEffect">
                                  <p:stCondLst>
                                    <p:cond delay="0"/>
                                  </p:stCondLst>
                                  <p:childTnLst>
                                    <p:set>
                                      <p:cBhvr>
                                        <p:cTn id="9" dur="1" fill="hold">
                                          <p:stCondLst>
                                            <p:cond delay="0"/>
                                          </p:stCondLst>
                                        </p:cTn>
                                        <p:tgtEl>
                                          <p:spTgt spid="64"/>
                                        </p:tgtEl>
                                        <p:attrNameLst>
                                          <p:attrName>style.visibility</p:attrName>
                                        </p:attrNameLst>
                                      </p:cBhvr>
                                      <p:to>
                                        <p:strVal val="visible"/>
                                      </p:to>
                                    </p:set>
                                    <p:animEffect transition="in" filter="fade">
                                      <p:cBhvr>
                                        <p:cTn id="10" dur="400"/>
                                        <p:tgtEl>
                                          <p:spTgt spid="64"/>
                                        </p:tgtEl>
                                      </p:cBhvr>
                                    </p:animEffect>
                                  </p:childTnLst>
                                </p:cTn>
                              </p:par>
                              <p:par>
                                <p:cTn id="11" presetID="10" presetClass="entr" presetSubtype="0" fill="hold" nodeType="withEffect">
                                  <p:stCondLst>
                                    <p:cond delay="0"/>
                                  </p:stCondLst>
                                  <p:childTnLst>
                                    <p:set>
                                      <p:cBhvr>
                                        <p:cTn id="12" dur="1" fill="hold">
                                          <p:stCondLst>
                                            <p:cond delay="0"/>
                                          </p:stCondLst>
                                        </p:cTn>
                                        <p:tgtEl>
                                          <p:spTgt spid="65"/>
                                        </p:tgtEl>
                                        <p:attrNameLst>
                                          <p:attrName>style.visibility</p:attrName>
                                        </p:attrNameLst>
                                      </p:cBhvr>
                                      <p:to>
                                        <p:strVal val="visible"/>
                                      </p:to>
                                    </p:set>
                                    <p:animEffect transition="in" filter="fade">
                                      <p:cBhvr>
                                        <p:cTn id="13" dur="400"/>
                                        <p:tgtEl>
                                          <p:spTgt spid="65"/>
                                        </p:tgtEl>
                                      </p:cBhvr>
                                    </p:animEffect>
                                  </p:childTnLst>
                                </p:cTn>
                              </p:par>
                              <p:par>
                                <p:cTn id="14" presetID="10" presetClass="entr" presetSubtype="0" fill="hold" nodeType="withEffect">
                                  <p:stCondLst>
                                    <p:cond delay="0"/>
                                  </p:stCondLst>
                                  <p:childTnLst>
                                    <p:set>
                                      <p:cBhvr>
                                        <p:cTn id="15" dur="1" fill="hold">
                                          <p:stCondLst>
                                            <p:cond delay="0"/>
                                          </p:stCondLst>
                                        </p:cTn>
                                        <p:tgtEl>
                                          <p:spTgt spid="66"/>
                                        </p:tgtEl>
                                        <p:attrNameLst>
                                          <p:attrName>style.visibility</p:attrName>
                                        </p:attrNameLst>
                                      </p:cBhvr>
                                      <p:to>
                                        <p:strVal val="visible"/>
                                      </p:to>
                                    </p:set>
                                    <p:animEffect transition="in" filter="fade">
                                      <p:cBhvr>
                                        <p:cTn id="16" dur="400"/>
                                        <p:tgtEl>
                                          <p:spTgt spid="66"/>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67"/>
                                        </p:tgtEl>
                                        <p:attrNameLst>
                                          <p:attrName>style.visibility</p:attrName>
                                        </p:attrNameLst>
                                      </p:cBhvr>
                                      <p:to>
                                        <p:strVal val="visible"/>
                                      </p:to>
                                    </p:set>
                                    <p:animEffect transition="in" filter="fade">
                                      <p:cBhvr>
                                        <p:cTn id="21" dur="400"/>
                                        <p:tgtEl>
                                          <p:spTgt spid="67"/>
                                        </p:tgtEl>
                                      </p:cBhvr>
                                    </p:animEffect>
                                  </p:childTnLst>
                                </p:cTn>
                              </p:par>
                              <p:par>
                                <p:cTn id="22" presetID="10" presetClass="entr" presetSubtype="0" fill="hold" nodeType="withEffect">
                                  <p:stCondLst>
                                    <p:cond delay="0"/>
                                  </p:stCondLst>
                                  <p:childTnLst>
                                    <p:set>
                                      <p:cBhvr>
                                        <p:cTn id="23" dur="1" fill="hold">
                                          <p:stCondLst>
                                            <p:cond delay="0"/>
                                          </p:stCondLst>
                                        </p:cTn>
                                        <p:tgtEl>
                                          <p:spTgt spid="68"/>
                                        </p:tgtEl>
                                        <p:attrNameLst>
                                          <p:attrName>style.visibility</p:attrName>
                                        </p:attrNameLst>
                                      </p:cBhvr>
                                      <p:to>
                                        <p:strVal val="visible"/>
                                      </p:to>
                                    </p:set>
                                    <p:animEffect transition="in" filter="fade">
                                      <p:cBhvr>
                                        <p:cTn id="24" dur="400"/>
                                        <p:tgtEl>
                                          <p:spTgt spid="68"/>
                                        </p:tgtEl>
                                      </p:cBhvr>
                                    </p:animEffect>
                                  </p:childTnLst>
                                </p:cTn>
                              </p:par>
                              <p:par>
                                <p:cTn id="25" presetID="10" presetClass="entr" presetSubtype="0" fill="hold" nodeType="withEffect">
                                  <p:stCondLst>
                                    <p:cond delay="0"/>
                                  </p:stCondLst>
                                  <p:childTnLst>
                                    <p:set>
                                      <p:cBhvr>
                                        <p:cTn id="26" dur="1" fill="hold">
                                          <p:stCondLst>
                                            <p:cond delay="0"/>
                                          </p:stCondLst>
                                        </p:cTn>
                                        <p:tgtEl>
                                          <p:spTgt spid="69"/>
                                        </p:tgtEl>
                                        <p:attrNameLst>
                                          <p:attrName>style.visibility</p:attrName>
                                        </p:attrNameLst>
                                      </p:cBhvr>
                                      <p:to>
                                        <p:strVal val="visible"/>
                                      </p:to>
                                    </p:set>
                                    <p:animEffect transition="in" filter="fade">
                                      <p:cBhvr>
                                        <p:cTn id="27" dur="400"/>
                                        <p:tgtEl>
                                          <p:spTgt spid="69"/>
                                        </p:tgtEl>
                                      </p:cBhvr>
                                    </p:animEffect>
                                  </p:childTnLst>
                                </p:cTn>
                              </p:par>
                              <p:par>
                                <p:cTn id="28" presetID="10" presetClass="entr" presetSubtype="0" fill="hold" nodeType="withEffect">
                                  <p:stCondLst>
                                    <p:cond delay="0"/>
                                  </p:stCondLst>
                                  <p:childTnLst>
                                    <p:set>
                                      <p:cBhvr>
                                        <p:cTn id="29" dur="1" fill="hold">
                                          <p:stCondLst>
                                            <p:cond delay="0"/>
                                          </p:stCondLst>
                                        </p:cTn>
                                        <p:tgtEl>
                                          <p:spTgt spid="70"/>
                                        </p:tgtEl>
                                        <p:attrNameLst>
                                          <p:attrName>style.visibility</p:attrName>
                                        </p:attrNameLst>
                                      </p:cBhvr>
                                      <p:to>
                                        <p:strVal val="visible"/>
                                      </p:to>
                                    </p:set>
                                    <p:animEffect transition="in" filter="fade">
                                      <p:cBhvr>
                                        <p:cTn id="30" dur="400"/>
                                        <p:tgtEl>
                                          <p:spTgt spid="70"/>
                                        </p:tgtEl>
                                      </p:cBhvr>
                                    </p:animEffect>
                                  </p:childTnLst>
                                </p:cTn>
                              </p:par>
                              <p:par>
                                <p:cTn id="31" presetID="10" presetClass="entr" presetSubtype="0" fill="hold" nodeType="withEffect">
                                  <p:stCondLst>
                                    <p:cond delay="0"/>
                                  </p:stCondLst>
                                  <p:childTnLst>
                                    <p:set>
                                      <p:cBhvr>
                                        <p:cTn id="32" dur="1" fill="hold">
                                          <p:stCondLst>
                                            <p:cond delay="0"/>
                                          </p:stCondLst>
                                        </p:cTn>
                                        <p:tgtEl>
                                          <p:spTgt spid="71"/>
                                        </p:tgtEl>
                                        <p:attrNameLst>
                                          <p:attrName>style.visibility</p:attrName>
                                        </p:attrNameLst>
                                      </p:cBhvr>
                                      <p:to>
                                        <p:strVal val="visible"/>
                                      </p:to>
                                    </p:set>
                                    <p:animEffect transition="in" filter="fade">
                                      <p:cBhvr>
                                        <p:cTn id="33" dur="400"/>
                                        <p:tgtEl>
                                          <p:spTgt spid="71"/>
                                        </p:tgtEl>
                                      </p:cBhvr>
                                    </p:animEffect>
                                  </p:childTnLst>
                                </p:cTn>
                              </p:par>
                              <p:par>
                                <p:cTn id="34" presetID="10" presetClass="entr" presetSubtype="0" fill="hold" nodeType="withEffect">
                                  <p:stCondLst>
                                    <p:cond delay="0"/>
                                  </p:stCondLst>
                                  <p:childTnLst>
                                    <p:set>
                                      <p:cBhvr>
                                        <p:cTn id="35" dur="1" fill="hold">
                                          <p:stCondLst>
                                            <p:cond delay="0"/>
                                          </p:stCondLst>
                                        </p:cTn>
                                        <p:tgtEl>
                                          <p:spTgt spid="72"/>
                                        </p:tgtEl>
                                        <p:attrNameLst>
                                          <p:attrName>style.visibility</p:attrName>
                                        </p:attrNameLst>
                                      </p:cBhvr>
                                      <p:to>
                                        <p:strVal val="visible"/>
                                      </p:to>
                                    </p:set>
                                    <p:animEffect transition="in" filter="fade">
                                      <p:cBhvr>
                                        <p:cTn id="36" dur="400"/>
                                        <p:tgtEl>
                                          <p:spTgt spid="72"/>
                                        </p:tgtEl>
                                      </p:cBhvr>
                                    </p:animEffect>
                                  </p:childTnLst>
                                </p:cTn>
                              </p:par>
                              <p:par>
                                <p:cTn id="37" presetID="10" presetClass="entr" presetSubtype="0" fill="hold" nodeType="withEffect">
                                  <p:stCondLst>
                                    <p:cond delay="0"/>
                                  </p:stCondLst>
                                  <p:childTnLst>
                                    <p:set>
                                      <p:cBhvr>
                                        <p:cTn id="38" dur="1" fill="hold">
                                          <p:stCondLst>
                                            <p:cond delay="0"/>
                                          </p:stCondLst>
                                        </p:cTn>
                                        <p:tgtEl>
                                          <p:spTgt spid="73"/>
                                        </p:tgtEl>
                                        <p:attrNameLst>
                                          <p:attrName>style.visibility</p:attrName>
                                        </p:attrNameLst>
                                      </p:cBhvr>
                                      <p:to>
                                        <p:strVal val="visible"/>
                                      </p:to>
                                    </p:set>
                                    <p:animEffect transition="in" filter="fade">
                                      <p:cBhvr>
                                        <p:cTn id="39" dur="400"/>
                                        <p:tgtEl>
                                          <p:spTgt spid="73"/>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80"/>
                                        </p:tgtEl>
                                        <p:attrNameLst>
                                          <p:attrName>style.visibility</p:attrName>
                                        </p:attrNameLst>
                                      </p:cBhvr>
                                      <p:to>
                                        <p:strVal val="visible"/>
                                      </p:to>
                                    </p:set>
                                    <p:animEffect transition="in" filter="fade">
                                      <p:cBhvr>
                                        <p:cTn id="44" dur="400"/>
                                        <p:tgtEl>
                                          <p:spTgt spid="80"/>
                                        </p:tgtEl>
                                      </p:cBhvr>
                                    </p:animEffect>
                                  </p:childTnLst>
                                </p:cTn>
                              </p:par>
                              <p:par>
                                <p:cTn id="45" presetID="10" presetClass="entr" presetSubtype="0" fill="hold" nodeType="withEffect">
                                  <p:stCondLst>
                                    <p:cond delay="0"/>
                                  </p:stCondLst>
                                  <p:childTnLst>
                                    <p:set>
                                      <p:cBhvr>
                                        <p:cTn id="46" dur="1" fill="hold">
                                          <p:stCondLst>
                                            <p:cond delay="0"/>
                                          </p:stCondLst>
                                        </p:cTn>
                                        <p:tgtEl>
                                          <p:spTgt spid="81"/>
                                        </p:tgtEl>
                                        <p:attrNameLst>
                                          <p:attrName>style.visibility</p:attrName>
                                        </p:attrNameLst>
                                      </p:cBhvr>
                                      <p:to>
                                        <p:strVal val="visible"/>
                                      </p:to>
                                    </p:set>
                                    <p:animEffect transition="in" filter="fade">
                                      <p:cBhvr>
                                        <p:cTn id="47" dur="400"/>
                                        <p:tgtEl>
                                          <p:spTgt spid="81"/>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100"/>
                                        </p:tgtEl>
                                        <p:attrNameLst>
                                          <p:attrName>style.visibility</p:attrName>
                                        </p:attrNameLst>
                                      </p:cBhvr>
                                      <p:to>
                                        <p:strVal val="visible"/>
                                      </p:to>
                                    </p:set>
                                    <p:animEffect transition="in" filter="fade">
                                      <p:cBhvr>
                                        <p:cTn id="52" dur="400"/>
                                        <p:tgtEl>
                                          <p:spTgt spid="100"/>
                                        </p:tgtEl>
                                      </p:cBhvr>
                                    </p:animEffect>
                                  </p:childTnLst>
                                </p:cTn>
                              </p:par>
                              <p:par>
                                <p:cTn id="53" presetID="10" presetClass="entr" presetSubtype="0" fill="hold" nodeType="withEffect">
                                  <p:stCondLst>
                                    <p:cond delay="0"/>
                                  </p:stCondLst>
                                  <p:childTnLst>
                                    <p:set>
                                      <p:cBhvr>
                                        <p:cTn id="54" dur="1" fill="hold">
                                          <p:stCondLst>
                                            <p:cond delay="0"/>
                                          </p:stCondLst>
                                        </p:cTn>
                                        <p:tgtEl>
                                          <p:spTgt spid="90"/>
                                        </p:tgtEl>
                                        <p:attrNameLst>
                                          <p:attrName>style.visibility</p:attrName>
                                        </p:attrNameLst>
                                      </p:cBhvr>
                                      <p:to>
                                        <p:strVal val="visible"/>
                                      </p:to>
                                    </p:set>
                                    <p:animEffect transition="in" filter="fade">
                                      <p:cBhvr>
                                        <p:cTn id="55" dur="400"/>
                                        <p:tgtEl>
                                          <p:spTgt spid="9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8515</TotalTime>
  <Words>8606</Words>
  <Application>Microsoft Macintosh PowerPoint</Application>
  <PresentationFormat>On-screen Show (4:3)</PresentationFormat>
  <Paragraphs>726</Paragraphs>
  <Slides>31</Slides>
  <Notes>31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31</vt:i4>
      </vt:variant>
    </vt:vector>
  </HeadingPairs>
  <TitlesOfParts>
    <vt:vector size="38" baseType="lpstr">
      <vt:lpstr>Times</vt:lpstr>
      <vt:lpstr>Arial</vt:lpstr>
      <vt:lpstr>Calibri</vt:lpstr>
      <vt:lpstr>Consolas</vt:lpstr>
      <vt:lpstr>Times New Roman</vt:lpstr>
      <vt:lpstr>Wingdings</vt:lpstr>
      <vt:lpstr>Purdue1</vt:lpstr>
      <vt:lpstr>ECE 30861/46100: Software Engineering</vt:lpstr>
      <vt:lpstr>From requirements to acceptable realizations</vt:lpstr>
      <vt:lpstr>Specification</vt:lpstr>
      <vt:lpstr>Running example: Sleep Advisor</vt:lpstr>
      <vt:lpstr>We have requirements. Now what?</vt:lpstr>
      <vt:lpstr>Requirements ≠ Specification ≠ Machine instr.</vt:lpstr>
      <vt:lpstr>A specification connects the machine to the requirement</vt:lpstr>
      <vt:lpstr>How would you constrain the machine (implementation)?</vt:lpstr>
      <vt:lpstr>A real software specification</vt:lpstr>
      <vt:lpstr>A real software specification: the A-7E aircraft</vt:lpstr>
      <vt:lpstr>Specifies behavior, not the implementation</vt:lpstr>
      <vt:lpstr>Timing requirements: Responsiveness of functions</vt:lpstr>
      <vt:lpstr>The system must work in useful subsets</vt:lpstr>
      <vt:lpstr>The specification acknowledges what may change</vt:lpstr>
      <vt:lpstr>One system, many views</vt:lpstr>
      <vt:lpstr>A model is a purposeful view</vt:lpstr>
      <vt:lpstr>Representations make different properties expressible</vt:lpstr>
      <vt:lpstr>State models expose allowable behavior</vt:lpstr>
      <vt:lpstr>Sequence and activity models expose ordering</vt:lpstr>
      <vt:lpstr>Schemas expose permitted structure</vt:lpstr>
      <vt:lpstr>Three views of one system</vt:lpstr>
      <vt:lpstr>Specification and degrees of freedom</vt:lpstr>
      <vt:lpstr>Specification bounds a realization space</vt:lpstr>
      <vt:lpstr>Not constrained is not the same as free</vt:lpstr>
      <vt:lpstr>Classify each: Unknown, tacit, or free?</vt:lpstr>
      <vt:lpstr>Tacit requirements and agents (or the intern)</vt:lpstr>
      <vt:lpstr>Learning specifications</vt:lpstr>
      <vt:lpstr>Remember, software is unusually changeable</vt:lpstr>
      <vt:lpstr>Specification through iteration</vt:lpstr>
      <vt:lpstr>Specify what matters</vt:lpstr>
      <vt:lpstr>Requirements, specification, architecture, design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Steve France</cp:lastModifiedBy>
  <cp:revision>333</cp:revision>
  <dcterms:created xsi:type="dcterms:W3CDTF">2020-02-21T23:00:33Z</dcterms:created>
  <dcterms:modified xsi:type="dcterms:W3CDTF">2026-09-10T14:18:17Z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