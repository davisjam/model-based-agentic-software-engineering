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517" r:id="rId2"/>
    <p:sldId id="738" r:id="rId3"/>
    <p:sldId id="762" r:id="rId4"/>
    <p:sldId id="761" r:id="rId5"/>
    <p:sldId id="751" r:id="rId6"/>
    <p:sldId id="763" r:id="rId36"/>
    <p:sldId id="744" r:id="rId7"/>
    <p:sldId id="764" r:id="rId37"/>
    <p:sldId id="651" r:id="rId8"/>
    <p:sldId id="746" r:id="rId9"/>
    <p:sldId id="747" r:id="rId10"/>
    <p:sldId id="748" r:id="rId11"/>
    <p:sldId id="749" r:id="rId12"/>
    <p:sldId id="750" r:id="rId13"/>
    <p:sldId id="701" r:id="rId14"/>
    <p:sldId id="752" r:id="rId15"/>
    <p:sldId id="731" r:id="rId16"/>
    <p:sldId id="712" r:id="rId17"/>
    <p:sldId id="713" r:id="rId18"/>
    <p:sldId id="735" r:id="rId19"/>
    <p:sldId id="753" r:id="rId20"/>
    <p:sldId id="720" r:id="rId21"/>
    <p:sldId id="754" r:id="rId22"/>
    <p:sldId id="755" r:id="rId23"/>
    <p:sldId id="638" r:id="rId24"/>
    <p:sldId id="756" r:id="rId25"/>
    <p:sldId id="740" r:id="rId26"/>
    <p:sldId id="759" r:id="rId27"/>
    <p:sldId id="757" r:id="rId28"/>
    <p:sldId id="739" r:id="rId29"/>
    <p:sldId id="741"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00" autoAdjust="0"/>
    <p:restoredTop sz="56164"/>
  </p:normalViewPr>
  <p:slideViewPr>
    <p:cSldViewPr snapToGrid="0" snapToObjects="1">
      <p:cViewPr varScale="1">
        <p:scale>
          <a:sx n="64" d="100"/>
          <a:sy n="64" d="100"/>
        </p:scale>
        <p:origin x="188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6" Type="http://schemas.openxmlformats.org/officeDocument/2006/relationships/slide" Target="slides/slide30.xml"/><Relationship Id="rId35" Type="http://schemas.openxmlformats.org/officeDocument/2006/relationships/tableStyles" Target="tableStyles.xml"/><Relationship Id="rId8" Type="http://schemas.openxmlformats.org/officeDocument/2006/relationships/slide" Target="slides/slide7.xml"/><Relationship Id="rId37"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Relationships xmlns="http://schemas.openxmlformats.org/package/2006/relationships">
  <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31.xml.rels><?xml version="1.0" encoding="utf-8"?>
<Relationships xmlns="http://schemas.openxmlformats.org/package/2006/relationships">
  <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30 seconds — Frame the move from what is acceptable to how one acceptable system should be organized.</a:t>
            </a:r>
          </a:p>
          <a:p>
            <a:endParaRPr dirty="0"/>
          </a:p>
          <a:p>
            <a:r>
              <a:rPr dirty="0"/>
              <a:t>- Yesterday: Specification — which realizations we are willing to accept. Today: pick one and organize it.</a:t>
            </a:r>
          </a:p>
          <a:p>
            <a:endParaRPr dirty="0"/>
          </a:p>
          <a:p>
            <a:r>
              <a:rPr dirty="0"/>
              <a:t>- Do not define architecture here. The definition lands after the opening problem has made the need for architecture concrete.</a:t>
            </a:r>
          </a:p>
          <a:p>
            <a:endParaRPr dirty="0"/>
          </a:p>
          <a:p>
            <a:r>
              <a:rPr dirty="0"/>
              <a:t>=====</a:t>
            </a:r>
          </a:p>
          <a:p>
            <a:r>
              <a:rPr dirty="0"/>
              <a:t>Last time we asked what must be true of an acceptable system, and we ended with a space of acceptable realizations. Today we take the next step: we choose one of those systems and ask how it should be organized.</a:t>
            </a:r>
          </a:p>
          <a:p>
            <a:endParaRPr dirty="0"/>
          </a:p>
          <a:p>
            <a:r>
              <a:rPr dirty="0"/>
              <a:t>That word — organized — is doing a lot of work. Before I define it, let me show you why we cannot avoid 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the problem that forces architecture: the separate views must coexist in one built machine.</a:t>
            </a:r>
          </a:p>
          <a:p>
            <a:endParaRPr dirty="0"/>
          </a:p>
          <a:p>
            <a:r>
              <a:rPr dirty="0"/>
              <a:t>- Explicit callback: yesterday we deliberately kept state, activity, schema, and timing as separate views. That separation was a modeling convenience, not a property of the product.</a:t>
            </a:r>
          </a:p>
          <a:p>
            <a:endParaRPr dirty="0"/>
          </a:p>
          <a:p>
            <a:r>
              <a:rPr dirty="0"/>
              <a:t>- Four quick clicks for the cards — do not re-teach the views; name each in a phrase and move.</a:t>
            </a:r>
          </a:p>
          <a:p>
            <a:endParaRPr dirty="0"/>
          </a:p>
          <a:p>
            <a:r>
              <a:rPr dirty="0"/>
              <a:t>- The ONE MACHINE click is the point; an optional final click draws the connectors. Let ONE MACHINE sit for a beat before speaking over it.</a:t>
            </a:r>
          </a:p>
          <a:p>
            <a:endParaRPr dirty="0"/>
          </a:p>
          <a:p>
            <a:r>
              <a:rPr dirty="0"/>
              <a:t>=====</a:t>
            </a:r>
          </a:p>
          <a:p>
            <a:r>
              <a:rPr dirty="0"/>
              <a:t>Yesterday we were careful to keep our models apart. One view for state.</a:t>
            </a:r>
          </a:p>
          <a:p>
            <a:endParaRPr dirty="0"/>
          </a:p>
          <a:p>
            <a:r>
              <a:rPr dirty="0"/>
              <a:t>ANIMATE</a:t>
            </a:r>
          </a:p>
          <a:p>
            <a:endParaRPr dirty="0"/>
          </a:p>
          <a:p>
            <a:r>
              <a:rPr dirty="0"/>
              <a:t>One for activity — collect, then classify.</a:t>
            </a:r>
          </a:p>
          <a:p>
            <a:endParaRPr dirty="0"/>
          </a:p>
          <a:p>
            <a:r>
              <a:rPr dirty="0"/>
              <a:t>ANIMATE</a:t>
            </a:r>
          </a:p>
          <a:p>
            <a:endParaRPr dirty="0"/>
          </a:p>
          <a:p>
            <a:r>
              <a:rPr dirty="0"/>
              <a:t>One for the data — the night summary, the advice.</a:t>
            </a:r>
          </a:p>
          <a:p>
            <a:endParaRPr dirty="0"/>
          </a:p>
          <a:p>
            <a:r>
              <a:rPr dirty="0"/>
              <a:t>ANIMATE</a:t>
            </a:r>
          </a:p>
          <a:p>
            <a:endParaRPr dirty="0"/>
          </a:p>
          <a:p>
            <a:r>
              <a:rPr dirty="0"/>
              <a:t>And one for timing and the other obligations — sixty seconds, privacy, seven nights.</a:t>
            </a:r>
          </a:p>
          <a:p>
            <a:endParaRPr dirty="0"/>
          </a:p>
          <a:p>
            <a:r>
              <a:rPr dirty="0"/>
              <a:t>ANIMATE</a:t>
            </a:r>
          </a:p>
          <a:p>
            <a:endParaRPr dirty="0"/>
          </a:p>
          <a:p>
            <a:r>
              <a:rPr dirty="0"/>
              <a:t>Separation was the modeling trick. Each representation answered one kind of question well.</a:t>
            </a:r>
          </a:p>
          <a:p>
            <a:endParaRPr dirty="0"/>
          </a:p>
          <a:p>
            <a:r>
              <a:rPr dirty="0"/>
              <a:t>ANIMATE</a:t>
            </a:r>
          </a:p>
          <a:p>
            <a:endParaRPr dirty="0"/>
          </a:p>
          <a:p>
            <a:r>
              <a:rPr dirty="0"/>
              <a:t>But nobody ships four views.</a:t>
            </a:r>
          </a:p>
          <a:p>
            <a:endParaRPr dirty="0"/>
          </a:p>
          <a:p>
            <a:r>
              <a:rPr dirty="0"/>
              <a:t>ANIMATE</a:t>
            </a:r>
          </a:p>
          <a:p>
            <a:endParaRPr dirty="0"/>
          </a:p>
          <a:p>
            <a:r>
              <a:rPr dirty="0"/>
              <a:t>We have to build one machine, and in that machine every one of these concerns lives together — the state transitions run on the same processors that meet the timing budget, the schema lives in the same store the privacy rule governs. Something has to say how they coexist. That something needs a name and a definition.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Name the first section: we need a working definition before we can choose.</a:t>
            </a:r>
          </a:p>
          <a:p>
            <a:endParaRPr dirty="0"/>
          </a:p>
          <a:p>
            <a:r>
              <a:rPr dirty="0"/>
              <a:t>- Do not pause for discussion.</a:t>
            </a:r>
          </a:p>
          <a:p>
            <a:endParaRPr dirty="0"/>
          </a:p>
          <a:p>
            <a:r>
              <a:rPr dirty="0"/>
              <a:t>=====</a:t>
            </a:r>
          </a:p>
          <a:p>
            <a:r>
              <a:rPr dirty="0"/>
              <a:t>Section one. The premise said the specification leaves many machines possible and we must build one. So: what is architecture? How should one acceptable system be organized — what are its parts, where are the boundaries, how do the parts interact? That vocabulary is this section’s job.</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Pick up yesterday's acceptable-realizations argument and deliver the definition of architecture orally.</a:t>
            </a:r>
          </a:p>
          <a:p>
            <a:endParaRPr lang="en-US" dirty="0"/>
          </a:p>
          <a:p>
            <a:r>
              <a:rPr lang="en-US" dirty="0"/>
              <a:t>- The figure is yesterday's model extended; students should recognize it instantly. Walk it briskly until the selection ring.</a:t>
            </a:r>
          </a:p>
          <a:p>
            <a:endParaRPr lang="en-US" dirty="0"/>
          </a:p>
          <a:p>
            <a:r>
              <a:rPr lang="en-US" dirty="0"/>
              <a:t>- DEFINITION (deliver orally, exact phrasing): Architecture describes the consequential organization of the system: its major parts, their responsibilities, their interfaces, and the rules governing their interaction.</a:t>
            </a:r>
          </a:p>
          <a:p>
            <a:endParaRPr lang="en-US" dirty="0"/>
          </a:p>
          <a:p>
            <a:r>
              <a:rPr lang="en-US" dirty="0"/>
              <a:t>- Lean on 'consequential' — architecture is not every organizational fact, only the ones that matter. It echoes 'consequential obligations' from yesterday on purpose.</a:t>
            </a:r>
          </a:p>
          <a:p>
            <a:endParaRPr lang="en-US" dirty="0"/>
          </a:p>
          <a:p>
            <a:r>
              <a:rPr lang="en-US" dirty="0"/>
              <a:t>=====</a:t>
            </a:r>
          </a:p>
          <a:p>
            <a:r>
              <a:rPr lang="en-US" dirty="0"/>
              <a:t>This is yesterday's picture. Requirements told us what should be true; the specification made the consequential obligations explicit.</a:t>
            </a:r>
          </a:p>
          <a:p>
            <a:endParaRPr lang="en-US" dirty="0"/>
          </a:p>
          <a:p>
            <a:r>
              <a:rPr lang="en-US" dirty="0"/>
              <a:t>ANIMATE</a:t>
            </a:r>
          </a:p>
          <a:p>
            <a:endParaRPr lang="en-US" dirty="0"/>
          </a:p>
          <a:p>
            <a:r>
              <a:rPr lang="en-US" dirty="0"/>
              <a:t>And it did two things at once: it constrained what matters, and it deliberately left degrees of freedom open.</a:t>
            </a:r>
          </a:p>
          <a:p>
            <a:endParaRPr lang="en-US" dirty="0"/>
          </a:p>
          <a:p>
            <a:r>
              <a:rPr lang="en-US" dirty="0"/>
              <a:t>ANIMATE</a:t>
            </a:r>
          </a:p>
          <a:p>
            <a:endParaRPr lang="en-US" dirty="0"/>
          </a:p>
          <a:p>
            <a:r>
              <a:rPr lang="en-US" dirty="0"/>
              <a:t>So several genuinely different systems — A, B, C — all satisfy every obligation.</a:t>
            </a:r>
          </a:p>
          <a:p>
            <a:endParaRPr lang="en-US" dirty="0"/>
          </a:p>
          <a:p>
            <a:r>
              <a:rPr lang="en-US" dirty="0"/>
              <a:t>ANIMATE</a:t>
            </a:r>
          </a:p>
          <a:p>
            <a:endParaRPr lang="en-US" dirty="0"/>
          </a:p>
          <a:p>
            <a:r>
              <a:rPr lang="en-US" dirty="0"/>
              <a:t>And some, like D, do not. The specification drew a boundary, not a point.</a:t>
            </a:r>
          </a:p>
          <a:p>
            <a:endParaRPr lang="en-US" dirty="0"/>
          </a:p>
          <a:p>
            <a:r>
              <a:rPr lang="en-US" dirty="0"/>
              <a:t>ANIMATE</a:t>
            </a:r>
          </a:p>
          <a:p>
            <a:endParaRPr lang="en-US" dirty="0"/>
          </a:p>
          <a:p>
            <a:r>
              <a:rPr lang="en-US" dirty="0"/>
              <a:t>Today we consider one acceptable realization and ask how it should be organized. And the moment we do, yesterday's question flips: not 'is this system acceptable?' but 'how should this system be organized?'</a:t>
            </a:r>
          </a:p>
          <a:p>
            <a:endParaRPr lang="en-US" dirty="0"/>
          </a:p>
          <a:p>
            <a:r>
              <a:rPr lang="en-US" dirty="0"/>
              <a:t>Here is the definition, and it is the only one you need today. Architecture describes the consequential organization of the system: its major parts, their responsibilities, their interfaces, and the rules governing their interaction. Consequential is the operative word — thousands of organizational facts are true of any system; architecture is the subset that it would be expensive to get wrong.</a:t>
            </a:r>
          </a:p>
          <a:p>
            <a:endParaRPr lang="en-US" dirty="0"/>
          </a:p>
          <a:p>
            <a:r>
              <a:rPr lang="en-US" dirty="0"/>
              <a:t>That definition compresses into four questions, and the four questions are today's map.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Lay out the four questions as the map for the lecture; each later section answers one.</a:t>
            </a:r>
          </a:p>
          <a:p>
            <a:endParaRPr dirty="0"/>
          </a:p>
          <a:p>
            <a:r>
              <a:rPr dirty="0"/>
              <a:t>- Read all four; do not elaborate any of them yet. Every section of today answers one or more.</a:t>
            </a:r>
          </a:p>
          <a:p>
            <a:endParaRPr dirty="0"/>
          </a:p>
          <a:p>
            <a:r>
              <a:rPr dirty="0"/>
              <a:t>- The fourth question — properties — is the one students underrate. Flag it: architecture can support, constrain, or frustrate latency, security, changeability, and behavior under failure.</a:t>
            </a:r>
          </a:p>
          <a:p>
            <a:endParaRPr dirty="0"/>
          </a:p>
          <a:p>
            <a:r>
              <a:rPr dirty="0"/>
              <a:t>=====</a:t>
            </a:r>
          </a:p>
          <a:p>
            <a:r>
              <a:rPr dirty="0"/>
              <a:t>Unpack the definition and you get four questions. What are the parts? Where are the boundaries between them? How may the parts interact? And what properties must the organization support — latency, security, tolerance to change, behavior under failure?</a:t>
            </a:r>
          </a:p>
          <a:p>
            <a:endParaRPr dirty="0"/>
          </a:p>
          <a:p>
            <a:r>
              <a:rPr dirty="0"/>
              <a:t>The first three questions sound structural. The fourth explains why the structure matters. We do not draw boxes for their own sake: organization can support, constrain, or frustrate properties such as latency, security, changeability, and behavior under failure.</a:t>
            </a:r>
          </a:p>
          <a:p>
            <a:endParaRPr dirty="0"/>
          </a:p>
          <a:p>
            <a:r>
              <a:rPr dirty="0"/>
              <a:t>Of these, the boundary question is where the consequences concentrate. Let us look at it properly.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boundaries decide what must be reasoned about together, and land the canonical boundary question.</a:t>
            </a:r>
          </a:p>
          <a:p>
            <a:endParaRPr dirty="0"/>
          </a:p>
          <a:p>
            <a:r>
              <a:rPr dirty="0"/>
              <a:t>- The header row is the test kit: change together? fail together? scale together? consistent together? secure together? owned together?</a:t>
            </a:r>
          </a:p>
          <a:p>
            <a:endParaRPr dirty="0"/>
          </a:p>
          <a:p>
            <a:r>
              <a:rPr dirty="0"/>
              <a:t>- Key sentence, say it verbatim: architecture allocates coupling; it does not eliminate it.</a:t>
            </a:r>
          </a:p>
          <a:p>
            <a:endParaRPr dirty="0"/>
          </a:p>
          <a:p>
            <a:r>
              <a:rPr dirty="0"/>
              <a:t>- Organizations A and B are both acceptable realizations of yesterday's system. Different boundaries, different coupling — neither is free.</a:t>
            </a:r>
          </a:p>
          <a:p>
            <a:endParaRPr dirty="0"/>
          </a:p>
          <a:p>
            <a:r>
              <a:rPr dirty="0"/>
              <a:t>=====</a:t>
            </a:r>
          </a:p>
          <a:p>
            <a:r>
              <a:rPr dirty="0"/>
              <a:t>A boundary is a promise about reasoning: things on the same side may be understood, changed, and operated together; things on opposite sides should be understandable apart.</a:t>
            </a:r>
          </a:p>
          <a:p>
            <a:endParaRPr dirty="0"/>
          </a:p>
          <a:p>
            <a:r>
              <a:rPr dirty="0"/>
              <a:t>Here are two organizations of the same system — the one we specified yesterday. Organization A slices by pipeline stage: collect, classify, summarize, advise. Organization B groups collection with storage, modeling with advice, and isolates sharing.</a:t>
            </a:r>
          </a:p>
          <a:p>
            <a:endParaRPr dirty="0"/>
          </a:p>
          <a:p>
            <a:r>
              <a:rPr dirty="0"/>
              <a:t>Run the tests in the header. Which pieces change together when the advice format changes? Which fail together when the store is down? Which must be consistent with each other? A and B give different answers — and neither eliminates the coupling; each one chooses where it lives.</a:t>
            </a:r>
          </a:p>
          <a:p>
            <a:endParaRPr dirty="0"/>
          </a:p>
          <a:p>
            <a:r>
              <a:rPr dirty="0"/>
              <a:t>So the canonical question of this lecture: where should we draw boundaries so the interactions and changes we expect are easy, while the interactions and changes we do not want are difficult?</a:t>
            </a:r>
          </a:p>
          <a:p>
            <a:endParaRPr dirty="0"/>
          </a:p>
          <a:p>
            <a:r>
              <a:rPr dirty="0"/>
              <a:t>Notice both organizations are acceptable. But there is one consequence of these boundaries we have not considered yet. The header asks whether things should be owned together. Architectural boundaries can become boundaries not just in the software, but in the engineering organization.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what architecture is to how architectural decisions get made.</a:t>
            </a:r>
          </a:p>
          <a:p>
            <a:endParaRPr dirty="0"/>
          </a:p>
          <a:p>
            <a:r>
              <a:rPr dirty="0"/>
              <a:t>- Do not pause for discussion.</a:t>
            </a:r>
          </a:p>
          <a:p>
            <a:endParaRPr dirty="0"/>
          </a:p>
          <a:p>
            <a:r>
              <a:rPr dirty="0"/>
              <a:t>=====</a:t>
            </a:r>
          </a:p>
          <a:p>
            <a:r>
              <a:rPr dirty="0"/>
              <a:t>Section two. We have the vocabulary — parts, boundaries, interactions, properties. Now the uncomfortable part: several organizations satisfy the specification, and we must choose among them, under tradeoffs. Let us start by making you choose.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Students confront a choice they cannot resolve without preference and information; that discomfort motivates the whole section.</a:t>
            </a:r>
          </a:p>
          <a:p>
            <a:endParaRPr dirty="0"/>
          </a:p>
          <a:p>
            <a:r>
              <a:rPr dirty="0"/>
              <a:t>- Hold the timing firmly: 1 think, 2 pair, 2 share. Do not let the share run.</a:t>
            </a:r>
          </a:p>
          <a:p>
            <a:endParaRPr dirty="0"/>
          </a:p>
          <a:p>
            <a:r>
              <a:rPr dirty="0"/>
              <a:t>- Force a commitment: everyone picks A or B before pairing. No abstentions — the point is what committing requires.</a:t>
            </a:r>
          </a:p>
          <a:p>
            <a:endParaRPr dirty="0"/>
          </a:p>
          <a:p>
            <a:r>
              <a:rPr dirty="0"/>
              <a:t>- Likely answers: 'A if latency matters, B if cost matters' (good — that is a missing preference); 'depends on how much traffic / how often it changes' (good — that is missing information). Push both kinds to say what exactly they would need to know.</a:t>
            </a:r>
          </a:p>
          <a:p>
            <a:endParaRPr dirty="0"/>
          </a:p>
          <a:p>
            <a:r>
              <a:rPr dirty="0"/>
              <a:t>- Do NOT teach dominance or Pareto here. Let the impasse stand; the next slides give it vocabulary.</a:t>
            </a:r>
          </a:p>
          <a:p>
            <a:endParaRPr dirty="0"/>
          </a:p>
          <a:p>
            <a:r>
              <a:rPr dirty="0"/>
              <a:t>=====</a:t>
            </a:r>
          </a:p>
          <a:p>
            <a:r>
              <a:rPr dirty="0"/>
              <a:t>Two architectures for the same specification. A is faster and more available; B is cheaper and easier to change locally. Both acceptable.</a:t>
            </a:r>
          </a:p>
          <a:p>
            <a:endParaRPr dirty="0"/>
          </a:p>
          <a:p>
            <a:r>
              <a:rPr dirty="0"/>
              <a:t>ANIMATE</a:t>
            </a:r>
          </a:p>
          <a:p>
            <a:endParaRPr dirty="0"/>
          </a:p>
          <a:p>
            <a:r>
              <a:rPr dirty="0"/>
              <a:t>Choose one. One minute, alone, and write down the reason you would defend.</a:t>
            </a:r>
          </a:p>
          <a:p>
            <a:endParaRPr dirty="0"/>
          </a:p>
          <a:p>
            <a:r>
              <a:rPr dirty="0"/>
              <a:t>Now two minutes with a neighbor: compare choices, and list what you would need to know — about the users, the budget, the future — to defend your answer to an engineering review.</a:t>
            </a:r>
          </a:p>
          <a:p>
            <a:endParaRPr dirty="0"/>
          </a:p>
          <a:p>
            <a:r>
              <a:rPr dirty="0"/>
              <a:t>Take two or three pairs. Push on the ones who disagree: what fact or what priority would settle it between you?</a:t>
            </a:r>
          </a:p>
          <a:p>
            <a:endParaRPr dirty="0"/>
          </a:p>
          <a:p>
            <a:r>
              <a:rPr dirty="0"/>
              <a:t>Close on the observation, not an answer: nobody could choose without either a preference — what matters more, latency or cost? — or information we do not have. Hold onto that. First, let me show you the wrong way to escape the discomfort.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Inoculate against fake quantification: a spreadsheet does not turn preferences into measurement.</a:t>
            </a:r>
          </a:p>
          <a:p>
            <a:endParaRPr dirty="0"/>
          </a:p>
          <a:p>
            <a:r>
              <a:rPr dirty="0"/>
              <a:t>- Tone: autopsy, not ridicule. Every student will meet this matrix in industry; some will build one.</a:t>
            </a:r>
          </a:p>
          <a:p>
            <a:endParaRPr dirty="0"/>
          </a:p>
          <a:p>
            <a:r>
              <a:rPr dirty="0"/>
              <a:t>- Weighted scores and verdict first, then three callout clicks, then the footer. Let students read the verdict line — 3.95 to 3.70 looks decisive precisely because it is precise.</a:t>
            </a:r>
          </a:p>
          <a:p>
            <a:endParaRPr dirty="0"/>
          </a:p>
          <a:p>
            <a:r>
              <a:rPr dirty="0"/>
              <a:t>- The deliberately spurious precision is the trap: two decimal places of confidence resting on invented inputs.</a:t>
            </a:r>
          </a:p>
          <a:p>
            <a:endParaRPr dirty="0"/>
          </a:p>
          <a:p>
            <a:r>
              <a:rPr dirty="0"/>
              <a:t>=====</a:t>
            </a:r>
          </a:p>
          <a:p>
            <a:r>
              <a:rPr dirty="0"/>
              <a:t>Here is a popular way out of the discomfort you just felt. Score each architecture on each property, weight the properties, multiply, add. A wins, 3.95 to 3.70. Done — the numbers decided, no judgment required.</a:t>
            </a:r>
          </a:p>
          <a:p>
            <a:endParaRPr dirty="0"/>
          </a:p>
          <a:p>
            <a:r>
              <a:rPr dirty="0"/>
              <a:t>Three questions.</a:t>
            </a:r>
          </a:p>
          <a:p>
            <a:endParaRPr dirty="0"/>
          </a:p>
          <a:p>
            <a:r>
              <a:rPr dirty="0"/>
              <a:t>ANIMATE</a:t>
            </a:r>
          </a:p>
          <a:p>
            <a:endParaRPr dirty="0"/>
          </a:p>
          <a:p>
            <a:r>
              <a:rPr dirty="0"/>
              <a:t>Where did point-three-zero come from? Who decided performance is worth thirty percent — and would the ranking survive point-two-five?</a:t>
            </a:r>
          </a:p>
          <a:p>
            <a:endParaRPr dirty="0"/>
          </a:p>
          <a:p>
            <a:r>
              <a:rPr dirty="0"/>
              <a:t>ANIMATE</a:t>
            </a:r>
          </a:p>
          <a:p>
            <a:endParaRPr dirty="0"/>
          </a:p>
          <a:p>
            <a:r>
              <a:rPr dirty="0"/>
              <a:t>What is a five? What unit is reliability measured in, such that A has five of it? Is the distance from 3 to 4 the same as from 4 to 5?</a:t>
            </a:r>
          </a:p>
          <a:p>
            <a:endParaRPr dirty="0"/>
          </a:p>
          <a:p>
            <a:r>
              <a:rPr dirty="0"/>
              <a:t>ANIMATE</a:t>
            </a:r>
          </a:p>
          <a:p>
            <a:endParaRPr dirty="0"/>
          </a:p>
          <a:p>
            <a:r>
              <a:rPr dirty="0"/>
              <a:t>And why may cost compensate for reliability at all? The weighted sum assumes every dimension trades against every other at a fixed rate. Nobody decided that; the arithmetic smuggled it in.</a:t>
            </a:r>
          </a:p>
          <a:p>
            <a:endParaRPr dirty="0"/>
          </a:p>
          <a:p>
            <a:r>
              <a:rPr dirty="0"/>
              <a:t>It is not measurement merely because a spreadsheet produced a number. The inputs are judgments; the output inherits exactly their authority, dressed up with two decimal places.</a:t>
            </a:r>
          </a:p>
          <a:p>
            <a:endParaRPr dirty="0"/>
          </a:p>
          <a:p>
            <a:r>
              <a:rPr dirty="0"/>
              <a:t>So is there anything rigorous we can do? Yes — two honest moves, before judgment ever enters.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Give the two legitimate elimination moves: specification removes the infeasible, dominance removes the clearly worse.</a:t>
            </a:r>
          </a:p>
          <a:p>
            <a:endParaRPr dirty="0"/>
          </a:p>
          <a:p>
            <a:r>
              <a:rPr dirty="0"/>
              <a:t>- Key sentence: constraints are not objectives. A required latency is not a preference to trade — it is a boundary.</a:t>
            </a:r>
          </a:p>
          <a:p>
            <a:endParaRPr dirty="0"/>
          </a:p>
          <a:p>
            <a:r>
              <a:rPr dirty="0"/>
              <a:t>- Explain dominance plainly: D is no better than A anywhere and worse somewhere, so discarding D costs nothing. No weights, no scores.</a:t>
            </a:r>
          </a:p>
          <a:p>
            <a:endParaRPr dirty="0"/>
          </a:p>
          <a:p>
            <a:r>
              <a:rPr dirty="0"/>
              <a:t>- These two moves are honest because they need no preference at all.</a:t>
            </a:r>
          </a:p>
          <a:p>
            <a:endParaRPr dirty="0"/>
          </a:p>
          <a:p>
            <a:r>
              <a:rPr dirty="0"/>
              <a:t>=====</a:t>
            </a:r>
          </a:p>
          <a:p>
            <a:r>
              <a:rPr dirty="0"/>
              <a:t>Before any judgment, two filters.</a:t>
            </a:r>
          </a:p>
          <a:p>
            <a:endParaRPr dirty="0"/>
          </a:p>
          <a:p>
            <a:r>
              <a:rPr dirty="0"/>
              <a:t>ANIMATE</a:t>
            </a:r>
          </a:p>
          <a:p>
            <a:r>
              <a:rPr dirty="0"/>
              <a:t>First, the specification. Constraints are not objectives — they are not properties we would like more of, they are lines we may not cross. B violates the required latency. B is not a worse choice; B is not a choice. Notice yesterday's work just did something for us: elimination is only rigorous because the obligations were explicit.</a:t>
            </a:r>
          </a:p>
          <a:p>
            <a:endParaRPr dirty="0"/>
          </a:p>
          <a:p>
            <a:r>
              <a:rPr dirty="0"/>
              <a:t>ANIMATE</a:t>
            </a:r>
          </a:p>
          <a:p>
            <a:r>
              <a:rPr dirty="0"/>
              <a:t>Second, dominance. Compare D with A: on every property we care about, D is no better, and on at least one it is strictly worse. Choosing D over A could never be right, under any weighting of the properties.</a:t>
            </a:r>
          </a:p>
          <a:p>
            <a:r>
              <a:rPr dirty="0"/>
              <a:t>ANIMATE</a:t>
            </a:r>
          </a:p>
          <a:p>
            <a:r>
              <a:rPr dirty="0"/>
              <a:t>So D goes — and notice we never needed a weight or a score to say so.</a:t>
            </a:r>
          </a:p>
          <a:p>
            <a:endParaRPr dirty="0"/>
          </a:p>
          <a:p>
            <a:r>
              <a:rPr dirty="0"/>
              <a:t>ANIMATE</a:t>
            </a:r>
          </a:p>
          <a:p>
            <a:r>
              <a:rPr dirty="0"/>
              <a:t>Both moves are mechanical. Neither required us to decide what matters more. The question is what happens when the filters finish and more than one candidate is still standing.</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that among nondominated alternatives, mathematics has no further move; judgment chooses.</a:t>
            </a:r>
          </a:p>
          <a:p>
            <a:endParaRPr dirty="0"/>
          </a:p>
          <a:p>
            <a:r>
              <a:rPr dirty="0"/>
              <a:t>- Axes are deliberately generic — instantiate orally with the running pair: rightward better latency, upward lower cost. A fast and expensive; C cheap and slower.</a:t>
            </a:r>
          </a:p>
          <a:p>
            <a:endParaRPr dirty="0"/>
          </a:p>
          <a:p>
            <a:r>
              <a:rPr dirty="0"/>
              <a:t>- Each remaining point beats the others somewhere. That is what a real tradeoff IS.</a:t>
            </a:r>
          </a:p>
          <a:p>
            <a:endParaRPr dirty="0"/>
          </a:p>
          <a:p>
            <a:r>
              <a:rPr dirty="0"/>
              <a:t>- Judgment here is not arbitrary: stakeholder priorities, consequence of failure, context. It is accountable — but it is not arithmetic.</a:t>
            </a:r>
          </a:p>
          <a:p>
            <a:endParaRPr dirty="0"/>
          </a:p>
          <a:p>
            <a:r>
              <a:rPr dirty="0"/>
              <a:t>=====</a:t>
            </a:r>
          </a:p>
          <a:p>
            <a:r>
              <a:rPr dirty="0"/>
              <a:t>Here is what remains after the two filters. Suppose each axis represents a property for which movement toward the arrow is better. A sits fast but expensive; C cheap but slower. No survivor dominates another: each is the best answer to some legitimate weighting of what matters.</a:t>
            </a:r>
          </a:p>
          <a:p>
            <a:endParaRPr dirty="0"/>
          </a:p>
          <a:p>
            <a:r>
              <a:rPr dirty="0"/>
              <a:t>This is the honest picture of an architectural decision. Mathematics carried us exactly this far — it removed the infeasible and the indefensible — and it has no next move. The choice among these points belongs to judgment: whose needs dominate, what failure costs, what this organization can operate.</a:t>
            </a:r>
          </a:p>
          <a:p>
            <a:endParaRPr dirty="0"/>
          </a:p>
          <a:p>
            <a:r>
              <a:rPr dirty="0"/>
              <a:t>Judgment is not a coin flip. It can be argued, reviewed, and owned. But there is one more honest move available before committing — sometimes the right decision is to not decide yet.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Give the buy-information rule: if resolving an uncertainty could change the choice, evidence may be worth its price.</a:t>
            </a:r>
          </a:p>
          <a:p>
            <a:endParaRPr dirty="0"/>
          </a:p>
          <a:p>
            <a:r>
              <a:rPr dirty="0"/>
              <a:t>- The test is the diamond: could knowing more change the decision? If no — deciding now is free. If yes — model, prototype, measure, IF the information costs less than it is worth.</a:t>
            </a:r>
          </a:p>
          <a:p>
            <a:endParaRPr dirty="0"/>
          </a:p>
          <a:p>
            <a:r>
              <a:rPr dirty="0"/>
              <a:t>- No expected-utility math. Keep it as an intuition with two failure modes: buying evidence that could not change anything, and refusing to buy evidence that would.</a:t>
            </a:r>
          </a:p>
          <a:p>
            <a:endParaRPr dirty="0"/>
          </a:p>
          <a:p>
            <a:r>
              <a:rPr dirty="0"/>
              <a:t>- Plant quietly: Section 4 is entirely about the cheapest of these purchases — models. The closing slide of that section returns to this box.</a:t>
            </a:r>
          </a:p>
          <a:p>
            <a:endParaRPr dirty="0"/>
          </a:p>
          <a:p>
            <a:r>
              <a:rPr dirty="0"/>
              <a:t>=====</a:t>
            </a:r>
          </a:p>
          <a:p>
            <a:r>
              <a:rPr dirty="0"/>
              <a:t>You are uncertain between A and C. Ask one question first: if I knew the answer — the real traffic, the real failure rate — could it change which architecture I pick?</a:t>
            </a:r>
          </a:p>
          <a:p>
            <a:endParaRPr dirty="0"/>
          </a:p>
          <a:p>
            <a:r>
              <a:rPr dirty="0"/>
              <a:t>If no, stop. Information that cannot change the decision is worthless, however interesting. Decide now.</a:t>
            </a:r>
          </a:p>
          <a:p>
            <a:endParaRPr dirty="0"/>
          </a:p>
          <a:p>
            <a:r>
              <a:rPr dirty="0"/>
              <a:t>If yes, you can buy the answer: build a model, a prototype, a measurement. Evidence has a price in time and money — the purchase is rational when the decision it might save is worth more than the evidence costs.</a:t>
            </a:r>
          </a:p>
          <a:p>
            <a:endParaRPr dirty="0"/>
          </a:p>
          <a:p>
            <a:r>
              <a:rPr dirty="0"/>
              <a:t>Engineers skip this move in both directions: agonizing without buying the fact that would settle it, or measuring things no decision depends on. The test is always the same diamond.</a:t>
            </a:r>
          </a:p>
          <a:p>
            <a:endParaRPr dirty="0"/>
          </a:p>
          <a:p>
            <a:r>
              <a:rPr dirty="0"/>
              <a:t>Now — everything so far assumed candidates on the table. Where do candidate organizations come from in the first place? You are not the first engineer to face this. Section three.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Turn from the decision method to where candidate organizations come from.</a:t>
            </a:r>
          </a:p>
          <a:p>
            <a:endParaRPr dirty="0"/>
          </a:p>
          <a:p>
            <a:r>
              <a:rPr dirty="0"/>
              <a:t>- Do not pause for discussion.</a:t>
            </a:r>
          </a:p>
          <a:p>
            <a:endParaRPr dirty="0"/>
          </a:p>
          <a:p>
            <a:r>
              <a:rPr dirty="0"/>
              <a:t>=====</a:t>
            </a:r>
          </a:p>
          <a:p>
            <a:r>
              <a:rPr dirty="0"/>
              <a:t>Section three. We now know how to choose among alternatives. Where do the alternatives come from? From the field's accumulated experience — patterns. Each one arrives carrying expectations about what it buys and what it costs.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Reframe patterns: not shapes to memorize, but recurring choices with priors attached.</a:t>
            </a:r>
          </a:p>
          <a:p>
            <a:endParaRPr dirty="0"/>
          </a:p>
          <a:p>
            <a:r>
              <a:rPr dirty="0"/>
              <a:t>- Four clicks: problem, the two patterns, their expected consequences, the footer.</a:t>
            </a:r>
          </a:p>
          <a:p>
            <a:r>
              <a:rPr dirty="0"/>
              <a:t>- Land the sentence: for the next four slides the format is always the same — one recurring problem, two conventional answers, the tradeoff between them.</a:t>
            </a:r>
          </a:p>
          <a:p>
            <a:endParaRPr dirty="0"/>
          </a:p>
          <a:p>
            <a:r>
              <a:rPr dirty="0"/>
              <a:t>=====</a:t>
            </a:r>
          </a:p>
          <a:p>
            <a:r>
              <a:rPr dirty="0"/>
              <a:t>Engineers have been organizing systems for seventy years. The same problems keep recurring.</a:t>
            </a:r>
          </a:p>
          <a:p>
            <a:r>
              <a:rPr dirty="0"/>
              <a:t>ANIMATE</a:t>
            </a:r>
          </a:p>
          <a:p>
            <a:r>
              <a:rPr dirty="0"/>
              <a:t>When a problem recurs often enough, the field converges — not on one answer, but usually on a few.</a:t>
            </a:r>
          </a:p>
          <a:p>
            <a:r>
              <a:rPr dirty="0"/>
              <a:t>ANIMATE</a:t>
            </a:r>
          </a:p>
          <a:p>
            <a:r>
              <a:rPr dirty="0"/>
              <a:t>That is what a pattern is: a recurring problem paired with a recurring organization. And for the same problem there is almost always more than one.</a:t>
            </a:r>
          </a:p>
          <a:p>
            <a:r>
              <a:rPr dirty="0"/>
              <a:t>ANIMATE</a:t>
            </a:r>
          </a:p>
          <a:p>
            <a:r>
              <a:rPr dirty="0"/>
              <a:t>Each pattern arrives carrying expectations — what it tends to buy you, what it tends to cost you. Expectations, priors. Not guarantees.</a:t>
            </a:r>
          </a:p>
          <a:p>
            <a:r>
              <a:rPr dirty="0"/>
              <a:t>ANIMATE</a:t>
            </a:r>
          </a:p>
          <a:p>
            <a:r>
              <a:rPr dirty="0"/>
              <a:t>So patterns do not end the decision-making of Section two; they feed it. They hand us the candidate organizations and a first estimate of the consequences.</a:t>
            </a:r>
          </a:p>
          <a:p>
            <a:r>
              <a:rPr dirty="0"/>
              <a:t>For the next four slides, the format is always the same: one recurring architectural problem, two conventional answers, and the tradeoff between them.</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concrete architectural choice: preserve the abstraction boundaries, or deliberately cross one.</a:t>
            </a:r>
          </a:p>
          <a:p>
            <a:endParaRPr dirty="0"/>
          </a:p>
          <a:p>
            <a:r>
              <a:rPr dirty="0"/>
              <a:t>- Five clicks: strict stack, second stack, the mmap crossing, consequences, tradeoff.</a:t>
            </a:r>
          </a:p>
          <a:p>
            <a:r>
              <a:rPr dirty="0"/>
              <a:t>- The crossing should feel mildly transgressive — we just broke the rule, on purpose.</a:t>
            </a:r>
          </a:p>
          <a:p>
            <a:r>
              <a:rPr dirty="0"/>
              <a:t>- Do not claim mmap is simply faster; it buys behavior the clean route cannot express.</a:t>
            </a:r>
          </a:p>
          <a:p>
            <a:endParaRPr dirty="0"/>
          </a:p>
          <a:p>
            <a:r>
              <a:rPr dirty="0"/>
              <a:t>=====</a:t>
            </a:r>
          </a:p>
          <a:p>
            <a:r>
              <a:rPr dirty="0"/>
              <a:t>The familiar rule first. Dependencies flow through the layers: the application reaches files through the file API, the API through the operating system, the OS through storage. Each layer replaceable, each stratum understandable on its own.</a:t>
            </a:r>
          </a:p>
          <a:p>
            <a:r>
              <a:rPr dirty="0"/>
              <a:t>ANIMATE</a:t>
            </a:r>
          </a:p>
          <a:p>
            <a:r>
              <a:rPr dirty="0"/>
              <a:t>Now the same stack again. Same four layers, same allowed dependencies. Nothing has changed yet.</a:t>
            </a:r>
          </a:p>
          <a:p>
            <a:r>
              <a:rPr dirty="0"/>
              <a:t>ANIMATE</a:t>
            </a:r>
          </a:p>
          <a:p>
            <a:r>
              <a:rPr dirty="0"/>
              <a:t>And now we break the rule. mmap wires a file straight into the process’s virtual memory. Touch a page — the fault handler pulls it from storage. The application is talking to the paging machinery, not the file API. This is a deliberate crossing, made by people who understood layering perfectly well.</a:t>
            </a:r>
          </a:p>
          <a:p>
            <a:r>
              <a:rPr dirty="0"/>
              <a:t>It buys something the clean abstraction cannot express: file-backed data participating in virtual memory itself — demand paging, no copy through the API.</a:t>
            </a:r>
          </a:p>
          <a:p>
            <a:r>
              <a:rPr dirty="0"/>
              <a:t>ANIMATE</a:t>
            </a:r>
          </a:p>
          <a:p>
            <a:r>
              <a:rPr dirty="0"/>
              <a:t>So name the consequences honestly. Strict layering tends to buy isolation, replaceability, local reasoning; it costs indirection, and it can block exactly this kind of mechanism. The crossing buys capability — and costs you coupling across the layers, forever.</a:t>
            </a:r>
          </a:p>
          <a:p>
            <a:r>
              <a:rPr dirty="0"/>
              <a:t>ANIMATE</a:t>
            </a:r>
          </a:p>
          <a:p>
            <a:r>
              <a:rPr dirty="0"/>
              <a:t>The tradeoff: isolation and changeability against cross-layer capability. Neither side is wrong. The pattern gives you the prior; the crossing is engineered, priced, and paid for.</a:t>
            </a:r>
          </a:p>
          <a:p>
            <a:r>
              <a:rPr dirty="0"/>
              <a:t>Layers answer where dependencies may cross abstraction boundaries. But systems are also organized around the movement and ownership of state. That gives us another recurring choice.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Same computations, two organizations of state: flow it through the stages, or meet at a shared authoritative store.</a:t>
            </a:r>
          </a:p>
          <a:p>
            <a:endParaRPr dirty="0"/>
          </a:p>
          <a:p>
            <a:r>
              <a:rPr dirty="0"/>
              <a:t>- Five clicks: pipeline, the repository core, the components attaching, consequences, tradeoff.</a:t>
            </a:r>
          </a:p>
          <a:p>
            <a:r>
              <a:rPr dirty="0"/>
              <a:t>- Same four components on both sides — the parts did not change, the organization did.</a:t>
            </a:r>
          </a:p>
          <a:p>
            <a:endParaRPr dirty="0"/>
          </a:p>
          <a:p>
            <a:r>
              <a:rPr dirty="0"/>
              <a:t>=====</a:t>
            </a:r>
          </a:p>
          <a:p>
            <a:r>
              <a:rPr dirty="0"/>
              <a:t>Several computations operate on related state. Should the state move, or should it sit still?</a:t>
            </a:r>
          </a:p>
          <a:p>
            <a:r>
              <a:rPr dirty="0"/>
              <a:t>One natural organization: let it move. Input flows into an analyzer, results flow into an optimizer, a report falls out the end. Every stage knows only its neighbor. Incremental processing comes almost for free.</a:t>
            </a:r>
          </a:p>
          <a:p>
            <a:r>
              <a:rPr dirty="0"/>
              <a:t>ANIMATE</a:t>
            </a:r>
          </a:p>
          <a:p>
            <a:r>
              <a:rPr dirty="0"/>
              <a:t>The alternative: keep one authoritative copy of the state in the middle, and move the computation around it instead. Same four components — input, analyzer, optimizer, report — but now everyone meets at the repository. Compilers with a shared symbol table work this way; so does every system built around a central database.</a:t>
            </a:r>
          </a:p>
          <a:p>
            <a:r>
              <a:rPr dirty="0"/>
              <a:t>ANIMATE</a:t>
            </a:r>
          </a:p>
          <a:p>
            <a:r>
              <a:rPr dirty="0"/>
              <a:t>The pipeline tends to buy explicit flow and local dependencies; it gets painful exactly when stages need to share and reconcile state. The repository tends to buy integration and consistency — one truth — and it costs you central schema coupling and shared fate: everyone now depends on the center.</a:t>
            </a:r>
          </a:p>
          <a:p>
            <a:r>
              <a:rPr dirty="0"/>
              <a:t>ANIMATE</a:t>
            </a:r>
          </a:p>
          <a:p>
            <a:r>
              <a:rPr dirty="0"/>
              <a:t>The tradeoff: local flow and independence against shared consistency and integration. Notice you can finally see what the alternative to a repository actually is.</a:t>
            </a:r>
          </a:p>
          <a:p>
            <a:r>
              <a:rPr dirty="0"/>
              <a:t>That was a choice about where state lives. Components also have to invoke one another. The next recurring choice: is that communication direct and synchronous, or mediated through events?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Call a known peer and wait, or publish an event and let unknown consumers react.</a:t>
            </a:r>
          </a:p>
          <a:p>
            <a:endParaRPr dirty="0"/>
          </a:p>
          <a:p>
            <a:r>
              <a:rPr dirty="0"/>
              <a:t>- Staged clicks: request, then response, then downstream C; producer, bus, consumers; D arrives last, then consequences and tradeoff.</a:t>
            </a:r>
          </a:p>
          <a:p>
            <a:r>
              <a:rPr dirty="0"/>
              <a:t>- Keep Kafka and gRPC subordinate: implementations, not the architecture.</a:t>
            </a:r>
          </a:p>
          <a:p>
            <a:r>
              <a:rPr dirty="0"/>
              <a:t>- Callback, verbatim: architecture allocates coupling; it does not eliminate it.</a:t>
            </a:r>
          </a:p>
          <a:p>
            <a:endParaRPr dirty="0"/>
          </a:p>
          <a:p>
            <a:r>
              <a:rPr dirty="0"/>
              <a:t>=====</a:t>
            </a:r>
          </a:p>
          <a:p>
            <a:r>
              <a:rPr dirty="0"/>
              <a:t>Components have to invoke one another. The direct organization: remote procedure call. Service A knows it needs Service B, calls it, waits, gets an answer. Immediate coordination — the caller holds a result before its next line of code runs. REST, gRPC: implementations of this shape.</a:t>
            </a:r>
          </a:p>
          <a:p>
            <a:r>
              <a:rPr dirty="0"/>
              <a:t>ANIMATE</a:t>
            </a:r>
          </a:p>
          <a:p>
            <a:r>
              <a:rPr dirty="0"/>
              <a:t>But B calls C the same way. Now A’s latency includes B’s, which includes C’s — and so does A’s failure. RPC means the calling component knows who it needs, now; dependency, latency, and failure all travel along the call path.</a:t>
            </a:r>
          </a:p>
          <a:p>
            <a:r>
              <a:rPr dirty="0"/>
              <a:t>ANIMATE</a:t>
            </a:r>
          </a:p>
          <a:p>
            <a:r>
              <a:rPr dirty="0"/>
              <a:t>The alternative: the producer does not call anyone. It states what happened — publishes an event to a bus or a log — without knowing who reacts.</a:t>
            </a:r>
          </a:p>
          <a:p>
            <a:r>
              <a:rPr dirty="0"/>
              <a:t>ANIMATE</a:t>
            </a:r>
          </a:p>
          <a:p>
            <a:r>
              <a:rPr dirty="0"/>
              <a:t>Consumers subscribe. B, C, D each react independently. Watch what the producer did when D arrived: nothing. That is the decoupling. A Kafka-style log even retains the events, so a consumer added next month can replay history — but this is not a Kafka lecture; the concept is the event boundary.</a:t>
            </a:r>
          </a:p>
          <a:p>
            <a:r>
              <a:rPr dirty="0"/>
              <a:t>ANIMATE</a:t>
            </a:r>
          </a:p>
          <a:p>
            <a:r>
              <a:rPr dirty="0"/>
              <a:t>Be honest about the price. Events did not remove the coupling — they moved it: into event schemas, delivery semantics, ordering assumptions, retries, observability. Architecture allocates coupling; it does not eliminate it.</a:t>
            </a:r>
          </a:p>
          <a:p>
            <a:r>
              <a:rPr dirty="0"/>
              <a:t>ANIMATE</a:t>
            </a:r>
          </a:p>
          <a:p>
            <a:r>
              <a:rPr dirty="0"/>
              <a:t>The tradeoff: immediate coordination against producer/consumer decoupling. Not “simple versus decoupled” — synchronous distributed systems are not simple.</a:t>
            </a:r>
          </a:p>
          <a:p>
            <a:r>
              <a:rPr dirty="0"/>
              <a:t>So far we have talked about what communicates with what at runtime. There is a subtler question: which direction should the code itself depend? That is the last choice.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abstract choice of the four: does domain code depend on infrastructure, or does infrastructure conform to a domain-defined interface?</a:t>
            </a:r>
          </a:p>
          <a:p>
            <a:endParaRPr dirty="0"/>
          </a:p>
          <a:p>
            <a:r>
              <a:rPr dirty="0"/>
              <a:t>- Staged clicks: each domain, the direct dependency, then the port (the domain defines it), the adapter, the infrastructure, the source-dependency arrow, consequences, tradeoff.</a:t>
            </a:r>
          </a:p>
          <a:p>
            <a:r>
              <a:rPr dirty="0"/>
              <a:t>- The arrows are the whole slide — dependency direction must read unambiguously.</a:t>
            </a:r>
          </a:p>
          <a:p>
            <a:r>
              <a:rPr dirty="0"/>
              <a:t>- Ports and adapters is not automatically good architecture; say so explicitly.</a:t>
            </a:r>
          </a:p>
          <a:p>
            <a:endParaRPr dirty="0"/>
          </a:p>
          <a:p>
            <a:r>
              <a:rPr dirty="0"/>
              <a:t>=====</a:t>
            </a:r>
          </a:p>
          <a:p>
            <a:r>
              <a:rPr dirty="0"/>
              <a:t>The obvious organization: domain logic imports the database SDK and calls it. Fewer moving parts, no ceremony. But look at the arrow — your business logic now depends on a vendor’s API. When the vendor changes, or you outgrow the database, the change lands inside your domain code.</a:t>
            </a:r>
          </a:p>
          <a:p>
            <a:r>
              <a:rPr dirty="0"/>
              <a:t>ANIMATE</a:t>
            </a:r>
          </a:p>
          <a:p>
            <a:r>
              <a:rPr dirty="0"/>
              <a:t>The alternative starts with a conceptual move: the domain says what it needs. It defines a port — an interface, stated in the domain’s own vocabulary. Nothing below exists yet.</a:t>
            </a:r>
          </a:p>
          <a:p>
            <a:r>
              <a:rPr dirty="0"/>
              <a:t>ANIMATE</a:t>
            </a:r>
          </a:p>
          <a:p>
            <a:r>
              <a:rPr dirty="0"/>
              <a:t>Then infrastructure conforms to that need. An adapter implements the port and talks to the actual database. Follow the dashed arrow: it points up, toward the domain. The compile-time dependency has been reversed — infrastructure depends on the domain’s interface, never the other way. You will hear this called ports-and-adapters, hexagonal, clean architecture.</a:t>
            </a:r>
          </a:p>
          <a:p>
            <a:r>
              <a:rPr dirty="0"/>
              <a:t>ANIMATE</a:t>
            </a:r>
          </a:p>
          <a:p>
            <a:r>
              <a:rPr dirty="0"/>
              <a:t>The price is real: extra interfaces, extra adapters, extra indirection — paid on every feature, forever. And ports and adapters is not automatically good architecture. If the infrastructure is stable, cheap to replace globally, or genuinely constitutive of the application, the seam buys little.</a:t>
            </a:r>
          </a:p>
          <a:p>
            <a:r>
              <a:rPr dirty="0"/>
              <a:t>ANIMATE</a:t>
            </a:r>
          </a:p>
          <a:p>
            <a:r>
              <a:rPr dirty="0"/>
              <a:t>So the tradeoff: directness and simplicity against isolation from infrastructure change. The question is never “should good systems use ports and adapters?” It is: “is infrastructure change consequential enough, here, to justify buying this boundary?”</a:t>
            </a:r>
          </a:p>
          <a:p>
            <a:r>
              <a:rPr dirty="0"/>
              <a:t>And notice what that question demands: an estimate of how likely the change is, and how much it would cost. How would we know? Hold that thought.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Consolidate the method: four recurring problems, two recurring answers each, a price every time.</a:t>
            </a:r>
          </a:p>
          <a:p>
            <a:endParaRPr dirty="0"/>
          </a:p>
          <a:p>
            <a:r>
              <a:rPr dirty="0"/>
              <a:t>- Four clicks: rows two through four, then the footer. Ten to fifteen seconds per row; no re-teaching.</a:t>
            </a:r>
          </a:p>
          <a:p>
            <a:r>
              <a:rPr dirty="0"/>
              <a:t>- The footer sentence is the bridge into Section four.</a:t>
            </a:r>
          </a:p>
          <a:p>
            <a:endParaRPr dirty="0"/>
          </a:p>
          <a:p>
            <a:r>
              <a:rPr dirty="0"/>
              <a:t>=====</a:t>
            </a:r>
          </a:p>
          <a:p>
            <a:r>
              <a:rPr dirty="0"/>
              <a:t>Look at what we just did, four times in a row. A recurring problem. Two recurring answers. A price either way.</a:t>
            </a:r>
          </a:p>
          <a:p>
            <a:r>
              <a:rPr dirty="0"/>
              <a:t>Abstraction boundaries: follow the layers, or cross one deliberately — isolation against capability.</a:t>
            </a:r>
          </a:p>
          <a:p>
            <a:r>
              <a:rPr dirty="0"/>
              <a:t>ANIMATE</a:t>
            </a:r>
          </a:p>
          <a:p>
            <a:r>
              <a:rPr dirty="0"/>
              <a:t>State: flow it through stages, or meet at a shared store — local flow against shared consistency.</a:t>
            </a:r>
          </a:p>
          <a:p>
            <a:r>
              <a:rPr dirty="0"/>
              <a:t>ANIMATE</a:t>
            </a:r>
          </a:p>
          <a:p>
            <a:r>
              <a:rPr dirty="0"/>
              <a:t>Communication: call known peers, or publish to unknown consumers — coordination against decoupling.</a:t>
            </a:r>
          </a:p>
          <a:p>
            <a:r>
              <a:rPr dirty="0"/>
              <a:t>ANIMATE</a:t>
            </a:r>
          </a:p>
          <a:p>
            <a:r>
              <a:rPr dirty="0"/>
              <a:t>Infrastructure: depend on it directly, or make it conform to your interface — directness against infrastructure isolation.</a:t>
            </a:r>
          </a:p>
          <a:p>
            <a:r>
              <a:rPr dirty="0"/>
              <a:t>ANIMATE</a:t>
            </a:r>
          </a:p>
          <a:p>
            <a:r>
              <a:rPr dirty="0"/>
              <a:t>A pattern tells us what tends to happen. It does not tell us which consequence matters more, here, in your system.</a:t>
            </a:r>
          </a:p>
          <a:p>
            <a:r>
              <a:rPr dirty="0"/>
              <a:t>Patterns have given us plausible organizations and expectations about their consequences. But those expectations are still priors. If the choice matters enough, we want stronger evidence. How much can we know before we build it?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priors to analysis: what can we actually know before building?</a:t>
            </a:r>
          </a:p>
          <a:p>
            <a:endParaRPr dirty="0"/>
          </a:p>
          <a:p>
            <a:r>
              <a:rPr dirty="0"/>
              <a:t>- Do not pause for discussion.</a:t>
            </a:r>
          </a:p>
          <a:p>
            <a:endParaRPr dirty="0"/>
          </a:p>
          <a:p>
            <a:r>
              <a:rPr dirty="0"/>
              <a:t>=====</a:t>
            </a:r>
          </a:p>
          <a:p>
            <a:r>
              <a:rPr dirty="0"/>
              <a:t>Section four. We have candidate organizations and rules of thumb about them. The question now: how much can we know about a system that does not exist yet? More than you might think — architecture makes some properties analyzable.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A diagram earns its place only by answering a question; different question, different model.</a:t>
            </a:r>
          </a:p>
          <a:p>
            <a:endParaRPr dirty="0"/>
          </a:p>
          <a:p>
            <a:r>
              <a:rPr dirty="0"/>
              <a:t>- Callback to Specification: same lesson as choosing a representation — the question picks the model. Students have seen this move; name the echo.</a:t>
            </a:r>
          </a:p>
          <a:p>
            <a:endParaRPr dirty="0"/>
          </a:p>
          <a:p>
            <a:r>
              <a:rPr dirty="0"/>
              <a:t>- Three question-to-model pairs on-slide: change → dependency view; latency → weighted flow; failure → deployment view.</a:t>
            </a:r>
          </a:p>
          <a:p>
            <a:endParaRPr dirty="0"/>
          </a:p>
          <a:p>
            <a:r>
              <a:rPr dirty="0"/>
              <a:t>- The anti-pattern: THE architecture diagram, one box-and-line picture expected to answer everything — a diagram that can answer no question is decoration.</a:t>
            </a:r>
          </a:p>
          <a:p>
            <a:endParaRPr dirty="0"/>
          </a:p>
          <a:p>
            <a:r>
              <a:rPr dirty="0"/>
              <a:t>=====</a:t>
            </a:r>
          </a:p>
          <a:p>
            <a:r>
              <a:rPr dirty="0"/>
              <a:t>Yesterday you learned that the representation of a specification depends on the question you need it to answer. The same discipline governs architecture models.</a:t>
            </a:r>
          </a:p>
          <a:p>
            <a:endParaRPr dirty="0"/>
          </a:p>
          <a:p>
            <a:r>
              <a:rPr dirty="0"/>
              <a:t>Want to know whether a change stays contained? Draw the dependency view — who knows about whom. Want to know how fast a request can possibly be? Draw the flow with costs on the edges. Want to know what dies together? Draw the deployment view — what runs where.</a:t>
            </a:r>
          </a:p>
          <a:p>
            <a:endParaRPr dirty="0"/>
          </a:p>
          <a:p>
            <a:r>
              <a:rPr dirty="0"/>
              <a:t>Same system, three different drawings, because three different questions. There is no such thing as THE architecture diagram. A diagram that cannot support any question is decoration — it goes on a poster, and it cannot carry an argument.</a:t>
            </a:r>
          </a:p>
          <a:p>
            <a:endParaRPr dirty="0"/>
          </a:p>
          <a:p>
            <a:r>
              <a:rPr dirty="0"/>
              <a:t>So the real question about any model: what kind of claim can it support, and how much are we still betting? It turns out claims come in grades.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Order architectural claims by how much betting remains: expectation, structural argument, quantitative prediction, observed evidence.</a:t>
            </a:r>
          </a:p>
          <a:p>
            <a:endParaRPr dirty="0"/>
          </a:p>
          <a:p>
            <a:r>
              <a:rPr dirty="0"/>
              <a:t>- Walk left to right, one example phrase each: 'should remain local' / 'no dependency crosses this boundary' / 'about 11.5 seconds' / '11.8 measured'.</a:t>
            </a:r>
          </a:p>
          <a:p>
            <a:endParaRPr dirty="0"/>
          </a:p>
          <a:p>
            <a:r>
              <a:rPr dirty="0"/>
              <a:t>- The governing line, say it verbatim: the more faithfully the model captures the property we care about, the less we have to bet.</a:t>
            </a:r>
          </a:p>
          <a:p>
            <a:endParaRPr dirty="0"/>
          </a:p>
          <a:p>
            <a:r>
              <a:rPr dirty="0"/>
              <a:t>- All four rungs are legitimate — the sin is billing a reasoned expectation as a prediction. Match the claim to the stake.</a:t>
            </a:r>
          </a:p>
          <a:p>
            <a:endParaRPr dirty="0"/>
          </a:p>
          <a:p>
            <a:r>
              <a:rPr dirty="0"/>
              <a:t>=====</a:t>
            </a:r>
          </a:p>
          <a:p>
            <a:r>
              <a:rPr dirty="0"/>
              <a:t>Every architectural claim is a bet, and the bets are not equal.</a:t>
            </a:r>
          </a:p>
          <a:p>
            <a:endParaRPr dirty="0"/>
          </a:p>
          <a:p>
            <a:r>
              <a:rPr dirty="0"/>
              <a:t>Leftmost: reasoned expectation. 'This change should remain local' — a pattern prior, an educated expectation based on prior engineering experience. Useful evidence, but substantial betting remains.</a:t>
            </a:r>
          </a:p>
          <a:p>
            <a:endParaRPr dirty="0"/>
          </a:p>
          <a:p>
            <a:r>
              <a:rPr dirty="0"/>
              <a:t>Next: structural argument. 'No dependency crosses this boundary — look.' The model proves a property of the structure, if the model is faithful to the code.</a:t>
            </a:r>
          </a:p>
          <a:p>
            <a:endParaRPr dirty="0"/>
          </a:p>
          <a:p>
            <a:r>
              <a:rPr dirty="0"/>
              <a:t>Then: quantitative prediction. 'About eleven and a half seconds' — a number derived from the model before the system exists.</a:t>
            </a:r>
          </a:p>
          <a:p>
            <a:endParaRPr dirty="0"/>
          </a:p>
          <a:p>
            <a:r>
              <a:rPr dirty="0"/>
              <a:t>Rightmost: observed evidence. 'Eleven point eight, measured.' The system itself speaking; least betting.</a:t>
            </a:r>
          </a:p>
          <a:p>
            <a:endParaRPr dirty="0"/>
          </a:p>
          <a:p>
            <a:r>
              <a:rPr dirty="0"/>
              <a:t>The rule of the spectrum: the more faithfully the model captures the property we care about, the less we have to bet. All four rungs are honest work — what is dishonest is selling a rung-one claim in rung-three clothes. Stakes decide how far right you must climb.</a:t>
            </a:r>
          </a:p>
          <a:p>
            <a:endParaRPr dirty="0"/>
          </a:p>
          <a:p>
            <a:r>
              <a:rPr dirty="0"/>
              <a:t>Let us climb it twice, for real — once for change, once for latency.</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Walk the change-locality analysis: specification names the expected change, architecture builds the seam, the dependency model shows whether the change crosses it.</a:t>
            </a:r>
          </a:p>
          <a:p>
            <a:endParaRPr dirty="0"/>
          </a:p>
          <a:p>
            <a:r>
              <a:rPr dirty="0"/>
              <a:t>- A-7E callback: yesterday's specification did not just constrain behavior — it identified expected changes. That is the input to this analysis.</a:t>
            </a:r>
          </a:p>
          <a:p>
            <a:endParaRPr dirty="0"/>
          </a:p>
          <a:p>
            <a:r>
              <a:rPr dirty="0"/>
              <a:t>- Running example: swap the illness model. Before — the delta touches UI, advice, storage. After — a model-service interface; the dependency model shows the anticipated change staying behind the seam.</a:t>
            </a:r>
          </a:p>
          <a:p>
            <a:endParaRPr dirty="0"/>
          </a:p>
          <a:p>
            <a:r>
              <a:rPr dirty="0"/>
              <a:t>- Precision question for the class: what claim did the model establish? A structural guarantee about the DEPENDENCY GRAPH — no edge crosses the seam — which underwrites qualitative confidence about the change, not a certainty about every future edit.</a:t>
            </a:r>
          </a:p>
          <a:p>
            <a:endParaRPr dirty="0"/>
          </a:p>
          <a:p>
            <a:r>
              <a:rPr dirty="0"/>
              <a:t>=====</a:t>
            </a:r>
          </a:p>
          <a:p>
            <a:r>
              <a:rPr dirty="0"/>
              <a:t>Remember the A-7E from yesterday: the specification told the implementor where the world was expected to move. Expected change is specification output — and architecture is where we act on it.</a:t>
            </a:r>
          </a:p>
          <a:p>
            <a:endParaRPr dirty="0"/>
          </a:p>
          <a:p>
            <a:r>
              <a:rPr dirty="0"/>
              <a:t>Suppose the expected change is replacing the illness model. In the organization on the left, look where the delta lands: the UI formats model output, advice reads its internals, storage knows its shape. One expected change touches everything.</a:t>
            </a:r>
          </a:p>
          <a:p>
            <a:endParaRPr dirty="0"/>
          </a:p>
          <a:p>
            <a:r>
              <a:rPr dirty="0"/>
              <a:t>On the right, we drew a seam — a model-service interface — and pointed every dependency at the interface instead of the model. Now inspect the dependency view: does any edge cross from outside to the model's insides? No. The dependency model shows the anticipated change staying behind the seam.</a:t>
            </a:r>
          </a:p>
          <a:p>
            <a:endParaRPr dirty="0"/>
          </a:p>
          <a:p>
            <a:r>
              <a:rPr dirty="0"/>
              <a:t>Be precise about the claim. The model establishes a structural fact about the dependency graph: no dependency crosses the boundary into the model's internals. That supports a strong argument for locality, provided the model remains faithful to the implementation and the change is the one we anticipated. That is rung two — and for most change arguments, rung two is exactly what you need.</a:t>
            </a:r>
          </a:p>
          <a:p>
            <a:endParaRPr dirty="0"/>
          </a:p>
          <a:p>
            <a:r>
              <a:rPr dirty="0"/>
              <a:t>Can architecture ever get us to rung three — an actual number, before we build? It can. This one is from a real system.</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Show a quantitative prediction from an architectural model: the weighted dependency graph identifies the modeled critical path, and decomposition is a candidate change you can test on the model.</a:t>
            </a:r>
          </a:p>
          <a:p>
            <a:endParaRPr dirty="0"/>
          </a:p>
          <a:p>
            <a:r>
              <a:rPr dirty="0"/>
              <a:t>- Provenance, say it: this graph is from DocAble, the document-accessibility system our case studies draw from. The full episode is the Interlude 'One Problem, Many Models' in the book — assigned reading; say so.</a:t>
            </a:r>
          </a:p>
          <a:p>
            <a:endParaRPr dirty="0"/>
          </a:p>
          <a:p>
            <a:r>
              <a:rPr dirty="0"/>
              <a:t>- Walk the arithmetic on-slide: the modeled critical path is A → B → F, 120 ms. Paths that cannot exceed that value do not determine this model's critical-path latency.</a:t>
            </a:r>
          </a:p>
          <a:p>
            <a:endParaRPr dirty="0"/>
          </a:p>
          <a:p>
            <a:r>
              <a:rPr dirty="0"/>
              <a:t>- The payoff move: decompose B into B1, B2, B3 — a candidate change evaluated against the model, before any implementation exists.</a:t>
            </a:r>
          </a:p>
          <a:p>
            <a:endParaRPr dirty="0"/>
          </a:p>
          <a:p>
            <a:r>
              <a:rPr dirty="0"/>
              <a:t>=====</a:t>
            </a:r>
          </a:p>
          <a:p>
            <a:r>
              <a:rPr dirty="0"/>
              <a:t>This one is real. The graph is from DocAble, a document-accessibility system we will keep returning to this semester — the full story of this analysis is in the Interlude called 'One Problem, Many Models,' which is in your assigned reading.</a:t>
            </a:r>
          </a:p>
          <a:p>
            <a:endParaRPr dirty="0"/>
          </a:p>
          <a:p>
            <a:r>
              <a:rPr dirty="0"/>
              <a:t>Same drawing discipline as before, but now the edges carry costs. Ask the latency question: how fast can a request possibly be? Follow the paths: the critical path runs A to B to F — one hundred twenty milliseconds. Given the dependencies and latency assumptions represented here, the model predicts a critical-path latency of 120 milliseconds. The organization has made that path unavoidable unless we change the organization.</a:t>
            </a:r>
          </a:p>
          <a:p>
            <a:endParaRPr dirty="0"/>
          </a:p>
          <a:p>
            <a:r>
              <a:rPr dirty="0"/>
              <a:t>And here is what makes the model worth having: it evaluates changes we have not made. Suppose we split B into three parallel parts — B1, B2, B3. Rerun the path arithmetic on the modified graph, and you have a predicted new floor, before anyone implements the split. That is rung three of the spectrum we just built: a quantitative prediction from an architectural model, about a system that does not exist yet.</a:t>
            </a:r>
          </a:p>
          <a:p>
            <a:endParaRPr dirty="0"/>
          </a:p>
          <a:p>
            <a:r>
              <a:rPr dirty="0"/>
              <a:t>The DocAble team did exactly this before committing to the decomposition. Notice what that is: buying information — Section 2's move — and the purchase was cheap because the model already existed.</a:t>
            </a:r>
          </a:p>
          <a:p>
            <a:endParaRPr dirty="0"/>
          </a:p>
          <a:p>
            <a:r>
              <a:rPr dirty="0"/>
              <a:t>Which raises an uncomfortable historical fact: it usually has not been cheap. What happens when it becomes cheap?</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The MAGE Moment: GenAI does not remove architectural tradeoffs; it lowers the cost of evidence about them, so the rational amount of evidence rises.</a:t>
            </a:r>
          </a:p>
          <a:p>
            <a:endParaRPr dirty="0"/>
          </a:p>
          <a:p>
            <a:r>
              <a:rPr dirty="0"/>
              <a:t>- Left side first, static: uncertainty, buy information, the price tags — models, prototypes, workload generators, competing implementations all cost engineering time. That cost historically rationed the buy-information box.</a:t>
            </a:r>
          </a:p>
          <a:p>
            <a:endParaRPr dirty="0"/>
          </a:p>
          <a:p>
            <a:r>
              <a:rPr dirty="0"/>
              <a:t>- Click 1: GenAI drops the cost of evidence; more questions become worth investigating. Keep it sober: the tradeoffs are untouched; the ECONOMICS of the diamond changed.</a:t>
            </a:r>
          </a:p>
          <a:p>
            <a:endParaRPr dirty="0"/>
          </a:p>
          <a:p>
            <a:r>
              <a:rPr dirty="0"/>
              <a:t>- Click 2: the MAGE Moment badge and the closer. Read the closer slowly, twice if the room is still writing.</a:t>
            </a:r>
          </a:p>
          <a:p>
            <a:endParaRPr dirty="0"/>
          </a:p>
          <a:p>
            <a:r>
              <a:rPr dirty="0"/>
              <a:t>- Anticipated pushback: 'so the agent picks the architecture?' No — deciding still needs preference and judgment; what got cheap is evidence, not responsibility.</a:t>
            </a:r>
          </a:p>
          <a:p>
            <a:endParaRPr dirty="0"/>
          </a:p>
          <a:p>
            <a:r>
              <a:rPr dirty="0"/>
              <a:t>=====</a:t>
            </a:r>
          </a:p>
          <a:p>
            <a:r>
              <a:rPr dirty="0"/>
              <a:t>Back in Section 2 I told you the rule: when uncertainty might change the decision, buy information. What I did not dwell on is the price list. A performance model is engineering days. A prototype is engineering weeks. Two competing implementations to compare honestly? Almost nobody pays that. The buy-evidence box was rationed. Historically, many architectural questions have been resolved primarily through engineering judgment because obtaining stronger evidence was too expensive.</a:t>
            </a:r>
          </a:p>
          <a:p>
            <a:endParaRPr dirty="0"/>
          </a:p>
          <a:p>
            <a:r>
              <a:rPr dirty="0"/>
              <a:t>ANIMATE</a:t>
            </a:r>
          </a:p>
          <a:p>
            <a:endParaRPr dirty="0"/>
          </a:p>
          <a:p>
            <a:r>
              <a:rPr dirty="0"/>
              <a:t>That price list is what just changed. An agent can build the throwaway prototype this afternoon. It can generate the workload, instrument both candidates, run the comparison. GenAI does not remove a single architectural tradeoff — latency still fights cost, coupling still fights flexibility. What it does is make evidence about those tradeoffs cheap. And when evidence gets cheap, the rational amount of evidence goes up. Questions that were never worth investigating now are.</a:t>
            </a:r>
          </a:p>
          <a:p>
            <a:endParaRPr dirty="0"/>
          </a:p>
          <a:p>
            <a:r>
              <a:rPr dirty="0"/>
              <a:t>ANIMATE</a:t>
            </a:r>
          </a:p>
          <a:p>
            <a:endParaRPr dirty="0"/>
          </a:p>
          <a:p>
            <a:r>
              <a:rPr dirty="0"/>
              <a:t>So the discipline, and it is the one line I want you to keep: do not ask the agent to choose your architecture. Use it to reduce how much of your architecture remains a bet. The tradeoff has not disappeared. Better evidence can reduce uncertainty about the consequences, but it cannot tell us which consequences matter unless those preferences and obligations have been established. And responsibility for accepting the resulting architecture does not disappear because an agent helped analyze it. The betting is what we can now buy down.</a:t>
            </a:r>
          </a:p>
          <a:p>
            <a:endParaRPr dirty="0"/>
          </a:p>
          <a:p>
            <a:r>
              <a:rPr dirty="0"/>
              <a:t>That is the full toolkit. Time to use all of it.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Release them into the decision: vocabulary is over, judgment begins.</a:t>
            </a:r>
          </a:p>
          <a:p>
            <a:endParaRPr dirty="0"/>
          </a:p>
          <a:p>
            <a:r>
              <a:rPr dirty="0"/>
              <a:t>- Do not pause for discussion.</a:t>
            </a:r>
          </a:p>
          <a:p>
            <a:endParaRPr dirty="0"/>
          </a:p>
          <a:p>
            <a:r>
              <a:rPr dirty="0"/>
              <a:t>=====</a:t>
            </a:r>
          </a:p>
          <a:p>
            <a:r>
              <a:rPr dirty="0"/>
              <a:t>Section five. You have the four questions, the decision discipline, a stock of patterns with priors, and models that turn some bets into claims. Enough vocabulary. Make the decision.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8 minutes — Teams produce TWO plausible organizations of a specified system; divergence, not convergence, is the deliverable.</a:t>
            </a:r>
          </a:p>
          <a:p>
            <a:endParaRPr dirty="0"/>
          </a:p>
          <a:p>
            <a:r>
              <a:rPr dirty="0"/>
              <a:t>- Teams of 3-4. Read the five obligations aloud once: two-second advice latency, no raw-data disclosure to sharing recipients, an independently changing illness model, sharing failure must not block local advice, a consistent seven-night weekly summary.</a:t>
            </a:r>
          </a:p>
          <a:p>
            <a:endParaRPr dirty="0"/>
          </a:p>
          <a:p>
            <a:r>
              <a:rPr dirty="0"/>
              <a:t>- The deliverable, repeat it twice: TWO plausible organizations — parts, boundaries, interactions sketched for each. Do not converge yet; do not pick a winner.</a:t>
            </a:r>
          </a:p>
          <a:p>
            <a:endParaRPr dirty="0"/>
          </a:p>
          <a:p>
            <a:r>
              <a:rPr dirty="0"/>
              <a:t>- Circulate. Watch for the failure modes: teams that converge in the first minute (make them build the rival seriously); boxes with no boundary rationale (ask: what does this boundary buy — which boundary test?); teams drawing THE diagram (ask which question it answers).</a:t>
            </a:r>
          </a:p>
          <a:p>
            <a:endParaRPr dirty="0"/>
          </a:p>
          <a:p>
            <a:r>
              <a:rPr dirty="0"/>
              <a:t>- If a team stalls, seed with the section-3 catalog: what would the event-based organization look like? The repository-centered one?</a:t>
            </a:r>
          </a:p>
          <a:p>
            <a:endParaRPr dirty="0"/>
          </a:p>
          <a:p>
            <a:r>
              <a:rPr dirty="0"/>
              <a:t>=====</a:t>
            </a:r>
          </a:p>
          <a:p>
            <a:r>
              <a:rPr dirty="0"/>
              <a:t>Here is a specification. Teams of three or four. Sketch the major parts, the boundaries between them, and how the parts may interact.</a:t>
            </a:r>
          </a:p>
          <a:p>
            <a:endParaRPr dirty="0"/>
          </a:p>
          <a:p>
            <a:r>
              <a:rPr dirty="0"/>
              <a:t>And produce two plausible organizations — two, genuinely different, both defensible. Do not converge on your favorite; do not vote yet. Your job is not to draw the obvious architecture. Your job is to produce two genuinely plausible organizations that satisfy all five obligations. If your second architecture is obviously stupid, it does not count — build the organization your rival team would build.</a:t>
            </a:r>
          </a:p>
          <a:p>
            <a:endParaRPr dirty="0"/>
          </a:p>
          <a:p>
            <a:r>
              <a:rPr dirty="0"/>
              <a:t>Eight minutes. Go.</a:t>
            </a:r>
          </a:p>
          <a:p>
            <a:endParaRPr dirty="0"/>
          </a:p>
          <a:p>
            <a:r>
              <a:rPr dirty="0"/>
              <a:t>While circulating, keep asking one question: what does that boundary buy you? Change together, fail together, scale together — which test justifies the line?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Teams defend a choice by walking the framework; the defense, not the winner, is what gets graded.</a:t>
            </a:r>
          </a:p>
          <a:p>
            <a:endParaRPr dirty="0"/>
          </a:p>
          <a:p>
            <a:r>
              <a:rPr dirty="0"/>
              <a:t>- Walk the checklist on-slide, in order: specification violations? Pareto-dominated? what tradeoff remains? what model would distinguish the candidates? what information would you buy before committing?</a:t>
            </a:r>
          </a:p>
          <a:p>
            <a:endParaRPr dirty="0"/>
          </a:p>
          <a:p>
            <a:r>
              <a:rPr dirty="0"/>
              <a:t>- Take 2-3 teams. For each: make them locate their argument on the framework — which step eliminated which candidate, and what remains a genuine tradeoff.</a:t>
            </a:r>
          </a:p>
          <a:p>
            <a:endParaRPr dirty="0"/>
          </a:p>
          <a:p>
            <a:r>
              <a:rPr dirty="0"/>
              <a:t>- Push on the model question: name the model and the claim it would establish — 'we would draw the dependency view and check the expected change crosses no seam.'</a:t>
            </a:r>
          </a:p>
          <a:p>
            <a:endParaRPr dirty="0"/>
          </a:p>
          <a:p>
            <a:r>
              <a:rPr dirty="0"/>
              <a:t>- Land the closing line verbatim: there need not be one correct architecture. Different judgments, honestly defended, can both be right.</a:t>
            </a:r>
          </a:p>
          <a:p>
            <a:endParaRPr dirty="0"/>
          </a:p>
          <a:p>
            <a:r>
              <a:rPr dirty="0"/>
              <a:t>=====</a:t>
            </a:r>
          </a:p>
          <a:p>
            <a:r>
              <a:rPr dirty="0"/>
              <a:t>Now defend one. Not 'which did you like' — walk the framework.</a:t>
            </a:r>
          </a:p>
          <a:p>
            <a:endParaRPr dirty="0"/>
          </a:p>
          <a:p>
            <a:r>
              <a:rPr dirty="0"/>
              <a:t>First: does either candidate violate the specification? If so it is out, and that is not a preference. Second: is either dominated — worse or equal everywhere? Out, for free. Third: what genuine tradeoff remains between the survivors — what does each buy that the other cannot?</a:t>
            </a:r>
          </a:p>
          <a:p>
            <a:endParaRPr dirty="0"/>
          </a:p>
          <a:p>
            <a:r>
              <a:rPr dirty="0"/>
              <a:t>Fourth — and this is the section-4 move — what architectural model would distinguish them? Which view would you draw, and what claim would it establish? And fifth: what would you want to know before committing, and is it worth buying?</a:t>
            </a:r>
          </a:p>
          <a:p>
            <a:endParaRPr dirty="0"/>
          </a:p>
          <a:p>
            <a:r>
              <a:rPr dirty="0"/>
              <a:t>Take a couple of teams through it. Disagreement between teams is the desired outcome — surface a pair that chose differently and let each give the framework defense.</a:t>
            </a:r>
          </a:p>
          <a:p>
            <a:endParaRPr dirty="0"/>
          </a:p>
          <a:p>
            <a:r>
              <a:rPr dirty="0"/>
              <a:t>Close on this: there need not be one correct architecture. What is required is that the choice survive the walk you just did. That is what defending an architectural decision means.</a:t>
            </a:r>
          </a:p>
          <a:p>
            <a:endParaRPr dirty="0"/>
          </a:p>
          <a:p>
            <a:r>
              <a:rPr dirty="0"/>
              <a:t>Last thing today: where does this sit in the arc of the course?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Close by locating architecture between specification and design, and hand off to next lecture.</a:t>
            </a:r>
          </a:p>
          <a:p>
            <a:endParaRPr dirty="0"/>
          </a:p>
          <a:p>
            <a:r>
              <a:rPr dirty="0"/>
              <a:t>- It is the realization-space picture from the opening section, extended downward. Students should recognize it; do not re-teach it.</a:t>
            </a:r>
          </a:p>
          <a:p>
            <a:endParaRPr dirty="0"/>
          </a:p>
          <a:p>
            <a:r>
              <a:rPr dirty="0"/>
              <a:t>- Six quick builds. Keep the pace up until the brace; the closing question is the handoff.</a:t>
            </a:r>
          </a:p>
          <a:p>
            <a:endParaRPr dirty="0"/>
          </a:p>
          <a:p>
            <a:r>
              <a:rPr dirty="0"/>
              <a:t>- The three-line summary is the takeaway: specification constrains WHAT an acceptable system may do; architecture chooses HOW it is organized; design chooses how each part realizes its responsibility.</a:t>
            </a:r>
          </a:p>
          <a:p>
            <a:endParaRPr dirty="0"/>
          </a:p>
          <a:p>
            <a:r>
              <a:rPr dirty="0"/>
              <a:t>=====</a:t>
            </a:r>
          </a:p>
          <a:p>
            <a:r>
              <a:rPr dirty="0"/>
              <a:t>We close where we opened. Requirements — what should be true.</a:t>
            </a:r>
          </a:p>
          <a:p>
            <a:endParaRPr dirty="0"/>
          </a:p>
          <a:p>
            <a:r>
              <a:rPr dirty="0"/>
              <a:t>ANIMATE</a:t>
            </a:r>
          </a:p>
          <a:p>
            <a:endParaRPr dirty="0"/>
          </a:p>
          <a:p>
            <a:r>
              <a:rPr dirty="0"/>
              <a:t>Specification — the consequential obligations, made explicit.</a:t>
            </a:r>
          </a:p>
          <a:p>
            <a:endParaRPr dirty="0"/>
          </a:p>
          <a:p>
            <a:r>
              <a:rPr dirty="0"/>
              <a:t>ANIMATE</a:t>
            </a:r>
          </a:p>
          <a:p>
            <a:endParaRPr dirty="0"/>
          </a:p>
          <a:p>
            <a:r>
              <a:rPr dirty="0"/>
              <a:t>Which leaves a space of acceptable realizations: A, B, C.</a:t>
            </a:r>
          </a:p>
          <a:p>
            <a:endParaRPr dirty="0"/>
          </a:p>
          <a:p>
            <a:r>
              <a:rPr dirty="0"/>
              <a:t>ANIMATE</a:t>
            </a:r>
          </a:p>
          <a:p>
            <a:endParaRPr dirty="0"/>
          </a:p>
          <a:p>
            <a:r>
              <a:rPr dirty="0"/>
              <a:t>Today's move: choose one, and organize it. Architecture — the parts, the boundaries, the rules of interaction, chosen under tradeoffs, defended with judgment and, where the stakes warrant, with models.</a:t>
            </a:r>
          </a:p>
          <a:p>
            <a:endParaRPr dirty="0"/>
          </a:p>
          <a:p>
            <a:r>
              <a:rPr dirty="0"/>
              <a:t>ANIMATE</a:t>
            </a:r>
          </a:p>
          <a:p>
            <a:endParaRPr dirty="0"/>
          </a:p>
          <a:p>
            <a:r>
              <a:rPr dirty="0"/>
              <a:t>The organization gives us parts — each with a responsibility and an interface.</a:t>
            </a:r>
          </a:p>
          <a:p>
            <a:endParaRPr dirty="0"/>
          </a:p>
          <a:p>
            <a:r>
              <a:rPr dirty="0"/>
              <a:t>ANIMATE</a:t>
            </a:r>
          </a:p>
          <a:p>
            <a:endParaRPr dirty="0"/>
          </a:p>
          <a:p>
            <a:r>
              <a:rPr dirty="0"/>
              <a:t>And each part now poses its own problem: how should it realize its responsibility? That is design.</a:t>
            </a:r>
          </a:p>
          <a:p>
            <a:endParaRPr dirty="0"/>
          </a:p>
          <a:p>
            <a:r>
              <a:rPr dirty="0"/>
              <a:t>ANIMATE</a:t>
            </a:r>
          </a:p>
          <a:p>
            <a:endParaRPr dirty="0"/>
          </a:p>
          <a:p>
            <a:r>
              <a:rPr dirty="0"/>
              <a:t>So the ladder: specification constrains what an acceptable system may do. Architecture chooses how it is organized and how its parts interact. Design chooses how each part does its job. Next time: given one of these parts, how do we engineer it well?</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Think about a building. The architect need not specify the exact plumbing fittings inside this wall. But the architecture has already made consequential decisions: where the wall goes, how thick it is, which spaces may be penetrated, perhaps where the service chase runs.</a:t>
            </a:r>
          </a:p>
          <a:p>
            <a:endParaRPr dirty="0"/>
          </a:p>
          <a:p>
            <a:r>
              <a:rPr dirty="0"/>
              <a:t>Those choices do not determine the plumbing design. They create the possibilities and constraints within which the plumbing designer works.</a:t>
            </a:r>
          </a:p>
          <a:p>
            <a:endParaRPr dirty="0"/>
          </a:p>
          <a:p>
            <a:r>
              <a:rPr dirty="0"/>
              <a:t>Software architecture does the same thing. A boundary, interface, deployment decision, or interaction rule leaves many implementations possible, but it changes which implementations are easy, difficult, or impossible.</a:t>
            </a:r>
          </a:p>
          <a:p>
            <a:endParaRPr dirty="0"/>
          </a:p>
          <a:p>
            <a:r>
              <a:rPr dirty="0"/>
              <a:t>That is why architecture matters before we open the boxes and design their internals.</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There was one test in the header of the previous slide that I did not explain: owned together?</a:t>
            </a:r>
          </a:p>
          <a:p>
            <a:endParaRPr dirty="0"/>
          </a:p>
          <a:p>
            <a:r>
              <a:rPr dirty="0"/>
              <a:t>Architectural boundaries do not only affect the software. They also affect how we can divide the engineering work.</a:t>
            </a:r>
          </a:p>
          <a:p>
            <a:endParaRPr dirty="0"/>
          </a:p>
          <a:p>
            <a:r>
              <a:rPr dirty="0"/>
              <a:t>[ANIMATE] Once we have coarse-grained parts with reasonably clear responsibilities and interfaces, those parts can become units of ownership. One team might own collection, another classification, another sharing. If the boundaries are good, some changes can happen largely inside one team’s part.</a:t>
            </a:r>
          </a:p>
          <a:p>
            <a:endParaRPr dirty="0"/>
          </a:p>
          <a:p>
            <a:r>
              <a:rPr dirty="0"/>
              <a:t>[ANIMATE] Change the architecture, and you change the possible division of labor. If collection and storage are deliberately one architectural unit, perhaps they should be reasoned about and owned together. If a feature routinely cuts across three architectural boundaries, implementing that feature may require coordination among three teams.</a:t>
            </a:r>
          </a:p>
          <a:p>
            <a:endParaRPr dirty="0"/>
          </a:p>
          <a:p>
            <a:r>
              <a:rPr dirty="0"/>
              <a:t>This connection between software structure and organizational structure is old enough to have a name: Conway’s Law.</a:t>
            </a:r>
          </a:p>
          <a:p>
            <a:endParaRPr dirty="0"/>
          </a:p>
          <a:p>
            <a:r>
              <a:rPr dirty="0"/>
              <a:t>[ANIMATE] Mel Conway observed that organizations tend to design systems whose communication structures resemble their own. If two groups must communicate constantly to build something, that relationship tends to appear in the system they produce.</a:t>
            </a:r>
          </a:p>
          <a:p>
            <a:endParaRPr dirty="0"/>
          </a:p>
          <a:p>
            <a:r>
              <a:rPr dirty="0"/>
              <a:t>Do not read this as a law saying that every component needs its own team, or that we should simply draw our org chart as software. The useful engineering point is that the relationship runs both ways for us. The organization we already have can push the architecture toward certain boundaries. And the architecture we choose can make some divisions of engineering work much easier than others.</a:t>
            </a:r>
          </a:p>
          <a:p>
            <a:endParaRPr dirty="0"/>
          </a:p>
          <a:p>
            <a:r>
              <a:rPr dirty="0"/>
              <a:t>[ANIMATE] So extend the principle from the previous slide: architecture allocates coupling in software and coordination among people.</a:t>
            </a:r>
          </a:p>
          <a:p>
            <a:endParaRPr dirty="0"/>
          </a:p>
          <a:p>
            <a:r>
              <a:rPr dirty="0"/>
              <a:t>That gives us one more consequence to consider when choosing among acceptable architectures. Different organizations of the same acceptable system may require very different patterns of human coordination.</a:t>
            </a:r>
          </a:p>
          <a:p>
            <a:endParaRPr dirty="0"/>
          </a:p>
          <a:p>
            <a:r>
              <a:rPr dirty="0"/>
              <a:t>And that brings us to the next question: if several architectures remain acceptable, how do we choose among them?</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Relationships xmlns="http://schemas.openxmlformats.org/package/2006/relationships">
  <Relationship Id="rId2" Type="http://schemas.openxmlformats.org/officeDocument/2006/relationships/notesSlide" Target="../notesSlides/notesSlide30.xml"/>
  <Relationship Id="rId1" Type="http://schemas.openxmlformats.org/officeDocument/2006/relationships/slideLayout" Target="../slideLayouts/slideLayout2.xml"/>
</Relationships>

</file>

<file path=ppt/slides/_rels/slide31.xml.rels><?xml version="1.0" encoding="utf-8"?>
<Relationships xmlns="http://schemas.openxmlformats.org/package/2006/relationships">
  <Relationship Id="rId2" Type="http://schemas.openxmlformats.org/officeDocument/2006/relationships/notesSlide" Target="../notesSlides/notesSlide31.xml"/>
  <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pPr>
              <a:defRPr b="0"/>
            </a:pPr>
            <a:r>
              <a:rPr lang="en-US" sz="2000" b="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Software Architecture</a:t>
            </a:r>
          </a:p>
          <a:p>
            <a:r>
              <a:rPr lang="en-US" sz="2800" i="1" dirty="0">
                <a:solidFill>
                  <a:srgbClr val="8E6F3E"/>
                </a:solidFill>
              </a:rPr>
              <a:t>How should one acceptable system be organized?</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36525"/>
            <a:ext cx="9701739" cy="638175"/>
          </a:xfrm>
        </p:spPr>
        <p:txBody>
          <a:bodyPr>
            <a:normAutofit fontScale="90000"/>
          </a:bodyPr>
          <a:lstStyle/>
          <a:p>
            <a:pPr algn="l">
              <a:buNone/>
              <a:defRPr b="0"/>
            </a:pPr>
            <a:r>
              <a:rPr lang="en-US" sz="1800" b="0" i="0" dirty="0">
                <a:solidFill>
                  <a:srgbClr val="000000"/>
                </a:solidFill>
              </a:rPr>
              <a:t>In specification we separate obligations. In architecture we must build ONE machine</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60" name="StateCard"/>
          <p:cNvSpPr/>
          <p:nvPr/>
        </p:nvSpPr>
        <p:spPr>
          <a:xfrm>
            <a:off x="289408" y="10903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STATE VIEW</a:t>
            </a:r>
          </a:p>
        </p:txBody>
      </p:sp>
      <p:sp>
        <p:nvSpPr>
          <p:cNvPr id="61" name="ActivityCard"/>
          <p:cNvSpPr/>
          <p:nvPr/>
        </p:nvSpPr>
        <p:spPr>
          <a:xfrm>
            <a:off x="6099592" y="10903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ACTIVITY</a:t>
            </a:r>
          </a:p>
        </p:txBody>
      </p:sp>
      <p:sp>
        <p:nvSpPr>
          <p:cNvPr id="62" name="SchemaCard"/>
          <p:cNvSpPr/>
          <p:nvPr/>
        </p:nvSpPr>
        <p:spPr>
          <a:xfrm>
            <a:off x="289408" y="48371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SCHEMA</a:t>
            </a:r>
          </a:p>
        </p:txBody>
      </p:sp>
      <p:sp>
        <p:nvSpPr>
          <p:cNvPr id="63" name="TimingCard"/>
          <p:cNvSpPr/>
          <p:nvPr/>
        </p:nvSpPr>
        <p:spPr>
          <a:xfrm>
            <a:off x="6099592" y="48371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TIMING / OTHER</a:t>
            </a:r>
          </a:p>
        </p:txBody>
      </p:sp>
      <p:cxnSp>
        <p:nvCxnSpPr>
          <p:cNvPr id="64" name="Arr64"/>
          <p:cNvCxnSpPr/>
          <p:nvPr/>
        </p:nvCxnSpPr>
        <p:spPr>
          <a:xfrm>
            <a:off x="2916700" y="2522900"/>
            <a:ext cx="500000" cy="544850"/>
          </a:xfrm>
          <a:prstGeom prst="line">
            <a:avLst/>
          </a:prstGeom>
          <a:ln w="28575">
            <a:solidFill>
              <a:srgbClr val="8E6F3E"/>
            </a:solidFill>
            <a:tailEnd type="triangle" w="med" len="med"/>
          </a:ln>
        </p:spPr>
      </p:cxnSp>
      <p:cxnSp>
        <p:nvCxnSpPr>
          <p:cNvPr id="65" name="Arr65"/>
          <p:cNvCxnSpPr/>
          <p:nvPr/>
        </p:nvCxnSpPr>
        <p:spPr>
          <a:xfrm flipH="1">
            <a:off x="5727300" y="2522900"/>
            <a:ext cx="500000" cy="544850"/>
          </a:xfrm>
          <a:prstGeom prst="line">
            <a:avLst/>
          </a:prstGeom>
          <a:ln w="28575">
            <a:solidFill>
              <a:srgbClr val="8E6F3E"/>
            </a:solidFill>
            <a:tailEnd type="triangle" w="med" len="med"/>
          </a:ln>
        </p:spPr>
      </p:cxnSp>
      <p:cxnSp>
        <p:nvCxnSpPr>
          <p:cNvPr id="66" name="Arr66"/>
          <p:cNvCxnSpPr/>
          <p:nvPr/>
        </p:nvCxnSpPr>
        <p:spPr>
          <a:xfrm flipV="1">
            <a:off x="2916700" y="4567750"/>
            <a:ext cx="500000" cy="269350"/>
          </a:xfrm>
          <a:prstGeom prst="line">
            <a:avLst/>
          </a:prstGeom>
          <a:ln w="28575">
            <a:solidFill>
              <a:srgbClr val="8E6F3E"/>
            </a:solidFill>
            <a:tailEnd type="triangle" w="med" len="med"/>
          </a:ln>
        </p:spPr>
      </p:cxnSp>
      <p:cxnSp>
        <p:nvCxnSpPr>
          <p:cNvPr id="67" name="Arr67"/>
          <p:cNvCxnSpPr/>
          <p:nvPr/>
        </p:nvCxnSpPr>
        <p:spPr>
          <a:xfrm flipH="1" flipV="1">
            <a:off x="5727300" y="4567750"/>
            <a:ext cx="500000" cy="269350"/>
          </a:xfrm>
          <a:prstGeom prst="line">
            <a:avLst/>
          </a:prstGeom>
          <a:ln w="28575">
            <a:solidFill>
              <a:srgbClr val="8E6F3E"/>
            </a:solidFill>
            <a:tailEnd type="triangle" w="med" len="med"/>
          </a:ln>
        </p:spPr>
      </p:cxnSp>
      <p:sp>
        <p:nvSpPr>
          <p:cNvPr id="68" name="OneMachine"/>
          <p:cNvSpPr/>
          <p:nvPr/>
        </p:nvSpPr>
        <p:spPr>
          <a:xfrm>
            <a:off x="2622000" y="3067750"/>
            <a:ext cx="3900000" cy="1500000"/>
          </a:xfrm>
          <a:prstGeom prst="rect">
            <a:avLst/>
          </a:prstGeom>
          <a:solidFill>
            <a:srgbClr val="8E6F3E"/>
          </a:solidFill>
          <a:ln>
            <a:noFill/>
          </a:ln>
        </p:spPr>
        <p:txBody>
          <a:bodyPr wrap="square" lIns="109728" tIns="82296" rIns="109728" bIns="82296" anchor="ctr">
            <a:normAutofit/>
          </a:bodyPr>
          <a:lstStyle/>
          <a:p>
            <a:pPr algn="ctr">
              <a:buNone/>
            </a:pPr>
            <a:r>
              <a:rPr lang="en-US" sz="4600" b="1" i="0" dirty="0">
                <a:solidFill>
                  <a:srgbClr val="FFFFFF"/>
                </a:solidFill>
              </a:rPr>
              <a:t>ONE MACHINE</a:t>
            </a:r>
          </a:p>
        </p:txBody>
      </p:sp>
      <p:sp>
        <p:nvSpPr>
          <p:cNvPr id="70" name="StateN1"/>
          <p:cNvSpPr/>
          <p:nvPr/>
        </p:nvSpPr>
        <p:spPr>
          <a:xfrm>
            <a:off x="450000" y="1690000"/>
            <a:ext cx="900000" cy="430000"/>
          </a:xfrm>
          <a:prstGeom prst="round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asleep</a:t>
            </a:r>
          </a:p>
        </p:txBody>
      </p:sp>
      <p:sp>
        <p:nvSpPr>
          <p:cNvPr id="71" name="StateN2"/>
          <p:cNvSpPr/>
          <p:nvPr/>
        </p:nvSpPr>
        <p:spPr>
          <a:xfrm>
            <a:off x="1980000" y="1690000"/>
            <a:ext cx="900000" cy="430000"/>
          </a:xfrm>
          <a:prstGeom prst="round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awake</a:t>
            </a:r>
          </a:p>
        </p:txBody>
      </p:sp>
      <p:cxnSp>
        <p:nvCxnSpPr>
          <p:cNvPr id="72" name="StateArr"/>
          <p:cNvCxnSpPr/>
          <p:nvPr/>
        </p:nvCxnSpPr>
        <p:spPr>
          <a:xfrm>
            <a:off x="1360000" y="1905000"/>
            <a:ext cx="610000" cy="0"/>
          </a:xfrm>
          <a:prstGeom prst="line">
            <a:avLst/>
          </a:prstGeom>
          <a:ln w="28575">
            <a:solidFill>
              <a:srgbClr val="8E6F3E"/>
            </a:solidFill>
            <a:tailEnd type="triangle" w="med" len="med"/>
          </a:ln>
        </p:spPr>
      </p:cxnSp>
      <p:sp>
        <p:nvSpPr>
          <p:cNvPr id="73" name="ActChev1"/>
          <p:cNvSpPr/>
          <p:nvPr/>
        </p:nvSpPr>
        <p:spPr>
          <a:xfrm>
            <a:off x="6299592" y="1690000"/>
            <a:ext cx="1150000" cy="430000"/>
          </a:xfrm>
          <a:prstGeom prst="homePlate">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collect</a:t>
            </a:r>
          </a:p>
        </p:txBody>
      </p:sp>
      <p:sp>
        <p:nvSpPr>
          <p:cNvPr id="74" name="ActChev2"/>
          <p:cNvSpPr/>
          <p:nvPr/>
        </p:nvSpPr>
        <p:spPr>
          <a:xfrm>
            <a:off x="7529592" y="1690000"/>
            <a:ext cx="1150000" cy="430000"/>
          </a:xfrm>
          <a:prstGeom prst="homePlate">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classify</a:t>
            </a:r>
          </a:p>
        </p:txBody>
      </p:sp>
      <p:sp>
        <p:nvSpPr>
          <p:cNvPr id="75" name="SchHdr"/>
          <p:cNvSpPr/>
          <p:nvPr/>
        </p:nvSpPr>
        <p:spPr>
          <a:xfrm>
            <a:off x="917000" y="5270000"/>
            <a:ext cx="1500000" cy="330000"/>
          </a:xfrm>
          <a:prstGeom prst="rect">
            <a:avLst/>
          </a:prstGeom>
          <a:solidFill>
            <a:srgbClr val="8E6F3E"/>
          </a:solidFill>
          <a:ln w="15875">
            <a:solidFill>
              <a:srgbClr val="8E6F3E"/>
            </a:solidFill>
          </a:ln>
        </p:spPr>
        <p:txBody>
          <a:bodyPr wrap="square" lIns="54864" tIns="27432" rIns="54864" bIns="27432" anchor="ctr">
            <a:normAutofit/>
          </a:bodyPr>
          <a:lstStyle/>
          <a:p>
            <a:pPr algn="ctr">
              <a:buNone/>
            </a:pPr>
            <a:r>
              <a:rPr lang="en-US" sz="1200" b="1" i="0" dirty="0">
                <a:solidFill>
                  <a:srgbClr val="FFFFFF"/>
                </a:solidFill>
              </a:rPr>
              <a:t>NIGHT SUMMARY</a:t>
            </a:r>
          </a:p>
        </p:txBody>
      </p:sp>
      <p:sp>
        <p:nvSpPr>
          <p:cNvPr id="76" name="SchR1"/>
          <p:cNvSpPr/>
          <p:nvPr/>
        </p:nvSpPr>
        <p:spPr>
          <a:xfrm>
            <a:off x="917000" y="5600000"/>
            <a:ext cx="1500000" cy="33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200" b="0" i="0" dirty="0">
                <a:solidFill>
                  <a:srgbClr val="000000"/>
                </a:solidFill>
              </a:rPr>
              <a:t>date · score</a:t>
            </a:r>
          </a:p>
        </p:txBody>
      </p:sp>
      <p:sp>
        <p:nvSpPr>
          <p:cNvPr id="77" name="SchR2"/>
          <p:cNvSpPr/>
          <p:nvPr/>
        </p:nvSpPr>
        <p:spPr>
          <a:xfrm>
            <a:off x="917000" y="5930000"/>
            <a:ext cx="1500000" cy="33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200" b="0" i="0" dirty="0">
                <a:solidFill>
                  <a:srgbClr val="000000"/>
                </a:solidFill>
              </a:rPr>
              <a:t>advice</a:t>
            </a:r>
          </a:p>
        </p:txBody>
      </p:sp>
      <p:cxnSp>
        <p:nvCxnSpPr>
          <p:cNvPr id="78" name="TimeLine"/>
          <p:cNvCxnSpPr/>
          <p:nvPr/>
        </p:nvCxnSpPr>
        <p:spPr>
          <a:xfrm>
            <a:off x="6329592" y="5760000"/>
            <a:ext cx="2295000" cy="0"/>
          </a:xfrm>
          <a:prstGeom prst="line">
            <a:avLst/>
          </a:prstGeom>
          <a:ln w="28575">
            <a:solidFill>
              <a:srgbClr val="8E6F3E"/>
            </a:solidFill>
            <a:tailEnd type="triangle" w="med" len="med"/>
          </a:ln>
        </p:spPr>
      </p:cxnSp>
      <p:cxnSp>
        <p:nvCxnSpPr>
          <p:cNvPr id="79" name="TimeTick"/>
          <p:cNvCxnSpPr/>
          <p:nvPr/>
        </p:nvCxnSpPr>
        <p:spPr>
          <a:xfrm>
            <a:off x="6329592" y="5670000"/>
            <a:ext cx="0" cy="180000"/>
          </a:xfrm>
          <a:prstGeom prst="line">
            <a:avLst/>
          </a:prstGeom>
          <a:ln w="28575">
            <a:solidFill>
              <a:srgbClr val="8E6F3E"/>
            </a:solidFill>
          </a:ln>
        </p:spPr>
      </p:cxnSp>
      <p:sp>
        <p:nvSpPr>
          <p:cNvPr id="80" name="TimeLblTop"/>
          <p:cNvSpPr/>
          <p:nvPr/>
        </p:nvSpPr>
        <p:spPr>
          <a:xfrm>
            <a:off x="6329592" y="5350000"/>
            <a:ext cx="2295000" cy="320000"/>
          </a:xfrm>
          <a:prstGeom prst="rect">
            <a:avLst/>
          </a:prstGeom>
          <a:noFill/>
          <a:ln>
            <a:noFill/>
          </a:ln>
        </p:spPr>
        <p:txBody>
          <a:bodyPr wrap="square" lIns="54864" tIns="27432" rIns="54864" bIns="27432" anchor="ctr">
            <a:normAutofit/>
          </a:bodyPr>
          <a:lstStyle/>
          <a:p>
            <a:pPr algn="ctr">
              <a:buNone/>
            </a:pPr>
            <a:r>
              <a:rPr lang="en-US" sz="1400" b="0" i="0" dirty="0">
                <a:solidFill>
                  <a:srgbClr val="000000"/>
                </a:solidFill>
              </a:rPr>
              <a:t>≤ 60 seconds</a:t>
            </a:r>
          </a:p>
        </p:txBody>
      </p:sp>
      <p:sp>
        <p:nvSpPr>
          <p:cNvPr id="81" name="TimeLblBot"/>
          <p:cNvSpPr/>
          <p:nvPr/>
        </p:nvSpPr>
        <p:spPr>
          <a:xfrm>
            <a:off x="6329592" y="5890000"/>
            <a:ext cx="2295000" cy="300000"/>
          </a:xfrm>
          <a:prstGeom prst="rect">
            <a:avLst/>
          </a:prstGeom>
          <a:noFill/>
          <a:ln>
            <a:noFill/>
          </a:ln>
        </p:spPr>
        <p:txBody>
          <a:bodyPr wrap="square" lIns="54864" tIns="27432" rIns="54864" bIns="27432" anchor="ctr">
            <a:normAutofit/>
          </a:bodyPr>
          <a:lstStyle/>
          <a:p>
            <a:pPr algn="ctr">
              <a:buNone/>
            </a:pPr>
            <a:r>
              <a:rPr lang="en-US" sz="1200" b="0" i="0" dirty="0">
                <a:solidFill>
                  <a:srgbClr val="000000"/>
                </a:solidFill>
              </a:rPr>
              <a:t>privacy · 7 nights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par>
                                <p:cTn id="8" presetID="10" presetClass="entr" presetSubtype="0" fill="hold" nodeType="withEffect">
                                  <p:stCondLst>
                                    <p:cond delay="0"/>
                                  </p:stCondLst>
                                  <p:childTnLst>
                                    <p:set>
                                      <p:cBhvr>
                                        <p:cTn id="9" dur="1" fill="hold">
                                          <p:stCondLst>
                                            <p:cond delay="0"/>
                                          </p:stCondLst>
                                        </p:cTn>
                                        <p:tgtEl>
                                          <p:spTgt spid="70"/>
                                        </p:tgtEl>
                                        <p:attrNameLst>
                                          <p:attrName>style.visibility</p:attrName>
                                        </p:attrNameLst>
                                      </p:cBhvr>
                                      <p:to>
                                        <p:strVal val="visible"/>
                                      </p:to>
                                    </p:set>
                                    <p:animEffect transition="in" filter="fade">
                                      <p:cBhvr>
                                        <p:cTn id="10" dur="400"/>
                                        <p:tgtEl>
                                          <p:spTgt spid="70"/>
                                        </p:tgtEl>
                                      </p:cBhvr>
                                    </p:animEffect>
                                  </p:childTnLst>
                                </p:cTn>
                              </p:par>
                              <p:par>
                                <p:cTn id="11" presetID="10" presetClass="entr" presetSubtype="0" fill="hold" nodeType="withEffect">
                                  <p:stCondLst>
                                    <p:cond delay="0"/>
                                  </p:stCondLst>
                                  <p:childTnLst>
                                    <p:set>
                                      <p:cBhvr>
                                        <p:cTn id="12" dur="1" fill="hold">
                                          <p:stCondLst>
                                            <p:cond delay="0"/>
                                          </p:stCondLst>
                                        </p:cTn>
                                        <p:tgtEl>
                                          <p:spTgt spid="71"/>
                                        </p:tgtEl>
                                        <p:attrNameLst>
                                          <p:attrName>style.visibility</p:attrName>
                                        </p:attrNameLst>
                                      </p:cBhvr>
                                      <p:to>
                                        <p:strVal val="visible"/>
                                      </p:to>
                                    </p:set>
                                    <p:animEffect transition="in" filter="fade">
                                      <p:cBhvr>
                                        <p:cTn id="13" dur="400"/>
                                        <p:tgtEl>
                                          <p:spTgt spid="71"/>
                                        </p:tgtEl>
                                      </p:cBhvr>
                                    </p:animEffect>
                                  </p:childTnLst>
                                </p:cTn>
                              </p:par>
                              <p:par>
                                <p:cTn id="14" presetID="10" presetClass="entr" presetSubtype="0" fill="hold" nodeType="withEffect">
                                  <p:stCondLst>
                                    <p:cond delay="0"/>
                                  </p:stCondLst>
                                  <p:childTnLst>
                                    <p:set>
                                      <p:cBhvr>
                                        <p:cTn id="15" dur="1" fill="hold">
                                          <p:stCondLst>
                                            <p:cond delay="0"/>
                                          </p:stCondLst>
                                        </p:cTn>
                                        <p:tgtEl>
                                          <p:spTgt spid="72"/>
                                        </p:tgtEl>
                                        <p:attrNameLst>
                                          <p:attrName>style.visibility</p:attrName>
                                        </p:attrNameLst>
                                      </p:cBhvr>
                                      <p:to>
                                        <p:strVal val="visible"/>
                                      </p:to>
                                    </p:set>
                                    <p:animEffect transition="in" filter="fade">
                                      <p:cBhvr>
                                        <p:cTn id="16" dur="400"/>
                                        <p:tgtEl>
                                          <p:spTgt spid="7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1"/>
                                        </p:tgtEl>
                                        <p:attrNameLst>
                                          <p:attrName>style.visibility</p:attrName>
                                        </p:attrNameLst>
                                      </p:cBhvr>
                                      <p:to>
                                        <p:strVal val="visible"/>
                                      </p:to>
                                    </p:set>
                                    <p:animEffect transition="in" filter="fade">
                                      <p:cBhvr>
                                        <p:cTn id="21" dur="400"/>
                                        <p:tgtEl>
                                          <p:spTgt spid="61"/>
                                        </p:tgtEl>
                                      </p:cBhvr>
                                    </p:animEffect>
                                  </p:childTnLst>
                                </p:cTn>
                              </p:par>
                              <p:par>
                                <p:cTn id="22" presetID="10" presetClass="entr" presetSubtype="0" fill="hold" nodeType="withEffect">
                                  <p:stCondLst>
                                    <p:cond delay="0"/>
                                  </p:stCondLst>
                                  <p:childTnLst>
                                    <p:set>
                                      <p:cBhvr>
                                        <p:cTn id="23" dur="1" fill="hold">
                                          <p:stCondLst>
                                            <p:cond delay="0"/>
                                          </p:stCondLst>
                                        </p:cTn>
                                        <p:tgtEl>
                                          <p:spTgt spid="73"/>
                                        </p:tgtEl>
                                        <p:attrNameLst>
                                          <p:attrName>style.visibility</p:attrName>
                                        </p:attrNameLst>
                                      </p:cBhvr>
                                      <p:to>
                                        <p:strVal val="visible"/>
                                      </p:to>
                                    </p:set>
                                    <p:animEffect transition="in" filter="fade">
                                      <p:cBhvr>
                                        <p:cTn id="24" dur="400"/>
                                        <p:tgtEl>
                                          <p:spTgt spid="73"/>
                                        </p:tgtEl>
                                      </p:cBhvr>
                                    </p:animEffect>
                                  </p:childTnLst>
                                </p:cTn>
                              </p:par>
                              <p:par>
                                <p:cTn id="25" presetID="10" presetClass="entr" presetSubtype="0" fill="hold" nodeType="withEffect">
                                  <p:stCondLst>
                                    <p:cond delay="0"/>
                                  </p:stCondLst>
                                  <p:childTnLst>
                                    <p:set>
                                      <p:cBhvr>
                                        <p:cTn id="26" dur="1" fill="hold">
                                          <p:stCondLst>
                                            <p:cond delay="0"/>
                                          </p:stCondLst>
                                        </p:cTn>
                                        <p:tgtEl>
                                          <p:spTgt spid="74"/>
                                        </p:tgtEl>
                                        <p:attrNameLst>
                                          <p:attrName>style.visibility</p:attrName>
                                        </p:attrNameLst>
                                      </p:cBhvr>
                                      <p:to>
                                        <p:strVal val="visible"/>
                                      </p:to>
                                    </p:set>
                                    <p:animEffect transition="in" filter="fade">
                                      <p:cBhvr>
                                        <p:cTn id="27" dur="400"/>
                                        <p:tgtEl>
                                          <p:spTgt spid="7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2"/>
                                        </p:tgtEl>
                                        <p:attrNameLst>
                                          <p:attrName>style.visibility</p:attrName>
                                        </p:attrNameLst>
                                      </p:cBhvr>
                                      <p:to>
                                        <p:strVal val="visible"/>
                                      </p:to>
                                    </p:set>
                                    <p:animEffect transition="in" filter="fade">
                                      <p:cBhvr>
                                        <p:cTn id="32" dur="400"/>
                                        <p:tgtEl>
                                          <p:spTgt spid="62"/>
                                        </p:tgtEl>
                                      </p:cBhvr>
                                    </p:animEffect>
                                  </p:childTnLst>
                                </p:cTn>
                              </p:par>
                              <p:par>
                                <p:cTn id="33" presetID="10" presetClass="entr" presetSubtype="0" fill="hold" nodeType="withEffect">
                                  <p:stCondLst>
                                    <p:cond delay="0"/>
                                  </p:stCondLst>
                                  <p:childTnLst>
                                    <p:set>
                                      <p:cBhvr>
                                        <p:cTn id="34" dur="1" fill="hold">
                                          <p:stCondLst>
                                            <p:cond delay="0"/>
                                          </p:stCondLst>
                                        </p:cTn>
                                        <p:tgtEl>
                                          <p:spTgt spid="75"/>
                                        </p:tgtEl>
                                        <p:attrNameLst>
                                          <p:attrName>style.visibility</p:attrName>
                                        </p:attrNameLst>
                                      </p:cBhvr>
                                      <p:to>
                                        <p:strVal val="visible"/>
                                      </p:to>
                                    </p:set>
                                    <p:animEffect transition="in" filter="fade">
                                      <p:cBhvr>
                                        <p:cTn id="35" dur="400"/>
                                        <p:tgtEl>
                                          <p:spTgt spid="75"/>
                                        </p:tgtEl>
                                      </p:cBhvr>
                                    </p:animEffect>
                                  </p:childTnLst>
                                </p:cTn>
                              </p:par>
                              <p:par>
                                <p:cTn id="36" presetID="10" presetClass="entr" presetSubtype="0" fill="hold" nodeType="with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400"/>
                                        <p:tgtEl>
                                          <p:spTgt spid="76"/>
                                        </p:tgtEl>
                                      </p:cBhvr>
                                    </p:animEffect>
                                  </p:childTnLst>
                                </p:cTn>
                              </p:par>
                              <p:par>
                                <p:cTn id="39" presetID="10" presetClass="entr" presetSubtype="0" fill="hold" nodeType="withEffect">
                                  <p:stCondLst>
                                    <p:cond delay="0"/>
                                  </p:stCondLst>
                                  <p:childTnLst>
                                    <p:set>
                                      <p:cBhvr>
                                        <p:cTn id="40" dur="1" fill="hold">
                                          <p:stCondLst>
                                            <p:cond delay="0"/>
                                          </p:stCondLst>
                                        </p:cTn>
                                        <p:tgtEl>
                                          <p:spTgt spid="77"/>
                                        </p:tgtEl>
                                        <p:attrNameLst>
                                          <p:attrName>style.visibility</p:attrName>
                                        </p:attrNameLst>
                                      </p:cBhvr>
                                      <p:to>
                                        <p:strVal val="visible"/>
                                      </p:to>
                                    </p:set>
                                    <p:animEffect transition="in" filter="fade">
                                      <p:cBhvr>
                                        <p:cTn id="41" dur="400"/>
                                        <p:tgtEl>
                                          <p:spTgt spid="7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par>
                                <p:cTn id="47" presetID="10" presetClass="entr" presetSubtype="0" fill="hold" nodeType="withEffect">
                                  <p:stCondLst>
                                    <p:cond delay="0"/>
                                  </p:stCondLst>
                                  <p:childTnLst>
                                    <p:set>
                                      <p:cBhvr>
                                        <p:cTn id="48" dur="1" fill="hold">
                                          <p:stCondLst>
                                            <p:cond delay="0"/>
                                          </p:stCondLst>
                                        </p:cTn>
                                        <p:tgtEl>
                                          <p:spTgt spid="78"/>
                                        </p:tgtEl>
                                        <p:attrNameLst>
                                          <p:attrName>style.visibility</p:attrName>
                                        </p:attrNameLst>
                                      </p:cBhvr>
                                      <p:to>
                                        <p:strVal val="visible"/>
                                      </p:to>
                                    </p:set>
                                    <p:animEffect transition="in" filter="fade">
                                      <p:cBhvr>
                                        <p:cTn id="49" dur="400"/>
                                        <p:tgtEl>
                                          <p:spTgt spid="78"/>
                                        </p:tgtEl>
                                      </p:cBhvr>
                                    </p:animEffect>
                                  </p:childTnLst>
                                </p:cTn>
                              </p:par>
                              <p:par>
                                <p:cTn id="50" presetID="10" presetClass="entr" presetSubtype="0" fill="hold" nodeType="withEffect">
                                  <p:stCondLst>
                                    <p:cond delay="0"/>
                                  </p:stCondLst>
                                  <p:childTnLst>
                                    <p:set>
                                      <p:cBhvr>
                                        <p:cTn id="51" dur="1" fill="hold">
                                          <p:stCondLst>
                                            <p:cond delay="0"/>
                                          </p:stCondLst>
                                        </p:cTn>
                                        <p:tgtEl>
                                          <p:spTgt spid="79"/>
                                        </p:tgtEl>
                                        <p:attrNameLst>
                                          <p:attrName>style.visibility</p:attrName>
                                        </p:attrNameLst>
                                      </p:cBhvr>
                                      <p:to>
                                        <p:strVal val="visible"/>
                                      </p:to>
                                    </p:set>
                                    <p:animEffect transition="in" filter="fade">
                                      <p:cBhvr>
                                        <p:cTn id="52" dur="400"/>
                                        <p:tgtEl>
                                          <p:spTgt spid="79"/>
                                        </p:tgtEl>
                                      </p:cBhvr>
                                    </p:animEffect>
                                  </p:childTnLst>
                                </p:cTn>
                              </p:par>
                              <p:par>
                                <p:cTn id="53" presetID="10" presetClass="entr" presetSubtype="0" fill="hold" nodeType="withEffect">
                                  <p:stCondLst>
                                    <p:cond delay="0"/>
                                  </p:stCondLst>
                                  <p:childTnLst>
                                    <p:set>
                                      <p:cBhvr>
                                        <p:cTn id="54" dur="1" fill="hold">
                                          <p:stCondLst>
                                            <p:cond delay="0"/>
                                          </p:stCondLst>
                                        </p:cTn>
                                        <p:tgtEl>
                                          <p:spTgt spid="80"/>
                                        </p:tgtEl>
                                        <p:attrNameLst>
                                          <p:attrName>style.visibility</p:attrName>
                                        </p:attrNameLst>
                                      </p:cBhvr>
                                      <p:to>
                                        <p:strVal val="visible"/>
                                      </p:to>
                                    </p:set>
                                    <p:animEffect transition="in" filter="fade">
                                      <p:cBhvr>
                                        <p:cTn id="55" dur="400"/>
                                        <p:tgtEl>
                                          <p:spTgt spid="80"/>
                                        </p:tgtEl>
                                      </p:cBhvr>
                                    </p:animEffect>
                                  </p:childTnLst>
                                </p:cTn>
                              </p:par>
                              <p:par>
                                <p:cTn id="56" presetID="10" presetClass="entr" presetSubtype="0" fill="hold" nodeType="withEffect">
                                  <p:stCondLst>
                                    <p:cond delay="0"/>
                                  </p:stCondLst>
                                  <p:childTnLst>
                                    <p:set>
                                      <p:cBhvr>
                                        <p:cTn id="57" dur="1" fill="hold">
                                          <p:stCondLst>
                                            <p:cond delay="0"/>
                                          </p:stCondLst>
                                        </p:cTn>
                                        <p:tgtEl>
                                          <p:spTgt spid="81"/>
                                        </p:tgtEl>
                                        <p:attrNameLst>
                                          <p:attrName>style.visibility</p:attrName>
                                        </p:attrNameLst>
                                      </p:cBhvr>
                                      <p:to>
                                        <p:strVal val="visible"/>
                                      </p:to>
                                    </p:set>
                                    <p:animEffect transition="in" filter="fade">
                                      <p:cBhvr>
                                        <p:cTn id="58" dur="400"/>
                                        <p:tgtEl>
                                          <p:spTgt spid="8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68"/>
                                        </p:tgtEl>
                                        <p:attrNameLst>
                                          <p:attrName>style.visibility</p:attrName>
                                        </p:attrNameLst>
                                      </p:cBhvr>
                                      <p:to>
                                        <p:strVal val="visible"/>
                                      </p:to>
                                    </p:set>
                                    <p:animEffect transition="in" filter="fade">
                                      <p:cBhvr>
                                        <p:cTn id="63" dur="400"/>
                                        <p:tgtEl>
                                          <p:spTgt spid="68"/>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64"/>
                                        </p:tgtEl>
                                        <p:attrNameLst>
                                          <p:attrName>style.visibility</p:attrName>
                                        </p:attrNameLst>
                                      </p:cBhvr>
                                      <p:to>
                                        <p:strVal val="visible"/>
                                      </p:to>
                                    </p:set>
                                    <p:animEffect transition="in" filter="fade">
                                      <p:cBhvr>
                                        <p:cTn id="68" dur="400"/>
                                        <p:tgtEl>
                                          <p:spTgt spid="64"/>
                                        </p:tgtEl>
                                      </p:cBhvr>
                                    </p:animEffect>
                                  </p:childTnLst>
                                </p:cTn>
                              </p:par>
                              <p:par>
                                <p:cTn id="69" presetID="10" presetClass="entr" presetSubtype="0" fill="hold" nodeType="withEffect">
                                  <p:stCondLst>
                                    <p:cond delay="0"/>
                                  </p:stCondLst>
                                  <p:childTnLst>
                                    <p:set>
                                      <p:cBhvr>
                                        <p:cTn id="70" dur="1" fill="hold">
                                          <p:stCondLst>
                                            <p:cond delay="0"/>
                                          </p:stCondLst>
                                        </p:cTn>
                                        <p:tgtEl>
                                          <p:spTgt spid="65"/>
                                        </p:tgtEl>
                                        <p:attrNameLst>
                                          <p:attrName>style.visibility</p:attrName>
                                        </p:attrNameLst>
                                      </p:cBhvr>
                                      <p:to>
                                        <p:strVal val="visible"/>
                                      </p:to>
                                    </p:set>
                                    <p:animEffect transition="in" filter="fade">
                                      <p:cBhvr>
                                        <p:cTn id="71" dur="400"/>
                                        <p:tgtEl>
                                          <p:spTgt spid="65"/>
                                        </p:tgtEl>
                                      </p:cBhvr>
                                    </p:animEffect>
                                  </p:childTnLst>
                                </p:cTn>
                              </p:par>
                              <p:par>
                                <p:cTn id="72" presetID="10" presetClass="entr" presetSubtype="0" fill="hold" nodeType="withEffect">
                                  <p:stCondLst>
                                    <p:cond delay="0"/>
                                  </p:stCondLst>
                                  <p:childTnLst>
                                    <p:set>
                                      <p:cBhvr>
                                        <p:cTn id="73" dur="1" fill="hold">
                                          <p:stCondLst>
                                            <p:cond delay="0"/>
                                          </p:stCondLst>
                                        </p:cTn>
                                        <p:tgtEl>
                                          <p:spTgt spid="66"/>
                                        </p:tgtEl>
                                        <p:attrNameLst>
                                          <p:attrName>style.visibility</p:attrName>
                                        </p:attrNameLst>
                                      </p:cBhvr>
                                      <p:to>
                                        <p:strVal val="visible"/>
                                      </p:to>
                                    </p:set>
                                    <p:animEffect transition="in" filter="fade">
                                      <p:cBhvr>
                                        <p:cTn id="74" dur="400"/>
                                        <p:tgtEl>
                                          <p:spTgt spid="66"/>
                                        </p:tgtEl>
                                      </p:cBhvr>
                                    </p:animEffect>
                                  </p:childTnLst>
                                </p:cTn>
                              </p:par>
                              <p:par>
                                <p:cTn id="75" presetID="10" presetClass="entr" presetSubtype="0" fill="hold" nodeType="withEffect">
                                  <p:stCondLst>
                                    <p:cond delay="0"/>
                                  </p:stCondLst>
                                  <p:childTnLst>
                                    <p:set>
                                      <p:cBhvr>
                                        <p:cTn id="76" dur="1" fill="hold">
                                          <p:stCondLst>
                                            <p:cond delay="0"/>
                                          </p:stCondLst>
                                        </p:cTn>
                                        <p:tgtEl>
                                          <p:spTgt spid="67"/>
                                        </p:tgtEl>
                                        <p:attrNameLst>
                                          <p:attrName>style.visibility</p:attrName>
                                        </p:attrNameLst>
                                      </p:cBhvr>
                                      <p:to>
                                        <p:strVal val="visible"/>
                                      </p:to>
                                    </p:set>
                                    <p:animEffect transition="in" filter="fade">
                                      <p:cBhvr>
                                        <p:cTn id="77"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is architecture?</a:t>
            </a:r>
          </a:p>
        </p:txBody>
      </p:sp>
      <p:sp>
        <p:nvSpPr>
          <p:cNvPr id="3" name="Slide Number Placeholder 2"/>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1</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What does it mean to say that a</a:t>
            </a:r>
          </a:p>
          <a:p>
            <a:pPr algn="ctr">
              <a:buNone/>
            </a:pPr>
            <a:r>
              <a:rPr lang="en-US" sz="2800" b="0" i="0" dirty="0">
                <a:solidFill>
                  <a:srgbClr val="555960"/>
                </a:solidFill>
              </a:rPr>
              <a:t>software system is “organized”?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a:xfrm>
            <a:off x="277147" y="118428"/>
            <a:ext cx="9224661" cy="638175"/>
          </a:xfrm>
        </p:spPr>
        <p:txBody>
          <a:bodyPr>
            <a:normAutofit fontScale="90000"/>
          </a:bodyPr>
          <a:lstStyle/>
          <a:p>
            <a:pPr>
              <a:defRPr b="0"/>
            </a:pPr>
            <a:r>
              <a:rPr lang="en-US" sz="2400" dirty="0">
                <a:solidFill>
                  <a:srgbClr val="000000"/>
                </a:solidFill>
              </a:rPr>
              <a:t>A specification describes the BEHAVIOR but not the MACHINE</a:t>
            </a:r>
            <a:endParaRPr lang="en-US" sz="2400" b="0" i="0" dirty="0">
              <a:solidFill>
                <a:srgbClr val="000000"/>
              </a:solidFill>
            </a:endParaRP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4</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REQUIREMENTS</a:t>
            </a:r>
          </a:p>
        </p:txBody>
      </p:sp>
      <p:cxnSp>
        <p:nvCxnSpPr>
          <p:cNvPr id="61" name="L61"/>
          <p:cNvCxnSpPr/>
          <p:nvPr/>
        </p:nvCxnSpPr>
        <p:spPr>
          <a:xfrm>
            <a:off x="4572000" y="1473200"/>
            <a:ext cx="0" cy="203200"/>
          </a:xfrm>
          <a:prstGeom prst="line">
            <a:avLst/>
          </a:prstGeom>
          <a:ln w="42862">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800" b="1" i="0" dirty="0">
                <a:solidFill>
                  <a:srgbClr val="FFFFFF"/>
                </a:solidFill>
              </a:rPr>
              <a:t>SPECIFICATION</a:t>
            </a:r>
          </a:p>
          <a:p>
            <a:pPr algn="ctr">
              <a:spcBef>
                <a:spcPts val="150"/>
              </a:spcBef>
              <a:buNone/>
            </a:pPr>
            <a:r>
              <a:rPr lang="en-US" sz="2200" b="0" i="0" dirty="0">
                <a:solidFill>
                  <a:srgbClr val="FFFFFF"/>
                </a:solidFill>
              </a:rPr>
              <a:t>consequential obligations</a:t>
            </a:r>
            <a:br>
              <a:rPr lang="en-US" sz="2200" b="0" i="0" dirty="0">
                <a:solidFill>
                  <a:srgbClr val="FFFFFF"/>
                </a:solidFill>
              </a:rPr>
            </a:br>
            <a:r>
              <a:rPr lang="en-US" sz="22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42862">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42862">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OBLIGATIONS</a:t>
            </a:r>
          </a:p>
          <a:p>
            <a:pPr algn="ctr">
              <a:spcBef>
                <a:spcPts val="120"/>
              </a:spcBef>
              <a:buNone/>
            </a:pPr>
            <a:r>
              <a:rPr lang="en-US" sz="21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DEGREES OF FREEDOM</a:t>
            </a:r>
          </a:p>
          <a:p>
            <a:pPr algn="ctr">
              <a:spcBef>
                <a:spcPts val="120"/>
              </a:spcBef>
              <a:buNone/>
            </a:pPr>
            <a:r>
              <a:rPr lang="en-US" sz="2100" b="0" i="0" dirty="0">
                <a:solidFill>
                  <a:srgbClr val="000000"/>
                </a:solidFill>
              </a:rPr>
              <a:t>what we leave open</a:t>
            </a:r>
          </a:p>
        </p:txBody>
      </p:sp>
      <p:cxnSp>
        <p:nvCxnSpPr>
          <p:cNvPr id="67" name="L67"/>
          <p:cNvCxnSpPr/>
          <p:nvPr/>
        </p:nvCxnSpPr>
        <p:spPr>
          <a:xfrm rot="16200000" flipH="1">
            <a:off x="2724700" y="3752300"/>
            <a:ext cx="265600" cy="1143000"/>
          </a:xfrm>
          <a:prstGeom prst="bentConnector3">
            <a:avLst>
              <a:gd name="adj1" fmla="val 50000"/>
            </a:avLst>
          </a:prstGeom>
          <a:ln w="42862">
            <a:solidFill>
              <a:srgbClr val="8E6F3E"/>
            </a:solidFill>
            <a:tailEnd type="triangle" w="med" len="med"/>
          </a:ln>
        </p:spPr>
      </p:cxnSp>
      <p:cxnSp>
        <p:nvCxnSpPr>
          <p:cNvPr id="68" name="L68"/>
          <p:cNvCxnSpPr/>
          <p:nvPr/>
        </p:nvCxnSpPr>
        <p:spPr>
          <a:xfrm rot="5400000">
            <a:off x="6153700" y="3752300"/>
            <a:ext cx="265600" cy="1143000"/>
          </a:xfrm>
          <a:prstGeom prst="bentConnector3">
            <a:avLst>
              <a:gd name="adj1" fmla="val 50000"/>
            </a:avLst>
          </a:prstGeom>
          <a:ln w="42862">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1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C   ✓</a:t>
            </a:r>
          </a:p>
        </p:txBody>
      </p:sp>
      <p:sp>
        <p:nvSpPr>
          <p:cNvPr id="2" name="SelectionRing">
            <a:extLst>
              <a:ext uri="{FF2B5EF4-FFF2-40B4-BE49-F238E27FC236}">
                <a16:creationId xmlns:a16="http://schemas.microsoft.com/office/drawing/2014/main" id="{A6392999-4F08-8D52-33E8-2A0E0FD56428}"/>
              </a:ext>
            </a:extLst>
          </p:cNvPr>
          <p:cNvSpPr/>
          <p:nvPr/>
        </p:nvSpPr>
        <p:spPr>
          <a:xfrm>
            <a:off x="3778504" y="4865315"/>
            <a:ext cx="1561592" cy="807720"/>
          </a:xfrm>
          <a:prstGeom prst="roundRect">
            <a:avLst/>
          </a:prstGeom>
          <a:noFill/>
          <a:ln w="76200">
            <a:solidFill>
              <a:srgbClr val="5C4826"/>
            </a:solidFill>
          </a:ln>
        </p:spPr>
        <p:txBody>
          <a:bodyPr wrap="square" lIns="0" tIns="0" rIns="0" bIns="0" anchor="ctr">
            <a:normAutofit/>
          </a:bodyPr>
          <a:lstStyle/>
          <a:p>
            <a:endParaRPr/>
          </a:p>
        </p:txBody>
      </p:sp>
      <p:cxnSp>
        <p:nvCxnSpPr>
          <p:cNvPr id="6" name="Straight Arrow Connector 5">
            <a:extLst>
              <a:ext uri="{FF2B5EF4-FFF2-40B4-BE49-F238E27FC236}">
                <a16:creationId xmlns:a16="http://schemas.microsoft.com/office/drawing/2014/main" id="{4FCE8C69-643F-3255-DFDC-D72A854CC1A4}"/>
              </a:ext>
            </a:extLst>
          </p:cNvPr>
          <p:cNvCxnSpPr>
            <a:cxnSpLocks/>
            <a:endCxn id="2" idx="2"/>
          </p:cNvCxnSpPr>
          <p:nvPr/>
        </p:nvCxnSpPr>
        <p:spPr>
          <a:xfrm flipV="1">
            <a:off x="4559300" y="5673000"/>
            <a:ext cx="0" cy="360000"/>
          </a:xfrm>
          <a:prstGeom prst="straightConnector1">
            <a:avLst/>
          </a:prstGeom>
          <a:ln w="106680">
            <a:tailEnd type="triangle"/>
          </a:ln>
        </p:spPr>
        <p:style>
          <a:lnRef idx="1">
            <a:schemeClr val="accent1"/>
          </a:lnRef>
          <a:fillRef idx="0">
            <a:schemeClr val="accent1"/>
          </a:fillRef>
          <a:effectRef idx="0">
            <a:schemeClr val="accent1"/>
          </a:effectRef>
          <a:fontRef idx="minor">
            <a:schemeClr val="tx1"/>
          </a:fontRef>
        </p:style>
      </p:cxnSp>
      <p:sp>
        <p:nvSpPr>
          <p:cNvPr id="8" name="T62">
            <a:extLst>
              <a:ext uri="{FF2B5EF4-FFF2-40B4-BE49-F238E27FC236}">
                <a16:creationId xmlns:a16="http://schemas.microsoft.com/office/drawing/2014/main" id="{3CD728C3-0D5C-E0E8-89C5-09DD0FC60D15}"/>
              </a:ext>
            </a:extLst>
          </p:cNvPr>
          <p:cNvSpPr txBox="1"/>
          <p:nvPr/>
        </p:nvSpPr>
        <p:spPr>
          <a:xfrm>
            <a:off x="685800" y="6060000"/>
            <a:ext cx="7772400" cy="360000"/>
          </a:xfrm>
          <a:prstGeom prst="rect">
            <a:avLst/>
          </a:prstGeom>
          <a:noFill/>
          <a:ln>
            <a:noFill/>
          </a:ln>
        </p:spPr>
        <p:txBody>
          <a:bodyPr wrap="square" lIns="0" tIns="0" rIns="0" bIns="0" anchor="t">
            <a:normAutofit lnSpcReduction="10000"/>
          </a:bodyPr>
          <a:lstStyle/>
          <a:p>
            <a:pPr algn="ctr">
              <a:buNone/>
            </a:pPr>
            <a:r>
              <a:rPr lang="en-US" sz="2600" b="0" i="1" dirty="0">
                <a:solidFill>
                  <a:srgbClr val="000000"/>
                </a:solidFill>
              </a:rPr>
              <a:t>Architecture: organizing one acceptable realization</a:t>
            </a:r>
          </a:p>
        </p:txBody>
      </p:sp>
      <p:sp>
        <p:nvSpPr>
          <p:cNvPr id="9" name="ArchDefStrip"/>
          <p:cNvSpPr/>
          <p:nvPr/>
        </p:nvSpPr>
        <p:spPr>
          <a:xfrm>
            <a:off x="2000000" y="6440000"/>
            <a:ext cx="5144000" cy="300000"/>
          </a:xfrm>
          <a:prstGeom prst="rect">
            <a:avLst/>
          </a:prstGeom>
          <a:solidFill>
            <a:srgbClr val="F5F0E6"/>
          </a:solidFill>
          <a:ln>
            <a:noFill/>
          </a:ln>
        </p:spPr>
        <p:txBody>
          <a:bodyPr wrap="square" lIns="54864" tIns="27432" rIns="54864" bIns="27432" anchor="ctr">
            <a:normAutofit/>
          </a:bodyPr>
          <a:lstStyle/>
          <a:p>
            <a:pPr algn="ctr">
              <a:buNone/>
            </a:pPr>
            <a:r>
              <a:rPr lang="en-US" sz="1300" b="0" i="0" dirty="0">
                <a:solidFill>
                  <a:srgbClr val="8E6F3E"/>
                </a:solidFill>
              </a:rPr>
              <a:t>major parts · responsibilities · interfaces · interaction rules</a:t>
            </a:r>
          </a:p>
        </p:txBody>
      </p:sp>
    </p:spTree>
    <p:extLst>
      <p:ext uri="{BB962C8B-B14F-4D97-AF65-F5344CB8AC3E}">
        <p14:creationId xmlns:p14="http://schemas.microsoft.com/office/powerpoint/2010/main" val="3844437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par>
                                <p:cTn id="8" presetID="10" presetClass="entr" presetSubtype="0" fill="hold" nodeType="withEffect">
                                  <p:stCondLst>
                                    <p:cond delay="0"/>
                                  </p:stCondLst>
                                  <p:childTnLst>
                                    <p:set>
                                      <p:cBhvr>
                                        <p:cTn id="9" dur="1" fill="hold">
                                          <p:stCondLst>
                                            <p:cond delay="0"/>
                                          </p:stCondLst>
                                        </p:cTn>
                                        <p:tgtEl>
                                          <p:spTgt spid="62"/>
                                        </p:tgtEl>
                                        <p:attrNameLst>
                                          <p:attrName>style.visibility</p:attrName>
                                        </p:attrNameLst>
                                      </p:cBhvr>
                                      <p:to>
                                        <p:strVal val="visible"/>
                                      </p:to>
                                    </p:set>
                                    <p:animEffect transition="in" filter="fade">
                                      <p:cBhvr>
                                        <p:cTn id="10" dur="400"/>
                                        <p:tgtEl>
                                          <p:spTgt spid="6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3"/>
                                        </p:tgtEl>
                                        <p:attrNameLst>
                                          <p:attrName>style.visibility</p:attrName>
                                        </p:attrNameLst>
                                      </p:cBhvr>
                                      <p:to>
                                        <p:strVal val="visible"/>
                                      </p:to>
                                    </p:set>
                                    <p:animEffect transition="in" filter="fade">
                                      <p:cBhvr>
                                        <p:cTn id="15" dur="400"/>
                                        <p:tgtEl>
                                          <p:spTgt spid="63"/>
                                        </p:tgtEl>
                                      </p:cBhvr>
                                    </p:animEffect>
                                  </p:childTnLst>
                                </p:cTn>
                              </p:par>
                              <p:par>
                                <p:cTn id="16" presetID="10" presetClass="entr" presetSubtype="0" fill="hold" nodeType="withEffect">
                                  <p:stCondLst>
                                    <p:cond delay="0"/>
                                  </p:stCondLst>
                                  <p:childTnLst>
                                    <p:set>
                                      <p:cBhvr>
                                        <p:cTn id="17" dur="1" fill="hold">
                                          <p:stCondLst>
                                            <p:cond delay="0"/>
                                          </p:stCondLst>
                                        </p:cTn>
                                        <p:tgtEl>
                                          <p:spTgt spid="64"/>
                                        </p:tgtEl>
                                        <p:attrNameLst>
                                          <p:attrName>style.visibility</p:attrName>
                                        </p:attrNameLst>
                                      </p:cBhvr>
                                      <p:to>
                                        <p:strVal val="visible"/>
                                      </p:to>
                                    </p:set>
                                    <p:animEffect transition="in" filter="fade">
                                      <p:cBhvr>
                                        <p:cTn id="18" dur="400"/>
                                        <p:tgtEl>
                                          <p:spTgt spid="64"/>
                                        </p:tgtEl>
                                      </p:cBhvr>
                                    </p:animEffect>
                                  </p:childTnLst>
                                </p:cTn>
                              </p:par>
                              <p:par>
                                <p:cTn id="19" presetID="10" presetClass="entr" presetSubtype="0" fill="hold" nodeType="withEffect">
                                  <p:stCondLst>
                                    <p:cond delay="0"/>
                                  </p:stCondLst>
                                  <p:childTnLst>
                                    <p:set>
                                      <p:cBhvr>
                                        <p:cTn id="20" dur="1" fill="hold">
                                          <p:stCondLst>
                                            <p:cond delay="0"/>
                                          </p:stCondLst>
                                        </p:cTn>
                                        <p:tgtEl>
                                          <p:spTgt spid="65"/>
                                        </p:tgtEl>
                                        <p:attrNameLst>
                                          <p:attrName>style.visibility</p:attrName>
                                        </p:attrNameLst>
                                      </p:cBhvr>
                                      <p:to>
                                        <p:strVal val="visible"/>
                                      </p:to>
                                    </p:set>
                                    <p:animEffect transition="in" filter="fade">
                                      <p:cBhvr>
                                        <p:cTn id="21" dur="400"/>
                                        <p:tgtEl>
                                          <p:spTgt spid="65"/>
                                        </p:tgtEl>
                                      </p:cBhvr>
                                    </p:animEffect>
                                  </p:childTnLst>
                                </p:cTn>
                              </p:par>
                              <p:par>
                                <p:cTn id="22" presetID="10" presetClass="entr" presetSubtype="0" fill="hold" nodeType="withEffect">
                                  <p:stCondLst>
                                    <p:cond delay="0"/>
                                  </p:stCondLst>
                                  <p:childTnLst>
                                    <p:set>
                                      <p:cBhvr>
                                        <p:cTn id="23" dur="1" fill="hold">
                                          <p:stCondLst>
                                            <p:cond delay="0"/>
                                          </p:stCondLst>
                                        </p:cTn>
                                        <p:tgtEl>
                                          <p:spTgt spid="66"/>
                                        </p:tgtEl>
                                        <p:attrNameLst>
                                          <p:attrName>style.visibility</p:attrName>
                                        </p:attrNameLst>
                                      </p:cBhvr>
                                      <p:to>
                                        <p:strVal val="visible"/>
                                      </p:to>
                                    </p:set>
                                    <p:animEffect transition="in" filter="fade">
                                      <p:cBhvr>
                                        <p:cTn id="24" dur="400"/>
                                        <p:tgtEl>
                                          <p:spTgt spid="6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67"/>
                                        </p:tgtEl>
                                        <p:attrNameLst>
                                          <p:attrName>style.visibility</p:attrName>
                                        </p:attrNameLst>
                                      </p:cBhvr>
                                      <p:to>
                                        <p:strVal val="visible"/>
                                      </p:to>
                                    </p:set>
                                    <p:animEffect transition="in" filter="fade">
                                      <p:cBhvr>
                                        <p:cTn id="29" dur="400"/>
                                        <p:tgtEl>
                                          <p:spTgt spid="67"/>
                                        </p:tgtEl>
                                      </p:cBhvr>
                                    </p:animEffect>
                                  </p:childTnLst>
                                </p:cTn>
                              </p:par>
                              <p:par>
                                <p:cTn id="30" presetID="10" presetClass="entr" presetSubtype="0" fill="hold" nodeType="withEffect">
                                  <p:stCondLst>
                                    <p:cond delay="0"/>
                                  </p:stCondLst>
                                  <p:childTnLst>
                                    <p:set>
                                      <p:cBhvr>
                                        <p:cTn id="31" dur="1" fill="hold">
                                          <p:stCondLst>
                                            <p:cond delay="0"/>
                                          </p:stCondLst>
                                        </p:cTn>
                                        <p:tgtEl>
                                          <p:spTgt spid="68"/>
                                        </p:tgtEl>
                                        <p:attrNameLst>
                                          <p:attrName>style.visibility</p:attrName>
                                        </p:attrNameLst>
                                      </p:cBhvr>
                                      <p:to>
                                        <p:strVal val="visible"/>
                                      </p:to>
                                    </p:set>
                                    <p:animEffect transition="in" filter="fade">
                                      <p:cBhvr>
                                        <p:cTn id="32" dur="400"/>
                                        <p:tgtEl>
                                          <p:spTgt spid="68"/>
                                        </p:tgtEl>
                                      </p:cBhvr>
                                    </p:animEffect>
                                  </p:childTnLst>
                                </p:cTn>
                              </p:par>
                              <p:par>
                                <p:cTn id="33" presetID="10" presetClass="entr" presetSubtype="0" fill="hold" nodeType="withEffect">
                                  <p:stCondLst>
                                    <p:cond delay="0"/>
                                  </p:stCondLst>
                                  <p:childTnLst>
                                    <p:set>
                                      <p:cBhvr>
                                        <p:cTn id="34" dur="1" fill="hold">
                                          <p:stCondLst>
                                            <p:cond delay="0"/>
                                          </p:stCondLst>
                                        </p:cTn>
                                        <p:tgtEl>
                                          <p:spTgt spid="69"/>
                                        </p:tgtEl>
                                        <p:attrNameLst>
                                          <p:attrName>style.visibility</p:attrName>
                                        </p:attrNameLst>
                                      </p:cBhvr>
                                      <p:to>
                                        <p:strVal val="visible"/>
                                      </p:to>
                                    </p:set>
                                    <p:animEffect transition="in" filter="fade">
                                      <p:cBhvr>
                                        <p:cTn id="35" dur="400"/>
                                        <p:tgtEl>
                                          <p:spTgt spid="69"/>
                                        </p:tgtEl>
                                      </p:cBhvr>
                                    </p:animEffect>
                                  </p:childTnLst>
                                </p:cTn>
                              </p:par>
                              <p:par>
                                <p:cTn id="36" presetID="10" presetClass="entr" presetSubtype="0" fill="hold" nodeType="withEffect">
                                  <p:stCondLst>
                                    <p:cond delay="0"/>
                                  </p:stCondLst>
                                  <p:childTnLst>
                                    <p:set>
                                      <p:cBhvr>
                                        <p:cTn id="37" dur="1" fill="hold">
                                          <p:stCondLst>
                                            <p:cond delay="0"/>
                                          </p:stCondLst>
                                        </p:cTn>
                                        <p:tgtEl>
                                          <p:spTgt spid="70"/>
                                        </p:tgtEl>
                                        <p:attrNameLst>
                                          <p:attrName>style.visibility</p:attrName>
                                        </p:attrNameLst>
                                      </p:cBhvr>
                                      <p:to>
                                        <p:strVal val="visible"/>
                                      </p:to>
                                    </p:set>
                                    <p:animEffect transition="in" filter="fade">
                                      <p:cBhvr>
                                        <p:cTn id="38" dur="400"/>
                                        <p:tgtEl>
                                          <p:spTgt spid="70"/>
                                        </p:tgtEl>
                                      </p:cBhvr>
                                    </p:animEffect>
                                  </p:childTnLst>
                                </p:cTn>
                              </p:par>
                              <p:par>
                                <p:cTn id="39" presetID="10" presetClass="entr" presetSubtype="0" fill="hold" nodeType="withEffect">
                                  <p:stCondLst>
                                    <p:cond delay="0"/>
                                  </p:stCondLst>
                                  <p:childTnLst>
                                    <p:set>
                                      <p:cBhvr>
                                        <p:cTn id="40" dur="1" fill="hold">
                                          <p:stCondLst>
                                            <p:cond delay="0"/>
                                          </p:stCondLst>
                                        </p:cTn>
                                        <p:tgtEl>
                                          <p:spTgt spid="71"/>
                                        </p:tgtEl>
                                        <p:attrNameLst>
                                          <p:attrName>style.visibility</p:attrName>
                                        </p:attrNameLst>
                                      </p:cBhvr>
                                      <p:to>
                                        <p:strVal val="visible"/>
                                      </p:to>
                                    </p:set>
                                    <p:animEffect transition="in" filter="fade">
                                      <p:cBhvr>
                                        <p:cTn id="41" dur="400"/>
                                        <p:tgtEl>
                                          <p:spTgt spid="71"/>
                                        </p:tgtEl>
                                      </p:cBhvr>
                                    </p:animEffect>
                                  </p:childTnLst>
                                </p:cTn>
                              </p:par>
                              <p:par>
                                <p:cTn id="42" presetID="10" presetClass="entr" presetSubtype="0" fill="hold" nodeType="withEffect">
                                  <p:stCondLst>
                                    <p:cond delay="0"/>
                                  </p:stCondLst>
                                  <p:childTnLst>
                                    <p:set>
                                      <p:cBhvr>
                                        <p:cTn id="43" dur="1" fill="hold">
                                          <p:stCondLst>
                                            <p:cond delay="0"/>
                                          </p:stCondLst>
                                        </p:cTn>
                                        <p:tgtEl>
                                          <p:spTgt spid="72"/>
                                        </p:tgtEl>
                                        <p:attrNameLst>
                                          <p:attrName>style.visibility</p:attrName>
                                        </p:attrNameLst>
                                      </p:cBhvr>
                                      <p:to>
                                        <p:strVal val="visible"/>
                                      </p:to>
                                    </p:set>
                                    <p:animEffect transition="in" filter="fade">
                                      <p:cBhvr>
                                        <p:cTn id="44" dur="400"/>
                                        <p:tgtEl>
                                          <p:spTgt spid="72"/>
                                        </p:tgtEl>
                                      </p:cBhvr>
                                    </p:animEffect>
                                  </p:childTnLst>
                                </p:cTn>
                              </p:par>
                              <p:par>
                                <p:cTn id="45" presetID="10" presetClass="entr" presetSubtype="0" fill="hold" nodeType="withEffect">
                                  <p:stCondLst>
                                    <p:cond delay="0"/>
                                  </p:stCondLst>
                                  <p:childTnLst>
                                    <p:set>
                                      <p:cBhvr>
                                        <p:cTn id="46" dur="1" fill="hold">
                                          <p:stCondLst>
                                            <p:cond delay="0"/>
                                          </p:stCondLst>
                                        </p:cTn>
                                        <p:tgtEl>
                                          <p:spTgt spid="73"/>
                                        </p:tgtEl>
                                        <p:attrNameLst>
                                          <p:attrName>style.visibility</p:attrName>
                                        </p:attrNameLst>
                                      </p:cBhvr>
                                      <p:to>
                                        <p:strVal val="visible"/>
                                      </p:to>
                                    </p:set>
                                    <p:animEffect transition="in" filter="fade">
                                      <p:cBhvr>
                                        <p:cTn id="47" dur="400"/>
                                        <p:tgtEl>
                                          <p:spTgt spid="7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
                                        </p:tgtEl>
                                        <p:attrNameLst>
                                          <p:attrName>style.visibility</p:attrName>
                                        </p:attrNameLst>
                                      </p:cBhvr>
                                      <p:to>
                                        <p:strVal val="visible"/>
                                      </p:to>
                                    </p:set>
                                    <p:animEffect transition="in" filter="fade">
                                      <p:cBhvr>
                                        <p:cTn id="52" dur="400"/>
                                        <p:tgtEl>
                                          <p:spTgt spid="2"/>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6"/>
                                        </p:tgtEl>
                                        <p:attrNameLst>
                                          <p:attrName>style.visibility</p:attrName>
                                        </p:attrNameLst>
                                      </p:cBhvr>
                                      <p:to>
                                        <p:strVal val="visible"/>
                                      </p:to>
                                    </p:set>
                                    <p:animEffect transition="in" filter="fade">
                                      <p:cBhvr>
                                        <p:cTn id="57" dur="400"/>
                                        <p:tgtEl>
                                          <p:spTgt spid="6"/>
                                        </p:tgtEl>
                                      </p:cBhvr>
                                    </p:animEffect>
                                  </p:childTnLst>
                                </p:cTn>
                              </p:par>
                              <p:par>
                                <p:cTn id="58" presetID="10" presetClass="entr" presetSubtype="0" fill="hold" nodeType="withEffect">
                                  <p:stCondLst>
                                    <p:cond delay="0"/>
                                  </p:stCondLst>
                                  <p:childTnLst>
                                    <p:set>
                                      <p:cBhvr>
                                        <p:cTn id="59" dur="1" fill="hold">
                                          <p:stCondLst>
                                            <p:cond delay="0"/>
                                          </p:stCondLst>
                                        </p:cTn>
                                        <p:tgtEl>
                                          <p:spTgt spid="8"/>
                                        </p:tgtEl>
                                        <p:attrNameLst>
                                          <p:attrName>style.visibility</p:attrName>
                                        </p:attrNameLst>
                                      </p:cBhvr>
                                      <p:to>
                                        <p:strVal val="visible"/>
                                      </p:to>
                                    </p:set>
                                    <p:animEffect transition="in" filter="fade">
                                      <p:cBhvr>
                                        <p:cTn id="60" dur="400"/>
                                        <p:tgtEl>
                                          <p:spTgt spid="8"/>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9"/>
                                        </p:tgtEl>
                                        <p:attrNameLst>
                                          <p:attrName>style.visibility</p:attrName>
                                        </p:attrNameLst>
                                      </p:cBhvr>
                                      <p:to>
                                        <p:strVal val="visible"/>
                                      </p:to>
                                    </p:set>
                                    <p:animEffect transition="in" filter="fade">
                                      <p:cBhvr>
                                        <p:cTn id="6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answers four questions</a:t>
            </a:r>
          </a:p>
        </p:txBody>
      </p:sp>
      <p:sp>
        <p:nvSpPr>
          <p:cNvPr id="3" name="Slide Number Placeholder 2"/>
          <p:cNvSpPr>
            <a:spLocks noGrp="1"/>
          </p:cNvSpPr>
          <p:nvPr>
            <p:ph type="sldNum" sz="quarter" idx="4"/>
          </p:nvPr>
        </p:nvSpPr>
        <p:spPr/>
        <p:txBody>
          <a:bodyPr/>
          <a:lstStyle/>
          <a:p>
            <a:fld id="{B7EB45DA-9A0D-DC49-8E02-F30A5DDC21C3}" type="slidenum">
              <a:rPr lang="en-US" smtClean="0"/>
              <a:t>5</a:t>
            </a:fld>
            <a:endParaRPr lang="en-US"/>
          </a:p>
        </p:txBody>
      </p:sp>
      <p:sp>
        <p:nvSpPr>
          <p:cNvPr id="100" name="QCard0"/>
          <p:cNvSpPr/>
          <p:nvPr/>
        </p:nvSpPr>
        <p:spPr>
          <a:xfrm>
            <a:off x="25831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1" name="QTxt0"/>
          <p:cNvSpPr txBox="1"/>
          <p:nvPr/>
        </p:nvSpPr>
        <p:spPr>
          <a:xfrm>
            <a:off x="424818" y="142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What are the parts?</a:t>
            </a:r>
          </a:p>
        </p:txBody>
      </p:sp>
      <p:sp>
        <p:nvSpPr>
          <p:cNvPr id="102" name="QCard1"/>
          <p:cNvSpPr/>
          <p:nvPr/>
        </p:nvSpPr>
        <p:spPr>
          <a:xfrm>
            <a:off x="476935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3" name="QTxt1"/>
          <p:cNvSpPr txBox="1"/>
          <p:nvPr/>
        </p:nvSpPr>
        <p:spPr>
          <a:xfrm>
            <a:off x="4935858" y="142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Where are the boundaries?</a:t>
            </a:r>
          </a:p>
        </p:txBody>
      </p:sp>
      <p:sp>
        <p:nvSpPr>
          <p:cNvPr id="104" name="QCard2"/>
          <p:cNvSpPr/>
          <p:nvPr/>
        </p:nvSpPr>
        <p:spPr>
          <a:xfrm>
            <a:off x="25831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5" name="QTxt2"/>
          <p:cNvSpPr txBox="1"/>
          <p:nvPr/>
        </p:nvSpPr>
        <p:spPr>
          <a:xfrm>
            <a:off x="424818" y="414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How may they interact?</a:t>
            </a:r>
          </a:p>
        </p:txBody>
      </p:sp>
      <p:sp>
        <p:nvSpPr>
          <p:cNvPr id="106" name="QCard3"/>
          <p:cNvSpPr/>
          <p:nvPr/>
        </p:nvSpPr>
        <p:spPr>
          <a:xfrm>
            <a:off x="476935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7" name="QTxt3"/>
          <p:cNvSpPr txBox="1"/>
          <p:nvPr/>
        </p:nvSpPr>
        <p:spPr>
          <a:xfrm>
            <a:off x="4935858" y="414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What properties must the organization support?</a:t>
            </a:r>
          </a:p>
        </p:txBody>
      </p:sp>
      <p:sp>
        <p:nvSpPr>
          <p:cNvPr id="108" name="G1A"/>
          <p:cNvSpPr/>
          <p:nvPr/>
        </p:nvSpPr>
        <p:spPr>
          <a:xfrm>
            <a:off x="1428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09" name="G1B"/>
          <p:cNvSpPr/>
          <p:nvPr/>
        </p:nvSpPr>
        <p:spPr>
          <a:xfrm>
            <a:off x="2427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sp>
        <p:nvSpPr>
          <p:cNvPr id="110" name="G2box"/>
          <p:cNvSpPr/>
          <p:nvPr/>
        </p:nvSpPr>
        <p:spPr>
          <a:xfrm>
            <a:off x="5939520" y="2542000"/>
            <a:ext cx="1776000" cy="680000"/>
          </a:xfrm>
          <a:prstGeom prst="rect">
            <a:avLst/>
          </a:prstGeom>
          <a:solidFill>
            <a:srgbClr val="FFFFFF"/>
          </a:solidFill>
          <a:ln w="17621">
            <a:solidFill>
              <a:srgbClr val="8E6F3E"/>
            </a:solidFill>
          </a:ln>
        </p:spPr>
        <p:txBody>
          <a:bodyPr wrap="square" lIns="54864" tIns="27432" rIns="54864" bIns="27432" anchor="ctr">
            <a:normAutofit/>
          </a:bodyPr>
          <a:lstStyle/>
          <a:p>
            <a:endParaRPr/>
          </a:p>
        </p:txBody>
      </p:sp>
      <p:cxnSp>
        <p:nvCxnSpPr>
          <p:cNvPr id="111" name="G2div"/>
          <p:cNvCxnSpPr/>
          <p:nvPr/>
        </p:nvCxnSpPr>
        <p:spPr>
          <a:xfrm>
            <a:off x="6827520" y="2419600"/>
            <a:ext cx="0" cy="924800"/>
          </a:xfrm>
          <a:prstGeom prst="line">
            <a:avLst/>
          </a:prstGeom>
          <a:ln w="60264">
            <a:solidFill>
              <a:srgbClr val="8E6F3E"/>
            </a:solidFill>
            <a:prstDash val="dash"/>
          </a:ln>
        </p:spPr>
      </p:cxnSp>
      <p:sp>
        <p:nvSpPr>
          <p:cNvPr id="112" name="G2A"/>
          <p:cNvSpPr txBox="1"/>
          <p:nvPr/>
        </p:nvSpPr>
        <p:spPr>
          <a:xfrm>
            <a:off x="5939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A</a:t>
            </a:r>
          </a:p>
        </p:txBody>
      </p:sp>
      <p:sp>
        <p:nvSpPr>
          <p:cNvPr id="113" name="G2B"/>
          <p:cNvSpPr txBox="1"/>
          <p:nvPr/>
        </p:nvSpPr>
        <p:spPr>
          <a:xfrm>
            <a:off x="6827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a:t>
            </a:r>
          </a:p>
        </p:txBody>
      </p:sp>
      <p:sp>
        <p:nvSpPr>
          <p:cNvPr id="114" name="G3A"/>
          <p:cNvSpPr/>
          <p:nvPr/>
        </p:nvSpPr>
        <p:spPr>
          <a:xfrm>
            <a:off x="1206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15" name="G3B"/>
          <p:cNvSpPr/>
          <p:nvPr/>
        </p:nvSpPr>
        <p:spPr>
          <a:xfrm>
            <a:off x="2649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cxnSp>
        <p:nvCxnSpPr>
          <p:cNvPr id="116" name="G3arw"/>
          <p:cNvCxnSpPr/>
          <p:nvPr/>
        </p:nvCxnSpPr>
        <p:spPr>
          <a:xfrm>
            <a:off x="1983480" y="5602000"/>
            <a:ext cx="666000" cy="0"/>
          </a:xfrm>
          <a:prstGeom prst="line">
            <a:avLst/>
          </a:prstGeom>
          <a:ln w="53569">
            <a:solidFill>
              <a:srgbClr val="8E6F3E"/>
            </a:solidFill>
            <a:tailEnd type="triangle" w="med" len="med"/>
          </a:ln>
        </p:spPr>
      </p:cxnSp>
      <p:sp>
        <p:nvSpPr>
          <p:cNvPr id="117" name="G4clock"/>
          <p:cNvSpPr/>
          <p:nvPr/>
        </p:nvSpPr>
        <p:spPr>
          <a:xfrm>
            <a:off x="5095920" y="5287300"/>
            <a:ext cx="466200" cy="466200"/>
          </a:xfrm>
          <a:prstGeom prst="ellipse">
            <a:avLst/>
          </a:prstGeom>
          <a:noFill/>
          <a:ln w="28194">
            <a:solidFill>
              <a:srgbClr val="8E6F3E"/>
            </a:solidFill>
          </a:ln>
        </p:spPr>
        <p:txBody>
          <a:bodyPr wrap="square" lIns="54864" tIns="27432" rIns="54864" bIns="27432" anchor="ctr">
            <a:normAutofit/>
          </a:bodyPr>
          <a:lstStyle/>
          <a:p>
            <a:endParaRPr/>
          </a:p>
        </p:txBody>
      </p:sp>
      <p:cxnSp>
        <p:nvCxnSpPr>
          <p:cNvPr id="118" name="G4h1"/>
          <p:cNvCxnSpPr/>
          <p:nvPr/>
        </p:nvCxnSpPr>
        <p:spPr>
          <a:xfrm flipV="1">
            <a:off x="5329020" y="5372200"/>
            <a:ext cx="0" cy="133200"/>
          </a:xfrm>
          <a:prstGeom prst="line">
            <a:avLst/>
          </a:prstGeom>
          <a:ln w="47578">
            <a:solidFill>
              <a:srgbClr val="8E6F3E"/>
            </a:solidFill>
          </a:ln>
        </p:spPr>
      </p:cxnSp>
      <p:cxnSp>
        <p:nvCxnSpPr>
          <p:cNvPr id="119" name="G4h2"/>
          <p:cNvCxnSpPr/>
          <p:nvPr/>
        </p:nvCxnSpPr>
        <p:spPr>
          <a:xfrm>
            <a:off x="5329020" y="5520400"/>
            <a:ext cx="111000" cy="0"/>
          </a:xfrm>
          <a:prstGeom prst="line">
            <a:avLst/>
          </a:prstGeom>
          <a:ln w="47578">
            <a:solidFill>
              <a:srgbClr val="8E6F3E"/>
            </a:solidFill>
          </a:ln>
        </p:spPr>
      </p:cxnSp>
      <p:sp>
        <p:nvSpPr>
          <p:cNvPr id="120" name="G4shackle"/>
          <p:cNvSpPr/>
          <p:nvPr/>
        </p:nvSpPr>
        <p:spPr>
          <a:xfrm>
            <a:off x="6050520" y="5267300"/>
            <a:ext cx="288600" cy="288600"/>
          </a:xfrm>
          <a:prstGeom prst="ellipse">
            <a:avLst/>
          </a:prstGeom>
          <a:noFill/>
          <a:ln w="28194">
            <a:solidFill>
              <a:srgbClr val="8E6F3E"/>
            </a:solidFill>
          </a:ln>
        </p:spPr>
        <p:txBody>
          <a:bodyPr wrap="square" lIns="54864" tIns="27432" rIns="54864" bIns="27432" anchor="ctr">
            <a:normAutofit fontScale="62500" lnSpcReduction="20000"/>
          </a:bodyPr>
          <a:lstStyle/>
          <a:p>
            <a:endParaRPr/>
          </a:p>
        </p:txBody>
      </p:sp>
      <p:sp>
        <p:nvSpPr>
          <p:cNvPr id="121" name="G4lockbody"/>
          <p:cNvSpPr/>
          <p:nvPr/>
        </p:nvSpPr>
        <p:spPr>
          <a:xfrm>
            <a:off x="5961720" y="5487400"/>
            <a:ext cx="466200" cy="310800"/>
          </a:xfrm>
          <a:prstGeom prst="roundRect">
            <a:avLst/>
          </a:prstGeom>
          <a:solidFill>
            <a:srgbClr val="FFFFFF"/>
          </a:solidFill>
          <a:ln w="28194">
            <a:solidFill>
              <a:srgbClr val="8E6F3E"/>
            </a:solidFill>
          </a:ln>
        </p:spPr>
        <p:txBody>
          <a:bodyPr wrap="square" lIns="54864" tIns="27432" rIns="54864" bIns="27432" anchor="ctr">
            <a:normAutofit fontScale="92500" lnSpcReduction="20000"/>
          </a:bodyPr>
          <a:lstStyle/>
          <a:p>
            <a:endParaRPr/>
          </a:p>
        </p:txBody>
      </p:sp>
      <p:sp>
        <p:nvSpPr>
          <p:cNvPr id="122" name="G4cycle"/>
          <p:cNvSpPr/>
          <p:nvPr/>
        </p:nvSpPr>
        <p:spPr>
          <a:xfrm>
            <a:off x="6871920" y="5287300"/>
            <a:ext cx="466200" cy="466200"/>
          </a:xfrm>
          <a:prstGeom prst="circularArrow">
            <a:avLst/>
          </a:prstGeom>
          <a:solidFill>
            <a:srgbClr val="8E6F3E"/>
          </a:solidFill>
          <a:ln>
            <a:noFill/>
          </a:ln>
        </p:spPr>
        <p:txBody>
          <a:bodyPr wrap="square" lIns="54864" tIns="27432" rIns="54864" bIns="27432" anchor="ctr">
            <a:normAutofit fontScale="92500" lnSpcReduction="10000"/>
          </a:bodyPr>
          <a:lstStyle/>
          <a:p>
            <a:endParaRPr/>
          </a:p>
        </p:txBody>
      </p:sp>
      <p:sp>
        <p:nvSpPr>
          <p:cNvPr id="123" name="G4bang"/>
          <p:cNvSpPr/>
          <p:nvPr/>
        </p:nvSpPr>
        <p:spPr>
          <a:xfrm>
            <a:off x="7759920" y="5262600"/>
            <a:ext cx="466200" cy="488400"/>
          </a:xfrm>
          <a:prstGeom prst="triangle">
            <a:avLst/>
          </a:prstGeom>
          <a:noFill/>
          <a:ln w="28194">
            <a:solidFill>
              <a:srgbClr val="8E6F3E"/>
            </a:solidFill>
          </a:ln>
        </p:spPr>
        <p:txBody>
          <a:bodyPr wrap="square" lIns="0" tIns="120000" rIns="0" bIns="0" anchor="ctr">
            <a:normAutofit fontScale="47500" lnSpcReduction="20000"/>
          </a:bodyPr>
          <a:lstStyle/>
          <a:p>
            <a:endParaRPr/>
          </a:p>
        </p:txBody>
      </p:sp>
      <p:sp>
        <p:nvSpPr>
          <p:cNvPr id="124" name="G4cap"/>
          <p:cNvSpPr txBox="1"/>
          <p:nvPr/>
        </p:nvSpPr>
        <p:spPr>
          <a:xfrm>
            <a:off x="4991358" y="5942000"/>
            <a:ext cx="3672324" cy="353600"/>
          </a:xfrm>
          <a:prstGeom prst="rect">
            <a:avLst/>
          </a:prstGeom>
          <a:noFill/>
          <a:ln>
            <a:noFill/>
          </a:ln>
        </p:spPr>
        <p:txBody>
          <a:bodyPr wrap="square" lIns="0" tIns="0" rIns="0" bIns="0" anchor="t">
            <a:normAutofit fontScale="85000" lnSpcReduction="10000"/>
          </a:bodyPr>
          <a:lstStyle/>
          <a:p>
            <a:pPr algn="ctr">
              <a:buNone/>
            </a:pPr>
            <a:r>
              <a:rPr lang="en-US" sz="2400" b="0" i="1" dirty="0">
                <a:solidFill>
                  <a:srgbClr val="555960"/>
                </a:solidFill>
              </a:rPr>
              <a:t>latency · security · change · failure</a:t>
            </a:r>
          </a:p>
        </p:txBody>
      </p:sp>
      <p:sp>
        <p:nvSpPr>
          <p:cNvPr id="140" name="G4bangTxt"/>
          <p:cNvSpPr txBox="1"/>
          <p:nvPr/>
        </p:nvSpPr>
        <p:spPr>
          <a:xfrm>
            <a:off x="7759920" y="5484900"/>
            <a:ext cx="466200" cy="288600"/>
          </a:xfrm>
          <a:prstGeom prst="rect">
            <a:avLst/>
          </a:prstGeom>
          <a:noFill/>
          <a:ln>
            <a:noFill/>
          </a:ln>
        </p:spPr>
        <p:txBody>
          <a:bodyPr wrap="square" lIns="0" tIns="0" rIns="0" bIns="0" anchor="ctr">
            <a:normAutofit fontScale="92500" lnSpcReduction="20000"/>
          </a:bodyPr>
          <a:lstStyle/>
          <a:p>
            <a:pPr algn="ctr">
              <a:buNone/>
            </a:pPr>
            <a:r>
              <a:rPr lang="en-US" sz="2400" b="1" i="0" dirty="0">
                <a:solidFill>
                  <a:srgbClr val="8E6F3E"/>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00"/>
                                        <p:tgtEl>
                                          <p:spTgt spid="108"/>
                                        </p:tgtEl>
                                      </p:cBhvr>
                                    </p:animEffect>
                                  </p:childTnLst>
                                </p:cTn>
                              </p:par>
                              <p:par>
                                <p:cTn id="14" presetID="10" presetClass="entr" presetSubtype="0" fill="hold" nodeType="with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00"/>
                                        <p:tgtEl>
                                          <p:spTgt spid="10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400"/>
                                        <p:tgtEl>
                                          <p:spTgt spid="102"/>
                                        </p:tgtEl>
                                      </p:cBhvr>
                                    </p:animEffect>
                                  </p:childTnLst>
                                </p:cTn>
                              </p:par>
                              <p:par>
                                <p:cTn id="22" presetID="10" presetClass="entr" presetSubtype="0" fill="hold" nodeType="withEffect">
                                  <p:stCondLst>
                                    <p:cond delay="0"/>
                                  </p:stCondLst>
                                  <p:childTnLst>
                                    <p:set>
                                      <p:cBhvr>
                                        <p:cTn id="23" dur="1" fill="hold">
                                          <p:stCondLst>
                                            <p:cond delay="0"/>
                                          </p:stCondLst>
                                        </p:cTn>
                                        <p:tgtEl>
                                          <p:spTgt spid="103"/>
                                        </p:tgtEl>
                                        <p:attrNameLst>
                                          <p:attrName>style.visibility</p:attrName>
                                        </p:attrNameLst>
                                      </p:cBhvr>
                                      <p:to>
                                        <p:strVal val="visible"/>
                                      </p:to>
                                    </p:set>
                                    <p:animEffect transition="in" filter="fade">
                                      <p:cBhvr>
                                        <p:cTn id="24" dur="400"/>
                                        <p:tgtEl>
                                          <p:spTgt spid="103"/>
                                        </p:tgtEl>
                                      </p:cBhvr>
                                    </p:animEffect>
                                  </p:childTnLst>
                                </p:cTn>
                              </p:par>
                              <p:par>
                                <p:cTn id="25" presetID="10" presetClass="entr" presetSubtype="0" fill="hold" nodeType="withEffect">
                                  <p:stCondLst>
                                    <p:cond delay="0"/>
                                  </p:stCondLst>
                                  <p:childTnLst>
                                    <p:set>
                                      <p:cBhvr>
                                        <p:cTn id="26" dur="1" fill="hold">
                                          <p:stCondLst>
                                            <p:cond delay="0"/>
                                          </p:stCondLst>
                                        </p:cTn>
                                        <p:tgtEl>
                                          <p:spTgt spid="110"/>
                                        </p:tgtEl>
                                        <p:attrNameLst>
                                          <p:attrName>style.visibility</p:attrName>
                                        </p:attrNameLst>
                                      </p:cBhvr>
                                      <p:to>
                                        <p:strVal val="visible"/>
                                      </p:to>
                                    </p:set>
                                    <p:animEffect transition="in" filter="fade">
                                      <p:cBhvr>
                                        <p:cTn id="27" dur="400"/>
                                        <p:tgtEl>
                                          <p:spTgt spid="110"/>
                                        </p:tgtEl>
                                      </p:cBhvr>
                                    </p:animEffect>
                                  </p:childTnLst>
                                </p:cTn>
                              </p:par>
                              <p:par>
                                <p:cTn id="28" presetID="10" presetClass="entr" presetSubtype="0" fill="hold" nodeType="withEffect">
                                  <p:stCondLst>
                                    <p:cond delay="0"/>
                                  </p:stCondLst>
                                  <p:childTnLst>
                                    <p:set>
                                      <p:cBhvr>
                                        <p:cTn id="29" dur="1" fill="hold">
                                          <p:stCondLst>
                                            <p:cond delay="0"/>
                                          </p:stCondLst>
                                        </p:cTn>
                                        <p:tgtEl>
                                          <p:spTgt spid="111"/>
                                        </p:tgtEl>
                                        <p:attrNameLst>
                                          <p:attrName>style.visibility</p:attrName>
                                        </p:attrNameLst>
                                      </p:cBhvr>
                                      <p:to>
                                        <p:strVal val="visible"/>
                                      </p:to>
                                    </p:set>
                                    <p:animEffect transition="in" filter="fade">
                                      <p:cBhvr>
                                        <p:cTn id="30" dur="400"/>
                                        <p:tgtEl>
                                          <p:spTgt spid="111"/>
                                        </p:tgtEl>
                                      </p:cBhvr>
                                    </p:animEffect>
                                  </p:childTnLst>
                                </p:cTn>
                              </p:par>
                              <p:par>
                                <p:cTn id="31" presetID="10" presetClass="entr" presetSubtype="0" fill="hold" nodeType="withEffect">
                                  <p:stCondLst>
                                    <p:cond delay="0"/>
                                  </p:stCondLst>
                                  <p:childTnLst>
                                    <p:set>
                                      <p:cBhvr>
                                        <p:cTn id="32" dur="1" fill="hold">
                                          <p:stCondLst>
                                            <p:cond delay="0"/>
                                          </p:stCondLst>
                                        </p:cTn>
                                        <p:tgtEl>
                                          <p:spTgt spid="112"/>
                                        </p:tgtEl>
                                        <p:attrNameLst>
                                          <p:attrName>style.visibility</p:attrName>
                                        </p:attrNameLst>
                                      </p:cBhvr>
                                      <p:to>
                                        <p:strVal val="visible"/>
                                      </p:to>
                                    </p:set>
                                    <p:animEffect transition="in" filter="fade">
                                      <p:cBhvr>
                                        <p:cTn id="33" dur="400"/>
                                        <p:tgtEl>
                                          <p:spTgt spid="112"/>
                                        </p:tgtEl>
                                      </p:cBhvr>
                                    </p:animEffect>
                                  </p:childTnLst>
                                </p:cTn>
                              </p:par>
                              <p:par>
                                <p:cTn id="34" presetID="10" presetClass="entr" presetSubtype="0" fill="hold" nodeType="withEffect">
                                  <p:stCondLst>
                                    <p:cond delay="0"/>
                                  </p:stCondLst>
                                  <p:childTnLst>
                                    <p:set>
                                      <p:cBhvr>
                                        <p:cTn id="35" dur="1" fill="hold">
                                          <p:stCondLst>
                                            <p:cond delay="0"/>
                                          </p:stCondLst>
                                        </p:cTn>
                                        <p:tgtEl>
                                          <p:spTgt spid="113"/>
                                        </p:tgtEl>
                                        <p:attrNameLst>
                                          <p:attrName>style.visibility</p:attrName>
                                        </p:attrNameLst>
                                      </p:cBhvr>
                                      <p:to>
                                        <p:strVal val="visible"/>
                                      </p:to>
                                    </p:set>
                                    <p:animEffect transition="in" filter="fade">
                                      <p:cBhvr>
                                        <p:cTn id="36" dur="400"/>
                                        <p:tgtEl>
                                          <p:spTgt spid="1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04"/>
                                        </p:tgtEl>
                                        <p:attrNameLst>
                                          <p:attrName>style.visibility</p:attrName>
                                        </p:attrNameLst>
                                      </p:cBhvr>
                                      <p:to>
                                        <p:strVal val="visible"/>
                                      </p:to>
                                    </p:set>
                                    <p:animEffect transition="in" filter="fade">
                                      <p:cBhvr>
                                        <p:cTn id="41" dur="400"/>
                                        <p:tgtEl>
                                          <p:spTgt spid="104"/>
                                        </p:tgtEl>
                                      </p:cBhvr>
                                    </p:animEffect>
                                  </p:childTnLst>
                                </p:cTn>
                              </p:par>
                              <p:par>
                                <p:cTn id="42" presetID="10" presetClass="entr" presetSubtype="0" fill="hold" nodeType="withEffect">
                                  <p:stCondLst>
                                    <p:cond delay="0"/>
                                  </p:stCondLst>
                                  <p:childTnLst>
                                    <p:set>
                                      <p:cBhvr>
                                        <p:cTn id="43" dur="1" fill="hold">
                                          <p:stCondLst>
                                            <p:cond delay="0"/>
                                          </p:stCondLst>
                                        </p:cTn>
                                        <p:tgtEl>
                                          <p:spTgt spid="105"/>
                                        </p:tgtEl>
                                        <p:attrNameLst>
                                          <p:attrName>style.visibility</p:attrName>
                                        </p:attrNameLst>
                                      </p:cBhvr>
                                      <p:to>
                                        <p:strVal val="visible"/>
                                      </p:to>
                                    </p:set>
                                    <p:animEffect transition="in" filter="fade">
                                      <p:cBhvr>
                                        <p:cTn id="44" dur="400"/>
                                        <p:tgtEl>
                                          <p:spTgt spid="105"/>
                                        </p:tgtEl>
                                      </p:cBhvr>
                                    </p:animEffect>
                                  </p:childTnLst>
                                </p:cTn>
                              </p:par>
                              <p:par>
                                <p:cTn id="45" presetID="10" presetClass="entr" presetSubtype="0" fill="hold" nodeType="withEffect">
                                  <p:stCondLst>
                                    <p:cond delay="0"/>
                                  </p:stCondLst>
                                  <p:childTnLst>
                                    <p:set>
                                      <p:cBhvr>
                                        <p:cTn id="46" dur="1" fill="hold">
                                          <p:stCondLst>
                                            <p:cond delay="0"/>
                                          </p:stCondLst>
                                        </p:cTn>
                                        <p:tgtEl>
                                          <p:spTgt spid="114"/>
                                        </p:tgtEl>
                                        <p:attrNameLst>
                                          <p:attrName>style.visibility</p:attrName>
                                        </p:attrNameLst>
                                      </p:cBhvr>
                                      <p:to>
                                        <p:strVal val="visible"/>
                                      </p:to>
                                    </p:set>
                                    <p:animEffect transition="in" filter="fade">
                                      <p:cBhvr>
                                        <p:cTn id="47" dur="400"/>
                                        <p:tgtEl>
                                          <p:spTgt spid="114"/>
                                        </p:tgtEl>
                                      </p:cBhvr>
                                    </p:animEffect>
                                  </p:childTnLst>
                                </p:cTn>
                              </p:par>
                              <p:par>
                                <p:cTn id="48" presetID="10" presetClass="entr" presetSubtype="0" fill="hold" nodeType="withEffect">
                                  <p:stCondLst>
                                    <p:cond delay="0"/>
                                  </p:stCondLst>
                                  <p:childTnLst>
                                    <p:set>
                                      <p:cBhvr>
                                        <p:cTn id="49" dur="1" fill="hold">
                                          <p:stCondLst>
                                            <p:cond delay="0"/>
                                          </p:stCondLst>
                                        </p:cTn>
                                        <p:tgtEl>
                                          <p:spTgt spid="115"/>
                                        </p:tgtEl>
                                        <p:attrNameLst>
                                          <p:attrName>style.visibility</p:attrName>
                                        </p:attrNameLst>
                                      </p:cBhvr>
                                      <p:to>
                                        <p:strVal val="visible"/>
                                      </p:to>
                                    </p:set>
                                    <p:animEffect transition="in" filter="fade">
                                      <p:cBhvr>
                                        <p:cTn id="50" dur="400"/>
                                        <p:tgtEl>
                                          <p:spTgt spid="115"/>
                                        </p:tgtEl>
                                      </p:cBhvr>
                                    </p:animEffect>
                                  </p:childTnLst>
                                </p:cTn>
                              </p:par>
                              <p:par>
                                <p:cTn id="51" presetID="10" presetClass="entr" presetSubtype="0" fill="hold" nodeType="withEffect">
                                  <p:stCondLst>
                                    <p:cond delay="0"/>
                                  </p:stCondLst>
                                  <p:childTnLst>
                                    <p:set>
                                      <p:cBhvr>
                                        <p:cTn id="52" dur="1" fill="hold">
                                          <p:stCondLst>
                                            <p:cond delay="0"/>
                                          </p:stCondLst>
                                        </p:cTn>
                                        <p:tgtEl>
                                          <p:spTgt spid="116"/>
                                        </p:tgtEl>
                                        <p:attrNameLst>
                                          <p:attrName>style.visibility</p:attrName>
                                        </p:attrNameLst>
                                      </p:cBhvr>
                                      <p:to>
                                        <p:strVal val="visible"/>
                                      </p:to>
                                    </p:set>
                                    <p:animEffect transition="in" filter="fade">
                                      <p:cBhvr>
                                        <p:cTn id="53" dur="400"/>
                                        <p:tgtEl>
                                          <p:spTgt spid="116"/>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06"/>
                                        </p:tgtEl>
                                        <p:attrNameLst>
                                          <p:attrName>style.visibility</p:attrName>
                                        </p:attrNameLst>
                                      </p:cBhvr>
                                      <p:to>
                                        <p:strVal val="visible"/>
                                      </p:to>
                                    </p:set>
                                    <p:animEffect transition="in" filter="fade">
                                      <p:cBhvr>
                                        <p:cTn id="58" dur="400"/>
                                        <p:tgtEl>
                                          <p:spTgt spid="106"/>
                                        </p:tgtEl>
                                      </p:cBhvr>
                                    </p:animEffect>
                                  </p:childTnLst>
                                </p:cTn>
                              </p:par>
                              <p:par>
                                <p:cTn id="59" presetID="10" presetClass="entr" presetSubtype="0" fill="hold" nodeType="withEffect">
                                  <p:stCondLst>
                                    <p:cond delay="0"/>
                                  </p:stCondLst>
                                  <p:childTnLst>
                                    <p:set>
                                      <p:cBhvr>
                                        <p:cTn id="60" dur="1" fill="hold">
                                          <p:stCondLst>
                                            <p:cond delay="0"/>
                                          </p:stCondLst>
                                        </p:cTn>
                                        <p:tgtEl>
                                          <p:spTgt spid="107"/>
                                        </p:tgtEl>
                                        <p:attrNameLst>
                                          <p:attrName>style.visibility</p:attrName>
                                        </p:attrNameLst>
                                      </p:cBhvr>
                                      <p:to>
                                        <p:strVal val="visible"/>
                                      </p:to>
                                    </p:set>
                                    <p:animEffect transition="in" filter="fade">
                                      <p:cBhvr>
                                        <p:cTn id="61" dur="400"/>
                                        <p:tgtEl>
                                          <p:spTgt spid="107"/>
                                        </p:tgtEl>
                                      </p:cBhvr>
                                    </p:animEffect>
                                  </p:childTnLst>
                                </p:cTn>
                              </p:par>
                              <p:par>
                                <p:cTn id="62" presetID="10" presetClass="entr" presetSubtype="0" fill="hold" nodeType="withEffect">
                                  <p:stCondLst>
                                    <p:cond delay="0"/>
                                  </p:stCondLst>
                                  <p:childTnLst>
                                    <p:set>
                                      <p:cBhvr>
                                        <p:cTn id="63" dur="1" fill="hold">
                                          <p:stCondLst>
                                            <p:cond delay="0"/>
                                          </p:stCondLst>
                                        </p:cTn>
                                        <p:tgtEl>
                                          <p:spTgt spid="117"/>
                                        </p:tgtEl>
                                        <p:attrNameLst>
                                          <p:attrName>style.visibility</p:attrName>
                                        </p:attrNameLst>
                                      </p:cBhvr>
                                      <p:to>
                                        <p:strVal val="visible"/>
                                      </p:to>
                                    </p:set>
                                    <p:animEffect transition="in" filter="fade">
                                      <p:cBhvr>
                                        <p:cTn id="64" dur="400"/>
                                        <p:tgtEl>
                                          <p:spTgt spid="117"/>
                                        </p:tgtEl>
                                      </p:cBhvr>
                                    </p:animEffect>
                                  </p:childTnLst>
                                </p:cTn>
                              </p:par>
                              <p:par>
                                <p:cTn id="65" presetID="10" presetClass="entr" presetSubtype="0" fill="hold" nodeType="withEffect">
                                  <p:stCondLst>
                                    <p:cond delay="0"/>
                                  </p:stCondLst>
                                  <p:childTnLst>
                                    <p:set>
                                      <p:cBhvr>
                                        <p:cTn id="66" dur="1" fill="hold">
                                          <p:stCondLst>
                                            <p:cond delay="0"/>
                                          </p:stCondLst>
                                        </p:cTn>
                                        <p:tgtEl>
                                          <p:spTgt spid="118"/>
                                        </p:tgtEl>
                                        <p:attrNameLst>
                                          <p:attrName>style.visibility</p:attrName>
                                        </p:attrNameLst>
                                      </p:cBhvr>
                                      <p:to>
                                        <p:strVal val="visible"/>
                                      </p:to>
                                    </p:set>
                                    <p:animEffect transition="in" filter="fade">
                                      <p:cBhvr>
                                        <p:cTn id="67" dur="400"/>
                                        <p:tgtEl>
                                          <p:spTgt spid="118"/>
                                        </p:tgtEl>
                                      </p:cBhvr>
                                    </p:animEffect>
                                  </p:childTnLst>
                                </p:cTn>
                              </p:par>
                              <p:par>
                                <p:cTn id="68" presetID="10" presetClass="entr" presetSubtype="0" fill="hold" nodeType="withEffect">
                                  <p:stCondLst>
                                    <p:cond delay="0"/>
                                  </p:stCondLst>
                                  <p:childTnLst>
                                    <p:set>
                                      <p:cBhvr>
                                        <p:cTn id="69" dur="1" fill="hold">
                                          <p:stCondLst>
                                            <p:cond delay="0"/>
                                          </p:stCondLst>
                                        </p:cTn>
                                        <p:tgtEl>
                                          <p:spTgt spid="119"/>
                                        </p:tgtEl>
                                        <p:attrNameLst>
                                          <p:attrName>style.visibility</p:attrName>
                                        </p:attrNameLst>
                                      </p:cBhvr>
                                      <p:to>
                                        <p:strVal val="visible"/>
                                      </p:to>
                                    </p:set>
                                    <p:animEffect transition="in" filter="fade">
                                      <p:cBhvr>
                                        <p:cTn id="70" dur="400"/>
                                        <p:tgtEl>
                                          <p:spTgt spid="119"/>
                                        </p:tgtEl>
                                      </p:cBhvr>
                                    </p:animEffect>
                                  </p:childTnLst>
                                </p:cTn>
                              </p:par>
                              <p:par>
                                <p:cTn id="71" presetID="10" presetClass="entr" presetSubtype="0" fill="hold" nodeType="withEffect">
                                  <p:stCondLst>
                                    <p:cond delay="0"/>
                                  </p:stCondLst>
                                  <p:childTnLst>
                                    <p:set>
                                      <p:cBhvr>
                                        <p:cTn id="72" dur="1" fill="hold">
                                          <p:stCondLst>
                                            <p:cond delay="0"/>
                                          </p:stCondLst>
                                        </p:cTn>
                                        <p:tgtEl>
                                          <p:spTgt spid="120"/>
                                        </p:tgtEl>
                                        <p:attrNameLst>
                                          <p:attrName>style.visibility</p:attrName>
                                        </p:attrNameLst>
                                      </p:cBhvr>
                                      <p:to>
                                        <p:strVal val="visible"/>
                                      </p:to>
                                    </p:set>
                                    <p:animEffect transition="in" filter="fade">
                                      <p:cBhvr>
                                        <p:cTn id="73" dur="400"/>
                                        <p:tgtEl>
                                          <p:spTgt spid="120"/>
                                        </p:tgtEl>
                                      </p:cBhvr>
                                    </p:animEffect>
                                  </p:childTnLst>
                                </p:cTn>
                              </p:par>
                              <p:par>
                                <p:cTn id="74" presetID="10" presetClass="entr" presetSubtype="0" fill="hold" nodeType="withEffect">
                                  <p:stCondLst>
                                    <p:cond delay="0"/>
                                  </p:stCondLst>
                                  <p:childTnLst>
                                    <p:set>
                                      <p:cBhvr>
                                        <p:cTn id="75" dur="1" fill="hold">
                                          <p:stCondLst>
                                            <p:cond delay="0"/>
                                          </p:stCondLst>
                                        </p:cTn>
                                        <p:tgtEl>
                                          <p:spTgt spid="121"/>
                                        </p:tgtEl>
                                        <p:attrNameLst>
                                          <p:attrName>style.visibility</p:attrName>
                                        </p:attrNameLst>
                                      </p:cBhvr>
                                      <p:to>
                                        <p:strVal val="visible"/>
                                      </p:to>
                                    </p:set>
                                    <p:animEffect transition="in" filter="fade">
                                      <p:cBhvr>
                                        <p:cTn id="76" dur="400"/>
                                        <p:tgtEl>
                                          <p:spTgt spid="121"/>
                                        </p:tgtEl>
                                      </p:cBhvr>
                                    </p:animEffect>
                                  </p:childTnLst>
                                </p:cTn>
                              </p:par>
                              <p:par>
                                <p:cTn id="77" presetID="10" presetClass="entr" presetSubtype="0" fill="hold" nodeType="withEffect">
                                  <p:stCondLst>
                                    <p:cond delay="0"/>
                                  </p:stCondLst>
                                  <p:childTnLst>
                                    <p:set>
                                      <p:cBhvr>
                                        <p:cTn id="78" dur="1" fill="hold">
                                          <p:stCondLst>
                                            <p:cond delay="0"/>
                                          </p:stCondLst>
                                        </p:cTn>
                                        <p:tgtEl>
                                          <p:spTgt spid="122"/>
                                        </p:tgtEl>
                                        <p:attrNameLst>
                                          <p:attrName>style.visibility</p:attrName>
                                        </p:attrNameLst>
                                      </p:cBhvr>
                                      <p:to>
                                        <p:strVal val="visible"/>
                                      </p:to>
                                    </p:set>
                                    <p:animEffect transition="in" filter="fade">
                                      <p:cBhvr>
                                        <p:cTn id="79" dur="400"/>
                                        <p:tgtEl>
                                          <p:spTgt spid="122"/>
                                        </p:tgtEl>
                                      </p:cBhvr>
                                    </p:animEffect>
                                  </p:childTnLst>
                                </p:cTn>
                              </p:par>
                              <p:par>
                                <p:cTn id="80" presetID="10" presetClass="entr" presetSubtype="0" fill="hold" nodeType="withEffect">
                                  <p:stCondLst>
                                    <p:cond delay="0"/>
                                  </p:stCondLst>
                                  <p:childTnLst>
                                    <p:set>
                                      <p:cBhvr>
                                        <p:cTn id="81" dur="1" fill="hold">
                                          <p:stCondLst>
                                            <p:cond delay="0"/>
                                          </p:stCondLst>
                                        </p:cTn>
                                        <p:tgtEl>
                                          <p:spTgt spid="123"/>
                                        </p:tgtEl>
                                        <p:attrNameLst>
                                          <p:attrName>style.visibility</p:attrName>
                                        </p:attrNameLst>
                                      </p:cBhvr>
                                      <p:to>
                                        <p:strVal val="visible"/>
                                      </p:to>
                                    </p:set>
                                    <p:animEffect transition="in" filter="fade">
                                      <p:cBhvr>
                                        <p:cTn id="82" dur="400"/>
                                        <p:tgtEl>
                                          <p:spTgt spid="123"/>
                                        </p:tgtEl>
                                      </p:cBhvr>
                                    </p:animEffect>
                                  </p:childTnLst>
                                </p:cTn>
                              </p:par>
                              <p:par>
                                <p:cTn id="83" presetID="10" presetClass="entr" presetSubtype="0" fill="hold" nodeType="withEffect">
                                  <p:stCondLst>
                                    <p:cond delay="0"/>
                                  </p:stCondLst>
                                  <p:childTnLst>
                                    <p:set>
                                      <p:cBhvr>
                                        <p:cTn id="84" dur="1" fill="hold">
                                          <p:stCondLst>
                                            <p:cond delay="0"/>
                                          </p:stCondLst>
                                        </p:cTn>
                                        <p:tgtEl>
                                          <p:spTgt spid="140"/>
                                        </p:tgtEl>
                                        <p:attrNameLst>
                                          <p:attrName>style.visibility</p:attrName>
                                        </p:attrNameLst>
                                      </p:cBhvr>
                                      <p:to>
                                        <p:strVal val="visible"/>
                                      </p:to>
                                    </p:set>
                                    <p:animEffect transition="in" filter="fade">
                                      <p:cBhvr>
                                        <p:cTn id="85" dur="400"/>
                                        <p:tgtEl>
                                          <p:spTgt spid="140"/>
                                        </p:tgtEl>
                                      </p:cBhvr>
                                    </p:animEffect>
                                  </p:childTnLst>
                                </p:cTn>
                              </p:par>
                              <p:par>
                                <p:cTn id="86" presetID="10" presetClass="entr" presetSubtype="0" fill="hold" nodeType="withEffect">
                                  <p:stCondLst>
                                    <p:cond delay="0"/>
                                  </p:stCondLst>
                                  <p:childTnLst>
                                    <p:set>
                                      <p:cBhvr>
                                        <p:cTn id="87" dur="1" fill="hold">
                                          <p:stCondLst>
                                            <p:cond delay="0"/>
                                          </p:stCondLst>
                                        </p:cTn>
                                        <p:tgtEl>
                                          <p:spTgt spid="124"/>
                                        </p:tgtEl>
                                        <p:attrNameLst>
                                          <p:attrName>style.visibility</p:attrName>
                                        </p:attrNameLst>
                                      </p:cBhvr>
                                      <p:to>
                                        <p:strVal val="visible"/>
                                      </p:to>
                                    </p:set>
                                    <p:animEffect transition="in" filter="fade">
                                      <p:cBhvr>
                                        <p:cTn id="88" dur="4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Where should the boundaries go?</a:t>
            </a:r>
          </a:p>
        </p:txBody>
      </p:sp>
      <p:sp>
        <p:nvSpPr>
          <p:cNvPr id="3" name="Slide Number Placeholder 2"/>
          <p:cNvSpPr>
            <a:spLocks noGrp="1"/>
          </p:cNvSpPr>
          <p:nvPr>
            <p:ph type="sldNum" sz="quarter" idx="4"/>
          </p:nvPr>
        </p:nvSpPr>
        <p:spPr/>
        <p:txBody>
          <a:bodyPr/>
          <a:lstStyle/>
          <a:p>
            <a:fld id="{B7EB45DA-9A0D-DC49-8E02-F30A5DDC21C3}" type="slidenum">
              <a:rPr lang="en-US" smtClean="0"/>
              <a:t>6</a:t>
            </a:fld>
            <a:endParaRPr lang="en-US"/>
          </a:p>
        </p:txBody>
      </p:sp>
      <p:sp>
        <p:nvSpPr>
          <p:cNvPr id="61" name="Band61"/>
          <p:cNvSpPr/>
          <p:nvPr/>
        </p:nvSpPr>
        <p:spPr>
          <a:xfrm>
            <a:off x="279400" y="4560000"/>
            <a:ext cx="8585200" cy="560000"/>
          </a:xfrm>
          <a:prstGeom prst="rect">
            <a:avLst/>
          </a:prstGeom>
          <a:solidFill>
            <a:srgbClr val="F5F1E8"/>
          </a:solidFill>
          <a:ln>
            <a:noFill/>
          </a:ln>
        </p:spPr>
        <p:txBody>
          <a:bodyPr wrap="square" lIns="109728" tIns="82296" rIns="109728" bIns="82296" anchor="ctr">
            <a:normAutofit lnSpcReduction="10000"/>
          </a:bodyPr>
          <a:lstStyle/>
          <a:p>
            <a:pPr algn="ctr">
              <a:buNone/>
            </a:pPr>
            <a:r>
              <a:rPr lang="en-US" sz="1300" b="1" i="0" dirty="0">
                <a:solidFill>
                  <a:srgbClr val="8E6F3E"/>
                </a:solidFill>
              </a:rPr>
              <a:t>CHANGE TOGETHER? · FAIL TOGETHER? · SCALE TOGETHER? · CONSISTENT TOGETHER? · SECURE TOGETHER? · OWNED TOGETHER?</a:t>
            </a:r>
          </a:p>
        </p:txBody>
      </p:sp>
      <p:sp>
        <p:nvSpPr>
          <p:cNvPr id="62" name="T62"/>
          <p:cNvSpPr txBox="1"/>
          <p:nvPr/>
        </p:nvSpPr>
        <p:spPr>
          <a:xfrm>
            <a:off x="685800" y="5170000"/>
            <a:ext cx="7772400" cy="36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Architecture allocates coupling; it does not eliminate it.</a:t>
            </a:r>
          </a:p>
        </p:txBody>
      </p:sp>
      <p:sp>
        <p:nvSpPr>
          <p:cNvPr id="63" name="Band63"/>
          <p:cNvSpPr/>
          <p:nvPr/>
        </p:nvSpPr>
        <p:spPr>
          <a:xfrm>
            <a:off x="279400" y="5580000"/>
            <a:ext cx="8585200" cy="880000"/>
          </a:xfrm>
          <a:prstGeom prst="rect">
            <a:avLst/>
          </a:prstGeom>
          <a:solidFill>
            <a:srgbClr val="8E6F3E"/>
          </a:solidFill>
          <a:ln>
            <a:noFill/>
          </a:ln>
        </p:spPr>
        <p:txBody>
          <a:bodyPr wrap="square" lIns="109728" tIns="82296" rIns="109728" bIns="82296" anchor="ctr">
            <a:normAutofit fontScale="85000" lnSpcReduction="10000"/>
          </a:bodyPr>
          <a:lstStyle/>
          <a:p>
            <a:pPr algn="ctr">
              <a:buNone/>
            </a:pPr>
            <a:r>
              <a:rPr lang="en-US" sz="2400" b="1" i="0" dirty="0">
                <a:solidFill>
                  <a:srgbClr val="FFFFFF"/>
                </a:solidFill>
              </a:rPr>
              <a:t>Where should we draw boundaries so the interactions and changes we expect are easy, while the interactions and changes we do not want are difficult?</a:t>
            </a:r>
          </a:p>
        </p:txBody>
      </p:sp>
      <p:sp>
        <p:nvSpPr>
          <p:cNvPr id="100" name="OrgALbl"/>
          <p:cNvSpPr txBox="1"/>
          <p:nvPr/>
        </p:nvSpPr>
        <p:spPr>
          <a:xfrm>
            <a:off x="142000" y="7600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A</a:t>
            </a:r>
          </a:p>
        </p:txBody>
      </p:sp>
      <p:sp>
        <p:nvSpPr>
          <p:cNvPr id="101" name="OrgA0"/>
          <p:cNvSpPr/>
          <p:nvPr/>
        </p:nvSpPr>
        <p:spPr>
          <a:xfrm>
            <a:off x="1046000" y="12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a:t>
            </a:r>
          </a:p>
        </p:txBody>
      </p:sp>
      <p:sp>
        <p:nvSpPr>
          <p:cNvPr id="102" name="OrgA1"/>
          <p:cNvSpPr/>
          <p:nvPr/>
        </p:nvSpPr>
        <p:spPr>
          <a:xfrm>
            <a:off x="1046000" y="19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classify</a:t>
            </a:r>
          </a:p>
        </p:txBody>
      </p:sp>
      <p:sp>
        <p:nvSpPr>
          <p:cNvPr id="103" name="OrgA2"/>
          <p:cNvSpPr/>
          <p:nvPr/>
        </p:nvSpPr>
        <p:spPr>
          <a:xfrm>
            <a:off x="1046000" y="26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summarize</a:t>
            </a:r>
          </a:p>
        </p:txBody>
      </p:sp>
      <p:sp>
        <p:nvSpPr>
          <p:cNvPr id="104" name="OrgA3"/>
          <p:cNvSpPr/>
          <p:nvPr/>
        </p:nvSpPr>
        <p:spPr>
          <a:xfrm>
            <a:off x="1046000" y="33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advise</a:t>
            </a:r>
          </a:p>
        </p:txBody>
      </p:sp>
      <p:sp>
        <p:nvSpPr>
          <p:cNvPr id="105" name="OrgAOuter"/>
          <p:cNvSpPr/>
          <p:nvPr/>
        </p:nvSpPr>
        <p:spPr>
          <a:xfrm>
            <a:off x="1046000" y="1250000"/>
            <a:ext cx="2600000" cy="2800000"/>
          </a:xfrm>
          <a:prstGeom prst="rect">
            <a:avLst/>
          </a:prstGeom>
          <a:noFill/>
          <a:ln w="35052">
            <a:solidFill>
              <a:srgbClr val="8E6F3E"/>
            </a:solidFill>
          </a:ln>
        </p:spPr>
        <p:txBody>
          <a:bodyPr wrap="square" lIns="54864" tIns="27432" rIns="54864" bIns="27432" anchor="ctr">
            <a:normAutofit/>
          </a:bodyPr>
          <a:lstStyle/>
          <a:p>
            <a:endParaRPr/>
          </a:p>
        </p:txBody>
      </p:sp>
      <p:cxnSp>
        <p:nvCxnSpPr>
          <p:cNvPr id="106" name="Div"/>
          <p:cNvCxnSpPr/>
          <p:nvPr/>
        </p:nvCxnSpPr>
        <p:spPr>
          <a:xfrm>
            <a:off x="4572000" y="1100000"/>
            <a:ext cx="0" cy="3050000"/>
          </a:xfrm>
          <a:prstGeom prst="line">
            <a:avLst/>
          </a:prstGeom>
          <a:ln w="28575">
            <a:solidFill>
              <a:srgbClr val="C9B991"/>
            </a:solidFill>
            <a:prstDash val="dash"/>
          </a:ln>
        </p:spPr>
      </p:cxnSp>
      <p:sp>
        <p:nvSpPr>
          <p:cNvPr id="107" name="OrgBLbl"/>
          <p:cNvSpPr txBox="1"/>
          <p:nvPr/>
        </p:nvSpPr>
        <p:spPr>
          <a:xfrm>
            <a:off x="4592000" y="7600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B</a:t>
            </a:r>
          </a:p>
        </p:txBody>
      </p:sp>
      <p:sp>
        <p:nvSpPr>
          <p:cNvPr id="108" name="OrgB1"/>
          <p:cNvSpPr/>
          <p:nvPr/>
        </p:nvSpPr>
        <p:spPr>
          <a:xfrm>
            <a:off x="4720000" y="1300000"/>
            <a:ext cx="2050000" cy="8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 · store</a:t>
            </a:r>
          </a:p>
        </p:txBody>
      </p:sp>
      <p:sp>
        <p:nvSpPr>
          <p:cNvPr id="109" name="OrgB2"/>
          <p:cNvSpPr/>
          <p:nvPr/>
        </p:nvSpPr>
        <p:spPr>
          <a:xfrm>
            <a:off x="6970000" y="1300000"/>
            <a:ext cx="2050000" cy="8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model · advise</a:t>
            </a:r>
          </a:p>
        </p:txBody>
      </p:sp>
      <p:sp>
        <p:nvSpPr>
          <p:cNvPr id="110" name="OrgBShare"/>
          <p:cNvSpPr/>
          <p:nvPr/>
        </p:nvSpPr>
        <p:spPr>
          <a:xfrm>
            <a:off x="5845000" y="2950000"/>
            <a:ext cx="2050000" cy="80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sharing</a:t>
            </a:r>
          </a:p>
        </p:txBody>
      </p:sp>
      <p:cxnSp>
        <p:nvCxnSpPr>
          <p:cNvPr id="111" name="OrgBd111"/>
          <p:cNvCxnSpPr/>
          <p:nvPr/>
        </p:nvCxnSpPr>
        <p:spPr>
          <a:xfrm>
            <a:off x="5745000" y="2100000"/>
            <a:ext cx="0" cy="620000"/>
          </a:xfrm>
          <a:prstGeom prst="line">
            <a:avLst/>
          </a:prstGeom>
          <a:ln w="44450">
            <a:solidFill>
              <a:srgbClr val="8E6F3E"/>
            </a:solidFill>
          </a:ln>
        </p:spPr>
      </p:cxnSp>
      <p:cxnSp>
        <p:nvCxnSpPr>
          <p:cNvPr id="112" name="OrgBd112"/>
          <p:cNvCxnSpPr/>
          <p:nvPr/>
        </p:nvCxnSpPr>
        <p:spPr>
          <a:xfrm>
            <a:off x="7995000" y="2100000"/>
            <a:ext cx="0" cy="620000"/>
          </a:xfrm>
          <a:prstGeom prst="line">
            <a:avLst/>
          </a:prstGeom>
          <a:ln w="44450">
            <a:solidFill>
              <a:srgbClr val="8E6F3E"/>
            </a:solidFill>
          </a:ln>
        </p:spPr>
      </p:cxnSp>
      <p:sp>
        <p:nvSpPr>
          <p:cNvPr id="113" name="Cap"/>
          <p:cNvSpPr txBox="1"/>
          <p:nvPr/>
        </p:nvSpPr>
        <p:spPr>
          <a:xfrm>
            <a:off x="685800" y="409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5C4826"/>
                </a:solidFill>
              </a:rPr>
              <a:t>Different boundaries → different coupling</a:t>
            </a:r>
          </a:p>
        </p:txBody>
      </p:sp>
      <p:cxnSp>
        <p:nvCxnSpPr>
          <p:cNvPr id="114" name="OrgBh1"/>
          <p:cNvCxnSpPr/>
          <p:nvPr/>
        </p:nvCxnSpPr>
        <p:spPr>
          <a:xfrm>
            <a:off x="5745000" y="2700000"/>
            <a:ext cx="725000" cy="0"/>
          </a:xfrm>
          <a:prstGeom prst="line">
            <a:avLst/>
          </a:prstGeom>
          <a:ln w="44450">
            <a:solidFill>
              <a:srgbClr val="8E6F3E"/>
            </a:solidFill>
          </a:ln>
        </p:spPr>
      </p:cxnSp>
      <p:cxnSp>
        <p:nvCxnSpPr>
          <p:cNvPr id="115" name="OrgBv1"/>
          <p:cNvCxnSpPr/>
          <p:nvPr/>
        </p:nvCxnSpPr>
        <p:spPr>
          <a:xfrm>
            <a:off x="6470000" y="2700000"/>
            <a:ext cx="0" cy="250000"/>
          </a:xfrm>
          <a:prstGeom prst="line">
            <a:avLst/>
          </a:prstGeom>
          <a:ln w="44450">
            <a:solidFill>
              <a:srgbClr val="8E6F3E"/>
            </a:solidFill>
            <a:tailEnd type="triangle" w="med" len="med"/>
          </a:ln>
        </p:spPr>
      </p:cxnSp>
      <p:cxnSp>
        <p:nvCxnSpPr>
          <p:cNvPr id="116" name="OrgBh2"/>
          <p:cNvCxnSpPr/>
          <p:nvPr/>
        </p:nvCxnSpPr>
        <p:spPr>
          <a:xfrm>
            <a:off x="7270000" y="2700000"/>
            <a:ext cx="725000" cy="0"/>
          </a:xfrm>
          <a:prstGeom prst="line">
            <a:avLst/>
          </a:prstGeom>
          <a:ln w="44450">
            <a:solidFill>
              <a:srgbClr val="8E6F3E"/>
            </a:solidFill>
          </a:ln>
        </p:spPr>
      </p:cxnSp>
      <p:cxnSp>
        <p:nvCxnSpPr>
          <p:cNvPr id="117" name="OrgBv2"/>
          <p:cNvCxnSpPr/>
          <p:nvPr/>
        </p:nvCxnSpPr>
        <p:spPr>
          <a:xfrm>
            <a:off x="7270000" y="2700000"/>
            <a:ext cx="0" cy="250000"/>
          </a:xfrm>
          <a:prstGeom prst="line">
            <a:avLst/>
          </a:prstGeom>
          <a:ln w="44450">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0"/>
                                        </p:tgtEl>
                                        <p:attrNameLst>
                                          <p:attrName>style.visibility</p:attrName>
                                        </p:attrNameLst>
                                      </p:cBhvr>
                                      <p:to>
                                        <p:strVal val="visible"/>
                                      </p:to>
                                    </p:set>
                                    <p:animEffect transition="in" filter="fade">
                                      <p:cBhvr>
                                        <p:cTn id="12" dur="400"/>
                                        <p:tgtEl>
                                          <p:spTgt spid="100"/>
                                        </p:tgtEl>
                                      </p:cBhvr>
                                    </p:animEffect>
                                  </p:childTnLst>
                                </p:cTn>
                              </p:par>
                              <p:par>
                                <p:cTn id="13" presetID="10" presetClass="entr" presetSubtype="0" fill="hold"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4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400"/>
                                        <p:tgtEl>
                                          <p:spTgt spid="102"/>
                                        </p:tgtEl>
                                      </p:cBhvr>
                                    </p:animEffect>
                                  </p:childTnLst>
                                </p:cTn>
                              </p:par>
                              <p:par>
                                <p:cTn id="19" presetID="10" presetClass="entr" presetSubtype="0" fill="hold" nodeType="withEffect">
                                  <p:stCondLst>
                                    <p:cond delay="0"/>
                                  </p:stCondLst>
                                  <p:childTnLst>
                                    <p:set>
                                      <p:cBhvr>
                                        <p:cTn id="20" dur="1" fill="hold">
                                          <p:stCondLst>
                                            <p:cond delay="0"/>
                                          </p:stCondLst>
                                        </p:cTn>
                                        <p:tgtEl>
                                          <p:spTgt spid="103"/>
                                        </p:tgtEl>
                                        <p:attrNameLst>
                                          <p:attrName>style.visibility</p:attrName>
                                        </p:attrNameLst>
                                      </p:cBhvr>
                                      <p:to>
                                        <p:strVal val="visible"/>
                                      </p:to>
                                    </p:set>
                                    <p:animEffect transition="in" filter="fade">
                                      <p:cBhvr>
                                        <p:cTn id="21" dur="400"/>
                                        <p:tgtEl>
                                          <p:spTgt spid="103"/>
                                        </p:tgtEl>
                                      </p:cBhvr>
                                    </p:animEffect>
                                  </p:childTnLst>
                                </p:cTn>
                              </p:par>
                              <p:par>
                                <p:cTn id="22" presetID="10" presetClass="entr" presetSubtype="0" fill="hold" nodeType="with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400"/>
                                        <p:tgtEl>
                                          <p:spTgt spid="104"/>
                                        </p:tgtEl>
                                      </p:cBhvr>
                                    </p:animEffect>
                                  </p:childTnLst>
                                </p:cTn>
                              </p:par>
                              <p:par>
                                <p:cTn id="25" presetID="10" presetClass="entr" presetSubtype="0" fill="hold" nodeType="withEffect">
                                  <p:stCondLst>
                                    <p:cond delay="0"/>
                                  </p:stCondLst>
                                  <p:childTnLst>
                                    <p:set>
                                      <p:cBhvr>
                                        <p:cTn id="26" dur="1" fill="hold">
                                          <p:stCondLst>
                                            <p:cond delay="0"/>
                                          </p:stCondLst>
                                        </p:cTn>
                                        <p:tgtEl>
                                          <p:spTgt spid="105"/>
                                        </p:tgtEl>
                                        <p:attrNameLst>
                                          <p:attrName>style.visibility</p:attrName>
                                        </p:attrNameLst>
                                      </p:cBhvr>
                                      <p:to>
                                        <p:strVal val="visible"/>
                                      </p:to>
                                    </p:set>
                                    <p:animEffect transition="in" filter="fade">
                                      <p:cBhvr>
                                        <p:cTn id="27" dur="400"/>
                                        <p:tgtEl>
                                          <p:spTgt spid="10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par>
                                <p:cTn id="36" presetID="10" presetClass="entr" presetSubtype="0" fill="hold" nodeType="withEffect">
                                  <p:stCondLst>
                                    <p:cond delay="0"/>
                                  </p:stCondLst>
                                  <p:childTnLst>
                                    <p:set>
                                      <p:cBhvr>
                                        <p:cTn id="37" dur="1" fill="hold">
                                          <p:stCondLst>
                                            <p:cond delay="0"/>
                                          </p:stCondLst>
                                        </p:cTn>
                                        <p:tgtEl>
                                          <p:spTgt spid="109"/>
                                        </p:tgtEl>
                                        <p:attrNameLst>
                                          <p:attrName>style.visibility</p:attrName>
                                        </p:attrNameLst>
                                      </p:cBhvr>
                                      <p:to>
                                        <p:strVal val="visible"/>
                                      </p:to>
                                    </p:set>
                                    <p:animEffect transition="in" filter="fade">
                                      <p:cBhvr>
                                        <p:cTn id="38" dur="400"/>
                                        <p:tgtEl>
                                          <p:spTgt spid="109"/>
                                        </p:tgtEl>
                                      </p:cBhvr>
                                    </p:animEffect>
                                  </p:childTnLst>
                                </p:cTn>
                              </p:par>
                              <p:par>
                                <p:cTn id="39" presetID="10" presetClass="entr" presetSubtype="0" fill="hold" nodeType="withEffect">
                                  <p:stCondLst>
                                    <p:cond delay="0"/>
                                  </p:stCondLst>
                                  <p:childTnLst>
                                    <p:set>
                                      <p:cBhvr>
                                        <p:cTn id="40" dur="1" fill="hold">
                                          <p:stCondLst>
                                            <p:cond delay="0"/>
                                          </p:stCondLst>
                                        </p:cTn>
                                        <p:tgtEl>
                                          <p:spTgt spid="110"/>
                                        </p:tgtEl>
                                        <p:attrNameLst>
                                          <p:attrName>style.visibility</p:attrName>
                                        </p:attrNameLst>
                                      </p:cBhvr>
                                      <p:to>
                                        <p:strVal val="visible"/>
                                      </p:to>
                                    </p:set>
                                    <p:animEffect transition="in" filter="fade">
                                      <p:cBhvr>
                                        <p:cTn id="41" dur="400"/>
                                        <p:tgtEl>
                                          <p:spTgt spid="110"/>
                                        </p:tgtEl>
                                      </p:cBhvr>
                                    </p:animEffect>
                                  </p:childTnLst>
                                </p:cTn>
                              </p:par>
                              <p:par>
                                <p:cTn id="42" presetID="10" presetClass="entr" presetSubtype="0" fill="hold" nodeType="withEffect">
                                  <p:stCondLst>
                                    <p:cond delay="0"/>
                                  </p:stCondLst>
                                  <p:childTnLst>
                                    <p:set>
                                      <p:cBhvr>
                                        <p:cTn id="43" dur="1" fill="hold">
                                          <p:stCondLst>
                                            <p:cond delay="0"/>
                                          </p:stCondLst>
                                        </p:cTn>
                                        <p:tgtEl>
                                          <p:spTgt spid="111"/>
                                        </p:tgtEl>
                                        <p:attrNameLst>
                                          <p:attrName>style.visibility</p:attrName>
                                        </p:attrNameLst>
                                      </p:cBhvr>
                                      <p:to>
                                        <p:strVal val="visible"/>
                                      </p:to>
                                    </p:set>
                                    <p:animEffect transition="in" filter="fade">
                                      <p:cBhvr>
                                        <p:cTn id="44" dur="400"/>
                                        <p:tgtEl>
                                          <p:spTgt spid="111"/>
                                        </p:tgtEl>
                                      </p:cBhvr>
                                    </p:animEffect>
                                  </p:childTnLst>
                                </p:cTn>
                              </p:par>
                              <p:par>
                                <p:cTn id="45" presetID="10"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animEffect transition="in" filter="fade">
                                      <p:cBhvr>
                                        <p:cTn id="47" dur="400"/>
                                        <p:tgtEl>
                                          <p:spTgt spid="112"/>
                                        </p:tgtEl>
                                      </p:cBhvr>
                                    </p:animEffect>
                                  </p:childTnLst>
                                </p:cTn>
                              </p:par>
                              <p:par>
                                <p:cTn id="48" presetID="10" presetClass="entr" presetSubtype="0" fill="hold" nodeType="withEffect">
                                  <p:stCondLst>
                                    <p:cond delay="0"/>
                                  </p:stCondLst>
                                  <p:childTnLst>
                                    <p:set>
                                      <p:cBhvr>
                                        <p:cTn id="49" dur="1" fill="hold">
                                          <p:stCondLst>
                                            <p:cond delay="0"/>
                                          </p:stCondLst>
                                        </p:cTn>
                                        <p:tgtEl>
                                          <p:spTgt spid="114"/>
                                        </p:tgtEl>
                                        <p:attrNameLst>
                                          <p:attrName>style.visibility</p:attrName>
                                        </p:attrNameLst>
                                      </p:cBhvr>
                                      <p:to>
                                        <p:strVal val="visible"/>
                                      </p:to>
                                    </p:set>
                                    <p:animEffect transition="in" filter="fade">
                                      <p:cBhvr>
                                        <p:cTn id="50" dur="400"/>
                                        <p:tgtEl>
                                          <p:spTgt spid="114"/>
                                        </p:tgtEl>
                                      </p:cBhvr>
                                    </p:animEffect>
                                  </p:childTnLst>
                                </p:cTn>
                              </p:par>
                              <p:par>
                                <p:cTn id="51" presetID="10" presetClass="entr" presetSubtype="0" fill="hold" nodeType="withEffect">
                                  <p:stCondLst>
                                    <p:cond delay="0"/>
                                  </p:stCondLst>
                                  <p:childTnLst>
                                    <p:set>
                                      <p:cBhvr>
                                        <p:cTn id="52" dur="1" fill="hold">
                                          <p:stCondLst>
                                            <p:cond delay="0"/>
                                          </p:stCondLst>
                                        </p:cTn>
                                        <p:tgtEl>
                                          <p:spTgt spid="115"/>
                                        </p:tgtEl>
                                        <p:attrNameLst>
                                          <p:attrName>style.visibility</p:attrName>
                                        </p:attrNameLst>
                                      </p:cBhvr>
                                      <p:to>
                                        <p:strVal val="visible"/>
                                      </p:to>
                                    </p:set>
                                    <p:animEffect transition="in" filter="fade">
                                      <p:cBhvr>
                                        <p:cTn id="53" dur="400"/>
                                        <p:tgtEl>
                                          <p:spTgt spid="115"/>
                                        </p:tgtEl>
                                      </p:cBhvr>
                                    </p:animEffect>
                                  </p:childTnLst>
                                </p:cTn>
                              </p:par>
                              <p:par>
                                <p:cTn id="54" presetID="10" presetClass="entr" presetSubtype="0" fill="hold" nodeType="withEffect">
                                  <p:stCondLst>
                                    <p:cond delay="0"/>
                                  </p:stCondLst>
                                  <p:childTnLst>
                                    <p:set>
                                      <p:cBhvr>
                                        <p:cTn id="55" dur="1" fill="hold">
                                          <p:stCondLst>
                                            <p:cond delay="0"/>
                                          </p:stCondLst>
                                        </p:cTn>
                                        <p:tgtEl>
                                          <p:spTgt spid="116"/>
                                        </p:tgtEl>
                                        <p:attrNameLst>
                                          <p:attrName>style.visibility</p:attrName>
                                        </p:attrNameLst>
                                      </p:cBhvr>
                                      <p:to>
                                        <p:strVal val="visible"/>
                                      </p:to>
                                    </p:set>
                                    <p:animEffect transition="in" filter="fade">
                                      <p:cBhvr>
                                        <p:cTn id="56" dur="400"/>
                                        <p:tgtEl>
                                          <p:spTgt spid="116"/>
                                        </p:tgtEl>
                                      </p:cBhvr>
                                    </p:animEffect>
                                  </p:childTnLst>
                                </p:cTn>
                              </p:par>
                              <p:par>
                                <p:cTn id="57" presetID="10" presetClass="entr" presetSubtype="0" fill="hold" nodeType="withEffect">
                                  <p:stCondLst>
                                    <p:cond delay="0"/>
                                  </p:stCondLst>
                                  <p:childTnLst>
                                    <p:set>
                                      <p:cBhvr>
                                        <p:cTn id="58" dur="1" fill="hold">
                                          <p:stCondLst>
                                            <p:cond delay="0"/>
                                          </p:stCondLst>
                                        </p:cTn>
                                        <p:tgtEl>
                                          <p:spTgt spid="117"/>
                                        </p:tgtEl>
                                        <p:attrNameLst>
                                          <p:attrName>style.visibility</p:attrName>
                                        </p:attrNameLst>
                                      </p:cBhvr>
                                      <p:to>
                                        <p:strVal val="visible"/>
                                      </p:to>
                                    </p:set>
                                    <p:animEffect transition="in" filter="fade">
                                      <p:cBhvr>
                                        <p:cTn id="59" dur="400"/>
                                        <p:tgtEl>
                                          <p:spTgt spid="117"/>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13"/>
                                        </p:tgtEl>
                                        <p:attrNameLst>
                                          <p:attrName>style.visibility</p:attrName>
                                        </p:attrNameLst>
                                      </p:cBhvr>
                                      <p:to>
                                        <p:strVal val="visible"/>
                                      </p:to>
                                    </p:set>
                                    <p:animEffect transition="in" filter="fade">
                                      <p:cBhvr>
                                        <p:cTn id="64" dur="400"/>
                                        <p:tgtEl>
                                          <p:spTgt spid="113"/>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62"/>
                                        </p:tgtEl>
                                        <p:attrNameLst>
                                          <p:attrName>style.visibility</p:attrName>
                                        </p:attrNameLst>
                                      </p:cBhvr>
                                      <p:to>
                                        <p:strVal val="visible"/>
                                      </p:to>
                                    </p:set>
                                    <p:animEffect transition="in" filter="fade">
                                      <p:cBhvr>
                                        <p:cTn id="69" dur="400"/>
                                        <p:tgtEl>
                                          <p:spTgt spid="62"/>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63"/>
                                        </p:tgtEl>
                                        <p:attrNameLst>
                                          <p:attrName>style.visibility</p:attrName>
                                        </p:attrNameLst>
                                      </p:cBhvr>
                                      <p:to>
                                        <p:strVal val="visible"/>
                                      </p:to>
                                    </p:set>
                                    <p:animEffect transition="in" filter="fade">
                                      <p:cBhvr>
                                        <p:cTn id="74"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do we choose among</a:t>
            </a:r>
            <a:br>
              <a:rPr lang="en-US" sz="3600" b="0" i="0" dirty="0"/>
            </a:br>
            <a:r>
              <a:rPr lang="en-US" sz="3600" b="0" i="0" dirty="0">
                <a:solidFill>
                  <a:srgbClr val="000000"/>
                </a:solidFill>
              </a:rPr>
              <a:t>acceptable architectures?</a:t>
            </a:r>
          </a:p>
        </p:txBody>
      </p:sp>
      <p:sp>
        <p:nvSpPr>
          <p:cNvPr id="3" name="Slide Number Placeholder 2"/>
          <p:cNvSpPr>
            <a:spLocks noGrp="1"/>
          </p:cNvSpPr>
          <p:nvPr>
            <p:ph type="sldNum" sz="quarter" idx="4"/>
          </p:nvPr>
        </p:nvSpPr>
        <p:spPr/>
        <p:txBody>
          <a:bodyPr/>
          <a:lstStyle/>
          <a:p>
            <a:fld id="{B7EB45DA-9A0D-DC49-8E02-F30A5DDC21C3}" type="slidenum">
              <a:rPr lang="en-US" smtClean="0"/>
              <a:t>7</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2</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is decision-making</a:t>
            </a:r>
            <a:br>
              <a:rPr lang="en-US" sz="2800"/>
            </a:br>
            <a:r>
              <a:rPr lang="en-US" sz="2800" b="0" i="0" dirty="0">
                <a:solidFill>
                  <a:srgbClr val="555960"/>
                </a:solidFill>
              </a:rPr>
              <a:t>under tradeoffs.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Two architectures. Which one is better?</a:t>
            </a:r>
          </a:p>
        </p:txBody>
      </p:sp>
      <p:sp>
        <p:nvSpPr>
          <p:cNvPr id="3" name="Slide Number Placeholder 2"/>
          <p:cNvSpPr>
            <a:spLocks noGrp="1"/>
          </p:cNvSpPr>
          <p:nvPr>
            <p:ph type="sldNum" sz="quarter" idx="4"/>
          </p:nvPr>
        </p:nvSpPr>
        <p:spPr/>
        <p:txBody>
          <a:bodyPr/>
          <a:lstStyle/>
          <a:p>
            <a:fld id="{B7EB45DA-9A0D-DC49-8E02-F30A5DDC21C3}" type="slidenum">
              <a:rPr lang="en-US" smtClean="0"/>
              <a:t>8</a:t>
            </a:fld>
            <a:endParaRPr lang="en-US"/>
          </a:p>
        </p:txBody>
      </p:sp>
      <p:sp>
        <p:nvSpPr>
          <p:cNvPr id="101" name="C101"/>
          <p:cNvSpPr/>
          <p:nvPr/>
        </p:nvSpPr>
        <p:spPr>
          <a:xfrm>
            <a:off x="3634500" y="13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A</a:t>
            </a:r>
          </a:p>
        </p:txBody>
      </p:sp>
      <p:sp>
        <p:nvSpPr>
          <p:cNvPr id="102" name="C102"/>
          <p:cNvSpPr/>
          <p:nvPr/>
        </p:nvSpPr>
        <p:spPr>
          <a:xfrm>
            <a:off x="6009500" y="13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B</a:t>
            </a:r>
          </a:p>
        </p:txBody>
      </p:sp>
      <p:sp>
        <p:nvSpPr>
          <p:cNvPr id="103" name="C103"/>
          <p:cNvSpPr/>
          <p:nvPr/>
        </p:nvSpPr>
        <p:spPr>
          <a:xfrm>
            <a:off x="759500" y="20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Latency</a:t>
            </a:r>
          </a:p>
        </p:txBody>
      </p:sp>
      <p:sp>
        <p:nvSpPr>
          <p:cNvPr id="104" name="C104"/>
          <p:cNvSpPr/>
          <p:nvPr/>
        </p:nvSpPr>
        <p:spPr>
          <a:xfrm>
            <a:off x="3634500" y="20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~100 ms</a:t>
            </a:r>
          </a:p>
        </p:txBody>
      </p:sp>
      <p:sp>
        <p:nvSpPr>
          <p:cNvPr id="105" name="C105"/>
          <p:cNvSpPr/>
          <p:nvPr/>
        </p:nvSpPr>
        <p:spPr>
          <a:xfrm>
            <a:off x="6009500" y="20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~180 ms</a:t>
            </a:r>
          </a:p>
        </p:txBody>
      </p:sp>
      <p:sp>
        <p:nvSpPr>
          <p:cNvPr id="106" name="C106"/>
          <p:cNvSpPr/>
          <p:nvPr/>
        </p:nvSpPr>
        <p:spPr>
          <a:xfrm>
            <a:off x="759500" y="26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107" name="C107"/>
          <p:cNvSpPr/>
          <p:nvPr/>
        </p:nvSpPr>
        <p:spPr>
          <a:xfrm>
            <a:off x="3634500" y="26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8" name="C108"/>
          <p:cNvSpPr/>
          <p:nvPr/>
        </p:nvSpPr>
        <p:spPr>
          <a:xfrm>
            <a:off x="6009500" y="26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9" name="C109"/>
          <p:cNvSpPr/>
          <p:nvPr/>
        </p:nvSpPr>
        <p:spPr>
          <a:xfrm>
            <a:off x="759500" y="33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t>
            </a:r>
          </a:p>
        </p:txBody>
      </p:sp>
      <p:sp>
        <p:nvSpPr>
          <p:cNvPr id="110" name="C110"/>
          <p:cNvSpPr/>
          <p:nvPr/>
        </p:nvSpPr>
        <p:spPr>
          <a:xfrm>
            <a:off x="3634500" y="33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coupled</a:t>
            </a:r>
          </a:p>
        </p:txBody>
      </p:sp>
      <p:sp>
        <p:nvSpPr>
          <p:cNvPr id="111" name="C111"/>
          <p:cNvSpPr/>
          <p:nvPr/>
        </p:nvSpPr>
        <p:spPr>
          <a:xfrm>
            <a:off x="6009500" y="33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local</a:t>
            </a:r>
          </a:p>
        </p:txBody>
      </p:sp>
      <p:sp>
        <p:nvSpPr>
          <p:cNvPr id="112" name="C112"/>
          <p:cNvSpPr/>
          <p:nvPr/>
        </p:nvSpPr>
        <p:spPr>
          <a:xfrm>
            <a:off x="759500" y="39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Availability</a:t>
            </a:r>
          </a:p>
        </p:txBody>
      </p:sp>
      <p:sp>
        <p:nvSpPr>
          <p:cNvPr id="113" name="C113"/>
          <p:cNvSpPr/>
          <p:nvPr/>
        </p:nvSpPr>
        <p:spPr>
          <a:xfrm>
            <a:off x="3634500" y="39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higher</a:t>
            </a:r>
          </a:p>
        </p:txBody>
      </p:sp>
      <p:sp>
        <p:nvSpPr>
          <p:cNvPr id="114" name="C114"/>
          <p:cNvSpPr/>
          <p:nvPr/>
        </p:nvSpPr>
        <p:spPr>
          <a:xfrm>
            <a:off x="6009500" y="39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lower</a:t>
            </a:r>
          </a:p>
        </p:txBody>
      </p:sp>
      <p:sp>
        <p:nvSpPr>
          <p:cNvPr id="80" name="S80"/>
          <p:cNvSpPr/>
          <p:nvPr/>
        </p:nvSpPr>
        <p:spPr>
          <a:xfrm>
            <a:off x="279400" y="5330000"/>
            <a:ext cx="88900" cy="620000"/>
          </a:xfrm>
          <a:prstGeom prst="rect">
            <a:avLst/>
          </a:prstGeom>
          <a:solidFill>
            <a:srgbClr val="8E6F3E"/>
          </a:solidFill>
          <a:ln>
            <a:noFill/>
          </a:ln>
        </p:spPr>
        <p:txBody>
          <a:bodyPr wrap="square" lIns="109728" tIns="82296" rIns="109728" bIns="82296" anchor="ctr">
            <a:normAutofit/>
          </a:bodyPr>
          <a:lstStyle/>
          <a:p>
            <a:endParaRPr/>
          </a:p>
        </p:txBody>
      </p:sp>
      <p:sp>
        <p:nvSpPr>
          <p:cNvPr id="81" name="S81"/>
          <p:cNvSpPr/>
          <p:nvPr/>
        </p:nvSpPr>
        <p:spPr>
          <a:xfrm>
            <a:off x="368300" y="5330000"/>
            <a:ext cx="8293100" cy="620000"/>
          </a:xfrm>
          <a:prstGeom prst="rect">
            <a:avLst/>
          </a:prstGeom>
          <a:solidFill>
            <a:srgbClr val="F5F1E8"/>
          </a:solidFill>
          <a:ln>
            <a:noFill/>
          </a:ln>
        </p:spPr>
        <p:txBody>
          <a:bodyPr wrap="square" lIns="109728" tIns="82296" rIns="109728" bIns="82296" anchor="ctr">
            <a:normAutofit/>
          </a:bodyPr>
          <a:lstStyle/>
          <a:p>
            <a:pPr algn="ctr">
              <a:buNone/>
            </a:pPr>
            <a:r>
              <a:rPr lang="en-US" sz="2600" b="1" i="0" dirty="0">
                <a:solidFill>
                  <a:srgbClr val="5C4826"/>
                </a:solidFill>
              </a:rPr>
              <a:t>THINK 1 min   ·   PAIR 2 min   ·   SHARE 2 min</a:t>
            </a:r>
          </a:p>
        </p:txBody>
      </p:sp>
      <p:sp>
        <p:nvSpPr>
          <p:cNvPr id="82" name="T82"/>
          <p:cNvSpPr txBox="1"/>
          <p:nvPr/>
        </p:nvSpPr>
        <p:spPr>
          <a:xfrm>
            <a:off x="279400" y="6100000"/>
            <a:ext cx="8559800" cy="406400"/>
          </a:xfrm>
          <a:prstGeom prst="rect">
            <a:avLst/>
          </a:prstGeom>
          <a:noFill/>
          <a:ln>
            <a:noFill/>
          </a:ln>
        </p:spPr>
        <p:txBody>
          <a:bodyPr wrap="square" lIns="0" tIns="0" rIns="0" bIns="0" anchor="t">
            <a:normAutofit lnSpcReduction="10000"/>
          </a:bodyPr>
          <a:lstStyle/>
          <a:p>
            <a:pPr algn="ctr">
              <a:buNone/>
            </a:pPr>
            <a:r>
              <a:rPr lang="en-US" sz="2800" b="1" i="0" dirty="0">
                <a:solidFill>
                  <a:srgbClr val="000000"/>
                </a:solidFill>
              </a:rPr>
              <a:t>WHICH ONE?</a:t>
            </a:r>
            <a:r>
              <a:rPr lang="en-US" sz="2800" b="1" i="0" dirty="0">
                <a:solidFill>
                  <a:srgbClr val="8E6F3E"/>
                </a:solidFill>
              </a:rPr>
              <a:t>    ·    </a:t>
            </a:r>
            <a:r>
              <a:rPr lang="en-US" sz="2800" b="1" i="0" dirty="0">
                <a:solidFill>
                  <a:srgbClr val="000000"/>
                </a:solidFill>
              </a:rPr>
              <a:t>Choose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400"/>
                                        <p:tgtEl>
                                          <p:spTgt spid="104"/>
                                        </p:tgtEl>
                                      </p:cBhvr>
                                    </p:animEffect>
                                  </p:childTnLst>
                                </p:cTn>
                              </p:par>
                              <p:par>
                                <p:cTn id="17" presetID="10" presetClass="entr" presetSubtype="0" fill="hold" nodeType="withEffect">
                                  <p:stCondLst>
                                    <p:cond delay="0"/>
                                  </p:stCondLst>
                                  <p:childTnLst>
                                    <p:set>
                                      <p:cBhvr>
                                        <p:cTn id="18" dur="1" fill="hold">
                                          <p:stCondLst>
                                            <p:cond delay="0"/>
                                          </p:stCondLst>
                                        </p:cTn>
                                        <p:tgtEl>
                                          <p:spTgt spid="105"/>
                                        </p:tgtEl>
                                        <p:attrNameLst>
                                          <p:attrName>style.visibility</p:attrName>
                                        </p:attrNameLst>
                                      </p:cBhvr>
                                      <p:to>
                                        <p:strVal val="visible"/>
                                      </p:to>
                                    </p:set>
                                    <p:animEffect transition="in" filter="fade">
                                      <p:cBhvr>
                                        <p:cTn id="19" dur="400"/>
                                        <p:tgtEl>
                                          <p:spTgt spid="105"/>
                                        </p:tgtEl>
                                      </p:cBhvr>
                                    </p:animEffect>
                                  </p:childTnLst>
                                </p:cTn>
                              </p:par>
                              <p:par>
                                <p:cTn id="20" presetID="10" presetClass="entr" presetSubtype="0" fill="hold" nodeType="withEffect">
                                  <p:stCondLst>
                                    <p:cond delay="0"/>
                                  </p:stCondLst>
                                  <p:childTnLst>
                                    <p:set>
                                      <p:cBhvr>
                                        <p:cTn id="21" dur="1" fill="hold">
                                          <p:stCondLst>
                                            <p:cond delay="0"/>
                                          </p:stCondLst>
                                        </p:cTn>
                                        <p:tgtEl>
                                          <p:spTgt spid="106"/>
                                        </p:tgtEl>
                                        <p:attrNameLst>
                                          <p:attrName>style.visibility</p:attrName>
                                        </p:attrNameLst>
                                      </p:cBhvr>
                                      <p:to>
                                        <p:strVal val="visible"/>
                                      </p:to>
                                    </p:set>
                                    <p:animEffect transition="in" filter="fade">
                                      <p:cBhvr>
                                        <p:cTn id="22" dur="400"/>
                                        <p:tgtEl>
                                          <p:spTgt spid="106"/>
                                        </p:tgtEl>
                                      </p:cBhvr>
                                    </p:animEffect>
                                  </p:childTnLst>
                                </p:cTn>
                              </p:par>
                              <p:par>
                                <p:cTn id="23" presetID="10" presetClass="entr" presetSubtype="0" fill="hold" nodeType="withEffect">
                                  <p:stCondLst>
                                    <p:cond delay="0"/>
                                  </p:stCondLst>
                                  <p:childTnLst>
                                    <p:set>
                                      <p:cBhvr>
                                        <p:cTn id="24" dur="1" fill="hold">
                                          <p:stCondLst>
                                            <p:cond delay="0"/>
                                          </p:stCondLst>
                                        </p:cTn>
                                        <p:tgtEl>
                                          <p:spTgt spid="107"/>
                                        </p:tgtEl>
                                        <p:attrNameLst>
                                          <p:attrName>style.visibility</p:attrName>
                                        </p:attrNameLst>
                                      </p:cBhvr>
                                      <p:to>
                                        <p:strVal val="visible"/>
                                      </p:to>
                                    </p:set>
                                    <p:animEffect transition="in" filter="fade">
                                      <p:cBhvr>
                                        <p:cTn id="25" dur="400"/>
                                        <p:tgtEl>
                                          <p:spTgt spid="107"/>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9"/>
                                        </p:tgtEl>
                                        <p:attrNameLst>
                                          <p:attrName>style.visibility</p:attrName>
                                        </p:attrNameLst>
                                      </p:cBhvr>
                                      <p:to>
                                        <p:strVal val="visible"/>
                                      </p:to>
                                    </p:set>
                                    <p:animEffect transition="in" filter="fade">
                                      <p:cBhvr>
                                        <p:cTn id="31" dur="400"/>
                                        <p:tgtEl>
                                          <p:spTgt spid="109"/>
                                        </p:tgtEl>
                                      </p:cBhvr>
                                    </p:animEffect>
                                  </p:childTnLst>
                                </p:cTn>
                              </p:par>
                              <p:par>
                                <p:cTn id="32" presetID="10" presetClass="entr" presetSubtype="0" fill="hold" nodeType="withEffect">
                                  <p:stCondLst>
                                    <p:cond delay="0"/>
                                  </p:stCondLst>
                                  <p:childTnLst>
                                    <p:set>
                                      <p:cBhvr>
                                        <p:cTn id="33" dur="1" fill="hold">
                                          <p:stCondLst>
                                            <p:cond delay="0"/>
                                          </p:stCondLst>
                                        </p:cTn>
                                        <p:tgtEl>
                                          <p:spTgt spid="110"/>
                                        </p:tgtEl>
                                        <p:attrNameLst>
                                          <p:attrName>style.visibility</p:attrName>
                                        </p:attrNameLst>
                                      </p:cBhvr>
                                      <p:to>
                                        <p:strVal val="visible"/>
                                      </p:to>
                                    </p:set>
                                    <p:animEffect transition="in" filter="fade">
                                      <p:cBhvr>
                                        <p:cTn id="34" dur="400"/>
                                        <p:tgtEl>
                                          <p:spTgt spid="110"/>
                                        </p:tgtEl>
                                      </p:cBhvr>
                                    </p:animEffect>
                                  </p:childTnLst>
                                </p:cTn>
                              </p:par>
                              <p:par>
                                <p:cTn id="35" presetID="10" presetClass="entr" presetSubtype="0" fill="hold" nodeType="withEffect">
                                  <p:stCondLst>
                                    <p:cond delay="0"/>
                                  </p:stCondLst>
                                  <p:childTnLst>
                                    <p:set>
                                      <p:cBhvr>
                                        <p:cTn id="36" dur="1" fill="hold">
                                          <p:stCondLst>
                                            <p:cond delay="0"/>
                                          </p:stCondLst>
                                        </p:cTn>
                                        <p:tgtEl>
                                          <p:spTgt spid="111"/>
                                        </p:tgtEl>
                                        <p:attrNameLst>
                                          <p:attrName>style.visibility</p:attrName>
                                        </p:attrNameLst>
                                      </p:cBhvr>
                                      <p:to>
                                        <p:strVal val="visible"/>
                                      </p:to>
                                    </p:set>
                                    <p:animEffect transition="in" filter="fade">
                                      <p:cBhvr>
                                        <p:cTn id="37" dur="400"/>
                                        <p:tgtEl>
                                          <p:spTgt spid="111"/>
                                        </p:tgtEl>
                                      </p:cBhvr>
                                    </p:animEffect>
                                  </p:childTnLst>
                                </p:cTn>
                              </p:par>
                              <p:par>
                                <p:cTn id="38" presetID="10" presetClass="entr" presetSubtype="0" fill="hold" nodeType="withEffect">
                                  <p:stCondLst>
                                    <p:cond delay="0"/>
                                  </p:stCondLst>
                                  <p:childTnLst>
                                    <p:set>
                                      <p:cBhvr>
                                        <p:cTn id="39" dur="1" fill="hold">
                                          <p:stCondLst>
                                            <p:cond delay="0"/>
                                          </p:stCondLst>
                                        </p:cTn>
                                        <p:tgtEl>
                                          <p:spTgt spid="112"/>
                                        </p:tgtEl>
                                        <p:attrNameLst>
                                          <p:attrName>style.visibility</p:attrName>
                                        </p:attrNameLst>
                                      </p:cBhvr>
                                      <p:to>
                                        <p:strVal val="visible"/>
                                      </p:to>
                                    </p:set>
                                    <p:animEffect transition="in" filter="fade">
                                      <p:cBhvr>
                                        <p:cTn id="40" dur="400"/>
                                        <p:tgtEl>
                                          <p:spTgt spid="112"/>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400"/>
                                        <p:tgtEl>
                                          <p:spTgt spid="113"/>
                                        </p:tgtEl>
                                      </p:cBhvr>
                                    </p:animEffect>
                                  </p:childTnLst>
                                </p:cTn>
                              </p:par>
                              <p:par>
                                <p:cTn id="44" presetID="10" presetClass="entr" presetSubtype="0" fill="hold" nodeType="withEffect">
                                  <p:stCondLst>
                                    <p:cond delay="0"/>
                                  </p:stCondLst>
                                  <p:childTnLst>
                                    <p:set>
                                      <p:cBhvr>
                                        <p:cTn id="45" dur="1" fill="hold">
                                          <p:stCondLst>
                                            <p:cond delay="0"/>
                                          </p:stCondLst>
                                        </p:cTn>
                                        <p:tgtEl>
                                          <p:spTgt spid="114"/>
                                        </p:tgtEl>
                                        <p:attrNameLst>
                                          <p:attrName>style.visibility</p:attrName>
                                        </p:attrNameLst>
                                      </p:cBhvr>
                                      <p:to>
                                        <p:strVal val="visible"/>
                                      </p:to>
                                    </p:set>
                                    <p:animEffect transition="in" filter="fade">
                                      <p:cBhvr>
                                        <p:cTn id="46" dur="400"/>
                                        <p:tgtEl>
                                          <p:spTgt spid="1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82"/>
                                        </p:tgtEl>
                                        <p:attrNameLst>
                                          <p:attrName>style.visibility</p:attrName>
                                        </p:attrNameLst>
                                      </p:cBhvr>
                                      <p:to>
                                        <p:strVal val="visible"/>
                                      </p:to>
                                    </p:set>
                                    <p:animEffect transition="in" filter="fade">
                                      <p:cBhvr>
                                        <p:cTn id="51" dur="400"/>
                                        <p:tgtEl>
                                          <p:spTgt spid="82"/>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80"/>
                                        </p:tgtEl>
                                        <p:attrNameLst>
                                          <p:attrName>style.visibility</p:attrName>
                                        </p:attrNameLst>
                                      </p:cBhvr>
                                      <p:to>
                                        <p:strVal val="visible"/>
                                      </p:to>
                                    </p:set>
                                    <p:animEffect transition="in" filter="fade">
                                      <p:cBhvr>
                                        <p:cTn id="56" dur="400"/>
                                        <p:tgtEl>
                                          <p:spTgt spid="80"/>
                                        </p:tgtEl>
                                      </p:cBhvr>
                                    </p:animEffect>
                                  </p:childTnLst>
                                </p:cTn>
                              </p:par>
                              <p:par>
                                <p:cTn id="57" presetID="10" presetClass="entr" presetSubtype="0" fill="hold" nodeType="withEffect">
                                  <p:stCondLst>
                                    <p:cond delay="0"/>
                                  </p:stCondLst>
                                  <p:childTnLst>
                                    <p:set>
                                      <p:cBhvr>
                                        <p:cTn id="58" dur="1" fill="hold">
                                          <p:stCondLst>
                                            <p:cond delay="0"/>
                                          </p:stCondLst>
                                        </p:cTn>
                                        <p:tgtEl>
                                          <p:spTgt spid="81"/>
                                        </p:tgtEl>
                                        <p:attrNameLst>
                                          <p:attrName>style.visibility</p:attrName>
                                        </p:attrNameLst>
                                      </p:cBhvr>
                                      <p:to>
                                        <p:strVal val="visible"/>
                                      </p:to>
                                    </p:set>
                                    <p:animEffect transition="in" filter="fade">
                                      <p:cBhvr>
                                        <p:cTn id="59"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The decision matrix says architecture A wins, 3.95 to 3.70</a:t>
            </a:r>
          </a:p>
        </p:txBody>
      </p:sp>
      <p:sp>
        <p:nvSpPr>
          <p:cNvPr id="3" name="Slide Number Placeholder 2"/>
          <p:cNvSpPr>
            <a:spLocks noGrp="1"/>
          </p:cNvSpPr>
          <p:nvPr>
            <p:ph type="sldNum" sz="quarter" idx="4"/>
          </p:nvPr>
        </p:nvSpPr>
        <p:spPr/>
        <p:txBody>
          <a:bodyPr/>
          <a:lstStyle/>
          <a:p>
            <a:fld id="{B7EB45DA-9A0D-DC49-8E02-F30A5DDC21C3}" type="slidenum">
              <a:rPr lang="en-US" smtClean="0"/>
              <a:t>9</a:t>
            </a:fld>
            <a:endParaRPr lang="en-US"/>
          </a:p>
        </p:txBody>
      </p:sp>
      <p:sp>
        <p:nvSpPr>
          <p:cNvPr id="61" name="C61"/>
          <p:cNvSpPr/>
          <p:nvPr/>
        </p:nvSpPr>
        <p:spPr>
          <a:xfrm>
            <a:off x="3385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Weight</a:t>
            </a:r>
          </a:p>
        </p:txBody>
      </p:sp>
      <p:sp>
        <p:nvSpPr>
          <p:cNvPr id="62" name="C62"/>
          <p:cNvSpPr/>
          <p:nvPr/>
        </p:nvSpPr>
        <p:spPr>
          <a:xfrm>
            <a:off x="4711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A</a:t>
            </a:r>
          </a:p>
        </p:txBody>
      </p:sp>
      <p:sp>
        <p:nvSpPr>
          <p:cNvPr id="63" name="C63"/>
          <p:cNvSpPr/>
          <p:nvPr/>
        </p:nvSpPr>
        <p:spPr>
          <a:xfrm>
            <a:off x="6037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B</a:t>
            </a:r>
          </a:p>
        </p:txBody>
      </p:sp>
      <p:sp>
        <p:nvSpPr>
          <p:cNvPr id="64" name="C64"/>
          <p:cNvSpPr/>
          <p:nvPr/>
        </p:nvSpPr>
        <p:spPr>
          <a:xfrm>
            <a:off x="937000" y="1752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Performance</a:t>
            </a:r>
          </a:p>
        </p:txBody>
      </p:sp>
      <p:sp>
        <p:nvSpPr>
          <p:cNvPr id="65" name="C65"/>
          <p:cNvSpPr/>
          <p:nvPr/>
        </p:nvSpPr>
        <p:spPr>
          <a:xfrm>
            <a:off x="3385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.30</a:t>
            </a:r>
          </a:p>
        </p:txBody>
      </p:sp>
      <p:sp>
        <p:nvSpPr>
          <p:cNvPr id="66" name="C66"/>
          <p:cNvSpPr/>
          <p:nvPr/>
        </p:nvSpPr>
        <p:spPr>
          <a:xfrm>
            <a:off x="4711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67" name="C67"/>
          <p:cNvSpPr/>
          <p:nvPr/>
        </p:nvSpPr>
        <p:spPr>
          <a:xfrm>
            <a:off x="6037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68" name="C68"/>
          <p:cNvSpPr/>
          <p:nvPr/>
        </p:nvSpPr>
        <p:spPr>
          <a:xfrm>
            <a:off x="937000" y="2376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69" name="C69"/>
          <p:cNvSpPr/>
          <p:nvPr/>
        </p:nvSpPr>
        <p:spPr>
          <a:xfrm>
            <a:off x="3385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0" name="C70"/>
          <p:cNvSpPr/>
          <p:nvPr/>
        </p:nvSpPr>
        <p:spPr>
          <a:xfrm>
            <a:off x="4711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a:t>
            </a:r>
          </a:p>
        </p:txBody>
      </p:sp>
      <p:sp>
        <p:nvSpPr>
          <p:cNvPr id="71" name="C71"/>
          <p:cNvSpPr/>
          <p:nvPr/>
        </p:nvSpPr>
        <p:spPr>
          <a:xfrm>
            <a:off x="6037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2" name="C72"/>
          <p:cNvSpPr/>
          <p:nvPr/>
        </p:nvSpPr>
        <p:spPr>
          <a:xfrm>
            <a:off x="937000" y="3000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Changeability</a:t>
            </a:r>
          </a:p>
        </p:txBody>
      </p:sp>
      <p:sp>
        <p:nvSpPr>
          <p:cNvPr id="73" name="C73"/>
          <p:cNvSpPr/>
          <p:nvPr/>
        </p:nvSpPr>
        <p:spPr>
          <a:xfrm>
            <a:off x="3385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.20</a:t>
            </a:r>
          </a:p>
        </p:txBody>
      </p:sp>
      <p:sp>
        <p:nvSpPr>
          <p:cNvPr id="74" name="C74"/>
          <p:cNvSpPr/>
          <p:nvPr/>
        </p:nvSpPr>
        <p:spPr>
          <a:xfrm>
            <a:off x="4711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75" name="C75"/>
          <p:cNvSpPr/>
          <p:nvPr/>
        </p:nvSpPr>
        <p:spPr>
          <a:xfrm>
            <a:off x="6037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76" name="C76"/>
          <p:cNvSpPr/>
          <p:nvPr/>
        </p:nvSpPr>
        <p:spPr>
          <a:xfrm>
            <a:off x="937000" y="3624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Reliability</a:t>
            </a:r>
          </a:p>
        </p:txBody>
      </p:sp>
      <p:sp>
        <p:nvSpPr>
          <p:cNvPr id="77" name="C77"/>
          <p:cNvSpPr/>
          <p:nvPr/>
        </p:nvSpPr>
        <p:spPr>
          <a:xfrm>
            <a:off x="3385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8" name="C78"/>
          <p:cNvSpPr/>
          <p:nvPr/>
        </p:nvSpPr>
        <p:spPr>
          <a:xfrm>
            <a:off x="4711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9" name="C79"/>
          <p:cNvSpPr/>
          <p:nvPr/>
        </p:nvSpPr>
        <p:spPr>
          <a:xfrm>
            <a:off x="6037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80" name="C80"/>
          <p:cNvSpPr/>
          <p:nvPr/>
        </p:nvSpPr>
        <p:spPr>
          <a:xfrm>
            <a:off x="937000" y="4248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Weighted</a:t>
            </a:r>
          </a:p>
        </p:txBody>
      </p:sp>
      <p:sp>
        <p:nvSpPr>
          <p:cNvPr id="82" name="C82"/>
          <p:cNvSpPr/>
          <p:nvPr/>
        </p:nvSpPr>
        <p:spPr>
          <a:xfrm>
            <a:off x="4711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3.95</a:t>
            </a:r>
          </a:p>
        </p:txBody>
      </p:sp>
      <p:sp>
        <p:nvSpPr>
          <p:cNvPr id="83" name="C83"/>
          <p:cNvSpPr/>
          <p:nvPr/>
        </p:nvSpPr>
        <p:spPr>
          <a:xfrm>
            <a:off x="6037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3.70</a:t>
            </a:r>
          </a:p>
        </p:txBody>
      </p:sp>
      <p:sp>
        <p:nvSpPr>
          <p:cNvPr id="90" name="T90"/>
          <p:cNvSpPr txBox="1"/>
          <p:nvPr/>
        </p:nvSpPr>
        <p:spPr>
          <a:xfrm>
            <a:off x="685800" y="4980000"/>
            <a:ext cx="7772400" cy="500000"/>
          </a:xfrm>
          <a:prstGeom prst="rect">
            <a:avLst/>
          </a:prstGeom>
          <a:noFill/>
          <a:ln>
            <a:noFill/>
          </a:ln>
        </p:spPr>
        <p:txBody>
          <a:bodyPr wrap="square" lIns="0" tIns="0" rIns="0" bIns="0" anchor="t">
            <a:normAutofit/>
          </a:bodyPr>
          <a:lstStyle/>
          <a:p>
            <a:pPr algn="ctr">
              <a:buNone/>
            </a:pPr>
            <a:r>
              <a:rPr lang="en-US" sz="3200" b="1" i="0" dirty="0">
                <a:solidFill>
                  <a:srgbClr val="8E6F3E"/>
                </a:solidFill>
              </a:rPr>
              <a:t>A WINS</a:t>
            </a:r>
          </a:p>
        </p:txBody>
      </p:sp>
      <p:sp>
        <p:nvSpPr>
          <p:cNvPr id="92" name="T92"/>
          <p:cNvSpPr txBox="1"/>
          <p:nvPr/>
        </p:nvSpPr>
        <p:spPr>
          <a:xfrm>
            <a:off x="685800" y="5750000"/>
            <a:ext cx="7772400" cy="500000"/>
          </a:xfrm>
          <a:prstGeom prst="rect">
            <a:avLst/>
          </a:prstGeom>
          <a:noFill/>
          <a:ln>
            <a:noFill/>
          </a:ln>
        </p:spPr>
        <p:txBody>
          <a:bodyPr wrap="square" lIns="0" tIns="0" rIns="0" bIns="0" anchor="t">
            <a:normAutofit fontScale="85000" lnSpcReduction="20000"/>
          </a:bodyPr>
          <a:lstStyle/>
          <a:p>
            <a:pPr algn="ctr">
              <a:buNone/>
            </a:pPr>
            <a:r>
              <a:rPr lang="en-US" sz="2300" b="0" i="1" dirty="0">
                <a:solidFill>
                  <a:srgbClr val="000000"/>
                </a:solidFill>
              </a:rPr>
              <a:t>This is not measurement merely</a:t>
            </a:r>
            <a:br>
              <a:rPr lang="en-US" sz="2300" b="0" i="1" dirty="0">
                <a:solidFill>
                  <a:srgbClr val="000000"/>
                </a:solidFill>
              </a:rPr>
            </a:br>
            <a:r>
              <a:rPr lang="en-US" sz="2300" b="0" i="1" dirty="0">
                <a:solidFill>
                  <a:srgbClr val="000000"/>
                </a:solidFill>
              </a:rPr>
              <a:t>because a spreadsheet produced a number.</a:t>
            </a:r>
          </a:p>
        </p:txBody>
      </p:sp>
      <p:sp>
        <p:nvSpPr>
          <p:cNvPr id="120" name="Callout1"/>
          <p:cNvSpPr/>
          <p:nvPr/>
        </p:nvSpPr>
        <p:spPr>
          <a:xfrm>
            <a:off x="100000" y="1350000"/>
            <a:ext cx="1150000" cy="520000"/>
          </a:xfrm>
          <a:prstGeom prst="roundRect">
            <a:avLst/>
          </a:prstGeom>
          <a:solidFill>
            <a:srgbClr val="F5F0E6"/>
          </a:solidFill>
          <a:ln w="12700">
            <a:solidFill>
              <a:srgbClr val="B23B3B"/>
            </a:solidFill>
          </a:ln>
        </p:spPr>
        <p:txBody>
          <a:bodyPr wrap="square" lIns="54864" tIns="27432" rIns="54864" bIns="27432" anchor="ctr">
            <a:normAutofit/>
          </a:bodyPr>
          <a:lstStyle/>
          <a:p>
            <a:pPr algn="ctr">
              <a:buNone/>
            </a:pPr>
            <a:r>
              <a:rPr lang="en-US" sz="1200" b="1" i="0" dirty="0">
                <a:solidFill>
                  <a:srgbClr val="B23B3B"/>
                </a:solidFill>
              </a:rPr>
              <a:t>WHY .30?</a:t>
            </a:r>
          </a:p>
        </p:txBody>
      </p:sp>
      <p:cxnSp>
        <p:nvCxnSpPr>
          <p:cNvPr id="121" name="CalloutArw1"/>
          <p:cNvCxnSpPr/>
          <p:nvPr/>
        </p:nvCxnSpPr>
        <p:spPr>
          <a:xfrm>
            <a:off x="1270000" y="1620000"/>
            <a:ext cx="2100000" cy="380000"/>
          </a:xfrm>
          <a:prstGeom prst="line">
            <a:avLst/>
          </a:prstGeom>
          <a:ln w="12700">
            <a:solidFill>
              <a:srgbClr val="B23B3B"/>
            </a:solidFill>
            <a:tailEnd type="triangle" w="sm" len="sm"/>
          </a:ln>
        </p:spPr>
      </p:cxnSp>
      <p:sp>
        <p:nvSpPr>
          <p:cNvPr id="122" name="Callout2"/>
          <p:cNvSpPr/>
          <p:nvPr/>
        </p:nvSpPr>
        <p:spPr>
          <a:xfrm>
            <a:off x="7560000" y="1150000"/>
            <a:ext cx="1520000" cy="640000"/>
          </a:xfrm>
          <a:prstGeom prst="roundRect">
            <a:avLst/>
          </a:prstGeom>
          <a:solidFill>
            <a:srgbClr val="F5F0E6"/>
          </a:solidFill>
          <a:ln w="12700">
            <a:solidFill>
              <a:srgbClr val="B23B3B"/>
            </a:solidFill>
          </a:ln>
        </p:spPr>
        <p:txBody>
          <a:bodyPr wrap="square" lIns="54864" tIns="27432" rIns="54864" bIns="27432" anchor="ctr">
            <a:normAutofit/>
          </a:bodyPr>
          <a:lstStyle/>
          <a:p>
            <a:pPr algn="ctr">
              <a:buNone/>
            </a:pPr>
            <a:r>
              <a:rPr lang="en-US" sz="1200" b="1" i="0" dirty="0">
                <a:solidFill>
                  <a:srgbClr val="B23B3B"/>
                </a:solidFill>
              </a:rPr>
              <a:t>WHAT IS</a:t>
            </a:r>
          </a:p>
          <a:p>
            <a:pPr algn="ctr">
              <a:spcBef>
                <a:spcPts val="300"/>
              </a:spcBef>
              <a:buNone/>
            </a:pPr>
            <a:r>
              <a:rPr lang="en-US" sz="1200" b="1" i="0" dirty="0">
                <a:solidFill>
                  <a:srgbClr val="B23B3B"/>
                </a:solidFill>
              </a:rPr>
              <a:t>A “5”?</a:t>
            </a:r>
          </a:p>
        </p:txBody>
      </p:sp>
      <p:cxnSp>
        <p:nvCxnSpPr>
          <p:cNvPr id="123" name="CalloutArw2"/>
          <p:cNvCxnSpPr/>
          <p:nvPr/>
        </p:nvCxnSpPr>
        <p:spPr>
          <a:xfrm flipH="1">
            <a:off x="6040000" y="1785000"/>
            <a:ext cx="1620000" cy="55000"/>
          </a:xfrm>
          <a:prstGeom prst="line">
            <a:avLst/>
          </a:prstGeom>
          <a:ln w="12700">
            <a:solidFill>
              <a:srgbClr val="B23B3B"/>
            </a:solidFill>
            <a:tailEnd type="triangle" w="sm" len="sm"/>
          </a:ln>
        </p:spPr>
      </p:cxnSp>
      <p:sp>
        <p:nvSpPr>
          <p:cNvPr id="124" name="CalloutBrace"/>
          <p:cNvSpPr/>
          <p:nvPr/>
        </p:nvSpPr>
        <p:spPr>
          <a:xfrm>
            <a:off x="7420000" y="2376000"/>
            <a:ext cx="240000" cy="1872000"/>
          </a:xfrm>
          <a:prstGeom prst="leftBrace">
            <a:avLst/>
          </a:prstGeom>
          <a:noFill/>
          <a:ln w="15875">
            <a:solidFill>
              <a:srgbClr val="B23B3B"/>
            </a:solidFill>
          </a:ln>
        </p:spPr>
        <p:txBody>
          <a:bodyPr wrap="square" lIns="54864" tIns="27432" rIns="54864" bIns="27432" anchor="ctr">
            <a:normAutofit/>
          </a:bodyPr>
          <a:lstStyle/>
          <a:p>
            <a:endParaRPr/>
          </a:p>
        </p:txBody>
      </p:sp>
      <p:sp>
        <p:nvSpPr>
          <p:cNvPr id="125" name="Callout3"/>
          <p:cNvSpPr/>
          <p:nvPr/>
        </p:nvSpPr>
        <p:spPr>
          <a:xfrm>
            <a:off x="7660000" y="2700000"/>
            <a:ext cx="1420000" cy="1250000"/>
          </a:xfrm>
          <a:prstGeom prst="roundRect">
            <a:avLst/>
          </a:prstGeom>
          <a:solidFill>
            <a:srgbClr val="F5F0E6"/>
          </a:solidFill>
          <a:ln w="12700">
            <a:solidFill>
              <a:srgbClr val="B23B3B"/>
            </a:solidFill>
          </a:ln>
        </p:spPr>
        <p:txBody>
          <a:bodyPr wrap="square" lIns="45720" tIns="27432" rIns="45720" bIns="27432" anchor="ctr">
            <a:normAutofit/>
          </a:bodyPr>
          <a:lstStyle/>
          <a:p>
            <a:pPr algn="ctr">
              <a:buNone/>
            </a:pPr>
            <a:r>
              <a:rPr lang="en-US" sz="1200" b="1" i="0" dirty="0">
                <a:solidFill>
                  <a:srgbClr val="B23B3B"/>
                </a:solidFill>
              </a:rPr>
              <a:t>WHY MAY COST</a:t>
            </a:r>
          </a:p>
          <a:p>
            <a:pPr algn="ctr">
              <a:spcBef>
                <a:spcPts val="300"/>
              </a:spcBef>
              <a:buNone/>
            </a:pPr>
            <a:r>
              <a:rPr lang="en-US" sz="1200" b="1" i="0" dirty="0">
                <a:solidFill>
                  <a:srgbClr val="B23B3B"/>
                </a:solidFill>
              </a:rPr>
              <a:t>COMPENSATE FOR</a:t>
            </a:r>
          </a:p>
          <a:p>
            <a:pPr algn="ctr">
              <a:spcBef>
                <a:spcPts val="300"/>
              </a:spcBef>
              <a:buNone/>
            </a:pPr>
            <a:r>
              <a:rPr lang="en-US" sz="1200" b="1" i="0" dirty="0">
                <a:solidFill>
                  <a:srgbClr val="B23B3B"/>
                </a:solidFill>
              </a:rPr>
              <a:t>RELIABILITY?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4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2"/>
                                        </p:tgtEl>
                                        <p:attrNameLst>
                                          <p:attrName>style.visibility</p:attrName>
                                        </p:attrNameLst>
                                      </p:cBhvr>
                                      <p:to>
                                        <p:strVal val="visible"/>
                                      </p:to>
                                    </p:set>
                                    <p:animEffect transition="in" filter="fade">
                                      <p:cBhvr>
                                        <p:cTn id="10" dur="400"/>
                                        <p:tgtEl>
                                          <p:spTgt spid="82"/>
                                        </p:tgtEl>
                                      </p:cBhvr>
                                    </p:animEffect>
                                  </p:childTnLst>
                                </p:cTn>
                              </p:par>
                              <p:par>
                                <p:cTn id="11" presetID="10" presetClass="entr" presetSubtype="0" fill="hold" nodeType="withEffect">
                                  <p:stCondLst>
                                    <p:cond delay="0"/>
                                  </p:stCondLst>
                                  <p:childTnLst>
                                    <p:set>
                                      <p:cBhvr>
                                        <p:cTn id="12" dur="1" fill="hold">
                                          <p:stCondLst>
                                            <p:cond delay="0"/>
                                          </p:stCondLst>
                                        </p:cTn>
                                        <p:tgtEl>
                                          <p:spTgt spid="83"/>
                                        </p:tgtEl>
                                        <p:attrNameLst>
                                          <p:attrName>style.visibility</p:attrName>
                                        </p:attrNameLst>
                                      </p:cBhvr>
                                      <p:to>
                                        <p:strVal val="visible"/>
                                      </p:to>
                                    </p:set>
                                    <p:animEffect transition="in" filter="fade">
                                      <p:cBhvr>
                                        <p:cTn id="13" dur="400"/>
                                        <p:tgtEl>
                                          <p:spTgt spid="83"/>
                                        </p:tgtEl>
                                      </p:cBhvr>
                                    </p:animEffect>
                                  </p:childTnLst>
                                </p:cTn>
                              </p:par>
                              <p:par>
                                <p:cTn id="14" presetID="10" presetClass="entr" presetSubtype="0" fill="hold" nodeType="withEffect">
                                  <p:stCondLst>
                                    <p:cond delay="0"/>
                                  </p:stCondLst>
                                  <p:childTnLst>
                                    <p:set>
                                      <p:cBhvr>
                                        <p:cTn id="15" dur="1" fill="hold">
                                          <p:stCondLst>
                                            <p:cond delay="0"/>
                                          </p:stCondLst>
                                        </p:cTn>
                                        <p:tgtEl>
                                          <p:spTgt spid="90"/>
                                        </p:tgtEl>
                                        <p:attrNameLst>
                                          <p:attrName>style.visibility</p:attrName>
                                        </p:attrNameLst>
                                      </p:cBhvr>
                                      <p:to>
                                        <p:strVal val="visible"/>
                                      </p:to>
                                    </p:set>
                                    <p:animEffect transition="in" filter="fade">
                                      <p:cBhvr>
                                        <p:cTn id="16" dur="400"/>
                                        <p:tgtEl>
                                          <p:spTgt spid="9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4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400"/>
                                        <p:tgtEl>
                                          <p:spTgt spid="12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4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23"/>
                                        </p:tgtEl>
                                        <p:attrNameLst>
                                          <p:attrName>style.visibility</p:attrName>
                                        </p:attrNameLst>
                                      </p:cBhvr>
                                      <p:to>
                                        <p:strVal val="visible"/>
                                      </p:to>
                                    </p:set>
                                    <p:animEffect transition="in" filter="fade">
                                      <p:cBhvr>
                                        <p:cTn id="32" dur="400"/>
                                        <p:tgtEl>
                                          <p:spTgt spid="1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24"/>
                                        </p:tgtEl>
                                        <p:attrNameLst>
                                          <p:attrName>style.visibility</p:attrName>
                                        </p:attrNameLst>
                                      </p:cBhvr>
                                      <p:to>
                                        <p:strVal val="visible"/>
                                      </p:to>
                                    </p:set>
                                    <p:animEffect transition="in" filter="fade">
                                      <p:cBhvr>
                                        <p:cTn id="37" dur="400"/>
                                        <p:tgtEl>
                                          <p:spTgt spid="124"/>
                                        </p:tgtEl>
                                      </p:cBhvr>
                                    </p:animEffect>
                                  </p:childTnLst>
                                </p:cTn>
                              </p:par>
                              <p:par>
                                <p:cTn id="38" presetID="10" presetClass="entr" presetSubtype="0" fill="hold" nodeType="withEffect">
                                  <p:stCondLst>
                                    <p:cond delay="0"/>
                                  </p:stCondLst>
                                  <p:childTnLst>
                                    <p:set>
                                      <p:cBhvr>
                                        <p:cTn id="39" dur="1" fill="hold">
                                          <p:stCondLst>
                                            <p:cond delay="0"/>
                                          </p:stCondLst>
                                        </p:cTn>
                                        <p:tgtEl>
                                          <p:spTgt spid="125"/>
                                        </p:tgtEl>
                                        <p:attrNameLst>
                                          <p:attrName>style.visibility</p:attrName>
                                        </p:attrNameLst>
                                      </p:cBhvr>
                                      <p:to>
                                        <p:strVal val="visible"/>
                                      </p:to>
                                    </p:set>
                                    <p:animEffect transition="in" filter="fade">
                                      <p:cBhvr>
                                        <p:cTn id="40" dur="400"/>
                                        <p:tgtEl>
                                          <p:spTgt spid="125"/>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92"/>
                                        </p:tgtEl>
                                        <p:attrNameLst>
                                          <p:attrName>style.visibility</p:attrName>
                                        </p:attrNameLst>
                                      </p:cBhvr>
                                      <p:to>
                                        <p:strVal val="visible"/>
                                      </p:to>
                                    </p:set>
                                    <p:animEffect transition="in" filter="fade">
                                      <p:cBhvr>
                                        <p:cTn id="45" dur="4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First eliminate unacceptable and dominated alternatives</a:t>
            </a:r>
          </a:p>
        </p:txBody>
      </p:sp>
      <p:sp>
        <p:nvSpPr>
          <p:cNvPr id="3" name="Slide Number Placeholder 2"/>
          <p:cNvSpPr>
            <a:spLocks noGrp="1"/>
          </p:cNvSpPr>
          <p:nvPr>
            <p:ph type="sldNum" sz="quarter" idx="4"/>
          </p:nvPr>
        </p:nvSpPr>
        <p:spPr/>
        <p:txBody>
          <a:bodyPr/>
          <a:lstStyle/>
          <a:p>
            <a:fld id="{B7EB45DA-9A0D-DC49-8E02-F30A5DDC21C3}" type="slidenum">
              <a:rPr lang="en-US" smtClean="0"/>
              <a:t>10</a:t>
            </a:fld>
            <a:endParaRPr lang="en-US"/>
          </a:p>
        </p:txBody>
      </p:sp>
      <p:sp>
        <p:nvSpPr>
          <p:cNvPr id="61" name="T61"/>
          <p:cNvSpPr txBox="1"/>
          <p:nvPr/>
        </p:nvSpPr>
        <p:spPr>
          <a:xfrm>
            <a:off x="685800" y="5050000"/>
            <a:ext cx="7772400" cy="900000"/>
          </a:xfrm>
          <a:prstGeom prst="rect">
            <a:avLst/>
          </a:prstGeom>
          <a:noFill/>
          <a:ln>
            <a:noFill/>
          </a:ln>
        </p:spPr>
        <p:txBody>
          <a:bodyPr wrap="square" lIns="0" tIns="0" rIns="0" bIns="0" anchor="t">
            <a:normAutofit/>
          </a:bodyPr>
          <a:lstStyle/>
          <a:p>
            <a:pPr algn="ctr">
              <a:buNone/>
            </a:pPr>
            <a:r>
              <a:rPr lang="en-US" sz="2500" b="1" i="0" dirty="0">
                <a:solidFill>
                  <a:srgbClr val="000000"/>
                </a:solidFill>
              </a:rPr>
              <a:t>Constraints are not objectives.</a:t>
            </a:r>
          </a:p>
          <a:p>
            <a:pPr algn="ctr">
              <a:spcBef>
                <a:spcPts val="230"/>
              </a:spcBef>
              <a:buNone/>
            </a:pPr>
            <a:r>
              <a:rPr lang="en-US" sz="2400" b="0" i="1" dirty="0">
                <a:solidFill>
                  <a:srgbClr val="000000"/>
                </a:solidFill>
              </a:rPr>
              <a:t>Neither operation required us to decide what we prefer.</a:t>
            </a:r>
          </a:p>
        </p:txBody>
      </p:sp>
      <p:sp>
        <p:nvSpPr>
          <p:cNvPr id="100" name="S1Lbl"/>
          <p:cNvSpPr txBox="1"/>
          <p:nvPr/>
        </p:nvSpPr>
        <p:spPr>
          <a:xfrm>
            <a:off x="6858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1 — SPECIFICATION</a:t>
            </a:r>
          </a:p>
        </p:txBody>
      </p:sp>
      <p:sp>
        <p:nvSpPr>
          <p:cNvPr id="101" name="S1A"/>
          <p:cNvSpPr/>
          <p:nvPr/>
        </p:nvSpPr>
        <p:spPr>
          <a:xfrm>
            <a:off x="298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A</a:t>
            </a:r>
          </a:p>
          <a:p>
            <a:pPr algn="ctr">
              <a:spcBef>
                <a:spcPts val="480"/>
              </a:spcBef>
              <a:buNone/>
            </a:pPr>
            <a:r>
              <a:rPr lang="en-US" sz="2600" b="1" i="0" dirty="0">
                <a:solidFill>
                  <a:srgbClr val="1F7A4D"/>
                </a:solidFill>
              </a:rPr>
              <a:t>✓</a:t>
            </a:r>
          </a:p>
        </p:txBody>
      </p:sp>
      <p:sp>
        <p:nvSpPr>
          <p:cNvPr id="102" name="S1B"/>
          <p:cNvSpPr/>
          <p:nvPr/>
        </p:nvSpPr>
        <p:spPr>
          <a:xfrm>
            <a:off x="1354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B</a:t>
            </a:r>
          </a:p>
          <a:p>
            <a:pPr algn="ctr">
              <a:buNone/>
            </a:pPr>
            <a:endParaRPr lang="en-US" sz="2800"/>
          </a:p>
        </p:txBody>
      </p:sp>
      <p:sp>
        <p:nvSpPr>
          <p:cNvPr id="103" name="S1C"/>
          <p:cNvSpPr/>
          <p:nvPr/>
        </p:nvSpPr>
        <p:spPr>
          <a:xfrm>
            <a:off x="2410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C</a:t>
            </a:r>
          </a:p>
          <a:p>
            <a:pPr algn="ctr">
              <a:spcBef>
                <a:spcPts val="480"/>
              </a:spcBef>
              <a:buNone/>
            </a:pPr>
            <a:r>
              <a:rPr lang="en-US" sz="2600" b="1" i="0" dirty="0">
                <a:solidFill>
                  <a:srgbClr val="1F7A4D"/>
                </a:solidFill>
              </a:rPr>
              <a:t>✓</a:t>
            </a:r>
          </a:p>
        </p:txBody>
      </p:sp>
      <p:sp>
        <p:nvSpPr>
          <p:cNvPr id="104" name="S1D"/>
          <p:cNvSpPr/>
          <p:nvPr/>
        </p:nvSpPr>
        <p:spPr>
          <a:xfrm>
            <a:off x="3466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D</a:t>
            </a:r>
          </a:p>
          <a:p>
            <a:pPr algn="ctr">
              <a:spcBef>
                <a:spcPts val="480"/>
              </a:spcBef>
              <a:buNone/>
            </a:pPr>
            <a:r>
              <a:rPr lang="en-US" sz="2600" b="1" i="0" dirty="0">
                <a:solidFill>
                  <a:srgbClr val="1F7A4D"/>
                </a:solidFill>
              </a:rPr>
              <a:t>✓</a:t>
            </a:r>
          </a:p>
        </p:txBody>
      </p:sp>
      <p:sp>
        <p:nvSpPr>
          <p:cNvPr id="105" name="S1Btag"/>
          <p:cNvSpPr txBox="1"/>
          <p:nvPr/>
        </p:nvSpPr>
        <p:spPr>
          <a:xfrm>
            <a:off x="850000" y="3020000"/>
            <a:ext cx="1920000" cy="60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B23B3B"/>
                </a:solidFill>
              </a:rPr>
              <a:t>B violates</a:t>
            </a:r>
          </a:p>
          <a:p>
            <a:pPr algn="ctr">
              <a:spcBef>
                <a:spcPts val="480"/>
              </a:spcBef>
              <a:buNone/>
            </a:pPr>
            <a:r>
              <a:rPr lang="en-US" sz="2000" b="0" i="1" dirty="0">
                <a:solidFill>
                  <a:srgbClr val="B23B3B"/>
                </a:solidFill>
              </a:rPr>
              <a:t>required latency</a:t>
            </a:r>
          </a:p>
        </p:txBody>
      </p:sp>
      <p:cxnSp>
        <p:nvCxnSpPr>
          <p:cNvPr id="106" name="Div"/>
          <p:cNvCxnSpPr/>
          <p:nvPr/>
        </p:nvCxnSpPr>
        <p:spPr>
          <a:xfrm>
            <a:off x="4600000" y="1350000"/>
            <a:ext cx="0" cy="2950000"/>
          </a:xfrm>
          <a:prstGeom prst="line">
            <a:avLst/>
          </a:prstGeom>
          <a:ln w="28575">
            <a:solidFill>
              <a:srgbClr val="C9B991"/>
            </a:solidFill>
            <a:prstDash val="dash"/>
          </a:ln>
        </p:spPr>
      </p:cxnSp>
      <p:sp>
        <p:nvSpPr>
          <p:cNvPr id="107" name="S2Lbl"/>
          <p:cNvSpPr txBox="1"/>
          <p:nvPr/>
        </p:nvSpPr>
        <p:spPr>
          <a:xfrm>
            <a:off x="49500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2 — DOMINANCE</a:t>
            </a:r>
          </a:p>
        </p:txBody>
      </p:sp>
      <p:cxnSp>
        <p:nvCxnSpPr>
          <p:cNvPr id="108" name="AxX"/>
          <p:cNvCxnSpPr/>
          <p:nvPr/>
        </p:nvCxnSpPr>
        <p:spPr>
          <a:xfrm>
            <a:off x="4868750" y="4525000"/>
            <a:ext cx="4062500" cy="0"/>
          </a:xfrm>
          <a:prstGeom prst="line">
            <a:avLst/>
          </a:prstGeom>
          <a:ln w="53577">
            <a:solidFill>
              <a:srgbClr val="8E6F3E"/>
            </a:solidFill>
            <a:tailEnd type="triangle" w="med" len="med"/>
          </a:ln>
        </p:spPr>
      </p:cxnSp>
      <p:cxnSp>
        <p:nvCxnSpPr>
          <p:cNvPr id="109" name="AxY"/>
          <p:cNvCxnSpPr/>
          <p:nvPr/>
        </p:nvCxnSpPr>
        <p:spPr>
          <a:xfrm flipV="1">
            <a:off x="4868750" y="1587500"/>
            <a:ext cx="0" cy="2937500"/>
          </a:xfrm>
          <a:prstGeom prst="line">
            <a:avLst/>
          </a:prstGeom>
          <a:ln w="53577">
            <a:solidFill>
              <a:srgbClr val="8E6F3E"/>
            </a:solidFill>
            <a:tailEnd type="triangle" w="med" len="med"/>
          </a:ln>
        </p:spPr>
      </p:cxnSp>
      <p:sp>
        <p:nvSpPr>
          <p:cNvPr id="110" name="AxXLbl"/>
          <p:cNvSpPr txBox="1"/>
          <p:nvPr/>
        </p:nvSpPr>
        <p:spPr>
          <a:xfrm>
            <a:off x="7700000" y="4620000"/>
            <a:ext cx="1300000" cy="350000"/>
          </a:xfrm>
          <a:prstGeom prst="rect">
            <a:avLst/>
          </a:prstGeom>
          <a:noFill/>
          <a:ln>
            <a:noFill/>
          </a:ln>
        </p:spPr>
        <p:txBody>
          <a:bodyPr wrap="square" lIns="0" tIns="0" rIns="0" bIns="0" anchor="t">
            <a:normAutofit/>
          </a:bodyPr>
          <a:lstStyle/>
          <a:p>
            <a:pPr algn="r">
              <a:buNone/>
            </a:pPr>
            <a:r>
              <a:rPr lang="en-US" sz="2000" b="0" i="1" dirty="0">
                <a:solidFill>
                  <a:srgbClr val="555960"/>
                </a:solidFill>
              </a:rPr>
              <a:t>better →</a:t>
            </a:r>
          </a:p>
        </p:txBody>
      </p:sp>
      <p:sp>
        <p:nvSpPr>
          <p:cNvPr id="111" name="AxYLbl"/>
          <p:cNvSpPr txBox="1"/>
          <p:nvPr/>
        </p:nvSpPr>
        <p:spPr>
          <a:xfrm rot="-5400000">
            <a:off x="4020000" y="2875000"/>
            <a:ext cx="140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better →</a:t>
            </a:r>
          </a:p>
        </p:txBody>
      </p:sp>
      <p:sp>
        <p:nvSpPr>
          <p:cNvPr id="112" name="DomRegion"/>
          <p:cNvSpPr/>
          <p:nvPr/>
        </p:nvSpPr>
        <p:spPr>
          <a:xfrm>
            <a:off x="4868750" y="2462500"/>
            <a:ext cx="2875000" cy="2062500"/>
          </a:xfrm>
          <a:prstGeom prst="rect">
            <a:avLst/>
          </a:prstGeom>
          <a:solidFill>
            <a:srgbClr val="B23B3B">
              <a:alpha val="9000"/>
            </a:srgbClr>
          </a:solidFill>
          <a:ln w="15875">
            <a:solidFill>
              <a:srgbClr val="B23B3B"/>
            </a:solidFill>
            <a:prstDash val="dash"/>
          </a:ln>
        </p:spPr>
        <p:txBody>
          <a:bodyPr wrap="square" lIns="54864" tIns="27432" rIns="54864" bIns="27432" anchor="ctr">
            <a:normAutofit/>
          </a:bodyPr>
          <a:lstStyle/>
          <a:p>
            <a:endParaRPr/>
          </a:p>
        </p:txBody>
      </p:sp>
      <p:sp>
        <p:nvSpPr>
          <p:cNvPr id="113" name="PtA"/>
          <p:cNvSpPr/>
          <p:nvPr/>
        </p:nvSpPr>
        <p:spPr>
          <a:xfrm>
            <a:off x="7625000" y="2343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4" name="PtLblA"/>
          <p:cNvSpPr txBox="1"/>
          <p:nvPr/>
        </p:nvSpPr>
        <p:spPr>
          <a:xfrm>
            <a:off x="7881250" y="2100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A</a:t>
            </a:r>
          </a:p>
        </p:txBody>
      </p:sp>
      <p:sp>
        <p:nvSpPr>
          <p:cNvPr id="115" name="PtC"/>
          <p:cNvSpPr/>
          <p:nvPr/>
        </p:nvSpPr>
        <p:spPr>
          <a:xfrm>
            <a:off x="5625000" y="1718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6" name="PtLblC"/>
          <p:cNvSpPr txBox="1"/>
          <p:nvPr/>
        </p:nvSpPr>
        <p:spPr>
          <a:xfrm>
            <a:off x="5881250" y="1475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C</a:t>
            </a:r>
          </a:p>
        </p:txBody>
      </p:sp>
      <p:sp>
        <p:nvSpPr>
          <p:cNvPr id="120" name="PtDBase"/>
          <p:cNvSpPr/>
          <p:nvPr/>
        </p:nvSpPr>
        <p:spPr>
          <a:xfrm>
            <a:off x="6625000" y="34062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7" name="PtD"/>
          <p:cNvSpPr/>
          <p:nvPr/>
        </p:nvSpPr>
        <p:spPr>
          <a:xfrm>
            <a:off x="6625000" y="3406250"/>
            <a:ext cx="237500" cy="237500"/>
          </a:xfrm>
          <a:prstGeom prst="ellipse">
            <a:avLst/>
          </a:prstGeom>
          <a:solidFill>
            <a:srgbClr val="B23B3B"/>
          </a:solidFill>
          <a:ln>
            <a:noFill/>
          </a:ln>
        </p:spPr>
        <p:txBody>
          <a:bodyPr wrap="square" lIns="54864" tIns="27432" rIns="54864" bIns="27432" anchor="ctr">
            <a:normAutofit fontScale="47500" lnSpcReduction="20000"/>
          </a:bodyPr>
          <a:lstStyle/>
          <a:p>
            <a:endParaRPr/>
          </a:p>
        </p:txBody>
      </p:sp>
      <p:sp>
        <p:nvSpPr>
          <p:cNvPr id="121" name="PtLblDBase"/>
          <p:cNvSpPr txBox="1"/>
          <p:nvPr/>
        </p:nvSpPr>
        <p:spPr>
          <a:xfrm>
            <a:off x="6881250" y="31625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D</a:t>
            </a:r>
          </a:p>
        </p:txBody>
      </p:sp>
      <p:sp>
        <p:nvSpPr>
          <p:cNvPr id="118" name="PtLblD"/>
          <p:cNvSpPr txBox="1"/>
          <p:nvPr/>
        </p:nvSpPr>
        <p:spPr>
          <a:xfrm>
            <a:off x="6881250" y="31625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B23B3B"/>
                </a:solidFill>
              </a:rPr>
              <a:t>D</a:t>
            </a:r>
          </a:p>
        </p:txBody>
      </p:sp>
      <p:sp>
        <p:nvSpPr>
          <p:cNvPr id="119" name="DomLbl"/>
          <p:cNvSpPr txBox="1"/>
          <p:nvPr/>
        </p:nvSpPr>
        <p:spPr>
          <a:xfrm>
            <a:off x="5050000" y="3900000"/>
            <a:ext cx="2600000" cy="400000"/>
          </a:xfrm>
          <a:prstGeom prst="rect">
            <a:avLst/>
          </a:prstGeom>
          <a:noFill/>
          <a:ln>
            <a:noFill/>
          </a:ln>
        </p:spPr>
        <p:txBody>
          <a:bodyPr wrap="square" lIns="0" tIns="0" rIns="0" bIns="0" anchor="t">
            <a:normAutofit/>
          </a:bodyPr>
          <a:lstStyle/>
          <a:p>
            <a:pPr algn="l">
              <a:buNone/>
            </a:pPr>
            <a:r>
              <a:rPr lang="en-US" sz="2000" b="0" i="1" dirty="0">
                <a:solidFill>
                  <a:srgbClr val="B23B3B"/>
                </a:solidFill>
              </a:rPr>
              <a:t>D is dominated by A</a:t>
            </a:r>
          </a:p>
        </p:txBody>
      </p:sp>
      <p:sp>
        <p:nvSpPr>
          <p:cNvPr id="130" name="S1BRejectRing"/>
          <p:cNvSpPr/>
          <p:nvPr/>
        </p:nvSpPr>
        <p:spPr>
          <a:xfrm>
            <a:off x="1354000" y="1880000"/>
            <a:ext cx="936000" cy="1020000"/>
          </a:xfrm>
          <a:prstGeom prst="rect">
            <a:avLst/>
          </a:prstGeom>
          <a:noFill/>
          <a:ln w="22860">
            <a:solidFill>
              <a:srgbClr val="B23B3B"/>
            </a:solidFill>
          </a:ln>
        </p:spPr>
        <p:txBody>
          <a:bodyPr wrap="square" lIns="54864" tIns="27432" rIns="54864" bIns="27432" anchor="ctr">
            <a:normAutofit/>
          </a:bodyPr>
          <a:lstStyle/>
          <a:p>
            <a:endParaRPr lang="en-US"/>
          </a:p>
        </p:txBody>
      </p:sp>
      <p:sp>
        <p:nvSpPr>
          <p:cNvPr id="131" name="S1BRejectX"/>
          <p:cNvSpPr txBox="1"/>
          <p:nvPr/>
        </p:nvSpPr>
        <p:spPr>
          <a:xfrm>
            <a:off x="1354000" y="2280000"/>
            <a:ext cx="936000" cy="560000"/>
          </a:xfrm>
          <a:prstGeom prst="rect">
            <a:avLst/>
          </a:prstGeom>
          <a:noFill/>
          <a:ln>
            <a:noFill/>
          </a:ln>
        </p:spPr>
        <p:txBody>
          <a:bodyPr wrap="square" lIns="0" tIns="0" rIns="0" bIns="0" anchor="ctr">
            <a:normAutofit/>
          </a:bodyPr>
          <a:lstStyle/>
          <a:p>
            <a:pPr algn="ctr">
              <a:spcBef>
                <a:spcPts val="480"/>
              </a:spcBef>
              <a:buNone/>
            </a:pPr>
            <a:r>
              <a:rPr lang="en-US" sz="2600" b="1" i="0" dirty="0">
                <a:solidFill>
                  <a:srgbClr val="B23B3B"/>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400"/>
                                        <p:tgtEl>
                                          <p:spTgt spid="10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30"/>
                                        </p:tgtEl>
                                        <p:attrNameLst>
                                          <p:attrName>style.visibility</p:attrName>
                                        </p:attrNameLst>
                                      </p:cBhvr>
                                      <p:to>
                                        <p:strVal val="visible"/>
                                      </p:to>
                                    </p:set>
                                    <p:animEffect transition="in" filter="fade">
                                      <p:cBhvr>
                                        <p:cTn id="24" dur="400"/>
                                        <p:tgtEl>
                                          <p:spTgt spid="130"/>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400"/>
                                        <p:tgtEl>
                                          <p:spTgt spid="1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400"/>
                                        <p:tgtEl>
                                          <p:spTgt spid="10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6"/>
                                        </p:tgtEl>
                                        <p:attrNameLst>
                                          <p:attrName>style.visibility</p:attrName>
                                        </p:attrNameLst>
                                      </p:cBhvr>
                                      <p:to>
                                        <p:strVal val="visible"/>
                                      </p:to>
                                    </p:set>
                                    <p:animEffect transition="in" filter="fade">
                                      <p:cBhvr>
                                        <p:cTn id="37" dur="400"/>
                                        <p:tgtEl>
                                          <p:spTgt spid="106"/>
                                        </p:tgtEl>
                                      </p:cBhvr>
                                    </p:animEffect>
                                  </p:childTnLst>
                                </p:cTn>
                              </p:par>
                              <p:par>
                                <p:cTn id="38" presetID="10" presetClass="entr" presetSubtype="0" fill="hold" nodeType="withEffect">
                                  <p:stCondLst>
                                    <p:cond delay="0"/>
                                  </p:stCondLst>
                                  <p:childTnLst>
                                    <p:set>
                                      <p:cBhvr>
                                        <p:cTn id="39" dur="1" fill="hold">
                                          <p:stCondLst>
                                            <p:cond delay="0"/>
                                          </p:stCondLst>
                                        </p:cTn>
                                        <p:tgtEl>
                                          <p:spTgt spid="107"/>
                                        </p:tgtEl>
                                        <p:attrNameLst>
                                          <p:attrName>style.visibility</p:attrName>
                                        </p:attrNameLst>
                                      </p:cBhvr>
                                      <p:to>
                                        <p:strVal val="visible"/>
                                      </p:to>
                                    </p:set>
                                    <p:animEffect transition="in" filter="fade">
                                      <p:cBhvr>
                                        <p:cTn id="40" dur="400"/>
                                        <p:tgtEl>
                                          <p:spTgt spid="107"/>
                                        </p:tgtEl>
                                      </p:cBhvr>
                                    </p:animEffect>
                                  </p:childTnLst>
                                </p:cTn>
                              </p:par>
                              <p:par>
                                <p:cTn id="41" presetID="10" presetClass="entr" presetSubtype="0" fill="hold" nodeType="withEffect">
                                  <p:stCondLst>
                                    <p:cond delay="0"/>
                                  </p:stCondLst>
                                  <p:childTnLst>
                                    <p:set>
                                      <p:cBhvr>
                                        <p:cTn id="42" dur="1" fill="hold">
                                          <p:stCondLst>
                                            <p:cond delay="0"/>
                                          </p:stCondLst>
                                        </p:cTn>
                                        <p:tgtEl>
                                          <p:spTgt spid="108"/>
                                        </p:tgtEl>
                                        <p:attrNameLst>
                                          <p:attrName>style.visibility</p:attrName>
                                        </p:attrNameLst>
                                      </p:cBhvr>
                                      <p:to>
                                        <p:strVal val="visible"/>
                                      </p:to>
                                    </p:set>
                                    <p:animEffect transition="in" filter="fade">
                                      <p:cBhvr>
                                        <p:cTn id="43" dur="400"/>
                                        <p:tgtEl>
                                          <p:spTgt spid="108"/>
                                        </p:tgtEl>
                                      </p:cBhvr>
                                    </p:animEffect>
                                  </p:childTnLst>
                                </p:cTn>
                              </p:par>
                              <p:par>
                                <p:cTn id="44" presetID="10" presetClass="entr" presetSubtype="0" fill="hold" nodeType="withEffect">
                                  <p:stCondLst>
                                    <p:cond delay="0"/>
                                  </p:stCondLst>
                                  <p:childTnLst>
                                    <p:set>
                                      <p:cBhvr>
                                        <p:cTn id="45" dur="1" fill="hold">
                                          <p:stCondLst>
                                            <p:cond delay="0"/>
                                          </p:stCondLst>
                                        </p:cTn>
                                        <p:tgtEl>
                                          <p:spTgt spid="109"/>
                                        </p:tgtEl>
                                        <p:attrNameLst>
                                          <p:attrName>style.visibility</p:attrName>
                                        </p:attrNameLst>
                                      </p:cBhvr>
                                      <p:to>
                                        <p:strVal val="visible"/>
                                      </p:to>
                                    </p:set>
                                    <p:animEffect transition="in" filter="fade">
                                      <p:cBhvr>
                                        <p:cTn id="46" dur="400"/>
                                        <p:tgtEl>
                                          <p:spTgt spid="109"/>
                                        </p:tgtEl>
                                      </p:cBhvr>
                                    </p:animEffect>
                                  </p:childTnLst>
                                </p:cTn>
                              </p:par>
                              <p:par>
                                <p:cTn id="47" presetID="10" presetClass="entr" presetSubtype="0" fill="hold" nodeType="withEffect">
                                  <p:stCondLst>
                                    <p:cond delay="0"/>
                                  </p:stCondLst>
                                  <p:childTnLst>
                                    <p:set>
                                      <p:cBhvr>
                                        <p:cTn id="48" dur="1" fill="hold">
                                          <p:stCondLst>
                                            <p:cond delay="0"/>
                                          </p:stCondLst>
                                        </p:cTn>
                                        <p:tgtEl>
                                          <p:spTgt spid="110"/>
                                        </p:tgtEl>
                                        <p:attrNameLst>
                                          <p:attrName>style.visibility</p:attrName>
                                        </p:attrNameLst>
                                      </p:cBhvr>
                                      <p:to>
                                        <p:strVal val="visible"/>
                                      </p:to>
                                    </p:set>
                                    <p:animEffect transition="in" filter="fade">
                                      <p:cBhvr>
                                        <p:cTn id="49" dur="400"/>
                                        <p:tgtEl>
                                          <p:spTgt spid="110"/>
                                        </p:tgtEl>
                                      </p:cBhvr>
                                    </p:animEffect>
                                  </p:childTnLst>
                                </p:cTn>
                              </p:par>
                              <p:par>
                                <p:cTn id="50" presetID="10" presetClass="entr" presetSubtype="0" fill="hold" nodeType="withEffect">
                                  <p:stCondLst>
                                    <p:cond delay="0"/>
                                  </p:stCondLst>
                                  <p:childTnLst>
                                    <p:set>
                                      <p:cBhvr>
                                        <p:cTn id="51" dur="1" fill="hold">
                                          <p:stCondLst>
                                            <p:cond delay="0"/>
                                          </p:stCondLst>
                                        </p:cTn>
                                        <p:tgtEl>
                                          <p:spTgt spid="111"/>
                                        </p:tgtEl>
                                        <p:attrNameLst>
                                          <p:attrName>style.visibility</p:attrName>
                                        </p:attrNameLst>
                                      </p:cBhvr>
                                      <p:to>
                                        <p:strVal val="visible"/>
                                      </p:to>
                                    </p:set>
                                    <p:animEffect transition="in" filter="fade">
                                      <p:cBhvr>
                                        <p:cTn id="52" dur="400"/>
                                        <p:tgtEl>
                                          <p:spTgt spid="111"/>
                                        </p:tgtEl>
                                      </p:cBhvr>
                                    </p:animEffect>
                                  </p:childTnLst>
                                </p:cTn>
                              </p:par>
                              <p:par>
                                <p:cTn id="53" presetID="10" presetClass="entr" presetSubtype="0" fill="hold" nodeType="withEffect">
                                  <p:stCondLst>
                                    <p:cond delay="0"/>
                                  </p:stCondLst>
                                  <p:childTnLst>
                                    <p:set>
                                      <p:cBhvr>
                                        <p:cTn id="54" dur="1" fill="hold">
                                          <p:stCondLst>
                                            <p:cond delay="0"/>
                                          </p:stCondLst>
                                        </p:cTn>
                                        <p:tgtEl>
                                          <p:spTgt spid="113"/>
                                        </p:tgtEl>
                                        <p:attrNameLst>
                                          <p:attrName>style.visibility</p:attrName>
                                        </p:attrNameLst>
                                      </p:cBhvr>
                                      <p:to>
                                        <p:strVal val="visible"/>
                                      </p:to>
                                    </p:set>
                                    <p:animEffect transition="in" filter="fade">
                                      <p:cBhvr>
                                        <p:cTn id="55" dur="400"/>
                                        <p:tgtEl>
                                          <p:spTgt spid="113"/>
                                        </p:tgtEl>
                                      </p:cBhvr>
                                    </p:animEffect>
                                  </p:childTnLst>
                                </p:cTn>
                              </p:par>
                              <p:par>
                                <p:cTn id="56" presetID="10" presetClass="entr" presetSubtype="0" fill="hold" nodeType="withEffect">
                                  <p:stCondLst>
                                    <p:cond delay="0"/>
                                  </p:stCondLst>
                                  <p:childTnLst>
                                    <p:set>
                                      <p:cBhvr>
                                        <p:cTn id="57" dur="1" fill="hold">
                                          <p:stCondLst>
                                            <p:cond delay="0"/>
                                          </p:stCondLst>
                                        </p:cTn>
                                        <p:tgtEl>
                                          <p:spTgt spid="114"/>
                                        </p:tgtEl>
                                        <p:attrNameLst>
                                          <p:attrName>style.visibility</p:attrName>
                                        </p:attrNameLst>
                                      </p:cBhvr>
                                      <p:to>
                                        <p:strVal val="visible"/>
                                      </p:to>
                                    </p:set>
                                    <p:animEffect transition="in" filter="fade">
                                      <p:cBhvr>
                                        <p:cTn id="58" dur="400"/>
                                        <p:tgtEl>
                                          <p:spTgt spid="114"/>
                                        </p:tgtEl>
                                      </p:cBhvr>
                                    </p:animEffect>
                                  </p:childTnLst>
                                </p:cTn>
                              </p:par>
                              <p:par>
                                <p:cTn id="59" presetID="10" presetClass="entr" presetSubtype="0" fill="hold" nodeType="withEffect">
                                  <p:stCondLst>
                                    <p:cond delay="0"/>
                                  </p:stCondLst>
                                  <p:childTnLst>
                                    <p:set>
                                      <p:cBhvr>
                                        <p:cTn id="60" dur="1" fill="hold">
                                          <p:stCondLst>
                                            <p:cond delay="0"/>
                                          </p:stCondLst>
                                        </p:cTn>
                                        <p:tgtEl>
                                          <p:spTgt spid="115"/>
                                        </p:tgtEl>
                                        <p:attrNameLst>
                                          <p:attrName>style.visibility</p:attrName>
                                        </p:attrNameLst>
                                      </p:cBhvr>
                                      <p:to>
                                        <p:strVal val="visible"/>
                                      </p:to>
                                    </p:set>
                                    <p:animEffect transition="in" filter="fade">
                                      <p:cBhvr>
                                        <p:cTn id="61" dur="400"/>
                                        <p:tgtEl>
                                          <p:spTgt spid="115"/>
                                        </p:tgtEl>
                                      </p:cBhvr>
                                    </p:animEffect>
                                  </p:childTnLst>
                                </p:cTn>
                              </p:par>
                              <p:par>
                                <p:cTn id="62" presetID="10" presetClass="entr" presetSubtype="0" fill="hold" nodeType="withEffect">
                                  <p:stCondLst>
                                    <p:cond delay="0"/>
                                  </p:stCondLst>
                                  <p:childTnLst>
                                    <p:set>
                                      <p:cBhvr>
                                        <p:cTn id="63" dur="1" fill="hold">
                                          <p:stCondLst>
                                            <p:cond delay="0"/>
                                          </p:stCondLst>
                                        </p:cTn>
                                        <p:tgtEl>
                                          <p:spTgt spid="116"/>
                                        </p:tgtEl>
                                        <p:attrNameLst>
                                          <p:attrName>style.visibility</p:attrName>
                                        </p:attrNameLst>
                                      </p:cBhvr>
                                      <p:to>
                                        <p:strVal val="visible"/>
                                      </p:to>
                                    </p:set>
                                    <p:animEffect transition="in" filter="fade">
                                      <p:cBhvr>
                                        <p:cTn id="64" dur="400"/>
                                        <p:tgtEl>
                                          <p:spTgt spid="116"/>
                                        </p:tgtEl>
                                      </p:cBhvr>
                                    </p:animEffect>
                                  </p:childTnLst>
                                </p:cTn>
                              </p:par>
                              <p:par>
                                <p:cTn id="65" presetID="10" presetClass="entr" presetSubtype="0" fill="hold" nodeType="withEffect">
                                  <p:stCondLst>
                                    <p:cond delay="0"/>
                                  </p:stCondLst>
                                  <p:childTnLst>
                                    <p:set>
                                      <p:cBhvr>
                                        <p:cTn id="66" dur="1" fill="hold">
                                          <p:stCondLst>
                                            <p:cond delay="0"/>
                                          </p:stCondLst>
                                        </p:cTn>
                                        <p:tgtEl>
                                          <p:spTgt spid="120"/>
                                        </p:tgtEl>
                                        <p:attrNameLst>
                                          <p:attrName>style.visibility</p:attrName>
                                        </p:attrNameLst>
                                      </p:cBhvr>
                                      <p:to>
                                        <p:strVal val="visible"/>
                                      </p:to>
                                    </p:set>
                                    <p:animEffect transition="in" filter="fade">
                                      <p:cBhvr>
                                        <p:cTn id="67" dur="400"/>
                                        <p:tgtEl>
                                          <p:spTgt spid="120"/>
                                        </p:tgtEl>
                                      </p:cBhvr>
                                    </p:animEffect>
                                  </p:childTnLst>
                                </p:cTn>
                              </p:par>
                              <p:par>
                                <p:cTn id="68" presetID="10" presetClass="entr" presetSubtype="0" fill="hold" nodeType="withEffect">
                                  <p:stCondLst>
                                    <p:cond delay="0"/>
                                  </p:stCondLst>
                                  <p:childTnLst>
                                    <p:set>
                                      <p:cBhvr>
                                        <p:cTn id="69" dur="1" fill="hold">
                                          <p:stCondLst>
                                            <p:cond delay="0"/>
                                          </p:stCondLst>
                                        </p:cTn>
                                        <p:tgtEl>
                                          <p:spTgt spid="121"/>
                                        </p:tgtEl>
                                        <p:attrNameLst>
                                          <p:attrName>style.visibility</p:attrName>
                                        </p:attrNameLst>
                                      </p:cBhvr>
                                      <p:to>
                                        <p:strVal val="visible"/>
                                      </p:to>
                                    </p:set>
                                    <p:animEffect transition="in" filter="fade">
                                      <p:cBhvr>
                                        <p:cTn id="70" dur="400"/>
                                        <p:tgtEl>
                                          <p:spTgt spid="121"/>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12"/>
                                        </p:tgtEl>
                                        <p:attrNameLst>
                                          <p:attrName>style.visibility</p:attrName>
                                        </p:attrNameLst>
                                      </p:cBhvr>
                                      <p:to>
                                        <p:strVal val="visible"/>
                                      </p:to>
                                    </p:set>
                                    <p:animEffect transition="in" filter="fade">
                                      <p:cBhvr>
                                        <p:cTn id="75" dur="400"/>
                                        <p:tgtEl>
                                          <p:spTgt spid="112"/>
                                        </p:tgtEl>
                                      </p:cBhvr>
                                    </p:animEffect>
                                  </p:childTnLst>
                                </p:cTn>
                              </p:par>
                              <p:par>
                                <p:cTn id="76" presetID="10" presetClass="entr" presetSubtype="0" fill="hold" nodeType="withEffect">
                                  <p:stCondLst>
                                    <p:cond delay="0"/>
                                  </p:stCondLst>
                                  <p:childTnLst>
                                    <p:set>
                                      <p:cBhvr>
                                        <p:cTn id="77" dur="1" fill="hold">
                                          <p:stCondLst>
                                            <p:cond delay="0"/>
                                          </p:stCondLst>
                                        </p:cTn>
                                        <p:tgtEl>
                                          <p:spTgt spid="117"/>
                                        </p:tgtEl>
                                        <p:attrNameLst>
                                          <p:attrName>style.visibility</p:attrName>
                                        </p:attrNameLst>
                                      </p:cBhvr>
                                      <p:to>
                                        <p:strVal val="visible"/>
                                      </p:to>
                                    </p:set>
                                    <p:animEffect transition="in" filter="fade">
                                      <p:cBhvr>
                                        <p:cTn id="78" dur="400"/>
                                        <p:tgtEl>
                                          <p:spTgt spid="117"/>
                                        </p:tgtEl>
                                      </p:cBhvr>
                                    </p:animEffect>
                                  </p:childTnLst>
                                </p:cTn>
                              </p:par>
                              <p:par>
                                <p:cTn id="79" presetID="10" presetClass="entr" presetSubtype="0" fill="hold" nodeType="withEffect">
                                  <p:stCondLst>
                                    <p:cond delay="0"/>
                                  </p:stCondLst>
                                  <p:childTnLst>
                                    <p:set>
                                      <p:cBhvr>
                                        <p:cTn id="80" dur="1" fill="hold">
                                          <p:stCondLst>
                                            <p:cond delay="0"/>
                                          </p:stCondLst>
                                        </p:cTn>
                                        <p:tgtEl>
                                          <p:spTgt spid="118"/>
                                        </p:tgtEl>
                                        <p:attrNameLst>
                                          <p:attrName>style.visibility</p:attrName>
                                        </p:attrNameLst>
                                      </p:cBhvr>
                                      <p:to>
                                        <p:strVal val="visible"/>
                                      </p:to>
                                    </p:set>
                                    <p:animEffect transition="in" filter="fade">
                                      <p:cBhvr>
                                        <p:cTn id="81" dur="400"/>
                                        <p:tgtEl>
                                          <p:spTgt spid="118"/>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119"/>
                                        </p:tgtEl>
                                        <p:attrNameLst>
                                          <p:attrName>style.visibility</p:attrName>
                                        </p:attrNameLst>
                                      </p:cBhvr>
                                      <p:to>
                                        <p:strVal val="visible"/>
                                      </p:to>
                                    </p:set>
                                    <p:animEffect transition="in" filter="fade">
                                      <p:cBhvr>
                                        <p:cTn id="86" dur="400"/>
                                        <p:tgtEl>
                                          <p:spTgt spid="119"/>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1"/>
                                        </p:tgtEl>
                                        <p:attrNameLst>
                                          <p:attrName>style.visibility</p:attrName>
                                        </p:attrNameLst>
                                      </p:cBhvr>
                                      <p:to>
                                        <p:strVal val="visible"/>
                                      </p:to>
                                    </p:set>
                                    <p:animEffect transition="in" filter="fade">
                                      <p:cBhvr>
                                        <p:cTn id="9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Pareto tradeoffs require judgment</a:t>
            </a:r>
          </a:p>
        </p:txBody>
      </p:sp>
      <p:sp>
        <p:nvSpPr>
          <p:cNvPr id="3" name="Slide Number Placeholder 2"/>
          <p:cNvSpPr>
            <a:spLocks noGrp="1"/>
          </p:cNvSpPr>
          <p:nvPr>
            <p:ph type="sldNum" sz="quarter" idx="4"/>
          </p:nvPr>
        </p:nvSpPr>
        <p:spPr/>
        <p:txBody>
          <a:bodyPr/>
          <a:lstStyle/>
          <a:p>
            <a:fld id="{B7EB45DA-9A0D-DC49-8E02-F30A5DDC21C3}" type="slidenum">
              <a:rPr lang="en-US" smtClean="0"/>
              <a:t>11</a:t>
            </a:fld>
            <a:endParaRPr lang="en-US"/>
          </a:p>
        </p:txBody>
      </p:sp>
      <p:sp>
        <p:nvSpPr>
          <p:cNvPr id="61" name="Band61"/>
          <p:cNvSpPr/>
          <p:nvPr/>
        </p:nvSpPr>
        <p:spPr>
          <a:xfrm>
            <a:off x="279400" y="5450000"/>
            <a:ext cx="8585200" cy="800000"/>
          </a:xfrm>
          <a:prstGeom prst="rect">
            <a:avLst/>
          </a:prstGeom>
          <a:solidFill>
            <a:srgbClr val="8E6F3E"/>
          </a:solidFill>
          <a:ln>
            <a:noFill/>
          </a:ln>
        </p:spPr>
        <p:txBody>
          <a:bodyPr wrap="square" lIns="109728" tIns="82296" rIns="109728" bIns="82296" anchor="ctr">
            <a:normAutofit/>
          </a:bodyPr>
          <a:lstStyle/>
          <a:p>
            <a:pPr algn="ctr">
              <a:buNone/>
            </a:pPr>
            <a:r>
              <a:rPr lang="en-US" sz="2800" b="1" i="0" dirty="0">
                <a:solidFill>
                  <a:srgbClr val="FFFFFF"/>
                </a:solidFill>
              </a:rPr>
              <a:t>Mathematics has not chosen for us.</a:t>
            </a:r>
          </a:p>
        </p:txBody>
      </p:sp>
      <p:cxnSp>
        <p:nvCxnSpPr>
          <p:cNvPr id="100" name="AxX"/>
          <p:cNvCxnSpPr/>
          <p:nvPr/>
        </p:nvCxnSpPr>
        <p:spPr>
          <a:xfrm>
            <a:off x="381250" y="5007500"/>
            <a:ext cx="8437500" cy="0"/>
          </a:xfrm>
          <a:prstGeom prst="line">
            <a:avLst/>
          </a:prstGeom>
          <a:ln w="57866">
            <a:solidFill>
              <a:srgbClr val="8E6F3E"/>
            </a:solidFill>
            <a:tailEnd type="triangle" w="med" len="med"/>
          </a:ln>
        </p:spPr>
      </p:cxnSp>
      <p:cxnSp>
        <p:nvCxnSpPr>
          <p:cNvPr id="101" name="AxY"/>
          <p:cNvCxnSpPr/>
          <p:nvPr/>
        </p:nvCxnSpPr>
        <p:spPr>
          <a:xfrm flipV="1">
            <a:off x="381250" y="1092500"/>
            <a:ext cx="0" cy="3915000"/>
          </a:xfrm>
          <a:prstGeom prst="line">
            <a:avLst/>
          </a:prstGeom>
          <a:ln w="57866">
            <a:solidFill>
              <a:srgbClr val="8E6F3E"/>
            </a:solidFill>
            <a:tailEnd type="triangle" w="med" len="med"/>
          </a:ln>
        </p:spPr>
      </p:cxnSp>
      <p:sp>
        <p:nvSpPr>
          <p:cNvPr id="102" name="AxXLbl"/>
          <p:cNvSpPr txBox="1"/>
          <p:nvPr/>
        </p:nvSpPr>
        <p:spPr>
          <a:xfrm>
            <a:off x="6750000" y="5073400"/>
            <a:ext cx="2050000" cy="320000"/>
          </a:xfrm>
          <a:prstGeom prst="rect">
            <a:avLst/>
          </a:prstGeom>
          <a:noFill/>
          <a:ln>
            <a:noFill/>
          </a:ln>
        </p:spPr>
        <p:txBody>
          <a:bodyPr wrap="square" lIns="0" tIns="0" rIns="0" bIns="0" anchor="t">
            <a:normAutofit/>
          </a:bodyPr>
          <a:lstStyle/>
          <a:p>
            <a:pPr algn="r">
              <a:buNone/>
            </a:pPr>
            <a:r>
              <a:rPr lang="en-US" sz="2000" b="0" i="1" dirty="0">
                <a:solidFill>
                  <a:srgbClr val="555960"/>
                </a:solidFill>
              </a:rPr>
              <a:t>Property X → better</a:t>
            </a:r>
          </a:p>
        </p:txBody>
      </p:sp>
      <p:sp>
        <p:nvSpPr>
          <p:cNvPr id="103" name="AxYLbl"/>
          <p:cNvSpPr txBox="1"/>
          <p:nvPr/>
        </p:nvSpPr>
        <p:spPr>
          <a:xfrm rot="-5400000">
            <a:off x="-785000" y="2875000"/>
            <a:ext cx="205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Property Y → better</a:t>
            </a:r>
          </a:p>
        </p:txBody>
      </p:sp>
      <p:cxnSp>
        <p:nvCxnSpPr>
          <p:cNvPr id="104" name="Fr0"/>
          <p:cNvCxnSpPr/>
          <p:nvPr/>
        </p:nvCxnSpPr>
        <p:spPr>
          <a:xfrm>
            <a:off x="1461250" y="1632500"/>
            <a:ext cx="2160000" cy="675000"/>
          </a:xfrm>
          <a:prstGeom prst="line">
            <a:avLst/>
          </a:prstGeom>
          <a:ln w="57866">
            <a:solidFill>
              <a:srgbClr val="C9B991"/>
            </a:solidFill>
            <a:prstDash val="dash"/>
          </a:ln>
        </p:spPr>
      </p:cxnSp>
      <p:cxnSp>
        <p:nvCxnSpPr>
          <p:cNvPr id="105" name="Fr1"/>
          <p:cNvCxnSpPr/>
          <p:nvPr/>
        </p:nvCxnSpPr>
        <p:spPr>
          <a:xfrm>
            <a:off x="3621250" y="2307500"/>
            <a:ext cx="2160000" cy="945000"/>
          </a:xfrm>
          <a:prstGeom prst="line">
            <a:avLst/>
          </a:prstGeom>
          <a:ln w="57866">
            <a:solidFill>
              <a:srgbClr val="C9B991"/>
            </a:solidFill>
            <a:prstDash val="dash"/>
          </a:ln>
        </p:spPr>
      </p:cxnSp>
      <p:cxnSp>
        <p:nvCxnSpPr>
          <p:cNvPr id="106" name="Fr2"/>
          <p:cNvCxnSpPr/>
          <p:nvPr/>
        </p:nvCxnSpPr>
        <p:spPr>
          <a:xfrm>
            <a:off x="5781250" y="3252500"/>
            <a:ext cx="2025000" cy="1147500"/>
          </a:xfrm>
          <a:prstGeom prst="line">
            <a:avLst/>
          </a:prstGeom>
          <a:ln w="57866">
            <a:solidFill>
              <a:srgbClr val="C9B991"/>
            </a:solidFill>
            <a:prstDash val="dash"/>
          </a:ln>
        </p:spPr>
      </p:cxnSp>
      <p:sp>
        <p:nvSpPr>
          <p:cNvPr id="107" name="PtA"/>
          <p:cNvSpPr/>
          <p:nvPr/>
        </p:nvSpPr>
        <p:spPr>
          <a:xfrm>
            <a:off x="1326250" y="149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8" name="PtLblA"/>
          <p:cNvSpPr txBox="1"/>
          <p:nvPr/>
        </p:nvSpPr>
        <p:spPr>
          <a:xfrm>
            <a:off x="1623250" y="117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A</a:t>
            </a:r>
          </a:p>
        </p:txBody>
      </p:sp>
      <p:sp>
        <p:nvSpPr>
          <p:cNvPr id="109" name="PtB"/>
          <p:cNvSpPr/>
          <p:nvPr/>
        </p:nvSpPr>
        <p:spPr>
          <a:xfrm>
            <a:off x="3486250" y="2172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PtLblB"/>
          <p:cNvSpPr txBox="1"/>
          <p:nvPr/>
        </p:nvSpPr>
        <p:spPr>
          <a:xfrm>
            <a:off x="3783250" y="1848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B</a:t>
            </a:r>
          </a:p>
        </p:txBody>
      </p:sp>
      <p:sp>
        <p:nvSpPr>
          <p:cNvPr id="111" name="PtC"/>
          <p:cNvSpPr/>
          <p:nvPr/>
        </p:nvSpPr>
        <p:spPr>
          <a:xfrm>
            <a:off x="5646250" y="311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2" name="PtLblC"/>
          <p:cNvSpPr txBox="1"/>
          <p:nvPr/>
        </p:nvSpPr>
        <p:spPr>
          <a:xfrm>
            <a:off x="5943250" y="279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C</a:t>
            </a:r>
          </a:p>
        </p:txBody>
      </p:sp>
      <p:sp>
        <p:nvSpPr>
          <p:cNvPr id="113" name="PtD"/>
          <p:cNvSpPr/>
          <p:nvPr/>
        </p:nvSpPr>
        <p:spPr>
          <a:xfrm>
            <a:off x="7671250" y="42650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4" name="PtLblD"/>
          <p:cNvSpPr txBox="1"/>
          <p:nvPr/>
        </p:nvSpPr>
        <p:spPr>
          <a:xfrm>
            <a:off x="7968250" y="39410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D</a:t>
            </a:r>
          </a:p>
        </p:txBody>
      </p:sp>
      <p:sp>
        <p:nvSpPr>
          <p:cNvPr id="115" name="NoDom"/>
          <p:cNvSpPr txBox="1"/>
          <p:nvPr/>
        </p:nvSpPr>
        <p:spPr>
          <a:xfrm>
            <a:off x="5400000" y="1450000"/>
            <a:ext cx="3400000" cy="350000"/>
          </a:xfrm>
          <a:prstGeom prst="rect">
            <a:avLst/>
          </a:prstGeom>
          <a:noFill/>
          <a:ln>
            <a:noFill/>
          </a:ln>
        </p:spPr>
        <p:txBody>
          <a:bodyPr wrap="square" lIns="0" tIns="0" rIns="0" bIns="0" anchor="t">
            <a:normAutofit/>
          </a:bodyPr>
          <a:lstStyle/>
          <a:p>
            <a:pPr algn="l">
              <a:buNone/>
            </a:pPr>
            <a:r>
              <a:rPr lang="en-US" sz="1800" b="0" i="1" dirty="0">
                <a:solidFill>
                  <a:srgbClr val="555960"/>
                </a:solidFill>
              </a:rPr>
              <a:t>no point dominates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animEffect transition="in" filter="fade">
                                      <p:cBhvr>
                                        <p:cTn id="27" dur="400"/>
                                        <p:tgtEl>
                                          <p:spTgt spid="106"/>
                                        </p:tgtEl>
                                      </p:cBhvr>
                                    </p:animEffect>
                                  </p:childTnLst>
                                </p:cTn>
                              </p:par>
                              <p:par>
                                <p:cTn id="28" presetID="10" presetClass="entr" presetSubtype="0" fill="hold" nodeType="withEffect">
                                  <p:stCondLst>
                                    <p:cond delay="0"/>
                                  </p:stCondLst>
                                  <p:childTnLst>
                                    <p:set>
                                      <p:cBhvr>
                                        <p:cTn id="29" dur="1" fill="hold">
                                          <p:stCondLst>
                                            <p:cond delay="0"/>
                                          </p:stCondLst>
                                        </p:cTn>
                                        <p:tgtEl>
                                          <p:spTgt spid="107"/>
                                        </p:tgtEl>
                                        <p:attrNameLst>
                                          <p:attrName>style.visibility</p:attrName>
                                        </p:attrNameLst>
                                      </p:cBhvr>
                                      <p:to>
                                        <p:strVal val="visible"/>
                                      </p:to>
                                    </p:set>
                                    <p:animEffect transition="in" filter="fade">
                                      <p:cBhvr>
                                        <p:cTn id="30" dur="400"/>
                                        <p:tgtEl>
                                          <p:spTgt spid="107"/>
                                        </p:tgtEl>
                                      </p:cBhvr>
                                    </p:animEffect>
                                  </p:childTnLst>
                                </p:cTn>
                              </p:par>
                              <p:par>
                                <p:cTn id="31" presetID="10" presetClass="entr" presetSubtype="0" fill="hold" nodeType="withEffect">
                                  <p:stCondLst>
                                    <p:cond delay="0"/>
                                  </p:stCondLst>
                                  <p:childTnLst>
                                    <p:set>
                                      <p:cBhvr>
                                        <p:cTn id="32" dur="1" fill="hold">
                                          <p:stCondLst>
                                            <p:cond delay="0"/>
                                          </p:stCondLst>
                                        </p:cTn>
                                        <p:tgtEl>
                                          <p:spTgt spid="108"/>
                                        </p:tgtEl>
                                        <p:attrNameLst>
                                          <p:attrName>style.visibility</p:attrName>
                                        </p:attrNameLst>
                                      </p:cBhvr>
                                      <p:to>
                                        <p:strVal val="visible"/>
                                      </p:to>
                                    </p:set>
                                    <p:animEffect transition="in" filter="fade">
                                      <p:cBhvr>
                                        <p:cTn id="33" dur="400"/>
                                        <p:tgtEl>
                                          <p:spTgt spid="108"/>
                                        </p:tgtEl>
                                      </p:cBhvr>
                                    </p:animEffect>
                                  </p:childTnLst>
                                </p:cTn>
                              </p:par>
                              <p:par>
                                <p:cTn id="34" presetID="10" presetClass="entr" presetSubtype="0" fill="hold" nodeType="withEffect">
                                  <p:stCondLst>
                                    <p:cond delay="0"/>
                                  </p:stCondLst>
                                  <p:childTnLst>
                                    <p:set>
                                      <p:cBhvr>
                                        <p:cTn id="35" dur="1" fill="hold">
                                          <p:stCondLst>
                                            <p:cond delay="0"/>
                                          </p:stCondLst>
                                        </p:cTn>
                                        <p:tgtEl>
                                          <p:spTgt spid="109"/>
                                        </p:tgtEl>
                                        <p:attrNameLst>
                                          <p:attrName>style.visibility</p:attrName>
                                        </p:attrNameLst>
                                      </p:cBhvr>
                                      <p:to>
                                        <p:strVal val="visible"/>
                                      </p:to>
                                    </p:set>
                                    <p:animEffect transition="in" filter="fade">
                                      <p:cBhvr>
                                        <p:cTn id="36" dur="400"/>
                                        <p:tgtEl>
                                          <p:spTgt spid="109"/>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par>
                                <p:cTn id="46" presetID="10" presetClass="entr" presetSubtype="0" fill="hold" nodeType="withEffect">
                                  <p:stCondLst>
                                    <p:cond delay="0"/>
                                  </p:stCondLst>
                                  <p:childTnLst>
                                    <p:set>
                                      <p:cBhvr>
                                        <p:cTn id="47" dur="1" fill="hold">
                                          <p:stCondLst>
                                            <p:cond delay="0"/>
                                          </p:stCondLst>
                                        </p:cTn>
                                        <p:tgtEl>
                                          <p:spTgt spid="113"/>
                                        </p:tgtEl>
                                        <p:attrNameLst>
                                          <p:attrName>style.visibility</p:attrName>
                                        </p:attrNameLst>
                                      </p:cBhvr>
                                      <p:to>
                                        <p:strVal val="visible"/>
                                      </p:to>
                                    </p:set>
                                    <p:animEffect transition="in" filter="fade">
                                      <p:cBhvr>
                                        <p:cTn id="48" dur="400"/>
                                        <p:tgtEl>
                                          <p:spTgt spid="113"/>
                                        </p:tgtEl>
                                      </p:cBhvr>
                                    </p:animEffect>
                                  </p:childTnLst>
                                </p:cTn>
                              </p:par>
                              <p:par>
                                <p:cTn id="49" presetID="10" presetClass="entr" presetSubtype="0" fill="hold" nodeType="withEffect">
                                  <p:stCondLst>
                                    <p:cond delay="0"/>
                                  </p:stCondLst>
                                  <p:childTnLst>
                                    <p:set>
                                      <p:cBhvr>
                                        <p:cTn id="50" dur="1" fill="hold">
                                          <p:stCondLst>
                                            <p:cond delay="0"/>
                                          </p:stCondLst>
                                        </p:cTn>
                                        <p:tgtEl>
                                          <p:spTgt spid="114"/>
                                        </p:tgtEl>
                                        <p:attrNameLst>
                                          <p:attrName>style.visibility</p:attrName>
                                        </p:attrNameLst>
                                      </p:cBhvr>
                                      <p:to>
                                        <p:strVal val="visible"/>
                                      </p:to>
                                    </p:set>
                                    <p:animEffect transition="in" filter="fade">
                                      <p:cBhvr>
                                        <p:cTn id="51" dur="400"/>
                                        <p:tgtEl>
                                          <p:spTgt spid="114"/>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15"/>
                                        </p:tgtEl>
                                        <p:attrNameLst>
                                          <p:attrName>style.visibility</p:attrName>
                                        </p:attrNameLst>
                                      </p:cBhvr>
                                      <p:to>
                                        <p:strVal val="visible"/>
                                      </p:to>
                                    </p:set>
                                    <p:animEffect transition="in" filter="fade">
                                      <p:cBhvr>
                                        <p:cTn id="56" dur="400"/>
                                        <p:tgtEl>
                                          <p:spTgt spid="11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61"/>
                                        </p:tgtEl>
                                        <p:attrNameLst>
                                          <p:attrName>style.visibility</p:attrName>
                                        </p:attrNameLst>
                                      </p:cBhvr>
                                      <p:to>
                                        <p:strVal val="visible"/>
                                      </p:to>
                                    </p:set>
                                    <p:animEffect transition="in" filter="fade">
                                      <p:cBhvr>
                                        <p:cTn id="6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11825"/>
            <a:ext cx="9502956" cy="638175"/>
          </a:xfrm>
        </p:spPr>
        <p:txBody>
          <a:bodyPr>
            <a:noAutofit/>
          </a:bodyPr>
          <a:lstStyle/>
          <a:p>
            <a:pPr algn="l">
              <a:buNone/>
              <a:defRPr b="0"/>
            </a:pPr>
            <a:r>
              <a:rPr lang="en-US" sz="2400" b="0" i="0" dirty="0">
                <a:solidFill>
                  <a:srgbClr val="000000"/>
                </a:solidFill>
              </a:rPr>
              <a:t>Sometimes the right decision is to buy more information</a:t>
            </a:r>
          </a:p>
        </p:txBody>
      </p:sp>
      <p:sp>
        <p:nvSpPr>
          <p:cNvPr id="3" name="Slide Number Placeholder 2"/>
          <p:cNvSpPr>
            <a:spLocks noGrp="1"/>
          </p:cNvSpPr>
          <p:nvPr>
            <p:ph type="sldNum" sz="quarter" idx="4"/>
          </p:nvPr>
        </p:nvSpPr>
        <p:spPr/>
        <p:txBody>
          <a:bodyPr/>
          <a:lstStyle/>
          <a:p>
            <a:fld id="{B7EB45DA-9A0D-DC49-8E02-F30A5DDC21C3}" type="slidenum">
              <a:rPr lang="en-US" smtClean="0"/>
              <a:t>12</a:t>
            </a:fld>
            <a:endParaRPr lang="en-US"/>
          </a:p>
        </p:txBody>
      </p:sp>
      <p:sp>
        <p:nvSpPr>
          <p:cNvPr id="61" name="Band61"/>
          <p:cNvSpPr/>
          <p:nvPr/>
        </p:nvSpPr>
        <p:spPr>
          <a:xfrm>
            <a:off x="279400" y="5100000"/>
            <a:ext cx="8585200" cy="750000"/>
          </a:xfrm>
          <a:prstGeom prst="rect">
            <a:avLst/>
          </a:prstGeom>
          <a:solidFill>
            <a:srgbClr val="8E6F3E"/>
          </a:solidFill>
          <a:ln>
            <a:noFill/>
          </a:ln>
        </p:spPr>
        <p:txBody>
          <a:bodyPr wrap="square" lIns="109728" tIns="82296" rIns="109728" bIns="82296" anchor="ctr">
            <a:normAutofit/>
          </a:bodyPr>
          <a:lstStyle/>
          <a:p>
            <a:pPr algn="ctr">
              <a:buNone/>
            </a:pPr>
            <a:r>
              <a:rPr lang="en-US" sz="2600" b="1" i="0" dirty="0">
                <a:solidFill>
                  <a:srgbClr val="FFFFFF"/>
                </a:solidFill>
              </a:rPr>
              <a:t>Is the information worth more than it costs to obtain?</a:t>
            </a:r>
          </a:p>
        </p:txBody>
      </p:sp>
      <p:sp>
        <p:nvSpPr>
          <p:cNvPr id="100" name="Uncertain"/>
          <p:cNvSpPr/>
          <p:nvPr/>
        </p:nvSpPr>
        <p:spPr>
          <a:xfrm>
            <a:off x="240000" y="2500000"/>
            <a:ext cx="1540000" cy="700000"/>
          </a:xfrm>
          <a:prstGeom prst="rect">
            <a:avLst/>
          </a:prstGeom>
          <a:solidFill>
            <a:srgbClr val="F5F1E8"/>
          </a:solidFill>
          <a:ln w="12954">
            <a:solidFill>
              <a:srgbClr val="C9B991"/>
            </a:solidFill>
          </a:ln>
        </p:spPr>
        <p:txBody>
          <a:bodyPr wrap="square" lIns="54864" tIns="27432" rIns="54864" bIns="27432" anchor="ctr">
            <a:normAutofit lnSpcReduction="10000"/>
          </a:bodyPr>
          <a:lstStyle/>
          <a:p>
            <a:pPr algn="ctr">
              <a:buNone/>
            </a:pPr>
            <a:r>
              <a:rPr lang="en-US" sz="2300" b="1" i="0" dirty="0">
                <a:solidFill>
                  <a:srgbClr val="5C4826"/>
                </a:solidFill>
              </a:rPr>
              <a:t>UNCERTAIN CHOICE</a:t>
            </a:r>
          </a:p>
        </p:txBody>
      </p:sp>
      <p:cxnSp>
        <p:nvCxnSpPr>
          <p:cNvPr id="101" name="A1"/>
          <p:cNvCxnSpPr/>
          <p:nvPr/>
        </p:nvCxnSpPr>
        <p:spPr>
          <a:xfrm>
            <a:off x="1780000" y="2850000"/>
            <a:ext cx="170000" cy="0"/>
          </a:xfrm>
          <a:prstGeom prst="line">
            <a:avLst/>
          </a:prstGeom>
          <a:ln w="43720">
            <a:solidFill>
              <a:srgbClr val="8E6F3E"/>
            </a:solidFill>
            <a:tailEnd type="triangle" w="med" len="med"/>
          </a:ln>
        </p:spPr>
      </p:cxnSp>
      <p:sp>
        <p:nvSpPr>
          <p:cNvPr id="102" name="Diamond"/>
          <p:cNvSpPr/>
          <p:nvPr/>
        </p:nvSpPr>
        <p:spPr>
          <a:xfrm>
            <a:off x="1950000" y="1500000"/>
            <a:ext cx="2700000" cy="2700000"/>
          </a:xfrm>
          <a:prstGeom prst="diamond">
            <a:avLst/>
          </a:prstGeom>
          <a:solidFill>
            <a:srgbClr val="FFFFFF"/>
          </a:solidFill>
          <a:ln w="19431">
            <a:solidFill>
              <a:srgbClr val="8E6F3E"/>
            </a:solidFill>
          </a:ln>
        </p:spPr>
        <p:txBody>
          <a:bodyPr wrap="none" lIns="0" tIns="0" rIns="0" bIns="0" anchor="ctr">
            <a:noAutofit/>
          </a:bodyPr>
          <a:lstStyle/>
          <a:p>
            <a:pPr algn="ctr">
              <a:buNone/>
            </a:pPr>
            <a:r>
              <a:rPr lang="en-US" sz="2000" b="1" dirty="0">
                <a:solidFill>
                  <a:srgbClr val="5C4826"/>
                </a:solidFill>
              </a:rPr>
              <a:t>Could knowing</a:t>
            </a:r>
          </a:p>
          <a:p>
            <a:pPr algn="ctr">
              <a:spcBef>
                <a:spcPts val="300"/>
              </a:spcBef>
              <a:buNone/>
            </a:pPr>
            <a:r>
              <a:rPr lang="en-US" sz="2000" b="1" dirty="0">
                <a:solidFill>
                  <a:srgbClr val="5C4826"/>
                </a:solidFill>
              </a:rPr>
              <a:t>more change</a:t>
            </a:r>
          </a:p>
          <a:p>
            <a:pPr algn="ctr">
              <a:spcBef>
                <a:spcPts val="300"/>
              </a:spcBef>
              <a:buNone/>
            </a:pPr>
            <a:r>
              <a:rPr lang="en-US" sz="2000" b="1" dirty="0">
                <a:solidFill>
                  <a:srgbClr val="5C4826"/>
                </a:solidFill>
              </a:rPr>
              <a:t>the decision?</a:t>
            </a:r>
          </a:p>
        </p:txBody>
      </p:sp>
      <p:cxnSp>
        <p:nvCxnSpPr>
          <p:cNvPr id="103" name="ANo"/>
          <p:cNvCxnSpPr/>
          <p:nvPr/>
        </p:nvCxnSpPr>
        <p:spPr>
          <a:xfrm>
            <a:off x="3300000" y="4200000"/>
            <a:ext cx="0" cy="250000"/>
          </a:xfrm>
          <a:prstGeom prst="line">
            <a:avLst/>
          </a:prstGeom>
          <a:ln w="43720">
            <a:solidFill>
              <a:srgbClr val="8E6F3E"/>
            </a:solidFill>
            <a:tailEnd type="triangle" w="med" len="med"/>
          </a:ln>
        </p:spPr>
      </p:cxnSp>
      <p:sp>
        <p:nvSpPr>
          <p:cNvPr id="104" name="NoLbl"/>
          <p:cNvSpPr txBox="1"/>
          <p:nvPr/>
        </p:nvSpPr>
        <p:spPr>
          <a:xfrm>
            <a:off x="3390000" y="418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NO</a:t>
            </a:r>
          </a:p>
        </p:txBody>
      </p:sp>
      <p:sp>
        <p:nvSpPr>
          <p:cNvPr id="105" name="Decide"/>
          <p:cNvSpPr/>
          <p:nvPr/>
        </p:nvSpPr>
        <p:spPr>
          <a:xfrm>
            <a:off x="2700000" y="4450000"/>
            <a:ext cx="12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300" b="1" i="0" dirty="0">
                <a:solidFill>
                  <a:srgbClr val="5C4826"/>
                </a:solidFill>
              </a:rPr>
              <a:t>DECIDE</a:t>
            </a:r>
          </a:p>
        </p:txBody>
      </p:sp>
      <p:cxnSp>
        <p:nvCxnSpPr>
          <p:cNvPr id="106" name="AYes"/>
          <p:cNvCxnSpPr/>
          <p:nvPr/>
        </p:nvCxnSpPr>
        <p:spPr>
          <a:xfrm>
            <a:off x="4650000" y="2850000"/>
            <a:ext cx="350000" cy="0"/>
          </a:xfrm>
          <a:prstGeom prst="line">
            <a:avLst/>
          </a:prstGeom>
          <a:ln w="43720">
            <a:solidFill>
              <a:srgbClr val="8E6F3E"/>
            </a:solidFill>
            <a:tailEnd type="triangle" w="med" len="med"/>
          </a:ln>
        </p:spPr>
      </p:cxnSp>
      <p:sp>
        <p:nvSpPr>
          <p:cNvPr id="107" name="YesLbl"/>
          <p:cNvSpPr txBox="1"/>
          <p:nvPr/>
        </p:nvSpPr>
        <p:spPr>
          <a:xfrm>
            <a:off x="4525000" y="247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YES</a:t>
            </a:r>
          </a:p>
        </p:txBody>
      </p:sp>
      <p:sp>
        <p:nvSpPr>
          <p:cNvPr id="108" name="BuyEv"/>
          <p:cNvSpPr/>
          <p:nvPr/>
        </p:nvSpPr>
        <p:spPr>
          <a:xfrm>
            <a:off x="4900000" y="2500000"/>
            <a:ext cx="1400000" cy="700000"/>
          </a:xfrm>
          <a:prstGeom prst="rect">
            <a:avLst/>
          </a:prstGeom>
          <a:solidFill>
            <a:srgbClr val="8E6F3E"/>
          </a:solidFill>
          <a:ln>
            <a:noFill/>
          </a:ln>
        </p:spPr>
        <p:txBody>
          <a:bodyPr wrap="square" lIns="54864" tIns="27432" rIns="54864" bIns="27432" anchor="ctr">
            <a:normAutofit lnSpcReduction="10000"/>
          </a:bodyPr>
          <a:lstStyle/>
          <a:p>
            <a:pPr algn="ctr">
              <a:buNone/>
            </a:pPr>
            <a:r>
              <a:rPr lang="en-US" sz="2300" b="1" i="0" dirty="0">
                <a:solidFill>
                  <a:srgbClr val="FFFFFF"/>
                </a:solidFill>
              </a:rPr>
              <a:t>BUY EVIDENCE</a:t>
            </a:r>
          </a:p>
        </p:txBody>
      </p:sp>
      <p:sp>
        <p:nvSpPr>
          <p:cNvPr id="109" name="Kid0"/>
          <p:cNvSpPr/>
          <p:nvPr/>
        </p:nvSpPr>
        <p:spPr>
          <a:xfrm>
            <a:off x="6500000" y="155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10" name="KA0"/>
          <p:cNvCxnSpPr/>
          <p:nvPr/>
        </p:nvCxnSpPr>
        <p:spPr>
          <a:xfrm flipV="1">
            <a:off x="6300000" y="1830000"/>
            <a:ext cx="200000" cy="1020000"/>
          </a:xfrm>
          <a:prstGeom prst="line">
            <a:avLst/>
          </a:prstGeom>
          <a:ln w="43720">
            <a:solidFill>
              <a:srgbClr val="8E6F3E"/>
            </a:solidFill>
            <a:tailEnd type="triangle" w="med" len="med"/>
          </a:ln>
        </p:spPr>
      </p:cxnSp>
      <p:sp>
        <p:nvSpPr>
          <p:cNvPr id="111" name="Kid1"/>
          <p:cNvSpPr/>
          <p:nvPr/>
        </p:nvSpPr>
        <p:spPr>
          <a:xfrm>
            <a:off x="6500000" y="257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12" name="KA1"/>
          <p:cNvCxnSpPr/>
          <p:nvPr/>
        </p:nvCxnSpPr>
        <p:spPr>
          <a:xfrm>
            <a:off x="6300000" y="2850000"/>
            <a:ext cx="200000" cy="0"/>
          </a:xfrm>
          <a:prstGeom prst="line">
            <a:avLst/>
          </a:prstGeom>
          <a:ln w="43720">
            <a:solidFill>
              <a:srgbClr val="8E6F3E"/>
            </a:solidFill>
            <a:tailEnd type="triangle" w="med" len="med"/>
          </a:ln>
        </p:spPr>
      </p:cxnSp>
      <p:sp>
        <p:nvSpPr>
          <p:cNvPr id="113" name="Kid2"/>
          <p:cNvSpPr/>
          <p:nvPr/>
        </p:nvSpPr>
        <p:spPr>
          <a:xfrm>
            <a:off x="6500000" y="359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MEASURE</a:t>
            </a:r>
          </a:p>
        </p:txBody>
      </p:sp>
      <p:cxnSp>
        <p:nvCxnSpPr>
          <p:cNvPr id="114" name="KA2"/>
          <p:cNvCxnSpPr/>
          <p:nvPr/>
        </p:nvCxnSpPr>
        <p:spPr>
          <a:xfrm>
            <a:off x="6300000" y="2850000"/>
            <a:ext cx="200000" cy="1020000"/>
          </a:xfrm>
          <a:prstGeom prst="line">
            <a:avLst/>
          </a:prstGeom>
          <a:ln w="43720">
            <a:solidFill>
              <a:srgbClr val="8E6F3E"/>
            </a:solidFill>
            <a:tailEnd type="triangle" w="med" len="med"/>
          </a:ln>
        </p:spPr>
      </p:cxnSp>
      <p:sp>
        <p:nvSpPr>
          <p:cNvPr id="115" name="DecideBetter"/>
          <p:cNvSpPr/>
          <p:nvPr/>
        </p:nvSpPr>
        <p:spPr>
          <a:xfrm>
            <a:off x="8050000" y="2500000"/>
            <a:ext cx="870000" cy="700000"/>
          </a:xfrm>
          <a:prstGeom prst="rect">
            <a:avLst/>
          </a:prstGeom>
          <a:solidFill>
            <a:srgbClr val="8E6F3E"/>
          </a:solidFill>
          <a:ln>
            <a:noFill/>
          </a:ln>
        </p:spPr>
        <p:txBody>
          <a:bodyPr wrap="square" lIns="54864" tIns="27432" rIns="54864" bIns="27432" anchor="ctr">
            <a:normAutofit fontScale="92500"/>
          </a:bodyPr>
          <a:lstStyle/>
          <a:p>
            <a:pPr algn="ctr">
              <a:buNone/>
            </a:pPr>
            <a:r>
              <a:rPr lang="en-US" sz="2000" b="1" i="0" dirty="0">
                <a:solidFill>
                  <a:srgbClr val="FFFFFF"/>
                </a:solidFill>
              </a:rPr>
              <a:t>DECIDE</a:t>
            </a:r>
          </a:p>
          <a:p>
            <a:pPr algn="ctr">
              <a:spcBef>
                <a:spcPts val="534"/>
              </a:spcBef>
              <a:buNone/>
            </a:pPr>
            <a:r>
              <a:rPr lang="en-US" sz="2000" b="1" i="0" dirty="0">
                <a:solidFill>
                  <a:srgbClr val="FFFFFF"/>
                </a:solidFill>
              </a:rPr>
              <a:t>BETTER</a:t>
            </a:r>
          </a:p>
        </p:txBody>
      </p:sp>
      <p:cxnSp>
        <p:nvCxnSpPr>
          <p:cNvPr id="116" name="CA0"/>
          <p:cNvCxnSpPr/>
          <p:nvPr/>
        </p:nvCxnSpPr>
        <p:spPr>
          <a:xfrm>
            <a:off x="7900000" y="1830000"/>
            <a:ext cx="150000" cy="1020000"/>
          </a:xfrm>
          <a:prstGeom prst="line">
            <a:avLst/>
          </a:prstGeom>
          <a:ln w="43720">
            <a:solidFill>
              <a:srgbClr val="8E6F3E"/>
            </a:solidFill>
            <a:tailEnd type="triangle" w="med" len="med"/>
          </a:ln>
        </p:spPr>
      </p:cxnSp>
      <p:cxnSp>
        <p:nvCxnSpPr>
          <p:cNvPr id="117" name="CA1"/>
          <p:cNvCxnSpPr/>
          <p:nvPr/>
        </p:nvCxnSpPr>
        <p:spPr>
          <a:xfrm>
            <a:off x="7900000" y="2850000"/>
            <a:ext cx="150000" cy="0"/>
          </a:xfrm>
          <a:prstGeom prst="line">
            <a:avLst/>
          </a:prstGeom>
          <a:ln w="43720">
            <a:solidFill>
              <a:srgbClr val="8E6F3E"/>
            </a:solidFill>
            <a:tailEnd type="triangle" w="med" len="med"/>
          </a:ln>
        </p:spPr>
      </p:cxnSp>
      <p:cxnSp>
        <p:nvCxnSpPr>
          <p:cNvPr id="118" name="CA2"/>
          <p:cNvCxnSpPr/>
          <p:nvPr/>
        </p:nvCxnSpPr>
        <p:spPr>
          <a:xfrm flipV="1">
            <a:off x="7900000" y="2850000"/>
            <a:ext cx="150000" cy="1020000"/>
          </a:xfrm>
          <a:prstGeom prst="line">
            <a:avLst/>
          </a:prstGeom>
          <a:ln w="43720">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6"/>
                                        </p:tgtEl>
                                        <p:attrNameLst>
                                          <p:attrName>style.visibility</p:attrName>
                                        </p:attrNameLst>
                                      </p:cBhvr>
                                      <p:to>
                                        <p:strVal val="visible"/>
                                      </p:to>
                                    </p:set>
                                    <p:animEffect transition="in" filter="fade">
                                      <p:cBhvr>
                                        <p:cTn id="29" dur="400"/>
                                        <p:tgtEl>
                                          <p:spTgt spid="106"/>
                                        </p:tgtEl>
                                      </p:cBhvr>
                                    </p:animEffect>
                                  </p:childTnLst>
                                </p:cTn>
                              </p:par>
                              <p:par>
                                <p:cTn id="30"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09"/>
                                        </p:tgtEl>
                                        <p:attrNameLst>
                                          <p:attrName>style.visibility</p:attrName>
                                        </p:attrNameLst>
                                      </p:cBhvr>
                                      <p:to>
                                        <p:strVal val="visible"/>
                                      </p:to>
                                    </p:set>
                                    <p:animEffect transition="in" filter="fade">
                                      <p:cBhvr>
                                        <p:cTn id="40" dur="400"/>
                                        <p:tgtEl>
                                          <p:spTgt spid="109"/>
                                        </p:tgtEl>
                                      </p:cBhvr>
                                    </p:animEffect>
                                  </p:childTnLst>
                                </p:cTn>
                              </p:par>
                              <p:par>
                                <p:cTn id="41" presetID="10" presetClass="entr" presetSubtype="0" fill="hold" nodeType="with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par>
                                <p:cTn id="44" presetID="10" presetClass="entr" presetSubtype="0" fill="hold" nodeType="withEffect">
                                  <p:stCondLst>
                                    <p:cond delay="0"/>
                                  </p:stCondLst>
                                  <p:childTnLst>
                                    <p:set>
                                      <p:cBhvr>
                                        <p:cTn id="45" dur="1" fill="hold">
                                          <p:stCondLst>
                                            <p:cond delay="0"/>
                                          </p:stCondLst>
                                        </p:cTn>
                                        <p:tgtEl>
                                          <p:spTgt spid="111"/>
                                        </p:tgtEl>
                                        <p:attrNameLst>
                                          <p:attrName>style.visibility</p:attrName>
                                        </p:attrNameLst>
                                      </p:cBhvr>
                                      <p:to>
                                        <p:strVal val="visible"/>
                                      </p:to>
                                    </p:set>
                                    <p:animEffect transition="in" filter="fade">
                                      <p:cBhvr>
                                        <p:cTn id="46" dur="400"/>
                                        <p:tgtEl>
                                          <p:spTgt spid="111"/>
                                        </p:tgtEl>
                                      </p:cBhvr>
                                    </p:animEffect>
                                  </p:childTnLst>
                                </p:cTn>
                              </p:par>
                              <p:par>
                                <p:cTn id="47" presetID="10" presetClass="entr" presetSubtype="0" fill="hold" nodeType="withEffect">
                                  <p:stCondLst>
                                    <p:cond delay="0"/>
                                  </p:stCondLst>
                                  <p:childTnLst>
                                    <p:set>
                                      <p:cBhvr>
                                        <p:cTn id="48" dur="1" fill="hold">
                                          <p:stCondLst>
                                            <p:cond delay="0"/>
                                          </p:stCondLst>
                                        </p:cTn>
                                        <p:tgtEl>
                                          <p:spTgt spid="112"/>
                                        </p:tgtEl>
                                        <p:attrNameLst>
                                          <p:attrName>style.visibility</p:attrName>
                                        </p:attrNameLst>
                                      </p:cBhvr>
                                      <p:to>
                                        <p:strVal val="visible"/>
                                      </p:to>
                                    </p:set>
                                    <p:animEffect transition="in" filter="fade">
                                      <p:cBhvr>
                                        <p:cTn id="49" dur="400"/>
                                        <p:tgtEl>
                                          <p:spTgt spid="112"/>
                                        </p:tgtEl>
                                      </p:cBhvr>
                                    </p:animEffect>
                                  </p:childTnLst>
                                </p:cTn>
                              </p:par>
                              <p:par>
                                <p:cTn id="50" presetID="10" presetClass="entr" presetSubtype="0" fill="hold" nodeType="withEffect">
                                  <p:stCondLst>
                                    <p:cond delay="0"/>
                                  </p:stCondLst>
                                  <p:childTnLst>
                                    <p:set>
                                      <p:cBhvr>
                                        <p:cTn id="51" dur="1" fill="hold">
                                          <p:stCondLst>
                                            <p:cond delay="0"/>
                                          </p:stCondLst>
                                        </p:cTn>
                                        <p:tgtEl>
                                          <p:spTgt spid="113"/>
                                        </p:tgtEl>
                                        <p:attrNameLst>
                                          <p:attrName>style.visibility</p:attrName>
                                        </p:attrNameLst>
                                      </p:cBhvr>
                                      <p:to>
                                        <p:strVal val="visible"/>
                                      </p:to>
                                    </p:set>
                                    <p:animEffect transition="in" filter="fade">
                                      <p:cBhvr>
                                        <p:cTn id="52" dur="400"/>
                                        <p:tgtEl>
                                          <p:spTgt spid="113"/>
                                        </p:tgtEl>
                                      </p:cBhvr>
                                    </p:animEffect>
                                  </p:childTnLst>
                                </p:cTn>
                              </p:par>
                              <p:par>
                                <p:cTn id="53" presetID="10" presetClass="entr" presetSubtype="0" fill="hold" nodeType="withEffect">
                                  <p:stCondLst>
                                    <p:cond delay="0"/>
                                  </p:stCondLst>
                                  <p:childTnLst>
                                    <p:set>
                                      <p:cBhvr>
                                        <p:cTn id="54" dur="1" fill="hold">
                                          <p:stCondLst>
                                            <p:cond delay="0"/>
                                          </p:stCondLst>
                                        </p:cTn>
                                        <p:tgtEl>
                                          <p:spTgt spid="114"/>
                                        </p:tgtEl>
                                        <p:attrNameLst>
                                          <p:attrName>style.visibility</p:attrName>
                                        </p:attrNameLst>
                                      </p:cBhvr>
                                      <p:to>
                                        <p:strVal val="visible"/>
                                      </p:to>
                                    </p:set>
                                    <p:animEffect transition="in" filter="fade">
                                      <p:cBhvr>
                                        <p:cTn id="55" dur="400"/>
                                        <p:tgtEl>
                                          <p:spTgt spid="114"/>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15"/>
                                        </p:tgtEl>
                                        <p:attrNameLst>
                                          <p:attrName>style.visibility</p:attrName>
                                        </p:attrNameLst>
                                      </p:cBhvr>
                                      <p:to>
                                        <p:strVal val="visible"/>
                                      </p:to>
                                    </p:set>
                                    <p:animEffect transition="in" filter="fade">
                                      <p:cBhvr>
                                        <p:cTn id="60" dur="400"/>
                                        <p:tgtEl>
                                          <p:spTgt spid="115"/>
                                        </p:tgtEl>
                                      </p:cBhvr>
                                    </p:animEffect>
                                  </p:childTnLst>
                                </p:cTn>
                              </p:par>
                              <p:par>
                                <p:cTn id="61" presetID="10"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animEffect transition="in" filter="fade">
                                      <p:cBhvr>
                                        <p:cTn id="63" dur="400"/>
                                        <p:tgtEl>
                                          <p:spTgt spid="116"/>
                                        </p:tgtEl>
                                      </p:cBhvr>
                                    </p:animEffect>
                                  </p:childTnLst>
                                </p:cTn>
                              </p:par>
                              <p:par>
                                <p:cTn id="64" presetID="10" presetClass="entr" presetSubtype="0" fill="hold" nodeType="withEffect">
                                  <p:stCondLst>
                                    <p:cond delay="0"/>
                                  </p:stCondLst>
                                  <p:childTnLst>
                                    <p:set>
                                      <p:cBhvr>
                                        <p:cTn id="65" dur="1" fill="hold">
                                          <p:stCondLst>
                                            <p:cond delay="0"/>
                                          </p:stCondLst>
                                        </p:cTn>
                                        <p:tgtEl>
                                          <p:spTgt spid="117"/>
                                        </p:tgtEl>
                                        <p:attrNameLst>
                                          <p:attrName>style.visibility</p:attrName>
                                        </p:attrNameLst>
                                      </p:cBhvr>
                                      <p:to>
                                        <p:strVal val="visible"/>
                                      </p:to>
                                    </p:set>
                                    <p:animEffect transition="in" filter="fade">
                                      <p:cBhvr>
                                        <p:cTn id="66" dur="400"/>
                                        <p:tgtEl>
                                          <p:spTgt spid="117"/>
                                        </p:tgtEl>
                                      </p:cBhvr>
                                    </p:animEffect>
                                  </p:childTnLst>
                                </p:cTn>
                              </p:par>
                              <p:par>
                                <p:cTn id="67" presetID="10" presetClass="entr" presetSubtype="0" fill="hold" nodeType="withEffect">
                                  <p:stCondLst>
                                    <p:cond delay="0"/>
                                  </p:stCondLst>
                                  <p:childTnLst>
                                    <p:set>
                                      <p:cBhvr>
                                        <p:cTn id="68" dur="1" fill="hold">
                                          <p:stCondLst>
                                            <p:cond delay="0"/>
                                          </p:stCondLst>
                                        </p:cTn>
                                        <p:tgtEl>
                                          <p:spTgt spid="118"/>
                                        </p:tgtEl>
                                        <p:attrNameLst>
                                          <p:attrName>style.visibility</p:attrName>
                                        </p:attrNameLst>
                                      </p:cBhvr>
                                      <p:to>
                                        <p:strVal val="visible"/>
                                      </p:to>
                                    </p:set>
                                    <p:animEffect transition="in" filter="fade">
                                      <p:cBhvr>
                                        <p:cTn id="69" dur="4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200" b="0" i="0" dirty="0">
                <a:solidFill>
                  <a:srgbClr val="000000"/>
                </a:solidFill>
              </a:rPr>
              <a:t>Where do the alternatives come from?</a:t>
            </a:r>
          </a:p>
        </p:txBody>
      </p:sp>
      <p:sp>
        <p:nvSpPr>
          <p:cNvPr id="3" name="Slide Number Placeholder 2"/>
          <p:cNvSpPr>
            <a:spLocks noGrp="1"/>
          </p:cNvSpPr>
          <p:nvPr>
            <p:ph type="sldNum" sz="quarter" idx="4"/>
          </p:nvPr>
        </p:nvSpPr>
        <p:spPr/>
        <p:txBody>
          <a:bodyPr/>
          <a:lstStyle/>
          <a:p>
            <a:fld id="{B7EB45DA-9A0D-DC49-8E02-F30A5DDC21C3}" type="slidenum">
              <a:rPr lang="en-US" smtClean="0"/>
              <a:t>13</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3</a:t>
            </a:r>
          </a:p>
        </p:txBody>
      </p:sp>
      <p:sp>
        <p:nvSpPr>
          <p:cNvPr id="51" name="S51"/>
          <p:cNvSpPr/>
          <p:nvPr/>
        </p:nvSpPr>
        <p:spPr>
          <a:xfrm>
            <a:off x="3429000" y="3383280"/>
            <a:ext cx="2286000" cy="50800"/>
          </a:xfrm>
          <a:prstGeom prst="rect">
            <a:avLst/>
          </a:prstGeom>
          <a:solidFill>
            <a:srgbClr val="8E6F3E"/>
          </a:solidFill>
          <a:ln>
            <a:noFill/>
          </a:ln>
        </p:spPr>
        <p:txBody>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fontScale="92500" lnSpcReduction="20000"/>
          </a:bodyPr>
          <a:lstStyle/>
          <a:p>
            <a:pPr algn="ctr">
              <a:buNone/>
            </a:pPr>
            <a:r>
              <a:rPr lang="en-US" sz="2800" b="0" i="0" dirty="0">
                <a:solidFill>
                  <a:srgbClr val="555960"/>
                </a:solidFill>
              </a:rPr>
              <a:t>Patterns capture recurring architectural choices—and expectations about their consequences.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Patterns capture recurring choices and expected consequences</a:t>
            </a:r>
          </a:p>
        </p:txBody>
      </p:sp>
      <p:sp>
        <p:nvSpPr>
          <p:cNvPr id="3" name="Slide Number Placeholder 2"/>
          <p:cNvSpPr>
            <a:spLocks noGrp="1"/>
          </p:cNvSpPr>
          <p:nvPr>
            <p:ph type="sldNum" sz="quarter" idx="4"/>
          </p:nvPr>
        </p:nvSpPr>
        <p:spPr/>
        <p:txBody>
          <a:bodyPr/>
          <a:lstStyle/>
          <a:p>
            <a:fld id="{B7EB45DA-9A0D-DC49-8E02-F30A5DDC21C3}" type="slidenum">
              <a:rPr lang="en-US" smtClean="0"/>
              <a:t>14</a:t>
            </a:fld>
            <a:endParaRPr lang="en-US"/>
          </a:p>
        </p:txBody>
      </p:sp>
      <p:sp>
        <p:nvSpPr>
          <p:cNvPr id="100" name="Exp"/>
          <p:cNvSpPr/>
          <p:nvPr/>
        </p:nvSpPr>
        <p:spPr>
          <a:xfrm>
            <a:off x="2672000" y="1200000"/>
            <a:ext cx="38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PAST ENGINEERING EXPERIENCE</a:t>
            </a:r>
          </a:p>
        </p:txBody>
      </p:sp>
      <p:cxnSp>
        <p:nvCxnSpPr>
          <p:cNvPr id="101" name="ExpArr"/>
          <p:cNvCxnSpPr>
            <a:stCxn id="100" idx="2"/>
            <a:endCxn id="102" idx="0"/>
          </p:cNvCxnSpPr>
          <p:nvPr/>
        </p:nvCxnSpPr>
        <p:spPr>
          <a:xfrm>
            <a:off x="4572000" y="1760000"/>
            <a:ext cx="0" cy="400000"/>
          </a:xfrm>
          <a:prstGeom prst="line">
            <a:avLst/>
          </a:prstGeom>
          <a:ln w="53577">
            <a:solidFill>
              <a:srgbClr val="8E6F3E"/>
            </a:solidFill>
            <a:tailEnd type="triangle" w="med" len="med"/>
          </a:ln>
        </p:spPr>
      </p:cxnSp>
      <p:sp>
        <p:nvSpPr>
          <p:cNvPr id="102" name="Prob"/>
          <p:cNvSpPr/>
          <p:nvPr/>
        </p:nvSpPr>
        <p:spPr>
          <a:xfrm>
            <a:off x="3122000" y="2160000"/>
            <a:ext cx="29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A RECURRING PROBLEM</a:t>
            </a:r>
          </a:p>
        </p:txBody>
      </p:sp>
      <p:cxnSp>
        <p:nvCxnSpPr>
          <p:cNvPr id="103" name="BrA"/>
          <p:cNvCxnSpPr>
            <a:stCxn id="102" idx="1"/>
            <a:endCxn id="105" idx="0"/>
          </p:cNvCxnSpPr>
          <p:nvPr/>
        </p:nvCxnSpPr>
        <p:spPr>
          <a:xfrm flipH="1">
            <a:off x="2650000" y="2440000"/>
            <a:ext cx="472000" cy="860000"/>
          </a:xfrm>
          <a:prstGeom prst="bentConnector2">
            <a:avLst/>
          </a:prstGeom>
          <a:ln w="53577">
            <a:solidFill>
              <a:srgbClr val="8E6F3E"/>
            </a:solidFill>
            <a:tailEnd type="triangle" w="med" len="med"/>
          </a:ln>
        </p:spPr>
      </p:cxnSp>
      <p:cxnSp>
        <p:nvCxnSpPr>
          <p:cNvPr id="104" name="BrB"/>
          <p:cNvCxnSpPr>
            <a:stCxn id="102" idx="3"/>
            <a:endCxn id="106" idx="0"/>
          </p:cNvCxnSpPr>
          <p:nvPr/>
        </p:nvCxnSpPr>
        <p:spPr>
          <a:xfrm>
            <a:off x="6022000" y="2440000"/>
            <a:ext cx="472000" cy="860000"/>
          </a:xfrm>
          <a:prstGeom prst="bentConnector2">
            <a:avLst/>
          </a:prstGeom>
          <a:ln w="53577">
            <a:solidFill>
              <a:srgbClr val="8E6F3E"/>
            </a:solidFill>
            <a:tailEnd type="triangle" w="med" len="med"/>
          </a:ln>
        </p:spPr>
      </p:cxnSp>
      <p:sp>
        <p:nvSpPr>
          <p:cNvPr id="105" name="PatA"/>
          <p:cNvSpPr/>
          <p:nvPr/>
        </p:nvSpPr>
        <p:spPr>
          <a:xfrm>
            <a:off x="1900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A</a:t>
            </a:r>
          </a:p>
        </p:txBody>
      </p:sp>
      <p:sp>
        <p:nvSpPr>
          <p:cNvPr id="106" name="PatB"/>
          <p:cNvSpPr/>
          <p:nvPr/>
        </p:nvSpPr>
        <p:spPr>
          <a:xfrm>
            <a:off x="5744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B</a:t>
            </a:r>
          </a:p>
        </p:txBody>
      </p:sp>
      <p:sp>
        <p:nvSpPr>
          <p:cNvPr id="107" name="Exp107"/>
          <p:cNvSpPr txBox="1"/>
          <p:nvPr/>
        </p:nvSpPr>
        <p:spPr>
          <a:xfrm>
            <a:off x="1550000" y="4020000"/>
            <a:ext cx="2200000" cy="660000"/>
          </a:xfrm>
          <a:prstGeom prst="rect">
            <a:avLst/>
          </a:prstGeom>
          <a:noFill/>
          <a:ln>
            <a:noFill/>
          </a:ln>
        </p:spPr>
        <p:txBody>
          <a:bodyPr wrap="square" lIns="0" tIns="0" rIns="0" bIns="0" anchor="t">
            <a:normAutofit lnSpcReduction="10000"/>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8" name="Exp108"/>
          <p:cNvSpPr txBox="1"/>
          <p:nvPr/>
        </p:nvSpPr>
        <p:spPr>
          <a:xfrm>
            <a:off x="5394000" y="4020000"/>
            <a:ext cx="2200000" cy="660000"/>
          </a:xfrm>
          <a:prstGeom prst="rect">
            <a:avLst/>
          </a:prstGeom>
          <a:noFill/>
          <a:ln>
            <a:noFill/>
          </a:ln>
        </p:spPr>
        <p:txBody>
          <a:bodyPr wrap="square" lIns="0" tIns="0" rIns="0" bIns="0" anchor="t">
            <a:normAutofit lnSpcReduction="10000"/>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9" name="Footer"/>
          <p:cNvSpPr txBox="1"/>
          <p:nvPr/>
        </p:nvSpPr>
        <p:spPr>
          <a:xfrm>
            <a:off x="685800" y="5149999"/>
            <a:ext cx="7772400" cy="1589573"/>
          </a:xfrm>
          <a:prstGeom prst="rect">
            <a:avLst/>
          </a:prstGeom>
          <a:noFill/>
          <a:ln>
            <a:noFill/>
          </a:ln>
        </p:spPr>
        <p:txBody>
          <a:bodyPr wrap="square" lIns="0" tIns="0" rIns="0" bIns="0" anchor="t">
            <a:normAutofit/>
          </a:bodyPr>
          <a:lstStyle/>
          <a:p>
            <a:pPr algn="ctr">
              <a:buNone/>
            </a:pPr>
            <a:r>
              <a:rPr lang="en-US" sz="2400" b="0" i="1" dirty="0">
                <a:solidFill>
                  <a:srgbClr val="000000"/>
                </a:solidFill>
              </a:rPr>
              <a:t>Patterns give us alternatives and priors about their consequences from use in other contexts</a:t>
            </a:r>
          </a:p>
          <a:p>
            <a:pPr algn="ctr">
              <a:buNone/>
            </a:pPr>
            <a:endParaRPr lang="en-US" sz="2400" b="0" i="1" dirty="0">
              <a:solidFill>
                <a:srgbClr val="000000"/>
              </a:solidFill>
            </a:endParaRPr>
          </a:p>
          <a:p>
            <a:pPr algn="ctr">
              <a:buNone/>
            </a:pPr>
            <a:r>
              <a:rPr lang="en-US" sz="2400" b="0" i="1" dirty="0">
                <a:solidFill>
                  <a:srgbClr val="000000"/>
                </a:solidFill>
              </a:rPr>
              <a:t>(though not guarantees in THIS context)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4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400"/>
                                        <p:tgtEl>
                                          <p:spTgt spid="104"/>
                                        </p:tgtEl>
                                      </p:cBhvr>
                                    </p:animEffect>
                                  </p:childTnLst>
                                </p:cTn>
                              </p:par>
                              <p:par>
                                <p:cTn id="19" presetID="10" presetClass="entr" presetSubtype="0" fill="hold" nodeType="with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400"/>
                                        <p:tgtEl>
                                          <p:spTgt spid="105"/>
                                        </p:tgtEl>
                                      </p:cBhvr>
                                    </p:animEffect>
                                  </p:childTnLst>
                                </p:cTn>
                              </p:par>
                              <p:par>
                                <p:cTn id="22" presetID="10" presetClass="entr" presetSubtype="0" fill="hold" nodeType="with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400"/>
                                        <p:tgtEl>
                                          <p:spTgt spid="10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7"/>
                                        </p:tgtEl>
                                        <p:attrNameLst>
                                          <p:attrName>style.visibility</p:attrName>
                                        </p:attrNameLst>
                                      </p:cBhvr>
                                      <p:to>
                                        <p:strVal val="visible"/>
                                      </p:to>
                                    </p:set>
                                    <p:animEffect transition="in" filter="fade">
                                      <p:cBhvr>
                                        <p:cTn id="29" dur="400"/>
                                        <p:tgtEl>
                                          <p:spTgt spid="107"/>
                                        </p:tgtEl>
                                      </p:cBhvr>
                                    </p:animEffect>
                                  </p:childTnLst>
                                </p:cTn>
                              </p:par>
                              <p:par>
                                <p:cTn id="30" presetID="10" presetClass="entr" presetSubtype="0" fill="hold" nodeType="withEffect">
                                  <p:stCondLst>
                                    <p:cond delay="0"/>
                                  </p:stCondLst>
                                  <p:childTnLst>
                                    <p:set>
                                      <p:cBhvr>
                                        <p:cTn id="31" dur="1" fill="hold">
                                          <p:stCondLst>
                                            <p:cond delay="0"/>
                                          </p:stCondLst>
                                        </p:cTn>
                                        <p:tgtEl>
                                          <p:spTgt spid="108"/>
                                        </p:tgtEl>
                                        <p:attrNameLst>
                                          <p:attrName>style.visibility</p:attrName>
                                        </p:attrNameLst>
                                      </p:cBhvr>
                                      <p:to>
                                        <p:strVal val="visible"/>
                                      </p:to>
                                    </p:set>
                                    <p:animEffect transition="in" filter="fade">
                                      <p:cBhvr>
                                        <p:cTn id="32" dur="400"/>
                                        <p:tgtEl>
                                          <p:spTgt spid="10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9"/>
                                        </p:tgtEl>
                                        <p:attrNameLst>
                                          <p:attrName>style.visibility</p:attrName>
                                        </p:attrNameLst>
                                      </p:cBhvr>
                                      <p:to>
                                        <p:strVal val="visible"/>
                                      </p:to>
                                    </p:set>
                                    <p:animEffect transition="in" filter="fade">
                                      <p:cBhvr>
                                        <p:cTn id="37" dur="4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7" y="118428"/>
            <a:ext cx="8509043" cy="638175"/>
          </a:xfrm>
        </p:spPr>
        <p:txBody>
          <a:bodyPr>
            <a:normAutofit fontScale="90000"/>
          </a:bodyPr>
          <a:lstStyle/>
          <a:p>
            <a:pPr algn="l">
              <a:buNone/>
              <a:defRPr b="0"/>
            </a:pPr>
            <a:r>
              <a:rPr lang="en-US" sz="2800" b="0" i="0" dirty="0">
                <a:solidFill>
                  <a:srgbClr val="000000"/>
                </a:solidFill>
              </a:rPr>
              <a:t>Shall we layer communication paths? How strictly?</a:t>
            </a:r>
          </a:p>
        </p:txBody>
      </p:sp>
      <p:sp>
        <p:nvSpPr>
          <p:cNvPr id="3" name="Slide Number Placeholder 2"/>
          <p:cNvSpPr>
            <a:spLocks noGrp="1"/>
          </p:cNvSpPr>
          <p:nvPr>
            <p:ph type="sldNum" sz="quarter" idx="4"/>
          </p:nvPr>
        </p:nvSpPr>
        <p:spPr/>
        <p:txBody>
          <a:bodyPr/>
          <a:lstStyle/>
          <a:p>
            <a:fld id="{B7EB45DA-9A0D-DC49-8E02-F30A5DDC21C3}" type="slidenum">
              <a:rPr lang="en-US" smtClean="0"/>
              <a:t>15</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Layering vs. deliberate layer crossing</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STRICT LAYERING</a:t>
            </a:r>
          </a:p>
        </p:txBody>
      </p:sp>
      <p:sp>
        <p:nvSpPr>
          <p:cNvPr id="100" name="L100"/>
          <p:cNvSpPr/>
          <p:nvPr/>
        </p:nvSpPr>
        <p:spPr>
          <a:xfrm>
            <a:off x="1353900" y="15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01" name="L101"/>
          <p:cNvSpPr/>
          <p:nvPr/>
        </p:nvSpPr>
        <p:spPr>
          <a:xfrm>
            <a:off x="1353900" y="22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02" name="L102"/>
          <p:cNvSpPr/>
          <p:nvPr/>
        </p:nvSpPr>
        <p:spPr>
          <a:xfrm>
            <a:off x="1353900" y="30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OPERATING SYSTEM</a:t>
            </a:r>
          </a:p>
        </p:txBody>
      </p:sp>
      <p:sp>
        <p:nvSpPr>
          <p:cNvPr id="103" name="L103"/>
          <p:cNvSpPr/>
          <p:nvPr/>
        </p:nvSpPr>
        <p:spPr>
          <a:xfrm>
            <a:off x="1353900" y="37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04" name="LA0"/>
          <p:cNvCxnSpPr>
            <a:stCxn id="100" idx="2"/>
            <a:endCxn id="101" idx="0"/>
          </p:cNvCxnSpPr>
          <p:nvPr/>
        </p:nvCxnSpPr>
        <p:spPr>
          <a:xfrm>
            <a:off x="2553900" y="2100000"/>
            <a:ext cx="0" cy="190000"/>
          </a:xfrm>
          <a:prstGeom prst="line">
            <a:avLst/>
          </a:prstGeom>
          <a:ln w="53577">
            <a:solidFill>
              <a:srgbClr val="8E6F3E"/>
            </a:solidFill>
            <a:tailEnd type="triangle" w="med" len="med"/>
          </a:ln>
        </p:spPr>
      </p:cxnSp>
      <p:cxnSp>
        <p:nvCxnSpPr>
          <p:cNvPr id="105" name="LA1"/>
          <p:cNvCxnSpPr>
            <a:stCxn id="101" idx="2"/>
            <a:endCxn id="102" idx="0"/>
          </p:cNvCxnSpPr>
          <p:nvPr/>
        </p:nvCxnSpPr>
        <p:spPr>
          <a:xfrm>
            <a:off x="2553900" y="2850000"/>
            <a:ext cx="0" cy="190000"/>
          </a:xfrm>
          <a:prstGeom prst="line">
            <a:avLst/>
          </a:prstGeom>
          <a:ln w="53577">
            <a:solidFill>
              <a:srgbClr val="8E6F3E"/>
            </a:solidFill>
            <a:tailEnd type="triangle" w="med" len="med"/>
          </a:ln>
        </p:spPr>
      </p:cxnSp>
      <p:cxnSp>
        <p:nvCxnSpPr>
          <p:cNvPr id="106" name="LA2"/>
          <p:cNvCxnSpPr>
            <a:stCxn id="102" idx="2"/>
            <a:endCxn id="103" idx="0"/>
          </p:cNvCxnSpPr>
          <p:nvPr/>
        </p:nvCxnSpPr>
        <p:spPr>
          <a:xfrm>
            <a:off x="2553900" y="3600000"/>
            <a:ext cx="0" cy="19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555960"/>
                </a:solidFill>
              </a:rPr>
              <a:t>dependencies flow through the layers</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DELIBERATE CROSSING</a:t>
            </a:r>
          </a:p>
        </p:txBody>
      </p:sp>
      <p:sp>
        <p:nvSpPr>
          <p:cNvPr id="110" name="R110"/>
          <p:cNvSpPr/>
          <p:nvPr/>
        </p:nvSpPr>
        <p:spPr>
          <a:xfrm>
            <a:off x="4722000" y="154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11" name="R111"/>
          <p:cNvSpPr/>
          <p:nvPr/>
        </p:nvSpPr>
        <p:spPr>
          <a:xfrm>
            <a:off x="4722000" y="22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12" name="R112"/>
          <p:cNvSpPr/>
          <p:nvPr/>
        </p:nvSpPr>
        <p:spPr>
          <a:xfrm>
            <a:off x="4722000" y="3040000"/>
            <a:ext cx="2150000" cy="560000"/>
          </a:xfrm>
          <a:prstGeom prst="rect">
            <a:avLst/>
          </a:prstGeom>
          <a:solidFill>
            <a:srgbClr val="F5F1E8"/>
          </a:solidFill>
          <a:ln w="15875">
            <a:solidFill>
              <a:srgbClr val="C9B991"/>
            </a:solidFill>
          </a:ln>
        </p:spPr>
        <p:txBody>
          <a:bodyPr wrap="square" lIns="27432" tIns="27432" rIns="27432" bIns="27432" anchor="ctr">
            <a:normAutofit fontScale="92500"/>
          </a:bodyPr>
          <a:lstStyle/>
          <a:p>
            <a:pPr algn="ctr">
              <a:buNone/>
            </a:pPr>
            <a:r>
              <a:rPr lang="en-US" sz="2000" b="1" i="0" dirty="0">
                <a:solidFill>
                  <a:srgbClr val="5C4826"/>
                </a:solidFill>
              </a:rPr>
              <a:t>OPERATING SYSTEM</a:t>
            </a:r>
          </a:p>
        </p:txBody>
      </p:sp>
      <p:sp>
        <p:nvSpPr>
          <p:cNvPr id="113" name="R113"/>
          <p:cNvSpPr/>
          <p:nvPr/>
        </p:nvSpPr>
        <p:spPr>
          <a:xfrm>
            <a:off x="4722000" y="37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14" name="RA0"/>
          <p:cNvCxnSpPr>
            <a:stCxn id="110" idx="2"/>
            <a:endCxn id="111" idx="0"/>
          </p:cNvCxnSpPr>
          <p:nvPr/>
        </p:nvCxnSpPr>
        <p:spPr>
          <a:xfrm>
            <a:off x="5797000" y="2100000"/>
            <a:ext cx="0" cy="190000"/>
          </a:xfrm>
          <a:prstGeom prst="line">
            <a:avLst/>
          </a:prstGeom>
          <a:ln w="53577">
            <a:solidFill>
              <a:srgbClr val="8E6F3E"/>
            </a:solidFill>
            <a:tailEnd type="triangle" w="med" len="med"/>
          </a:ln>
        </p:spPr>
      </p:cxnSp>
      <p:cxnSp>
        <p:nvCxnSpPr>
          <p:cNvPr id="115" name="RA1"/>
          <p:cNvCxnSpPr>
            <a:stCxn id="111" idx="2"/>
            <a:endCxn id="112" idx="0"/>
          </p:cNvCxnSpPr>
          <p:nvPr/>
        </p:nvCxnSpPr>
        <p:spPr>
          <a:xfrm>
            <a:off x="5797000" y="2850000"/>
            <a:ext cx="0" cy="190000"/>
          </a:xfrm>
          <a:prstGeom prst="line">
            <a:avLst/>
          </a:prstGeom>
          <a:ln w="53577">
            <a:solidFill>
              <a:srgbClr val="8E6F3E"/>
            </a:solidFill>
            <a:tailEnd type="triangle" w="med" len="med"/>
          </a:ln>
        </p:spPr>
      </p:cxnSp>
      <p:cxnSp>
        <p:nvCxnSpPr>
          <p:cNvPr id="116" name="RA2"/>
          <p:cNvCxnSpPr>
            <a:stCxn id="112" idx="2"/>
            <a:endCxn id="113" idx="0"/>
          </p:cNvCxnSpPr>
          <p:nvPr/>
        </p:nvCxnSpPr>
        <p:spPr>
          <a:xfrm>
            <a:off x="5797000" y="3600000"/>
            <a:ext cx="0" cy="190000"/>
          </a:xfrm>
          <a:prstGeom prst="line">
            <a:avLst/>
          </a:prstGeom>
          <a:ln w="53577">
            <a:solidFill>
              <a:srgbClr val="8E6F3E"/>
            </a:solidFill>
            <a:tailEnd type="triangle" w="med" len="med"/>
          </a:ln>
        </p:spPr>
      </p:cxnSp>
      <p:sp>
        <p:nvSpPr>
          <p:cNvPr id="120" name="VM"/>
          <p:cNvSpPr/>
          <p:nvPr/>
        </p:nvSpPr>
        <p:spPr>
          <a:xfrm>
            <a:off x="7072000" y="2650000"/>
            <a:ext cx="1386200" cy="700000"/>
          </a:xfrm>
          <a:prstGeom prst="rect">
            <a:avLst/>
          </a:prstGeom>
          <a:solidFill>
            <a:srgbClr val="FFFFFF"/>
          </a:solidFill>
          <a:ln w="15875">
            <a:solidFill>
              <a:srgbClr val="8E6F3E"/>
            </a:solidFill>
          </a:ln>
        </p:spPr>
        <p:txBody>
          <a:bodyPr wrap="square" lIns="27432" tIns="27432" rIns="27432" bIns="27432" anchor="ctr">
            <a:normAutofit lnSpcReduction="10000"/>
          </a:bodyPr>
          <a:lstStyle/>
          <a:p>
            <a:pPr algn="ctr">
              <a:buNone/>
            </a:pPr>
            <a:r>
              <a:rPr lang="en-US" sz="2000" b="1" i="0" dirty="0">
                <a:solidFill>
                  <a:srgbClr val="5C4826"/>
                </a:solidFill>
              </a:rPr>
              <a:t>VIRTUAL</a:t>
            </a:r>
          </a:p>
          <a:p>
            <a:pPr algn="ctr">
              <a:spcBef>
                <a:spcPts val="400"/>
              </a:spcBef>
              <a:buNone/>
            </a:pPr>
            <a:r>
              <a:rPr lang="en-US" sz="2000" b="1" i="0" dirty="0">
                <a:solidFill>
                  <a:srgbClr val="5C4826"/>
                </a:solidFill>
              </a:rPr>
              <a:t>MEMORY</a:t>
            </a:r>
          </a:p>
        </p:txBody>
      </p:sp>
      <p:cxnSp>
        <p:nvCxnSpPr>
          <p:cNvPr id="121" name="Mmap"/>
          <p:cNvCxnSpPr>
            <a:stCxn id="110" idx="3"/>
            <a:endCxn id="120" idx="0"/>
          </p:cNvCxnSpPr>
          <p:nvPr/>
        </p:nvCxnSpPr>
        <p:spPr>
          <a:xfrm>
            <a:off x="6872000" y="1820000"/>
            <a:ext cx="893100" cy="830000"/>
          </a:xfrm>
          <a:prstGeom prst="bentConnector2">
            <a:avLst/>
          </a:prstGeom>
          <a:ln w="53577">
            <a:solidFill>
              <a:srgbClr val="8E6F3E"/>
            </a:solidFill>
            <a:prstDash val="dash"/>
            <a:tailEnd type="triangle" w="med" len="med"/>
          </a:ln>
        </p:spPr>
      </p:cxnSp>
      <p:sp>
        <p:nvSpPr>
          <p:cNvPr id="122" name="MmapLbl"/>
          <p:cNvSpPr txBox="1"/>
          <p:nvPr/>
        </p:nvSpPr>
        <p:spPr>
          <a:xfrm>
            <a:off x="6950000" y="1500000"/>
            <a:ext cx="1000000" cy="300000"/>
          </a:xfrm>
          <a:prstGeom prst="rect">
            <a:avLst/>
          </a:prstGeom>
          <a:noFill/>
          <a:ln>
            <a:noFill/>
          </a:ln>
        </p:spPr>
        <p:txBody>
          <a:bodyPr wrap="square" lIns="0" tIns="0" rIns="0" bIns="0" anchor="t">
            <a:normAutofit lnSpcReduction="10000"/>
          </a:bodyPr>
          <a:lstStyle/>
          <a:p>
            <a:pPr algn="ctr">
              <a:buNone/>
            </a:pPr>
            <a:r>
              <a:rPr lang="en-US" sz="2000" b="1" i="1" dirty="0">
                <a:solidFill>
                  <a:srgbClr val="8E6F3E"/>
                </a:solidFill>
              </a:rPr>
              <a:t>mmap</a:t>
            </a:r>
          </a:p>
        </p:txBody>
      </p:sp>
      <p:cxnSp>
        <p:nvCxnSpPr>
          <p:cNvPr id="123" name="Pf"/>
          <p:cNvCxnSpPr>
            <a:stCxn id="113" idx="3"/>
            <a:endCxn id="120" idx="2"/>
          </p:cNvCxnSpPr>
          <p:nvPr/>
        </p:nvCxnSpPr>
        <p:spPr>
          <a:xfrm flipV="1">
            <a:off x="6872000" y="3350000"/>
            <a:ext cx="893100" cy="720000"/>
          </a:xfrm>
          <a:prstGeom prst="bentConnector2">
            <a:avLst/>
          </a:prstGeom>
          <a:ln w="53577">
            <a:solidFill>
              <a:srgbClr val="8E6F3E"/>
            </a:solidFill>
            <a:prstDash val="dash"/>
            <a:headEnd type="triangle" w="med" len="med"/>
          </a:ln>
        </p:spPr>
      </p:cxnSp>
      <p:sp>
        <p:nvSpPr>
          <p:cNvPr id="124" name="PfLbl"/>
          <p:cNvSpPr txBox="1"/>
          <p:nvPr/>
        </p:nvSpPr>
        <p:spPr>
          <a:xfrm>
            <a:off x="6950000" y="4180000"/>
            <a:ext cx="15000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page faults</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555960"/>
                </a:solidFill>
              </a:rPr>
              <a:t>mmap wires files into virtual memory</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isolation, replaceability, local reasoning</a:t>
            </a:r>
          </a:p>
          <a:p>
            <a:pPr algn="l">
              <a:spcBef>
                <a:spcPts val="600"/>
              </a:spcBef>
              <a:buNone/>
            </a:pPr>
            <a:r>
              <a:rPr lang="en-US" sz="2000" b="1" i="0" dirty="0">
                <a:solidFill>
                  <a:srgbClr val="555960"/>
                </a:solidFill>
              </a:rPr>
              <a:t>costs — </a:t>
            </a:r>
            <a:r>
              <a:rPr lang="en-US" sz="2000" b="0" i="0" dirty="0">
                <a:solidFill>
                  <a:srgbClr val="000000"/>
                </a:solidFill>
              </a:rPr>
              <a:t>indirection; may block cross-layer mechanisms</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capability the clean abstraction cannot offer</a:t>
            </a:r>
          </a:p>
          <a:p>
            <a:pPr algn="l">
              <a:spcBef>
                <a:spcPts val="600"/>
              </a:spcBef>
              <a:buNone/>
            </a:pPr>
            <a:r>
              <a:rPr lang="en-US" sz="2000" b="1" i="0" dirty="0">
                <a:solidFill>
                  <a:srgbClr val="555960"/>
                </a:solidFill>
              </a:rPr>
              <a:t>costs — </a:t>
            </a:r>
            <a:r>
              <a:rPr lang="en-US" sz="2000" b="0" i="0" dirty="0">
                <a:solidFill>
                  <a:srgbClr val="000000"/>
                </a:solidFill>
              </a:rPr>
              <a:t>stronger coupling across layers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fontScale="85000" lnSpcReduction="20000"/>
          </a:bodyPr>
          <a:lstStyle/>
          <a:p>
            <a:pPr algn="r">
              <a:buNone/>
            </a:pPr>
            <a:r>
              <a:rPr lang="en-US" sz="2000" b="0" i="0" dirty="0">
                <a:solidFill>
                  <a:srgbClr val="5C4826"/>
                </a:solidFill>
              </a:rPr>
              <a:t>isolation and changeability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cross-layer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400"/>
                                        <p:tgtEl>
                                          <p:spTgt spid="102"/>
                                        </p:tgtEl>
                                      </p:cBhvr>
                                    </p:animEffect>
                                  </p:childTnLst>
                                </p:cTn>
                              </p:par>
                              <p:par>
                                <p:cTn id="17" presetID="10" presetClass="entr" presetSubtype="0" fill="hold"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400"/>
                                        <p:tgtEl>
                                          <p:spTgt spid="103"/>
                                        </p:tgtEl>
                                      </p:cBhvr>
                                    </p:animEffect>
                                  </p:childTnLst>
                                </p:cTn>
                              </p:par>
                              <p:par>
                                <p:cTn id="20" presetID="10" presetClass="entr" presetSubtype="0" fill="hold" nodeType="with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400"/>
                                        <p:tgtEl>
                                          <p:spTgt spid="104"/>
                                        </p:tgtEl>
                                      </p:cBhvr>
                                    </p:animEffect>
                                  </p:childTnLst>
                                </p:cTn>
                              </p:par>
                              <p:par>
                                <p:cTn id="23" presetID="10" presetClass="entr" presetSubtype="0" fill="hold" nodeType="withEffect">
                                  <p:stCondLst>
                                    <p:cond delay="0"/>
                                  </p:stCondLst>
                                  <p:childTnLst>
                                    <p:set>
                                      <p:cBhvr>
                                        <p:cTn id="24" dur="1" fill="hold">
                                          <p:stCondLst>
                                            <p:cond delay="0"/>
                                          </p:stCondLst>
                                        </p:cTn>
                                        <p:tgtEl>
                                          <p:spTgt spid="105"/>
                                        </p:tgtEl>
                                        <p:attrNameLst>
                                          <p:attrName>style.visibility</p:attrName>
                                        </p:attrNameLst>
                                      </p:cBhvr>
                                      <p:to>
                                        <p:strVal val="visible"/>
                                      </p:to>
                                    </p:set>
                                    <p:animEffect transition="in" filter="fade">
                                      <p:cBhvr>
                                        <p:cTn id="25" dur="400"/>
                                        <p:tgtEl>
                                          <p:spTgt spid="105"/>
                                        </p:tgtEl>
                                      </p:cBhvr>
                                    </p:animEffect>
                                  </p:childTnLst>
                                </p:cTn>
                              </p:par>
                              <p:par>
                                <p:cTn id="26"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0" dur="1" fill="hold">
                                          <p:stCondLst>
                                            <p:cond delay="0"/>
                                          </p:stCondLst>
                                        </p:cTn>
                                        <p:tgtEl>
                                          <p:spTgt spid="92"/>
                                        </p:tgtEl>
                                        <p:attrNameLst>
                                          <p:attrName>style.visibility</p:attrName>
                                        </p:attrNameLst>
                                      </p:cBhvr>
                                      <p:to>
                                        <p:strVal val="visible"/>
                                      </p:to>
                                    </p:set>
                                    <p:animEffect transition="in" filter="fade">
                                      <p:cBhvr>
                                        <p:cTn id="31" dur="400"/>
                                        <p:tgtEl>
                                          <p:spTgt spid="9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3"/>
                                        </p:tgtEl>
                                        <p:attrNameLst>
                                          <p:attrName>style.visibility</p:attrName>
                                        </p:attrNameLst>
                                      </p:cBhvr>
                                      <p:to>
                                        <p:strVal val="visible"/>
                                      </p:to>
                                    </p:set>
                                    <p:animEffect transition="in" filter="fade">
                                      <p:cBhvr>
                                        <p:cTn id="36" dur="400"/>
                                        <p:tgtEl>
                                          <p:spTgt spid="93"/>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par>
                                <p:cTn id="46" presetID="10" presetClass="entr" presetSubtype="0" fill="hold" nodeType="withEffect">
                                  <p:stCondLst>
                                    <p:cond delay="0"/>
                                  </p:stCondLst>
                                  <p:childTnLst>
                                    <p:set>
                                      <p:cBhvr>
                                        <p:cTn id="47" dur="1" fill="hold">
                                          <p:stCondLst>
                                            <p:cond delay="0"/>
                                          </p:stCondLst>
                                        </p:cTn>
                                        <p:tgtEl>
                                          <p:spTgt spid="113"/>
                                        </p:tgtEl>
                                        <p:attrNameLst>
                                          <p:attrName>style.visibility</p:attrName>
                                        </p:attrNameLst>
                                      </p:cBhvr>
                                      <p:to>
                                        <p:strVal val="visible"/>
                                      </p:to>
                                    </p:set>
                                    <p:animEffect transition="in" filter="fade">
                                      <p:cBhvr>
                                        <p:cTn id="48" dur="400"/>
                                        <p:tgtEl>
                                          <p:spTgt spid="113"/>
                                        </p:tgtEl>
                                      </p:cBhvr>
                                    </p:animEffect>
                                  </p:childTnLst>
                                </p:cTn>
                              </p:par>
                              <p:par>
                                <p:cTn id="49" presetID="10" presetClass="entr" presetSubtype="0" fill="hold" nodeType="withEffect">
                                  <p:stCondLst>
                                    <p:cond delay="0"/>
                                  </p:stCondLst>
                                  <p:childTnLst>
                                    <p:set>
                                      <p:cBhvr>
                                        <p:cTn id="50" dur="1" fill="hold">
                                          <p:stCondLst>
                                            <p:cond delay="0"/>
                                          </p:stCondLst>
                                        </p:cTn>
                                        <p:tgtEl>
                                          <p:spTgt spid="114"/>
                                        </p:tgtEl>
                                        <p:attrNameLst>
                                          <p:attrName>style.visibility</p:attrName>
                                        </p:attrNameLst>
                                      </p:cBhvr>
                                      <p:to>
                                        <p:strVal val="visible"/>
                                      </p:to>
                                    </p:set>
                                    <p:animEffect transition="in" filter="fade">
                                      <p:cBhvr>
                                        <p:cTn id="51" dur="400"/>
                                        <p:tgtEl>
                                          <p:spTgt spid="114"/>
                                        </p:tgtEl>
                                      </p:cBhvr>
                                    </p:animEffect>
                                  </p:childTnLst>
                                </p:cTn>
                              </p:par>
                              <p:par>
                                <p:cTn id="52" presetID="10" presetClass="entr" presetSubtype="0" fill="hold" nodeType="withEffect">
                                  <p:stCondLst>
                                    <p:cond delay="0"/>
                                  </p:stCondLst>
                                  <p:childTnLst>
                                    <p:set>
                                      <p:cBhvr>
                                        <p:cTn id="53" dur="1" fill="hold">
                                          <p:stCondLst>
                                            <p:cond delay="0"/>
                                          </p:stCondLst>
                                        </p:cTn>
                                        <p:tgtEl>
                                          <p:spTgt spid="115"/>
                                        </p:tgtEl>
                                        <p:attrNameLst>
                                          <p:attrName>style.visibility</p:attrName>
                                        </p:attrNameLst>
                                      </p:cBhvr>
                                      <p:to>
                                        <p:strVal val="visible"/>
                                      </p:to>
                                    </p:set>
                                    <p:animEffect transition="in" filter="fade">
                                      <p:cBhvr>
                                        <p:cTn id="54" dur="400"/>
                                        <p:tgtEl>
                                          <p:spTgt spid="115"/>
                                        </p:tgtEl>
                                      </p:cBhvr>
                                    </p:animEffect>
                                  </p:childTnLst>
                                </p:cTn>
                              </p:par>
                              <p:par>
                                <p:cTn id="55" presetID="10" presetClass="entr" presetSubtype="0" fill="hold" nodeType="withEffect">
                                  <p:stCondLst>
                                    <p:cond delay="0"/>
                                  </p:stCondLst>
                                  <p:childTnLst>
                                    <p:set>
                                      <p:cBhvr>
                                        <p:cTn id="56" dur="1" fill="hold">
                                          <p:stCondLst>
                                            <p:cond delay="0"/>
                                          </p:stCondLst>
                                        </p:cTn>
                                        <p:tgtEl>
                                          <p:spTgt spid="116"/>
                                        </p:tgtEl>
                                        <p:attrNameLst>
                                          <p:attrName>style.visibility</p:attrName>
                                        </p:attrNameLst>
                                      </p:cBhvr>
                                      <p:to>
                                        <p:strVal val="visible"/>
                                      </p:to>
                                    </p:set>
                                    <p:animEffect transition="in" filter="fade">
                                      <p:cBhvr>
                                        <p:cTn id="57" dur="400"/>
                                        <p:tgtEl>
                                          <p:spTgt spid="11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20"/>
                                        </p:tgtEl>
                                        <p:attrNameLst>
                                          <p:attrName>style.visibility</p:attrName>
                                        </p:attrNameLst>
                                      </p:cBhvr>
                                      <p:to>
                                        <p:strVal val="visible"/>
                                      </p:to>
                                    </p:set>
                                    <p:animEffect transition="in" filter="fade">
                                      <p:cBhvr>
                                        <p:cTn id="62" dur="400"/>
                                        <p:tgtEl>
                                          <p:spTgt spid="120"/>
                                        </p:tgtEl>
                                      </p:cBhvr>
                                    </p:animEffect>
                                  </p:childTnLst>
                                </p:cTn>
                              </p:par>
                              <p:par>
                                <p:cTn id="63" presetID="10" presetClass="entr" presetSubtype="0" fill="hold" nodeType="withEffect">
                                  <p:stCondLst>
                                    <p:cond delay="0"/>
                                  </p:stCondLst>
                                  <p:childTnLst>
                                    <p:set>
                                      <p:cBhvr>
                                        <p:cTn id="64" dur="1" fill="hold">
                                          <p:stCondLst>
                                            <p:cond delay="0"/>
                                          </p:stCondLst>
                                        </p:cTn>
                                        <p:tgtEl>
                                          <p:spTgt spid="121"/>
                                        </p:tgtEl>
                                        <p:attrNameLst>
                                          <p:attrName>style.visibility</p:attrName>
                                        </p:attrNameLst>
                                      </p:cBhvr>
                                      <p:to>
                                        <p:strVal val="visible"/>
                                      </p:to>
                                    </p:set>
                                    <p:animEffect transition="in" filter="fade">
                                      <p:cBhvr>
                                        <p:cTn id="65" dur="400"/>
                                        <p:tgtEl>
                                          <p:spTgt spid="121"/>
                                        </p:tgtEl>
                                      </p:cBhvr>
                                    </p:animEffect>
                                  </p:childTnLst>
                                </p:cTn>
                              </p:par>
                              <p:par>
                                <p:cTn id="66" presetID="10" presetClass="entr" presetSubtype="0" fill="hold" nodeType="withEffect">
                                  <p:stCondLst>
                                    <p:cond delay="0"/>
                                  </p:stCondLst>
                                  <p:childTnLst>
                                    <p:set>
                                      <p:cBhvr>
                                        <p:cTn id="67" dur="1" fill="hold">
                                          <p:stCondLst>
                                            <p:cond delay="0"/>
                                          </p:stCondLst>
                                        </p:cTn>
                                        <p:tgtEl>
                                          <p:spTgt spid="122"/>
                                        </p:tgtEl>
                                        <p:attrNameLst>
                                          <p:attrName>style.visibility</p:attrName>
                                        </p:attrNameLst>
                                      </p:cBhvr>
                                      <p:to>
                                        <p:strVal val="visible"/>
                                      </p:to>
                                    </p:set>
                                    <p:animEffect transition="in" filter="fade">
                                      <p:cBhvr>
                                        <p:cTn id="68" dur="400"/>
                                        <p:tgtEl>
                                          <p:spTgt spid="122"/>
                                        </p:tgtEl>
                                      </p:cBhvr>
                                    </p:animEffect>
                                  </p:childTnLst>
                                </p:cTn>
                              </p:par>
                              <p:par>
                                <p:cTn id="69" presetID="10" presetClass="entr" presetSubtype="0" fill="hold" nodeType="withEffect">
                                  <p:stCondLst>
                                    <p:cond delay="0"/>
                                  </p:stCondLst>
                                  <p:childTnLst>
                                    <p:set>
                                      <p:cBhvr>
                                        <p:cTn id="70" dur="1" fill="hold">
                                          <p:stCondLst>
                                            <p:cond delay="0"/>
                                          </p:stCondLst>
                                        </p:cTn>
                                        <p:tgtEl>
                                          <p:spTgt spid="123"/>
                                        </p:tgtEl>
                                        <p:attrNameLst>
                                          <p:attrName>style.visibility</p:attrName>
                                        </p:attrNameLst>
                                      </p:cBhvr>
                                      <p:to>
                                        <p:strVal val="visible"/>
                                      </p:to>
                                    </p:set>
                                    <p:animEffect transition="in" filter="fade">
                                      <p:cBhvr>
                                        <p:cTn id="71" dur="400"/>
                                        <p:tgtEl>
                                          <p:spTgt spid="123"/>
                                        </p:tgtEl>
                                      </p:cBhvr>
                                    </p:animEffect>
                                  </p:childTnLst>
                                </p:cTn>
                              </p:par>
                              <p:par>
                                <p:cTn id="72" presetID="10" presetClass="entr" presetSubtype="0" fill="hold" nodeType="withEffect">
                                  <p:stCondLst>
                                    <p:cond delay="0"/>
                                  </p:stCondLst>
                                  <p:childTnLst>
                                    <p:set>
                                      <p:cBhvr>
                                        <p:cTn id="73" dur="1" fill="hold">
                                          <p:stCondLst>
                                            <p:cond delay="0"/>
                                          </p:stCondLst>
                                        </p:cTn>
                                        <p:tgtEl>
                                          <p:spTgt spid="124"/>
                                        </p:tgtEl>
                                        <p:attrNameLst>
                                          <p:attrName>style.visibility</p:attrName>
                                        </p:attrNameLst>
                                      </p:cBhvr>
                                      <p:to>
                                        <p:strVal val="visible"/>
                                      </p:to>
                                    </p:set>
                                    <p:animEffect transition="in" filter="fade">
                                      <p:cBhvr>
                                        <p:cTn id="74" dur="400"/>
                                        <p:tgtEl>
                                          <p:spTgt spid="124"/>
                                        </p:tgtEl>
                                      </p:cBhvr>
                                    </p:animEffect>
                                  </p:childTnLst>
                                </p:cTn>
                              </p:par>
                              <p:par>
                                <p:cTn id="75" presetID="10" presetClass="entr" presetSubtype="0" fill="hold" nodeType="withEffect">
                                  <p:stCondLst>
                                    <p:cond delay="0"/>
                                  </p:stCondLst>
                                  <p:childTnLst>
                                    <p:set>
                                      <p:cBhvr>
                                        <p:cTn id="76" dur="1" fill="hold">
                                          <p:stCondLst>
                                            <p:cond delay="0"/>
                                          </p:stCondLst>
                                        </p:cTn>
                                        <p:tgtEl>
                                          <p:spTgt spid="94"/>
                                        </p:tgtEl>
                                        <p:attrNameLst>
                                          <p:attrName>style.visibility</p:attrName>
                                        </p:attrNameLst>
                                      </p:cBhvr>
                                      <p:to>
                                        <p:strVal val="visible"/>
                                      </p:to>
                                    </p:set>
                                    <p:animEffect transition="in" filter="fade">
                                      <p:cBhvr>
                                        <p:cTn id="77" dur="400"/>
                                        <p:tgtEl>
                                          <p:spTgt spid="94"/>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95"/>
                                        </p:tgtEl>
                                        <p:attrNameLst>
                                          <p:attrName>style.visibility</p:attrName>
                                        </p:attrNameLst>
                                      </p:cBhvr>
                                      <p:to>
                                        <p:strVal val="visible"/>
                                      </p:to>
                                    </p:set>
                                    <p:animEffect transition="in" filter="fade">
                                      <p:cBhvr>
                                        <p:cTn id="82" dur="400"/>
                                        <p:tgtEl>
                                          <p:spTgt spid="95"/>
                                        </p:tgtEl>
                                      </p:cBhvr>
                                    </p:animEffect>
                                  </p:childTnLst>
                                </p:cTn>
                              </p:par>
                              <p:par>
                                <p:cTn id="83" presetID="10" presetClass="entr" presetSubtype="0" fill="hold" nodeType="withEffect">
                                  <p:stCondLst>
                                    <p:cond delay="0"/>
                                  </p:stCondLst>
                                  <p:childTnLst>
                                    <p:set>
                                      <p:cBhvr>
                                        <p:cTn id="84" dur="1" fill="hold">
                                          <p:stCondLst>
                                            <p:cond delay="0"/>
                                          </p:stCondLst>
                                        </p:cTn>
                                        <p:tgtEl>
                                          <p:spTgt spid="96"/>
                                        </p:tgtEl>
                                        <p:attrNameLst>
                                          <p:attrName>style.visibility</p:attrName>
                                        </p:attrNameLst>
                                      </p:cBhvr>
                                      <p:to>
                                        <p:strVal val="visible"/>
                                      </p:to>
                                    </p:set>
                                    <p:animEffect transition="in" filter="fade">
                                      <p:cBhvr>
                                        <p:cTn id="85" dur="400"/>
                                        <p:tgtEl>
                                          <p:spTgt spid="96"/>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nodeType="clickEffect">
                                  <p:stCondLst>
                                    <p:cond delay="0"/>
                                  </p:stCondLst>
                                  <p:childTnLst>
                                    <p:set>
                                      <p:cBhvr>
                                        <p:cTn id="89" dur="1" fill="hold">
                                          <p:stCondLst>
                                            <p:cond delay="0"/>
                                          </p:stCondLst>
                                        </p:cTn>
                                        <p:tgtEl>
                                          <p:spTgt spid="97"/>
                                        </p:tgtEl>
                                        <p:attrNameLst>
                                          <p:attrName>style.visibility</p:attrName>
                                        </p:attrNameLst>
                                      </p:cBhvr>
                                      <p:to>
                                        <p:strVal val="visible"/>
                                      </p:to>
                                    </p:set>
                                    <p:animEffect transition="in" filter="fade">
                                      <p:cBhvr>
                                        <p:cTn id="90" dur="400"/>
                                        <p:tgtEl>
                                          <p:spTgt spid="97"/>
                                        </p:tgtEl>
                                      </p:cBhvr>
                                    </p:animEffect>
                                  </p:childTnLst>
                                </p:cTn>
                              </p:par>
                              <p:par>
                                <p:cTn id="91" presetID="10" presetClass="entr" presetSubtype="0" fill="hold" nodeType="withEffect">
                                  <p:stCondLst>
                                    <p:cond delay="0"/>
                                  </p:stCondLst>
                                  <p:childTnLst>
                                    <p:set>
                                      <p:cBhvr>
                                        <p:cTn id="92" dur="1" fill="hold">
                                          <p:stCondLst>
                                            <p:cond delay="0"/>
                                          </p:stCondLst>
                                        </p:cTn>
                                        <p:tgtEl>
                                          <p:spTgt spid="98"/>
                                        </p:tgtEl>
                                        <p:attrNameLst>
                                          <p:attrName>style.visibility</p:attrName>
                                        </p:attrNameLst>
                                      </p:cBhvr>
                                      <p:to>
                                        <p:strVal val="visible"/>
                                      </p:to>
                                    </p:set>
                                    <p:animEffect transition="in" filter="fade">
                                      <p:cBhvr>
                                        <p:cTn id="93" dur="400"/>
                                        <p:tgtEl>
                                          <p:spTgt spid="98"/>
                                        </p:tgtEl>
                                      </p:cBhvr>
                                    </p:animEffect>
                                  </p:childTnLst>
                                </p:cTn>
                              </p:par>
                              <p:par>
                                <p:cTn id="94" presetID="10" presetClass="entr" presetSubtype="0" fill="hold" nodeType="withEffect">
                                  <p:stCondLst>
                                    <p:cond delay="0"/>
                                  </p:stCondLst>
                                  <p:childTnLst>
                                    <p:set>
                                      <p:cBhvr>
                                        <p:cTn id="95" dur="1" fill="hold">
                                          <p:stCondLst>
                                            <p:cond delay="0"/>
                                          </p:stCondLst>
                                        </p:cTn>
                                        <p:tgtEl>
                                          <p:spTgt spid="99"/>
                                        </p:tgtEl>
                                        <p:attrNameLst>
                                          <p:attrName>style.visibility</p:attrName>
                                        </p:attrNameLst>
                                      </p:cBhvr>
                                      <p:to>
                                        <p:strVal val="visible"/>
                                      </p:to>
                                    </p:set>
                                    <p:animEffect transition="in" filter="fade">
                                      <p:cBhvr>
                                        <p:cTn id="96" dur="400"/>
                                        <p:tgtEl>
                                          <p:spTgt spid="99"/>
                                        </p:tgtEl>
                                      </p:cBhvr>
                                    </p:animEffect>
                                  </p:childTnLst>
                                </p:cTn>
                              </p:par>
                              <p:par>
                                <p:cTn id="97" presetID="10" presetClass="entr" presetSubtype="0" fill="hold" nodeType="withEffect">
                                  <p:stCondLst>
                                    <p:cond delay="0"/>
                                  </p:stCondLst>
                                  <p:childTnLst>
                                    <p:set>
                                      <p:cBhvr>
                                        <p:cTn id="98" dur="1" fill="hold">
                                          <p:stCondLst>
                                            <p:cond delay="0"/>
                                          </p:stCondLst>
                                        </p:cTn>
                                        <p:tgtEl>
                                          <p:spTgt spid="125"/>
                                        </p:tgtEl>
                                        <p:attrNameLst>
                                          <p:attrName>style.visibility</p:attrName>
                                        </p:attrNameLst>
                                      </p:cBhvr>
                                      <p:to>
                                        <p:strVal val="visible"/>
                                      </p:to>
                                    </p:set>
                                    <p:animEffect transition="in" filter="fade">
                                      <p:cBhvr>
                                        <p:cTn id="99"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866852" cy="638175"/>
          </a:xfrm>
        </p:spPr>
        <p:txBody>
          <a:bodyPr>
            <a:normAutofit fontScale="90000"/>
          </a:bodyPr>
          <a:lstStyle/>
          <a:p>
            <a:pPr algn="l">
              <a:buNone/>
              <a:defRPr b="0"/>
            </a:pPr>
            <a:r>
              <a:rPr lang="en-US" sz="2800" b="0" i="0" dirty="0">
                <a:solidFill>
                  <a:srgbClr val="000000"/>
                </a:solidFill>
              </a:rPr>
              <a:t>How should processing and shared state be organized?</a:t>
            </a:r>
          </a:p>
        </p:txBody>
      </p:sp>
      <p:sp>
        <p:nvSpPr>
          <p:cNvPr id="3" name="Slide Number Placeholder 2"/>
          <p:cNvSpPr>
            <a:spLocks noGrp="1"/>
          </p:cNvSpPr>
          <p:nvPr>
            <p:ph type="sldNum" sz="quarter" idx="4"/>
          </p:nvPr>
        </p:nvSpPr>
        <p:spPr/>
        <p:txBody>
          <a:bodyPr/>
          <a:lstStyle/>
          <a:p>
            <a:fld id="{B7EB45DA-9A0D-DC49-8E02-F30A5DDC21C3}" type="slidenum">
              <a:rPr lang="en-US" smtClean="0"/>
              <a:t>16</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Pipeline vs. repository: same computations, different organization of state</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PIPELINE</a:t>
            </a:r>
          </a:p>
        </p:txBody>
      </p:sp>
      <p:sp>
        <p:nvSpPr>
          <p:cNvPr id="100" name="P100"/>
          <p:cNvSpPr/>
          <p:nvPr/>
        </p:nvSpPr>
        <p:spPr>
          <a:xfrm>
            <a:off x="1288000" y="14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INPUT</a:t>
            </a:r>
          </a:p>
        </p:txBody>
      </p:sp>
      <p:sp>
        <p:nvSpPr>
          <p:cNvPr id="101" name="P101"/>
          <p:cNvSpPr/>
          <p:nvPr/>
        </p:nvSpPr>
        <p:spPr>
          <a:xfrm>
            <a:off x="1288000" y="22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02" name="P102"/>
          <p:cNvSpPr/>
          <p:nvPr/>
        </p:nvSpPr>
        <p:spPr>
          <a:xfrm>
            <a:off x="1288000" y="30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03" name="P103"/>
          <p:cNvSpPr/>
          <p:nvPr/>
        </p:nvSpPr>
        <p:spPr>
          <a:xfrm>
            <a:off x="1288000" y="38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REPORT</a:t>
            </a:r>
          </a:p>
        </p:txBody>
      </p:sp>
      <p:cxnSp>
        <p:nvCxnSpPr>
          <p:cNvPr id="104" name="PA0"/>
          <p:cNvCxnSpPr>
            <a:stCxn id="100" idx="2"/>
            <a:endCxn id="101" idx="0"/>
          </p:cNvCxnSpPr>
          <p:nvPr/>
        </p:nvCxnSpPr>
        <p:spPr>
          <a:xfrm>
            <a:off x="2553000" y="2070000"/>
            <a:ext cx="0" cy="200000"/>
          </a:xfrm>
          <a:prstGeom prst="line">
            <a:avLst/>
          </a:prstGeom>
          <a:ln w="53577">
            <a:solidFill>
              <a:srgbClr val="8E6F3E"/>
            </a:solidFill>
            <a:tailEnd type="triangle" w="med" len="med"/>
          </a:ln>
        </p:spPr>
      </p:cxnSp>
      <p:cxnSp>
        <p:nvCxnSpPr>
          <p:cNvPr id="105" name="PA1"/>
          <p:cNvCxnSpPr>
            <a:stCxn id="101" idx="2"/>
            <a:endCxn id="102" idx="0"/>
          </p:cNvCxnSpPr>
          <p:nvPr/>
        </p:nvCxnSpPr>
        <p:spPr>
          <a:xfrm>
            <a:off x="2553000" y="2870000"/>
            <a:ext cx="0" cy="200000"/>
          </a:xfrm>
          <a:prstGeom prst="line">
            <a:avLst/>
          </a:prstGeom>
          <a:ln w="53577">
            <a:solidFill>
              <a:srgbClr val="8E6F3E"/>
            </a:solidFill>
            <a:tailEnd type="triangle" w="med" len="med"/>
          </a:ln>
        </p:spPr>
      </p:cxnSp>
      <p:cxnSp>
        <p:nvCxnSpPr>
          <p:cNvPr id="106" name="PA2"/>
          <p:cNvCxnSpPr>
            <a:stCxn id="102" idx="2"/>
            <a:endCxn id="103" idx="0"/>
          </p:cNvCxnSpPr>
          <p:nvPr/>
        </p:nvCxnSpPr>
        <p:spPr>
          <a:xfrm>
            <a:off x="2553000" y="3670000"/>
            <a:ext cx="0" cy="200000"/>
          </a:xfrm>
          <a:prstGeom prst="line">
            <a:avLst/>
          </a:prstGeom>
          <a:ln w="53577">
            <a:solidFill>
              <a:srgbClr val="8E6F3E"/>
            </a:solidFill>
            <a:tailEnd type="triangle" w="med" len="med"/>
          </a:ln>
        </p:spPr>
      </p:cxnSp>
      <p:sp>
        <p:nvSpPr>
          <p:cNvPr id="92" name="CapL"/>
          <p:cNvSpPr txBox="1"/>
          <p:nvPr/>
        </p:nvSpPr>
        <p:spPr>
          <a:xfrm>
            <a:off x="685800" y="4560000"/>
            <a:ext cx="3736200" cy="280000"/>
          </a:xfrm>
          <a:prstGeom prst="rect">
            <a:avLst/>
          </a:prstGeom>
          <a:noFill/>
          <a:ln>
            <a:noFill/>
          </a:ln>
        </p:spPr>
        <p:txBody>
          <a:bodyPr wrap="square" lIns="0" tIns="0" rIns="0" bIns="0" anchor="t">
            <a:normAutofit lnSpcReduction="10000"/>
          </a:bodyPr>
          <a:lstStyle/>
          <a:p>
            <a:pPr algn="ctr">
              <a:buNone/>
            </a:pPr>
            <a:r>
              <a:rPr lang="en-US" sz="2000" b="0" i="1" dirty="0">
                <a:solidFill>
                  <a:srgbClr val="555960"/>
                </a:solidFill>
              </a:rPr>
              <a:t>state and results flow forward</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REPOSITORY</a:t>
            </a:r>
          </a:p>
        </p:txBody>
      </p:sp>
      <p:sp>
        <p:nvSpPr>
          <p:cNvPr id="110" name="Repo"/>
          <p:cNvSpPr/>
          <p:nvPr/>
        </p:nvSpPr>
        <p:spPr>
          <a:xfrm>
            <a:off x="5850000" y="2600000"/>
            <a:ext cx="1500000" cy="74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REPOSITORY</a:t>
            </a:r>
          </a:p>
        </p:txBody>
      </p:sp>
      <p:sp>
        <p:nvSpPr>
          <p:cNvPr id="111" name="RAna"/>
          <p:cNvSpPr/>
          <p:nvPr/>
        </p:nvSpPr>
        <p:spPr>
          <a:xfrm>
            <a:off x="5875000" y="1480000"/>
            <a:ext cx="1450000" cy="62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12" name="ROpt"/>
          <p:cNvSpPr/>
          <p:nvPr/>
        </p:nvSpPr>
        <p:spPr>
          <a:xfrm>
            <a:off x="5875000" y="3800000"/>
            <a:ext cx="1450000" cy="62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13" name="RInp"/>
          <p:cNvSpPr/>
          <p:nvPr/>
        </p:nvSpPr>
        <p:spPr>
          <a:xfrm>
            <a:off x="4640000" y="2620000"/>
            <a:ext cx="860000" cy="70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INPUT</a:t>
            </a:r>
          </a:p>
        </p:txBody>
      </p:sp>
      <p:sp>
        <p:nvSpPr>
          <p:cNvPr id="114" name="RRep"/>
          <p:cNvSpPr/>
          <p:nvPr/>
        </p:nvSpPr>
        <p:spPr>
          <a:xfrm>
            <a:off x="7750000" y="2620000"/>
            <a:ext cx="860000" cy="70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REPORT</a:t>
            </a:r>
          </a:p>
        </p:txBody>
      </p:sp>
      <p:cxnSp>
        <p:nvCxnSpPr>
          <p:cNvPr id="115" name="RcA"/>
          <p:cNvCxnSpPr>
            <a:stCxn id="111" idx="2"/>
            <a:endCxn id="110" idx="0"/>
          </p:cNvCxnSpPr>
          <p:nvPr/>
        </p:nvCxnSpPr>
        <p:spPr>
          <a:xfrm>
            <a:off x="6600000" y="2100000"/>
            <a:ext cx="0" cy="500000"/>
          </a:xfrm>
          <a:prstGeom prst="line">
            <a:avLst/>
          </a:prstGeom>
          <a:ln w="53577">
            <a:solidFill>
              <a:srgbClr val="8E6F3E"/>
            </a:solidFill>
            <a:headEnd type="triangle" w="med" len="med"/>
            <a:tailEnd type="triangle" w="med" len="med"/>
          </a:ln>
        </p:spPr>
      </p:cxnSp>
      <p:cxnSp>
        <p:nvCxnSpPr>
          <p:cNvPr id="116" name="RcO"/>
          <p:cNvCxnSpPr>
            <a:stCxn id="110" idx="2"/>
            <a:endCxn id="112" idx="0"/>
          </p:cNvCxnSpPr>
          <p:nvPr/>
        </p:nvCxnSpPr>
        <p:spPr>
          <a:xfrm>
            <a:off x="6600000" y="3340000"/>
            <a:ext cx="0" cy="460000"/>
          </a:xfrm>
          <a:prstGeom prst="line">
            <a:avLst/>
          </a:prstGeom>
          <a:ln w="53577">
            <a:solidFill>
              <a:srgbClr val="8E6F3E"/>
            </a:solidFill>
            <a:headEnd type="triangle" w="med" len="med"/>
            <a:tailEnd type="triangle" w="med" len="med"/>
          </a:ln>
        </p:spPr>
      </p:cxnSp>
      <p:cxnSp>
        <p:nvCxnSpPr>
          <p:cNvPr id="117" name="RcI"/>
          <p:cNvCxnSpPr>
            <a:stCxn id="113" idx="3"/>
            <a:endCxn id="110" idx="1"/>
          </p:cNvCxnSpPr>
          <p:nvPr/>
        </p:nvCxnSpPr>
        <p:spPr>
          <a:xfrm>
            <a:off x="5500000" y="2970000"/>
            <a:ext cx="350000" cy="0"/>
          </a:xfrm>
          <a:prstGeom prst="line">
            <a:avLst/>
          </a:prstGeom>
          <a:ln w="53577">
            <a:solidFill>
              <a:srgbClr val="8E6F3E"/>
            </a:solidFill>
            <a:tailEnd type="triangle" w="med" len="med"/>
          </a:ln>
        </p:spPr>
      </p:cxnSp>
      <p:cxnSp>
        <p:nvCxnSpPr>
          <p:cNvPr id="118" name="RcR"/>
          <p:cNvCxnSpPr>
            <a:stCxn id="110" idx="3"/>
            <a:endCxn id="114" idx="1"/>
          </p:cNvCxnSpPr>
          <p:nvPr/>
        </p:nvCxnSpPr>
        <p:spPr>
          <a:xfrm>
            <a:off x="7350000" y="2970000"/>
            <a:ext cx="400000" cy="0"/>
          </a:xfrm>
          <a:prstGeom prst="line">
            <a:avLst/>
          </a:prstGeom>
          <a:ln w="53577">
            <a:solidFill>
              <a:srgbClr val="8E6F3E"/>
            </a:solidFill>
            <a:headEnd type="triangle" w="med" len="med"/>
            <a:tailEnd type="triangle" w="med" len="med"/>
          </a:ln>
        </p:spPr>
      </p:cxnSp>
      <p:sp>
        <p:nvSpPr>
          <p:cNvPr id="94" name="CapR"/>
          <p:cNvSpPr txBox="1"/>
          <p:nvPr/>
        </p:nvSpPr>
        <p:spPr>
          <a:xfrm>
            <a:off x="4722000" y="4560000"/>
            <a:ext cx="3736200" cy="280000"/>
          </a:xfrm>
          <a:prstGeom prst="rect">
            <a:avLst/>
          </a:prstGeom>
          <a:noFill/>
          <a:ln>
            <a:noFill/>
          </a:ln>
        </p:spPr>
        <p:txBody>
          <a:bodyPr wrap="square" lIns="0" tIns="0" rIns="0" bIns="0" anchor="t">
            <a:normAutofit fontScale="70000" lnSpcReduction="20000"/>
          </a:bodyPr>
          <a:lstStyle/>
          <a:p>
            <a:pPr algn="ctr">
              <a:buNone/>
            </a:pPr>
            <a:r>
              <a:rPr lang="en-US" sz="2000" b="0" i="1" dirty="0">
                <a:solidFill>
                  <a:srgbClr val="555960"/>
                </a:solidFill>
              </a:rPr>
              <a:t>computations meet at one authoritative state</a:t>
            </a:r>
          </a:p>
        </p:txBody>
      </p:sp>
      <p:sp>
        <p:nvSpPr>
          <p:cNvPr id="95" name="BuysL"/>
          <p:cNvSpPr txBox="1"/>
          <p:nvPr/>
        </p:nvSpPr>
        <p:spPr>
          <a:xfrm>
            <a:off x="685800" y="4900000"/>
            <a:ext cx="3736200" cy="1100000"/>
          </a:xfrm>
          <a:prstGeom prst="rect">
            <a:avLst/>
          </a:prstGeom>
          <a:noFill/>
          <a:ln>
            <a:noFill/>
          </a:ln>
        </p:spPr>
        <p:txBody>
          <a:bodyPr wrap="square" lIns="0" tIns="0" rIns="0" bIns="0" anchor="t">
            <a:normAutofit fontScale="85000" lnSpcReduction="10000"/>
          </a:bodyPr>
          <a:lstStyle/>
          <a:p>
            <a:pPr algn="l">
              <a:buNone/>
            </a:pPr>
            <a:r>
              <a:rPr lang="en-US" sz="2000" b="1" i="0" dirty="0">
                <a:solidFill>
                  <a:srgbClr val="5C4826"/>
                </a:solidFill>
              </a:rPr>
              <a:t>buys — </a:t>
            </a:r>
            <a:r>
              <a:rPr lang="en-US" sz="2000" b="0" i="0" dirty="0">
                <a:solidFill>
                  <a:srgbClr val="000000"/>
                </a:solidFill>
              </a:rPr>
              <a:t>explicit flow, local stage dependencies, incremental processing</a:t>
            </a:r>
          </a:p>
          <a:p>
            <a:pPr algn="l">
              <a:spcBef>
                <a:spcPts val="600"/>
              </a:spcBef>
              <a:buNone/>
            </a:pPr>
            <a:r>
              <a:rPr lang="en-US" sz="2000" b="1" i="0" dirty="0">
                <a:solidFill>
                  <a:srgbClr val="555960"/>
                </a:solidFill>
              </a:rPr>
              <a:t>costs — </a:t>
            </a:r>
            <a:r>
              <a:rPr lang="en-US" sz="2000" b="0" i="0" dirty="0">
                <a:solidFill>
                  <a:srgbClr val="000000"/>
                </a:solidFill>
              </a:rPr>
              <a:t>shared state across stages is harder</a:t>
            </a:r>
          </a:p>
        </p:txBody>
      </p:sp>
      <p:sp>
        <p:nvSpPr>
          <p:cNvPr id="96" name="BuysR"/>
          <p:cNvSpPr txBox="1"/>
          <p:nvPr/>
        </p:nvSpPr>
        <p:spPr>
          <a:xfrm>
            <a:off x="4722000" y="4900000"/>
            <a:ext cx="3736200" cy="1100000"/>
          </a:xfrm>
          <a:prstGeom prst="rect">
            <a:avLst/>
          </a:prstGeom>
          <a:noFill/>
          <a:ln>
            <a:noFill/>
          </a:ln>
        </p:spPr>
        <p:txBody>
          <a:bodyPr wrap="square" lIns="0" tIns="0" rIns="0" bIns="0" anchor="t">
            <a:normAutofit fontScale="92500" lnSpcReduction="20000"/>
          </a:bodyPr>
          <a:lstStyle/>
          <a:p>
            <a:pPr algn="l">
              <a:buNone/>
            </a:pPr>
            <a:r>
              <a:rPr lang="en-US" sz="2000" b="1" i="0" dirty="0">
                <a:solidFill>
                  <a:srgbClr val="5C4826"/>
                </a:solidFill>
              </a:rPr>
              <a:t>buys — </a:t>
            </a:r>
            <a:r>
              <a:rPr lang="en-US" sz="2000" b="0" i="0" dirty="0">
                <a:solidFill>
                  <a:srgbClr val="000000"/>
                </a:solidFill>
              </a:rPr>
              <a:t>authoritative shared state, integration</a:t>
            </a:r>
          </a:p>
          <a:p>
            <a:pPr algn="l">
              <a:spcBef>
                <a:spcPts val="600"/>
              </a:spcBef>
              <a:buNone/>
            </a:pPr>
            <a:r>
              <a:rPr lang="en-US" sz="2000" b="1" i="0" dirty="0">
                <a:solidFill>
                  <a:srgbClr val="555960"/>
                </a:solidFill>
              </a:rPr>
              <a:t>costs — </a:t>
            </a:r>
            <a:r>
              <a:rPr lang="en-US" sz="2000" b="0" i="0" dirty="0">
                <a:solidFill>
                  <a:srgbClr val="000000"/>
                </a:solidFill>
              </a:rPr>
              <a:t>central schema coupling, shared fate</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fontScale="85000" lnSpcReduction="20000"/>
          </a:bodyPr>
          <a:lstStyle/>
          <a:p>
            <a:pPr algn="r">
              <a:buNone/>
            </a:pPr>
            <a:r>
              <a:rPr lang="en-US" sz="2000" b="0" i="0" dirty="0">
                <a:solidFill>
                  <a:srgbClr val="5C4826"/>
                </a:solidFill>
              </a:rPr>
              <a:t>local flow and independence</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fontScale="92500"/>
          </a:bodyPr>
          <a:lstStyle/>
          <a:p>
            <a:pPr algn="l">
              <a:buNone/>
            </a:pPr>
            <a:r>
              <a:rPr lang="en-US" sz="2000" b="0" i="0" dirty="0">
                <a:solidFill>
                  <a:srgbClr val="5C4826"/>
                </a:solidFill>
              </a:rPr>
              <a:t>shared consistency and integration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400"/>
                                        <p:tgtEl>
                                          <p:spTgt spid="102"/>
                                        </p:tgtEl>
                                      </p:cBhvr>
                                    </p:animEffect>
                                  </p:childTnLst>
                                </p:cTn>
                              </p:par>
                              <p:par>
                                <p:cTn id="17" presetID="10" presetClass="entr" presetSubtype="0" fill="hold"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400"/>
                                        <p:tgtEl>
                                          <p:spTgt spid="103"/>
                                        </p:tgtEl>
                                      </p:cBhvr>
                                    </p:animEffect>
                                  </p:childTnLst>
                                </p:cTn>
                              </p:par>
                              <p:par>
                                <p:cTn id="20" presetID="10" presetClass="entr" presetSubtype="0" fill="hold" nodeType="with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400"/>
                                        <p:tgtEl>
                                          <p:spTgt spid="104"/>
                                        </p:tgtEl>
                                      </p:cBhvr>
                                    </p:animEffect>
                                  </p:childTnLst>
                                </p:cTn>
                              </p:par>
                              <p:par>
                                <p:cTn id="23" presetID="10" presetClass="entr" presetSubtype="0" fill="hold" nodeType="withEffect">
                                  <p:stCondLst>
                                    <p:cond delay="0"/>
                                  </p:stCondLst>
                                  <p:childTnLst>
                                    <p:set>
                                      <p:cBhvr>
                                        <p:cTn id="24" dur="1" fill="hold">
                                          <p:stCondLst>
                                            <p:cond delay="0"/>
                                          </p:stCondLst>
                                        </p:cTn>
                                        <p:tgtEl>
                                          <p:spTgt spid="105"/>
                                        </p:tgtEl>
                                        <p:attrNameLst>
                                          <p:attrName>style.visibility</p:attrName>
                                        </p:attrNameLst>
                                      </p:cBhvr>
                                      <p:to>
                                        <p:strVal val="visible"/>
                                      </p:to>
                                    </p:set>
                                    <p:animEffect transition="in" filter="fade">
                                      <p:cBhvr>
                                        <p:cTn id="25" dur="400"/>
                                        <p:tgtEl>
                                          <p:spTgt spid="105"/>
                                        </p:tgtEl>
                                      </p:cBhvr>
                                    </p:animEffect>
                                  </p:childTnLst>
                                </p:cTn>
                              </p:par>
                              <p:par>
                                <p:cTn id="26"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0" dur="1" fill="hold">
                                          <p:stCondLst>
                                            <p:cond delay="0"/>
                                          </p:stCondLst>
                                        </p:cTn>
                                        <p:tgtEl>
                                          <p:spTgt spid="92"/>
                                        </p:tgtEl>
                                        <p:attrNameLst>
                                          <p:attrName>style.visibility</p:attrName>
                                        </p:attrNameLst>
                                      </p:cBhvr>
                                      <p:to>
                                        <p:strVal val="visible"/>
                                      </p:to>
                                    </p:set>
                                    <p:animEffect transition="in" filter="fade">
                                      <p:cBhvr>
                                        <p:cTn id="31" dur="400"/>
                                        <p:tgtEl>
                                          <p:spTgt spid="9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3"/>
                                        </p:tgtEl>
                                        <p:attrNameLst>
                                          <p:attrName>style.visibility</p:attrName>
                                        </p:attrNameLst>
                                      </p:cBhvr>
                                      <p:to>
                                        <p:strVal val="visible"/>
                                      </p:to>
                                    </p:set>
                                    <p:animEffect transition="in" filter="fade">
                                      <p:cBhvr>
                                        <p:cTn id="36" dur="400"/>
                                        <p:tgtEl>
                                          <p:spTgt spid="93"/>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11"/>
                                        </p:tgtEl>
                                        <p:attrNameLst>
                                          <p:attrName>style.visibility</p:attrName>
                                        </p:attrNameLst>
                                      </p:cBhvr>
                                      <p:to>
                                        <p:strVal val="visible"/>
                                      </p:to>
                                    </p:set>
                                    <p:animEffect transition="in" filter="fade">
                                      <p:cBhvr>
                                        <p:cTn id="44" dur="400"/>
                                        <p:tgtEl>
                                          <p:spTgt spid="111"/>
                                        </p:tgtEl>
                                      </p:cBhvr>
                                    </p:animEffect>
                                  </p:childTnLst>
                                </p:cTn>
                              </p:par>
                              <p:par>
                                <p:cTn id="45" presetID="10"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animEffect transition="in" filter="fade">
                                      <p:cBhvr>
                                        <p:cTn id="47" dur="400"/>
                                        <p:tgtEl>
                                          <p:spTgt spid="112"/>
                                        </p:tgtEl>
                                      </p:cBhvr>
                                    </p:animEffect>
                                  </p:childTnLst>
                                </p:cTn>
                              </p:par>
                              <p:par>
                                <p:cTn id="48" presetID="10" presetClass="entr" presetSubtype="0" fill="hold" nodeType="withEffect">
                                  <p:stCondLst>
                                    <p:cond delay="0"/>
                                  </p:stCondLst>
                                  <p:childTnLst>
                                    <p:set>
                                      <p:cBhvr>
                                        <p:cTn id="49" dur="1" fill="hold">
                                          <p:stCondLst>
                                            <p:cond delay="0"/>
                                          </p:stCondLst>
                                        </p:cTn>
                                        <p:tgtEl>
                                          <p:spTgt spid="113"/>
                                        </p:tgtEl>
                                        <p:attrNameLst>
                                          <p:attrName>style.visibility</p:attrName>
                                        </p:attrNameLst>
                                      </p:cBhvr>
                                      <p:to>
                                        <p:strVal val="visible"/>
                                      </p:to>
                                    </p:set>
                                    <p:animEffect transition="in" filter="fade">
                                      <p:cBhvr>
                                        <p:cTn id="50" dur="400"/>
                                        <p:tgtEl>
                                          <p:spTgt spid="113"/>
                                        </p:tgtEl>
                                      </p:cBhvr>
                                    </p:animEffect>
                                  </p:childTnLst>
                                </p:cTn>
                              </p:par>
                              <p:par>
                                <p:cTn id="51" presetID="10" presetClass="entr" presetSubtype="0" fill="hold" nodeType="withEffect">
                                  <p:stCondLst>
                                    <p:cond delay="0"/>
                                  </p:stCondLst>
                                  <p:childTnLst>
                                    <p:set>
                                      <p:cBhvr>
                                        <p:cTn id="52" dur="1" fill="hold">
                                          <p:stCondLst>
                                            <p:cond delay="0"/>
                                          </p:stCondLst>
                                        </p:cTn>
                                        <p:tgtEl>
                                          <p:spTgt spid="114"/>
                                        </p:tgtEl>
                                        <p:attrNameLst>
                                          <p:attrName>style.visibility</p:attrName>
                                        </p:attrNameLst>
                                      </p:cBhvr>
                                      <p:to>
                                        <p:strVal val="visible"/>
                                      </p:to>
                                    </p:set>
                                    <p:animEffect transition="in" filter="fade">
                                      <p:cBhvr>
                                        <p:cTn id="53" dur="400"/>
                                        <p:tgtEl>
                                          <p:spTgt spid="114"/>
                                        </p:tgtEl>
                                      </p:cBhvr>
                                    </p:animEffect>
                                  </p:childTnLst>
                                </p:cTn>
                              </p:par>
                              <p:par>
                                <p:cTn id="54" presetID="10" presetClass="entr" presetSubtype="0" fill="hold" nodeType="withEffect">
                                  <p:stCondLst>
                                    <p:cond delay="0"/>
                                  </p:stCondLst>
                                  <p:childTnLst>
                                    <p:set>
                                      <p:cBhvr>
                                        <p:cTn id="55" dur="1" fill="hold">
                                          <p:stCondLst>
                                            <p:cond delay="0"/>
                                          </p:stCondLst>
                                        </p:cTn>
                                        <p:tgtEl>
                                          <p:spTgt spid="115"/>
                                        </p:tgtEl>
                                        <p:attrNameLst>
                                          <p:attrName>style.visibility</p:attrName>
                                        </p:attrNameLst>
                                      </p:cBhvr>
                                      <p:to>
                                        <p:strVal val="visible"/>
                                      </p:to>
                                    </p:set>
                                    <p:animEffect transition="in" filter="fade">
                                      <p:cBhvr>
                                        <p:cTn id="56" dur="400"/>
                                        <p:tgtEl>
                                          <p:spTgt spid="115"/>
                                        </p:tgtEl>
                                      </p:cBhvr>
                                    </p:animEffect>
                                  </p:childTnLst>
                                </p:cTn>
                              </p:par>
                              <p:par>
                                <p:cTn id="57" presetID="10" presetClass="entr" presetSubtype="0" fill="hold" nodeType="withEffect">
                                  <p:stCondLst>
                                    <p:cond delay="0"/>
                                  </p:stCondLst>
                                  <p:childTnLst>
                                    <p:set>
                                      <p:cBhvr>
                                        <p:cTn id="58" dur="1" fill="hold">
                                          <p:stCondLst>
                                            <p:cond delay="0"/>
                                          </p:stCondLst>
                                        </p:cTn>
                                        <p:tgtEl>
                                          <p:spTgt spid="116"/>
                                        </p:tgtEl>
                                        <p:attrNameLst>
                                          <p:attrName>style.visibility</p:attrName>
                                        </p:attrNameLst>
                                      </p:cBhvr>
                                      <p:to>
                                        <p:strVal val="visible"/>
                                      </p:to>
                                    </p:set>
                                    <p:animEffect transition="in" filter="fade">
                                      <p:cBhvr>
                                        <p:cTn id="59" dur="400"/>
                                        <p:tgtEl>
                                          <p:spTgt spid="116"/>
                                        </p:tgtEl>
                                      </p:cBhvr>
                                    </p:animEffect>
                                  </p:childTnLst>
                                </p:cTn>
                              </p:par>
                              <p:par>
                                <p:cTn id="60" presetID="10" presetClass="entr" presetSubtype="0" fill="hold" nodeType="withEffect">
                                  <p:stCondLst>
                                    <p:cond delay="0"/>
                                  </p:stCondLst>
                                  <p:childTnLst>
                                    <p:set>
                                      <p:cBhvr>
                                        <p:cTn id="61" dur="1" fill="hold">
                                          <p:stCondLst>
                                            <p:cond delay="0"/>
                                          </p:stCondLst>
                                        </p:cTn>
                                        <p:tgtEl>
                                          <p:spTgt spid="117"/>
                                        </p:tgtEl>
                                        <p:attrNameLst>
                                          <p:attrName>style.visibility</p:attrName>
                                        </p:attrNameLst>
                                      </p:cBhvr>
                                      <p:to>
                                        <p:strVal val="visible"/>
                                      </p:to>
                                    </p:set>
                                    <p:animEffect transition="in" filter="fade">
                                      <p:cBhvr>
                                        <p:cTn id="62" dur="400"/>
                                        <p:tgtEl>
                                          <p:spTgt spid="117"/>
                                        </p:tgtEl>
                                      </p:cBhvr>
                                    </p:animEffect>
                                  </p:childTnLst>
                                </p:cTn>
                              </p:par>
                              <p:par>
                                <p:cTn id="63" presetID="10" presetClass="entr" presetSubtype="0" fill="hold" nodeType="withEffect">
                                  <p:stCondLst>
                                    <p:cond delay="0"/>
                                  </p:stCondLst>
                                  <p:childTnLst>
                                    <p:set>
                                      <p:cBhvr>
                                        <p:cTn id="64" dur="1" fill="hold">
                                          <p:stCondLst>
                                            <p:cond delay="0"/>
                                          </p:stCondLst>
                                        </p:cTn>
                                        <p:tgtEl>
                                          <p:spTgt spid="118"/>
                                        </p:tgtEl>
                                        <p:attrNameLst>
                                          <p:attrName>style.visibility</p:attrName>
                                        </p:attrNameLst>
                                      </p:cBhvr>
                                      <p:to>
                                        <p:strVal val="visible"/>
                                      </p:to>
                                    </p:set>
                                    <p:animEffect transition="in" filter="fade">
                                      <p:cBhvr>
                                        <p:cTn id="65" dur="400"/>
                                        <p:tgtEl>
                                          <p:spTgt spid="118"/>
                                        </p:tgtEl>
                                      </p:cBhvr>
                                    </p:animEffect>
                                  </p:childTnLst>
                                </p:cTn>
                              </p:par>
                              <p:par>
                                <p:cTn id="66" presetID="10" presetClass="entr" presetSubtype="0" fill="hold" nodeType="withEffect">
                                  <p:stCondLst>
                                    <p:cond delay="0"/>
                                  </p:stCondLst>
                                  <p:childTnLst>
                                    <p:set>
                                      <p:cBhvr>
                                        <p:cTn id="67" dur="1" fill="hold">
                                          <p:stCondLst>
                                            <p:cond delay="0"/>
                                          </p:stCondLst>
                                        </p:cTn>
                                        <p:tgtEl>
                                          <p:spTgt spid="94"/>
                                        </p:tgtEl>
                                        <p:attrNameLst>
                                          <p:attrName>style.visibility</p:attrName>
                                        </p:attrNameLst>
                                      </p:cBhvr>
                                      <p:to>
                                        <p:strVal val="visible"/>
                                      </p:to>
                                    </p:set>
                                    <p:animEffect transition="in" filter="fade">
                                      <p:cBhvr>
                                        <p:cTn id="68" dur="400"/>
                                        <p:tgtEl>
                                          <p:spTgt spid="94"/>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95"/>
                                        </p:tgtEl>
                                        <p:attrNameLst>
                                          <p:attrName>style.visibility</p:attrName>
                                        </p:attrNameLst>
                                      </p:cBhvr>
                                      <p:to>
                                        <p:strVal val="visible"/>
                                      </p:to>
                                    </p:set>
                                    <p:animEffect transition="in" filter="fade">
                                      <p:cBhvr>
                                        <p:cTn id="73" dur="400"/>
                                        <p:tgtEl>
                                          <p:spTgt spid="95"/>
                                        </p:tgtEl>
                                      </p:cBhvr>
                                    </p:animEffect>
                                  </p:childTnLst>
                                </p:cTn>
                              </p:par>
                              <p:par>
                                <p:cTn id="74" presetID="10" presetClass="entr" presetSubtype="0" fill="hold" nodeType="withEffect">
                                  <p:stCondLst>
                                    <p:cond delay="0"/>
                                  </p:stCondLst>
                                  <p:childTnLst>
                                    <p:set>
                                      <p:cBhvr>
                                        <p:cTn id="75" dur="1" fill="hold">
                                          <p:stCondLst>
                                            <p:cond delay="0"/>
                                          </p:stCondLst>
                                        </p:cTn>
                                        <p:tgtEl>
                                          <p:spTgt spid="96"/>
                                        </p:tgtEl>
                                        <p:attrNameLst>
                                          <p:attrName>style.visibility</p:attrName>
                                        </p:attrNameLst>
                                      </p:cBhvr>
                                      <p:to>
                                        <p:strVal val="visible"/>
                                      </p:to>
                                    </p:set>
                                    <p:animEffect transition="in" filter="fade">
                                      <p:cBhvr>
                                        <p:cTn id="76" dur="400"/>
                                        <p:tgtEl>
                                          <p:spTgt spid="9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97"/>
                                        </p:tgtEl>
                                        <p:attrNameLst>
                                          <p:attrName>style.visibility</p:attrName>
                                        </p:attrNameLst>
                                      </p:cBhvr>
                                      <p:to>
                                        <p:strVal val="visible"/>
                                      </p:to>
                                    </p:set>
                                    <p:animEffect transition="in" filter="fade">
                                      <p:cBhvr>
                                        <p:cTn id="81" dur="400"/>
                                        <p:tgtEl>
                                          <p:spTgt spid="97"/>
                                        </p:tgtEl>
                                      </p:cBhvr>
                                    </p:animEffect>
                                  </p:childTnLst>
                                </p:cTn>
                              </p:par>
                              <p:par>
                                <p:cTn id="82" presetID="10" presetClass="entr" presetSubtype="0" fill="hold" nodeType="withEffect">
                                  <p:stCondLst>
                                    <p:cond delay="0"/>
                                  </p:stCondLst>
                                  <p:childTnLst>
                                    <p:set>
                                      <p:cBhvr>
                                        <p:cTn id="83" dur="1" fill="hold">
                                          <p:stCondLst>
                                            <p:cond delay="0"/>
                                          </p:stCondLst>
                                        </p:cTn>
                                        <p:tgtEl>
                                          <p:spTgt spid="98"/>
                                        </p:tgtEl>
                                        <p:attrNameLst>
                                          <p:attrName>style.visibility</p:attrName>
                                        </p:attrNameLst>
                                      </p:cBhvr>
                                      <p:to>
                                        <p:strVal val="visible"/>
                                      </p:to>
                                    </p:set>
                                    <p:animEffect transition="in" filter="fade">
                                      <p:cBhvr>
                                        <p:cTn id="84" dur="400"/>
                                        <p:tgtEl>
                                          <p:spTgt spid="98"/>
                                        </p:tgtEl>
                                      </p:cBhvr>
                                    </p:animEffect>
                                  </p:childTnLst>
                                </p:cTn>
                              </p:par>
                              <p:par>
                                <p:cTn id="85" presetID="10" presetClass="entr" presetSubtype="0" fill="hold" nodeType="withEffect">
                                  <p:stCondLst>
                                    <p:cond delay="0"/>
                                  </p:stCondLst>
                                  <p:childTnLst>
                                    <p:set>
                                      <p:cBhvr>
                                        <p:cTn id="86" dur="1" fill="hold">
                                          <p:stCondLst>
                                            <p:cond delay="0"/>
                                          </p:stCondLst>
                                        </p:cTn>
                                        <p:tgtEl>
                                          <p:spTgt spid="99"/>
                                        </p:tgtEl>
                                        <p:attrNameLst>
                                          <p:attrName>style.visibility</p:attrName>
                                        </p:attrNameLst>
                                      </p:cBhvr>
                                      <p:to>
                                        <p:strVal val="visible"/>
                                      </p:to>
                                    </p:set>
                                    <p:animEffect transition="in" filter="fade">
                                      <p:cBhvr>
                                        <p:cTn id="87" dur="400"/>
                                        <p:tgtEl>
                                          <p:spTgt spid="99"/>
                                        </p:tgtEl>
                                      </p:cBhvr>
                                    </p:animEffect>
                                  </p:childTnLst>
                                </p:cTn>
                              </p:par>
                              <p:par>
                                <p:cTn id="88" presetID="10" presetClass="entr" presetSubtype="0" fill="hold" nodeType="withEffect">
                                  <p:stCondLst>
                                    <p:cond delay="0"/>
                                  </p:stCondLst>
                                  <p:childTnLst>
                                    <p:set>
                                      <p:cBhvr>
                                        <p:cTn id="89" dur="1" fill="hold">
                                          <p:stCondLst>
                                            <p:cond delay="0"/>
                                          </p:stCondLst>
                                        </p:cTn>
                                        <p:tgtEl>
                                          <p:spTgt spid="120"/>
                                        </p:tgtEl>
                                        <p:attrNameLst>
                                          <p:attrName>style.visibility</p:attrName>
                                        </p:attrNameLst>
                                      </p:cBhvr>
                                      <p:to>
                                        <p:strVal val="visible"/>
                                      </p:to>
                                    </p:set>
                                    <p:animEffect transition="in" filter="fade">
                                      <p:cBhvr>
                                        <p:cTn id="90"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How should components communicate?</a:t>
            </a:r>
          </a:p>
        </p:txBody>
      </p:sp>
      <p:sp>
        <p:nvSpPr>
          <p:cNvPr id="3" name="Slide Number Placeholder 2"/>
          <p:cNvSpPr>
            <a:spLocks noGrp="1"/>
          </p:cNvSpPr>
          <p:nvPr>
            <p:ph type="sldNum" sz="quarter" idx="4"/>
          </p:nvPr>
        </p:nvSpPr>
        <p:spPr/>
        <p:txBody>
          <a:bodyPr/>
          <a:lstStyle/>
          <a:p>
            <a:fld id="{B7EB45DA-9A0D-DC49-8E02-F30A5DDC21C3}" type="slidenum">
              <a:rPr lang="en-US" smtClean="0"/>
              <a:t>17</a:t>
            </a:fld>
            <a:endParaRPr lang="en-US"/>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SYNCHRONOUS RPC</a:t>
            </a:r>
          </a:p>
        </p:txBody>
      </p:sp>
      <p:sp>
        <p:nvSpPr>
          <p:cNvPr id="100" name="SvcA"/>
          <p:cNvSpPr/>
          <p:nvPr/>
        </p:nvSpPr>
        <p:spPr>
          <a:xfrm>
            <a:off x="78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A</a:t>
            </a:r>
          </a:p>
        </p:txBody>
      </p:sp>
      <p:sp>
        <p:nvSpPr>
          <p:cNvPr id="101" name="SvcB"/>
          <p:cNvSpPr/>
          <p:nvPr/>
        </p:nvSpPr>
        <p:spPr>
          <a:xfrm>
            <a:off x="303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B</a:t>
            </a:r>
          </a:p>
        </p:txBody>
      </p:sp>
      <p:cxnSp>
        <p:nvCxnSpPr>
          <p:cNvPr id="102" name="ReqArr"/>
          <p:cNvCxnSpPr/>
          <p:nvPr/>
        </p:nvCxnSpPr>
        <p:spPr>
          <a:xfrm>
            <a:off x="2135800" y="2040000"/>
            <a:ext cx="900000" cy="0"/>
          </a:xfrm>
          <a:prstGeom prst="line">
            <a:avLst/>
          </a:prstGeom>
          <a:ln w="53577">
            <a:solidFill>
              <a:srgbClr val="8E6F3E"/>
            </a:solidFill>
            <a:tailEnd type="triangle" w="med" len="med"/>
          </a:ln>
        </p:spPr>
      </p:cxnSp>
      <p:sp>
        <p:nvSpPr>
          <p:cNvPr id="103" name="ReqLbl"/>
          <p:cNvSpPr txBox="1"/>
          <p:nvPr/>
        </p:nvSpPr>
        <p:spPr>
          <a:xfrm>
            <a:off x="2135800" y="1770000"/>
            <a:ext cx="900000" cy="260000"/>
          </a:xfrm>
          <a:prstGeom prst="rect">
            <a:avLst/>
          </a:prstGeom>
          <a:noFill/>
          <a:ln>
            <a:noFill/>
          </a:ln>
        </p:spPr>
        <p:txBody>
          <a:bodyPr wrap="square" lIns="0" tIns="0" rIns="0" bIns="0" anchor="t">
            <a:normAutofit fontScale="92500" lnSpcReduction="20000"/>
          </a:bodyPr>
          <a:lstStyle/>
          <a:p>
            <a:pPr algn="ctr">
              <a:buNone/>
            </a:pPr>
            <a:r>
              <a:rPr lang="en-US" sz="2000" b="0" i="1" dirty="0">
                <a:solidFill>
                  <a:srgbClr val="555960"/>
                </a:solidFill>
              </a:rPr>
              <a:t>request</a:t>
            </a:r>
          </a:p>
        </p:txBody>
      </p:sp>
      <p:sp>
        <p:nvSpPr>
          <p:cNvPr id="104" name="RespLbl"/>
          <p:cNvSpPr txBox="1"/>
          <p:nvPr/>
        </p:nvSpPr>
        <p:spPr>
          <a:xfrm>
            <a:off x="2135800" y="2320000"/>
            <a:ext cx="900000" cy="260000"/>
          </a:xfrm>
          <a:prstGeom prst="rect">
            <a:avLst/>
          </a:prstGeom>
          <a:noFill/>
          <a:ln>
            <a:noFill/>
          </a:ln>
        </p:spPr>
        <p:txBody>
          <a:bodyPr wrap="square" lIns="0" tIns="0" rIns="0" bIns="0" anchor="t">
            <a:normAutofit fontScale="92500" lnSpcReduction="20000"/>
          </a:bodyPr>
          <a:lstStyle/>
          <a:p>
            <a:pPr algn="ctr">
              <a:buNone/>
            </a:pPr>
            <a:r>
              <a:rPr lang="en-US" sz="2000" b="0" i="1" dirty="0">
                <a:solidFill>
                  <a:srgbClr val="555960"/>
                </a:solidFill>
              </a:rPr>
              <a:t>response</a:t>
            </a:r>
          </a:p>
        </p:txBody>
      </p:sp>
      <p:sp>
        <p:nvSpPr>
          <p:cNvPr id="105" name="SvcC"/>
          <p:cNvSpPr/>
          <p:nvPr/>
        </p:nvSpPr>
        <p:spPr>
          <a:xfrm>
            <a:off x="3035800" y="330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C</a:t>
            </a:r>
          </a:p>
        </p:txBody>
      </p:sp>
      <p:cxnSp>
        <p:nvCxnSpPr>
          <p:cNvPr id="106" name="BtoC"/>
          <p:cNvCxnSpPr>
            <a:stCxn id="101" idx="2"/>
            <a:endCxn id="105" idx="0"/>
          </p:cNvCxnSpPr>
          <p:nvPr/>
        </p:nvCxnSpPr>
        <p:spPr>
          <a:xfrm>
            <a:off x="3710800" y="2390000"/>
            <a:ext cx="0" cy="91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lnSpcReduction="10000"/>
          </a:bodyPr>
          <a:lstStyle/>
          <a:p>
            <a:pPr algn="ctr">
              <a:buNone/>
            </a:pPr>
            <a:r>
              <a:rPr lang="en-US" sz="2000" b="0" i="1" dirty="0">
                <a:solidFill>
                  <a:srgbClr val="555960"/>
                </a:solidFill>
              </a:rPr>
              <a:t>e.g., REST · gRPC</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EVENT-DRIVEN</a:t>
            </a:r>
          </a:p>
        </p:txBody>
      </p:sp>
      <p:sp>
        <p:nvSpPr>
          <p:cNvPr id="110" name="Prod"/>
          <p:cNvSpPr/>
          <p:nvPr/>
        </p:nvSpPr>
        <p:spPr>
          <a:xfrm>
            <a:off x="5790100" y="1540000"/>
            <a:ext cx="16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PRODUCER</a:t>
            </a:r>
          </a:p>
        </p:txBody>
      </p:sp>
      <p:sp>
        <p:nvSpPr>
          <p:cNvPr id="111" name="Bus"/>
          <p:cNvSpPr/>
          <p:nvPr/>
        </p:nvSpPr>
        <p:spPr>
          <a:xfrm>
            <a:off x="5190100" y="2450000"/>
            <a:ext cx="2800000" cy="56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EVENT BUS</a:t>
            </a:r>
          </a:p>
        </p:txBody>
      </p:sp>
      <p:cxnSp>
        <p:nvCxnSpPr>
          <p:cNvPr id="112" name="Pub"/>
          <p:cNvCxnSpPr>
            <a:stCxn id="110" idx="2"/>
            <a:endCxn id="111" idx="0"/>
          </p:cNvCxnSpPr>
          <p:nvPr/>
        </p:nvCxnSpPr>
        <p:spPr>
          <a:xfrm>
            <a:off x="6590100" y="2100000"/>
            <a:ext cx="0" cy="350000"/>
          </a:xfrm>
          <a:prstGeom prst="line">
            <a:avLst/>
          </a:prstGeom>
          <a:ln w="53577">
            <a:solidFill>
              <a:srgbClr val="8E6F3E"/>
            </a:solidFill>
            <a:tailEnd type="triangle" w="med" len="med"/>
          </a:ln>
        </p:spPr>
      </p:cxnSp>
      <p:sp>
        <p:nvSpPr>
          <p:cNvPr id="113" name="PubLbl"/>
          <p:cNvSpPr txBox="1"/>
          <p:nvPr/>
        </p:nvSpPr>
        <p:spPr>
          <a:xfrm>
            <a:off x="6720100" y="2130000"/>
            <a:ext cx="1000000" cy="28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publish</a:t>
            </a:r>
          </a:p>
        </p:txBody>
      </p:sp>
      <p:cxnSp>
        <p:nvCxnSpPr>
          <p:cNvPr id="114" name="Trunk"/>
          <p:cNvCxnSpPr>
            <a:stCxn id="111" idx="2"/>
          </p:cNvCxnSpPr>
          <p:nvPr/>
        </p:nvCxnSpPr>
        <p:spPr>
          <a:xfrm>
            <a:off x="6590100" y="3010000"/>
            <a:ext cx="0" cy="220000"/>
          </a:xfrm>
          <a:prstGeom prst="line">
            <a:avLst/>
          </a:prstGeom>
          <a:ln w="53577">
            <a:solidFill>
              <a:srgbClr val="8E6F3E"/>
            </a:solidFill>
          </a:ln>
        </p:spPr>
      </p:cxnSp>
      <p:cxnSp>
        <p:nvCxnSpPr>
          <p:cNvPr id="115" name="Dist"/>
          <p:cNvCxnSpPr/>
          <p:nvPr/>
        </p:nvCxnSpPr>
        <p:spPr>
          <a:xfrm>
            <a:off x="5640100" y="3230000"/>
            <a:ext cx="1900000" cy="0"/>
          </a:xfrm>
          <a:prstGeom prst="line">
            <a:avLst/>
          </a:prstGeom>
          <a:ln w="53577">
            <a:solidFill>
              <a:srgbClr val="8E6F3E"/>
            </a:solidFill>
          </a:ln>
        </p:spPr>
      </p:cxnSp>
      <p:cxnSp>
        <p:nvCxnSpPr>
          <p:cNvPr id="116" name="Drop0"/>
          <p:cNvCxnSpPr>
            <a:endCxn id="119" idx="0"/>
          </p:cNvCxnSpPr>
          <p:nvPr/>
        </p:nvCxnSpPr>
        <p:spPr>
          <a:xfrm>
            <a:off x="5640100" y="3230000"/>
            <a:ext cx="0" cy="280000"/>
          </a:xfrm>
          <a:prstGeom prst="line">
            <a:avLst/>
          </a:prstGeom>
          <a:ln w="53577">
            <a:solidFill>
              <a:srgbClr val="8E6F3E"/>
            </a:solidFill>
            <a:tailEnd type="triangle" w="med" len="med"/>
          </a:ln>
        </p:spPr>
      </p:cxnSp>
      <p:cxnSp>
        <p:nvCxnSpPr>
          <p:cNvPr id="117" name="Drop1"/>
          <p:cNvCxnSpPr>
            <a:endCxn id="120" idx="0"/>
          </p:cNvCxnSpPr>
          <p:nvPr/>
        </p:nvCxnSpPr>
        <p:spPr>
          <a:xfrm>
            <a:off x="6590100" y="3230000"/>
            <a:ext cx="0" cy="280000"/>
          </a:xfrm>
          <a:prstGeom prst="line">
            <a:avLst/>
          </a:prstGeom>
          <a:ln w="53577">
            <a:solidFill>
              <a:srgbClr val="8E6F3E"/>
            </a:solidFill>
            <a:tailEnd type="triangle" w="med" len="med"/>
          </a:ln>
        </p:spPr>
      </p:cxnSp>
      <p:cxnSp>
        <p:nvCxnSpPr>
          <p:cNvPr id="118" name="Drop2"/>
          <p:cNvCxnSpPr>
            <a:endCxn id="121" idx="0"/>
          </p:cNvCxnSpPr>
          <p:nvPr/>
        </p:nvCxnSpPr>
        <p:spPr>
          <a:xfrm>
            <a:off x="7540100" y="3230000"/>
            <a:ext cx="0" cy="280000"/>
          </a:xfrm>
          <a:prstGeom prst="line">
            <a:avLst/>
          </a:prstGeom>
          <a:ln w="53577">
            <a:solidFill>
              <a:srgbClr val="8E6F3E"/>
            </a:solidFill>
            <a:tailEnd type="triangle" w="med" len="med"/>
          </a:ln>
        </p:spPr>
      </p:cxnSp>
      <p:sp>
        <p:nvSpPr>
          <p:cNvPr id="119" name="ConsB"/>
          <p:cNvSpPr/>
          <p:nvPr/>
        </p:nvSpPr>
        <p:spPr>
          <a:xfrm>
            <a:off x="52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B</a:t>
            </a:r>
          </a:p>
        </p:txBody>
      </p:sp>
      <p:sp>
        <p:nvSpPr>
          <p:cNvPr id="120" name="ConsC"/>
          <p:cNvSpPr/>
          <p:nvPr/>
        </p:nvSpPr>
        <p:spPr>
          <a:xfrm>
            <a:off x="619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C</a:t>
            </a:r>
          </a:p>
        </p:txBody>
      </p:sp>
      <p:sp>
        <p:nvSpPr>
          <p:cNvPr id="121" name="ConsD"/>
          <p:cNvSpPr/>
          <p:nvPr/>
        </p:nvSpPr>
        <p:spPr>
          <a:xfrm>
            <a:off x="71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D</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lnSpcReduction="10000"/>
          </a:bodyPr>
          <a:lstStyle/>
          <a:p>
            <a:pPr algn="ctr">
              <a:buNone/>
            </a:pPr>
            <a:r>
              <a:rPr lang="en-US" sz="2000" b="0" i="1" dirty="0">
                <a:solidFill>
                  <a:srgbClr val="555960"/>
                </a:solidFill>
              </a:rPr>
              <a:t>e.g., Kafka</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immediate coordination, clear request/response semantics</a:t>
            </a:r>
          </a:p>
          <a:p>
            <a:pPr algn="l">
              <a:spcBef>
                <a:spcPts val="600"/>
              </a:spcBef>
              <a:buNone/>
            </a:pPr>
            <a:r>
              <a:rPr lang="en-US" sz="2000" b="1" i="0" dirty="0">
                <a:solidFill>
                  <a:srgbClr val="555960"/>
                </a:solidFill>
              </a:rPr>
              <a:t>costs — </a:t>
            </a:r>
            <a:r>
              <a:rPr lang="en-US" sz="2000" b="0" i="0" dirty="0">
                <a:solidFill>
                  <a:srgbClr val="000000"/>
                </a:solidFill>
              </a:rPr>
              <a:t>caller knows callee; latency and failure propagate</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fontScale="92500" lnSpcReduction="10000"/>
          </a:bodyPr>
          <a:lstStyle/>
          <a:p>
            <a:pPr algn="l">
              <a:buNone/>
            </a:pPr>
            <a:r>
              <a:rPr lang="en-US" sz="2000" b="1" i="0" dirty="0">
                <a:solidFill>
                  <a:srgbClr val="5C4826"/>
                </a:solidFill>
              </a:rPr>
              <a:t>buys — </a:t>
            </a:r>
            <a:r>
              <a:rPr lang="en-US" sz="2000" b="0" i="0" dirty="0">
                <a:solidFill>
                  <a:srgbClr val="000000"/>
                </a:solidFill>
              </a:rPr>
              <a:t>producer/consumer decoupling; adding consumers is easy</a:t>
            </a:r>
          </a:p>
          <a:p>
            <a:pPr algn="l">
              <a:spcBef>
                <a:spcPts val="600"/>
              </a:spcBef>
              <a:buNone/>
            </a:pPr>
            <a:r>
              <a:rPr lang="en-US" sz="2000" b="1" i="0" dirty="0">
                <a:solidFill>
                  <a:srgbClr val="555960"/>
                </a:solidFill>
              </a:rPr>
              <a:t>costs — </a:t>
            </a:r>
            <a:r>
              <a:rPr lang="en-US" sz="2000" b="0" i="0" dirty="0">
                <a:solidFill>
                  <a:srgbClr val="000000"/>
                </a:solidFill>
              </a:rPr>
              <a:t>ordering, delivery, retries become system concerns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fontScale="85000" lnSpcReduction="10000"/>
          </a:bodyPr>
          <a:lstStyle/>
          <a:p>
            <a:pPr algn="r">
              <a:buNone/>
            </a:pPr>
            <a:r>
              <a:rPr lang="en-US" sz="2000" b="0" i="0" dirty="0">
                <a:solidFill>
                  <a:srgbClr val="5C4826"/>
                </a:solidFill>
              </a:rPr>
              <a:t>immediate coordination</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producer/consumer decoupling</a:t>
            </a:r>
          </a:p>
        </p:txBody>
      </p:sp>
      <p:cxnSp>
        <p:nvCxnSpPr>
          <p:cNvPr id="126" name="RespArr"/>
          <p:cNvCxnSpPr/>
          <p:nvPr/>
        </p:nvCxnSpPr>
        <p:spPr>
          <a:xfrm flipH="1">
            <a:off x="2135800" y="2260000"/>
            <a:ext cx="900000" cy="0"/>
          </a:xfrm>
          <a:prstGeom prst="line">
            <a:avLst/>
          </a:prstGeom>
          <a:ln w="53577">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4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6"/>
                                        </p:tgtEl>
                                        <p:attrNameLst>
                                          <p:attrName>style.visibility</p:attrName>
                                        </p:attrNameLst>
                                      </p:cBhvr>
                                      <p:to>
                                        <p:strVal val="visible"/>
                                      </p:to>
                                    </p:set>
                                    <p:animEffect transition="in" filter="fade">
                                      <p:cBhvr>
                                        <p:cTn id="24" dur="400"/>
                                        <p:tgtEl>
                                          <p:spTgt spid="126"/>
                                        </p:tgtEl>
                                      </p:cBhvr>
                                    </p:animEffect>
                                  </p:childTnLst>
                                </p:cTn>
                              </p:par>
                              <p:par>
                                <p:cTn id="25" presetID="10" presetClass="entr" presetSubtype="0" fill="hold" nodeType="with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400"/>
                                        <p:tgtEl>
                                          <p:spTgt spid="10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400"/>
                                        <p:tgtEl>
                                          <p:spTgt spid="105"/>
                                        </p:tgtEl>
                                      </p:cBhvr>
                                    </p:animEffect>
                                  </p:childTnLst>
                                </p:cTn>
                              </p:par>
                              <p:par>
                                <p:cTn id="33" presetID="10" presetClass="entr" presetSubtype="0" fill="hold" nodeType="withEffect">
                                  <p:stCondLst>
                                    <p:cond delay="0"/>
                                  </p:stCondLst>
                                  <p:childTnLst>
                                    <p:set>
                                      <p:cBhvr>
                                        <p:cTn id="34" dur="1" fill="hold">
                                          <p:stCondLst>
                                            <p:cond delay="0"/>
                                          </p:stCondLst>
                                        </p:cTn>
                                        <p:tgtEl>
                                          <p:spTgt spid="106"/>
                                        </p:tgtEl>
                                        <p:attrNameLst>
                                          <p:attrName>style.visibility</p:attrName>
                                        </p:attrNameLst>
                                      </p:cBhvr>
                                      <p:to>
                                        <p:strVal val="visible"/>
                                      </p:to>
                                    </p:set>
                                    <p:animEffect transition="in" filter="fade">
                                      <p:cBhvr>
                                        <p:cTn id="35" dur="400"/>
                                        <p:tgtEl>
                                          <p:spTgt spid="106"/>
                                        </p:tgtEl>
                                      </p:cBhvr>
                                    </p:animEffect>
                                  </p:childTnLst>
                                </p:cTn>
                              </p:par>
                              <p:par>
                                <p:cTn id="36" presetID="10" presetClass="entr" presetSubtype="0" fill="hold" nodeType="withEffect">
                                  <p:stCondLst>
                                    <p:cond delay="0"/>
                                  </p:stCondLst>
                                  <p:childTnLst>
                                    <p:set>
                                      <p:cBhvr>
                                        <p:cTn id="37" dur="1" fill="hold">
                                          <p:stCondLst>
                                            <p:cond delay="0"/>
                                          </p:stCondLst>
                                        </p:cTn>
                                        <p:tgtEl>
                                          <p:spTgt spid="92"/>
                                        </p:tgtEl>
                                        <p:attrNameLst>
                                          <p:attrName>style.visibility</p:attrName>
                                        </p:attrNameLst>
                                      </p:cBhvr>
                                      <p:to>
                                        <p:strVal val="visible"/>
                                      </p:to>
                                    </p:set>
                                    <p:animEffect transition="in" filter="fade">
                                      <p:cBhvr>
                                        <p:cTn id="38" dur="400"/>
                                        <p:tgtEl>
                                          <p:spTgt spid="9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93"/>
                                        </p:tgtEl>
                                        <p:attrNameLst>
                                          <p:attrName>style.visibility</p:attrName>
                                        </p:attrNameLst>
                                      </p:cBhvr>
                                      <p:to>
                                        <p:strVal val="visible"/>
                                      </p:to>
                                    </p:set>
                                    <p:animEffect transition="in" filter="fade">
                                      <p:cBhvr>
                                        <p:cTn id="43" dur="400"/>
                                        <p:tgtEl>
                                          <p:spTgt spid="93"/>
                                        </p:tgtEl>
                                      </p:cBhvr>
                                    </p:animEffect>
                                  </p:childTnLst>
                                </p:cTn>
                              </p:par>
                              <p:par>
                                <p:cTn id="44" presetID="10" presetClass="entr" presetSubtype="0" fill="hold" nodeType="with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400"/>
                                        <p:tgtEl>
                                          <p:spTgt spid="110"/>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11"/>
                                        </p:tgtEl>
                                        <p:attrNameLst>
                                          <p:attrName>style.visibility</p:attrName>
                                        </p:attrNameLst>
                                      </p:cBhvr>
                                      <p:to>
                                        <p:strVal val="visible"/>
                                      </p:to>
                                    </p:set>
                                    <p:animEffect transition="in" filter="fade">
                                      <p:cBhvr>
                                        <p:cTn id="51" dur="400"/>
                                        <p:tgtEl>
                                          <p:spTgt spid="111"/>
                                        </p:tgtEl>
                                      </p:cBhvr>
                                    </p:animEffect>
                                  </p:childTnLst>
                                </p:cTn>
                              </p:par>
                              <p:par>
                                <p:cTn id="52" presetID="10" presetClass="entr" presetSubtype="0" fill="hold" nodeType="withEffect">
                                  <p:stCondLst>
                                    <p:cond delay="0"/>
                                  </p:stCondLst>
                                  <p:childTnLst>
                                    <p:set>
                                      <p:cBhvr>
                                        <p:cTn id="53" dur="1" fill="hold">
                                          <p:stCondLst>
                                            <p:cond delay="0"/>
                                          </p:stCondLst>
                                        </p:cTn>
                                        <p:tgtEl>
                                          <p:spTgt spid="112"/>
                                        </p:tgtEl>
                                        <p:attrNameLst>
                                          <p:attrName>style.visibility</p:attrName>
                                        </p:attrNameLst>
                                      </p:cBhvr>
                                      <p:to>
                                        <p:strVal val="visible"/>
                                      </p:to>
                                    </p:set>
                                    <p:animEffect transition="in" filter="fade">
                                      <p:cBhvr>
                                        <p:cTn id="54" dur="400"/>
                                        <p:tgtEl>
                                          <p:spTgt spid="112"/>
                                        </p:tgtEl>
                                      </p:cBhvr>
                                    </p:animEffect>
                                  </p:childTnLst>
                                </p:cTn>
                              </p:par>
                              <p:par>
                                <p:cTn id="55" presetID="10" presetClass="entr" presetSubtype="0" fill="hold" nodeType="withEffect">
                                  <p:stCondLst>
                                    <p:cond delay="0"/>
                                  </p:stCondLst>
                                  <p:childTnLst>
                                    <p:set>
                                      <p:cBhvr>
                                        <p:cTn id="56" dur="1" fill="hold">
                                          <p:stCondLst>
                                            <p:cond delay="0"/>
                                          </p:stCondLst>
                                        </p:cTn>
                                        <p:tgtEl>
                                          <p:spTgt spid="113"/>
                                        </p:tgtEl>
                                        <p:attrNameLst>
                                          <p:attrName>style.visibility</p:attrName>
                                        </p:attrNameLst>
                                      </p:cBhvr>
                                      <p:to>
                                        <p:strVal val="visible"/>
                                      </p:to>
                                    </p:set>
                                    <p:animEffect transition="in" filter="fade">
                                      <p:cBhvr>
                                        <p:cTn id="57" dur="400"/>
                                        <p:tgtEl>
                                          <p:spTgt spid="113"/>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14"/>
                                        </p:tgtEl>
                                        <p:attrNameLst>
                                          <p:attrName>style.visibility</p:attrName>
                                        </p:attrNameLst>
                                      </p:cBhvr>
                                      <p:to>
                                        <p:strVal val="visible"/>
                                      </p:to>
                                    </p:set>
                                    <p:animEffect transition="in" filter="fade">
                                      <p:cBhvr>
                                        <p:cTn id="62" dur="400"/>
                                        <p:tgtEl>
                                          <p:spTgt spid="114"/>
                                        </p:tgtEl>
                                      </p:cBhvr>
                                    </p:animEffect>
                                  </p:childTnLst>
                                </p:cTn>
                              </p:par>
                              <p:par>
                                <p:cTn id="63" presetID="10" presetClass="entr" presetSubtype="0" fill="hold" nodeType="withEffect">
                                  <p:stCondLst>
                                    <p:cond delay="0"/>
                                  </p:stCondLst>
                                  <p:childTnLst>
                                    <p:set>
                                      <p:cBhvr>
                                        <p:cTn id="64" dur="1" fill="hold">
                                          <p:stCondLst>
                                            <p:cond delay="0"/>
                                          </p:stCondLst>
                                        </p:cTn>
                                        <p:tgtEl>
                                          <p:spTgt spid="115"/>
                                        </p:tgtEl>
                                        <p:attrNameLst>
                                          <p:attrName>style.visibility</p:attrName>
                                        </p:attrNameLst>
                                      </p:cBhvr>
                                      <p:to>
                                        <p:strVal val="visible"/>
                                      </p:to>
                                    </p:set>
                                    <p:animEffect transition="in" filter="fade">
                                      <p:cBhvr>
                                        <p:cTn id="65" dur="400"/>
                                        <p:tgtEl>
                                          <p:spTgt spid="115"/>
                                        </p:tgtEl>
                                      </p:cBhvr>
                                    </p:animEffect>
                                  </p:childTnLst>
                                </p:cTn>
                              </p:par>
                              <p:par>
                                <p:cTn id="66" presetID="10" presetClass="entr" presetSubtype="0" fill="hold" nodeType="withEffect">
                                  <p:stCondLst>
                                    <p:cond delay="0"/>
                                  </p:stCondLst>
                                  <p:childTnLst>
                                    <p:set>
                                      <p:cBhvr>
                                        <p:cTn id="67" dur="1" fill="hold">
                                          <p:stCondLst>
                                            <p:cond delay="0"/>
                                          </p:stCondLst>
                                        </p:cTn>
                                        <p:tgtEl>
                                          <p:spTgt spid="116"/>
                                        </p:tgtEl>
                                        <p:attrNameLst>
                                          <p:attrName>style.visibility</p:attrName>
                                        </p:attrNameLst>
                                      </p:cBhvr>
                                      <p:to>
                                        <p:strVal val="visible"/>
                                      </p:to>
                                    </p:set>
                                    <p:animEffect transition="in" filter="fade">
                                      <p:cBhvr>
                                        <p:cTn id="68" dur="400"/>
                                        <p:tgtEl>
                                          <p:spTgt spid="116"/>
                                        </p:tgtEl>
                                      </p:cBhvr>
                                    </p:animEffect>
                                  </p:childTnLst>
                                </p:cTn>
                              </p:par>
                              <p:par>
                                <p:cTn id="69" presetID="10" presetClass="entr" presetSubtype="0" fill="hold" nodeType="withEffect">
                                  <p:stCondLst>
                                    <p:cond delay="0"/>
                                  </p:stCondLst>
                                  <p:childTnLst>
                                    <p:set>
                                      <p:cBhvr>
                                        <p:cTn id="70" dur="1" fill="hold">
                                          <p:stCondLst>
                                            <p:cond delay="0"/>
                                          </p:stCondLst>
                                        </p:cTn>
                                        <p:tgtEl>
                                          <p:spTgt spid="117"/>
                                        </p:tgtEl>
                                        <p:attrNameLst>
                                          <p:attrName>style.visibility</p:attrName>
                                        </p:attrNameLst>
                                      </p:cBhvr>
                                      <p:to>
                                        <p:strVal val="visible"/>
                                      </p:to>
                                    </p:set>
                                    <p:animEffect transition="in" filter="fade">
                                      <p:cBhvr>
                                        <p:cTn id="71" dur="400"/>
                                        <p:tgtEl>
                                          <p:spTgt spid="117"/>
                                        </p:tgtEl>
                                      </p:cBhvr>
                                    </p:animEffect>
                                  </p:childTnLst>
                                </p:cTn>
                              </p:par>
                              <p:par>
                                <p:cTn id="72" presetID="10" presetClass="entr" presetSubtype="0" fill="hold" nodeType="withEffect">
                                  <p:stCondLst>
                                    <p:cond delay="0"/>
                                  </p:stCondLst>
                                  <p:childTnLst>
                                    <p:set>
                                      <p:cBhvr>
                                        <p:cTn id="73" dur="1" fill="hold">
                                          <p:stCondLst>
                                            <p:cond delay="0"/>
                                          </p:stCondLst>
                                        </p:cTn>
                                        <p:tgtEl>
                                          <p:spTgt spid="119"/>
                                        </p:tgtEl>
                                        <p:attrNameLst>
                                          <p:attrName>style.visibility</p:attrName>
                                        </p:attrNameLst>
                                      </p:cBhvr>
                                      <p:to>
                                        <p:strVal val="visible"/>
                                      </p:to>
                                    </p:set>
                                    <p:animEffect transition="in" filter="fade">
                                      <p:cBhvr>
                                        <p:cTn id="74" dur="400"/>
                                        <p:tgtEl>
                                          <p:spTgt spid="119"/>
                                        </p:tgtEl>
                                      </p:cBhvr>
                                    </p:animEffect>
                                  </p:childTnLst>
                                </p:cTn>
                              </p:par>
                              <p:par>
                                <p:cTn id="75" presetID="10" presetClass="entr" presetSubtype="0" fill="hold" nodeType="withEffect">
                                  <p:stCondLst>
                                    <p:cond delay="0"/>
                                  </p:stCondLst>
                                  <p:childTnLst>
                                    <p:set>
                                      <p:cBhvr>
                                        <p:cTn id="76" dur="1" fill="hold">
                                          <p:stCondLst>
                                            <p:cond delay="0"/>
                                          </p:stCondLst>
                                        </p:cTn>
                                        <p:tgtEl>
                                          <p:spTgt spid="120"/>
                                        </p:tgtEl>
                                        <p:attrNameLst>
                                          <p:attrName>style.visibility</p:attrName>
                                        </p:attrNameLst>
                                      </p:cBhvr>
                                      <p:to>
                                        <p:strVal val="visible"/>
                                      </p:to>
                                    </p:set>
                                    <p:animEffect transition="in" filter="fade">
                                      <p:cBhvr>
                                        <p:cTn id="77" dur="400"/>
                                        <p:tgtEl>
                                          <p:spTgt spid="120"/>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118"/>
                                        </p:tgtEl>
                                        <p:attrNameLst>
                                          <p:attrName>style.visibility</p:attrName>
                                        </p:attrNameLst>
                                      </p:cBhvr>
                                      <p:to>
                                        <p:strVal val="visible"/>
                                      </p:to>
                                    </p:set>
                                    <p:animEffect transition="in" filter="fade">
                                      <p:cBhvr>
                                        <p:cTn id="82" dur="400"/>
                                        <p:tgtEl>
                                          <p:spTgt spid="118"/>
                                        </p:tgtEl>
                                      </p:cBhvr>
                                    </p:animEffect>
                                  </p:childTnLst>
                                </p:cTn>
                              </p:par>
                              <p:par>
                                <p:cTn id="83" presetID="10" presetClass="entr" presetSubtype="0" fill="hold" nodeType="withEffect">
                                  <p:stCondLst>
                                    <p:cond delay="0"/>
                                  </p:stCondLst>
                                  <p:childTnLst>
                                    <p:set>
                                      <p:cBhvr>
                                        <p:cTn id="84" dur="1" fill="hold">
                                          <p:stCondLst>
                                            <p:cond delay="0"/>
                                          </p:stCondLst>
                                        </p:cTn>
                                        <p:tgtEl>
                                          <p:spTgt spid="121"/>
                                        </p:tgtEl>
                                        <p:attrNameLst>
                                          <p:attrName>style.visibility</p:attrName>
                                        </p:attrNameLst>
                                      </p:cBhvr>
                                      <p:to>
                                        <p:strVal val="visible"/>
                                      </p:to>
                                    </p:set>
                                    <p:animEffect transition="in" filter="fade">
                                      <p:cBhvr>
                                        <p:cTn id="85" dur="400"/>
                                        <p:tgtEl>
                                          <p:spTgt spid="121"/>
                                        </p:tgtEl>
                                      </p:cBhvr>
                                    </p:animEffect>
                                  </p:childTnLst>
                                </p:cTn>
                              </p:par>
                              <p:par>
                                <p:cTn id="86" presetID="10" presetClass="entr" presetSubtype="0" fill="hold" nodeType="withEffect">
                                  <p:stCondLst>
                                    <p:cond delay="0"/>
                                  </p:stCondLst>
                                  <p:childTnLst>
                                    <p:set>
                                      <p:cBhvr>
                                        <p:cTn id="87" dur="1" fill="hold">
                                          <p:stCondLst>
                                            <p:cond delay="0"/>
                                          </p:stCondLst>
                                        </p:cTn>
                                        <p:tgtEl>
                                          <p:spTgt spid="94"/>
                                        </p:tgtEl>
                                        <p:attrNameLst>
                                          <p:attrName>style.visibility</p:attrName>
                                        </p:attrNameLst>
                                      </p:cBhvr>
                                      <p:to>
                                        <p:strVal val="visible"/>
                                      </p:to>
                                    </p:set>
                                    <p:animEffect transition="in" filter="fade">
                                      <p:cBhvr>
                                        <p:cTn id="88" dur="400"/>
                                        <p:tgtEl>
                                          <p:spTgt spid="94"/>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95"/>
                                        </p:tgtEl>
                                        <p:attrNameLst>
                                          <p:attrName>style.visibility</p:attrName>
                                        </p:attrNameLst>
                                      </p:cBhvr>
                                      <p:to>
                                        <p:strVal val="visible"/>
                                      </p:to>
                                    </p:set>
                                    <p:animEffect transition="in" filter="fade">
                                      <p:cBhvr>
                                        <p:cTn id="93" dur="400"/>
                                        <p:tgtEl>
                                          <p:spTgt spid="95"/>
                                        </p:tgtEl>
                                      </p:cBhvr>
                                    </p:animEffect>
                                  </p:childTnLst>
                                </p:cTn>
                              </p:par>
                              <p:par>
                                <p:cTn id="94" presetID="10" presetClass="entr" presetSubtype="0" fill="hold" nodeType="withEffect">
                                  <p:stCondLst>
                                    <p:cond delay="0"/>
                                  </p:stCondLst>
                                  <p:childTnLst>
                                    <p:set>
                                      <p:cBhvr>
                                        <p:cTn id="95" dur="1" fill="hold">
                                          <p:stCondLst>
                                            <p:cond delay="0"/>
                                          </p:stCondLst>
                                        </p:cTn>
                                        <p:tgtEl>
                                          <p:spTgt spid="96"/>
                                        </p:tgtEl>
                                        <p:attrNameLst>
                                          <p:attrName>style.visibility</p:attrName>
                                        </p:attrNameLst>
                                      </p:cBhvr>
                                      <p:to>
                                        <p:strVal val="visible"/>
                                      </p:to>
                                    </p:set>
                                    <p:animEffect transition="in" filter="fade">
                                      <p:cBhvr>
                                        <p:cTn id="96" dur="400"/>
                                        <p:tgtEl>
                                          <p:spTgt spid="96"/>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97"/>
                                        </p:tgtEl>
                                        <p:attrNameLst>
                                          <p:attrName>style.visibility</p:attrName>
                                        </p:attrNameLst>
                                      </p:cBhvr>
                                      <p:to>
                                        <p:strVal val="visible"/>
                                      </p:to>
                                    </p:set>
                                    <p:animEffect transition="in" filter="fade">
                                      <p:cBhvr>
                                        <p:cTn id="101" dur="400"/>
                                        <p:tgtEl>
                                          <p:spTgt spid="97"/>
                                        </p:tgtEl>
                                      </p:cBhvr>
                                    </p:animEffect>
                                  </p:childTnLst>
                                </p:cTn>
                              </p:par>
                              <p:par>
                                <p:cTn id="102" presetID="10" presetClass="entr" presetSubtype="0" fill="hold" nodeType="withEffect">
                                  <p:stCondLst>
                                    <p:cond delay="0"/>
                                  </p:stCondLst>
                                  <p:childTnLst>
                                    <p:set>
                                      <p:cBhvr>
                                        <p:cTn id="103" dur="1" fill="hold">
                                          <p:stCondLst>
                                            <p:cond delay="0"/>
                                          </p:stCondLst>
                                        </p:cTn>
                                        <p:tgtEl>
                                          <p:spTgt spid="98"/>
                                        </p:tgtEl>
                                        <p:attrNameLst>
                                          <p:attrName>style.visibility</p:attrName>
                                        </p:attrNameLst>
                                      </p:cBhvr>
                                      <p:to>
                                        <p:strVal val="visible"/>
                                      </p:to>
                                    </p:set>
                                    <p:animEffect transition="in" filter="fade">
                                      <p:cBhvr>
                                        <p:cTn id="104" dur="400"/>
                                        <p:tgtEl>
                                          <p:spTgt spid="98"/>
                                        </p:tgtEl>
                                      </p:cBhvr>
                                    </p:animEffect>
                                  </p:childTnLst>
                                </p:cTn>
                              </p:par>
                              <p:par>
                                <p:cTn id="105" presetID="10" presetClass="entr" presetSubtype="0" fill="hold" nodeType="withEffect">
                                  <p:stCondLst>
                                    <p:cond delay="0"/>
                                  </p:stCondLst>
                                  <p:childTnLst>
                                    <p:set>
                                      <p:cBhvr>
                                        <p:cTn id="106" dur="1" fill="hold">
                                          <p:stCondLst>
                                            <p:cond delay="0"/>
                                          </p:stCondLst>
                                        </p:cTn>
                                        <p:tgtEl>
                                          <p:spTgt spid="99"/>
                                        </p:tgtEl>
                                        <p:attrNameLst>
                                          <p:attrName>style.visibility</p:attrName>
                                        </p:attrNameLst>
                                      </p:cBhvr>
                                      <p:to>
                                        <p:strVal val="visible"/>
                                      </p:to>
                                    </p:set>
                                    <p:animEffect transition="in" filter="fade">
                                      <p:cBhvr>
                                        <p:cTn id="107" dur="400"/>
                                        <p:tgtEl>
                                          <p:spTgt spid="99"/>
                                        </p:tgtEl>
                                      </p:cBhvr>
                                    </p:animEffect>
                                  </p:childTnLst>
                                </p:cTn>
                              </p:par>
                              <p:par>
                                <p:cTn id="108" presetID="10" presetClass="entr" presetSubtype="0" fill="hold" nodeType="withEffect">
                                  <p:stCondLst>
                                    <p:cond delay="0"/>
                                  </p:stCondLst>
                                  <p:childTnLst>
                                    <p:set>
                                      <p:cBhvr>
                                        <p:cTn id="109" dur="1" fill="hold">
                                          <p:stCondLst>
                                            <p:cond delay="0"/>
                                          </p:stCondLst>
                                        </p:cTn>
                                        <p:tgtEl>
                                          <p:spTgt spid="125"/>
                                        </p:tgtEl>
                                        <p:attrNameLst>
                                          <p:attrName>style.visibility</p:attrName>
                                        </p:attrNameLst>
                                      </p:cBhvr>
                                      <p:to>
                                        <p:strVal val="visible"/>
                                      </p:to>
                                    </p:set>
                                    <p:animEffect transition="in" filter="fade">
                                      <p:cBhvr>
                                        <p:cTn id="110"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862852" cy="638175"/>
          </a:xfrm>
        </p:spPr>
        <p:txBody>
          <a:bodyPr>
            <a:normAutofit fontScale="90000"/>
          </a:bodyPr>
          <a:lstStyle/>
          <a:p>
            <a:pPr algn="l">
              <a:buNone/>
              <a:defRPr b="0"/>
            </a:pPr>
            <a:r>
              <a:rPr lang="en-US" sz="2800" b="0" i="0" dirty="0">
                <a:solidFill>
                  <a:srgbClr val="000000"/>
                </a:solidFill>
              </a:rPr>
              <a:t>Which way should infrastructure dependencies point?</a:t>
            </a:r>
          </a:p>
        </p:txBody>
      </p:sp>
      <p:sp>
        <p:nvSpPr>
          <p:cNvPr id="3" name="Slide Number Placeholder 2"/>
          <p:cNvSpPr>
            <a:spLocks noGrp="1"/>
          </p:cNvSpPr>
          <p:nvPr>
            <p:ph type="sldNum" sz="quarter" idx="4"/>
          </p:nvPr>
        </p:nvSpPr>
        <p:spPr/>
        <p:txBody>
          <a:bodyPr/>
          <a:lstStyle/>
          <a:p>
            <a:fld id="{B7EB45DA-9A0D-DC49-8E02-F30A5DDC21C3}" type="slidenum">
              <a:rPr lang="en-US" smtClean="0"/>
              <a:t>18</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Direct dependency vs. ports &amp; adapters</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DIRECT DEPENDENCY</a:t>
            </a:r>
          </a:p>
        </p:txBody>
      </p:sp>
      <p:sp>
        <p:nvSpPr>
          <p:cNvPr id="100" name="DomL"/>
          <p:cNvSpPr/>
          <p:nvPr/>
        </p:nvSpPr>
        <p:spPr>
          <a:xfrm>
            <a:off x="1553900" y="1620000"/>
            <a:ext cx="200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cxnSp>
        <p:nvCxnSpPr>
          <p:cNvPr id="101" name="CallArr"/>
          <p:cNvCxnSpPr>
            <a:stCxn id="100" idx="2"/>
            <a:endCxn id="102" idx="0"/>
          </p:cNvCxnSpPr>
          <p:nvPr/>
        </p:nvCxnSpPr>
        <p:spPr>
          <a:xfrm>
            <a:off x="2553900" y="2260000"/>
            <a:ext cx="0" cy="700000"/>
          </a:xfrm>
          <a:prstGeom prst="line">
            <a:avLst/>
          </a:prstGeom>
          <a:ln w="76200">
            <a:solidFill>
              <a:srgbClr val="8E6F3E"/>
            </a:solidFill>
            <a:tailEnd type="triangle" w="med" len="med"/>
          </a:ln>
        </p:spPr>
      </p:cxnSp>
      <p:sp>
        <p:nvSpPr>
          <p:cNvPr id="103" name="CallLbl"/>
          <p:cNvSpPr txBox="1"/>
          <p:nvPr/>
        </p:nvSpPr>
        <p:spPr>
          <a:xfrm>
            <a:off x="2683900" y="2470000"/>
            <a:ext cx="1750000" cy="28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imports / calls</a:t>
            </a:r>
          </a:p>
        </p:txBody>
      </p:sp>
      <p:sp>
        <p:nvSpPr>
          <p:cNvPr id="102" name="SdkL"/>
          <p:cNvSpPr/>
          <p:nvPr/>
        </p:nvSpPr>
        <p:spPr>
          <a:xfrm>
            <a:off x="1353900" y="2960000"/>
            <a:ext cx="2400000" cy="8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SDK</a:t>
            </a:r>
          </a:p>
          <a:p>
            <a:pPr algn="ctr">
              <a:spcBef>
                <a:spcPts val="400"/>
              </a:spcBef>
              <a:buNone/>
            </a:pPr>
            <a:r>
              <a:rPr lang="en-US" sz="2000" b="1" i="0" dirty="0">
                <a:solidFill>
                  <a:srgbClr val="5C4826"/>
                </a:solidFill>
              </a:rPr>
              <a:t>/ VENDOR API</a:t>
            </a:r>
          </a:p>
        </p:txBody>
      </p:sp>
      <p:sp>
        <p:nvSpPr>
          <p:cNvPr id="92" name="CapL"/>
          <p:cNvSpPr txBox="1"/>
          <p:nvPr/>
        </p:nvSpPr>
        <p:spPr>
          <a:xfrm>
            <a:off x="685800" y="4400000"/>
            <a:ext cx="3736200" cy="280000"/>
          </a:xfrm>
          <a:prstGeom prst="rect">
            <a:avLst/>
          </a:prstGeom>
          <a:noFill/>
          <a:ln>
            <a:noFill/>
          </a:ln>
        </p:spPr>
        <p:txBody>
          <a:bodyPr wrap="square" lIns="0" tIns="0" rIns="0" bIns="0" anchor="t">
            <a:normAutofit lnSpcReduction="10000"/>
          </a:bodyPr>
          <a:lstStyle/>
          <a:p>
            <a:pPr algn="ctr">
              <a:buNone/>
            </a:pPr>
            <a:r>
              <a:rPr lang="en-US" sz="2000" b="0" i="1" dirty="0">
                <a:solidFill>
                  <a:srgbClr val="555960"/>
                </a:solidFill>
              </a:rPr>
              <a:t>domain depends on infrastructure</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lnSpcReduction="10000"/>
          </a:bodyPr>
          <a:lstStyle/>
          <a:p>
            <a:pPr algn="ctr">
              <a:buNone/>
            </a:pPr>
            <a:r>
              <a:rPr lang="en-US" sz="2000" b="1" i="0" dirty="0">
                <a:solidFill>
                  <a:srgbClr val="8E6F3E"/>
                </a:solidFill>
              </a:rPr>
              <a:t>PORTS &amp; ADAPTERS</a:t>
            </a:r>
          </a:p>
        </p:txBody>
      </p:sp>
      <p:sp>
        <p:nvSpPr>
          <p:cNvPr id="110" name="DomR"/>
          <p:cNvSpPr/>
          <p:nvPr/>
        </p:nvSpPr>
        <p:spPr>
          <a:xfrm>
            <a:off x="5590100" y="1500000"/>
            <a:ext cx="2000000" cy="5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sp>
        <p:nvSpPr>
          <p:cNvPr id="111" name="Port"/>
          <p:cNvSpPr/>
          <p:nvPr/>
        </p:nvSpPr>
        <p:spPr>
          <a:xfrm>
            <a:off x="6140100" y="2240000"/>
            <a:ext cx="900000" cy="320000"/>
          </a:xfrm>
          <a:prstGeom prst="rect">
            <a:avLst/>
          </a:prstGeom>
          <a:solidFill>
            <a:srgbClr val="FFFFFF"/>
          </a:solidFill>
          <a:ln w="15875">
            <a:solidFill>
              <a:srgbClr val="8E6F3E"/>
            </a:solidFill>
          </a:ln>
        </p:spPr>
        <p:txBody>
          <a:bodyPr wrap="square" lIns="18288" tIns="27432" rIns="18288" bIns="27432" anchor="ctr">
            <a:normAutofit fontScale="92500" lnSpcReduction="10000"/>
          </a:bodyPr>
          <a:lstStyle/>
          <a:p>
            <a:pPr algn="ctr">
              <a:buNone/>
            </a:pPr>
            <a:r>
              <a:rPr lang="en-US" sz="2000" b="1" i="0" dirty="0">
                <a:solidFill>
                  <a:srgbClr val="5C4826"/>
                </a:solidFill>
              </a:rPr>
              <a:t>PORT</a:t>
            </a:r>
          </a:p>
        </p:txBody>
      </p:sp>
      <p:sp>
        <p:nvSpPr>
          <p:cNvPr id="112" name="Adap"/>
          <p:cNvSpPr/>
          <p:nvPr/>
        </p:nvSpPr>
        <p:spPr>
          <a:xfrm>
            <a:off x="5690100" y="3060000"/>
            <a:ext cx="1800000" cy="48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DB ADAPTER</a:t>
            </a:r>
          </a:p>
        </p:txBody>
      </p:sp>
      <p:cxnSp>
        <p:nvCxnSpPr>
          <p:cNvPr id="113" name="Impl"/>
          <p:cNvCxnSpPr>
            <a:stCxn id="112" idx="0"/>
            <a:endCxn id="111" idx="2"/>
          </p:cNvCxnSpPr>
          <p:nvPr/>
        </p:nvCxnSpPr>
        <p:spPr>
          <a:xfrm flipV="1">
            <a:off x="6590100" y="2560000"/>
            <a:ext cx="0" cy="500000"/>
          </a:xfrm>
          <a:prstGeom prst="line">
            <a:avLst/>
          </a:prstGeom>
          <a:ln w="76200">
            <a:solidFill>
              <a:srgbClr val="8E6F3E"/>
            </a:solidFill>
            <a:prstDash val="dash"/>
            <a:tailEnd type="triangle" w="med" len="med"/>
          </a:ln>
        </p:spPr>
      </p:cxnSp>
      <p:sp>
        <p:nvSpPr>
          <p:cNvPr id="114" name="ImplLbl"/>
          <p:cNvSpPr txBox="1"/>
          <p:nvPr/>
        </p:nvSpPr>
        <p:spPr>
          <a:xfrm>
            <a:off x="6720100" y="2680000"/>
            <a:ext cx="1500000" cy="280000"/>
          </a:xfrm>
          <a:prstGeom prst="rect">
            <a:avLst/>
          </a:prstGeom>
          <a:noFill/>
          <a:ln>
            <a:noFill/>
          </a:ln>
        </p:spPr>
        <p:txBody>
          <a:bodyPr wrap="square" lIns="0" tIns="0" rIns="0" bIns="0" anchor="t">
            <a:normAutofit lnSpcReduction="10000"/>
          </a:bodyPr>
          <a:lstStyle/>
          <a:p>
            <a:pPr algn="l">
              <a:buNone/>
            </a:pPr>
            <a:r>
              <a:rPr lang="en-US" sz="2000" b="0" i="1" dirty="0">
                <a:solidFill>
                  <a:srgbClr val="555960"/>
                </a:solidFill>
              </a:rPr>
              <a:t>implements</a:t>
            </a:r>
          </a:p>
        </p:txBody>
      </p:sp>
      <p:sp>
        <p:nvSpPr>
          <p:cNvPr id="115" name="Db"/>
          <p:cNvSpPr/>
          <p:nvPr/>
        </p:nvSpPr>
        <p:spPr>
          <a:xfrm>
            <a:off x="5690100" y="3920000"/>
            <a:ext cx="1800000" cy="4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 SDK</a:t>
            </a:r>
          </a:p>
        </p:txBody>
      </p:sp>
      <p:cxnSp>
        <p:nvCxnSpPr>
          <p:cNvPr id="116" name="AdDb"/>
          <p:cNvCxnSpPr>
            <a:stCxn id="112" idx="2"/>
            <a:endCxn id="115" idx="0"/>
          </p:cNvCxnSpPr>
          <p:nvPr/>
        </p:nvCxnSpPr>
        <p:spPr>
          <a:xfrm>
            <a:off x="6590100" y="3540000"/>
            <a:ext cx="0" cy="380000"/>
          </a:xfrm>
          <a:prstGeom prst="line">
            <a:avLst/>
          </a:prstGeom>
          <a:ln w="76200">
            <a:solidFill>
              <a:srgbClr val="8E6F3E"/>
            </a:solidFill>
            <a:tailEnd type="triangle" w="med" len="med"/>
          </a:ln>
        </p:spPr>
      </p:cxnSp>
      <p:sp>
        <p:nvSpPr>
          <p:cNvPr id="94" name="CapR"/>
          <p:cNvSpPr txBox="1"/>
          <p:nvPr/>
        </p:nvSpPr>
        <p:spPr>
          <a:xfrm>
            <a:off x="4722000" y="4400000"/>
            <a:ext cx="3736200" cy="280000"/>
          </a:xfrm>
          <a:prstGeom prst="rect">
            <a:avLst/>
          </a:prstGeom>
          <a:noFill/>
          <a:ln>
            <a:noFill/>
          </a:ln>
        </p:spPr>
        <p:txBody>
          <a:bodyPr wrap="square" lIns="0" tIns="0" rIns="0" bIns="0" anchor="t">
            <a:normAutofit fontScale="85000" lnSpcReduction="10000"/>
          </a:bodyPr>
          <a:lstStyle/>
          <a:p>
            <a:pPr algn="ctr">
              <a:buNone/>
            </a:pPr>
            <a:r>
              <a:rPr lang="en-US" sz="2000" b="0" i="1" dirty="0">
                <a:solidFill>
                  <a:srgbClr val="555960"/>
                </a:solidFill>
              </a:rPr>
              <a:t>dependency points toward the domain</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fewer abstractions, less indirection</a:t>
            </a:r>
          </a:p>
          <a:p>
            <a:pPr algn="l">
              <a:spcBef>
                <a:spcPts val="600"/>
              </a:spcBef>
              <a:buNone/>
            </a:pPr>
            <a:r>
              <a:rPr lang="en-US" sz="2000" b="1" i="0" dirty="0">
                <a:solidFill>
                  <a:srgbClr val="555960"/>
                </a:solidFill>
              </a:rPr>
              <a:t>costs — </a:t>
            </a:r>
            <a:r>
              <a:rPr lang="en-US" sz="2000" b="0" i="0" dirty="0">
                <a:solidFill>
                  <a:srgbClr val="000000"/>
                </a:solidFill>
              </a:rPr>
              <a:t>infrastructure becomes a domain dependency</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lnSpcReduction="10000"/>
          </a:bodyPr>
          <a:lstStyle/>
          <a:p>
            <a:pPr algn="l">
              <a:buNone/>
            </a:pPr>
            <a:r>
              <a:rPr lang="en-US" sz="2000" b="1" i="0" dirty="0">
                <a:solidFill>
                  <a:srgbClr val="5C4826"/>
                </a:solidFill>
              </a:rPr>
              <a:t>buys — </a:t>
            </a:r>
            <a:r>
              <a:rPr lang="en-US" sz="2000" b="0" i="0" dirty="0">
                <a:solidFill>
                  <a:srgbClr val="000000"/>
                </a:solidFill>
              </a:rPr>
              <a:t>infrastructure substitution; isolation from vendor APIs</a:t>
            </a:r>
          </a:p>
          <a:p>
            <a:pPr algn="l">
              <a:spcBef>
                <a:spcPts val="600"/>
              </a:spcBef>
              <a:buNone/>
            </a:pPr>
            <a:r>
              <a:rPr lang="en-US" sz="2000" b="1" i="0" dirty="0">
                <a:solidFill>
                  <a:srgbClr val="555960"/>
                </a:solidFill>
              </a:rPr>
              <a:t>costs — </a:t>
            </a:r>
            <a:r>
              <a:rPr lang="en-US" sz="2000" b="0" i="0" dirty="0">
                <a:solidFill>
                  <a:srgbClr val="000000"/>
                </a:solidFill>
              </a:rPr>
              <a:t>additional interfaces, adapters, indirection</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fontScale="85000" lnSpcReduction="10000"/>
          </a:bodyPr>
          <a:lstStyle/>
          <a:p>
            <a:pPr algn="r">
              <a:buNone/>
            </a:pPr>
            <a:r>
              <a:rPr lang="en-US" sz="2000" b="0" i="0" dirty="0">
                <a:solidFill>
                  <a:srgbClr val="5C4826"/>
                </a:solidFill>
              </a:rPr>
              <a:t>directness and simplicity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fontScale="92500"/>
          </a:bodyPr>
          <a:lstStyle/>
          <a:p>
            <a:pPr algn="l">
              <a:buNone/>
            </a:pPr>
            <a:r>
              <a:rPr lang="en-US" sz="2000" b="0" i="0" dirty="0">
                <a:solidFill>
                  <a:srgbClr val="5C4826"/>
                </a:solidFill>
              </a:rPr>
              <a:t>isolation from infrastructure change</a:t>
            </a:r>
          </a:p>
        </p:txBody>
      </p:sp>
      <p:cxnSp>
        <p:nvCxnSpPr>
          <p:cNvPr id="130" name="Defines"/>
          <p:cNvCxnSpPr/>
          <p:nvPr/>
        </p:nvCxnSpPr>
        <p:spPr>
          <a:xfrm>
            <a:off x="6590100" y="2040000"/>
            <a:ext cx="0" cy="200000"/>
          </a:xfrm>
          <a:prstGeom prst="line">
            <a:avLst/>
          </a:prstGeom>
          <a:ln w="28575">
            <a:solidFill>
              <a:srgbClr val="8E6F3E"/>
            </a:solidFill>
            <a:tailEnd type="triangle" w="med" len="med"/>
          </a:ln>
        </p:spPr>
      </p:cxnSp>
      <p:sp>
        <p:nvSpPr>
          <p:cNvPr id="131" name="DefinesLbl"/>
          <p:cNvSpPr/>
          <p:nvPr/>
        </p:nvSpPr>
        <p:spPr>
          <a:xfrm>
            <a:off x="5290100" y="2020000"/>
            <a:ext cx="1200000" cy="260000"/>
          </a:xfrm>
          <a:prstGeom prst="rect">
            <a:avLst/>
          </a:prstGeom>
          <a:noFill/>
          <a:ln>
            <a:noFill/>
          </a:ln>
        </p:spPr>
        <p:txBody>
          <a:bodyPr wrap="square" lIns="54864" tIns="27432" rIns="54864" bIns="27432" anchor="ctr">
            <a:normAutofit/>
          </a:bodyPr>
          <a:lstStyle/>
          <a:p>
            <a:pPr algn="r">
              <a:buNone/>
            </a:pPr>
            <a:r>
              <a:rPr lang="en-US" sz="1300" b="0" i="1" dirty="0">
                <a:solidFill>
                  <a:srgbClr val="555960"/>
                </a:solidFill>
              </a:rPr>
              <a:t>defines</a:t>
            </a:r>
          </a:p>
        </p:txBody>
      </p:sp>
      <p:sp>
        <p:nvSpPr>
          <p:cNvPr id="132" name="SrcDepLbl"/>
          <p:cNvSpPr/>
          <p:nvPr/>
        </p:nvSpPr>
        <p:spPr>
          <a:xfrm>
            <a:off x="7590000" y="3120000"/>
            <a:ext cx="1550000" cy="320000"/>
          </a:xfrm>
          <a:prstGeom prst="rect">
            <a:avLst/>
          </a:prstGeom>
          <a:noFill/>
          <a:ln>
            <a:noFill/>
          </a:ln>
        </p:spPr>
        <p:txBody>
          <a:bodyPr wrap="square" lIns="54864" tIns="27432" rIns="54864" bIns="27432" anchor="ctr">
            <a:normAutofit fontScale="85000" lnSpcReduction="10000"/>
          </a:bodyPr>
          <a:lstStyle/>
          <a:p>
            <a:pPr algn="l">
              <a:buNone/>
            </a:pPr>
            <a:r>
              <a:rPr lang="en-US" sz="1400" b="1" i="0" dirty="0">
                <a:solidFill>
                  <a:srgbClr val="8E6F3E"/>
                </a:solidFill>
              </a:rPr>
              <a:t>↑ source dependency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4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400"/>
                                        <p:tgtEl>
                                          <p:spTgt spid="102"/>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400"/>
                                        <p:tgtEl>
                                          <p:spTgt spid="9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93"/>
                                        </p:tgtEl>
                                        <p:attrNameLst>
                                          <p:attrName>style.visibility</p:attrName>
                                        </p:attrNameLst>
                                      </p:cBhvr>
                                      <p:to>
                                        <p:strVal val="visible"/>
                                      </p:to>
                                    </p:set>
                                    <p:animEffect transition="in" filter="fade">
                                      <p:cBhvr>
                                        <p:cTn id="29" dur="400"/>
                                        <p:tgtEl>
                                          <p:spTgt spid="93"/>
                                        </p:tgtEl>
                                      </p:cBhvr>
                                    </p:animEffect>
                                  </p:childTnLst>
                                </p:cTn>
                              </p:par>
                              <p:par>
                                <p:cTn id="30" presetID="10" presetClass="entr" presetSubtype="0" fill="hold" nodeType="withEffect">
                                  <p:stCondLst>
                                    <p:cond delay="0"/>
                                  </p:stCondLst>
                                  <p:childTnLst>
                                    <p:set>
                                      <p:cBhvr>
                                        <p:cTn id="31" dur="1" fill="hold">
                                          <p:stCondLst>
                                            <p:cond delay="0"/>
                                          </p:stCondLst>
                                        </p:cTn>
                                        <p:tgtEl>
                                          <p:spTgt spid="110"/>
                                        </p:tgtEl>
                                        <p:attrNameLst>
                                          <p:attrName>style.visibility</p:attrName>
                                        </p:attrNameLst>
                                      </p:cBhvr>
                                      <p:to>
                                        <p:strVal val="visible"/>
                                      </p:to>
                                    </p:set>
                                    <p:animEffect transition="in" filter="fade">
                                      <p:cBhvr>
                                        <p:cTn id="32" dur="400"/>
                                        <p:tgtEl>
                                          <p:spTgt spid="1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0"/>
                                        </p:tgtEl>
                                        <p:attrNameLst>
                                          <p:attrName>style.visibility</p:attrName>
                                        </p:attrNameLst>
                                      </p:cBhvr>
                                      <p:to>
                                        <p:strVal val="visible"/>
                                      </p:to>
                                    </p:set>
                                    <p:animEffect transition="in" filter="fade">
                                      <p:cBhvr>
                                        <p:cTn id="37" dur="400"/>
                                        <p:tgtEl>
                                          <p:spTgt spid="130"/>
                                        </p:tgtEl>
                                      </p:cBhvr>
                                    </p:animEffect>
                                  </p:childTnLst>
                                </p:cTn>
                              </p:par>
                              <p:par>
                                <p:cTn id="38" presetID="10" presetClass="entr" presetSubtype="0" fill="hold" nodeType="withEffect">
                                  <p:stCondLst>
                                    <p:cond delay="0"/>
                                  </p:stCondLst>
                                  <p:childTnLst>
                                    <p:set>
                                      <p:cBhvr>
                                        <p:cTn id="39" dur="1" fill="hold">
                                          <p:stCondLst>
                                            <p:cond delay="0"/>
                                          </p:stCondLst>
                                        </p:cTn>
                                        <p:tgtEl>
                                          <p:spTgt spid="131"/>
                                        </p:tgtEl>
                                        <p:attrNameLst>
                                          <p:attrName>style.visibility</p:attrName>
                                        </p:attrNameLst>
                                      </p:cBhvr>
                                      <p:to>
                                        <p:strVal val="visible"/>
                                      </p:to>
                                    </p:set>
                                    <p:animEffect transition="in" filter="fade">
                                      <p:cBhvr>
                                        <p:cTn id="40" dur="400"/>
                                        <p:tgtEl>
                                          <p:spTgt spid="131"/>
                                        </p:tgtEl>
                                      </p:cBhvr>
                                    </p:animEffect>
                                  </p:childTnLst>
                                </p:cTn>
                              </p:par>
                              <p:par>
                                <p:cTn id="41" presetID="10" presetClass="entr" presetSubtype="0" fill="hold" nodeType="withEffect">
                                  <p:stCondLst>
                                    <p:cond delay="0"/>
                                  </p:stCondLst>
                                  <p:childTnLst>
                                    <p:set>
                                      <p:cBhvr>
                                        <p:cTn id="42" dur="1" fill="hold">
                                          <p:stCondLst>
                                            <p:cond delay="0"/>
                                          </p:stCondLst>
                                        </p:cTn>
                                        <p:tgtEl>
                                          <p:spTgt spid="111"/>
                                        </p:tgtEl>
                                        <p:attrNameLst>
                                          <p:attrName>style.visibility</p:attrName>
                                        </p:attrNameLst>
                                      </p:cBhvr>
                                      <p:to>
                                        <p:strVal val="visible"/>
                                      </p:to>
                                    </p:set>
                                    <p:animEffect transition="in" filter="fade">
                                      <p:cBhvr>
                                        <p:cTn id="43" dur="400"/>
                                        <p:tgtEl>
                                          <p:spTgt spid="11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12"/>
                                        </p:tgtEl>
                                        <p:attrNameLst>
                                          <p:attrName>style.visibility</p:attrName>
                                        </p:attrNameLst>
                                      </p:cBhvr>
                                      <p:to>
                                        <p:strVal val="visible"/>
                                      </p:to>
                                    </p:set>
                                    <p:animEffect transition="in" filter="fade">
                                      <p:cBhvr>
                                        <p:cTn id="48" dur="400"/>
                                        <p:tgtEl>
                                          <p:spTgt spid="112"/>
                                        </p:tgtEl>
                                      </p:cBhvr>
                                    </p:animEffect>
                                  </p:childTnLst>
                                </p:cTn>
                              </p:par>
                              <p:par>
                                <p:cTn id="49" presetID="10" presetClass="entr" presetSubtype="0" fill="hold" nodeType="withEffect">
                                  <p:stCondLst>
                                    <p:cond delay="0"/>
                                  </p:stCondLst>
                                  <p:childTnLst>
                                    <p:set>
                                      <p:cBhvr>
                                        <p:cTn id="50" dur="1" fill="hold">
                                          <p:stCondLst>
                                            <p:cond delay="0"/>
                                          </p:stCondLst>
                                        </p:cTn>
                                        <p:tgtEl>
                                          <p:spTgt spid="113"/>
                                        </p:tgtEl>
                                        <p:attrNameLst>
                                          <p:attrName>style.visibility</p:attrName>
                                        </p:attrNameLst>
                                      </p:cBhvr>
                                      <p:to>
                                        <p:strVal val="visible"/>
                                      </p:to>
                                    </p:set>
                                    <p:animEffect transition="in" filter="fade">
                                      <p:cBhvr>
                                        <p:cTn id="51" dur="400"/>
                                        <p:tgtEl>
                                          <p:spTgt spid="113"/>
                                        </p:tgtEl>
                                      </p:cBhvr>
                                    </p:animEffect>
                                  </p:childTnLst>
                                </p:cTn>
                              </p:par>
                              <p:par>
                                <p:cTn id="52" presetID="10" presetClass="entr" presetSubtype="0" fill="hold" nodeType="withEffect">
                                  <p:stCondLst>
                                    <p:cond delay="0"/>
                                  </p:stCondLst>
                                  <p:childTnLst>
                                    <p:set>
                                      <p:cBhvr>
                                        <p:cTn id="53" dur="1" fill="hold">
                                          <p:stCondLst>
                                            <p:cond delay="0"/>
                                          </p:stCondLst>
                                        </p:cTn>
                                        <p:tgtEl>
                                          <p:spTgt spid="114"/>
                                        </p:tgtEl>
                                        <p:attrNameLst>
                                          <p:attrName>style.visibility</p:attrName>
                                        </p:attrNameLst>
                                      </p:cBhvr>
                                      <p:to>
                                        <p:strVal val="visible"/>
                                      </p:to>
                                    </p:set>
                                    <p:animEffect transition="in" filter="fade">
                                      <p:cBhvr>
                                        <p:cTn id="54" dur="400"/>
                                        <p:tgtEl>
                                          <p:spTgt spid="114"/>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15"/>
                                        </p:tgtEl>
                                        <p:attrNameLst>
                                          <p:attrName>style.visibility</p:attrName>
                                        </p:attrNameLst>
                                      </p:cBhvr>
                                      <p:to>
                                        <p:strVal val="visible"/>
                                      </p:to>
                                    </p:set>
                                    <p:animEffect transition="in" filter="fade">
                                      <p:cBhvr>
                                        <p:cTn id="59" dur="400"/>
                                        <p:tgtEl>
                                          <p:spTgt spid="115"/>
                                        </p:tgtEl>
                                      </p:cBhvr>
                                    </p:animEffect>
                                  </p:childTnLst>
                                </p:cTn>
                              </p:par>
                              <p:par>
                                <p:cTn id="60" presetID="10" presetClass="entr" presetSubtype="0" fill="hold" nodeType="withEffect">
                                  <p:stCondLst>
                                    <p:cond delay="0"/>
                                  </p:stCondLst>
                                  <p:childTnLst>
                                    <p:set>
                                      <p:cBhvr>
                                        <p:cTn id="61" dur="1" fill="hold">
                                          <p:stCondLst>
                                            <p:cond delay="0"/>
                                          </p:stCondLst>
                                        </p:cTn>
                                        <p:tgtEl>
                                          <p:spTgt spid="116"/>
                                        </p:tgtEl>
                                        <p:attrNameLst>
                                          <p:attrName>style.visibility</p:attrName>
                                        </p:attrNameLst>
                                      </p:cBhvr>
                                      <p:to>
                                        <p:strVal val="visible"/>
                                      </p:to>
                                    </p:set>
                                    <p:animEffect transition="in" filter="fade">
                                      <p:cBhvr>
                                        <p:cTn id="62" dur="400"/>
                                        <p:tgtEl>
                                          <p:spTgt spid="116"/>
                                        </p:tgtEl>
                                      </p:cBhvr>
                                    </p:animEffect>
                                  </p:childTnLst>
                                </p:cTn>
                              </p:par>
                              <p:par>
                                <p:cTn id="63" presetID="10" presetClass="entr" presetSubtype="0" fill="hold" nodeType="withEffect">
                                  <p:stCondLst>
                                    <p:cond delay="0"/>
                                  </p:stCondLst>
                                  <p:childTnLst>
                                    <p:set>
                                      <p:cBhvr>
                                        <p:cTn id="64" dur="1" fill="hold">
                                          <p:stCondLst>
                                            <p:cond delay="0"/>
                                          </p:stCondLst>
                                        </p:cTn>
                                        <p:tgtEl>
                                          <p:spTgt spid="94"/>
                                        </p:tgtEl>
                                        <p:attrNameLst>
                                          <p:attrName>style.visibility</p:attrName>
                                        </p:attrNameLst>
                                      </p:cBhvr>
                                      <p:to>
                                        <p:strVal val="visible"/>
                                      </p:to>
                                    </p:set>
                                    <p:animEffect transition="in" filter="fade">
                                      <p:cBhvr>
                                        <p:cTn id="65" dur="400"/>
                                        <p:tgtEl>
                                          <p:spTgt spid="94"/>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32"/>
                                        </p:tgtEl>
                                        <p:attrNameLst>
                                          <p:attrName>style.visibility</p:attrName>
                                        </p:attrNameLst>
                                      </p:cBhvr>
                                      <p:to>
                                        <p:strVal val="visible"/>
                                      </p:to>
                                    </p:set>
                                    <p:animEffect transition="in" filter="fade">
                                      <p:cBhvr>
                                        <p:cTn id="70" dur="400"/>
                                        <p:tgtEl>
                                          <p:spTgt spid="132"/>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95"/>
                                        </p:tgtEl>
                                        <p:attrNameLst>
                                          <p:attrName>style.visibility</p:attrName>
                                        </p:attrNameLst>
                                      </p:cBhvr>
                                      <p:to>
                                        <p:strVal val="visible"/>
                                      </p:to>
                                    </p:set>
                                    <p:animEffect transition="in" filter="fade">
                                      <p:cBhvr>
                                        <p:cTn id="75" dur="400"/>
                                        <p:tgtEl>
                                          <p:spTgt spid="95"/>
                                        </p:tgtEl>
                                      </p:cBhvr>
                                    </p:animEffect>
                                  </p:childTnLst>
                                </p:cTn>
                              </p:par>
                              <p:par>
                                <p:cTn id="76" presetID="10" presetClass="entr" presetSubtype="0" fill="hold" nodeType="withEffect">
                                  <p:stCondLst>
                                    <p:cond delay="0"/>
                                  </p:stCondLst>
                                  <p:childTnLst>
                                    <p:set>
                                      <p:cBhvr>
                                        <p:cTn id="77" dur="1" fill="hold">
                                          <p:stCondLst>
                                            <p:cond delay="0"/>
                                          </p:stCondLst>
                                        </p:cTn>
                                        <p:tgtEl>
                                          <p:spTgt spid="96"/>
                                        </p:tgtEl>
                                        <p:attrNameLst>
                                          <p:attrName>style.visibility</p:attrName>
                                        </p:attrNameLst>
                                      </p:cBhvr>
                                      <p:to>
                                        <p:strVal val="visible"/>
                                      </p:to>
                                    </p:set>
                                    <p:animEffect transition="in" filter="fade">
                                      <p:cBhvr>
                                        <p:cTn id="78" dur="400"/>
                                        <p:tgtEl>
                                          <p:spTgt spid="96"/>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97"/>
                                        </p:tgtEl>
                                        <p:attrNameLst>
                                          <p:attrName>style.visibility</p:attrName>
                                        </p:attrNameLst>
                                      </p:cBhvr>
                                      <p:to>
                                        <p:strVal val="visible"/>
                                      </p:to>
                                    </p:set>
                                    <p:animEffect transition="in" filter="fade">
                                      <p:cBhvr>
                                        <p:cTn id="83" dur="400"/>
                                        <p:tgtEl>
                                          <p:spTgt spid="97"/>
                                        </p:tgtEl>
                                      </p:cBhvr>
                                    </p:animEffect>
                                  </p:childTnLst>
                                </p:cTn>
                              </p:par>
                              <p:par>
                                <p:cTn id="84" presetID="10" presetClass="entr" presetSubtype="0" fill="hold" nodeType="withEffect">
                                  <p:stCondLst>
                                    <p:cond delay="0"/>
                                  </p:stCondLst>
                                  <p:childTnLst>
                                    <p:set>
                                      <p:cBhvr>
                                        <p:cTn id="85" dur="1" fill="hold">
                                          <p:stCondLst>
                                            <p:cond delay="0"/>
                                          </p:stCondLst>
                                        </p:cTn>
                                        <p:tgtEl>
                                          <p:spTgt spid="98"/>
                                        </p:tgtEl>
                                        <p:attrNameLst>
                                          <p:attrName>style.visibility</p:attrName>
                                        </p:attrNameLst>
                                      </p:cBhvr>
                                      <p:to>
                                        <p:strVal val="visible"/>
                                      </p:to>
                                    </p:set>
                                    <p:animEffect transition="in" filter="fade">
                                      <p:cBhvr>
                                        <p:cTn id="86" dur="400"/>
                                        <p:tgtEl>
                                          <p:spTgt spid="98"/>
                                        </p:tgtEl>
                                      </p:cBhvr>
                                    </p:animEffect>
                                  </p:childTnLst>
                                </p:cTn>
                              </p:par>
                              <p:par>
                                <p:cTn id="87" presetID="10" presetClass="entr" presetSubtype="0" fill="hold" nodeType="withEffect">
                                  <p:stCondLst>
                                    <p:cond delay="0"/>
                                  </p:stCondLst>
                                  <p:childTnLst>
                                    <p:set>
                                      <p:cBhvr>
                                        <p:cTn id="88" dur="1" fill="hold">
                                          <p:stCondLst>
                                            <p:cond delay="0"/>
                                          </p:stCondLst>
                                        </p:cTn>
                                        <p:tgtEl>
                                          <p:spTgt spid="99"/>
                                        </p:tgtEl>
                                        <p:attrNameLst>
                                          <p:attrName>style.visibility</p:attrName>
                                        </p:attrNameLst>
                                      </p:cBhvr>
                                      <p:to>
                                        <p:strVal val="visible"/>
                                      </p:to>
                                    </p:set>
                                    <p:animEffect transition="in" filter="fade">
                                      <p:cBhvr>
                                        <p:cTn id="89" dur="400"/>
                                        <p:tgtEl>
                                          <p:spTgt spid="99"/>
                                        </p:tgtEl>
                                      </p:cBhvr>
                                    </p:animEffect>
                                  </p:childTnLst>
                                </p:cTn>
                              </p:par>
                              <p:par>
                                <p:cTn id="90" presetID="10" presetClass="entr" presetSubtype="0" fill="hold" nodeType="withEffect">
                                  <p:stCondLst>
                                    <p:cond delay="0"/>
                                  </p:stCondLst>
                                  <p:childTnLst>
                                    <p:set>
                                      <p:cBhvr>
                                        <p:cTn id="91" dur="1" fill="hold">
                                          <p:stCondLst>
                                            <p:cond delay="0"/>
                                          </p:stCondLst>
                                        </p:cTn>
                                        <p:tgtEl>
                                          <p:spTgt spid="120"/>
                                        </p:tgtEl>
                                        <p:attrNameLst>
                                          <p:attrName>style.visibility</p:attrName>
                                        </p:attrNameLst>
                                      </p:cBhvr>
                                      <p:to>
                                        <p:strVal val="visible"/>
                                      </p:to>
                                    </p:set>
                                    <p:animEffect transition="in" filter="fade">
                                      <p:cBhvr>
                                        <p:cTn id="92"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Patterns give us expectations, not measurements</a:t>
            </a:r>
          </a:p>
        </p:txBody>
      </p:sp>
      <p:sp>
        <p:nvSpPr>
          <p:cNvPr id="3" name="Slide Number Placeholder 2"/>
          <p:cNvSpPr>
            <a:spLocks noGrp="1"/>
          </p:cNvSpPr>
          <p:nvPr>
            <p:ph type="sldNum" sz="quarter" idx="4"/>
          </p:nvPr>
        </p:nvSpPr>
        <p:spPr/>
        <p:txBody>
          <a:bodyPr/>
          <a:lstStyle/>
          <a:p>
            <a:fld id="{B7EB45DA-9A0D-DC49-8E02-F30A5DDC21C3}" type="slidenum">
              <a:rPr lang="en-US" smtClean="0"/>
              <a:t>19</a:t>
            </a:fld>
            <a:endParaRPr lang="en-US"/>
          </a:p>
        </p:txBody>
      </p:sp>
      <p:graphicFrame>
        <p:nvGraphicFramePr>
          <p:cNvPr id="150" name="ComparisonTable"/>
          <p:cNvGraphicFramePr>
            <a:graphicFrameLocks noGrp="1"/>
          </p:cNvGraphicFramePr>
          <p:nvPr>
            <p:extLst>
              <p:ext uri="{D42A27DB-BD31-4B8C-83A1-F6EECF244321}">
                <p14:modId xmlns:p14="http://schemas.microsoft.com/office/powerpoint/2010/main" val="2967546854"/>
              </p:ext>
            </p:extLst>
          </p:nvPr>
        </p:nvGraphicFramePr>
        <p:xfrm>
          <a:off x="286992" y="1413301"/>
          <a:ext cx="8570016" cy="3580000"/>
        </p:xfrm>
        <a:graphic>
          <a:graphicData uri="http://schemas.openxmlformats.org/drawingml/2006/table">
            <a:tbl>
              <a:tblPr firstRow="1">
                <a:tableStyleId>{5C22544A-7EE6-4342-B048-85BDC9FD1C3A}</a:tableStyleId>
              </a:tblPr>
              <a:tblGrid>
                <a:gridCol w="2646291">
                  <a:extLst>
                    <a:ext uri="{9D8B030D-6E8A-4147-A177-3AD203B41FA5}">
                      <a16:colId xmlns:a16="http://schemas.microsoft.com/office/drawing/2014/main" val="20000"/>
                    </a:ext>
                  </a:extLst>
                </a:gridCol>
                <a:gridCol w="1819326">
                  <a:extLst>
                    <a:ext uri="{9D8B030D-6E8A-4147-A177-3AD203B41FA5}">
                      <a16:colId xmlns:a16="http://schemas.microsoft.com/office/drawing/2014/main" val="20001"/>
                    </a:ext>
                  </a:extLst>
                </a:gridCol>
                <a:gridCol w="1819326">
                  <a:extLst>
                    <a:ext uri="{9D8B030D-6E8A-4147-A177-3AD203B41FA5}">
                      <a16:colId xmlns:a16="http://schemas.microsoft.com/office/drawing/2014/main" val="20002"/>
                    </a:ext>
                  </a:extLst>
                </a:gridCol>
                <a:gridCol w="2285073">
                  <a:extLst>
                    <a:ext uri="{9D8B030D-6E8A-4147-A177-3AD203B41FA5}">
                      <a16:colId xmlns:a16="http://schemas.microsoft.com/office/drawing/2014/main" val="20003"/>
                    </a:ext>
                  </a:extLst>
                </a:gridCol>
              </a:tblGrid>
              <a:tr h="460000">
                <a:tc>
                  <a:txBody>
                    <a:bodyPr/>
                    <a:lstStyle/>
                    <a:p>
                      <a:pPr algn="l">
                        <a:buNone/>
                      </a:pPr>
                      <a:r>
                        <a:rPr lang="en-US" sz="1600" b="1" i="0" dirty="0">
                          <a:solidFill>
                            <a:srgbClr val="FFFFFF"/>
                          </a:solidFill>
                        </a:rPr>
                        <a:t>RECURRING PROBLEM</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c>
                  <a:txBody>
                    <a:bodyPr/>
                    <a:lstStyle/>
                    <a:p>
                      <a:pPr algn="l">
                        <a:buNone/>
                      </a:pPr>
                      <a:r>
                        <a:rPr lang="en-US" sz="1600" b="1" i="0" dirty="0">
                          <a:solidFill>
                            <a:srgbClr val="FFFFFF"/>
                          </a:solidFill>
                        </a:rPr>
                        <a:t>OPTION A</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c>
                  <a:txBody>
                    <a:bodyPr/>
                    <a:lstStyle/>
                    <a:p>
                      <a:pPr algn="l">
                        <a:buNone/>
                      </a:pPr>
                      <a:r>
                        <a:rPr lang="en-US" sz="1600" b="1" i="0" dirty="0">
                          <a:solidFill>
                            <a:srgbClr val="FFFFFF"/>
                          </a:solidFill>
                        </a:rPr>
                        <a:t>OPTION B</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tc>
                  <a:txBody>
                    <a:bodyPr/>
                    <a:lstStyle/>
                    <a:p>
                      <a:pPr algn="l">
                        <a:buNone/>
                      </a:pPr>
                      <a:r>
                        <a:rPr lang="en-US" sz="1600" b="1" i="0" dirty="0">
                          <a:solidFill>
                            <a:srgbClr val="FFFFFF"/>
                          </a:solidFill>
                        </a:rPr>
                        <a:t>WHAT IS TRADED</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8E6F3E"/>
                    </a:solidFill>
                  </a:tcPr>
                </a:tc>
                <a:extLst>
                  <a:ext uri="{0D108BD9-81ED-4DB2-BD59-A6C34878D82A}">
                    <a16:rowId xmlns:a16="http://schemas.microsoft.com/office/drawing/2014/main" val="10000"/>
                  </a:ext>
                </a:extLst>
              </a:tr>
              <a:tr h="780000">
                <a:tc>
                  <a:txBody>
                    <a:bodyPr/>
                    <a:lstStyle/>
                    <a:p>
                      <a:pPr algn="l">
                        <a:buNone/>
                      </a:pPr>
                      <a:r>
                        <a:rPr lang="en-US" sz="1800" b="1" i="0" dirty="0">
                          <a:solidFill>
                            <a:srgbClr val="5C4826"/>
                          </a:solidFill>
                        </a:rPr>
                        <a:t>Abstraction boundaries</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Strict layering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Deliberate crossing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isolation ↔ capability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1"/>
                  </a:ext>
                </a:extLst>
              </a:tr>
              <a:tr h="780000">
                <a:tc>
                  <a:txBody>
                    <a:bodyPr/>
                    <a:lstStyle/>
                    <a:p>
                      <a:pPr algn="l">
                        <a:buNone/>
                      </a:pPr>
                      <a:r>
                        <a:rPr lang="en-US" sz="1800" b="1" i="0" dirty="0">
                          <a:solidFill>
                            <a:srgbClr val="5C4826"/>
                          </a:solidFill>
                        </a:rPr>
                        <a:t>State organization</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Pipeline</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Repository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local flow ↔ shared consistency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2"/>
                  </a:ext>
                </a:extLst>
              </a:tr>
              <a:tr h="780000">
                <a:tc>
                  <a:txBody>
                    <a:bodyPr/>
                    <a:lstStyle/>
                    <a:p>
                      <a:pPr algn="l">
                        <a:buNone/>
                      </a:pPr>
                      <a:r>
                        <a:rPr lang="en-US" sz="1800" b="1" i="0" dirty="0">
                          <a:solidFill>
                            <a:srgbClr val="5C4826"/>
                          </a:solidFill>
                        </a:rPr>
                        <a:t>Communication</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RPC</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Event messaging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coordination ↔ decoupling</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3"/>
                  </a:ext>
                </a:extLst>
              </a:tr>
              <a:tr h="780000">
                <a:tc>
                  <a:txBody>
                    <a:bodyPr/>
                    <a:lstStyle/>
                    <a:p>
                      <a:pPr algn="l">
                        <a:buNone/>
                      </a:pPr>
                      <a:r>
                        <a:rPr lang="en-US" sz="1800" b="1" i="0" dirty="0">
                          <a:solidFill>
                            <a:srgbClr val="5C4826"/>
                          </a:solidFill>
                        </a:rPr>
                        <a:t>Infrastructure dependencies</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5F1E8"/>
                    </a:solidFill>
                  </a:tcPr>
                </a:tc>
                <a:tc>
                  <a:txBody>
                    <a:bodyPr/>
                    <a:lstStyle/>
                    <a:p>
                      <a:pPr algn="l">
                        <a:buNone/>
                      </a:pPr>
                      <a:r>
                        <a:rPr lang="en-US" sz="1800" b="0" i="0" dirty="0">
                          <a:solidFill>
                            <a:srgbClr val="000000"/>
                          </a:solidFill>
                        </a:rPr>
                        <a:t>Direct dependency</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800" b="0" i="0" dirty="0">
                          <a:solidFill>
                            <a:srgbClr val="000000"/>
                          </a:solidFill>
                        </a:rPr>
                        <a:t>Ports &amp; adapters</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tc>
                  <a:txBody>
                    <a:bodyPr/>
                    <a:lstStyle/>
                    <a:p>
                      <a:pPr algn="l">
                        <a:buNone/>
                      </a:pPr>
                      <a:r>
                        <a:rPr lang="en-US" sz="1600" b="0" i="1" dirty="0">
                          <a:solidFill>
                            <a:srgbClr val="555960"/>
                          </a:solidFill>
                        </a:rPr>
                        <a:t>directness ↔ infrastructure isolation</a:t>
                      </a:r>
                    </a:p>
                  </a:txBody>
                  <a:tcPr anchor="ctr">
                    <a:lnL w="12700" cap="flat" cmpd="sng" algn="ctr">
                      <a:solidFill>
                        <a:srgbClr val="C9B991"/>
                      </a:solidFill>
                      <a:prstDash val="solid"/>
                    </a:lnL>
                    <a:lnR w="12700" cap="flat" cmpd="sng" algn="ctr">
                      <a:solidFill>
                        <a:srgbClr val="C9B991"/>
                      </a:solidFill>
                      <a:prstDash val="solid"/>
                    </a:lnR>
                    <a:lnT w="12700" cap="flat" cmpd="sng" algn="ctr">
                      <a:solidFill>
                        <a:srgbClr val="C9B991"/>
                      </a:solidFill>
                      <a:prstDash val="solid"/>
                    </a:lnT>
                    <a:lnB w="12700" cap="flat" cmpd="sng" algn="ctr">
                      <a:solidFill>
                        <a:srgbClr val="C9B991"/>
                      </a:solidFill>
                      <a:prstDash val="solid"/>
                    </a:lnB>
                    <a:solidFill>
                      <a:srgbClr val="FFFFFF"/>
                    </a:solidFill>
                  </a:tcPr>
                </a:tc>
                <a:extLst>
                  <a:ext uri="{0D108BD9-81ED-4DB2-BD59-A6C34878D82A}">
                    <a16:rowId xmlns:a16="http://schemas.microsoft.com/office/drawing/2014/main" val="10004"/>
                  </a:ext>
                </a:extLst>
              </a:tr>
            </a:tbl>
          </a:graphicData>
        </a:graphic>
      </p:graphicFrame>
      <p:sp>
        <p:nvSpPr>
          <p:cNvPr id="140" name="Footer"/>
          <p:cNvSpPr txBox="1"/>
          <p:nvPr/>
        </p:nvSpPr>
        <p:spPr>
          <a:xfrm>
            <a:off x="685800" y="5650000"/>
            <a:ext cx="7772400" cy="8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We learn wha</a:t>
            </a:r>
            <a:r>
              <a:rPr lang="en-US" sz="2400" i="1" dirty="0">
                <a:solidFill>
                  <a:srgbClr val="000000"/>
                </a:solidFill>
              </a:rPr>
              <a:t>t TENDS to happen…</a:t>
            </a:r>
          </a:p>
          <a:p>
            <a:pPr algn="ctr">
              <a:buNone/>
            </a:pPr>
            <a:r>
              <a:rPr lang="en-US" sz="2400" b="0" i="1" dirty="0">
                <a:solidFill>
                  <a:srgbClr val="000000"/>
                </a:solidFill>
              </a:rPr>
              <a:t>Not what WILL happen in our context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32352" y="2239645"/>
            <a:ext cx="8279296" cy="914400"/>
          </a:xfrm>
        </p:spPr>
        <p:txBody>
          <a:bodyPr>
            <a:normAutofit fontScale="90000"/>
          </a:bodyPr>
          <a:lstStyle/>
          <a:p>
            <a:pPr algn="ctr">
              <a:buNone/>
              <a:defRPr b="0"/>
            </a:pPr>
            <a:r>
              <a:rPr lang="en-US" sz="3600" b="0" i="0" dirty="0">
                <a:solidFill>
                  <a:srgbClr val="000000"/>
                </a:solidFill>
              </a:rPr>
              <a:t>How much can we know before we build?</a:t>
            </a:r>
          </a:p>
        </p:txBody>
      </p:sp>
      <p:sp>
        <p:nvSpPr>
          <p:cNvPr id="3" name="Slide Number Placeholder 2"/>
          <p:cNvSpPr>
            <a:spLocks noGrp="1"/>
          </p:cNvSpPr>
          <p:nvPr>
            <p:ph type="sldNum" sz="quarter" idx="4"/>
          </p:nvPr>
        </p:nvSpPr>
        <p:spPr/>
        <p:txBody>
          <a:bodyPr/>
          <a:lstStyle/>
          <a:p>
            <a:fld id="{B7EB45DA-9A0D-DC49-8E02-F30A5DDC21C3}" type="slidenum">
              <a:rPr lang="en-US" smtClean="0"/>
              <a:t>20</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4</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makes some</a:t>
            </a:r>
            <a:br>
              <a:rPr lang="en-US" sz="2800"/>
            </a:br>
            <a:r>
              <a:rPr lang="en-US" sz="2800" b="0" i="0" dirty="0">
                <a:solidFill>
                  <a:srgbClr val="555960"/>
                </a:solidFill>
              </a:rPr>
              <a:t>properties analyzable.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09" y="99809"/>
            <a:ext cx="9423441" cy="638175"/>
          </a:xfrm>
        </p:spPr>
        <p:txBody>
          <a:bodyPr>
            <a:normAutofit fontScale="90000"/>
          </a:bodyPr>
          <a:lstStyle/>
          <a:p>
            <a:pPr algn="l">
              <a:buNone/>
              <a:defRPr b="0"/>
            </a:pPr>
            <a:r>
              <a:rPr lang="en-US" sz="2600" b="0" i="0" dirty="0">
                <a:solidFill>
                  <a:srgbClr val="000000"/>
                </a:solidFill>
              </a:rPr>
              <a:t>An architecture model is useful only if it answers a question</a:t>
            </a:r>
          </a:p>
        </p:txBody>
      </p:sp>
      <p:sp>
        <p:nvSpPr>
          <p:cNvPr id="3" name="Slide Number Placeholder 2"/>
          <p:cNvSpPr>
            <a:spLocks noGrp="1"/>
          </p:cNvSpPr>
          <p:nvPr>
            <p:ph type="sldNum" sz="quarter" idx="4"/>
          </p:nvPr>
        </p:nvSpPr>
        <p:spPr/>
        <p:txBody>
          <a:bodyPr/>
          <a:lstStyle/>
          <a:p>
            <a:fld id="{B7EB45DA-9A0D-DC49-8E02-F30A5DDC21C3}" type="slidenum">
              <a:rPr lang="en-US" smtClean="0"/>
              <a:t>21</a:t>
            </a:fld>
            <a:endParaRPr lang="en-US"/>
          </a:p>
        </p:txBody>
      </p:sp>
      <p:sp>
        <p:nvSpPr>
          <p:cNvPr id="61" name="T61"/>
          <p:cNvSpPr txBox="1"/>
          <p:nvPr/>
        </p:nvSpPr>
        <p:spPr>
          <a:xfrm>
            <a:off x="685800" y="5250000"/>
            <a:ext cx="7772400" cy="500000"/>
          </a:xfrm>
          <a:prstGeom prst="rect">
            <a:avLst/>
          </a:prstGeom>
          <a:noFill/>
          <a:ln>
            <a:noFill/>
          </a:ln>
        </p:spPr>
        <p:txBody>
          <a:bodyPr wrap="square" lIns="0" tIns="0" rIns="0" bIns="0" anchor="t">
            <a:normAutofit/>
          </a:bodyPr>
          <a:lstStyle/>
          <a:p>
            <a:pPr algn="ctr">
              <a:buNone/>
            </a:pPr>
            <a:r>
              <a:rPr lang="en-US" sz="2600" b="1" i="0" dirty="0">
                <a:solidFill>
                  <a:srgbClr val="000000"/>
                </a:solidFill>
              </a:rPr>
              <a:t>Different question → Different model.</a:t>
            </a:r>
          </a:p>
        </p:txBody>
      </p:sp>
      <p:sp>
        <p:nvSpPr>
          <p:cNvPr id="100" name="PH0"/>
          <p:cNvSpPr txBox="1"/>
          <p:nvPr/>
        </p:nvSpPr>
        <p:spPr>
          <a:xfrm>
            <a:off x="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CHANGE?</a:t>
            </a:r>
          </a:p>
        </p:txBody>
      </p:sp>
      <p:sp>
        <p:nvSpPr>
          <p:cNvPr id="101" name="PS0"/>
          <p:cNvSpPr txBox="1"/>
          <p:nvPr/>
        </p:nvSpPr>
        <p:spPr>
          <a:xfrm>
            <a:off x="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dependency model</a:t>
            </a:r>
          </a:p>
        </p:txBody>
      </p:sp>
      <p:sp>
        <p:nvSpPr>
          <p:cNvPr id="102" name="PH1"/>
          <p:cNvSpPr txBox="1"/>
          <p:nvPr/>
        </p:nvSpPr>
        <p:spPr>
          <a:xfrm>
            <a:off x="3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LATENCY?</a:t>
            </a:r>
          </a:p>
        </p:txBody>
      </p:sp>
      <p:sp>
        <p:nvSpPr>
          <p:cNvPr id="103" name="PS1"/>
          <p:cNvSpPr txBox="1"/>
          <p:nvPr/>
        </p:nvSpPr>
        <p:spPr>
          <a:xfrm>
            <a:off x="3156000" y="1540000"/>
            <a:ext cx="2832000" cy="306800"/>
          </a:xfrm>
          <a:prstGeom prst="rect">
            <a:avLst/>
          </a:prstGeom>
          <a:noFill/>
          <a:ln>
            <a:noFill/>
          </a:ln>
        </p:spPr>
        <p:txBody>
          <a:bodyPr wrap="square" lIns="0" tIns="0" rIns="0" bIns="0" anchor="t">
            <a:normAutofit/>
          </a:bodyPr>
          <a:lstStyle/>
          <a:p>
            <a:pPr algn="ctr">
              <a:buNone/>
            </a:pPr>
            <a:r>
              <a:rPr lang="en-US" sz="2000" i="1" dirty="0">
                <a:solidFill>
                  <a:srgbClr val="555960"/>
                </a:solidFill>
              </a:rPr>
              <a:t>f</a:t>
            </a:r>
            <a:r>
              <a:rPr lang="en-US" sz="2000" b="0" i="1" dirty="0">
                <a:solidFill>
                  <a:srgbClr val="555960"/>
                </a:solidFill>
              </a:rPr>
              <a:t>low model</a:t>
            </a:r>
          </a:p>
        </p:txBody>
      </p:sp>
      <p:cxnSp>
        <p:nvCxnSpPr>
          <p:cNvPr id="104" name="PDiv1"/>
          <p:cNvCxnSpPr/>
          <p:nvPr/>
        </p:nvCxnSpPr>
        <p:spPr>
          <a:xfrm>
            <a:off x="3072000" y="1200000"/>
            <a:ext cx="0" cy="3300000"/>
          </a:xfrm>
          <a:prstGeom prst="line">
            <a:avLst/>
          </a:prstGeom>
          <a:ln w="28575">
            <a:solidFill>
              <a:srgbClr val="C9B991"/>
            </a:solidFill>
            <a:prstDash val="dash"/>
          </a:ln>
        </p:spPr>
      </p:cxnSp>
      <p:sp>
        <p:nvSpPr>
          <p:cNvPr id="105" name="PH2"/>
          <p:cNvSpPr txBox="1"/>
          <p:nvPr/>
        </p:nvSpPr>
        <p:spPr>
          <a:xfrm>
            <a:off x="6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FAILURE?</a:t>
            </a:r>
          </a:p>
        </p:txBody>
      </p:sp>
      <p:sp>
        <p:nvSpPr>
          <p:cNvPr id="106" name="PS2"/>
          <p:cNvSpPr txBox="1"/>
          <p:nvPr/>
        </p:nvSpPr>
        <p:spPr>
          <a:xfrm>
            <a:off x="6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deployment model</a:t>
            </a:r>
          </a:p>
        </p:txBody>
      </p:sp>
      <p:cxnSp>
        <p:nvCxnSpPr>
          <p:cNvPr id="107" name="PDiv2"/>
          <p:cNvCxnSpPr/>
          <p:nvPr/>
        </p:nvCxnSpPr>
        <p:spPr>
          <a:xfrm>
            <a:off x="6072000" y="1200000"/>
            <a:ext cx="0" cy="3300000"/>
          </a:xfrm>
          <a:prstGeom prst="line">
            <a:avLst/>
          </a:prstGeom>
          <a:ln w="28575">
            <a:solidFill>
              <a:srgbClr val="C9B991"/>
            </a:solidFill>
            <a:prstDash val="dash"/>
          </a:ln>
        </p:spPr>
      </p:cxnSp>
      <p:sp>
        <p:nvSpPr>
          <p:cNvPr id="108" name="P1A"/>
          <p:cNvSpPr/>
          <p:nvPr/>
        </p:nvSpPr>
        <p:spPr>
          <a:xfrm>
            <a:off x="746000" y="216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9" name="P1B"/>
          <p:cNvSpPr/>
          <p:nvPr/>
        </p:nvSpPr>
        <p:spPr>
          <a:xfrm>
            <a:off x="746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0" name="P1C"/>
          <p:cNvSpPr/>
          <p:nvPr/>
        </p:nvSpPr>
        <p:spPr>
          <a:xfrm>
            <a:off x="746000" y="393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11" name="P1D"/>
          <p:cNvSpPr/>
          <p:nvPr/>
        </p:nvSpPr>
        <p:spPr>
          <a:xfrm>
            <a:off x="2044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cxnSp>
        <p:nvCxnSpPr>
          <p:cNvPr id="112" name="P1ab"/>
          <p:cNvCxnSpPr/>
          <p:nvPr/>
        </p:nvCxnSpPr>
        <p:spPr>
          <a:xfrm>
            <a:off x="1123600" y="2670200"/>
            <a:ext cx="0" cy="377600"/>
          </a:xfrm>
          <a:prstGeom prst="line">
            <a:avLst/>
          </a:prstGeom>
          <a:ln w="50578">
            <a:solidFill>
              <a:srgbClr val="8E6F3E"/>
            </a:solidFill>
            <a:tailEnd type="triangle" w="med" len="med"/>
          </a:ln>
        </p:spPr>
      </p:cxnSp>
      <p:cxnSp>
        <p:nvCxnSpPr>
          <p:cNvPr id="113" name="P1bc"/>
          <p:cNvCxnSpPr/>
          <p:nvPr/>
        </p:nvCxnSpPr>
        <p:spPr>
          <a:xfrm>
            <a:off x="1123600" y="3555200"/>
            <a:ext cx="0" cy="377600"/>
          </a:xfrm>
          <a:prstGeom prst="line">
            <a:avLst/>
          </a:prstGeom>
          <a:ln w="50578">
            <a:solidFill>
              <a:srgbClr val="8E6F3E"/>
            </a:solidFill>
            <a:tailEnd type="triangle" w="med" len="med"/>
          </a:ln>
        </p:spPr>
      </p:cxnSp>
      <p:cxnSp>
        <p:nvCxnSpPr>
          <p:cNvPr id="114" name="P1bd"/>
          <p:cNvCxnSpPr/>
          <p:nvPr/>
        </p:nvCxnSpPr>
        <p:spPr>
          <a:xfrm>
            <a:off x="1501200" y="3301500"/>
            <a:ext cx="542800" cy="0"/>
          </a:xfrm>
          <a:prstGeom prst="line">
            <a:avLst/>
          </a:prstGeom>
          <a:ln w="50578">
            <a:solidFill>
              <a:srgbClr val="8E6F3E"/>
            </a:solidFill>
            <a:tailEnd type="triangle" w="med" len="med"/>
          </a:ln>
        </p:spPr>
      </p:cxnSp>
      <p:sp>
        <p:nvSpPr>
          <p:cNvPr id="115" name="P2A"/>
          <p:cNvSpPr/>
          <p:nvPr/>
        </p:nvSpPr>
        <p:spPr>
          <a:xfrm>
            <a:off x="4194400" y="2103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16" name="P2B"/>
          <p:cNvSpPr/>
          <p:nvPr/>
        </p:nvSpPr>
        <p:spPr>
          <a:xfrm>
            <a:off x="41944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7" name="P2C"/>
          <p:cNvSpPr/>
          <p:nvPr/>
        </p:nvSpPr>
        <p:spPr>
          <a:xfrm>
            <a:off x="4194400" y="3991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18" name="P2ab"/>
          <p:cNvCxnSpPr/>
          <p:nvPr/>
        </p:nvCxnSpPr>
        <p:spPr>
          <a:xfrm>
            <a:off x="4572000" y="2611200"/>
            <a:ext cx="0" cy="436600"/>
          </a:xfrm>
          <a:prstGeom prst="line">
            <a:avLst/>
          </a:prstGeom>
          <a:ln w="50578">
            <a:solidFill>
              <a:srgbClr val="8E6F3E"/>
            </a:solidFill>
            <a:tailEnd type="triangle" w="med" len="med"/>
          </a:ln>
        </p:spPr>
      </p:cxnSp>
      <p:sp>
        <p:nvSpPr>
          <p:cNvPr id="119" name="P2abL"/>
          <p:cNvSpPr txBox="1"/>
          <p:nvPr/>
        </p:nvSpPr>
        <p:spPr>
          <a:xfrm>
            <a:off x="4690000" y="2658400"/>
            <a:ext cx="826000" cy="306800"/>
          </a:xfrm>
          <a:prstGeom prst="rect">
            <a:avLst/>
          </a:prstGeom>
          <a:noFill/>
          <a:ln>
            <a:noFill/>
          </a:ln>
        </p:spPr>
        <p:txBody>
          <a:bodyPr wrap="square" lIns="0" tIns="0" rIns="0" bIns="0" anchor="t">
            <a:normAutofit/>
          </a:bodyPr>
          <a:lstStyle/>
          <a:p>
            <a:pPr algn="l">
              <a:buNone/>
            </a:pPr>
            <a:r>
              <a:rPr lang="en-US" sz="2000" b="0" i="1" dirty="0">
                <a:solidFill>
                  <a:srgbClr val="555960"/>
                </a:solidFill>
              </a:rPr>
              <a:t>20 ms</a:t>
            </a:r>
          </a:p>
        </p:txBody>
      </p:sp>
      <p:cxnSp>
        <p:nvCxnSpPr>
          <p:cNvPr id="120" name="P2bc"/>
          <p:cNvCxnSpPr/>
          <p:nvPr/>
        </p:nvCxnSpPr>
        <p:spPr>
          <a:xfrm>
            <a:off x="4572000" y="3555200"/>
            <a:ext cx="0" cy="436600"/>
          </a:xfrm>
          <a:prstGeom prst="line">
            <a:avLst/>
          </a:prstGeom>
          <a:ln w="76429">
            <a:solidFill>
              <a:srgbClr val="8E6F3E"/>
            </a:solidFill>
            <a:tailEnd type="triangle" w="med" len="med"/>
          </a:ln>
        </p:spPr>
      </p:cxnSp>
      <p:sp>
        <p:nvSpPr>
          <p:cNvPr id="121" name="P2bcL"/>
          <p:cNvSpPr txBox="1"/>
          <p:nvPr/>
        </p:nvSpPr>
        <p:spPr>
          <a:xfrm>
            <a:off x="4690000" y="3602400"/>
            <a:ext cx="826000" cy="306800"/>
          </a:xfrm>
          <a:prstGeom prst="rect">
            <a:avLst/>
          </a:prstGeom>
          <a:noFill/>
          <a:ln>
            <a:noFill/>
          </a:ln>
        </p:spPr>
        <p:txBody>
          <a:bodyPr wrap="square" lIns="0" tIns="0" rIns="0" bIns="0" anchor="t">
            <a:normAutofit/>
          </a:bodyPr>
          <a:lstStyle/>
          <a:p>
            <a:pPr algn="l">
              <a:buNone/>
            </a:pPr>
            <a:r>
              <a:rPr lang="en-US" sz="2000" b="1" i="1" dirty="0">
                <a:solidFill>
                  <a:srgbClr val="5C4826"/>
                </a:solidFill>
              </a:rPr>
              <a:t>80 ms</a:t>
            </a:r>
          </a:p>
        </p:txBody>
      </p:sp>
      <p:sp>
        <p:nvSpPr>
          <p:cNvPr id="122" name="P3R0"/>
          <p:cNvSpPr/>
          <p:nvPr/>
        </p:nvSpPr>
        <p:spPr>
          <a:xfrm>
            <a:off x="62268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1</a:t>
            </a:r>
          </a:p>
        </p:txBody>
      </p:sp>
      <p:sp>
        <p:nvSpPr>
          <p:cNvPr id="123" name="P3A"/>
          <p:cNvSpPr/>
          <p:nvPr/>
        </p:nvSpPr>
        <p:spPr>
          <a:xfrm>
            <a:off x="64864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24" name="P3B"/>
          <p:cNvSpPr/>
          <p:nvPr/>
        </p:nvSpPr>
        <p:spPr>
          <a:xfrm>
            <a:off x="64864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25" name="P3R1"/>
          <p:cNvSpPr/>
          <p:nvPr/>
        </p:nvSpPr>
        <p:spPr>
          <a:xfrm>
            <a:off x="76782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2</a:t>
            </a:r>
          </a:p>
        </p:txBody>
      </p:sp>
      <p:sp>
        <p:nvSpPr>
          <p:cNvPr id="126" name="P3C"/>
          <p:cNvSpPr/>
          <p:nvPr/>
        </p:nvSpPr>
        <p:spPr>
          <a:xfrm>
            <a:off x="79378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27" name="P3D"/>
          <p:cNvSpPr/>
          <p:nvPr/>
        </p:nvSpPr>
        <p:spPr>
          <a:xfrm>
            <a:off x="79378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00"/>
                                        <p:tgtEl>
                                          <p:spTgt spid="108"/>
                                        </p:tgtEl>
                                      </p:cBhvr>
                                    </p:animEffect>
                                  </p:childTnLst>
                                </p:cTn>
                              </p:par>
                              <p:par>
                                <p:cTn id="14" presetID="10" presetClass="entr" presetSubtype="0" fill="hold" nodeType="with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00"/>
                                        <p:tgtEl>
                                          <p:spTgt spid="109"/>
                                        </p:tgtEl>
                                      </p:cBhvr>
                                    </p:animEffect>
                                  </p:childTnLst>
                                </p:cTn>
                              </p:par>
                              <p:par>
                                <p:cTn id="17" presetID="10"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animEffect transition="in" filter="fade">
                                      <p:cBhvr>
                                        <p:cTn id="19" dur="400"/>
                                        <p:tgtEl>
                                          <p:spTgt spid="110"/>
                                        </p:tgtEl>
                                      </p:cBhvr>
                                    </p:animEffect>
                                  </p:childTnLst>
                                </p:cTn>
                              </p:par>
                              <p:par>
                                <p:cTn id="20" presetID="10" presetClass="entr" presetSubtype="0" fill="hold" nodeType="withEffect">
                                  <p:stCondLst>
                                    <p:cond delay="0"/>
                                  </p:stCondLst>
                                  <p:childTnLst>
                                    <p:set>
                                      <p:cBhvr>
                                        <p:cTn id="21" dur="1" fill="hold">
                                          <p:stCondLst>
                                            <p:cond delay="0"/>
                                          </p:stCondLst>
                                        </p:cTn>
                                        <p:tgtEl>
                                          <p:spTgt spid="111"/>
                                        </p:tgtEl>
                                        <p:attrNameLst>
                                          <p:attrName>style.visibility</p:attrName>
                                        </p:attrNameLst>
                                      </p:cBhvr>
                                      <p:to>
                                        <p:strVal val="visible"/>
                                      </p:to>
                                    </p:set>
                                    <p:animEffect transition="in" filter="fade">
                                      <p:cBhvr>
                                        <p:cTn id="22" dur="400"/>
                                        <p:tgtEl>
                                          <p:spTgt spid="111"/>
                                        </p:tgtEl>
                                      </p:cBhvr>
                                    </p:animEffect>
                                  </p:childTnLst>
                                </p:cTn>
                              </p:par>
                              <p:par>
                                <p:cTn id="23" presetID="10" presetClass="entr" presetSubtype="0" fill="hold" nodeType="withEffect">
                                  <p:stCondLst>
                                    <p:cond delay="0"/>
                                  </p:stCondLst>
                                  <p:childTnLst>
                                    <p:set>
                                      <p:cBhvr>
                                        <p:cTn id="24" dur="1" fill="hold">
                                          <p:stCondLst>
                                            <p:cond delay="0"/>
                                          </p:stCondLst>
                                        </p:cTn>
                                        <p:tgtEl>
                                          <p:spTgt spid="112"/>
                                        </p:tgtEl>
                                        <p:attrNameLst>
                                          <p:attrName>style.visibility</p:attrName>
                                        </p:attrNameLst>
                                      </p:cBhvr>
                                      <p:to>
                                        <p:strVal val="visible"/>
                                      </p:to>
                                    </p:set>
                                    <p:animEffect transition="in" filter="fade">
                                      <p:cBhvr>
                                        <p:cTn id="25" dur="400"/>
                                        <p:tgtEl>
                                          <p:spTgt spid="112"/>
                                        </p:tgtEl>
                                      </p:cBhvr>
                                    </p:animEffect>
                                  </p:childTnLst>
                                </p:cTn>
                              </p:par>
                              <p:par>
                                <p:cTn id="26" presetID="10" presetClass="entr" presetSubtype="0" fill="hold" nodeType="withEffect">
                                  <p:stCondLst>
                                    <p:cond delay="0"/>
                                  </p:stCondLst>
                                  <p:childTnLst>
                                    <p:set>
                                      <p:cBhvr>
                                        <p:cTn id="27" dur="1" fill="hold">
                                          <p:stCondLst>
                                            <p:cond delay="0"/>
                                          </p:stCondLst>
                                        </p:cTn>
                                        <p:tgtEl>
                                          <p:spTgt spid="113"/>
                                        </p:tgtEl>
                                        <p:attrNameLst>
                                          <p:attrName>style.visibility</p:attrName>
                                        </p:attrNameLst>
                                      </p:cBhvr>
                                      <p:to>
                                        <p:strVal val="visible"/>
                                      </p:to>
                                    </p:set>
                                    <p:animEffect transition="in" filter="fade">
                                      <p:cBhvr>
                                        <p:cTn id="28" dur="400"/>
                                        <p:tgtEl>
                                          <p:spTgt spid="113"/>
                                        </p:tgtEl>
                                      </p:cBhvr>
                                    </p:animEffect>
                                  </p:childTnLst>
                                </p:cTn>
                              </p:par>
                              <p:par>
                                <p:cTn id="29" presetID="10" presetClass="entr" presetSubtype="0" fill="hold" nodeType="withEffect">
                                  <p:stCondLst>
                                    <p:cond delay="0"/>
                                  </p:stCondLst>
                                  <p:childTnLst>
                                    <p:set>
                                      <p:cBhvr>
                                        <p:cTn id="30" dur="1" fill="hold">
                                          <p:stCondLst>
                                            <p:cond delay="0"/>
                                          </p:stCondLst>
                                        </p:cTn>
                                        <p:tgtEl>
                                          <p:spTgt spid="114"/>
                                        </p:tgtEl>
                                        <p:attrNameLst>
                                          <p:attrName>style.visibility</p:attrName>
                                        </p:attrNameLst>
                                      </p:cBhvr>
                                      <p:to>
                                        <p:strVal val="visible"/>
                                      </p:to>
                                    </p:set>
                                    <p:animEffect transition="in" filter="fade">
                                      <p:cBhvr>
                                        <p:cTn id="31" dur="400"/>
                                        <p:tgtEl>
                                          <p:spTgt spid="11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04"/>
                                        </p:tgtEl>
                                        <p:attrNameLst>
                                          <p:attrName>style.visibility</p:attrName>
                                        </p:attrNameLst>
                                      </p:cBhvr>
                                      <p:to>
                                        <p:strVal val="visible"/>
                                      </p:to>
                                    </p:set>
                                    <p:animEffect transition="in" filter="fade">
                                      <p:cBhvr>
                                        <p:cTn id="36" dur="400"/>
                                        <p:tgtEl>
                                          <p:spTgt spid="104"/>
                                        </p:tgtEl>
                                      </p:cBhvr>
                                    </p:animEffect>
                                  </p:childTnLst>
                                </p:cTn>
                              </p:par>
                              <p:par>
                                <p:cTn id="37" presetID="10" presetClass="entr" presetSubtype="0" fill="hold" nodeType="withEffect">
                                  <p:stCondLst>
                                    <p:cond delay="0"/>
                                  </p:stCondLst>
                                  <p:childTnLst>
                                    <p:set>
                                      <p:cBhvr>
                                        <p:cTn id="38" dur="1" fill="hold">
                                          <p:stCondLst>
                                            <p:cond delay="0"/>
                                          </p:stCondLst>
                                        </p:cTn>
                                        <p:tgtEl>
                                          <p:spTgt spid="102"/>
                                        </p:tgtEl>
                                        <p:attrNameLst>
                                          <p:attrName>style.visibility</p:attrName>
                                        </p:attrNameLst>
                                      </p:cBhvr>
                                      <p:to>
                                        <p:strVal val="visible"/>
                                      </p:to>
                                    </p:set>
                                    <p:animEffect transition="in" filter="fade">
                                      <p:cBhvr>
                                        <p:cTn id="39" dur="400"/>
                                        <p:tgtEl>
                                          <p:spTgt spid="102"/>
                                        </p:tgtEl>
                                      </p:cBhvr>
                                    </p:animEffect>
                                  </p:childTnLst>
                                </p:cTn>
                              </p:par>
                              <p:par>
                                <p:cTn id="40" presetID="10" presetClass="entr" presetSubtype="0" fill="hold" nodeType="withEffect">
                                  <p:stCondLst>
                                    <p:cond delay="0"/>
                                  </p:stCondLst>
                                  <p:childTnLst>
                                    <p:set>
                                      <p:cBhvr>
                                        <p:cTn id="41" dur="1" fill="hold">
                                          <p:stCondLst>
                                            <p:cond delay="0"/>
                                          </p:stCondLst>
                                        </p:cTn>
                                        <p:tgtEl>
                                          <p:spTgt spid="103"/>
                                        </p:tgtEl>
                                        <p:attrNameLst>
                                          <p:attrName>style.visibility</p:attrName>
                                        </p:attrNameLst>
                                      </p:cBhvr>
                                      <p:to>
                                        <p:strVal val="visible"/>
                                      </p:to>
                                    </p:set>
                                    <p:animEffect transition="in" filter="fade">
                                      <p:cBhvr>
                                        <p:cTn id="42" dur="400"/>
                                        <p:tgtEl>
                                          <p:spTgt spid="103"/>
                                        </p:tgtEl>
                                      </p:cBhvr>
                                    </p:animEffect>
                                  </p:childTnLst>
                                </p:cTn>
                              </p:par>
                              <p:par>
                                <p:cTn id="43" presetID="10" presetClass="entr" presetSubtype="0" fill="hold" nodeType="withEffect">
                                  <p:stCondLst>
                                    <p:cond delay="0"/>
                                  </p:stCondLst>
                                  <p:childTnLst>
                                    <p:set>
                                      <p:cBhvr>
                                        <p:cTn id="44" dur="1" fill="hold">
                                          <p:stCondLst>
                                            <p:cond delay="0"/>
                                          </p:stCondLst>
                                        </p:cTn>
                                        <p:tgtEl>
                                          <p:spTgt spid="115"/>
                                        </p:tgtEl>
                                        <p:attrNameLst>
                                          <p:attrName>style.visibility</p:attrName>
                                        </p:attrNameLst>
                                      </p:cBhvr>
                                      <p:to>
                                        <p:strVal val="visible"/>
                                      </p:to>
                                    </p:set>
                                    <p:animEffect transition="in" filter="fade">
                                      <p:cBhvr>
                                        <p:cTn id="45" dur="400"/>
                                        <p:tgtEl>
                                          <p:spTgt spid="115"/>
                                        </p:tgtEl>
                                      </p:cBhvr>
                                    </p:animEffect>
                                  </p:childTnLst>
                                </p:cTn>
                              </p:par>
                              <p:par>
                                <p:cTn id="46" presetID="10" presetClass="entr" presetSubtype="0" fill="hold" nodeType="withEffect">
                                  <p:stCondLst>
                                    <p:cond delay="0"/>
                                  </p:stCondLst>
                                  <p:childTnLst>
                                    <p:set>
                                      <p:cBhvr>
                                        <p:cTn id="47" dur="1" fill="hold">
                                          <p:stCondLst>
                                            <p:cond delay="0"/>
                                          </p:stCondLst>
                                        </p:cTn>
                                        <p:tgtEl>
                                          <p:spTgt spid="116"/>
                                        </p:tgtEl>
                                        <p:attrNameLst>
                                          <p:attrName>style.visibility</p:attrName>
                                        </p:attrNameLst>
                                      </p:cBhvr>
                                      <p:to>
                                        <p:strVal val="visible"/>
                                      </p:to>
                                    </p:set>
                                    <p:animEffect transition="in" filter="fade">
                                      <p:cBhvr>
                                        <p:cTn id="48" dur="400"/>
                                        <p:tgtEl>
                                          <p:spTgt spid="116"/>
                                        </p:tgtEl>
                                      </p:cBhvr>
                                    </p:animEffect>
                                  </p:childTnLst>
                                </p:cTn>
                              </p:par>
                              <p:par>
                                <p:cTn id="49" presetID="10" presetClass="entr" presetSubtype="0" fill="hold" nodeType="with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400"/>
                                        <p:tgtEl>
                                          <p:spTgt spid="117"/>
                                        </p:tgtEl>
                                      </p:cBhvr>
                                    </p:animEffect>
                                  </p:childTnLst>
                                </p:cTn>
                              </p:par>
                              <p:par>
                                <p:cTn id="52" presetID="10" presetClass="entr" presetSubtype="0" fill="hold" nodeType="withEffect">
                                  <p:stCondLst>
                                    <p:cond delay="0"/>
                                  </p:stCondLst>
                                  <p:childTnLst>
                                    <p:set>
                                      <p:cBhvr>
                                        <p:cTn id="53" dur="1" fill="hold">
                                          <p:stCondLst>
                                            <p:cond delay="0"/>
                                          </p:stCondLst>
                                        </p:cTn>
                                        <p:tgtEl>
                                          <p:spTgt spid="118"/>
                                        </p:tgtEl>
                                        <p:attrNameLst>
                                          <p:attrName>style.visibility</p:attrName>
                                        </p:attrNameLst>
                                      </p:cBhvr>
                                      <p:to>
                                        <p:strVal val="visible"/>
                                      </p:to>
                                    </p:set>
                                    <p:animEffect transition="in" filter="fade">
                                      <p:cBhvr>
                                        <p:cTn id="54" dur="400"/>
                                        <p:tgtEl>
                                          <p:spTgt spid="118"/>
                                        </p:tgtEl>
                                      </p:cBhvr>
                                    </p:animEffect>
                                  </p:childTnLst>
                                </p:cTn>
                              </p:par>
                              <p:par>
                                <p:cTn id="55" presetID="10" presetClass="entr" presetSubtype="0" fill="hold" nodeType="withEffect">
                                  <p:stCondLst>
                                    <p:cond delay="0"/>
                                  </p:stCondLst>
                                  <p:childTnLst>
                                    <p:set>
                                      <p:cBhvr>
                                        <p:cTn id="56" dur="1" fill="hold">
                                          <p:stCondLst>
                                            <p:cond delay="0"/>
                                          </p:stCondLst>
                                        </p:cTn>
                                        <p:tgtEl>
                                          <p:spTgt spid="119"/>
                                        </p:tgtEl>
                                        <p:attrNameLst>
                                          <p:attrName>style.visibility</p:attrName>
                                        </p:attrNameLst>
                                      </p:cBhvr>
                                      <p:to>
                                        <p:strVal val="visible"/>
                                      </p:to>
                                    </p:set>
                                    <p:animEffect transition="in" filter="fade">
                                      <p:cBhvr>
                                        <p:cTn id="57" dur="400"/>
                                        <p:tgtEl>
                                          <p:spTgt spid="119"/>
                                        </p:tgtEl>
                                      </p:cBhvr>
                                    </p:animEffect>
                                  </p:childTnLst>
                                </p:cTn>
                              </p:par>
                              <p:par>
                                <p:cTn id="58" presetID="10" presetClass="entr" presetSubtype="0" fill="hold" nodeType="withEffect">
                                  <p:stCondLst>
                                    <p:cond delay="0"/>
                                  </p:stCondLst>
                                  <p:childTnLst>
                                    <p:set>
                                      <p:cBhvr>
                                        <p:cTn id="59" dur="1" fill="hold">
                                          <p:stCondLst>
                                            <p:cond delay="0"/>
                                          </p:stCondLst>
                                        </p:cTn>
                                        <p:tgtEl>
                                          <p:spTgt spid="120"/>
                                        </p:tgtEl>
                                        <p:attrNameLst>
                                          <p:attrName>style.visibility</p:attrName>
                                        </p:attrNameLst>
                                      </p:cBhvr>
                                      <p:to>
                                        <p:strVal val="visible"/>
                                      </p:to>
                                    </p:set>
                                    <p:animEffect transition="in" filter="fade">
                                      <p:cBhvr>
                                        <p:cTn id="60" dur="400"/>
                                        <p:tgtEl>
                                          <p:spTgt spid="120"/>
                                        </p:tgtEl>
                                      </p:cBhvr>
                                    </p:animEffect>
                                  </p:childTnLst>
                                </p:cTn>
                              </p:par>
                              <p:par>
                                <p:cTn id="61" presetID="10" presetClass="entr" presetSubtype="0" fill="hold" nodeType="withEffect">
                                  <p:stCondLst>
                                    <p:cond delay="0"/>
                                  </p:stCondLst>
                                  <p:childTnLst>
                                    <p:set>
                                      <p:cBhvr>
                                        <p:cTn id="62" dur="1" fill="hold">
                                          <p:stCondLst>
                                            <p:cond delay="0"/>
                                          </p:stCondLst>
                                        </p:cTn>
                                        <p:tgtEl>
                                          <p:spTgt spid="121"/>
                                        </p:tgtEl>
                                        <p:attrNameLst>
                                          <p:attrName>style.visibility</p:attrName>
                                        </p:attrNameLst>
                                      </p:cBhvr>
                                      <p:to>
                                        <p:strVal val="visible"/>
                                      </p:to>
                                    </p:set>
                                    <p:animEffect transition="in" filter="fade">
                                      <p:cBhvr>
                                        <p:cTn id="63" dur="400"/>
                                        <p:tgtEl>
                                          <p:spTgt spid="121"/>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07"/>
                                        </p:tgtEl>
                                        <p:attrNameLst>
                                          <p:attrName>style.visibility</p:attrName>
                                        </p:attrNameLst>
                                      </p:cBhvr>
                                      <p:to>
                                        <p:strVal val="visible"/>
                                      </p:to>
                                    </p:set>
                                    <p:animEffect transition="in" filter="fade">
                                      <p:cBhvr>
                                        <p:cTn id="68" dur="400"/>
                                        <p:tgtEl>
                                          <p:spTgt spid="107"/>
                                        </p:tgtEl>
                                      </p:cBhvr>
                                    </p:animEffect>
                                  </p:childTnLst>
                                </p:cTn>
                              </p:par>
                              <p:par>
                                <p:cTn id="69" presetID="10" presetClass="entr" presetSubtype="0" fill="hold" nodeType="withEffect">
                                  <p:stCondLst>
                                    <p:cond delay="0"/>
                                  </p:stCondLst>
                                  <p:childTnLst>
                                    <p:set>
                                      <p:cBhvr>
                                        <p:cTn id="70" dur="1" fill="hold">
                                          <p:stCondLst>
                                            <p:cond delay="0"/>
                                          </p:stCondLst>
                                        </p:cTn>
                                        <p:tgtEl>
                                          <p:spTgt spid="105"/>
                                        </p:tgtEl>
                                        <p:attrNameLst>
                                          <p:attrName>style.visibility</p:attrName>
                                        </p:attrNameLst>
                                      </p:cBhvr>
                                      <p:to>
                                        <p:strVal val="visible"/>
                                      </p:to>
                                    </p:set>
                                    <p:animEffect transition="in" filter="fade">
                                      <p:cBhvr>
                                        <p:cTn id="71" dur="400"/>
                                        <p:tgtEl>
                                          <p:spTgt spid="105"/>
                                        </p:tgtEl>
                                      </p:cBhvr>
                                    </p:animEffect>
                                  </p:childTnLst>
                                </p:cTn>
                              </p:par>
                              <p:par>
                                <p:cTn id="72" presetID="10" presetClass="entr" presetSubtype="0" fill="hold" nodeType="withEffect">
                                  <p:stCondLst>
                                    <p:cond delay="0"/>
                                  </p:stCondLst>
                                  <p:childTnLst>
                                    <p:set>
                                      <p:cBhvr>
                                        <p:cTn id="73" dur="1" fill="hold">
                                          <p:stCondLst>
                                            <p:cond delay="0"/>
                                          </p:stCondLst>
                                        </p:cTn>
                                        <p:tgtEl>
                                          <p:spTgt spid="106"/>
                                        </p:tgtEl>
                                        <p:attrNameLst>
                                          <p:attrName>style.visibility</p:attrName>
                                        </p:attrNameLst>
                                      </p:cBhvr>
                                      <p:to>
                                        <p:strVal val="visible"/>
                                      </p:to>
                                    </p:set>
                                    <p:animEffect transition="in" filter="fade">
                                      <p:cBhvr>
                                        <p:cTn id="74" dur="400"/>
                                        <p:tgtEl>
                                          <p:spTgt spid="106"/>
                                        </p:tgtEl>
                                      </p:cBhvr>
                                    </p:animEffect>
                                  </p:childTnLst>
                                </p:cTn>
                              </p:par>
                              <p:par>
                                <p:cTn id="75" presetID="10" presetClass="entr" presetSubtype="0" fill="hold" nodeType="withEffect">
                                  <p:stCondLst>
                                    <p:cond delay="0"/>
                                  </p:stCondLst>
                                  <p:childTnLst>
                                    <p:set>
                                      <p:cBhvr>
                                        <p:cTn id="76" dur="1" fill="hold">
                                          <p:stCondLst>
                                            <p:cond delay="0"/>
                                          </p:stCondLst>
                                        </p:cTn>
                                        <p:tgtEl>
                                          <p:spTgt spid="122"/>
                                        </p:tgtEl>
                                        <p:attrNameLst>
                                          <p:attrName>style.visibility</p:attrName>
                                        </p:attrNameLst>
                                      </p:cBhvr>
                                      <p:to>
                                        <p:strVal val="visible"/>
                                      </p:to>
                                    </p:set>
                                    <p:animEffect transition="in" filter="fade">
                                      <p:cBhvr>
                                        <p:cTn id="77" dur="400"/>
                                        <p:tgtEl>
                                          <p:spTgt spid="122"/>
                                        </p:tgtEl>
                                      </p:cBhvr>
                                    </p:animEffect>
                                  </p:childTnLst>
                                </p:cTn>
                              </p:par>
                              <p:par>
                                <p:cTn id="78" presetID="10" presetClass="entr" presetSubtype="0" fill="hold" nodeType="withEffect">
                                  <p:stCondLst>
                                    <p:cond delay="0"/>
                                  </p:stCondLst>
                                  <p:childTnLst>
                                    <p:set>
                                      <p:cBhvr>
                                        <p:cTn id="79" dur="1" fill="hold">
                                          <p:stCondLst>
                                            <p:cond delay="0"/>
                                          </p:stCondLst>
                                        </p:cTn>
                                        <p:tgtEl>
                                          <p:spTgt spid="123"/>
                                        </p:tgtEl>
                                        <p:attrNameLst>
                                          <p:attrName>style.visibility</p:attrName>
                                        </p:attrNameLst>
                                      </p:cBhvr>
                                      <p:to>
                                        <p:strVal val="visible"/>
                                      </p:to>
                                    </p:set>
                                    <p:animEffect transition="in" filter="fade">
                                      <p:cBhvr>
                                        <p:cTn id="80" dur="400"/>
                                        <p:tgtEl>
                                          <p:spTgt spid="123"/>
                                        </p:tgtEl>
                                      </p:cBhvr>
                                    </p:animEffect>
                                  </p:childTnLst>
                                </p:cTn>
                              </p:par>
                              <p:par>
                                <p:cTn id="81" presetID="10" presetClass="entr" presetSubtype="0" fill="hold" nodeType="withEffect">
                                  <p:stCondLst>
                                    <p:cond delay="0"/>
                                  </p:stCondLst>
                                  <p:childTnLst>
                                    <p:set>
                                      <p:cBhvr>
                                        <p:cTn id="82" dur="1" fill="hold">
                                          <p:stCondLst>
                                            <p:cond delay="0"/>
                                          </p:stCondLst>
                                        </p:cTn>
                                        <p:tgtEl>
                                          <p:spTgt spid="124"/>
                                        </p:tgtEl>
                                        <p:attrNameLst>
                                          <p:attrName>style.visibility</p:attrName>
                                        </p:attrNameLst>
                                      </p:cBhvr>
                                      <p:to>
                                        <p:strVal val="visible"/>
                                      </p:to>
                                    </p:set>
                                    <p:animEffect transition="in" filter="fade">
                                      <p:cBhvr>
                                        <p:cTn id="83" dur="400"/>
                                        <p:tgtEl>
                                          <p:spTgt spid="124"/>
                                        </p:tgtEl>
                                      </p:cBhvr>
                                    </p:animEffect>
                                  </p:childTnLst>
                                </p:cTn>
                              </p:par>
                              <p:par>
                                <p:cTn id="84" presetID="10" presetClass="entr" presetSubtype="0" fill="hold" nodeType="withEffect">
                                  <p:stCondLst>
                                    <p:cond delay="0"/>
                                  </p:stCondLst>
                                  <p:childTnLst>
                                    <p:set>
                                      <p:cBhvr>
                                        <p:cTn id="85" dur="1" fill="hold">
                                          <p:stCondLst>
                                            <p:cond delay="0"/>
                                          </p:stCondLst>
                                        </p:cTn>
                                        <p:tgtEl>
                                          <p:spTgt spid="125"/>
                                        </p:tgtEl>
                                        <p:attrNameLst>
                                          <p:attrName>style.visibility</p:attrName>
                                        </p:attrNameLst>
                                      </p:cBhvr>
                                      <p:to>
                                        <p:strVal val="visible"/>
                                      </p:to>
                                    </p:set>
                                    <p:animEffect transition="in" filter="fade">
                                      <p:cBhvr>
                                        <p:cTn id="86" dur="400"/>
                                        <p:tgtEl>
                                          <p:spTgt spid="125"/>
                                        </p:tgtEl>
                                      </p:cBhvr>
                                    </p:animEffect>
                                  </p:childTnLst>
                                </p:cTn>
                              </p:par>
                              <p:par>
                                <p:cTn id="87" presetID="10" presetClass="entr" presetSubtype="0" fill="hold" nodeType="withEffect">
                                  <p:stCondLst>
                                    <p:cond delay="0"/>
                                  </p:stCondLst>
                                  <p:childTnLst>
                                    <p:set>
                                      <p:cBhvr>
                                        <p:cTn id="88" dur="1" fill="hold">
                                          <p:stCondLst>
                                            <p:cond delay="0"/>
                                          </p:stCondLst>
                                        </p:cTn>
                                        <p:tgtEl>
                                          <p:spTgt spid="126"/>
                                        </p:tgtEl>
                                        <p:attrNameLst>
                                          <p:attrName>style.visibility</p:attrName>
                                        </p:attrNameLst>
                                      </p:cBhvr>
                                      <p:to>
                                        <p:strVal val="visible"/>
                                      </p:to>
                                    </p:set>
                                    <p:animEffect transition="in" filter="fade">
                                      <p:cBhvr>
                                        <p:cTn id="89" dur="400"/>
                                        <p:tgtEl>
                                          <p:spTgt spid="126"/>
                                        </p:tgtEl>
                                      </p:cBhvr>
                                    </p:animEffect>
                                  </p:childTnLst>
                                </p:cTn>
                              </p:par>
                              <p:par>
                                <p:cTn id="90" presetID="10" presetClass="entr" presetSubtype="0" fill="hold" nodeType="withEffect">
                                  <p:stCondLst>
                                    <p:cond delay="0"/>
                                  </p:stCondLst>
                                  <p:childTnLst>
                                    <p:set>
                                      <p:cBhvr>
                                        <p:cTn id="91" dur="1" fill="hold">
                                          <p:stCondLst>
                                            <p:cond delay="0"/>
                                          </p:stCondLst>
                                        </p:cTn>
                                        <p:tgtEl>
                                          <p:spTgt spid="127"/>
                                        </p:tgtEl>
                                        <p:attrNameLst>
                                          <p:attrName>style.visibility</p:attrName>
                                        </p:attrNameLst>
                                      </p:cBhvr>
                                      <p:to>
                                        <p:strVal val="visible"/>
                                      </p:to>
                                    </p:set>
                                    <p:animEffect transition="in" filter="fade">
                                      <p:cBhvr>
                                        <p:cTn id="92" dur="400"/>
                                        <p:tgtEl>
                                          <p:spTgt spid="127"/>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61"/>
                                        </p:tgtEl>
                                        <p:attrNameLst>
                                          <p:attrName>style.visibility</p:attrName>
                                        </p:attrNameLst>
                                      </p:cBhvr>
                                      <p:to>
                                        <p:strVal val="visible"/>
                                      </p:to>
                                    </p:set>
                                    <p:animEffect transition="in" filter="fade">
                                      <p:cBhvr>
                                        <p:cTn id="9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7" y="118428"/>
            <a:ext cx="9224661" cy="638175"/>
          </a:xfrm>
        </p:spPr>
        <p:txBody>
          <a:bodyPr>
            <a:normAutofit fontScale="90000"/>
          </a:bodyPr>
          <a:lstStyle/>
          <a:p>
            <a:pPr algn="l">
              <a:buNone/>
              <a:defRPr b="0"/>
            </a:pPr>
            <a:r>
              <a:rPr lang="en-US" sz="2800" b="0" i="0" dirty="0">
                <a:solidFill>
                  <a:srgbClr val="000000"/>
                </a:solidFill>
              </a:rPr>
              <a:t>How strongly can we support an architectural claim?</a:t>
            </a:r>
          </a:p>
        </p:txBody>
      </p:sp>
      <p:sp>
        <p:nvSpPr>
          <p:cNvPr id="3" name="Slide Number Placeholder 2"/>
          <p:cNvSpPr>
            <a:spLocks noGrp="1"/>
          </p:cNvSpPr>
          <p:nvPr>
            <p:ph type="sldNum" sz="quarter" idx="4"/>
          </p:nvPr>
        </p:nvSpPr>
        <p:spPr/>
        <p:txBody>
          <a:bodyPr/>
          <a:lstStyle/>
          <a:p>
            <a:fld id="{B7EB45DA-9A0D-DC49-8E02-F30A5DDC21C3}" type="slidenum">
              <a:rPr lang="en-US" smtClean="0"/>
              <a:t>22</a:t>
            </a:fld>
            <a:endParaRPr lang="en-US"/>
          </a:p>
        </p:txBody>
      </p:sp>
      <p:sp>
        <p:nvSpPr>
          <p:cNvPr id="61" name="Band61"/>
          <p:cNvSpPr/>
          <p:nvPr/>
        </p:nvSpPr>
        <p:spPr>
          <a:xfrm>
            <a:off x="279400" y="5300000"/>
            <a:ext cx="8585200" cy="900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The more faithfully the model captures the property we care about, the less we have to bet.</a:t>
            </a:r>
          </a:p>
        </p:txBody>
      </p:sp>
      <p:cxnSp>
        <p:nvCxnSpPr>
          <p:cNvPr id="100" name="Axis"/>
          <p:cNvCxnSpPr/>
          <p:nvPr/>
        </p:nvCxnSpPr>
        <p:spPr>
          <a:xfrm>
            <a:off x="745000" y="3109500"/>
            <a:ext cx="7694880" cy="0"/>
          </a:xfrm>
          <a:prstGeom prst="line">
            <a:avLst/>
          </a:prstGeom>
          <a:ln w="55377">
            <a:solidFill>
              <a:srgbClr val="8E6F3E"/>
            </a:solidFill>
            <a:headEnd type="triangle" w="med" len="med"/>
            <a:tailEnd type="triangle" w="med" len="med"/>
          </a:ln>
        </p:spPr>
      </p:cxnSp>
      <p:sp>
        <p:nvSpPr>
          <p:cNvPr id="101" name="MoreLbl"/>
          <p:cNvSpPr txBox="1"/>
          <p:nvPr/>
        </p:nvSpPr>
        <p:spPr>
          <a:xfrm>
            <a:off x="643000" y="2510100"/>
            <a:ext cx="1428000" cy="486000"/>
          </a:xfrm>
          <a:prstGeom prst="rect">
            <a:avLst/>
          </a:prstGeom>
          <a:noFill/>
          <a:ln>
            <a:noFill/>
          </a:ln>
        </p:spPr>
        <p:txBody>
          <a:bodyPr wrap="square" lIns="0" tIns="0" rIns="0" bIns="0" anchor="t">
            <a:normAutofit/>
          </a:bodyPr>
          <a:lstStyle/>
          <a:p>
            <a:pPr algn="l">
              <a:buNone/>
            </a:pPr>
            <a:r>
              <a:rPr lang="en-US" sz="2000" b="1" i="0" dirty="0">
                <a:solidFill>
                  <a:srgbClr val="5C4826"/>
                </a:solidFill>
              </a:rPr>
              <a:t>Weaker</a:t>
            </a:r>
          </a:p>
        </p:txBody>
      </p:sp>
      <p:sp>
        <p:nvSpPr>
          <p:cNvPr id="102" name="LessLbl"/>
          <p:cNvSpPr txBox="1"/>
          <p:nvPr/>
        </p:nvSpPr>
        <p:spPr>
          <a:xfrm>
            <a:off x="7171000" y="2510100"/>
            <a:ext cx="1326000" cy="486000"/>
          </a:xfrm>
          <a:prstGeom prst="rect">
            <a:avLst/>
          </a:prstGeom>
          <a:noFill/>
          <a:ln>
            <a:noFill/>
          </a:ln>
        </p:spPr>
        <p:txBody>
          <a:bodyPr wrap="square" lIns="0" tIns="0" rIns="0" bIns="0" anchor="t">
            <a:normAutofit/>
          </a:bodyPr>
          <a:lstStyle/>
          <a:p>
            <a:pPr algn="r">
              <a:buNone/>
            </a:pPr>
            <a:r>
              <a:rPr lang="en-US" sz="2000" b="1" i="0" dirty="0">
                <a:solidFill>
                  <a:srgbClr val="5C4826"/>
                </a:solidFill>
              </a:rPr>
              <a:t>Stronger</a:t>
            </a:r>
          </a:p>
        </p:txBody>
      </p:sp>
      <p:sp>
        <p:nvSpPr>
          <p:cNvPr id="103" name="Stop0"/>
          <p:cNvSpPr/>
          <p:nvPr/>
        </p:nvSpPr>
        <p:spPr>
          <a:xfrm>
            <a:off x="1737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4" name="StopLbl0"/>
          <p:cNvSpPr txBox="1"/>
          <p:nvPr/>
        </p:nvSpPr>
        <p:spPr>
          <a:xfrm>
            <a:off x="977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REASONED</a:t>
            </a:r>
          </a:p>
          <a:p>
            <a:pPr algn="ctr">
              <a:spcBef>
                <a:spcPts val="262"/>
              </a:spcBef>
              <a:buNone/>
            </a:pPr>
            <a:r>
              <a:rPr lang="en-US" sz="2100" b="1" i="0" dirty="0">
                <a:solidFill>
                  <a:srgbClr val="8E6F3E"/>
                </a:solidFill>
              </a:rPr>
              <a:t>EXPECTATION</a:t>
            </a:r>
          </a:p>
          <a:p>
            <a:pPr algn="ctr">
              <a:spcBef>
                <a:spcPts val="262"/>
              </a:spcBef>
              <a:buNone/>
            </a:pPr>
            <a:r>
              <a:rPr lang="en-US" sz="2100" b="1" dirty="0">
                <a:solidFill>
                  <a:srgbClr val="8E6F3E"/>
                </a:solidFill>
              </a:rPr>
              <a:t>(Pattern)</a:t>
            </a:r>
            <a:endParaRPr lang="en-US" sz="2100" b="1" i="0" dirty="0">
              <a:solidFill>
                <a:srgbClr val="8E6F3E"/>
              </a:solidFill>
            </a:endParaRPr>
          </a:p>
        </p:txBody>
      </p:sp>
      <p:sp>
        <p:nvSpPr>
          <p:cNvPr id="105" name="StopQ0"/>
          <p:cNvSpPr txBox="1"/>
          <p:nvPr/>
        </p:nvSpPr>
        <p:spPr>
          <a:xfrm>
            <a:off x="1000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“should remain local”</a:t>
            </a:r>
          </a:p>
        </p:txBody>
      </p:sp>
      <p:sp>
        <p:nvSpPr>
          <p:cNvPr id="106" name="Stop1"/>
          <p:cNvSpPr/>
          <p:nvPr/>
        </p:nvSpPr>
        <p:spPr>
          <a:xfrm>
            <a:off x="3471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7" name="StopLbl1"/>
          <p:cNvSpPr txBox="1"/>
          <p:nvPr/>
        </p:nvSpPr>
        <p:spPr>
          <a:xfrm>
            <a:off x="2711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STRUCTURAL</a:t>
            </a:r>
          </a:p>
          <a:p>
            <a:pPr algn="ctr">
              <a:spcBef>
                <a:spcPts val="262"/>
              </a:spcBef>
              <a:buNone/>
            </a:pPr>
            <a:r>
              <a:rPr lang="en-US" sz="2100" b="1" i="0" dirty="0">
                <a:solidFill>
                  <a:srgbClr val="8E6F3E"/>
                </a:solidFill>
              </a:rPr>
              <a:t>ARGUMENT</a:t>
            </a:r>
          </a:p>
          <a:p>
            <a:pPr algn="ctr">
              <a:spcBef>
                <a:spcPts val="262"/>
              </a:spcBef>
              <a:buNone/>
            </a:pPr>
            <a:r>
              <a:rPr lang="en-US" sz="2100" b="1" dirty="0">
                <a:solidFill>
                  <a:srgbClr val="8E6F3E"/>
                </a:solidFill>
              </a:rPr>
              <a:t>(Analytic model)</a:t>
            </a:r>
            <a:endParaRPr lang="en-US" sz="2100" b="1" i="0" dirty="0">
              <a:solidFill>
                <a:srgbClr val="8E6F3E"/>
              </a:solidFill>
            </a:endParaRPr>
          </a:p>
        </p:txBody>
      </p:sp>
      <p:sp>
        <p:nvSpPr>
          <p:cNvPr id="108" name="StopQ1"/>
          <p:cNvSpPr txBox="1"/>
          <p:nvPr/>
        </p:nvSpPr>
        <p:spPr>
          <a:xfrm>
            <a:off x="2734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“no dependency crosses this boundary”</a:t>
            </a:r>
          </a:p>
        </p:txBody>
      </p:sp>
      <p:sp>
        <p:nvSpPr>
          <p:cNvPr id="109" name="Stop2"/>
          <p:cNvSpPr/>
          <p:nvPr/>
        </p:nvSpPr>
        <p:spPr>
          <a:xfrm>
            <a:off x="5205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StopLbl2"/>
          <p:cNvSpPr txBox="1"/>
          <p:nvPr/>
        </p:nvSpPr>
        <p:spPr>
          <a:xfrm>
            <a:off x="4445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QUANTITATIVE</a:t>
            </a:r>
          </a:p>
          <a:p>
            <a:pPr algn="ctr">
              <a:spcBef>
                <a:spcPts val="262"/>
              </a:spcBef>
              <a:buNone/>
            </a:pPr>
            <a:r>
              <a:rPr lang="en-US" sz="2100" b="1" i="0" dirty="0">
                <a:solidFill>
                  <a:srgbClr val="8E6F3E"/>
                </a:solidFill>
              </a:rPr>
              <a:t>PREDICTION</a:t>
            </a:r>
          </a:p>
          <a:p>
            <a:pPr algn="ctr">
              <a:spcBef>
                <a:spcPts val="262"/>
              </a:spcBef>
              <a:buNone/>
            </a:pPr>
            <a:r>
              <a:rPr lang="en-US" sz="2100" b="1" dirty="0">
                <a:solidFill>
                  <a:srgbClr val="8E6F3E"/>
                </a:solidFill>
              </a:rPr>
              <a:t>(Quant. model)</a:t>
            </a:r>
            <a:endParaRPr lang="en-US" sz="2100" b="1" i="0" dirty="0">
              <a:solidFill>
                <a:srgbClr val="8E6F3E"/>
              </a:solidFill>
            </a:endParaRPr>
          </a:p>
        </p:txBody>
      </p:sp>
      <p:sp>
        <p:nvSpPr>
          <p:cNvPr id="111" name="StopQ2"/>
          <p:cNvSpPr txBox="1"/>
          <p:nvPr/>
        </p:nvSpPr>
        <p:spPr>
          <a:xfrm>
            <a:off x="4468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 11.5 s”</a:t>
            </a:r>
          </a:p>
        </p:txBody>
      </p:sp>
      <p:sp>
        <p:nvSpPr>
          <p:cNvPr id="112" name="Stop3"/>
          <p:cNvSpPr/>
          <p:nvPr/>
        </p:nvSpPr>
        <p:spPr>
          <a:xfrm>
            <a:off x="6939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3" name="StopLbl3"/>
          <p:cNvSpPr txBox="1"/>
          <p:nvPr/>
        </p:nvSpPr>
        <p:spPr>
          <a:xfrm>
            <a:off x="6179000" y="1570500"/>
            <a:ext cx="1780000" cy="874800"/>
          </a:xfrm>
          <a:prstGeom prst="rect">
            <a:avLst/>
          </a:prstGeom>
          <a:noFill/>
          <a:ln>
            <a:noFill/>
          </a:ln>
        </p:spPr>
        <p:txBody>
          <a:bodyPr wrap="square" lIns="0" tIns="0" rIns="0" bIns="0" anchor="t">
            <a:normAutofit fontScale="92500" lnSpcReduction="10000"/>
          </a:bodyPr>
          <a:lstStyle/>
          <a:p>
            <a:pPr algn="ctr">
              <a:buNone/>
            </a:pPr>
            <a:r>
              <a:rPr lang="en-US" sz="2100" b="1" i="0" dirty="0">
                <a:solidFill>
                  <a:srgbClr val="8E6F3E"/>
                </a:solidFill>
              </a:rPr>
              <a:t>OBSERVED</a:t>
            </a:r>
          </a:p>
          <a:p>
            <a:pPr algn="ctr">
              <a:spcBef>
                <a:spcPts val="262"/>
              </a:spcBef>
              <a:buNone/>
            </a:pPr>
            <a:r>
              <a:rPr lang="en-US" sz="2100" b="1" i="0" dirty="0">
                <a:solidFill>
                  <a:srgbClr val="8E6F3E"/>
                </a:solidFill>
              </a:rPr>
              <a:t>EVIDENCE</a:t>
            </a:r>
          </a:p>
          <a:p>
            <a:pPr algn="ctr">
              <a:spcBef>
                <a:spcPts val="262"/>
              </a:spcBef>
              <a:buNone/>
            </a:pPr>
            <a:r>
              <a:rPr lang="en-US" sz="2100" b="1" dirty="0">
                <a:solidFill>
                  <a:srgbClr val="8E6F3E"/>
                </a:solidFill>
              </a:rPr>
              <a:t>(Measurement)</a:t>
            </a:r>
            <a:endParaRPr lang="en-US" sz="2100" b="1" i="0" dirty="0">
              <a:solidFill>
                <a:srgbClr val="8E6F3E"/>
              </a:solidFill>
            </a:endParaRPr>
          </a:p>
        </p:txBody>
      </p:sp>
      <p:sp>
        <p:nvSpPr>
          <p:cNvPr id="114" name="StopQ3"/>
          <p:cNvSpPr txBox="1"/>
          <p:nvPr/>
        </p:nvSpPr>
        <p:spPr>
          <a:xfrm>
            <a:off x="6202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“11.8 s, measured”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400"/>
                                        <p:tgtEl>
                                          <p:spTgt spid="103"/>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400"/>
                                        <p:tgtEl>
                                          <p:spTgt spid="104"/>
                                        </p:tgtEl>
                                      </p:cBhvr>
                                    </p:animEffect>
                                  </p:childTnLst>
                                </p:cTn>
                              </p:par>
                              <p:par>
                                <p:cTn id="11" presetID="10" presetClass="entr" presetSubtype="0" fill="hold" nodeType="withEffect">
                                  <p:stCondLst>
                                    <p:cond delay="0"/>
                                  </p:stCondLst>
                                  <p:childTnLst>
                                    <p:set>
                                      <p:cBhvr>
                                        <p:cTn id="12" dur="1" fill="hold">
                                          <p:stCondLst>
                                            <p:cond delay="0"/>
                                          </p:stCondLst>
                                        </p:cTn>
                                        <p:tgtEl>
                                          <p:spTgt spid="105"/>
                                        </p:tgtEl>
                                        <p:attrNameLst>
                                          <p:attrName>style.visibility</p:attrName>
                                        </p:attrNameLst>
                                      </p:cBhvr>
                                      <p:to>
                                        <p:strVal val="visible"/>
                                      </p:to>
                                    </p:set>
                                    <p:animEffect transition="in" filter="fade">
                                      <p:cBhvr>
                                        <p:cTn id="13" dur="400"/>
                                        <p:tgtEl>
                                          <p:spTgt spid="10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400"/>
                                        <p:tgtEl>
                                          <p:spTgt spid="106"/>
                                        </p:tgtEl>
                                      </p:cBhvr>
                                    </p:animEffect>
                                  </p:childTnLst>
                                </p:cTn>
                              </p:par>
                              <p:par>
                                <p:cTn id="19" presetID="10" presetClass="entr" presetSubtype="0" fill="hold" nodeType="withEffect">
                                  <p:stCondLst>
                                    <p:cond delay="0"/>
                                  </p:stCondLst>
                                  <p:childTnLst>
                                    <p:set>
                                      <p:cBhvr>
                                        <p:cTn id="20" dur="1" fill="hold">
                                          <p:stCondLst>
                                            <p:cond delay="0"/>
                                          </p:stCondLst>
                                        </p:cTn>
                                        <p:tgtEl>
                                          <p:spTgt spid="107"/>
                                        </p:tgtEl>
                                        <p:attrNameLst>
                                          <p:attrName>style.visibility</p:attrName>
                                        </p:attrNameLst>
                                      </p:cBhvr>
                                      <p:to>
                                        <p:strVal val="visible"/>
                                      </p:to>
                                    </p:set>
                                    <p:animEffect transition="in" filter="fade">
                                      <p:cBhvr>
                                        <p:cTn id="21" dur="400"/>
                                        <p:tgtEl>
                                          <p:spTgt spid="107"/>
                                        </p:tgtEl>
                                      </p:cBhvr>
                                    </p:animEffect>
                                  </p:childTnLst>
                                </p:cTn>
                              </p:par>
                              <p:par>
                                <p:cTn id="22" presetID="10" presetClass="entr" presetSubtype="0" fill="hold" nodeType="withEffect">
                                  <p:stCondLst>
                                    <p:cond delay="0"/>
                                  </p:stCondLst>
                                  <p:childTnLst>
                                    <p:set>
                                      <p:cBhvr>
                                        <p:cTn id="23" dur="1" fill="hold">
                                          <p:stCondLst>
                                            <p:cond delay="0"/>
                                          </p:stCondLst>
                                        </p:cTn>
                                        <p:tgtEl>
                                          <p:spTgt spid="108"/>
                                        </p:tgtEl>
                                        <p:attrNameLst>
                                          <p:attrName>style.visibility</p:attrName>
                                        </p:attrNameLst>
                                      </p:cBhvr>
                                      <p:to>
                                        <p:strVal val="visible"/>
                                      </p:to>
                                    </p:set>
                                    <p:animEffect transition="in" filter="fade">
                                      <p:cBhvr>
                                        <p:cTn id="24" dur="400"/>
                                        <p:tgtEl>
                                          <p:spTgt spid="10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9"/>
                                        </p:tgtEl>
                                        <p:attrNameLst>
                                          <p:attrName>style.visibility</p:attrName>
                                        </p:attrNameLst>
                                      </p:cBhvr>
                                      <p:to>
                                        <p:strVal val="visible"/>
                                      </p:to>
                                    </p:set>
                                    <p:animEffect transition="in" filter="fade">
                                      <p:cBhvr>
                                        <p:cTn id="29" dur="400"/>
                                        <p:tgtEl>
                                          <p:spTgt spid="109"/>
                                        </p:tgtEl>
                                      </p:cBhvr>
                                    </p:animEffect>
                                  </p:childTnLst>
                                </p:cTn>
                              </p:par>
                              <p:par>
                                <p:cTn id="30" presetID="10" presetClass="entr" presetSubtype="0" fill="hold" nodeType="withEffect">
                                  <p:stCondLst>
                                    <p:cond delay="0"/>
                                  </p:stCondLst>
                                  <p:childTnLst>
                                    <p:set>
                                      <p:cBhvr>
                                        <p:cTn id="31" dur="1" fill="hold">
                                          <p:stCondLst>
                                            <p:cond delay="0"/>
                                          </p:stCondLst>
                                        </p:cTn>
                                        <p:tgtEl>
                                          <p:spTgt spid="110"/>
                                        </p:tgtEl>
                                        <p:attrNameLst>
                                          <p:attrName>style.visibility</p:attrName>
                                        </p:attrNameLst>
                                      </p:cBhvr>
                                      <p:to>
                                        <p:strVal val="visible"/>
                                      </p:to>
                                    </p:set>
                                    <p:animEffect transition="in" filter="fade">
                                      <p:cBhvr>
                                        <p:cTn id="32" dur="400"/>
                                        <p:tgtEl>
                                          <p:spTgt spid="110"/>
                                        </p:tgtEl>
                                      </p:cBhvr>
                                    </p:animEffect>
                                  </p:childTnLst>
                                </p:cTn>
                              </p:par>
                              <p:par>
                                <p:cTn id="33" presetID="10" presetClass="entr" presetSubtype="0" fill="hold" nodeType="withEffect">
                                  <p:stCondLst>
                                    <p:cond delay="0"/>
                                  </p:stCondLst>
                                  <p:childTnLst>
                                    <p:set>
                                      <p:cBhvr>
                                        <p:cTn id="34" dur="1" fill="hold">
                                          <p:stCondLst>
                                            <p:cond delay="0"/>
                                          </p:stCondLst>
                                        </p:cTn>
                                        <p:tgtEl>
                                          <p:spTgt spid="111"/>
                                        </p:tgtEl>
                                        <p:attrNameLst>
                                          <p:attrName>style.visibility</p:attrName>
                                        </p:attrNameLst>
                                      </p:cBhvr>
                                      <p:to>
                                        <p:strVal val="visible"/>
                                      </p:to>
                                    </p:set>
                                    <p:animEffect transition="in" filter="fade">
                                      <p:cBhvr>
                                        <p:cTn id="35" dur="400"/>
                                        <p:tgtEl>
                                          <p:spTgt spid="1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12"/>
                                        </p:tgtEl>
                                        <p:attrNameLst>
                                          <p:attrName>style.visibility</p:attrName>
                                        </p:attrNameLst>
                                      </p:cBhvr>
                                      <p:to>
                                        <p:strVal val="visible"/>
                                      </p:to>
                                    </p:set>
                                    <p:animEffect transition="in" filter="fade">
                                      <p:cBhvr>
                                        <p:cTn id="40" dur="400"/>
                                        <p:tgtEl>
                                          <p:spTgt spid="112"/>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400"/>
                                        <p:tgtEl>
                                          <p:spTgt spid="113"/>
                                        </p:tgtEl>
                                      </p:cBhvr>
                                    </p:animEffect>
                                  </p:childTnLst>
                                </p:cTn>
                              </p:par>
                              <p:par>
                                <p:cTn id="44" presetID="10" presetClass="entr" presetSubtype="0" fill="hold" nodeType="withEffect">
                                  <p:stCondLst>
                                    <p:cond delay="0"/>
                                  </p:stCondLst>
                                  <p:childTnLst>
                                    <p:set>
                                      <p:cBhvr>
                                        <p:cTn id="45" dur="1" fill="hold">
                                          <p:stCondLst>
                                            <p:cond delay="0"/>
                                          </p:stCondLst>
                                        </p:cTn>
                                        <p:tgtEl>
                                          <p:spTgt spid="114"/>
                                        </p:tgtEl>
                                        <p:attrNameLst>
                                          <p:attrName>style.visibility</p:attrName>
                                        </p:attrNameLst>
                                      </p:cBhvr>
                                      <p:to>
                                        <p:strVal val="visible"/>
                                      </p:to>
                                    </p:set>
                                    <p:animEffect transition="in" filter="fade">
                                      <p:cBhvr>
                                        <p:cTn id="46" dur="400"/>
                                        <p:tgtEl>
                                          <p:spTgt spid="1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61"/>
                                        </p:tgtEl>
                                        <p:attrNameLst>
                                          <p:attrName>style.visibility</p:attrName>
                                        </p:attrNameLst>
                                      </p:cBhvr>
                                      <p:to>
                                        <p:strVal val="visible"/>
                                      </p:to>
                                    </p:set>
                                    <p:animEffect transition="in" filter="fade">
                                      <p:cBhvr>
                                        <p:cTn id="5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Can this change remain local?</a:t>
            </a:r>
          </a:p>
        </p:txBody>
      </p:sp>
      <p:sp>
        <p:nvSpPr>
          <p:cNvPr id="3" name="Slide Number Placeholder 2"/>
          <p:cNvSpPr>
            <a:spLocks noGrp="1"/>
          </p:cNvSpPr>
          <p:nvPr>
            <p:ph type="sldNum" sz="quarter" idx="4"/>
          </p:nvPr>
        </p:nvSpPr>
        <p:spPr/>
        <p:txBody>
          <a:bodyPr/>
          <a:lstStyle/>
          <a:p>
            <a:fld id="{B7EB45DA-9A0D-DC49-8E02-F30A5DDC21C3}" type="slidenum">
              <a:rPr lang="en-US" smtClean="0"/>
              <a:t>23</a:t>
            </a:fld>
            <a:endParaRPr lang="en-US"/>
          </a:p>
        </p:txBody>
      </p:sp>
      <p:sp>
        <p:nvSpPr>
          <p:cNvPr id="61" name="T61"/>
          <p:cNvSpPr txBox="1"/>
          <p:nvPr/>
        </p:nvSpPr>
        <p:spPr>
          <a:xfrm>
            <a:off x="685800" y="535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What claim can the dependency model actually establish?</a:t>
            </a:r>
          </a:p>
        </p:txBody>
      </p:sp>
      <p:sp>
        <p:nvSpPr>
          <p:cNvPr id="100" name="BeforeLbl"/>
          <p:cNvSpPr txBox="1"/>
          <p:nvPr/>
        </p:nvSpPr>
        <p:spPr>
          <a:xfrm>
            <a:off x="324000" y="1200000"/>
            <a:ext cx="1624000" cy="324000"/>
          </a:xfrm>
          <a:prstGeom prst="rect">
            <a:avLst/>
          </a:prstGeom>
          <a:noFill/>
          <a:ln>
            <a:noFill/>
          </a:ln>
        </p:spPr>
        <p:txBody>
          <a:bodyPr wrap="square" lIns="0" tIns="0" rIns="0" bIns="0" anchor="t">
            <a:normAutofit/>
          </a:bodyPr>
          <a:lstStyle/>
          <a:p>
            <a:pPr algn="l">
              <a:buNone/>
            </a:pPr>
            <a:r>
              <a:rPr lang="en-US" sz="2000" b="1" i="0" dirty="0">
                <a:solidFill>
                  <a:srgbClr val="8E6F3E"/>
                </a:solidFill>
              </a:rPr>
              <a:t>BEFORE</a:t>
            </a:r>
          </a:p>
        </p:txBody>
      </p:sp>
      <p:sp>
        <p:nvSpPr>
          <p:cNvPr id="101" name="BModel"/>
          <p:cNvSpPr/>
          <p:nvPr/>
        </p:nvSpPr>
        <p:spPr>
          <a:xfrm>
            <a:off x="350000" y="2550000"/>
            <a:ext cx="2000000" cy="95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02" name="BDelta"/>
          <p:cNvSpPr/>
          <p:nvPr/>
        </p:nvSpPr>
        <p:spPr>
          <a:xfrm>
            <a:off x="2180000" y="2380000"/>
            <a:ext cx="380000" cy="380000"/>
          </a:xfrm>
          <a:prstGeom prst="ellipse">
            <a:avLst/>
          </a:prstGeom>
          <a:solidFill>
            <a:srgbClr val="B23B3B"/>
          </a:solidFill>
          <a:ln>
            <a:noFill/>
          </a:ln>
        </p:spPr>
        <p:txBody>
          <a:bodyPr wrap="square" lIns="0" tIns="0" rIns="0" bIns="0" anchor="ctr">
            <a:normAutofit lnSpcReduction="10000"/>
          </a:bodyPr>
          <a:lstStyle/>
          <a:p>
            <a:pPr algn="ctr">
              <a:buNone/>
            </a:pPr>
            <a:r>
              <a:rPr lang="en-US" sz="1800" b="1" i="0" dirty="0">
                <a:solidFill>
                  <a:srgbClr val="FFFFFF"/>
                </a:solidFill>
              </a:rPr>
              <a:t>Δ</a:t>
            </a:r>
          </a:p>
        </p:txBody>
      </p:sp>
      <p:sp>
        <p:nvSpPr>
          <p:cNvPr id="103" name="BUI"/>
          <p:cNvSpPr/>
          <p:nvPr/>
        </p:nvSpPr>
        <p:spPr>
          <a:xfrm>
            <a:off x="3100000" y="155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cxnSp>
        <p:nvCxnSpPr>
          <p:cNvPr id="104" name="BA104"/>
          <p:cNvCxnSpPr/>
          <p:nvPr/>
        </p:nvCxnSpPr>
        <p:spPr>
          <a:xfrm flipV="1">
            <a:off x="2350000" y="1890000"/>
            <a:ext cx="750000" cy="890000"/>
          </a:xfrm>
          <a:prstGeom prst="line">
            <a:avLst/>
          </a:prstGeom>
          <a:ln w="28575">
            <a:solidFill>
              <a:srgbClr val="B23B3B"/>
            </a:solidFill>
            <a:prstDash val="dash"/>
            <a:headEnd type="triangle" w="med" len="med"/>
          </a:ln>
        </p:spPr>
      </p:cxnSp>
      <p:sp>
        <p:nvSpPr>
          <p:cNvPr id="105" name="BADVICE"/>
          <p:cNvSpPr/>
          <p:nvPr/>
        </p:nvSpPr>
        <p:spPr>
          <a:xfrm>
            <a:off x="3100000" y="268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cxnSp>
        <p:nvCxnSpPr>
          <p:cNvPr id="106" name="BA106"/>
          <p:cNvCxnSpPr/>
          <p:nvPr/>
        </p:nvCxnSpPr>
        <p:spPr>
          <a:xfrm>
            <a:off x="2350000" y="3020000"/>
            <a:ext cx="750000" cy="0"/>
          </a:xfrm>
          <a:prstGeom prst="line">
            <a:avLst/>
          </a:prstGeom>
          <a:ln w="28575">
            <a:solidFill>
              <a:srgbClr val="B23B3B"/>
            </a:solidFill>
            <a:prstDash val="dash"/>
            <a:headEnd type="triangle" w="med" len="med"/>
          </a:ln>
        </p:spPr>
      </p:cxnSp>
      <p:sp>
        <p:nvSpPr>
          <p:cNvPr id="107" name="BSTORAGE"/>
          <p:cNvSpPr/>
          <p:nvPr/>
        </p:nvSpPr>
        <p:spPr>
          <a:xfrm>
            <a:off x="3100000" y="381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08" name="BA108"/>
          <p:cNvCxnSpPr/>
          <p:nvPr/>
        </p:nvCxnSpPr>
        <p:spPr>
          <a:xfrm>
            <a:off x="2350000" y="3260000"/>
            <a:ext cx="750000" cy="890000"/>
          </a:xfrm>
          <a:prstGeom prst="line">
            <a:avLst/>
          </a:prstGeom>
          <a:ln w="28575">
            <a:solidFill>
              <a:srgbClr val="B23B3B"/>
            </a:solidFill>
            <a:prstDash val="dash"/>
            <a:headEnd type="triangle" w="med" len="med"/>
          </a:ln>
        </p:spPr>
      </p:cxnSp>
      <p:sp>
        <p:nvSpPr>
          <p:cNvPr id="109" name="BCap"/>
          <p:cNvSpPr txBox="1"/>
          <p:nvPr/>
        </p:nvSpPr>
        <p:spPr>
          <a:xfrm>
            <a:off x="350000" y="4700000"/>
            <a:ext cx="4170000" cy="324000"/>
          </a:xfrm>
          <a:prstGeom prst="rect">
            <a:avLst/>
          </a:prstGeom>
          <a:noFill/>
          <a:ln>
            <a:noFill/>
          </a:ln>
        </p:spPr>
        <p:txBody>
          <a:bodyPr wrap="square" lIns="0" tIns="0" rIns="0" bIns="0" anchor="t">
            <a:normAutofit/>
          </a:bodyPr>
          <a:lstStyle/>
          <a:p>
            <a:pPr algn="l">
              <a:buNone/>
            </a:pPr>
            <a:r>
              <a:rPr lang="en-US" sz="1900" b="0" i="1" dirty="0">
                <a:solidFill>
                  <a:srgbClr val="B23B3B"/>
                </a:solidFill>
              </a:rPr>
              <a:t>one expected change touches everything</a:t>
            </a:r>
          </a:p>
        </p:txBody>
      </p:sp>
      <p:cxnSp>
        <p:nvCxnSpPr>
          <p:cNvPr id="110" name="Div"/>
          <p:cNvCxnSpPr/>
          <p:nvPr/>
        </p:nvCxnSpPr>
        <p:spPr>
          <a:xfrm>
            <a:off x="4600000" y="1550000"/>
            <a:ext cx="0" cy="2950000"/>
          </a:xfrm>
          <a:prstGeom prst="line">
            <a:avLst/>
          </a:prstGeom>
          <a:ln w="28575">
            <a:solidFill>
              <a:srgbClr val="C9B991"/>
            </a:solidFill>
            <a:prstDash val="dash"/>
          </a:ln>
        </p:spPr>
      </p:cxnSp>
      <p:sp>
        <p:nvSpPr>
          <p:cNvPr id="111" name="AfterLbl"/>
          <p:cNvSpPr txBox="1"/>
          <p:nvPr/>
        </p:nvSpPr>
        <p:spPr>
          <a:xfrm>
            <a:off x="4779000" y="1200000"/>
            <a:ext cx="1624000" cy="324000"/>
          </a:xfrm>
          <a:prstGeom prst="rect">
            <a:avLst/>
          </a:prstGeom>
          <a:noFill/>
          <a:ln>
            <a:noFill/>
          </a:ln>
        </p:spPr>
        <p:txBody>
          <a:bodyPr wrap="square" lIns="0" tIns="0" rIns="0" bIns="0" anchor="t">
            <a:normAutofit/>
          </a:bodyPr>
          <a:lstStyle/>
          <a:p>
            <a:pPr algn="l">
              <a:buNone/>
            </a:pPr>
            <a:r>
              <a:rPr lang="en-US" sz="2000" b="1" i="0" dirty="0">
                <a:solidFill>
                  <a:srgbClr val="8E6F3E"/>
                </a:solidFill>
              </a:rPr>
              <a:t>AFTER</a:t>
            </a:r>
          </a:p>
        </p:txBody>
      </p:sp>
      <p:sp>
        <p:nvSpPr>
          <p:cNvPr id="112" name="AUI"/>
          <p:cNvSpPr/>
          <p:nvPr/>
        </p:nvSpPr>
        <p:spPr>
          <a:xfrm>
            <a:off x="4720000" y="165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sp>
        <p:nvSpPr>
          <p:cNvPr id="113" name="AAdvice"/>
          <p:cNvSpPr/>
          <p:nvPr/>
        </p:nvSpPr>
        <p:spPr>
          <a:xfrm>
            <a:off x="4720000" y="250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sp>
        <p:nvSpPr>
          <p:cNvPr id="114" name="AIface"/>
          <p:cNvSpPr/>
          <p:nvPr/>
        </p:nvSpPr>
        <p:spPr>
          <a:xfrm>
            <a:off x="6350000" y="1500000"/>
            <a:ext cx="160000" cy="2600000"/>
          </a:xfrm>
          <a:prstGeom prst="rect">
            <a:avLst/>
          </a:prstGeom>
          <a:solidFill>
            <a:srgbClr val="8E6F3E"/>
          </a:solidFill>
          <a:ln>
            <a:noFill/>
          </a:ln>
        </p:spPr>
        <p:txBody>
          <a:bodyPr wrap="square" lIns="54864" tIns="27432" rIns="54864" bIns="27432" anchor="ctr">
            <a:normAutofit/>
          </a:bodyPr>
          <a:lstStyle/>
          <a:p>
            <a:endParaRPr/>
          </a:p>
        </p:txBody>
      </p:sp>
      <p:sp>
        <p:nvSpPr>
          <p:cNvPr id="115" name="AIfaceLbl"/>
          <p:cNvSpPr txBox="1"/>
          <p:nvPr/>
        </p:nvSpPr>
        <p:spPr>
          <a:xfrm>
            <a:off x="5330000" y="1180000"/>
            <a:ext cx="3300000" cy="300000"/>
          </a:xfrm>
          <a:prstGeom prst="rect">
            <a:avLst/>
          </a:prstGeom>
          <a:noFill/>
          <a:ln>
            <a:noFill/>
          </a:ln>
        </p:spPr>
        <p:txBody>
          <a:bodyPr wrap="square" lIns="0" tIns="0" rIns="0" bIns="0" anchor="t">
            <a:normAutofit/>
          </a:bodyPr>
          <a:lstStyle/>
          <a:p>
            <a:pPr algn="ctr">
              <a:buNone/>
            </a:pPr>
            <a:r>
              <a:rPr lang="en-US" sz="1800" b="1" i="0" dirty="0">
                <a:solidFill>
                  <a:srgbClr val="8E6F3E"/>
                </a:solidFill>
              </a:rPr>
              <a:t>MODEL SERVICE INTERFACE</a:t>
            </a:r>
          </a:p>
        </p:txBody>
      </p:sp>
      <p:sp>
        <p:nvSpPr>
          <p:cNvPr id="116" name="AModel"/>
          <p:cNvSpPr/>
          <p:nvPr/>
        </p:nvSpPr>
        <p:spPr>
          <a:xfrm>
            <a:off x="6850000" y="2350000"/>
            <a:ext cx="1900000" cy="90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17" name="ADelta"/>
          <p:cNvSpPr/>
          <p:nvPr/>
        </p:nvSpPr>
        <p:spPr>
          <a:xfrm>
            <a:off x="8460000" y="2190000"/>
            <a:ext cx="348000" cy="348000"/>
          </a:xfrm>
          <a:prstGeom prst="ellipse">
            <a:avLst/>
          </a:prstGeom>
          <a:solidFill>
            <a:srgbClr val="B23B3B"/>
          </a:solidFill>
          <a:ln>
            <a:noFill/>
          </a:ln>
        </p:spPr>
        <p:txBody>
          <a:bodyPr wrap="square" lIns="0" tIns="0" rIns="0" bIns="0" anchor="ctr">
            <a:normAutofit fontScale="92500" lnSpcReduction="10000"/>
          </a:bodyPr>
          <a:lstStyle/>
          <a:p>
            <a:pPr algn="ctr">
              <a:buNone/>
            </a:pPr>
            <a:r>
              <a:rPr lang="en-US" sz="1800" b="1" i="0" dirty="0">
                <a:solidFill>
                  <a:srgbClr val="FFFFFF"/>
                </a:solidFill>
              </a:rPr>
              <a:t>Δ</a:t>
            </a:r>
          </a:p>
        </p:txBody>
      </p:sp>
      <p:cxnSp>
        <p:nvCxnSpPr>
          <p:cNvPr id="118" name="AA118"/>
          <p:cNvCxnSpPr/>
          <p:nvPr/>
        </p:nvCxnSpPr>
        <p:spPr>
          <a:xfrm>
            <a:off x="5970000" y="1940000"/>
            <a:ext cx="380000" cy="0"/>
          </a:xfrm>
          <a:prstGeom prst="line">
            <a:avLst/>
          </a:prstGeom>
          <a:ln w="41275">
            <a:solidFill>
              <a:srgbClr val="8E6F3E"/>
            </a:solidFill>
            <a:tailEnd type="triangle" w="med" len="med"/>
          </a:ln>
        </p:spPr>
      </p:cxnSp>
      <p:cxnSp>
        <p:nvCxnSpPr>
          <p:cNvPr id="119" name="AA119"/>
          <p:cNvCxnSpPr/>
          <p:nvPr/>
        </p:nvCxnSpPr>
        <p:spPr>
          <a:xfrm>
            <a:off x="5970000" y="2790000"/>
            <a:ext cx="380000" cy="0"/>
          </a:xfrm>
          <a:prstGeom prst="line">
            <a:avLst/>
          </a:prstGeom>
          <a:ln w="41275">
            <a:solidFill>
              <a:srgbClr val="8E6F3E"/>
            </a:solidFill>
            <a:tailEnd type="triangle" w="med" len="med"/>
          </a:ln>
        </p:spPr>
      </p:cxnSp>
      <p:sp>
        <p:nvSpPr>
          <p:cNvPr id="120" name="ACap"/>
          <p:cNvSpPr txBox="1"/>
          <p:nvPr/>
        </p:nvSpPr>
        <p:spPr>
          <a:xfrm>
            <a:off x="4720000" y="4700000"/>
            <a:ext cx="4100000" cy="324000"/>
          </a:xfrm>
          <a:prstGeom prst="rect">
            <a:avLst/>
          </a:prstGeom>
          <a:noFill/>
          <a:ln>
            <a:noFill/>
          </a:ln>
        </p:spPr>
        <p:txBody>
          <a:bodyPr wrap="square" lIns="0" tIns="0" rIns="0" bIns="0" anchor="t">
            <a:normAutofit/>
          </a:bodyPr>
          <a:lstStyle/>
          <a:p>
            <a:pPr algn="l">
              <a:buNone/>
            </a:pPr>
            <a:r>
              <a:rPr lang="en-US" sz="1900" b="0" i="1" dirty="0">
                <a:solidFill>
                  <a:srgbClr val="1F7A4D"/>
                </a:solidFill>
              </a:rPr>
              <a:t>anticipated change stays behind the seam</a:t>
            </a:r>
          </a:p>
        </p:txBody>
      </p:sp>
      <p:sp>
        <p:nvSpPr>
          <p:cNvPr id="130" name="AStorage"/>
          <p:cNvSpPr/>
          <p:nvPr/>
        </p:nvSpPr>
        <p:spPr>
          <a:xfrm>
            <a:off x="4720000" y="335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31" name="AA131"/>
          <p:cNvCxnSpPr/>
          <p:nvPr/>
        </p:nvCxnSpPr>
        <p:spPr>
          <a:xfrm>
            <a:off x="5970000" y="3640000"/>
            <a:ext cx="380000" cy="0"/>
          </a:xfrm>
          <a:prstGeom prst="line">
            <a:avLst/>
          </a:prstGeom>
          <a:ln w="41275">
            <a:solidFill>
              <a:srgbClr val="8E6F3E"/>
            </a:solidFill>
            <a:tailEnd type="triangle" w="med" len="med"/>
          </a:ln>
        </p:spPr>
      </p:cxnSp>
      <p:cxnSp>
        <p:nvCxnSpPr>
          <p:cNvPr id="132" name="SeamToModel"/>
          <p:cNvCxnSpPr/>
          <p:nvPr/>
        </p:nvCxnSpPr>
        <p:spPr>
          <a:xfrm>
            <a:off x="6510000" y="2800000"/>
            <a:ext cx="340000" cy="0"/>
          </a:xfrm>
          <a:prstGeom prst="line">
            <a:avLst/>
          </a:prstGeom>
          <a:ln w="41275">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5"/>
                                        </p:tgtEl>
                                        <p:attrNameLst>
                                          <p:attrName>style.visibility</p:attrName>
                                        </p:attrNameLst>
                                      </p:cBhvr>
                                      <p:to>
                                        <p:strVal val="visible"/>
                                      </p:to>
                                    </p:set>
                                    <p:animEffect transition="in" filter="fade">
                                      <p:cBhvr>
                                        <p:cTn id="16" dur="400"/>
                                        <p:tgtEl>
                                          <p:spTgt spid="105"/>
                                        </p:tgtEl>
                                      </p:cBhvr>
                                    </p:animEffect>
                                  </p:childTnLst>
                                </p:cTn>
                              </p:par>
                              <p:par>
                                <p:cTn id="17" presetID="10" presetClass="entr" presetSubtype="0" fill="hold" nodeType="withEffect">
                                  <p:stCondLst>
                                    <p:cond delay="0"/>
                                  </p:stCondLst>
                                  <p:childTnLst>
                                    <p:set>
                                      <p:cBhvr>
                                        <p:cTn id="18" dur="1" fill="hold">
                                          <p:stCondLst>
                                            <p:cond delay="0"/>
                                          </p:stCondLst>
                                        </p:cTn>
                                        <p:tgtEl>
                                          <p:spTgt spid="107"/>
                                        </p:tgtEl>
                                        <p:attrNameLst>
                                          <p:attrName>style.visibility</p:attrName>
                                        </p:attrNameLst>
                                      </p:cBhvr>
                                      <p:to>
                                        <p:strVal val="visible"/>
                                      </p:to>
                                    </p:set>
                                    <p:animEffect transition="in" filter="fade">
                                      <p:cBhvr>
                                        <p:cTn id="19" dur="400"/>
                                        <p:tgtEl>
                                          <p:spTgt spid="10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02"/>
                                        </p:tgtEl>
                                        <p:attrNameLst>
                                          <p:attrName>style.visibility</p:attrName>
                                        </p:attrNameLst>
                                      </p:cBhvr>
                                      <p:to>
                                        <p:strVal val="visible"/>
                                      </p:to>
                                    </p:set>
                                    <p:animEffect transition="in" filter="fade">
                                      <p:cBhvr>
                                        <p:cTn id="24" dur="400"/>
                                        <p:tgtEl>
                                          <p:spTgt spid="10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4"/>
                                        </p:tgtEl>
                                        <p:attrNameLst>
                                          <p:attrName>style.visibility</p:attrName>
                                        </p:attrNameLst>
                                      </p:cBhvr>
                                      <p:to>
                                        <p:strVal val="visible"/>
                                      </p:to>
                                    </p:set>
                                    <p:animEffect transition="in" filter="fade">
                                      <p:cBhvr>
                                        <p:cTn id="29" dur="400"/>
                                        <p:tgtEl>
                                          <p:spTgt spid="104"/>
                                        </p:tgtEl>
                                      </p:cBhvr>
                                    </p:animEffect>
                                  </p:childTnLst>
                                </p:cTn>
                              </p:par>
                              <p:par>
                                <p:cTn id="30" presetID="10" presetClass="entr" presetSubtype="0" fill="hold" nodeType="withEffect">
                                  <p:stCondLst>
                                    <p:cond delay="0"/>
                                  </p:stCondLst>
                                  <p:childTnLst>
                                    <p:set>
                                      <p:cBhvr>
                                        <p:cTn id="31" dur="1" fill="hold">
                                          <p:stCondLst>
                                            <p:cond delay="0"/>
                                          </p:stCondLst>
                                        </p:cTn>
                                        <p:tgtEl>
                                          <p:spTgt spid="106"/>
                                        </p:tgtEl>
                                        <p:attrNameLst>
                                          <p:attrName>style.visibility</p:attrName>
                                        </p:attrNameLst>
                                      </p:cBhvr>
                                      <p:to>
                                        <p:strVal val="visible"/>
                                      </p:to>
                                    </p:set>
                                    <p:animEffect transition="in" filter="fade">
                                      <p:cBhvr>
                                        <p:cTn id="32" dur="400"/>
                                        <p:tgtEl>
                                          <p:spTgt spid="106"/>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par>
                                <p:cTn id="36" presetID="10" presetClass="entr" presetSubtype="0" fill="hold" nodeType="withEffect">
                                  <p:stCondLst>
                                    <p:cond delay="0"/>
                                  </p:stCondLst>
                                  <p:childTnLst>
                                    <p:set>
                                      <p:cBhvr>
                                        <p:cTn id="37" dur="1" fill="hold">
                                          <p:stCondLst>
                                            <p:cond delay="0"/>
                                          </p:stCondLst>
                                        </p:cTn>
                                        <p:tgtEl>
                                          <p:spTgt spid="109"/>
                                        </p:tgtEl>
                                        <p:attrNameLst>
                                          <p:attrName>style.visibility</p:attrName>
                                        </p:attrNameLst>
                                      </p:cBhvr>
                                      <p:to>
                                        <p:strVal val="visible"/>
                                      </p:to>
                                    </p:set>
                                    <p:animEffect transition="in" filter="fade">
                                      <p:cBhvr>
                                        <p:cTn id="38" dur="400"/>
                                        <p:tgtEl>
                                          <p:spTgt spid="109"/>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par>
                                <p:cTn id="44" presetID="10" presetClass="entr" presetSubtype="0" fill="hold" nodeType="withEffect">
                                  <p:stCondLst>
                                    <p:cond delay="0"/>
                                  </p:stCondLst>
                                  <p:childTnLst>
                                    <p:set>
                                      <p:cBhvr>
                                        <p:cTn id="45" dur="1" fill="hold">
                                          <p:stCondLst>
                                            <p:cond delay="0"/>
                                          </p:stCondLst>
                                        </p:cTn>
                                        <p:tgtEl>
                                          <p:spTgt spid="111"/>
                                        </p:tgtEl>
                                        <p:attrNameLst>
                                          <p:attrName>style.visibility</p:attrName>
                                        </p:attrNameLst>
                                      </p:cBhvr>
                                      <p:to>
                                        <p:strVal val="visible"/>
                                      </p:to>
                                    </p:set>
                                    <p:animEffect transition="in" filter="fade">
                                      <p:cBhvr>
                                        <p:cTn id="46" dur="400"/>
                                        <p:tgtEl>
                                          <p:spTgt spid="111"/>
                                        </p:tgtEl>
                                      </p:cBhvr>
                                    </p:animEffect>
                                  </p:childTnLst>
                                </p:cTn>
                              </p:par>
                              <p:par>
                                <p:cTn id="47" presetID="10" presetClass="entr" presetSubtype="0" fill="hold" nodeType="withEffect">
                                  <p:stCondLst>
                                    <p:cond delay="0"/>
                                  </p:stCondLst>
                                  <p:childTnLst>
                                    <p:set>
                                      <p:cBhvr>
                                        <p:cTn id="48" dur="1" fill="hold">
                                          <p:stCondLst>
                                            <p:cond delay="0"/>
                                          </p:stCondLst>
                                        </p:cTn>
                                        <p:tgtEl>
                                          <p:spTgt spid="112"/>
                                        </p:tgtEl>
                                        <p:attrNameLst>
                                          <p:attrName>style.visibility</p:attrName>
                                        </p:attrNameLst>
                                      </p:cBhvr>
                                      <p:to>
                                        <p:strVal val="visible"/>
                                      </p:to>
                                    </p:set>
                                    <p:animEffect transition="in" filter="fade">
                                      <p:cBhvr>
                                        <p:cTn id="49" dur="400"/>
                                        <p:tgtEl>
                                          <p:spTgt spid="112"/>
                                        </p:tgtEl>
                                      </p:cBhvr>
                                    </p:animEffect>
                                  </p:childTnLst>
                                </p:cTn>
                              </p:par>
                              <p:par>
                                <p:cTn id="50" presetID="10" presetClass="entr" presetSubtype="0" fill="hold" nodeType="withEffect">
                                  <p:stCondLst>
                                    <p:cond delay="0"/>
                                  </p:stCondLst>
                                  <p:childTnLst>
                                    <p:set>
                                      <p:cBhvr>
                                        <p:cTn id="51" dur="1" fill="hold">
                                          <p:stCondLst>
                                            <p:cond delay="0"/>
                                          </p:stCondLst>
                                        </p:cTn>
                                        <p:tgtEl>
                                          <p:spTgt spid="113"/>
                                        </p:tgtEl>
                                        <p:attrNameLst>
                                          <p:attrName>style.visibility</p:attrName>
                                        </p:attrNameLst>
                                      </p:cBhvr>
                                      <p:to>
                                        <p:strVal val="visible"/>
                                      </p:to>
                                    </p:set>
                                    <p:animEffect transition="in" filter="fade">
                                      <p:cBhvr>
                                        <p:cTn id="52" dur="400"/>
                                        <p:tgtEl>
                                          <p:spTgt spid="113"/>
                                        </p:tgtEl>
                                      </p:cBhvr>
                                    </p:animEffect>
                                  </p:childTnLst>
                                </p:cTn>
                              </p:par>
                              <p:par>
                                <p:cTn id="53" presetID="10" presetClass="entr" presetSubtype="0"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Effect transition="in" filter="fade">
                                      <p:cBhvr>
                                        <p:cTn id="55" dur="400"/>
                                        <p:tgtEl>
                                          <p:spTgt spid="130"/>
                                        </p:tgtEl>
                                      </p:cBhvr>
                                    </p:animEffect>
                                  </p:childTnLst>
                                </p:cTn>
                              </p:par>
                              <p:par>
                                <p:cTn id="56" presetID="10" presetClass="entr" presetSubtype="0" fill="hold" nodeType="withEffect">
                                  <p:stCondLst>
                                    <p:cond delay="0"/>
                                  </p:stCondLst>
                                  <p:childTnLst>
                                    <p:set>
                                      <p:cBhvr>
                                        <p:cTn id="57" dur="1" fill="hold">
                                          <p:stCondLst>
                                            <p:cond delay="0"/>
                                          </p:stCondLst>
                                        </p:cTn>
                                        <p:tgtEl>
                                          <p:spTgt spid="116"/>
                                        </p:tgtEl>
                                        <p:attrNameLst>
                                          <p:attrName>style.visibility</p:attrName>
                                        </p:attrNameLst>
                                      </p:cBhvr>
                                      <p:to>
                                        <p:strVal val="visible"/>
                                      </p:to>
                                    </p:set>
                                    <p:animEffect transition="in" filter="fade">
                                      <p:cBhvr>
                                        <p:cTn id="58" dur="400"/>
                                        <p:tgtEl>
                                          <p:spTgt spid="11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4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15"/>
                                        </p:tgtEl>
                                        <p:attrNameLst>
                                          <p:attrName>style.visibility</p:attrName>
                                        </p:attrNameLst>
                                      </p:cBhvr>
                                      <p:to>
                                        <p:strVal val="visible"/>
                                      </p:to>
                                    </p:set>
                                    <p:animEffect transition="in" filter="fade">
                                      <p:cBhvr>
                                        <p:cTn id="66" dur="400"/>
                                        <p:tgtEl>
                                          <p:spTgt spid="115"/>
                                        </p:tgtEl>
                                      </p:cBhvr>
                                    </p:animEffect>
                                  </p:childTnLst>
                                </p:cTn>
                              </p:par>
                              <p:par>
                                <p:cTn id="67" presetID="10" presetClass="entr" presetSubtype="0" fill="hold" nodeType="withEffect">
                                  <p:stCondLst>
                                    <p:cond delay="0"/>
                                  </p:stCondLst>
                                  <p:childTnLst>
                                    <p:set>
                                      <p:cBhvr>
                                        <p:cTn id="68" dur="1" fill="hold">
                                          <p:stCondLst>
                                            <p:cond delay="0"/>
                                          </p:stCondLst>
                                        </p:cTn>
                                        <p:tgtEl>
                                          <p:spTgt spid="118"/>
                                        </p:tgtEl>
                                        <p:attrNameLst>
                                          <p:attrName>style.visibility</p:attrName>
                                        </p:attrNameLst>
                                      </p:cBhvr>
                                      <p:to>
                                        <p:strVal val="visible"/>
                                      </p:to>
                                    </p:set>
                                    <p:animEffect transition="in" filter="fade">
                                      <p:cBhvr>
                                        <p:cTn id="69" dur="400"/>
                                        <p:tgtEl>
                                          <p:spTgt spid="118"/>
                                        </p:tgtEl>
                                      </p:cBhvr>
                                    </p:animEffect>
                                  </p:childTnLst>
                                </p:cTn>
                              </p:par>
                              <p:par>
                                <p:cTn id="70" presetID="10" presetClass="entr" presetSubtype="0" fill="hold" nodeType="withEffect">
                                  <p:stCondLst>
                                    <p:cond delay="0"/>
                                  </p:stCondLst>
                                  <p:childTnLst>
                                    <p:set>
                                      <p:cBhvr>
                                        <p:cTn id="71" dur="1" fill="hold">
                                          <p:stCondLst>
                                            <p:cond delay="0"/>
                                          </p:stCondLst>
                                        </p:cTn>
                                        <p:tgtEl>
                                          <p:spTgt spid="119"/>
                                        </p:tgtEl>
                                        <p:attrNameLst>
                                          <p:attrName>style.visibility</p:attrName>
                                        </p:attrNameLst>
                                      </p:cBhvr>
                                      <p:to>
                                        <p:strVal val="visible"/>
                                      </p:to>
                                    </p:set>
                                    <p:animEffect transition="in" filter="fade">
                                      <p:cBhvr>
                                        <p:cTn id="72" dur="400"/>
                                        <p:tgtEl>
                                          <p:spTgt spid="119"/>
                                        </p:tgtEl>
                                      </p:cBhvr>
                                    </p:animEffect>
                                  </p:childTnLst>
                                </p:cTn>
                              </p:par>
                              <p:par>
                                <p:cTn id="73" presetID="10" presetClass="entr" presetSubtype="0" fill="hold" nodeType="withEffect">
                                  <p:stCondLst>
                                    <p:cond delay="0"/>
                                  </p:stCondLst>
                                  <p:childTnLst>
                                    <p:set>
                                      <p:cBhvr>
                                        <p:cTn id="74" dur="1" fill="hold">
                                          <p:stCondLst>
                                            <p:cond delay="0"/>
                                          </p:stCondLst>
                                        </p:cTn>
                                        <p:tgtEl>
                                          <p:spTgt spid="131"/>
                                        </p:tgtEl>
                                        <p:attrNameLst>
                                          <p:attrName>style.visibility</p:attrName>
                                        </p:attrNameLst>
                                      </p:cBhvr>
                                      <p:to>
                                        <p:strVal val="visible"/>
                                      </p:to>
                                    </p:set>
                                    <p:animEffect transition="in" filter="fade">
                                      <p:cBhvr>
                                        <p:cTn id="75" dur="400"/>
                                        <p:tgtEl>
                                          <p:spTgt spid="131"/>
                                        </p:tgtEl>
                                      </p:cBhvr>
                                    </p:animEffect>
                                  </p:childTnLst>
                                </p:cTn>
                              </p:par>
                              <p:par>
                                <p:cTn id="76" presetID="10" presetClass="entr" presetSubtype="0" fill="hold" nodeType="withEffect">
                                  <p:stCondLst>
                                    <p:cond delay="0"/>
                                  </p:stCondLst>
                                  <p:childTnLst>
                                    <p:set>
                                      <p:cBhvr>
                                        <p:cTn id="77" dur="1" fill="hold">
                                          <p:stCondLst>
                                            <p:cond delay="0"/>
                                          </p:stCondLst>
                                        </p:cTn>
                                        <p:tgtEl>
                                          <p:spTgt spid="132"/>
                                        </p:tgtEl>
                                        <p:attrNameLst>
                                          <p:attrName>style.visibility</p:attrName>
                                        </p:attrNameLst>
                                      </p:cBhvr>
                                      <p:to>
                                        <p:strVal val="visible"/>
                                      </p:to>
                                    </p:set>
                                    <p:animEffect transition="in" filter="fade">
                                      <p:cBhvr>
                                        <p:cTn id="78" dur="400"/>
                                        <p:tgtEl>
                                          <p:spTgt spid="132"/>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117"/>
                                        </p:tgtEl>
                                        <p:attrNameLst>
                                          <p:attrName>style.visibility</p:attrName>
                                        </p:attrNameLst>
                                      </p:cBhvr>
                                      <p:to>
                                        <p:strVal val="visible"/>
                                      </p:to>
                                    </p:set>
                                    <p:animEffect transition="in" filter="fade">
                                      <p:cBhvr>
                                        <p:cTn id="83" dur="400"/>
                                        <p:tgtEl>
                                          <p:spTgt spid="117"/>
                                        </p:tgtEl>
                                      </p:cBhvr>
                                    </p:animEffect>
                                  </p:childTnLst>
                                </p:cTn>
                              </p:par>
                              <p:par>
                                <p:cTn id="84" presetID="10" presetClass="entr" presetSubtype="0" fill="hold" nodeType="withEffect">
                                  <p:stCondLst>
                                    <p:cond delay="0"/>
                                  </p:stCondLst>
                                  <p:childTnLst>
                                    <p:set>
                                      <p:cBhvr>
                                        <p:cTn id="85" dur="1" fill="hold">
                                          <p:stCondLst>
                                            <p:cond delay="0"/>
                                          </p:stCondLst>
                                        </p:cTn>
                                        <p:tgtEl>
                                          <p:spTgt spid="120"/>
                                        </p:tgtEl>
                                        <p:attrNameLst>
                                          <p:attrName>style.visibility</p:attrName>
                                        </p:attrNameLst>
                                      </p:cBhvr>
                                      <p:to>
                                        <p:strVal val="visible"/>
                                      </p:to>
                                    </p:set>
                                    <p:animEffect transition="in" filter="fade">
                                      <p:cBhvr>
                                        <p:cTn id="86" dur="400"/>
                                        <p:tgtEl>
                                          <p:spTgt spid="120"/>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1"/>
                                        </p:tgtEl>
                                        <p:attrNameLst>
                                          <p:attrName>style.visibility</p:attrName>
                                        </p:attrNameLst>
                                      </p:cBhvr>
                                      <p:to>
                                        <p:strVal val="visible"/>
                                      </p:to>
                                    </p:set>
                                    <p:animEffect transition="in" filter="fade">
                                      <p:cBhvr>
                                        <p:cTn id="9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What sets the latency floor?</a:t>
            </a:r>
          </a:p>
        </p:txBody>
      </p:sp>
      <p:sp>
        <p:nvSpPr>
          <p:cNvPr id="3" name="Slide Number Placeholder 2"/>
          <p:cNvSpPr>
            <a:spLocks noGrp="1"/>
          </p:cNvSpPr>
          <p:nvPr>
            <p:ph type="sldNum" sz="quarter" idx="4"/>
          </p:nvPr>
        </p:nvSpPr>
        <p:spPr/>
        <p:txBody>
          <a:bodyPr/>
          <a:lstStyle/>
          <a:p>
            <a:fld id="{B7EB45DA-9A0D-DC49-8E02-F30A5DDC21C3}" type="slidenum">
              <a:rPr lang="en-US" smtClean="0"/>
              <a:t>24</a:t>
            </a:fld>
            <a:endParaRPr lang="en-US"/>
          </a:p>
        </p:txBody>
      </p:sp>
      <p:sp>
        <p:nvSpPr>
          <p:cNvPr id="61" name="T61"/>
          <p:cNvSpPr txBox="1"/>
          <p:nvPr/>
        </p:nvSpPr>
        <p:spPr>
          <a:xfrm>
            <a:off x="685800" y="540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Could decomposition shorten the critical path?</a:t>
            </a:r>
          </a:p>
        </p:txBody>
      </p:sp>
      <p:sp>
        <p:nvSpPr>
          <p:cNvPr id="100" name="NA"/>
          <p:cNvSpPr/>
          <p:nvPr/>
        </p:nvSpPr>
        <p:spPr>
          <a:xfrm>
            <a:off x="312500" y="20625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A</a:t>
            </a:r>
          </a:p>
        </p:txBody>
      </p:sp>
      <p:sp>
        <p:nvSpPr>
          <p:cNvPr id="101" name="NB"/>
          <p:cNvSpPr/>
          <p:nvPr/>
        </p:nvSpPr>
        <p:spPr>
          <a:xfrm>
            <a:off x="2562500" y="1312500"/>
            <a:ext cx="1187500" cy="687500"/>
          </a:xfrm>
          <a:prstGeom prst="rect">
            <a:avLst/>
          </a:prstGeom>
          <a:solidFill>
            <a:srgbClr val="8E6F3E"/>
          </a:solidFill>
          <a:ln>
            <a:noFill/>
          </a:ln>
        </p:spPr>
        <p:txBody>
          <a:bodyPr wrap="square" lIns="54864" tIns="27432" rIns="54864" bIns="27432" anchor="ctr">
            <a:normAutofit/>
          </a:bodyPr>
          <a:lstStyle/>
          <a:p>
            <a:pPr algn="ctr">
              <a:buNone/>
            </a:pPr>
            <a:r>
              <a:rPr lang="en-US" sz="2600" b="1" i="0" dirty="0">
                <a:solidFill>
                  <a:srgbClr val="FFFFFF"/>
                </a:solidFill>
              </a:rPr>
              <a:t>B</a:t>
            </a:r>
          </a:p>
        </p:txBody>
      </p:sp>
      <p:sp>
        <p:nvSpPr>
          <p:cNvPr id="102" name="NC"/>
          <p:cNvSpPr/>
          <p:nvPr/>
        </p:nvSpPr>
        <p:spPr>
          <a:xfrm>
            <a:off x="28750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C</a:t>
            </a:r>
          </a:p>
        </p:txBody>
      </p:sp>
      <p:sp>
        <p:nvSpPr>
          <p:cNvPr id="103" name="NE"/>
          <p:cNvSpPr/>
          <p:nvPr/>
        </p:nvSpPr>
        <p:spPr>
          <a:xfrm>
            <a:off x="51875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E</a:t>
            </a:r>
          </a:p>
        </p:txBody>
      </p:sp>
      <p:sp>
        <p:nvSpPr>
          <p:cNvPr id="104" name="ND"/>
          <p:cNvSpPr/>
          <p:nvPr/>
        </p:nvSpPr>
        <p:spPr>
          <a:xfrm>
            <a:off x="5062500" y="10625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D</a:t>
            </a:r>
          </a:p>
        </p:txBody>
      </p:sp>
      <p:sp>
        <p:nvSpPr>
          <p:cNvPr id="105" name="NF"/>
          <p:cNvSpPr/>
          <p:nvPr/>
        </p:nvSpPr>
        <p:spPr>
          <a:xfrm>
            <a:off x="7437500" y="18750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F</a:t>
            </a:r>
          </a:p>
        </p:txBody>
      </p:sp>
      <p:cxnSp>
        <p:nvCxnSpPr>
          <p:cNvPr id="106" name="EAB"/>
          <p:cNvCxnSpPr/>
          <p:nvPr/>
        </p:nvCxnSpPr>
        <p:spPr>
          <a:xfrm flipV="1">
            <a:off x="1125000" y="1812500"/>
            <a:ext cx="1437500" cy="437500"/>
          </a:xfrm>
          <a:prstGeom prst="line">
            <a:avLst/>
          </a:prstGeom>
          <a:ln w="80962">
            <a:solidFill>
              <a:srgbClr val="8E6F3E"/>
            </a:solidFill>
            <a:tailEnd type="triangle" w="med" len="med"/>
          </a:ln>
        </p:spPr>
      </p:cxnSp>
      <p:sp>
        <p:nvSpPr>
          <p:cNvPr id="107" name="WAB"/>
          <p:cNvSpPr txBox="1"/>
          <p:nvPr/>
        </p:nvSpPr>
        <p:spPr>
          <a:xfrm>
            <a:off x="1500000" y="14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80 ms</a:t>
            </a:r>
          </a:p>
        </p:txBody>
      </p:sp>
      <p:cxnSp>
        <p:nvCxnSpPr>
          <p:cNvPr id="108" name="EBF"/>
          <p:cNvCxnSpPr/>
          <p:nvPr/>
        </p:nvCxnSpPr>
        <p:spPr>
          <a:xfrm>
            <a:off x="3750000" y="1656250"/>
            <a:ext cx="3687500" cy="406250"/>
          </a:xfrm>
          <a:prstGeom prst="line">
            <a:avLst/>
          </a:prstGeom>
          <a:ln w="80962">
            <a:solidFill>
              <a:srgbClr val="8E6F3E"/>
            </a:solidFill>
            <a:tailEnd type="triangle" w="med" len="med"/>
          </a:ln>
        </p:spPr>
      </p:cxnSp>
      <p:sp>
        <p:nvSpPr>
          <p:cNvPr id="109" name="WBF"/>
          <p:cNvSpPr txBox="1"/>
          <p:nvPr/>
        </p:nvSpPr>
        <p:spPr>
          <a:xfrm>
            <a:off x="6000000" y="20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40 ms</a:t>
            </a:r>
          </a:p>
        </p:txBody>
      </p:sp>
      <p:cxnSp>
        <p:nvCxnSpPr>
          <p:cNvPr id="110" name="EAC"/>
          <p:cNvCxnSpPr/>
          <p:nvPr/>
        </p:nvCxnSpPr>
        <p:spPr>
          <a:xfrm>
            <a:off x="906250" y="2625000"/>
            <a:ext cx="1968750" cy="687500"/>
          </a:xfrm>
          <a:prstGeom prst="line">
            <a:avLst/>
          </a:prstGeom>
          <a:ln w="53577">
            <a:solidFill>
              <a:srgbClr val="C9B991"/>
            </a:solidFill>
            <a:tailEnd type="triangle" w="med" len="med"/>
          </a:ln>
        </p:spPr>
      </p:cxnSp>
      <p:sp>
        <p:nvSpPr>
          <p:cNvPr id="111" name="WAC"/>
          <p:cNvSpPr txBox="1"/>
          <p:nvPr/>
        </p:nvSpPr>
        <p:spPr>
          <a:xfrm>
            <a:off x="13750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10 ms</a:t>
            </a:r>
          </a:p>
        </p:txBody>
      </p:sp>
      <p:cxnSp>
        <p:nvCxnSpPr>
          <p:cNvPr id="112" name="ECE"/>
          <p:cNvCxnSpPr/>
          <p:nvPr/>
        </p:nvCxnSpPr>
        <p:spPr>
          <a:xfrm>
            <a:off x="3687500" y="3406250"/>
            <a:ext cx="1500000" cy="0"/>
          </a:xfrm>
          <a:prstGeom prst="line">
            <a:avLst/>
          </a:prstGeom>
          <a:ln w="53577">
            <a:solidFill>
              <a:srgbClr val="C9B991"/>
            </a:solidFill>
            <a:tailEnd type="triangle" w="med" len="med"/>
          </a:ln>
        </p:spPr>
      </p:cxnSp>
      <p:sp>
        <p:nvSpPr>
          <p:cNvPr id="113" name="WCE"/>
          <p:cNvSpPr txBox="1"/>
          <p:nvPr/>
        </p:nvSpPr>
        <p:spPr>
          <a:xfrm>
            <a:off x="40625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15 ms</a:t>
            </a:r>
          </a:p>
        </p:txBody>
      </p:sp>
      <p:cxnSp>
        <p:nvCxnSpPr>
          <p:cNvPr id="114" name="EDF"/>
          <p:cNvCxnSpPr/>
          <p:nvPr/>
        </p:nvCxnSpPr>
        <p:spPr>
          <a:xfrm>
            <a:off x="5875000" y="1343750"/>
            <a:ext cx="1750000" cy="531250"/>
          </a:xfrm>
          <a:prstGeom prst="line">
            <a:avLst/>
          </a:prstGeom>
          <a:ln w="53577">
            <a:solidFill>
              <a:srgbClr val="C9B991"/>
            </a:solidFill>
            <a:tailEnd type="triangle" w="med" len="med"/>
          </a:ln>
        </p:spPr>
      </p:cxnSp>
      <p:sp>
        <p:nvSpPr>
          <p:cNvPr id="115" name="WDF"/>
          <p:cNvSpPr txBox="1"/>
          <p:nvPr/>
        </p:nvSpPr>
        <p:spPr>
          <a:xfrm>
            <a:off x="6687500" y="1037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20 ms</a:t>
            </a:r>
          </a:p>
        </p:txBody>
      </p:sp>
      <p:sp>
        <p:nvSpPr>
          <p:cNvPr id="116" name="CritLbl"/>
          <p:cNvSpPr txBox="1"/>
          <p:nvPr/>
        </p:nvSpPr>
        <p:spPr>
          <a:xfrm>
            <a:off x="7060000" y="2650000"/>
            <a:ext cx="2070000" cy="800000"/>
          </a:xfrm>
          <a:prstGeom prst="rect">
            <a:avLst/>
          </a:prstGeom>
          <a:noFill/>
          <a:ln>
            <a:noFill/>
          </a:ln>
        </p:spPr>
        <p:txBody>
          <a:bodyPr wrap="square" lIns="0" tIns="0" rIns="0" bIns="0" anchor="t">
            <a:normAutofit fontScale="92500" lnSpcReduction="20000"/>
          </a:bodyPr>
          <a:lstStyle/>
          <a:p>
            <a:pPr algn="l">
              <a:buNone/>
            </a:pPr>
            <a:r>
              <a:rPr lang="en-US" sz="2000" b="1" i="0" dirty="0">
                <a:solidFill>
                  <a:srgbClr val="8E6F3E"/>
                </a:solidFill>
              </a:rPr>
              <a:t>modeled critical path</a:t>
            </a:r>
          </a:p>
          <a:p>
            <a:pPr algn="l">
              <a:spcBef>
                <a:spcPts val="273"/>
              </a:spcBef>
              <a:buNone/>
            </a:pPr>
            <a:r>
              <a:rPr lang="en-US" sz="2000" b="1" i="0" dirty="0">
                <a:solidFill>
                  <a:srgbClr val="8E6F3E"/>
                </a:solidFill>
              </a:rPr>
              <a:t>A → B → F  ·  120 ms</a:t>
            </a:r>
          </a:p>
        </p:txBody>
      </p:sp>
      <p:cxnSp>
        <p:nvCxnSpPr>
          <p:cNvPr id="117" name="CandArw"/>
          <p:cNvCxnSpPr/>
          <p:nvPr/>
        </p:nvCxnSpPr>
        <p:spPr>
          <a:xfrm flipH="1">
            <a:off x="2500000" y="2000000"/>
            <a:ext cx="312500" cy="2000000"/>
          </a:xfrm>
          <a:prstGeom prst="line">
            <a:avLst/>
          </a:prstGeom>
          <a:ln w="53577">
            <a:solidFill>
              <a:srgbClr val="8E6F3E"/>
            </a:solidFill>
            <a:prstDash val="dash"/>
            <a:tailEnd type="triangle" w="med" len="med"/>
          </a:ln>
        </p:spPr>
      </p:cxnSp>
      <p:sp>
        <p:nvSpPr>
          <p:cNvPr id="118" name="CandBox"/>
          <p:cNvSpPr/>
          <p:nvPr/>
        </p:nvSpPr>
        <p:spPr>
          <a:xfrm>
            <a:off x="1812500" y="4000000"/>
            <a:ext cx="3375000" cy="1062500"/>
          </a:xfrm>
          <a:prstGeom prst="roundRect">
            <a:avLst/>
          </a:prstGeom>
          <a:solidFill>
            <a:srgbClr val="FBF8F2"/>
          </a:solidFill>
          <a:ln w="23812">
            <a:solidFill>
              <a:srgbClr val="8E6F3E"/>
            </a:solidFill>
            <a:prstDash val="dash"/>
          </a:ln>
        </p:spPr>
        <p:txBody>
          <a:bodyPr wrap="square" lIns="54864" tIns="27432" rIns="54864" bIns="27432" anchor="ctr">
            <a:normAutofit/>
          </a:bodyPr>
          <a:lstStyle/>
          <a:p>
            <a:endParaRPr/>
          </a:p>
        </p:txBody>
      </p:sp>
      <p:sp>
        <p:nvSpPr>
          <p:cNvPr id="119" name="CandB1"/>
          <p:cNvSpPr/>
          <p:nvPr/>
        </p:nvSpPr>
        <p:spPr>
          <a:xfrm>
            <a:off x="2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B1</a:t>
            </a:r>
          </a:p>
        </p:txBody>
      </p:sp>
      <p:sp>
        <p:nvSpPr>
          <p:cNvPr id="120" name="CandB2"/>
          <p:cNvSpPr/>
          <p:nvPr/>
        </p:nvSpPr>
        <p:spPr>
          <a:xfrm>
            <a:off x="3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B2</a:t>
            </a:r>
          </a:p>
        </p:txBody>
      </p:sp>
      <p:sp>
        <p:nvSpPr>
          <p:cNvPr id="121" name="CandB3"/>
          <p:cNvSpPr/>
          <p:nvPr/>
        </p:nvSpPr>
        <p:spPr>
          <a:xfrm>
            <a:off x="4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B3</a:t>
            </a:r>
          </a:p>
        </p:txBody>
      </p:sp>
      <p:sp>
        <p:nvSpPr>
          <p:cNvPr id="122" name="CandLbl"/>
          <p:cNvSpPr txBox="1"/>
          <p:nvPr/>
        </p:nvSpPr>
        <p:spPr>
          <a:xfrm>
            <a:off x="5437500" y="4437500"/>
            <a:ext cx="3250000" cy="350000"/>
          </a:xfrm>
          <a:prstGeom prst="rect">
            <a:avLst/>
          </a:prstGeom>
          <a:noFill/>
          <a:ln>
            <a:noFill/>
          </a:ln>
        </p:spPr>
        <p:txBody>
          <a:bodyPr wrap="square" lIns="0" tIns="0" rIns="0" bIns="0" anchor="t">
            <a:normAutofit/>
          </a:bodyPr>
          <a:lstStyle/>
          <a:p>
            <a:pPr algn="l">
              <a:buNone/>
            </a:pPr>
            <a:r>
              <a:rPr lang="en-US" sz="1900" b="0" i="1" dirty="0">
                <a:solidFill>
                  <a:srgbClr val="8E6F3E"/>
                </a:solidFill>
              </a:rPr>
              <a:t>candidate: decompose B</a:t>
            </a:r>
          </a:p>
        </p:txBody>
      </p:sp>
      <p:sp>
        <p:nvSpPr>
          <p:cNvPr id="400" name="EdgeLegend"/>
          <p:cNvSpPr txBox="1"/>
          <p:nvPr/>
        </p:nvSpPr>
        <p:spPr>
          <a:xfrm>
            <a:off x="5437500" y="4880000"/>
            <a:ext cx="3400000" cy="320000"/>
          </a:xfrm>
          <a:prstGeom prst="rect">
            <a:avLst/>
          </a:prstGeom>
          <a:noFill/>
          <a:ln>
            <a:noFill/>
          </a:ln>
        </p:spPr>
        <p:txBody>
          <a:bodyPr wrap="square" lIns="0" tIns="0" rIns="0" bIns="0" anchor="t">
            <a:normAutofit/>
          </a:bodyPr>
          <a:lstStyle/>
          <a:p>
            <a:pPr algn="l">
              <a:buNone/>
            </a:pPr>
            <a:r>
              <a:rPr lang="en-US" sz="1600" b="0" i="1" dirty="0">
                <a:solidFill>
                  <a:srgbClr val="8E6F3E"/>
                </a:solidFill>
              </a:rPr>
              <a:t>edge label = modeled latency (ms)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400"/>
                                        <p:tgtEl>
                                          <p:spTgt spid="104"/>
                                        </p:tgtEl>
                                      </p:cBhvr>
                                    </p:animEffect>
                                  </p:childTnLst>
                                </p:cTn>
                              </p:par>
                              <p:par>
                                <p:cTn id="20" presetID="10" presetClass="entr" presetSubtype="0" fill="hold" nodeType="withEffect">
                                  <p:stCondLst>
                                    <p:cond delay="0"/>
                                  </p:stCondLst>
                                  <p:childTnLst>
                                    <p:set>
                                      <p:cBhvr>
                                        <p:cTn id="21" dur="1" fill="hold">
                                          <p:stCondLst>
                                            <p:cond delay="0"/>
                                          </p:stCondLst>
                                        </p:cTn>
                                        <p:tgtEl>
                                          <p:spTgt spid="105"/>
                                        </p:tgtEl>
                                        <p:attrNameLst>
                                          <p:attrName>style.visibility</p:attrName>
                                        </p:attrNameLst>
                                      </p:cBhvr>
                                      <p:to>
                                        <p:strVal val="visible"/>
                                      </p:to>
                                    </p:set>
                                    <p:animEffect transition="in" filter="fade">
                                      <p:cBhvr>
                                        <p:cTn id="22" dur="400"/>
                                        <p:tgtEl>
                                          <p:spTgt spid="105"/>
                                        </p:tgtEl>
                                      </p:cBhvr>
                                    </p:animEffect>
                                  </p:childTnLst>
                                </p:cTn>
                              </p:par>
                              <p:par>
                                <p:cTn id="23" presetID="10" presetClass="entr" presetSubtype="0" fill="hold" nodeType="withEffect">
                                  <p:stCondLst>
                                    <p:cond delay="0"/>
                                  </p:stCondLst>
                                  <p:childTnLst>
                                    <p:set>
                                      <p:cBhvr>
                                        <p:cTn id="24" dur="1" fill="hold">
                                          <p:stCondLst>
                                            <p:cond delay="0"/>
                                          </p:stCondLst>
                                        </p:cTn>
                                        <p:tgtEl>
                                          <p:spTgt spid="106"/>
                                        </p:tgtEl>
                                        <p:attrNameLst>
                                          <p:attrName>style.visibility</p:attrName>
                                        </p:attrNameLst>
                                      </p:cBhvr>
                                      <p:to>
                                        <p:strVal val="visible"/>
                                      </p:to>
                                    </p:set>
                                    <p:animEffect transition="in" filter="fade">
                                      <p:cBhvr>
                                        <p:cTn id="25" dur="400"/>
                                        <p:tgtEl>
                                          <p:spTgt spid="106"/>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10"/>
                                        </p:tgtEl>
                                        <p:attrNameLst>
                                          <p:attrName>style.visibility</p:attrName>
                                        </p:attrNameLst>
                                      </p:cBhvr>
                                      <p:to>
                                        <p:strVal val="visible"/>
                                      </p:to>
                                    </p:set>
                                    <p:animEffect transition="in" filter="fade">
                                      <p:cBhvr>
                                        <p:cTn id="31" dur="400"/>
                                        <p:tgtEl>
                                          <p:spTgt spid="110"/>
                                        </p:tgtEl>
                                      </p:cBhvr>
                                    </p:animEffect>
                                  </p:childTnLst>
                                </p:cTn>
                              </p:par>
                              <p:par>
                                <p:cTn id="32" presetID="10" presetClass="entr" presetSubtype="0" fill="hold" nodeType="withEffect">
                                  <p:stCondLst>
                                    <p:cond delay="0"/>
                                  </p:stCondLst>
                                  <p:childTnLst>
                                    <p:set>
                                      <p:cBhvr>
                                        <p:cTn id="33" dur="1" fill="hold">
                                          <p:stCondLst>
                                            <p:cond delay="0"/>
                                          </p:stCondLst>
                                        </p:cTn>
                                        <p:tgtEl>
                                          <p:spTgt spid="112"/>
                                        </p:tgtEl>
                                        <p:attrNameLst>
                                          <p:attrName>style.visibility</p:attrName>
                                        </p:attrNameLst>
                                      </p:cBhvr>
                                      <p:to>
                                        <p:strVal val="visible"/>
                                      </p:to>
                                    </p:set>
                                    <p:animEffect transition="in" filter="fade">
                                      <p:cBhvr>
                                        <p:cTn id="34" dur="400"/>
                                        <p:tgtEl>
                                          <p:spTgt spid="112"/>
                                        </p:tgtEl>
                                      </p:cBhvr>
                                    </p:animEffect>
                                  </p:childTnLst>
                                </p:cTn>
                              </p:par>
                              <p:par>
                                <p:cTn id="35" presetID="10" presetClass="entr" presetSubtype="0" fill="hold" nodeType="withEffect">
                                  <p:stCondLst>
                                    <p:cond delay="0"/>
                                  </p:stCondLst>
                                  <p:childTnLst>
                                    <p:set>
                                      <p:cBhvr>
                                        <p:cTn id="36" dur="1" fill="hold">
                                          <p:stCondLst>
                                            <p:cond delay="0"/>
                                          </p:stCondLst>
                                        </p:cTn>
                                        <p:tgtEl>
                                          <p:spTgt spid="114"/>
                                        </p:tgtEl>
                                        <p:attrNameLst>
                                          <p:attrName>style.visibility</p:attrName>
                                        </p:attrNameLst>
                                      </p:cBhvr>
                                      <p:to>
                                        <p:strVal val="visible"/>
                                      </p:to>
                                    </p:set>
                                    <p:animEffect transition="in" filter="fade">
                                      <p:cBhvr>
                                        <p:cTn id="37" dur="400"/>
                                        <p:tgtEl>
                                          <p:spTgt spid="11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07"/>
                                        </p:tgtEl>
                                        <p:attrNameLst>
                                          <p:attrName>style.visibility</p:attrName>
                                        </p:attrNameLst>
                                      </p:cBhvr>
                                      <p:to>
                                        <p:strVal val="visible"/>
                                      </p:to>
                                    </p:set>
                                    <p:animEffect transition="in" filter="fade">
                                      <p:cBhvr>
                                        <p:cTn id="42" dur="400"/>
                                        <p:tgtEl>
                                          <p:spTgt spid="107"/>
                                        </p:tgtEl>
                                      </p:cBhvr>
                                    </p:animEffect>
                                  </p:childTnLst>
                                </p:cTn>
                              </p:par>
                              <p:par>
                                <p:cTn id="43" presetID="10" presetClass="entr" presetSubtype="0" fill="hold" nodeType="withEffect">
                                  <p:stCondLst>
                                    <p:cond delay="0"/>
                                  </p:stCondLst>
                                  <p:childTnLst>
                                    <p:set>
                                      <p:cBhvr>
                                        <p:cTn id="44" dur="1" fill="hold">
                                          <p:stCondLst>
                                            <p:cond delay="0"/>
                                          </p:stCondLst>
                                        </p:cTn>
                                        <p:tgtEl>
                                          <p:spTgt spid="109"/>
                                        </p:tgtEl>
                                        <p:attrNameLst>
                                          <p:attrName>style.visibility</p:attrName>
                                        </p:attrNameLst>
                                      </p:cBhvr>
                                      <p:to>
                                        <p:strVal val="visible"/>
                                      </p:to>
                                    </p:set>
                                    <p:animEffect transition="in" filter="fade">
                                      <p:cBhvr>
                                        <p:cTn id="45" dur="400"/>
                                        <p:tgtEl>
                                          <p:spTgt spid="109"/>
                                        </p:tgtEl>
                                      </p:cBhvr>
                                    </p:animEffect>
                                  </p:childTnLst>
                                </p:cTn>
                              </p:par>
                              <p:par>
                                <p:cTn id="46" presetID="10" presetClass="entr" presetSubtype="0" fill="hold" nodeType="withEffect">
                                  <p:stCondLst>
                                    <p:cond delay="0"/>
                                  </p:stCondLst>
                                  <p:childTnLst>
                                    <p:set>
                                      <p:cBhvr>
                                        <p:cTn id="47" dur="1" fill="hold">
                                          <p:stCondLst>
                                            <p:cond delay="0"/>
                                          </p:stCondLst>
                                        </p:cTn>
                                        <p:tgtEl>
                                          <p:spTgt spid="111"/>
                                        </p:tgtEl>
                                        <p:attrNameLst>
                                          <p:attrName>style.visibility</p:attrName>
                                        </p:attrNameLst>
                                      </p:cBhvr>
                                      <p:to>
                                        <p:strVal val="visible"/>
                                      </p:to>
                                    </p:set>
                                    <p:animEffect transition="in" filter="fade">
                                      <p:cBhvr>
                                        <p:cTn id="48" dur="400"/>
                                        <p:tgtEl>
                                          <p:spTgt spid="111"/>
                                        </p:tgtEl>
                                      </p:cBhvr>
                                    </p:animEffect>
                                  </p:childTnLst>
                                </p:cTn>
                              </p:par>
                              <p:par>
                                <p:cTn id="49" presetID="10" presetClass="entr" presetSubtype="0" fill="hold" nodeType="withEffect">
                                  <p:stCondLst>
                                    <p:cond delay="0"/>
                                  </p:stCondLst>
                                  <p:childTnLst>
                                    <p:set>
                                      <p:cBhvr>
                                        <p:cTn id="50" dur="1" fill="hold">
                                          <p:stCondLst>
                                            <p:cond delay="0"/>
                                          </p:stCondLst>
                                        </p:cTn>
                                        <p:tgtEl>
                                          <p:spTgt spid="113"/>
                                        </p:tgtEl>
                                        <p:attrNameLst>
                                          <p:attrName>style.visibility</p:attrName>
                                        </p:attrNameLst>
                                      </p:cBhvr>
                                      <p:to>
                                        <p:strVal val="visible"/>
                                      </p:to>
                                    </p:set>
                                    <p:animEffect transition="in" filter="fade">
                                      <p:cBhvr>
                                        <p:cTn id="51" dur="400"/>
                                        <p:tgtEl>
                                          <p:spTgt spid="113"/>
                                        </p:tgtEl>
                                      </p:cBhvr>
                                    </p:animEffect>
                                  </p:childTnLst>
                                </p:cTn>
                              </p:par>
                              <p:par>
                                <p:cTn id="52" presetID="10" presetClass="entr" presetSubtype="0" fill="hold" nodeType="withEffect">
                                  <p:stCondLst>
                                    <p:cond delay="0"/>
                                  </p:stCondLst>
                                  <p:childTnLst>
                                    <p:set>
                                      <p:cBhvr>
                                        <p:cTn id="53" dur="1" fill="hold">
                                          <p:stCondLst>
                                            <p:cond delay="0"/>
                                          </p:stCondLst>
                                        </p:cTn>
                                        <p:tgtEl>
                                          <p:spTgt spid="115"/>
                                        </p:tgtEl>
                                        <p:attrNameLst>
                                          <p:attrName>style.visibility</p:attrName>
                                        </p:attrNameLst>
                                      </p:cBhvr>
                                      <p:to>
                                        <p:strVal val="visible"/>
                                      </p:to>
                                    </p:set>
                                    <p:animEffect transition="in" filter="fade">
                                      <p:cBhvr>
                                        <p:cTn id="54" dur="400"/>
                                        <p:tgtEl>
                                          <p:spTgt spid="115"/>
                                        </p:tgtEl>
                                      </p:cBhvr>
                                    </p:animEffect>
                                  </p:childTnLst>
                                </p:cTn>
                              </p:par>
                              <p:par>
                                <p:cTn id="55" presetID="10" presetClass="entr" presetSubtype="0" fill="hold" nodeType="withEffect">
                                  <p:stCondLst>
                                    <p:cond delay="0"/>
                                  </p:stCondLst>
                                  <p:childTnLst>
                                    <p:set>
                                      <p:cBhvr>
                                        <p:cTn id="56" dur="1" fill="hold">
                                          <p:stCondLst>
                                            <p:cond delay="0"/>
                                          </p:stCondLst>
                                        </p:cTn>
                                        <p:tgtEl>
                                          <p:spTgt spid="400"/>
                                        </p:tgtEl>
                                        <p:attrNameLst>
                                          <p:attrName>style.visibility</p:attrName>
                                        </p:attrNameLst>
                                      </p:cBhvr>
                                      <p:to>
                                        <p:strVal val="visible"/>
                                      </p:to>
                                    </p:set>
                                    <p:animEffect transition="in" filter="fade">
                                      <p:cBhvr>
                                        <p:cTn id="57" dur="400"/>
                                        <p:tgtEl>
                                          <p:spTgt spid="40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16">
                                            <p:txEl>
                                              <p:pRg st="0" end="0"/>
                                            </p:txEl>
                                          </p:spTgt>
                                        </p:tgtEl>
                                        <p:attrNameLst>
                                          <p:attrName>style.visibility</p:attrName>
                                        </p:attrNameLst>
                                      </p:cBhvr>
                                      <p:to>
                                        <p:strVal val="visible"/>
                                      </p:to>
                                    </p:set>
                                    <p:animEffect transition="in" filter="fade">
                                      <p:cBhvr>
                                        <p:cTn id="62" dur="400"/>
                                        <p:tgtEl>
                                          <p:spTgt spid="116">
                                            <p:txEl>
                                              <p:pRg st="0" end="0"/>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16">
                                            <p:txEl>
                                              <p:pRg st="1" end="1"/>
                                            </p:txEl>
                                          </p:spTgt>
                                        </p:tgtEl>
                                        <p:attrNameLst>
                                          <p:attrName>style.visibility</p:attrName>
                                        </p:attrNameLst>
                                      </p:cBhvr>
                                      <p:to>
                                        <p:strVal val="visible"/>
                                      </p:to>
                                    </p:set>
                                    <p:animEffect transition="in" filter="fade">
                                      <p:cBhvr>
                                        <p:cTn id="67" dur="400"/>
                                        <p:tgtEl>
                                          <p:spTgt spid="116">
                                            <p:txEl>
                                              <p:pRg st="1" end="1"/>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17"/>
                                        </p:tgtEl>
                                        <p:attrNameLst>
                                          <p:attrName>style.visibility</p:attrName>
                                        </p:attrNameLst>
                                      </p:cBhvr>
                                      <p:to>
                                        <p:strVal val="visible"/>
                                      </p:to>
                                    </p:set>
                                    <p:animEffect transition="in" filter="fade">
                                      <p:cBhvr>
                                        <p:cTn id="72" dur="400"/>
                                        <p:tgtEl>
                                          <p:spTgt spid="117"/>
                                        </p:tgtEl>
                                      </p:cBhvr>
                                    </p:animEffect>
                                  </p:childTnLst>
                                </p:cTn>
                              </p:par>
                              <p:par>
                                <p:cTn id="73" presetID="10" presetClass="entr" presetSubtype="0" fill="hold" nodeType="withEffect">
                                  <p:stCondLst>
                                    <p:cond delay="0"/>
                                  </p:stCondLst>
                                  <p:childTnLst>
                                    <p:set>
                                      <p:cBhvr>
                                        <p:cTn id="74" dur="1" fill="hold">
                                          <p:stCondLst>
                                            <p:cond delay="0"/>
                                          </p:stCondLst>
                                        </p:cTn>
                                        <p:tgtEl>
                                          <p:spTgt spid="118"/>
                                        </p:tgtEl>
                                        <p:attrNameLst>
                                          <p:attrName>style.visibility</p:attrName>
                                        </p:attrNameLst>
                                      </p:cBhvr>
                                      <p:to>
                                        <p:strVal val="visible"/>
                                      </p:to>
                                    </p:set>
                                    <p:animEffect transition="in" filter="fade">
                                      <p:cBhvr>
                                        <p:cTn id="75" dur="400"/>
                                        <p:tgtEl>
                                          <p:spTgt spid="118"/>
                                        </p:tgtEl>
                                      </p:cBhvr>
                                    </p:animEffect>
                                  </p:childTnLst>
                                </p:cTn>
                              </p:par>
                              <p:par>
                                <p:cTn id="76" presetID="10" presetClass="entr" presetSubtype="0" fill="hold" nodeType="withEffect">
                                  <p:stCondLst>
                                    <p:cond delay="0"/>
                                  </p:stCondLst>
                                  <p:childTnLst>
                                    <p:set>
                                      <p:cBhvr>
                                        <p:cTn id="77" dur="1" fill="hold">
                                          <p:stCondLst>
                                            <p:cond delay="0"/>
                                          </p:stCondLst>
                                        </p:cTn>
                                        <p:tgtEl>
                                          <p:spTgt spid="119"/>
                                        </p:tgtEl>
                                        <p:attrNameLst>
                                          <p:attrName>style.visibility</p:attrName>
                                        </p:attrNameLst>
                                      </p:cBhvr>
                                      <p:to>
                                        <p:strVal val="visible"/>
                                      </p:to>
                                    </p:set>
                                    <p:animEffect transition="in" filter="fade">
                                      <p:cBhvr>
                                        <p:cTn id="78" dur="400"/>
                                        <p:tgtEl>
                                          <p:spTgt spid="119"/>
                                        </p:tgtEl>
                                      </p:cBhvr>
                                    </p:animEffect>
                                  </p:childTnLst>
                                </p:cTn>
                              </p:par>
                              <p:par>
                                <p:cTn id="79" presetID="10" presetClass="entr" presetSubtype="0" fill="hold" nodeType="withEffect">
                                  <p:stCondLst>
                                    <p:cond delay="0"/>
                                  </p:stCondLst>
                                  <p:childTnLst>
                                    <p:set>
                                      <p:cBhvr>
                                        <p:cTn id="80" dur="1" fill="hold">
                                          <p:stCondLst>
                                            <p:cond delay="0"/>
                                          </p:stCondLst>
                                        </p:cTn>
                                        <p:tgtEl>
                                          <p:spTgt spid="120"/>
                                        </p:tgtEl>
                                        <p:attrNameLst>
                                          <p:attrName>style.visibility</p:attrName>
                                        </p:attrNameLst>
                                      </p:cBhvr>
                                      <p:to>
                                        <p:strVal val="visible"/>
                                      </p:to>
                                    </p:set>
                                    <p:animEffect transition="in" filter="fade">
                                      <p:cBhvr>
                                        <p:cTn id="81" dur="400"/>
                                        <p:tgtEl>
                                          <p:spTgt spid="120"/>
                                        </p:tgtEl>
                                      </p:cBhvr>
                                    </p:animEffect>
                                  </p:childTnLst>
                                </p:cTn>
                              </p:par>
                              <p:par>
                                <p:cTn id="82" presetID="10" presetClass="entr" presetSubtype="0" fill="hold" nodeType="withEffect">
                                  <p:stCondLst>
                                    <p:cond delay="0"/>
                                  </p:stCondLst>
                                  <p:childTnLst>
                                    <p:set>
                                      <p:cBhvr>
                                        <p:cTn id="83" dur="1" fill="hold">
                                          <p:stCondLst>
                                            <p:cond delay="0"/>
                                          </p:stCondLst>
                                        </p:cTn>
                                        <p:tgtEl>
                                          <p:spTgt spid="121"/>
                                        </p:tgtEl>
                                        <p:attrNameLst>
                                          <p:attrName>style.visibility</p:attrName>
                                        </p:attrNameLst>
                                      </p:cBhvr>
                                      <p:to>
                                        <p:strVal val="visible"/>
                                      </p:to>
                                    </p:set>
                                    <p:animEffect transition="in" filter="fade">
                                      <p:cBhvr>
                                        <p:cTn id="84" dur="400"/>
                                        <p:tgtEl>
                                          <p:spTgt spid="121"/>
                                        </p:tgtEl>
                                      </p:cBhvr>
                                    </p:animEffect>
                                  </p:childTnLst>
                                </p:cTn>
                              </p:par>
                              <p:par>
                                <p:cTn id="85" presetID="10" presetClass="entr" presetSubtype="0" fill="hold" nodeType="withEffect">
                                  <p:stCondLst>
                                    <p:cond delay="0"/>
                                  </p:stCondLst>
                                  <p:childTnLst>
                                    <p:set>
                                      <p:cBhvr>
                                        <p:cTn id="86" dur="1" fill="hold">
                                          <p:stCondLst>
                                            <p:cond delay="0"/>
                                          </p:stCondLst>
                                        </p:cTn>
                                        <p:tgtEl>
                                          <p:spTgt spid="122"/>
                                        </p:tgtEl>
                                        <p:attrNameLst>
                                          <p:attrName>style.visibility</p:attrName>
                                        </p:attrNameLst>
                                      </p:cBhvr>
                                      <p:to>
                                        <p:strVal val="visible"/>
                                      </p:to>
                                    </p:set>
                                    <p:animEffect transition="in" filter="fade">
                                      <p:cBhvr>
                                        <p:cTn id="87" dur="4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913" y="136525"/>
            <a:ext cx="9304174" cy="638175"/>
          </a:xfrm>
        </p:spPr>
        <p:txBody>
          <a:bodyPr>
            <a:normAutofit fontScale="90000"/>
          </a:bodyPr>
          <a:lstStyle/>
          <a:p>
            <a:pPr algn="l">
              <a:buNone/>
              <a:defRPr b="0"/>
            </a:pPr>
            <a:r>
              <a:rPr lang="en-US" sz="2800" b="0" i="0" dirty="0">
                <a:solidFill>
                  <a:srgbClr val="000000"/>
                </a:solidFill>
              </a:rPr>
              <a:t>What happens when architectural evidence gets cheaper?</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61" name="T61"/>
          <p:cNvSpPr txBox="1"/>
          <p:nvPr/>
        </p:nvSpPr>
        <p:spPr>
          <a:xfrm>
            <a:off x="685800" y="3880000"/>
            <a:ext cx="7772400" cy="640000"/>
          </a:xfrm>
          <a:prstGeom prst="rect">
            <a:avLst/>
          </a:prstGeom>
          <a:noFill/>
          <a:ln>
            <a:noFill/>
          </a:ln>
        </p:spPr>
        <p:txBody>
          <a:bodyPr wrap="square" lIns="0" tIns="0" rIns="0" bIns="0" anchor="t">
            <a:normAutofit lnSpcReduction="10000"/>
          </a:bodyPr>
          <a:lstStyle/>
          <a:p>
            <a:pPr algn="ctr">
              <a:buNone/>
            </a:pPr>
            <a:r>
              <a:rPr lang="en-US" sz="2300" b="0" i="1" dirty="0">
                <a:solidFill>
                  <a:srgbClr val="000000"/>
                </a:solidFill>
              </a:rPr>
              <a:t>GenAI doesn’t remove architectural tradeoffs. It can make evidence about those tradeoffs cheaper.</a:t>
            </a:r>
          </a:p>
        </p:txBody>
      </p:sp>
      <p:sp>
        <p:nvSpPr>
          <p:cNvPr id="6" name="MAGE Moment badge"/>
          <p:cNvSpPr txBox="1"/>
          <p:nvPr/>
        </p:nvSpPr>
        <p:spPr>
          <a:xfrm>
            <a:off x="2691524" y="4550000"/>
            <a:ext cx="5080000" cy="787400"/>
          </a:xfrm>
          <a:prstGeom prst="rect">
            <a:avLst/>
          </a:prstGeom>
          <a:noFill/>
        </p:spPr>
        <p:txBody>
          <a:bodyPr wrap="square" rtlCol="0" anchor="t">
            <a:noAutofit/>
          </a:bodyPr>
          <a:lstStyle/>
          <a:p>
            <a:pPr algn="l">
              <a:buNone/>
            </a:pPr>
            <a:r>
              <a:rPr lang="en-US" sz="4800" dirty="0"/>
              <a:t>🧙</a:t>
            </a:r>
            <a:r>
              <a:rPr lang="en-US" sz="2400" i="1" dirty="0"/>
              <a:t>  MAGE Moment</a:t>
            </a:r>
          </a:p>
        </p:txBody>
      </p:sp>
      <p:sp>
        <p:nvSpPr>
          <p:cNvPr id="7" name="TextBox 6"/>
          <p:cNvSpPr txBox="1"/>
          <p:nvPr/>
        </p:nvSpPr>
        <p:spPr>
          <a:xfrm>
            <a:off x="628649" y="5330000"/>
            <a:ext cx="8341929" cy="1230997"/>
          </a:xfrm>
          <a:prstGeom prst="rect">
            <a:avLst/>
          </a:prstGeom>
          <a:noFill/>
        </p:spPr>
        <p:txBody>
          <a:bodyPr wrap="square" rtlCol="0">
            <a:normAutofit/>
          </a:bodyPr>
          <a:lstStyle/>
          <a:p>
            <a:pPr algn="ctr">
              <a:buNone/>
            </a:pPr>
            <a:r>
              <a:rPr lang="en-US" sz="2400" b="1" dirty="0">
                <a:solidFill>
                  <a:srgbClr val="5C4826"/>
                </a:solidFill>
              </a:rPr>
              <a:t>DON’T ASK THE AGENT TO CHOOSE YOUR ARCHITECTURE.</a:t>
            </a:r>
          </a:p>
          <a:p>
            <a:pPr algn="ctr">
              <a:buNone/>
            </a:pPr>
            <a:r>
              <a:rPr lang="en-US" sz="2400" b="1" dirty="0">
                <a:solidFill>
                  <a:srgbClr val="5C4826"/>
                </a:solidFill>
              </a:rPr>
              <a:t>USE IT TO REDUCE HOW MUCH OF</a:t>
            </a:r>
            <a:br>
              <a:rPr lang="en-US" sz="2400"/>
            </a:br>
            <a:r>
              <a:rPr lang="en-US" sz="2400" b="1" dirty="0">
                <a:solidFill>
                  <a:srgbClr val="5C4826"/>
                </a:solidFill>
              </a:rPr>
              <a:t>YOUR ARCHITECTURE REMAINS A BET.</a:t>
            </a:r>
          </a:p>
        </p:txBody>
      </p:sp>
      <p:sp>
        <p:nvSpPr>
          <p:cNvPr id="100" name="ArchUnc"/>
          <p:cNvSpPr/>
          <p:nvPr/>
        </p:nvSpPr>
        <p:spPr>
          <a:xfrm>
            <a:off x="308000" y="1582500"/>
            <a:ext cx="1728000" cy="735000"/>
          </a:xfrm>
          <a:prstGeom prst="rect">
            <a:avLst/>
          </a:prstGeom>
          <a:solidFill>
            <a:srgbClr val="F5F1E8"/>
          </a:solidFill>
          <a:ln w="13335">
            <a:solidFill>
              <a:srgbClr val="C9B991"/>
            </a:solidFill>
          </a:ln>
        </p:spPr>
        <p:txBody>
          <a:bodyPr wrap="square" lIns="54864" tIns="27432" rIns="54864" bIns="27432" anchor="ctr">
            <a:normAutofit fontScale="85000" lnSpcReduction="10000"/>
          </a:bodyPr>
          <a:lstStyle/>
          <a:p>
            <a:pPr algn="ctr">
              <a:buNone/>
            </a:pPr>
            <a:r>
              <a:rPr lang="en-US" sz="2100" b="1" i="0" dirty="0">
                <a:solidFill>
                  <a:srgbClr val="5C4826"/>
                </a:solidFill>
              </a:rPr>
              <a:t>ARCHITECTURAL</a:t>
            </a:r>
          </a:p>
          <a:p>
            <a:pPr algn="ctr">
              <a:spcBef>
                <a:spcPts val="300"/>
              </a:spcBef>
              <a:buNone/>
            </a:pPr>
            <a:r>
              <a:rPr lang="en-US" sz="2100" b="1" i="0" dirty="0">
                <a:solidFill>
                  <a:srgbClr val="5C4826"/>
                </a:solidFill>
              </a:rPr>
              <a:t>UNCERTAINTY</a:t>
            </a:r>
          </a:p>
        </p:txBody>
      </p:sp>
      <p:cxnSp>
        <p:nvCxnSpPr>
          <p:cNvPr id="101" name="A1"/>
          <p:cNvCxnSpPr/>
          <p:nvPr/>
        </p:nvCxnSpPr>
        <p:spPr>
          <a:xfrm>
            <a:off x="2036000" y="1950000"/>
            <a:ext cx="345600" cy="0"/>
          </a:xfrm>
          <a:prstGeom prst="line">
            <a:avLst/>
          </a:prstGeom>
          <a:ln w="45004">
            <a:solidFill>
              <a:srgbClr val="8E6F3E"/>
            </a:solidFill>
            <a:tailEnd type="triangle" w="med" len="med"/>
          </a:ln>
        </p:spPr>
      </p:cxnSp>
      <p:sp>
        <p:nvSpPr>
          <p:cNvPr id="102" name="BuyInfo"/>
          <p:cNvSpPr/>
          <p:nvPr/>
        </p:nvSpPr>
        <p:spPr>
          <a:xfrm>
            <a:off x="2381600" y="1635000"/>
            <a:ext cx="1620000" cy="630000"/>
          </a:xfrm>
          <a:prstGeom prst="rect">
            <a:avLst/>
          </a:prstGeom>
          <a:solidFill>
            <a:srgbClr val="8E6F3E"/>
          </a:solidFill>
          <a:ln>
            <a:noFill/>
          </a:ln>
        </p:spPr>
        <p:txBody>
          <a:bodyPr wrap="square" lIns="54864" tIns="27432" rIns="54864" bIns="27432" anchor="ctr">
            <a:normAutofit fontScale="92500" lnSpcReduction="10000"/>
          </a:bodyPr>
          <a:lstStyle/>
          <a:p>
            <a:pPr algn="ctr">
              <a:buNone/>
            </a:pPr>
            <a:r>
              <a:rPr lang="en-US" sz="2100" b="1" i="0" dirty="0">
                <a:solidFill>
                  <a:srgbClr val="FFFFFF"/>
                </a:solidFill>
              </a:rPr>
              <a:t>BUY</a:t>
            </a:r>
          </a:p>
          <a:p>
            <a:pPr algn="ctr">
              <a:spcBef>
                <a:spcPts val="300"/>
              </a:spcBef>
              <a:buNone/>
            </a:pPr>
            <a:r>
              <a:rPr lang="en-US" sz="2100" b="1" i="0" dirty="0">
                <a:solidFill>
                  <a:srgbClr val="FFFFFF"/>
                </a:solidFill>
              </a:rPr>
              <a:t>INFORMATION</a:t>
            </a:r>
          </a:p>
        </p:txBody>
      </p:sp>
      <p:sp>
        <p:nvSpPr>
          <p:cNvPr id="103" name="Kid0"/>
          <p:cNvSpPr/>
          <p:nvPr/>
        </p:nvSpPr>
        <p:spPr>
          <a:xfrm>
            <a:off x="4628000" y="1099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04" name="KA0"/>
          <p:cNvCxnSpPr/>
          <p:nvPr/>
        </p:nvCxnSpPr>
        <p:spPr>
          <a:xfrm flipV="1">
            <a:off x="4001600" y="1341000"/>
            <a:ext cx="626400" cy="609000"/>
          </a:xfrm>
          <a:prstGeom prst="line">
            <a:avLst/>
          </a:prstGeom>
          <a:ln w="45004">
            <a:solidFill>
              <a:srgbClr val="8E6F3E"/>
            </a:solidFill>
            <a:tailEnd type="triangle" w="med" len="med"/>
          </a:ln>
        </p:spPr>
      </p:cxnSp>
      <p:sp>
        <p:nvSpPr>
          <p:cNvPr id="105" name="Kid1"/>
          <p:cNvSpPr/>
          <p:nvPr/>
        </p:nvSpPr>
        <p:spPr>
          <a:xfrm>
            <a:off x="4628000" y="1708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06" name="KA1"/>
          <p:cNvCxnSpPr/>
          <p:nvPr/>
        </p:nvCxnSpPr>
        <p:spPr>
          <a:xfrm>
            <a:off x="4001600" y="1950000"/>
            <a:ext cx="626400" cy="0"/>
          </a:xfrm>
          <a:prstGeom prst="line">
            <a:avLst/>
          </a:prstGeom>
          <a:ln w="45004">
            <a:solidFill>
              <a:srgbClr val="8E6F3E"/>
            </a:solidFill>
            <a:tailEnd type="triangle" w="med" len="med"/>
          </a:ln>
        </p:spPr>
      </p:cxnSp>
      <p:sp>
        <p:nvSpPr>
          <p:cNvPr id="107" name="Kid2"/>
          <p:cNvSpPr/>
          <p:nvPr/>
        </p:nvSpPr>
        <p:spPr>
          <a:xfrm>
            <a:off x="4628000" y="2317500"/>
            <a:ext cx="1458000" cy="483000"/>
          </a:xfrm>
          <a:prstGeom prst="rect">
            <a:avLst/>
          </a:prstGeom>
          <a:solidFill>
            <a:srgbClr val="F5F1E8"/>
          </a:solidFill>
          <a:ln w="13335">
            <a:solidFill>
              <a:srgbClr val="C9B991"/>
            </a:solidFill>
          </a:ln>
        </p:spPr>
        <p:txBody>
          <a:bodyPr wrap="square" lIns="54864" tIns="27432" rIns="54864" bIns="27432" anchor="ctr">
            <a:normAutofit fontScale="92500"/>
          </a:bodyPr>
          <a:lstStyle/>
          <a:p>
            <a:pPr algn="ctr">
              <a:buNone/>
            </a:pPr>
            <a:r>
              <a:rPr lang="en-US" sz="2000" b="1" i="0" dirty="0">
                <a:solidFill>
                  <a:srgbClr val="5C4826"/>
                </a:solidFill>
              </a:rPr>
              <a:t>EXPERIMENT</a:t>
            </a:r>
          </a:p>
        </p:txBody>
      </p:sp>
      <p:cxnSp>
        <p:nvCxnSpPr>
          <p:cNvPr id="108" name="KA2"/>
          <p:cNvCxnSpPr/>
          <p:nvPr/>
        </p:nvCxnSpPr>
        <p:spPr>
          <a:xfrm>
            <a:off x="4001600" y="1950000"/>
            <a:ext cx="626400" cy="609000"/>
          </a:xfrm>
          <a:prstGeom prst="line">
            <a:avLst/>
          </a:prstGeom>
          <a:ln w="45004">
            <a:solidFill>
              <a:srgbClr val="8E6F3E"/>
            </a:solidFill>
            <a:tailEnd type="triangle" w="med" len="med"/>
          </a:ln>
        </p:spPr>
      </p:cxnSp>
      <p:sp>
        <p:nvSpPr>
          <p:cNvPr id="109" name="CostBox"/>
          <p:cNvSpPr/>
          <p:nvPr/>
        </p:nvSpPr>
        <p:spPr>
          <a:xfrm>
            <a:off x="6842000" y="1624500"/>
            <a:ext cx="1350000" cy="651000"/>
          </a:xfrm>
          <a:prstGeom prst="rect">
            <a:avLst/>
          </a:prstGeom>
          <a:solidFill>
            <a:srgbClr val="FFFFFF"/>
          </a:solidFill>
          <a:ln w="20002">
            <a:solidFill>
              <a:srgbClr val="B23B3B"/>
            </a:solidFill>
          </a:ln>
        </p:spPr>
        <p:txBody>
          <a:bodyPr wrap="square" lIns="54864" tIns="27432" rIns="54864" bIns="27432" anchor="ctr">
            <a:normAutofit/>
          </a:bodyPr>
          <a:lstStyle/>
          <a:p>
            <a:pPr algn="ctr">
              <a:buNone/>
            </a:pPr>
            <a:r>
              <a:rPr lang="en-US" sz="2100" b="1" i="0" dirty="0">
                <a:solidFill>
                  <a:srgbClr val="B23B3B"/>
                </a:solidFill>
              </a:rPr>
              <a:t>$$$ · TIME</a:t>
            </a:r>
          </a:p>
        </p:txBody>
      </p:sp>
      <p:cxnSp>
        <p:nvCxnSpPr>
          <p:cNvPr id="110" name="CA0"/>
          <p:cNvCxnSpPr/>
          <p:nvPr/>
        </p:nvCxnSpPr>
        <p:spPr>
          <a:xfrm>
            <a:off x="6086000" y="1341000"/>
            <a:ext cx="756000" cy="609000"/>
          </a:xfrm>
          <a:prstGeom prst="line">
            <a:avLst/>
          </a:prstGeom>
          <a:ln w="45004">
            <a:solidFill>
              <a:srgbClr val="8E6F3E"/>
            </a:solidFill>
            <a:tailEnd type="triangle" w="med" len="med"/>
          </a:ln>
        </p:spPr>
      </p:cxnSp>
      <p:cxnSp>
        <p:nvCxnSpPr>
          <p:cNvPr id="111" name="CA1"/>
          <p:cNvCxnSpPr/>
          <p:nvPr/>
        </p:nvCxnSpPr>
        <p:spPr>
          <a:xfrm>
            <a:off x="6086000" y="1950000"/>
            <a:ext cx="756000" cy="0"/>
          </a:xfrm>
          <a:prstGeom prst="line">
            <a:avLst/>
          </a:prstGeom>
          <a:ln w="45004">
            <a:solidFill>
              <a:srgbClr val="8E6F3E"/>
            </a:solidFill>
            <a:tailEnd type="triangle" w="med" len="med"/>
          </a:ln>
        </p:spPr>
      </p:cxnSp>
      <p:cxnSp>
        <p:nvCxnSpPr>
          <p:cNvPr id="112" name="CA2"/>
          <p:cNvCxnSpPr/>
          <p:nvPr/>
        </p:nvCxnSpPr>
        <p:spPr>
          <a:xfrm flipV="1">
            <a:off x="6086000" y="1950000"/>
            <a:ext cx="756000" cy="609000"/>
          </a:xfrm>
          <a:prstGeom prst="line">
            <a:avLst/>
          </a:prstGeom>
          <a:ln w="45004">
            <a:solidFill>
              <a:srgbClr val="8E6F3E"/>
            </a:solidFill>
            <a:tailEnd type="triangle" w="med" len="med"/>
          </a:ln>
        </p:spPr>
      </p:cxnSp>
      <p:sp>
        <p:nvSpPr>
          <p:cNvPr id="150" name="GenAI"/>
          <p:cNvSpPr/>
          <p:nvPr/>
        </p:nvSpPr>
        <p:spPr>
          <a:xfrm>
            <a:off x="350000" y="3000000"/>
            <a:ext cx="1500000" cy="75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GenAI</a:t>
            </a:r>
          </a:p>
        </p:txBody>
      </p:sp>
      <p:cxnSp>
        <p:nvCxnSpPr>
          <p:cNvPr id="151" name="G1"/>
          <p:cNvCxnSpPr/>
          <p:nvPr/>
        </p:nvCxnSpPr>
        <p:spPr>
          <a:xfrm>
            <a:off x="1850000" y="3375000"/>
            <a:ext cx="380000" cy="0"/>
          </a:xfrm>
          <a:prstGeom prst="line">
            <a:avLst/>
          </a:prstGeom>
          <a:ln w="42862">
            <a:solidFill>
              <a:srgbClr val="8E6F3E"/>
            </a:solidFill>
            <a:tailEnd type="triangle" w="med" len="med"/>
          </a:ln>
        </p:spPr>
      </p:cxnSp>
      <p:sp>
        <p:nvSpPr>
          <p:cNvPr id="152" name="CostDown"/>
          <p:cNvSpPr/>
          <p:nvPr/>
        </p:nvSpPr>
        <p:spPr>
          <a:xfrm>
            <a:off x="2230000" y="3000000"/>
            <a:ext cx="2450000" cy="750000"/>
          </a:xfrm>
          <a:prstGeom prst="rect">
            <a:avLst/>
          </a:prstGeom>
          <a:solidFill>
            <a:srgbClr val="FFFFFF"/>
          </a:solidFill>
          <a:ln w="19050">
            <a:solidFill>
              <a:srgbClr val="8E6F3E"/>
            </a:solidFill>
          </a:ln>
        </p:spPr>
        <p:txBody>
          <a:bodyPr wrap="square" lIns="54864" tIns="27432" rIns="54864" bIns="27432" anchor="ctr">
            <a:normAutofit lnSpcReduction="10000"/>
          </a:bodyPr>
          <a:lstStyle/>
          <a:p>
            <a:pPr algn="ctr">
              <a:buNone/>
            </a:pPr>
            <a:r>
              <a:rPr lang="en-US" sz="2400" b="1" i="0" dirty="0">
                <a:solidFill>
                  <a:srgbClr val="5C4826"/>
                </a:solidFill>
              </a:rPr>
              <a:t>COST OF EVIDENCE ↓</a:t>
            </a:r>
          </a:p>
        </p:txBody>
      </p:sp>
      <p:cxnSp>
        <p:nvCxnSpPr>
          <p:cNvPr id="153" name="G2"/>
          <p:cNvCxnSpPr/>
          <p:nvPr/>
        </p:nvCxnSpPr>
        <p:spPr>
          <a:xfrm>
            <a:off x="4680000" y="3375000"/>
            <a:ext cx="380000" cy="0"/>
          </a:xfrm>
          <a:prstGeom prst="line">
            <a:avLst/>
          </a:prstGeom>
          <a:ln w="42862">
            <a:solidFill>
              <a:srgbClr val="8E6F3E"/>
            </a:solidFill>
            <a:tailEnd type="triangle" w="med" len="med"/>
          </a:ln>
        </p:spPr>
      </p:cxnSp>
      <p:sp>
        <p:nvSpPr>
          <p:cNvPr id="154" name="MoreQ"/>
          <p:cNvSpPr/>
          <p:nvPr/>
        </p:nvSpPr>
        <p:spPr>
          <a:xfrm>
            <a:off x="5060000" y="3000000"/>
            <a:ext cx="3900000" cy="7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MORE QUESTIONS BECOME WORTH INVESTIGATING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animEffect transition="in" filter="fade">
                                      <p:cBhvr>
                                        <p:cTn id="27" dur="400"/>
                                        <p:tgtEl>
                                          <p:spTgt spid="106"/>
                                        </p:tgtEl>
                                      </p:cBhvr>
                                    </p:animEffect>
                                  </p:childTnLst>
                                </p:cTn>
                              </p:par>
                              <p:par>
                                <p:cTn id="28" presetID="10" presetClass="entr" presetSubtype="0" fill="hold" nodeType="withEffect">
                                  <p:stCondLst>
                                    <p:cond delay="0"/>
                                  </p:stCondLst>
                                  <p:childTnLst>
                                    <p:set>
                                      <p:cBhvr>
                                        <p:cTn id="29" dur="1" fill="hold">
                                          <p:stCondLst>
                                            <p:cond delay="0"/>
                                          </p:stCondLst>
                                        </p:cTn>
                                        <p:tgtEl>
                                          <p:spTgt spid="107"/>
                                        </p:tgtEl>
                                        <p:attrNameLst>
                                          <p:attrName>style.visibility</p:attrName>
                                        </p:attrNameLst>
                                      </p:cBhvr>
                                      <p:to>
                                        <p:strVal val="visible"/>
                                      </p:to>
                                    </p:set>
                                    <p:animEffect transition="in" filter="fade">
                                      <p:cBhvr>
                                        <p:cTn id="30" dur="400"/>
                                        <p:tgtEl>
                                          <p:spTgt spid="107"/>
                                        </p:tgtEl>
                                      </p:cBhvr>
                                    </p:animEffect>
                                  </p:childTnLst>
                                </p:cTn>
                              </p:par>
                              <p:par>
                                <p:cTn id="31" presetID="10" presetClass="entr" presetSubtype="0" fill="hold" nodeType="withEffect">
                                  <p:stCondLst>
                                    <p:cond delay="0"/>
                                  </p:stCondLst>
                                  <p:childTnLst>
                                    <p:set>
                                      <p:cBhvr>
                                        <p:cTn id="32" dur="1" fill="hold">
                                          <p:stCondLst>
                                            <p:cond delay="0"/>
                                          </p:stCondLst>
                                        </p:cTn>
                                        <p:tgtEl>
                                          <p:spTgt spid="108"/>
                                        </p:tgtEl>
                                        <p:attrNameLst>
                                          <p:attrName>style.visibility</p:attrName>
                                        </p:attrNameLst>
                                      </p:cBhvr>
                                      <p:to>
                                        <p:strVal val="visible"/>
                                      </p:to>
                                    </p:set>
                                    <p:animEffect transition="in" filter="fade">
                                      <p:cBhvr>
                                        <p:cTn id="33" dur="400"/>
                                        <p:tgtEl>
                                          <p:spTgt spid="108"/>
                                        </p:tgtEl>
                                      </p:cBhvr>
                                    </p:animEffect>
                                  </p:childTnLst>
                                </p:cTn>
                              </p:par>
                              <p:par>
                                <p:cTn id="34" presetID="10" presetClass="entr" presetSubtype="0" fill="hold" nodeType="withEffect">
                                  <p:stCondLst>
                                    <p:cond delay="0"/>
                                  </p:stCondLst>
                                  <p:childTnLst>
                                    <p:set>
                                      <p:cBhvr>
                                        <p:cTn id="35" dur="1" fill="hold">
                                          <p:stCondLst>
                                            <p:cond delay="0"/>
                                          </p:stCondLst>
                                        </p:cTn>
                                        <p:tgtEl>
                                          <p:spTgt spid="109"/>
                                        </p:tgtEl>
                                        <p:attrNameLst>
                                          <p:attrName>style.visibility</p:attrName>
                                        </p:attrNameLst>
                                      </p:cBhvr>
                                      <p:to>
                                        <p:strVal val="visible"/>
                                      </p:to>
                                    </p:set>
                                    <p:animEffect transition="in" filter="fade">
                                      <p:cBhvr>
                                        <p:cTn id="36" dur="400"/>
                                        <p:tgtEl>
                                          <p:spTgt spid="109"/>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400"/>
                                        <p:tgtEl>
                                          <p:spTgt spid="150"/>
                                        </p:tgtEl>
                                      </p:cBhvr>
                                    </p:animEffect>
                                  </p:childTnLst>
                                </p:cTn>
                              </p:par>
                              <p:par>
                                <p:cTn id="51" presetID="10" presetClass="entr" presetSubtype="0" fill="hold" nodeType="withEffect">
                                  <p:stCondLst>
                                    <p:cond delay="0"/>
                                  </p:stCondLst>
                                  <p:childTnLst>
                                    <p:set>
                                      <p:cBhvr>
                                        <p:cTn id="52" dur="1" fill="hold">
                                          <p:stCondLst>
                                            <p:cond delay="0"/>
                                          </p:stCondLst>
                                        </p:cTn>
                                        <p:tgtEl>
                                          <p:spTgt spid="151"/>
                                        </p:tgtEl>
                                        <p:attrNameLst>
                                          <p:attrName>style.visibility</p:attrName>
                                        </p:attrNameLst>
                                      </p:cBhvr>
                                      <p:to>
                                        <p:strVal val="visible"/>
                                      </p:to>
                                    </p:set>
                                    <p:animEffect transition="in" filter="fade">
                                      <p:cBhvr>
                                        <p:cTn id="53" dur="400"/>
                                        <p:tgtEl>
                                          <p:spTgt spid="15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52"/>
                                        </p:tgtEl>
                                        <p:attrNameLst>
                                          <p:attrName>style.visibility</p:attrName>
                                        </p:attrNameLst>
                                      </p:cBhvr>
                                      <p:to>
                                        <p:strVal val="visible"/>
                                      </p:to>
                                    </p:set>
                                    <p:animEffect transition="in" filter="fade">
                                      <p:cBhvr>
                                        <p:cTn id="58" dur="400"/>
                                        <p:tgtEl>
                                          <p:spTgt spid="152"/>
                                        </p:tgtEl>
                                      </p:cBhvr>
                                    </p:animEffect>
                                  </p:childTnLst>
                                </p:cTn>
                              </p:par>
                              <p:par>
                                <p:cTn id="59" presetID="10" presetClass="entr" presetSubtype="0" fill="hold" nodeType="withEffect">
                                  <p:stCondLst>
                                    <p:cond delay="0"/>
                                  </p:stCondLst>
                                  <p:childTnLst>
                                    <p:set>
                                      <p:cBhvr>
                                        <p:cTn id="60" dur="1" fill="hold">
                                          <p:stCondLst>
                                            <p:cond delay="0"/>
                                          </p:stCondLst>
                                        </p:cTn>
                                        <p:tgtEl>
                                          <p:spTgt spid="153"/>
                                        </p:tgtEl>
                                        <p:attrNameLst>
                                          <p:attrName>style.visibility</p:attrName>
                                        </p:attrNameLst>
                                      </p:cBhvr>
                                      <p:to>
                                        <p:strVal val="visible"/>
                                      </p:to>
                                    </p:set>
                                    <p:animEffect transition="in" filter="fade">
                                      <p:cBhvr>
                                        <p:cTn id="61" dur="400"/>
                                        <p:tgtEl>
                                          <p:spTgt spid="153"/>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54"/>
                                        </p:tgtEl>
                                        <p:attrNameLst>
                                          <p:attrName>style.visibility</p:attrName>
                                        </p:attrNameLst>
                                      </p:cBhvr>
                                      <p:to>
                                        <p:strVal val="visible"/>
                                      </p:to>
                                    </p:set>
                                    <p:animEffect transition="in" filter="fade">
                                      <p:cBhvr>
                                        <p:cTn id="66" dur="400"/>
                                        <p:tgtEl>
                                          <p:spTgt spid="154"/>
                                        </p:tgtEl>
                                      </p:cBhvr>
                                    </p:animEffect>
                                  </p:childTnLst>
                                </p:cTn>
                              </p:par>
                              <p:par>
                                <p:cTn id="67" presetID="10" presetClass="entr" presetSubtype="0" fill="hold" nodeType="withEffect">
                                  <p:stCondLst>
                                    <p:cond delay="0"/>
                                  </p:stCondLst>
                                  <p:childTnLst>
                                    <p:set>
                                      <p:cBhvr>
                                        <p:cTn id="68" dur="1" fill="hold">
                                          <p:stCondLst>
                                            <p:cond delay="0"/>
                                          </p:stCondLst>
                                        </p:cTn>
                                        <p:tgtEl>
                                          <p:spTgt spid="61"/>
                                        </p:tgtEl>
                                        <p:attrNameLst>
                                          <p:attrName>style.visibility</p:attrName>
                                        </p:attrNameLst>
                                      </p:cBhvr>
                                      <p:to>
                                        <p:strVal val="visible"/>
                                      </p:to>
                                    </p:set>
                                    <p:animEffect transition="in" filter="fade">
                                      <p:cBhvr>
                                        <p:cTn id="69" dur="400"/>
                                        <p:tgtEl>
                                          <p:spTgt spid="6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6"/>
                                        </p:tgtEl>
                                        <p:attrNameLst>
                                          <p:attrName>style.visibility</p:attrName>
                                        </p:attrNameLst>
                                      </p:cBhvr>
                                      <p:to>
                                        <p:strVal val="visible"/>
                                      </p:to>
                                    </p:set>
                                    <p:animEffect transition="in" filter="fade">
                                      <p:cBhvr>
                                        <p:cTn id="74" dur="400"/>
                                        <p:tgtEl>
                                          <p:spTgt spid="6"/>
                                        </p:tgtEl>
                                      </p:cBhvr>
                                    </p:animEffect>
                                  </p:childTnLst>
                                </p:cTn>
                              </p:par>
                              <p:par>
                                <p:cTn id="75" presetID="10" presetClass="entr" presetSubtype="0" fill="hold" nodeType="with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fade">
                                      <p:cBhvr>
                                        <p:cTn id="7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4000" b="0" i="0" dirty="0">
                <a:solidFill>
                  <a:srgbClr val="000000"/>
                </a:solidFill>
              </a:rPr>
              <a:t>Architect one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26</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5</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Enough vocabulary. Make the decision.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Exercise: Here is the specification</a:t>
            </a:r>
          </a:p>
        </p:txBody>
      </p:sp>
      <p:sp>
        <p:nvSpPr>
          <p:cNvPr id="3" name="Slide Number Placeholder 2"/>
          <p:cNvSpPr>
            <a:spLocks noGrp="1"/>
          </p:cNvSpPr>
          <p:nvPr>
            <p:ph type="sldNum" sz="quarter" idx="4"/>
          </p:nvPr>
        </p:nvSpPr>
        <p:spPr/>
        <p:txBody>
          <a:bodyPr/>
          <a:lstStyle/>
          <a:p>
            <a:fld id="{B7EB45DA-9A0D-DC49-8E02-F30A5DDC21C3}" type="slidenum">
              <a:rPr lang="en-US" smtClean="0"/>
              <a:t>27</a:t>
            </a:fld>
            <a:endParaRPr lang="en-US"/>
          </a:p>
        </p:txBody>
      </p:sp>
      <p:sp>
        <p:nvSpPr>
          <p:cNvPr id="61" name="Band61"/>
          <p:cNvSpPr/>
          <p:nvPr/>
        </p:nvSpPr>
        <p:spPr>
          <a:xfrm>
            <a:off x="279400" y="4700000"/>
            <a:ext cx="8585200" cy="1250000"/>
          </a:xfrm>
          <a:prstGeom prst="rect">
            <a:avLst/>
          </a:prstGeom>
          <a:solidFill>
            <a:srgbClr val="F5F1E8"/>
          </a:solidFill>
          <a:ln>
            <a:noFill/>
          </a:ln>
        </p:spPr>
        <p:txBody>
          <a:bodyPr wrap="square" lIns="109728" tIns="82296" rIns="109728" bIns="82296" anchor="ctr">
            <a:normAutofit/>
          </a:bodyPr>
          <a:lstStyle/>
          <a:p>
            <a:pPr algn="l">
              <a:buNone/>
            </a:pPr>
            <a:r>
              <a:rPr lang="en-US" sz="1800" b="1" i="0" dirty="0">
                <a:solidFill>
                  <a:srgbClr val="3F3121"/>
                </a:solidFill>
              </a:rPr>
              <a:t>Sketch the major parts, boundaries, and interactions</a:t>
            </a:r>
          </a:p>
          <a:p>
            <a:pPr algn="l">
              <a:spcBef>
                <a:spcPts val="400"/>
              </a:spcBef>
              <a:buNone/>
            </a:pPr>
            <a:r>
              <a:rPr lang="en-US" sz="1800" b="0" i="0" dirty="0">
                <a:solidFill>
                  <a:srgbClr val="3F3121"/>
                </a:solidFill>
              </a:rPr>
              <a:t>Produce TWO plausible organizations</a:t>
            </a:r>
          </a:p>
          <a:p>
            <a:pPr algn="l">
              <a:spcBef>
                <a:spcPts val="400"/>
              </a:spcBef>
              <a:buNone/>
            </a:pPr>
            <a:r>
              <a:rPr lang="en-US" sz="1800" b="0" i="1" dirty="0">
                <a:solidFill>
                  <a:srgbClr val="3F3121"/>
                </a:solidFill>
              </a:rPr>
              <a:t>Do not converge on one yet</a:t>
            </a:r>
          </a:p>
        </p:txBody>
      </p:sp>
      <p:sp>
        <p:nvSpPr>
          <p:cNvPr id="100" name="SysBox"/>
          <p:cNvSpPr/>
          <p:nvPr/>
        </p:nvSpPr>
        <p:spPr>
          <a:xfrm>
            <a:off x="3125000" y="2150000"/>
            <a:ext cx="2900000" cy="1400000"/>
          </a:xfrm>
          <a:prstGeom prst="roundRect">
            <a:avLst/>
          </a:prstGeom>
          <a:solidFill>
            <a:srgbClr val="FBF8F2"/>
          </a:solidFill>
          <a:ln w="19050">
            <a:solidFill>
              <a:srgbClr val="8E6F3E"/>
            </a:solidFill>
            <a:prstDash val="dash"/>
          </a:ln>
        </p:spPr>
        <p:txBody>
          <a:bodyPr wrap="square" lIns="54864" tIns="27432" rIns="54864" bIns="27432" anchor="ctr">
            <a:normAutofit/>
          </a:bodyPr>
          <a:lstStyle/>
          <a:p>
            <a:pPr algn="ctr">
              <a:buNone/>
            </a:pPr>
            <a:r>
              <a:rPr lang="en-US" sz="2800" b="1" i="0" dirty="0">
                <a:solidFill>
                  <a:srgbClr val="8E6F3E"/>
                </a:solidFill>
              </a:rPr>
              <a:t>SYSTEM ?</a:t>
            </a:r>
          </a:p>
          <a:p>
            <a:pPr algn="ctr">
              <a:spcBef>
                <a:spcPts val="525"/>
              </a:spcBef>
              <a:buNone/>
            </a:pPr>
            <a:r>
              <a:rPr lang="en-US" sz="1800" b="0" i="1" dirty="0">
                <a:solidFill>
                  <a:srgbClr val="8E6F3E"/>
                </a:solidFill>
              </a:rPr>
              <a:t>YOUR ARCHITECTURE</a:t>
            </a:r>
          </a:p>
          <a:p>
            <a:pPr algn="ctr">
              <a:spcBef>
                <a:spcPts val="525"/>
              </a:spcBef>
              <a:buNone/>
            </a:pPr>
            <a:r>
              <a:rPr lang="en-US" sz="1800" b="0" i="1" dirty="0">
                <a:solidFill>
                  <a:srgbClr val="8E6F3E"/>
                </a:solidFill>
              </a:rPr>
              <a:t>GOES HERE</a:t>
            </a:r>
          </a:p>
        </p:txBody>
      </p:sp>
      <p:sp>
        <p:nvSpPr>
          <p:cNvPr id="101" name="Obl0"/>
          <p:cNvSpPr/>
          <p:nvPr/>
        </p:nvSpPr>
        <p:spPr>
          <a:xfrm>
            <a:off x="3322000" y="1000000"/>
            <a:ext cx="2500000" cy="8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Advice must return w/in 2 seconds</a:t>
            </a:r>
          </a:p>
        </p:txBody>
      </p:sp>
      <p:cxnSp>
        <p:nvCxnSpPr>
          <p:cNvPr id="102" name="OblA0"/>
          <p:cNvCxnSpPr/>
          <p:nvPr/>
        </p:nvCxnSpPr>
        <p:spPr>
          <a:xfrm>
            <a:off x="4575000" y="1800000"/>
            <a:ext cx="0" cy="350000"/>
          </a:xfrm>
          <a:prstGeom prst="line">
            <a:avLst/>
          </a:prstGeom>
          <a:ln w="42862">
            <a:solidFill>
              <a:srgbClr val="C9B991"/>
            </a:solidFill>
            <a:tailEnd type="triangle" w="med" len="med"/>
          </a:ln>
        </p:spPr>
      </p:cxnSp>
      <p:sp>
        <p:nvSpPr>
          <p:cNvPr id="103" name="Obl1"/>
          <p:cNvSpPr/>
          <p:nvPr/>
        </p:nvSpPr>
        <p:spPr>
          <a:xfrm>
            <a:off x="350000" y="155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Raw sleep data must not be disclosed to sharing recipients</a:t>
            </a:r>
          </a:p>
        </p:txBody>
      </p:sp>
      <p:cxnSp>
        <p:nvCxnSpPr>
          <p:cNvPr id="104" name="OblA1"/>
          <p:cNvCxnSpPr/>
          <p:nvPr/>
        </p:nvCxnSpPr>
        <p:spPr>
          <a:xfrm>
            <a:off x="2870000" y="2050000"/>
            <a:ext cx="255000" cy="250000"/>
          </a:xfrm>
          <a:prstGeom prst="line">
            <a:avLst/>
          </a:prstGeom>
          <a:ln w="42862">
            <a:solidFill>
              <a:srgbClr val="C9B991"/>
            </a:solidFill>
            <a:tailEnd type="triangle" w="med" len="med"/>
          </a:ln>
        </p:spPr>
      </p:cxnSp>
      <p:sp>
        <p:nvSpPr>
          <p:cNvPr id="105" name="Obl2"/>
          <p:cNvSpPr/>
          <p:nvPr/>
        </p:nvSpPr>
        <p:spPr>
          <a:xfrm>
            <a:off x="6294000" y="155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The illness model is expected to change independently</a:t>
            </a:r>
          </a:p>
        </p:txBody>
      </p:sp>
      <p:cxnSp>
        <p:nvCxnSpPr>
          <p:cNvPr id="106" name="OblA2"/>
          <p:cNvCxnSpPr/>
          <p:nvPr/>
        </p:nvCxnSpPr>
        <p:spPr>
          <a:xfrm flipH="1">
            <a:off x="6039000" y="2050000"/>
            <a:ext cx="255000" cy="250000"/>
          </a:xfrm>
          <a:prstGeom prst="line">
            <a:avLst/>
          </a:prstGeom>
          <a:ln w="42862">
            <a:solidFill>
              <a:srgbClr val="C9B991"/>
            </a:solidFill>
            <a:tailEnd type="triangle" w="med" len="med"/>
          </a:ln>
        </p:spPr>
      </p:cxnSp>
      <p:sp>
        <p:nvSpPr>
          <p:cNvPr id="107" name="Obl3"/>
          <p:cNvSpPr/>
          <p:nvPr/>
        </p:nvSpPr>
        <p:spPr>
          <a:xfrm>
            <a:off x="700000" y="370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Failure of sharing must not prevent local advice</a:t>
            </a:r>
          </a:p>
        </p:txBody>
      </p:sp>
      <p:cxnSp>
        <p:nvCxnSpPr>
          <p:cNvPr id="108" name="OblA3"/>
          <p:cNvCxnSpPr/>
          <p:nvPr/>
        </p:nvCxnSpPr>
        <p:spPr>
          <a:xfrm flipV="1">
            <a:off x="3200000" y="3550000"/>
            <a:ext cx="200000" cy="150000"/>
          </a:xfrm>
          <a:prstGeom prst="line">
            <a:avLst/>
          </a:prstGeom>
          <a:ln w="42862">
            <a:solidFill>
              <a:srgbClr val="C9B991"/>
            </a:solidFill>
            <a:tailEnd type="triangle" w="med" len="med"/>
          </a:ln>
        </p:spPr>
      </p:cxnSp>
      <p:sp>
        <p:nvSpPr>
          <p:cNvPr id="109" name="Obl4"/>
          <p:cNvSpPr/>
          <p:nvPr/>
        </p:nvSpPr>
        <p:spPr>
          <a:xfrm>
            <a:off x="5944000" y="370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A weekly summary must reflect a consistent 7-night window</a:t>
            </a:r>
          </a:p>
        </p:txBody>
      </p:sp>
      <p:cxnSp>
        <p:nvCxnSpPr>
          <p:cNvPr id="110" name="OblA4"/>
          <p:cNvCxnSpPr/>
          <p:nvPr/>
        </p:nvCxnSpPr>
        <p:spPr>
          <a:xfrm flipH="1" flipV="1">
            <a:off x="5744000" y="3550000"/>
            <a:ext cx="200000" cy="150000"/>
          </a:xfrm>
          <a:prstGeom prst="line">
            <a:avLst/>
          </a:prstGeom>
          <a:ln w="42862">
            <a:solidFill>
              <a:srgbClr val="C9B991"/>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xEl>
                                              <p:pRg st="0" end="0"/>
                                            </p:txEl>
                                          </p:spTgt>
                                        </p:tgtEl>
                                        <p:attrNameLst>
                                          <p:attrName>style.visibility</p:attrName>
                                        </p:attrNameLst>
                                      </p:cBhvr>
                                      <p:to>
                                        <p:strVal val="visible"/>
                                      </p:to>
                                    </p:set>
                                    <p:animEffect transition="in" filter="fade">
                                      <p:cBhvr>
                                        <p:cTn id="7" dur="400"/>
                                        <p:tgtEl>
                                          <p:spTgt spid="61">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1">
                                            <p:txEl>
                                              <p:pRg st="1" end="1"/>
                                            </p:txEl>
                                          </p:spTgt>
                                        </p:tgtEl>
                                        <p:attrNameLst>
                                          <p:attrName>style.visibility</p:attrName>
                                        </p:attrNameLst>
                                      </p:cBhvr>
                                      <p:to>
                                        <p:strVal val="visible"/>
                                      </p:to>
                                    </p:set>
                                    <p:animEffect transition="in" filter="fade">
                                      <p:cBhvr>
                                        <p:cTn id="10" dur="400"/>
                                        <p:tgtEl>
                                          <p:spTgt spid="61">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61">
                                            <p:txEl>
                                              <p:pRg st="2" end="2"/>
                                            </p:txEl>
                                          </p:spTgt>
                                        </p:tgtEl>
                                        <p:attrNameLst>
                                          <p:attrName>style.visibility</p:attrName>
                                        </p:attrNameLst>
                                      </p:cBhvr>
                                      <p:to>
                                        <p:strVal val="visible"/>
                                      </p:to>
                                    </p:set>
                                    <p:animEffect transition="in" filter="fade">
                                      <p:cBhvr>
                                        <p:cTn id="13" dur="400"/>
                                        <p:tgtEl>
                                          <p:spTgt spid="61">
                                            <p:txEl>
                                              <p:pRg st="2" end="2"/>
                                            </p:txEl>
                                          </p:spTgt>
                                        </p:tgtEl>
                                      </p:cBhvr>
                                    </p:animEffect>
                                  </p:childTnLst>
                                </p:cTn>
                              </p:par>
                              <p:par>
                                <p:cTn id="14" presetID="1" presetClass="entr" presetSubtype="0" fill="hold" grpId="0" nodeType="withEffect">
                                  <p:stCondLst>
                                    <p:cond delay="0"/>
                                  </p:stCondLst>
                                  <p:childTnLst>
                                    <p:set>
                                      <p:cBhvr>
                                        <p:cTn id="15" dur="1" fill="hold">
                                          <p:stCondLst>
                                            <p:cond delay="0"/>
                                          </p:stCondLst>
                                        </p:cTn>
                                        <p:tgtEl>
                                          <p:spTgt spid="61">
                                            <p:bg/>
                                          </p:spTgt>
                                        </p:tgtEl>
                                        <p:attrNameLst>
                                          <p:attrName>style.visibility</p:attrName>
                                        </p:attrNameLst>
                                      </p:cBhvr>
                                      <p:to>
                                        <p:strVal val="visible"/>
                                      </p:to>
                                    </p:set>
                                  </p:childTnLst>
                                </p:cTn>
                              </p:par>
                              <p:par>
                                <p:cTn id="16" presetID="1" presetClass="entr" presetSubtype="0" fill="hold" grpId="0" nodeType="withEffect">
                                  <p:stCondLst>
                                    <p:cond delay="0"/>
                                  </p:stCondLst>
                                  <p:childTnLst>
                                    <p:set>
                                      <p:cBhvr>
                                        <p:cTn id="17" dur="1" fill="hold">
                                          <p:stCondLst>
                                            <p:cond delay="0"/>
                                          </p:stCondLst>
                                        </p:cTn>
                                        <p:tgtEl>
                                          <p:spTgt spid="61">
                                            <p:txEl>
                                              <p:pRg st="0" end="0"/>
                                            </p:txEl>
                                          </p:spTgt>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61">
                                            <p:txEl>
                                              <p:pRg st="1" end="1"/>
                                            </p:txEl>
                                          </p:spTgt>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6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build="allAtOnce"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Defend the architectural decision</a:t>
            </a:r>
          </a:p>
        </p:txBody>
      </p:sp>
      <p:sp>
        <p:nvSpPr>
          <p:cNvPr id="3" name="Slide Number Placeholder 2"/>
          <p:cNvSpPr>
            <a:spLocks noGrp="1"/>
          </p:cNvSpPr>
          <p:nvPr>
            <p:ph type="sldNum" sz="quarter" idx="4"/>
          </p:nvPr>
        </p:nvSpPr>
        <p:spPr/>
        <p:txBody>
          <a:bodyPr/>
          <a:lstStyle/>
          <a:p>
            <a:fld id="{B7EB45DA-9A0D-DC49-8E02-F30A5DDC21C3}" type="slidenum">
              <a:rPr lang="en-US" smtClean="0"/>
              <a:t>28</a:t>
            </a:fld>
            <a:endParaRPr lang="en-US"/>
          </a:p>
        </p:txBody>
      </p:sp>
      <p:sp>
        <p:nvSpPr>
          <p:cNvPr id="61" name="Band61"/>
          <p:cNvSpPr/>
          <p:nvPr/>
        </p:nvSpPr>
        <p:spPr>
          <a:xfrm>
            <a:off x="279400" y="4300000"/>
            <a:ext cx="8585200" cy="1700000"/>
          </a:xfrm>
          <a:prstGeom prst="rect">
            <a:avLst/>
          </a:prstGeom>
          <a:solidFill>
            <a:srgbClr val="F5F1E8"/>
          </a:solidFill>
          <a:ln>
            <a:noFill/>
          </a:ln>
        </p:spPr>
        <p:txBody>
          <a:bodyPr wrap="square" lIns="109728" tIns="82296" rIns="109728" bIns="82296" anchor="ctr">
            <a:normAutofit fontScale="92500" lnSpcReduction="10000"/>
          </a:bodyPr>
          <a:lstStyle/>
          <a:p>
            <a:pPr algn="l">
              <a:buNone/>
            </a:pPr>
            <a:r>
              <a:rPr lang="en-US" sz="2200" b="1" i="0" dirty="0">
                <a:solidFill>
                  <a:srgbClr val="8E6F3E"/>
                </a:solidFill>
              </a:rPr>
              <a:t>·  </a:t>
            </a:r>
            <a:r>
              <a:rPr lang="en-US" sz="2200" b="0" i="0" dirty="0">
                <a:solidFill>
                  <a:srgbClr val="000000"/>
                </a:solidFill>
              </a:rPr>
              <a:t>Which candidates violate the specification?</a:t>
            </a:r>
          </a:p>
          <a:p>
            <a:pPr algn="l">
              <a:spcBef>
                <a:spcPts val="150"/>
              </a:spcBef>
              <a:buNone/>
            </a:pPr>
            <a:r>
              <a:rPr lang="en-US" sz="2200" b="1" i="0" dirty="0">
                <a:solidFill>
                  <a:srgbClr val="8E6F3E"/>
                </a:solidFill>
              </a:rPr>
              <a:t>·  </a:t>
            </a:r>
            <a:r>
              <a:rPr lang="en-US" sz="2200" b="0" i="0" dirty="0">
                <a:solidFill>
                  <a:srgbClr val="000000"/>
                </a:solidFill>
              </a:rPr>
              <a:t>Is any candidate Pareto-dominated?</a:t>
            </a:r>
          </a:p>
          <a:p>
            <a:pPr algn="l">
              <a:spcBef>
                <a:spcPts val="150"/>
              </a:spcBef>
              <a:buNone/>
            </a:pPr>
            <a:r>
              <a:rPr lang="en-US" sz="2200" b="1" i="0" dirty="0">
                <a:solidFill>
                  <a:srgbClr val="8E6F3E"/>
                </a:solidFill>
              </a:rPr>
              <a:t>·  </a:t>
            </a:r>
            <a:r>
              <a:rPr lang="en-US" sz="2200" b="0" i="0" dirty="0">
                <a:solidFill>
                  <a:srgbClr val="000000"/>
                </a:solidFill>
              </a:rPr>
              <a:t>What genuine tradeoff remains?</a:t>
            </a:r>
          </a:p>
          <a:p>
            <a:pPr algn="l">
              <a:spcBef>
                <a:spcPts val="150"/>
              </a:spcBef>
              <a:buNone/>
            </a:pPr>
            <a:r>
              <a:rPr lang="en-US" sz="2200" b="1" i="0" dirty="0">
                <a:solidFill>
                  <a:srgbClr val="8E6F3E"/>
                </a:solidFill>
              </a:rPr>
              <a:t>·  </a:t>
            </a:r>
            <a:r>
              <a:rPr lang="en-US" sz="2200" b="0" i="0" dirty="0">
                <a:solidFill>
                  <a:srgbClr val="000000"/>
                </a:solidFill>
              </a:rPr>
              <a:t>Which architectural model could distinguish the alternatives?</a:t>
            </a:r>
          </a:p>
          <a:p>
            <a:pPr algn="l">
              <a:spcBef>
                <a:spcPts val="150"/>
              </a:spcBef>
              <a:buNone/>
            </a:pPr>
            <a:r>
              <a:rPr lang="en-US" sz="2200" b="1" i="0" dirty="0">
                <a:solidFill>
                  <a:srgbClr val="8E6F3E"/>
                </a:solidFill>
              </a:rPr>
              <a:t>·  </a:t>
            </a:r>
            <a:r>
              <a:rPr lang="en-US" sz="2200" b="0" i="0" dirty="0">
                <a:solidFill>
                  <a:srgbClr val="000000"/>
                </a:solidFill>
              </a:rPr>
              <a:t>What information would you buy before committing?</a:t>
            </a:r>
          </a:p>
        </p:txBody>
      </p:sp>
      <p:sp>
        <p:nvSpPr>
          <p:cNvPr id="62" name="T62"/>
          <p:cNvSpPr txBox="1"/>
          <p:nvPr/>
        </p:nvSpPr>
        <p:spPr>
          <a:xfrm>
            <a:off x="685800" y="608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There need not be one “correct” architecture.</a:t>
            </a:r>
          </a:p>
        </p:txBody>
      </p:sp>
      <p:sp>
        <p:nvSpPr>
          <p:cNvPr id="100" name="CandA"/>
          <p:cNvSpPr/>
          <p:nvPr/>
        </p:nvSpPr>
        <p:spPr>
          <a:xfrm>
            <a:off x="290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1" name="CandB"/>
          <p:cNvSpPr/>
          <p:nvPr/>
        </p:nvSpPr>
        <p:spPr>
          <a:xfrm>
            <a:off x="401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02" name="CandC"/>
          <p:cNvSpPr/>
          <p:nvPr/>
        </p:nvSpPr>
        <p:spPr>
          <a:xfrm>
            <a:off x="512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03" name="FunA0"/>
          <p:cNvCxnSpPr/>
          <p:nvPr/>
        </p:nvCxnSpPr>
        <p:spPr>
          <a:xfrm>
            <a:off x="4437000" y="1558000"/>
            <a:ext cx="0" cy="132000"/>
          </a:xfrm>
          <a:prstGeom prst="line">
            <a:avLst/>
          </a:prstGeom>
          <a:ln w="51435">
            <a:solidFill>
              <a:srgbClr val="8E6F3E"/>
            </a:solidFill>
            <a:tailEnd type="triangle" w="med" len="med"/>
          </a:ln>
        </p:spPr>
      </p:cxnSp>
      <p:cxnSp>
        <p:nvCxnSpPr>
          <p:cNvPr id="300" name="FunAa"/>
          <p:cNvCxnSpPr/>
          <p:nvPr/>
        </p:nvCxnSpPr>
        <p:spPr>
          <a:xfrm>
            <a:off x="3327000" y="1558000"/>
            <a:ext cx="0" cy="132000"/>
          </a:xfrm>
          <a:prstGeom prst="line">
            <a:avLst/>
          </a:prstGeom>
          <a:ln w="51435">
            <a:solidFill>
              <a:srgbClr val="8E6F3E"/>
            </a:solidFill>
            <a:tailEnd type="triangle" w="med" len="med"/>
          </a:ln>
        </p:spPr>
      </p:cxnSp>
      <p:cxnSp>
        <p:nvCxnSpPr>
          <p:cNvPr id="301" name="FunAc"/>
          <p:cNvCxnSpPr/>
          <p:nvPr/>
        </p:nvCxnSpPr>
        <p:spPr>
          <a:xfrm>
            <a:off x="5547000" y="1558000"/>
            <a:ext cx="0" cy="132000"/>
          </a:xfrm>
          <a:prstGeom prst="line">
            <a:avLst/>
          </a:prstGeom>
          <a:ln w="51435">
            <a:solidFill>
              <a:srgbClr val="8E6F3E"/>
            </a:solidFill>
            <a:tailEnd type="triangle" w="med" len="med"/>
          </a:ln>
        </p:spPr>
      </p:cxnSp>
      <p:sp>
        <p:nvSpPr>
          <p:cNvPr id="104" name="FunR0"/>
          <p:cNvSpPr/>
          <p:nvPr/>
        </p:nvSpPr>
        <p:spPr>
          <a:xfrm>
            <a:off x="972000" y="1690000"/>
            <a:ext cx="720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SPECIFICATION — eliminate the invalid</a:t>
            </a:r>
          </a:p>
        </p:txBody>
      </p:sp>
      <p:cxnSp>
        <p:nvCxnSpPr>
          <p:cNvPr id="105" name="FunA1"/>
          <p:cNvCxnSpPr/>
          <p:nvPr/>
        </p:nvCxnSpPr>
        <p:spPr>
          <a:xfrm>
            <a:off x="4572000" y="2086000"/>
            <a:ext cx="0" cy="132000"/>
          </a:xfrm>
          <a:prstGeom prst="line">
            <a:avLst/>
          </a:prstGeom>
          <a:ln w="51435">
            <a:solidFill>
              <a:srgbClr val="8E6F3E"/>
            </a:solidFill>
            <a:tailEnd type="triangle" w="med" len="med"/>
          </a:ln>
        </p:spPr>
      </p:cxnSp>
      <p:sp>
        <p:nvSpPr>
          <p:cNvPr id="106" name="FunR1"/>
          <p:cNvSpPr/>
          <p:nvPr/>
        </p:nvSpPr>
        <p:spPr>
          <a:xfrm>
            <a:off x="1692000" y="2218000"/>
            <a:ext cx="576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DOMINANCE — eliminate the clearly worse</a:t>
            </a:r>
          </a:p>
        </p:txBody>
      </p:sp>
      <p:cxnSp>
        <p:nvCxnSpPr>
          <p:cNvPr id="107" name="FunA2"/>
          <p:cNvCxnSpPr/>
          <p:nvPr/>
        </p:nvCxnSpPr>
        <p:spPr>
          <a:xfrm>
            <a:off x="4572000" y="2614000"/>
            <a:ext cx="0" cy="132000"/>
          </a:xfrm>
          <a:prstGeom prst="line">
            <a:avLst/>
          </a:prstGeom>
          <a:ln w="51435">
            <a:solidFill>
              <a:srgbClr val="8E6F3E"/>
            </a:solidFill>
            <a:tailEnd type="triangle" w="med" len="med"/>
          </a:ln>
        </p:spPr>
      </p:cxnSp>
      <p:sp>
        <p:nvSpPr>
          <p:cNvPr id="108" name="FunR2"/>
          <p:cNvSpPr/>
          <p:nvPr/>
        </p:nvSpPr>
        <p:spPr>
          <a:xfrm>
            <a:off x="2352000" y="2746000"/>
            <a:ext cx="44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WHAT DON’T WE KNOW?</a:t>
            </a:r>
          </a:p>
        </p:txBody>
      </p:sp>
      <p:cxnSp>
        <p:nvCxnSpPr>
          <p:cNvPr id="109" name="FunA3"/>
          <p:cNvCxnSpPr/>
          <p:nvPr/>
        </p:nvCxnSpPr>
        <p:spPr>
          <a:xfrm>
            <a:off x="4572000" y="3142000"/>
            <a:ext cx="0" cy="132000"/>
          </a:xfrm>
          <a:prstGeom prst="line">
            <a:avLst/>
          </a:prstGeom>
          <a:ln w="51435">
            <a:solidFill>
              <a:srgbClr val="8E6F3E"/>
            </a:solidFill>
            <a:tailEnd type="triangle" w="med" len="med"/>
          </a:ln>
        </p:spPr>
      </p:cxnSp>
      <p:sp>
        <p:nvSpPr>
          <p:cNvPr id="110" name="FunR3"/>
          <p:cNvSpPr/>
          <p:nvPr/>
        </p:nvSpPr>
        <p:spPr>
          <a:xfrm>
            <a:off x="2832000" y="3274000"/>
            <a:ext cx="348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BUY INFORMATION?</a:t>
            </a:r>
          </a:p>
        </p:txBody>
      </p:sp>
      <p:cxnSp>
        <p:nvCxnSpPr>
          <p:cNvPr id="111" name="FunA4"/>
          <p:cNvCxnSpPr/>
          <p:nvPr/>
        </p:nvCxnSpPr>
        <p:spPr>
          <a:xfrm>
            <a:off x="4572000" y="3670000"/>
            <a:ext cx="0" cy="132000"/>
          </a:xfrm>
          <a:prstGeom prst="line">
            <a:avLst/>
          </a:prstGeom>
          <a:ln w="51435">
            <a:solidFill>
              <a:srgbClr val="8E6F3E"/>
            </a:solidFill>
            <a:tailEnd type="triangle" w="med" len="med"/>
          </a:ln>
        </p:spPr>
      </p:cxnSp>
      <p:sp>
        <p:nvSpPr>
          <p:cNvPr id="112" name="FunR4"/>
          <p:cNvSpPr/>
          <p:nvPr/>
        </p:nvSpPr>
        <p:spPr>
          <a:xfrm>
            <a:off x="3372000" y="3802000"/>
            <a:ext cx="2400000" cy="396000"/>
          </a:xfrm>
          <a:prstGeom prst="rect">
            <a:avLst/>
          </a:prstGeom>
          <a:solidFill>
            <a:srgbClr val="8E6F3E"/>
          </a:solidFill>
          <a:ln>
            <a:noFill/>
          </a:ln>
        </p:spPr>
        <p:txBody>
          <a:bodyPr wrap="square" lIns="54864" tIns="27432" rIns="54864" bIns="27432" anchor="ctr">
            <a:normAutofit/>
          </a:bodyPr>
          <a:lstStyle/>
          <a:p>
            <a:pPr algn="ctr">
              <a:buNone/>
            </a:pPr>
            <a:r>
              <a:rPr lang="en-US" sz="2000" b="1" i="0" dirty="0">
                <a:solidFill>
                  <a:srgbClr val="FFFFFF"/>
                </a:solidFill>
              </a:rPr>
              <a:t>DECIDE</a:t>
            </a:r>
          </a:p>
        </p:txBody>
      </p:sp>
      <p:sp>
        <p:nvSpPr>
          <p:cNvPr id="113" name="TradeLbl"/>
          <p:cNvSpPr txBox="1"/>
          <p:nvPr/>
        </p:nvSpPr>
        <p:spPr>
          <a:xfrm>
            <a:off x="6950000" y="2850000"/>
            <a:ext cx="2100000" cy="700000"/>
          </a:xfrm>
          <a:prstGeom prst="rect">
            <a:avLst/>
          </a:prstGeom>
          <a:noFill/>
          <a:ln>
            <a:noFill/>
          </a:ln>
        </p:spPr>
        <p:txBody>
          <a:bodyPr wrap="square" lIns="0" tIns="0" rIns="0" bIns="0" anchor="t">
            <a:normAutofit/>
          </a:bodyPr>
          <a:lstStyle/>
          <a:p>
            <a:pPr algn="l">
              <a:buNone/>
            </a:pPr>
            <a:r>
              <a:rPr lang="en-US" sz="1800" b="0" i="1" dirty="0">
                <a:solidFill>
                  <a:srgbClr val="555960"/>
                </a:solidFill>
              </a:rPr>
              <a:t>a genuine tradeoff</a:t>
            </a:r>
          </a:p>
          <a:p>
            <a:pPr algn="l">
              <a:spcBef>
                <a:spcPts val="300"/>
              </a:spcBef>
              <a:buNone/>
            </a:pPr>
            <a:r>
              <a:rPr lang="en-US" sz="1800" b="0" i="1" dirty="0">
                <a:solidFill>
                  <a:srgbClr val="555960"/>
                </a:solidFill>
              </a:rPr>
              <a:t>remains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300"/>
                                        </p:tgtEl>
                                        <p:attrNameLst>
                                          <p:attrName>style.visibility</p:attrName>
                                        </p:attrNameLst>
                                      </p:cBhvr>
                                      <p:to>
                                        <p:strVal val="visible"/>
                                      </p:to>
                                    </p:set>
                                    <p:animEffect transition="in" filter="fade">
                                      <p:cBhvr>
                                        <p:cTn id="19" dur="400"/>
                                        <p:tgtEl>
                                          <p:spTgt spid="300"/>
                                        </p:tgtEl>
                                      </p:cBhvr>
                                    </p:animEffect>
                                  </p:childTnLst>
                                </p:cTn>
                              </p:par>
                              <p:par>
                                <p:cTn id="20" presetID="10" presetClass="entr" presetSubtype="0" fill="hold" nodeType="withEffect">
                                  <p:stCondLst>
                                    <p:cond delay="0"/>
                                  </p:stCondLst>
                                  <p:childTnLst>
                                    <p:set>
                                      <p:cBhvr>
                                        <p:cTn id="21" dur="1" fill="hold">
                                          <p:stCondLst>
                                            <p:cond delay="0"/>
                                          </p:stCondLst>
                                        </p:cTn>
                                        <p:tgtEl>
                                          <p:spTgt spid="301"/>
                                        </p:tgtEl>
                                        <p:attrNameLst>
                                          <p:attrName>style.visibility</p:attrName>
                                        </p:attrNameLst>
                                      </p:cBhvr>
                                      <p:to>
                                        <p:strVal val="visible"/>
                                      </p:to>
                                    </p:set>
                                    <p:animEffect transition="in" filter="fade">
                                      <p:cBhvr>
                                        <p:cTn id="22" dur="400"/>
                                        <p:tgtEl>
                                          <p:spTgt spid="30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400"/>
                                        <p:tgtEl>
                                          <p:spTgt spid="104"/>
                                        </p:tgtEl>
                                      </p:cBhvr>
                                    </p:animEffect>
                                  </p:childTnLst>
                                </p:cTn>
                              </p:par>
                              <p:par>
                                <p:cTn id="28" presetID="10" presetClass="entr" presetSubtype="0" fill="hold" nodeType="withEffect">
                                  <p:stCondLst>
                                    <p:cond delay="0"/>
                                  </p:stCondLst>
                                  <p:childTnLst>
                                    <p:set>
                                      <p:cBhvr>
                                        <p:cTn id="29" dur="1" fill="hold">
                                          <p:stCondLst>
                                            <p:cond delay="0"/>
                                          </p:stCondLst>
                                        </p:cTn>
                                        <p:tgtEl>
                                          <p:spTgt spid="61">
                                            <p:txEl>
                                              <p:pRg st="0" end="0"/>
                                            </p:txEl>
                                          </p:spTgt>
                                        </p:tgtEl>
                                        <p:attrNameLst>
                                          <p:attrName>style.visibility</p:attrName>
                                        </p:attrNameLst>
                                      </p:cBhvr>
                                      <p:to>
                                        <p:strVal val="visible"/>
                                      </p:to>
                                    </p:set>
                                    <p:animEffect transition="in" filter="fade">
                                      <p:cBhvr>
                                        <p:cTn id="30" dur="400"/>
                                        <p:tgtEl>
                                          <p:spTgt spid="61">
                                            <p:txEl>
                                              <p:pRg st="0" end="0"/>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05"/>
                                        </p:tgtEl>
                                        <p:attrNameLst>
                                          <p:attrName>style.visibility</p:attrName>
                                        </p:attrNameLst>
                                      </p:cBhvr>
                                      <p:to>
                                        <p:strVal val="visible"/>
                                      </p:to>
                                    </p:set>
                                    <p:animEffect transition="in" filter="fade">
                                      <p:cBhvr>
                                        <p:cTn id="35" dur="400"/>
                                        <p:tgtEl>
                                          <p:spTgt spid="105"/>
                                        </p:tgtEl>
                                      </p:cBhvr>
                                    </p:animEffect>
                                  </p:childTnLst>
                                </p:cTn>
                              </p:par>
                              <p:par>
                                <p:cTn id="36" presetID="10" presetClass="entr" presetSubtype="0" fill="hold" nodeType="withEffect">
                                  <p:stCondLst>
                                    <p:cond delay="0"/>
                                  </p:stCondLst>
                                  <p:childTnLst>
                                    <p:set>
                                      <p:cBhvr>
                                        <p:cTn id="37" dur="1" fill="hold">
                                          <p:stCondLst>
                                            <p:cond delay="0"/>
                                          </p:stCondLst>
                                        </p:cTn>
                                        <p:tgtEl>
                                          <p:spTgt spid="106"/>
                                        </p:tgtEl>
                                        <p:attrNameLst>
                                          <p:attrName>style.visibility</p:attrName>
                                        </p:attrNameLst>
                                      </p:cBhvr>
                                      <p:to>
                                        <p:strVal val="visible"/>
                                      </p:to>
                                    </p:set>
                                    <p:animEffect transition="in" filter="fade">
                                      <p:cBhvr>
                                        <p:cTn id="38" dur="400"/>
                                        <p:tgtEl>
                                          <p:spTgt spid="106"/>
                                        </p:tgtEl>
                                      </p:cBhvr>
                                    </p:animEffect>
                                  </p:childTnLst>
                                </p:cTn>
                              </p:par>
                              <p:par>
                                <p:cTn id="39" presetID="10" presetClass="entr" presetSubtype="0" fill="hold" nodeType="withEffect">
                                  <p:stCondLst>
                                    <p:cond delay="0"/>
                                  </p:stCondLst>
                                  <p:childTnLst>
                                    <p:set>
                                      <p:cBhvr>
                                        <p:cTn id="40" dur="1" fill="hold">
                                          <p:stCondLst>
                                            <p:cond delay="0"/>
                                          </p:stCondLst>
                                        </p:cTn>
                                        <p:tgtEl>
                                          <p:spTgt spid="61">
                                            <p:txEl>
                                              <p:pRg st="1" end="1"/>
                                            </p:txEl>
                                          </p:spTgt>
                                        </p:tgtEl>
                                        <p:attrNameLst>
                                          <p:attrName>style.visibility</p:attrName>
                                        </p:attrNameLst>
                                      </p:cBhvr>
                                      <p:to>
                                        <p:strVal val="visible"/>
                                      </p:to>
                                    </p:set>
                                    <p:animEffect transition="in" filter="fade">
                                      <p:cBhvr>
                                        <p:cTn id="41" dur="400"/>
                                        <p:tgtEl>
                                          <p:spTgt spid="61">
                                            <p:txEl>
                                              <p:pRg st="1" end="1"/>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13"/>
                                        </p:tgtEl>
                                        <p:attrNameLst>
                                          <p:attrName>style.visibility</p:attrName>
                                        </p:attrNameLst>
                                      </p:cBhvr>
                                      <p:to>
                                        <p:strVal val="visible"/>
                                      </p:to>
                                    </p:set>
                                    <p:animEffect transition="in" filter="fade">
                                      <p:cBhvr>
                                        <p:cTn id="46" dur="400"/>
                                        <p:tgtEl>
                                          <p:spTgt spid="113"/>
                                        </p:tgtEl>
                                      </p:cBhvr>
                                    </p:animEffect>
                                  </p:childTnLst>
                                </p:cTn>
                              </p:par>
                              <p:par>
                                <p:cTn id="47" presetID="10" presetClass="entr" presetSubtype="0" fill="hold" nodeType="withEffect">
                                  <p:stCondLst>
                                    <p:cond delay="0"/>
                                  </p:stCondLst>
                                  <p:childTnLst>
                                    <p:set>
                                      <p:cBhvr>
                                        <p:cTn id="48" dur="1" fill="hold">
                                          <p:stCondLst>
                                            <p:cond delay="0"/>
                                          </p:stCondLst>
                                        </p:cTn>
                                        <p:tgtEl>
                                          <p:spTgt spid="61">
                                            <p:txEl>
                                              <p:pRg st="2" end="2"/>
                                            </p:txEl>
                                          </p:spTgt>
                                        </p:tgtEl>
                                        <p:attrNameLst>
                                          <p:attrName>style.visibility</p:attrName>
                                        </p:attrNameLst>
                                      </p:cBhvr>
                                      <p:to>
                                        <p:strVal val="visible"/>
                                      </p:to>
                                    </p:set>
                                    <p:animEffect transition="in" filter="fade">
                                      <p:cBhvr>
                                        <p:cTn id="49" dur="400"/>
                                        <p:tgtEl>
                                          <p:spTgt spid="61">
                                            <p:txEl>
                                              <p:pRg st="2" end="2"/>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07"/>
                                        </p:tgtEl>
                                        <p:attrNameLst>
                                          <p:attrName>style.visibility</p:attrName>
                                        </p:attrNameLst>
                                      </p:cBhvr>
                                      <p:to>
                                        <p:strVal val="visible"/>
                                      </p:to>
                                    </p:set>
                                    <p:animEffect transition="in" filter="fade">
                                      <p:cBhvr>
                                        <p:cTn id="54" dur="400"/>
                                        <p:tgtEl>
                                          <p:spTgt spid="107"/>
                                        </p:tgtEl>
                                      </p:cBhvr>
                                    </p:animEffect>
                                  </p:childTnLst>
                                </p:cTn>
                              </p:par>
                              <p:par>
                                <p:cTn id="55" presetID="10" presetClass="entr" presetSubtype="0" fill="hold" nodeType="withEffect">
                                  <p:stCondLst>
                                    <p:cond delay="0"/>
                                  </p:stCondLst>
                                  <p:childTnLst>
                                    <p:set>
                                      <p:cBhvr>
                                        <p:cTn id="56" dur="1" fill="hold">
                                          <p:stCondLst>
                                            <p:cond delay="0"/>
                                          </p:stCondLst>
                                        </p:cTn>
                                        <p:tgtEl>
                                          <p:spTgt spid="108"/>
                                        </p:tgtEl>
                                        <p:attrNameLst>
                                          <p:attrName>style.visibility</p:attrName>
                                        </p:attrNameLst>
                                      </p:cBhvr>
                                      <p:to>
                                        <p:strVal val="visible"/>
                                      </p:to>
                                    </p:set>
                                    <p:animEffect transition="in" filter="fade">
                                      <p:cBhvr>
                                        <p:cTn id="57" dur="400"/>
                                        <p:tgtEl>
                                          <p:spTgt spid="108"/>
                                        </p:tgtEl>
                                      </p:cBhvr>
                                    </p:animEffect>
                                  </p:childTnLst>
                                </p:cTn>
                              </p:par>
                              <p:par>
                                <p:cTn id="58" presetID="10" presetClass="entr" presetSubtype="0" fill="hold" nodeType="withEffect">
                                  <p:stCondLst>
                                    <p:cond delay="0"/>
                                  </p:stCondLst>
                                  <p:childTnLst>
                                    <p:set>
                                      <p:cBhvr>
                                        <p:cTn id="59" dur="1" fill="hold">
                                          <p:stCondLst>
                                            <p:cond delay="0"/>
                                          </p:stCondLst>
                                        </p:cTn>
                                        <p:tgtEl>
                                          <p:spTgt spid="61">
                                            <p:txEl>
                                              <p:pRg st="3" end="3"/>
                                            </p:txEl>
                                          </p:spTgt>
                                        </p:tgtEl>
                                        <p:attrNameLst>
                                          <p:attrName>style.visibility</p:attrName>
                                        </p:attrNameLst>
                                      </p:cBhvr>
                                      <p:to>
                                        <p:strVal val="visible"/>
                                      </p:to>
                                    </p:set>
                                    <p:animEffect transition="in" filter="fade">
                                      <p:cBhvr>
                                        <p:cTn id="60" dur="400"/>
                                        <p:tgtEl>
                                          <p:spTgt spid="61">
                                            <p:txEl>
                                              <p:pRg st="3" end="3"/>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09"/>
                                        </p:tgtEl>
                                        <p:attrNameLst>
                                          <p:attrName>style.visibility</p:attrName>
                                        </p:attrNameLst>
                                      </p:cBhvr>
                                      <p:to>
                                        <p:strVal val="visible"/>
                                      </p:to>
                                    </p:set>
                                    <p:animEffect transition="in" filter="fade">
                                      <p:cBhvr>
                                        <p:cTn id="65" dur="400"/>
                                        <p:tgtEl>
                                          <p:spTgt spid="109"/>
                                        </p:tgtEl>
                                      </p:cBhvr>
                                    </p:animEffect>
                                  </p:childTnLst>
                                </p:cTn>
                              </p:par>
                              <p:par>
                                <p:cTn id="66" presetID="10" presetClass="entr" presetSubtype="0" fill="hold" nodeType="withEffect">
                                  <p:stCondLst>
                                    <p:cond delay="0"/>
                                  </p:stCondLst>
                                  <p:childTnLst>
                                    <p:set>
                                      <p:cBhvr>
                                        <p:cTn id="67" dur="1" fill="hold">
                                          <p:stCondLst>
                                            <p:cond delay="0"/>
                                          </p:stCondLst>
                                        </p:cTn>
                                        <p:tgtEl>
                                          <p:spTgt spid="110"/>
                                        </p:tgtEl>
                                        <p:attrNameLst>
                                          <p:attrName>style.visibility</p:attrName>
                                        </p:attrNameLst>
                                      </p:cBhvr>
                                      <p:to>
                                        <p:strVal val="visible"/>
                                      </p:to>
                                    </p:set>
                                    <p:animEffect transition="in" filter="fade">
                                      <p:cBhvr>
                                        <p:cTn id="68" dur="400"/>
                                        <p:tgtEl>
                                          <p:spTgt spid="110"/>
                                        </p:tgtEl>
                                      </p:cBhvr>
                                    </p:animEffect>
                                  </p:childTnLst>
                                </p:cTn>
                              </p:par>
                              <p:par>
                                <p:cTn id="69" presetID="10" presetClass="entr" presetSubtype="0" fill="hold" nodeType="withEffect">
                                  <p:stCondLst>
                                    <p:cond delay="0"/>
                                  </p:stCondLst>
                                  <p:childTnLst>
                                    <p:set>
                                      <p:cBhvr>
                                        <p:cTn id="70" dur="1" fill="hold">
                                          <p:stCondLst>
                                            <p:cond delay="0"/>
                                          </p:stCondLst>
                                        </p:cTn>
                                        <p:tgtEl>
                                          <p:spTgt spid="61">
                                            <p:txEl>
                                              <p:pRg st="4" end="4"/>
                                            </p:txEl>
                                          </p:spTgt>
                                        </p:tgtEl>
                                        <p:attrNameLst>
                                          <p:attrName>style.visibility</p:attrName>
                                        </p:attrNameLst>
                                      </p:cBhvr>
                                      <p:to>
                                        <p:strVal val="visible"/>
                                      </p:to>
                                    </p:set>
                                    <p:animEffect transition="in" filter="fade">
                                      <p:cBhvr>
                                        <p:cTn id="71" dur="400"/>
                                        <p:tgtEl>
                                          <p:spTgt spid="61">
                                            <p:txEl>
                                              <p:pRg st="4" end="4"/>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11"/>
                                        </p:tgtEl>
                                        <p:attrNameLst>
                                          <p:attrName>style.visibility</p:attrName>
                                        </p:attrNameLst>
                                      </p:cBhvr>
                                      <p:to>
                                        <p:strVal val="visible"/>
                                      </p:to>
                                    </p:set>
                                    <p:animEffect transition="in" filter="fade">
                                      <p:cBhvr>
                                        <p:cTn id="76" dur="400"/>
                                        <p:tgtEl>
                                          <p:spTgt spid="111"/>
                                        </p:tgtEl>
                                      </p:cBhvr>
                                    </p:animEffect>
                                  </p:childTnLst>
                                </p:cTn>
                              </p:par>
                              <p:par>
                                <p:cTn id="77" presetID="10" presetClass="entr" presetSubtype="0" fill="hold" nodeType="withEffect">
                                  <p:stCondLst>
                                    <p:cond delay="0"/>
                                  </p:stCondLst>
                                  <p:childTnLst>
                                    <p:set>
                                      <p:cBhvr>
                                        <p:cTn id="78" dur="1" fill="hold">
                                          <p:stCondLst>
                                            <p:cond delay="0"/>
                                          </p:stCondLst>
                                        </p:cTn>
                                        <p:tgtEl>
                                          <p:spTgt spid="112"/>
                                        </p:tgtEl>
                                        <p:attrNameLst>
                                          <p:attrName>style.visibility</p:attrName>
                                        </p:attrNameLst>
                                      </p:cBhvr>
                                      <p:to>
                                        <p:strVal val="visible"/>
                                      </p:to>
                                    </p:set>
                                    <p:animEffect transition="in" filter="fade">
                                      <p:cBhvr>
                                        <p:cTn id="79" dur="400"/>
                                        <p:tgtEl>
                                          <p:spTgt spid="1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fade">
                                      <p:cBhvr>
                                        <p:cTn id="84"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Specification → Architecture →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29</a:t>
            </a:fld>
            <a:endParaRPr lang="en-US"/>
          </a:p>
        </p:txBody>
      </p:sp>
      <p:sp>
        <p:nvSpPr>
          <p:cNvPr id="2" name="Right Brace 1">
            <a:extLst>
              <a:ext uri="{FF2B5EF4-FFF2-40B4-BE49-F238E27FC236}">
                <a16:creationId xmlns:a16="http://schemas.microsoft.com/office/drawing/2014/main" id="{6FC471C8-BA11-64E0-E312-9EF0CB33BB27}"/>
              </a:ext>
            </a:extLst>
          </p:cNvPr>
          <p:cNvSpPr/>
          <p:nvPr/>
        </p:nvSpPr>
        <p:spPr>
          <a:xfrm>
            <a:off x="5680000" y="2040000"/>
            <a:ext cx="300000" cy="4300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16ED68F9-9FC5-8DCB-B698-72DAEEC94731}"/>
              </a:ext>
            </a:extLst>
          </p:cNvPr>
          <p:cNvSpPr txBox="1"/>
          <p:nvPr/>
        </p:nvSpPr>
        <p:spPr>
          <a:xfrm>
            <a:off x="6050000" y="1870000"/>
            <a:ext cx="3020000" cy="900000"/>
          </a:xfrm>
          <a:prstGeom prst="rect">
            <a:avLst/>
          </a:prstGeom>
          <a:noFill/>
        </p:spPr>
        <p:txBody>
          <a:bodyPr wrap="square" rtlCol="0" anchor="ctr">
            <a:normAutofit fontScale="92500" lnSpcReduction="10000"/>
          </a:bodyPr>
          <a:lstStyle/>
          <a:p>
            <a:pPr algn="l">
              <a:buNone/>
            </a:pPr>
            <a:r>
              <a:rPr lang="en-US" sz="2000" b="1" dirty="0">
                <a:solidFill>
                  <a:srgbClr val="8E6F3E"/>
                </a:solidFill>
              </a:rPr>
              <a:t>Specification</a:t>
            </a:r>
            <a:r>
              <a:rPr lang="en-US" sz="2000" dirty="0">
                <a:solidFill>
                  <a:srgbClr val="000000"/>
                </a:solidFill>
              </a:rPr>
              <a:t> — constrain what an acceptable system may do.</a:t>
            </a:r>
          </a:p>
        </p:txBody>
      </p:sp>
      <p:sp>
        <p:nvSpPr>
          <p:cNvPr id="300" name="ArchDefLbl"/>
          <p:cNvSpPr txBox="1"/>
          <p:nvPr/>
        </p:nvSpPr>
        <p:spPr>
          <a:xfrm>
            <a:off x="6050000" y="3660000"/>
            <a:ext cx="3020000" cy="110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Architecture</a:t>
            </a:r>
            <a:r>
              <a:rPr lang="en-US" sz="2000" dirty="0">
                <a:solidFill>
                  <a:srgbClr val="000000"/>
                </a:solidFill>
              </a:rPr>
              <a:t> — choose how the acceptable system is organized and how its parts may interact.</a:t>
            </a:r>
          </a:p>
        </p:txBody>
      </p:sp>
      <p:sp>
        <p:nvSpPr>
          <p:cNvPr id="301" name="DesignDefLbl"/>
          <p:cNvSpPr txBox="1"/>
          <p:nvPr/>
        </p:nvSpPr>
        <p:spPr>
          <a:xfrm>
            <a:off x="6050000" y="5480000"/>
            <a:ext cx="3020000" cy="82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Design</a:t>
            </a:r>
            <a:r>
              <a:rPr lang="en-US" sz="2000" dirty="0">
                <a:solidFill>
                  <a:srgbClr val="000000"/>
                </a:solidFill>
              </a:rPr>
              <a:t> — choose how each part realizes its responsibility.</a:t>
            </a:r>
          </a:p>
        </p:txBody>
      </p:sp>
      <p:sp>
        <p:nvSpPr>
          <p:cNvPr id="90" name="T90"/>
          <p:cNvSpPr txBox="1"/>
          <p:nvPr/>
        </p:nvSpPr>
        <p:spPr>
          <a:xfrm>
            <a:off x="279400" y="6400800"/>
            <a:ext cx="8585200" cy="355600"/>
          </a:xfrm>
          <a:prstGeom prst="rect">
            <a:avLst/>
          </a:prstGeom>
          <a:noFill/>
          <a:ln>
            <a:noFill/>
          </a:ln>
        </p:spPr>
        <p:txBody>
          <a:bodyPr wrap="square" lIns="0" tIns="0" rIns="0" bIns="0" anchor="t">
            <a:normAutofit/>
          </a:bodyPr>
          <a:lstStyle/>
          <a:p>
            <a:pPr algn="ctr">
              <a:buNone/>
            </a:pPr>
            <a:r>
              <a:rPr lang="en-US" sz="2000" b="0" i="1" dirty="0">
                <a:solidFill>
                  <a:srgbClr val="5C4826"/>
                </a:solidFill>
              </a:rPr>
              <a:t>Next time: given one of these parts, how should we engineer it well?</a:t>
            </a:r>
          </a:p>
        </p:txBody>
      </p:sp>
      <p:sp>
        <p:nvSpPr>
          <p:cNvPr id="100" name="Req"/>
          <p:cNvSpPr/>
          <p:nvPr/>
        </p:nvSpPr>
        <p:spPr>
          <a:xfrm>
            <a:off x="1685000" y="1340000"/>
            <a:ext cx="2530000" cy="5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REQUIREMENTS</a:t>
            </a:r>
          </a:p>
        </p:txBody>
      </p:sp>
      <p:cxnSp>
        <p:nvCxnSpPr>
          <p:cNvPr id="101" name="Arr1"/>
          <p:cNvCxnSpPr/>
          <p:nvPr/>
        </p:nvCxnSpPr>
        <p:spPr>
          <a:xfrm>
            <a:off x="2950000" y="1860000"/>
            <a:ext cx="0" cy="180000"/>
          </a:xfrm>
          <a:prstGeom prst="line">
            <a:avLst/>
          </a:prstGeom>
          <a:ln w="42862">
            <a:solidFill>
              <a:srgbClr val="8E6F3E"/>
            </a:solidFill>
            <a:tailEnd type="triangle" w="med" len="med"/>
          </a:ln>
        </p:spPr>
      </p:cxnSp>
      <p:sp>
        <p:nvSpPr>
          <p:cNvPr id="102" name="Spec"/>
          <p:cNvSpPr/>
          <p:nvPr/>
        </p:nvSpPr>
        <p:spPr>
          <a:xfrm>
            <a:off x="1685000" y="204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SPECIFICATION</a:t>
            </a:r>
          </a:p>
        </p:txBody>
      </p:sp>
      <p:cxnSp>
        <p:nvCxnSpPr>
          <p:cNvPr id="103" name="Arr2"/>
          <p:cNvCxnSpPr/>
          <p:nvPr/>
        </p:nvCxnSpPr>
        <p:spPr>
          <a:xfrm>
            <a:off x="2950000" y="2600000"/>
            <a:ext cx="0" cy="180000"/>
          </a:xfrm>
          <a:prstGeom prst="line">
            <a:avLst/>
          </a:prstGeom>
          <a:ln w="42862">
            <a:solidFill>
              <a:srgbClr val="8E6F3E"/>
            </a:solidFill>
            <a:tailEnd type="triangle" w="med" len="med"/>
          </a:ln>
        </p:spPr>
      </p:cxnSp>
      <p:sp>
        <p:nvSpPr>
          <p:cNvPr id="104" name="Cont1"/>
          <p:cNvSpPr/>
          <p:nvPr/>
        </p:nvSpPr>
        <p:spPr>
          <a:xfrm>
            <a:off x="255000" y="278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ACCEPTABLE REALIZATIONS</a:t>
            </a:r>
          </a:p>
        </p:txBody>
      </p:sp>
      <p:sp>
        <p:nvSpPr>
          <p:cNvPr id="105" name="RealA"/>
          <p:cNvSpPr/>
          <p:nvPr/>
        </p:nvSpPr>
        <p:spPr>
          <a:xfrm>
            <a:off x="53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A</a:t>
            </a:r>
          </a:p>
        </p:txBody>
      </p:sp>
      <p:sp>
        <p:nvSpPr>
          <p:cNvPr id="106" name="RealB"/>
          <p:cNvSpPr/>
          <p:nvPr/>
        </p:nvSpPr>
        <p:spPr>
          <a:xfrm>
            <a:off x="229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B</a:t>
            </a:r>
          </a:p>
        </p:txBody>
      </p:sp>
      <p:sp>
        <p:nvSpPr>
          <p:cNvPr id="107" name="RealC"/>
          <p:cNvSpPr/>
          <p:nvPr/>
        </p:nvSpPr>
        <p:spPr>
          <a:xfrm>
            <a:off x="405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C</a:t>
            </a:r>
          </a:p>
        </p:txBody>
      </p:sp>
      <p:cxnSp>
        <p:nvCxnSpPr>
          <p:cNvPr id="108" name="Arr3"/>
          <p:cNvCxnSpPr/>
          <p:nvPr/>
        </p:nvCxnSpPr>
        <p:spPr>
          <a:xfrm>
            <a:off x="2950000" y="3730000"/>
            <a:ext cx="0" cy="180000"/>
          </a:xfrm>
          <a:prstGeom prst="line">
            <a:avLst/>
          </a:prstGeom>
          <a:ln w="42862">
            <a:solidFill>
              <a:srgbClr val="8E6F3E"/>
            </a:solidFill>
            <a:tailEnd type="triangle" w="med" len="med"/>
          </a:ln>
        </p:spPr>
      </p:cxnSp>
      <p:sp>
        <p:nvSpPr>
          <p:cNvPr id="109" name="ChooseLbl"/>
          <p:cNvSpPr txBox="1"/>
          <p:nvPr/>
        </p:nvSpPr>
        <p:spPr>
          <a:xfrm>
            <a:off x="4290000" y="3735000"/>
            <a:ext cx="1700000" cy="300000"/>
          </a:xfrm>
          <a:prstGeom prst="rect">
            <a:avLst/>
          </a:prstGeom>
          <a:noFill/>
          <a:ln>
            <a:noFill/>
          </a:ln>
        </p:spPr>
        <p:txBody>
          <a:bodyPr wrap="square" lIns="0" tIns="0" rIns="0" bIns="0" anchor="t">
            <a:normAutofit/>
          </a:bodyPr>
          <a:lstStyle/>
          <a:p>
            <a:pPr algn="l">
              <a:buNone/>
            </a:pPr>
            <a:r>
              <a:rPr lang="en-US" sz="1600" b="0" i="1" dirty="0">
                <a:solidFill>
                  <a:srgbClr val="555960"/>
                </a:solidFill>
              </a:rPr>
              <a:t>choose one</a:t>
            </a:r>
          </a:p>
        </p:txBody>
      </p:sp>
      <p:sp>
        <p:nvSpPr>
          <p:cNvPr id="110" name="Arch"/>
          <p:cNvSpPr/>
          <p:nvPr/>
        </p:nvSpPr>
        <p:spPr>
          <a:xfrm>
            <a:off x="1685000" y="3910000"/>
            <a:ext cx="2530000" cy="560000"/>
          </a:xfrm>
          <a:prstGeom prst="rect">
            <a:avLst/>
          </a:prstGeom>
          <a:solidFill>
            <a:srgbClr val="FFFFFF"/>
          </a:solidFill>
          <a:ln w="19050">
            <a:solidFill>
              <a:srgbClr val="8E6F3E"/>
            </a:solidFill>
          </a:ln>
        </p:spPr>
        <p:txBody>
          <a:bodyPr wrap="square" lIns="54864" tIns="27432" rIns="54864" bIns="27432" anchor="ctr">
            <a:normAutofit/>
          </a:bodyPr>
          <a:lstStyle/>
          <a:p>
            <a:pPr algn="ctr">
              <a:buNone/>
            </a:pPr>
            <a:r>
              <a:rPr lang="en-US" sz="2400" b="1" i="0" dirty="0">
                <a:solidFill>
                  <a:srgbClr val="5C4826"/>
                </a:solidFill>
              </a:rPr>
              <a:t>ARCHITECTURE</a:t>
            </a:r>
          </a:p>
        </p:txBody>
      </p:sp>
      <p:cxnSp>
        <p:nvCxnSpPr>
          <p:cNvPr id="111" name="Arr4"/>
          <p:cNvCxnSpPr/>
          <p:nvPr/>
        </p:nvCxnSpPr>
        <p:spPr>
          <a:xfrm>
            <a:off x="2950000" y="4470000"/>
            <a:ext cx="0" cy="180000"/>
          </a:xfrm>
          <a:prstGeom prst="line">
            <a:avLst/>
          </a:prstGeom>
          <a:ln w="42862">
            <a:solidFill>
              <a:srgbClr val="8E6F3E"/>
            </a:solidFill>
            <a:tailEnd type="triangle" w="med" len="med"/>
          </a:ln>
        </p:spPr>
      </p:cxnSp>
      <p:sp>
        <p:nvSpPr>
          <p:cNvPr id="112" name="Cont2"/>
          <p:cNvSpPr/>
          <p:nvPr/>
        </p:nvSpPr>
        <p:spPr>
          <a:xfrm>
            <a:off x="255000" y="465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PARTS OF THE CHOSEN SYSTEM</a:t>
            </a:r>
          </a:p>
        </p:txBody>
      </p:sp>
      <p:sp>
        <p:nvSpPr>
          <p:cNvPr id="113" name="Part0"/>
          <p:cNvSpPr/>
          <p:nvPr/>
        </p:nvSpPr>
        <p:spPr>
          <a:xfrm>
            <a:off x="486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A</a:t>
            </a:r>
          </a:p>
        </p:txBody>
      </p:sp>
      <p:sp>
        <p:nvSpPr>
          <p:cNvPr id="114" name="Part1"/>
          <p:cNvSpPr/>
          <p:nvPr/>
        </p:nvSpPr>
        <p:spPr>
          <a:xfrm>
            <a:off x="1784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B</a:t>
            </a:r>
          </a:p>
        </p:txBody>
      </p:sp>
      <p:sp>
        <p:nvSpPr>
          <p:cNvPr id="115" name="Part2"/>
          <p:cNvSpPr/>
          <p:nvPr/>
        </p:nvSpPr>
        <p:spPr>
          <a:xfrm>
            <a:off x="3082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C</a:t>
            </a:r>
          </a:p>
        </p:txBody>
      </p:sp>
      <p:sp>
        <p:nvSpPr>
          <p:cNvPr id="116" name="Part3"/>
          <p:cNvSpPr/>
          <p:nvPr/>
        </p:nvSpPr>
        <p:spPr>
          <a:xfrm>
            <a:off x="4380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D</a:t>
            </a:r>
          </a:p>
        </p:txBody>
      </p:sp>
      <p:cxnSp>
        <p:nvCxnSpPr>
          <p:cNvPr id="117" name="Arr5"/>
          <p:cNvCxnSpPr/>
          <p:nvPr/>
        </p:nvCxnSpPr>
        <p:spPr>
          <a:xfrm>
            <a:off x="2950000" y="5600000"/>
            <a:ext cx="0" cy="180000"/>
          </a:xfrm>
          <a:prstGeom prst="line">
            <a:avLst/>
          </a:prstGeom>
          <a:ln w="42862">
            <a:solidFill>
              <a:srgbClr val="8E6F3E"/>
            </a:solidFill>
            <a:tailEnd type="triangle" w="med" len="med"/>
          </a:ln>
        </p:spPr>
      </p:cxnSp>
      <p:sp>
        <p:nvSpPr>
          <p:cNvPr id="118" name="Design"/>
          <p:cNvSpPr/>
          <p:nvPr/>
        </p:nvSpPr>
        <p:spPr>
          <a:xfrm>
            <a:off x="1685000" y="578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DESIGN</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1"/>
                                        </p:tgtEl>
                                        <p:attrNameLst>
                                          <p:attrName>style.visibility</p:attrName>
                                        </p:attrNameLst>
                                      </p:cBhvr>
                                      <p:to>
                                        <p:strVal val="visible"/>
                                      </p:to>
                                    </p:set>
                                    <p:animEffect transition="in" filter="fade">
                                      <p:cBhvr>
                                        <p:cTn id="12" dur="400"/>
                                        <p:tgtEl>
                                          <p:spTgt spid="101"/>
                                        </p:tgtEl>
                                      </p:cBhvr>
                                    </p:animEffect>
                                  </p:childTnLst>
                                </p:cTn>
                              </p:par>
                              <p:par>
                                <p:cTn id="13" presetID="10" presetClass="entr" presetSubtype="0" fill="hold"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4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400"/>
                                        <p:tgtEl>
                                          <p:spTgt spid="103"/>
                                        </p:tgtEl>
                                      </p:cBhvr>
                                    </p:animEffect>
                                  </p:childTnLst>
                                </p:cTn>
                              </p:par>
                              <p:par>
                                <p:cTn id="21" presetID="10" presetClass="entr" presetSubtype="0" fill="hold" nodeType="withEffect">
                                  <p:stCondLst>
                                    <p:cond delay="0"/>
                                  </p:stCondLst>
                                  <p:childTnLst>
                                    <p:set>
                                      <p:cBhvr>
                                        <p:cTn id="22" dur="1" fill="hold">
                                          <p:stCondLst>
                                            <p:cond delay="0"/>
                                          </p:stCondLst>
                                        </p:cTn>
                                        <p:tgtEl>
                                          <p:spTgt spid="104"/>
                                        </p:tgtEl>
                                        <p:attrNameLst>
                                          <p:attrName>style.visibility</p:attrName>
                                        </p:attrNameLst>
                                      </p:cBhvr>
                                      <p:to>
                                        <p:strVal val="visible"/>
                                      </p:to>
                                    </p:set>
                                    <p:animEffect transition="in" filter="fade">
                                      <p:cBhvr>
                                        <p:cTn id="23" dur="400"/>
                                        <p:tgtEl>
                                          <p:spTgt spid="104"/>
                                        </p:tgtEl>
                                      </p:cBhvr>
                                    </p:animEffect>
                                  </p:childTnLst>
                                </p:cTn>
                              </p:par>
                              <p:par>
                                <p:cTn id="24" presetID="10" presetClass="entr" presetSubtype="0" fill="hold" nodeType="withEffect">
                                  <p:stCondLst>
                                    <p:cond delay="0"/>
                                  </p:stCondLst>
                                  <p:childTnLst>
                                    <p:set>
                                      <p:cBhvr>
                                        <p:cTn id="25" dur="1" fill="hold">
                                          <p:stCondLst>
                                            <p:cond delay="0"/>
                                          </p:stCondLst>
                                        </p:cTn>
                                        <p:tgtEl>
                                          <p:spTgt spid="105"/>
                                        </p:tgtEl>
                                        <p:attrNameLst>
                                          <p:attrName>style.visibility</p:attrName>
                                        </p:attrNameLst>
                                      </p:cBhvr>
                                      <p:to>
                                        <p:strVal val="visible"/>
                                      </p:to>
                                    </p:set>
                                    <p:animEffect transition="in" filter="fade">
                                      <p:cBhvr>
                                        <p:cTn id="26" dur="400"/>
                                        <p:tgtEl>
                                          <p:spTgt spid="105"/>
                                        </p:tgtEl>
                                      </p:cBhvr>
                                    </p:animEffect>
                                  </p:childTnLst>
                                </p:cTn>
                              </p:par>
                              <p:par>
                                <p:cTn id="27" presetID="10" presetClass="entr" presetSubtype="0" fill="hold" nodeType="withEffect">
                                  <p:stCondLst>
                                    <p:cond delay="0"/>
                                  </p:stCondLst>
                                  <p:childTnLst>
                                    <p:set>
                                      <p:cBhvr>
                                        <p:cTn id="28" dur="1" fill="hold">
                                          <p:stCondLst>
                                            <p:cond delay="0"/>
                                          </p:stCondLst>
                                        </p:cTn>
                                        <p:tgtEl>
                                          <p:spTgt spid="106"/>
                                        </p:tgtEl>
                                        <p:attrNameLst>
                                          <p:attrName>style.visibility</p:attrName>
                                        </p:attrNameLst>
                                      </p:cBhvr>
                                      <p:to>
                                        <p:strVal val="visible"/>
                                      </p:to>
                                    </p:set>
                                    <p:animEffect transition="in" filter="fade">
                                      <p:cBhvr>
                                        <p:cTn id="29" dur="400"/>
                                        <p:tgtEl>
                                          <p:spTgt spid="106"/>
                                        </p:tgtEl>
                                      </p:cBhvr>
                                    </p:animEffect>
                                  </p:childTnLst>
                                </p:cTn>
                              </p:par>
                              <p:par>
                                <p:cTn id="30"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8"/>
                                        </p:tgtEl>
                                        <p:attrNameLst>
                                          <p:attrName>style.visibility</p:attrName>
                                        </p:attrNameLst>
                                      </p:cBhvr>
                                      <p:to>
                                        <p:strVal val="visible"/>
                                      </p:to>
                                    </p:set>
                                    <p:animEffect transition="in" filter="fade">
                                      <p:cBhvr>
                                        <p:cTn id="37" dur="400"/>
                                        <p:tgtEl>
                                          <p:spTgt spid="108"/>
                                        </p:tgtEl>
                                      </p:cBhvr>
                                    </p:animEffect>
                                  </p:childTnLst>
                                </p:cTn>
                              </p:par>
                              <p:par>
                                <p:cTn id="38" presetID="10" presetClass="entr" presetSubtype="0" fill="hold" nodeType="withEffect">
                                  <p:stCondLst>
                                    <p:cond delay="0"/>
                                  </p:stCondLst>
                                  <p:childTnLst>
                                    <p:set>
                                      <p:cBhvr>
                                        <p:cTn id="39" dur="1" fill="hold">
                                          <p:stCondLst>
                                            <p:cond delay="0"/>
                                          </p:stCondLst>
                                        </p:cTn>
                                        <p:tgtEl>
                                          <p:spTgt spid="109"/>
                                        </p:tgtEl>
                                        <p:attrNameLst>
                                          <p:attrName>style.visibility</p:attrName>
                                        </p:attrNameLst>
                                      </p:cBhvr>
                                      <p:to>
                                        <p:strVal val="visible"/>
                                      </p:to>
                                    </p:set>
                                    <p:animEffect transition="in" filter="fade">
                                      <p:cBhvr>
                                        <p:cTn id="40" dur="400"/>
                                        <p:tgtEl>
                                          <p:spTgt spid="109"/>
                                        </p:tgtEl>
                                      </p:cBhvr>
                                    </p:animEffect>
                                  </p:childTnLst>
                                </p:cTn>
                              </p:par>
                              <p:par>
                                <p:cTn id="41" presetID="10" presetClass="entr" presetSubtype="0" fill="hold" nodeType="with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11"/>
                                        </p:tgtEl>
                                        <p:attrNameLst>
                                          <p:attrName>style.visibility</p:attrName>
                                        </p:attrNameLst>
                                      </p:cBhvr>
                                      <p:to>
                                        <p:strVal val="visible"/>
                                      </p:to>
                                    </p:set>
                                    <p:animEffect transition="in" filter="fade">
                                      <p:cBhvr>
                                        <p:cTn id="48" dur="400"/>
                                        <p:tgtEl>
                                          <p:spTgt spid="111"/>
                                        </p:tgtEl>
                                      </p:cBhvr>
                                    </p:animEffect>
                                  </p:childTnLst>
                                </p:cTn>
                              </p:par>
                              <p:par>
                                <p:cTn id="49" presetID="10" presetClass="entr" presetSubtype="0" fill="hold" nodeType="withEffect">
                                  <p:stCondLst>
                                    <p:cond delay="0"/>
                                  </p:stCondLst>
                                  <p:childTnLst>
                                    <p:set>
                                      <p:cBhvr>
                                        <p:cTn id="50" dur="1" fill="hold">
                                          <p:stCondLst>
                                            <p:cond delay="0"/>
                                          </p:stCondLst>
                                        </p:cTn>
                                        <p:tgtEl>
                                          <p:spTgt spid="112"/>
                                        </p:tgtEl>
                                        <p:attrNameLst>
                                          <p:attrName>style.visibility</p:attrName>
                                        </p:attrNameLst>
                                      </p:cBhvr>
                                      <p:to>
                                        <p:strVal val="visible"/>
                                      </p:to>
                                    </p:set>
                                    <p:animEffect transition="in" filter="fade">
                                      <p:cBhvr>
                                        <p:cTn id="51" dur="400"/>
                                        <p:tgtEl>
                                          <p:spTgt spid="112"/>
                                        </p:tgtEl>
                                      </p:cBhvr>
                                    </p:animEffect>
                                  </p:childTnLst>
                                </p:cTn>
                              </p:par>
                              <p:par>
                                <p:cTn id="52" presetID="10" presetClass="entr" presetSubtype="0" fill="hold" nodeType="withEffect">
                                  <p:stCondLst>
                                    <p:cond delay="0"/>
                                  </p:stCondLst>
                                  <p:childTnLst>
                                    <p:set>
                                      <p:cBhvr>
                                        <p:cTn id="53" dur="1" fill="hold">
                                          <p:stCondLst>
                                            <p:cond delay="0"/>
                                          </p:stCondLst>
                                        </p:cTn>
                                        <p:tgtEl>
                                          <p:spTgt spid="113"/>
                                        </p:tgtEl>
                                        <p:attrNameLst>
                                          <p:attrName>style.visibility</p:attrName>
                                        </p:attrNameLst>
                                      </p:cBhvr>
                                      <p:to>
                                        <p:strVal val="visible"/>
                                      </p:to>
                                    </p:set>
                                    <p:animEffect transition="in" filter="fade">
                                      <p:cBhvr>
                                        <p:cTn id="54" dur="400"/>
                                        <p:tgtEl>
                                          <p:spTgt spid="113"/>
                                        </p:tgtEl>
                                      </p:cBhvr>
                                    </p:animEffect>
                                  </p:childTnLst>
                                </p:cTn>
                              </p:par>
                              <p:par>
                                <p:cTn id="55" presetID="10" presetClass="entr" presetSubtype="0" fill="hold" nodeType="withEffect">
                                  <p:stCondLst>
                                    <p:cond delay="0"/>
                                  </p:stCondLst>
                                  <p:childTnLst>
                                    <p:set>
                                      <p:cBhvr>
                                        <p:cTn id="56" dur="1" fill="hold">
                                          <p:stCondLst>
                                            <p:cond delay="0"/>
                                          </p:stCondLst>
                                        </p:cTn>
                                        <p:tgtEl>
                                          <p:spTgt spid="114"/>
                                        </p:tgtEl>
                                        <p:attrNameLst>
                                          <p:attrName>style.visibility</p:attrName>
                                        </p:attrNameLst>
                                      </p:cBhvr>
                                      <p:to>
                                        <p:strVal val="visible"/>
                                      </p:to>
                                    </p:set>
                                    <p:animEffect transition="in" filter="fade">
                                      <p:cBhvr>
                                        <p:cTn id="57" dur="400"/>
                                        <p:tgtEl>
                                          <p:spTgt spid="114"/>
                                        </p:tgtEl>
                                      </p:cBhvr>
                                    </p:animEffect>
                                  </p:childTnLst>
                                </p:cTn>
                              </p:par>
                              <p:par>
                                <p:cTn id="58" presetID="10" presetClass="entr" presetSubtype="0" fill="hold" nodeType="withEffect">
                                  <p:stCondLst>
                                    <p:cond delay="0"/>
                                  </p:stCondLst>
                                  <p:childTnLst>
                                    <p:set>
                                      <p:cBhvr>
                                        <p:cTn id="59" dur="1" fill="hold">
                                          <p:stCondLst>
                                            <p:cond delay="0"/>
                                          </p:stCondLst>
                                        </p:cTn>
                                        <p:tgtEl>
                                          <p:spTgt spid="115"/>
                                        </p:tgtEl>
                                        <p:attrNameLst>
                                          <p:attrName>style.visibility</p:attrName>
                                        </p:attrNameLst>
                                      </p:cBhvr>
                                      <p:to>
                                        <p:strVal val="visible"/>
                                      </p:to>
                                    </p:set>
                                    <p:animEffect transition="in" filter="fade">
                                      <p:cBhvr>
                                        <p:cTn id="60" dur="400"/>
                                        <p:tgtEl>
                                          <p:spTgt spid="115"/>
                                        </p:tgtEl>
                                      </p:cBhvr>
                                    </p:animEffect>
                                  </p:childTnLst>
                                </p:cTn>
                              </p:par>
                              <p:par>
                                <p:cTn id="61" presetID="10"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animEffect transition="in" filter="fade">
                                      <p:cBhvr>
                                        <p:cTn id="63" dur="400"/>
                                        <p:tgtEl>
                                          <p:spTgt spid="116"/>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17"/>
                                        </p:tgtEl>
                                        <p:attrNameLst>
                                          <p:attrName>style.visibility</p:attrName>
                                        </p:attrNameLst>
                                      </p:cBhvr>
                                      <p:to>
                                        <p:strVal val="visible"/>
                                      </p:to>
                                    </p:set>
                                    <p:animEffect transition="in" filter="fade">
                                      <p:cBhvr>
                                        <p:cTn id="68" dur="400"/>
                                        <p:tgtEl>
                                          <p:spTgt spid="117"/>
                                        </p:tgtEl>
                                      </p:cBhvr>
                                    </p:animEffect>
                                  </p:childTnLst>
                                </p:cTn>
                              </p:par>
                              <p:par>
                                <p:cTn id="69" presetID="10" presetClass="entr" presetSubtype="0" fill="hold" nodeType="withEffect">
                                  <p:stCondLst>
                                    <p:cond delay="0"/>
                                  </p:stCondLst>
                                  <p:childTnLst>
                                    <p:set>
                                      <p:cBhvr>
                                        <p:cTn id="70" dur="1" fill="hold">
                                          <p:stCondLst>
                                            <p:cond delay="0"/>
                                          </p:stCondLst>
                                        </p:cTn>
                                        <p:tgtEl>
                                          <p:spTgt spid="118"/>
                                        </p:tgtEl>
                                        <p:attrNameLst>
                                          <p:attrName>style.visibility</p:attrName>
                                        </p:attrNameLst>
                                      </p:cBhvr>
                                      <p:to>
                                        <p:strVal val="visible"/>
                                      </p:to>
                                    </p:set>
                                    <p:animEffect transition="in" filter="fade">
                                      <p:cBhvr>
                                        <p:cTn id="71" dur="400"/>
                                        <p:tgtEl>
                                          <p:spTgt spid="118"/>
                                        </p:tgtEl>
                                      </p:cBhvr>
                                    </p:animEffect>
                                  </p:childTnLst>
                                </p:cTn>
                              </p:par>
                              <p:par>
                                <p:cTn id="72" presetID="10" presetClass="entr" presetSubtype="0" fill="hold" nodeType="withEffect">
                                  <p:stCondLst>
                                    <p:cond delay="0"/>
                                  </p:stCondLst>
                                  <p:childTnLst>
                                    <p:set>
                                      <p:cBhvr>
                                        <p:cTn id="73" dur="1" fill="hold">
                                          <p:stCondLst>
                                            <p:cond delay="0"/>
                                          </p:stCondLst>
                                        </p:cTn>
                                        <p:tgtEl>
                                          <p:spTgt spid="90"/>
                                        </p:tgtEl>
                                        <p:attrNameLst>
                                          <p:attrName>style.visibility</p:attrName>
                                        </p:attrNameLst>
                                      </p:cBhvr>
                                      <p:to>
                                        <p:strVal val="visible"/>
                                      </p:to>
                                    </p:set>
                                    <p:animEffect transition="in" filter="fade">
                                      <p:cBhvr>
                                        <p:cTn id="74" dur="400"/>
                                        <p:tgtEl>
                                          <p:spTgt spid="90"/>
                                        </p:tgtEl>
                                      </p:cBhvr>
                                    </p:animEffect>
                                  </p:childTnLst>
                                </p:cTn>
                              </p:par>
                              <p:par>
                                <p:cTn id="75" presetID="10" presetClass="entr" presetSubtype="0" fill="hold" nodeType="withEffect">
                                  <p:stCondLst>
                                    <p:cond delay="0"/>
                                  </p:stCondLst>
                                  <p:childTnLst>
                                    <p:set>
                                      <p:cBhvr>
                                        <p:cTn id="76" dur="1" fill="hold">
                                          <p:stCondLst>
                                            <p:cond delay="0"/>
                                          </p:stCondLst>
                                        </p:cTn>
                                        <p:tgtEl>
                                          <p:spTgt spid="2"/>
                                        </p:tgtEl>
                                        <p:attrNameLst>
                                          <p:attrName>style.visibility</p:attrName>
                                        </p:attrNameLst>
                                      </p:cBhvr>
                                      <p:to>
                                        <p:strVal val="visible"/>
                                      </p:to>
                                    </p:set>
                                    <p:animEffect transition="in" filter="fade">
                                      <p:cBhvr>
                                        <p:cTn id="77" dur="400"/>
                                        <p:tgtEl>
                                          <p:spTgt spid="2"/>
                                        </p:tgtEl>
                                      </p:cBhvr>
                                    </p:animEffect>
                                  </p:childTnLst>
                                </p:cTn>
                              </p:par>
                              <p:par>
                                <p:cTn id="78" presetID="10" presetClass="entr" presetSubtype="0" fill="hold" nodeType="withEffect">
                                  <p:stCondLst>
                                    <p:cond delay="0"/>
                                  </p:stCondLst>
                                  <p:childTnLst>
                                    <p:set>
                                      <p:cBhvr>
                                        <p:cTn id="79" dur="1" fill="hold">
                                          <p:stCondLst>
                                            <p:cond delay="0"/>
                                          </p:stCondLst>
                                        </p:cTn>
                                        <p:tgtEl>
                                          <p:spTgt spid="5"/>
                                        </p:tgtEl>
                                        <p:attrNameLst>
                                          <p:attrName>style.visibility</p:attrName>
                                        </p:attrNameLst>
                                      </p:cBhvr>
                                      <p:to>
                                        <p:strVal val="visible"/>
                                      </p:to>
                                    </p:set>
                                    <p:animEffect transition="in" filter="fade">
                                      <p:cBhvr>
                                        <p:cTn id="80" dur="400"/>
                                        <p:tgtEl>
                                          <p:spTgt spid="5"/>
                                        </p:tgtEl>
                                      </p:cBhvr>
                                    </p:animEffect>
                                  </p:childTnLst>
                                </p:cTn>
                              </p:par>
                              <p:par>
                                <p:cTn id="81" presetID="10" presetClass="entr" presetSubtype="0" fill="hold" nodeType="withEffect">
                                  <p:stCondLst>
                                    <p:cond delay="0"/>
                                  </p:stCondLst>
                                  <p:childTnLst>
                                    <p:set>
                                      <p:cBhvr>
                                        <p:cTn id="82" dur="1" fill="hold">
                                          <p:stCondLst>
                                            <p:cond delay="0"/>
                                          </p:stCondLst>
                                        </p:cTn>
                                        <p:tgtEl>
                                          <p:spTgt spid="300"/>
                                        </p:tgtEl>
                                        <p:attrNameLst>
                                          <p:attrName>style.visibility</p:attrName>
                                        </p:attrNameLst>
                                      </p:cBhvr>
                                      <p:to>
                                        <p:strVal val="visible"/>
                                      </p:to>
                                    </p:set>
                                    <p:animEffect transition="in" filter="fade">
                                      <p:cBhvr>
                                        <p:cTn id="83" dur="400"/>
                                        <p:tgtEl>
                                          <p:spTgt spid="300"/>
                                        </p:tgtEl>
                                      </p:cBhvr>
                                    </p:animEffect>
                                  </p:childTnLst>
                                </p:cTn>
                              </p:par>
                              <p:par>
                                <p:cTn id="84" presetID="10" presetClass="entr" presetSubtype="0" fill="hold" nodeType="withEffect">
                                  <p:stCondLst>
                                    <p:cond delay="0"/>
                                  </p:stCondLst>
                                  <p:childTnLst>
                                    <p:set>
                                      <p:cBhvr>
                                        <p:cTn id="85" dur="1" fill="hold">
                                          <p:stCondLst>
                                            <p:cond delay="0"/>
                                          </p:stCondLst>
                                        </p:cTn>
                                        <p:tgtEl>
                                          <p:spTgt spid="301"/>
                                        </p:tgtEl>
                                        <p:attrNameLst>
                                          <p:attrName>style.visibility</p:attrName>
                                        </p:attrNameLst>
                                      </p:cBhvr>
                                      <p:to>
                                        <p:strVal val="visible"/>
                                      </p:to>
                                    </p:set>
                                    <p:animEffect transition="in" filter="fade">
                                      <p:cBhvr>
                                        <p:cTn id="86" dur="400"/>
                                        <p:tgtEl>
                                          <p:spTgt spid="3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creates possibilities and constraints</a:t>
            </a:r>
          </a:p>
        </p:txBody>
      </p:sp>
      <p:sp>
        <p:nvSpPr>
          <p:cNvPr id="3" name="Slide Number Placeholder 2"/>
          <p:cNvSpPr>
            <a:spLocks noGrp="1"/>
          </p:cNvSpPr>
          <p:nvPr>
            <p:ph type="sldNum" sz="quarter" idx="4"/>
          </p:nvPr>
        </p:nvSpPr>
        <p:spPr/>
        <p:txBody>
          <a:bodyPr/>
          <a:lstStyle/>
          <a:p>
            <a:fld id="{4E1D2A6B-8C3F-4A5D-9E7B-2F6C1D8A9B30}" type="slidenum">
              <a:rPr lang="en-US" smtClean="0"/>
              <a:t>30</a:t>
            </a:fld>
            <a:endParaRPr lang="en-US"/>
          </a:p>
        </p:txBody>
      </p:sp>
      <p:sp>
        <p:nvSpPr>
          <p:cNvPr id="100" name="SketchHeader"/>
          <p:cNvSpPr txBox="1"/>
          <p:nvPr/>
        </p:nvSpPr>
        <p:spPr>
          <a:xfrm>
            <a:off x="258318" y="1150000"/>
            <a:ext cx="4116324" cy="300000"/>
          </a:xfrm>
          <a:prstGeom prst="rect">
            <a:avLst/>
          </a:prstGeom>
          <a:noFill/>
          <a:ln>
            <a:noFill/>
          </a:ln>
        </p:spPr>
        <p:txBody>
          <a:bodyPr wrap="square" lIns="0" tIns="0" rIns="0" bIns="0" anchor="t">
            <a:normAutofit/>
          </a:bodyPr>
          <a:lstStyle/>
          <a:p>
            <a:pPr algn="ctr">
              <a:buNone/>
            </a:pPr>
            <a:r>
              <a:rPr lang="en-US" sz="1300" b="1" i="0" dirty="0">
                <a:solidFill>
                  <a:srgbClr val="8E6F3E"/>
                </a:solidFill>
              </a:rPr>
              <a:t>BUILDING ARCHITECTURE</a:t>
            </a:r>
          </a:p>
        </p:txBody>
      </p:sp>
      <p:sp>
        <p:nvSpPr>
          <p:cNvPr id="101" name="WallLabel"/>
          <p:cNvSpPr txBox="1"/>
          <p:nvPr/>
        </p:nvSpPr>
        <p:spPr>
          <a:xfrm>
            <a:off x="258318" y="1500000"/>
            <a:ext cx="4116324" cy="280000"/>
          </a:xfrm>
          <a:prstGeom prst="rect">
            <a:avLst/>
          </a:prstGeom>
          <a:noFill/>
          <a:ln>
            <a:noFill/>
          </a:ln>
        </p:spPr>
        <p:txBody>
          <a:bodyPr wrap="square" lIns="0" tIns="0" rIns="0" bIns="0" anchor="t">
            <a:normAutofit/>
          </a:bodyPr>
          <a:lstStyle/>
          <a:p>
            <a:pPr algn="ctr">
              <a:buNone/>
            </a:pPr>
            <a:r>
              <a:rPr lang="en-US" sz="1400" b="0" i="1" dirty="0">
                <a:solidFill>
                  <a:srgbClr val="555960"/>
                </a:solidFill>
              </a:rPr>
              <a:t>structural wall</a:t>
            </a:r>
          </a:p>
        </p:txBody>
      </p:sp>
      <p:sp>
        <p:nvSpPr>
          <p:cNvPr id="102" name="WallRect"/>
          <p:cNvSpPr/>
          <p:nvPr/>
        </p:nvSpPr>
        <p:spPr>
          <a:xfrm>
            <a:off x="1366480" y="1850000"/>
            <a:ext cx="1900000" cy="3000000"/>
          </a:xfrm>
          <a:prstGeom prst="rect">
            <a:avLst/>
          </a:prstGeom>
          <a:solidFill>
            <a:srgbClr val="C9B991"/>
          </a:solidFill>
          <a:ln w="19050">
            <a:solidFill>
              <a:srgbClr val="555960"/>
            </a:solidFill>
          </a:ln>
        </p:spPr>
        <p:txBody>
          <a:bodyPr wrap="square" lIns="0" tIns="0" rIns="0" bIns="0" anchor="ctr">
            <a:normAutofit/>
          </a:bodyPr>
          <a:lstStyle/>
          <a:p>
            <a:endParaRPr/>
          </a:p>
        </p:txBody>
      </p:sp>
      <p:sp>
        <p:nvSpPr>
          <p:cNvPr id="103" name="ServiceSpace"/>
          <p:cNvSpPr/>
          <p:nvPr/>
        </p:nvSpPr>
        <p:spPr>
          <a:xfrm>
            <a:off x="1741480" y="2750000"/>
            <a:ext cx="1150000" cy="1200000"/>
          </a:xfrm>
          <a:prstGeom prst="rect">
            <a:avLst/>
          </a:prstGeom>
          <a:solidFill>
            <a:srgbClr val="F5F1E8"/>
          </a:solidFill>
          <a:ln w="12700">
            <a:solidFill>
              <a:srgbClr val="555960"/>
            </a:solidFill>
            <a:prstDash val="dash"/>
          </a:ln>
        </p:spPr>
        <p:txBody>
          <a:bodyPr wrap="square" lIns="27432" tIns="27432" rIns="27432" bIns="27432" anchor="ctr">
            <a:normAutofit/>
          </a:bodyPr>
          <a:lstStyle/>
          <a:p>
            <a:pPr algn="ctr">
              <a:buNone/>
            </a:pPr>
            <a:r>
              <a:rPr lang="en-US" sz="1300" b="0" i="0" dirty="0">
                <a:solidFill>
                  <a:srgbClr val="555960"/>
                </a:solidFill>
              </a:rPr>
              <a:t>service space</a:t>
            </a:r>
          </a:p>
        </p:txBody>
      </p:sp>
      <p:sp>
        <p:nvSpPr>
          <p:cNvPr id="104" name="RoomLeft"/>
          <p:cNvSpPr txBox="1"/>
          <p:nvPr/>
        </p:nvSpPr>
        <p:spPr>
          <a:xfrm>
            <a:off x="258318" y="3175000"/>
            <a:ext cx="1058162" cy="350000"/>
          </a:xfrm>
          <a:prstGeom prst="rect">
            <a:avLst/>
          </a:prstGeom>
          <a:noFill/>
          <a:ln>
            <a:noFill/>
          </a:ln>
        </p:spPr>
        <p:txBody>
          <a:bodyPr wrap="square" lIns="0" tIns="0" rIns="0" bIns="0" anchor="ctr">
            <a:normAutofit/>
          </a:bodyPr>
          <a:lstStyle/>
          <a:p>
            <a:pPr algn="ctr">
              <a:buNone/>
            </a:pPr>
            <a:r>
              <a:rPr lang="en-US" sz="1500" b="0" i="1" dirty="0">
                <a:solidFill>
                  <a:srgbClr val="555960"/>
                </a:solidFill>
              </a:rPr>
              <a:t>room</a:t>
            </a:r>
          </a:p>
        </p:txBody>
      </p:sp>
      <p:sp>
        <p:nvSpPr>
          <p:cNvPr id="105" name="RoomRight"/>
          <p:cNvSpPr txBox="1"/>
          <p:nvPr/>
        </p:nvSpPr>
        <p:spPr>
          <a:xfrm>
            <a:off x="3316480" y="3175000"/>
            <a:ext cx="1058162" cy="350000"/>
          </a:xfrm>
          <a:prstGeom prst="rect">
            <a:avLst/>
          </a:prstGeom>
          <a:noFill/>
          <a:ln>
            <a:noFill/>
          </a:ln>
        </p:spPr>
        <p:txBody>
          <a:bodyPr wrap="square" lIns="0" tIns="0" rIns="0" bIns="0" anchor="ctr">
            <a:normAutofit/>
          </a:bodyPr>
          <a:lstStyle/>
          <a:p>
            <a:pPr algn="ctr">
              <a:buNone/>
            </a:pPr>
            <a:r>
              <a:rPr lang="en-US" sz="1500" b="0" i="1" dirty="0">
                <a:solidFill>
                  <a:srgbClr val="555960"/>
                </a:solidFill>
              </a:rPr>
              <a:t>room</a:t>
            </a:r>
          </a:p>
        </p:txBody>
      </p:sp>
      <p:sp>
        <p:nvSpPr>
          <p:cNvPr id="106" name="SketchCaption"/>
          <p:cNvSpPr txBox="1"/>
          <p:nvPr/>
        </p:nvSpPr>
        <p:spPr>
          <a:xfrm>
            <a:off x="258318" y="5050000"/>
            <a:ext cx="4116324" cy="320000"/>
          </a:xfrm>
          <a:prstGeom prst="rect">
            <a:avLst/>
          </a:prstGeom>
          <a:noFill/>
          <a:ln>
            <a:noFill/>
          </a:ln>
        </p:spPr>
        <p:txBody>
          <a:bodyPr wrap="square" lIns="0" tIns="0" rIns="0" bIns="0" anchor="t">
            <a:normAutofit/>
          </a:bodyPr>
          <a:lstStyle/>
          <a:p>
            <a:pPr algn="ctr">
              <a:buNone/>
            </a:pPr>
            <a:r>
              <a:rPr lang="en-US" sz="1300" b="0" i="1" dirty="0">
                <a:solidFill>
                  <a:srgbClr val="555960"/>
                </a:solidFill>
              </a:rPr>
              <a:t>wall location · available depth · permitted penetrations</a:t>
            </a:r>
          </a:p>
        </p:txBody>
      </p:sp>
      <p:sp>
        <p:nvSpPr>
          <p:cNvPr id="107" name="LineCard1"/>
          <p:cNvSpPr/>
          <p:nvPr/>
        </p:nvSpPr>
        <p:spPr>
          <a:xfrm>
            <a:off x="4769358" y="2300000"/>
            <a:ext cx="4116324" cy="950000"/>
          </a:xfrm>
          <a:prstGeom prst="rect">
            <a:avLst/>
          </a:prstGeom>
          <a:solidFill>
            <a:srgbClr val="F5F1E8"/>
          </a:solidFill>
          <a:ln w="14097">
            <a:solidFill>
              <a:srgbClr val="C9B991"/>
            </a:solidFill>
          </a:ln>
        </p:spPr>
        <p:txBody>
          <a:bodyPr wrap="square" lIns="182880" tIns="45720" rIns="182880" bIns="45720" anchor="ctr">
            <a:normAutofit/>
          </a:bodyPr>
          <a:lstStyle/>
          <a:p>
            <a:pPr algn="l">
              <a:buNone/>
            </a:pPr>
            <a:r>
              <a:rPr lang="en-US" sz="1800" b="0" i="0" dirty="0">
                <a:solidFill>
                  <a:srgbClr val="000000"/>
                </a:solidFill>
              </a:rPr>
              <a:t>The architecture does not specify the plumbing</a:t>
            </a:r>
          </a:p>
        </p:txBody>
      </p:sp>
      <p:sp>
        <p:nvSpPr>
          <p:cNvPr id="108" name="LineCard2"/>
          <p:cNvSpPr/>
          <p:nvPr/>
        </p:nvSpPr>
        <p:spPr>
          <a:xfrm>
            <a:off x="4769358" y="3600000"/>
            <a:ext cx="4116324" cy="950000"/>
          </a:xfrm>
          <a:prstGeom prst="rect">
            <a:avLst/>
          </a:prstGeom>
          <a:solidFill>
            <a:srgbClr val="F5F1E8"/>
          </a:solidFill>
          <a:ln w="14097">
            <a:solidFill>
              <a:srgbClr val="C9B991"/>
            </a:solidFill>
          </a:ln>
        </p:spPr>
        <p:txBody>
          <a:bodyPr wrap="square" lIns="182880" tIns="45720" rIns="182880" bIns="45720" anchor="ctr">
            <a:normAutofit/>
          </a:bodyPr>
          <a:lstStyle/>
          <a:p>
            <a:pPr algn="l">
              <a:buNone/>
            </a:pPr>
            <a:r>
              <a:rPr lang="en-US" sz="1800" b="0" i="0" dirty="0">
                <a:solidFill>
                  <a:srgbClr val="000000"/>
                </a:solidFill>
              </a:rPr>
              <a:t>It </a:t>
            </a:r>
            <a:r>
              <a:rPr lang="en-US" sz="1800" b="1" i="0" dirty="0">
                <a:solidFill>
                  <a:srgbClr val="8E6F3E"/>
                </a:solidFill>
              </a:rPr>
              <a:t>DOES</a:t>
            </a:r>
            <a:r>
              <a:rPr lang="en-US" sz="1800" b="0" i="0" dirty="0">
                <a:solidFill>
                  <a:srgbClr val="000000"/>
                </a:solidFill>
              </a:rPr>
              <a:t> constrain where the plumbing can go</a:t>
            </a:r>
          </a:p>
        </p:txBody>
      </p:sp>
      <p:sp>
        <p:nvSpPr>
          <p:cNvPr id="109" name="FooterBand"/>
          <p:cNvSpPr/>
          <p:nvPr/>
        </p:nvSpPr>
        <p:spPr>
          <a:xfrm>
            <a:off x="279400" y="5850000"/>
            <a:ext cx="8585200" cy="610000"/>
          </a:xfrm>
          <a:prstGeom prst="rect">
            <a:avLst/>
          </a:prstGeom>
          <a:solidFill>
            <a:srgbClr val="8E6F3E"/>
          </a:solidFill>
          <a:ln>
            <a:noFill/>
          </a:ln>
        </p:spPr>
        <p:txBody>
          <a:bodyPr wrap="square" lIns="109728" tIns="45720" rIns="109728" bIns="45720" anchor="ctr">
            <a:normAutofit/>
          </a:bodyPr>
          <a:lstStyle/>
          <a:p>
            <a:pPr algn="ctr">
              <a:buNone/>
            </a:pPr>
            <a:r>
              <a:rPr lang="en-US" sz="1600" b="1" i="0" dirty="0">
                <a:solidFill>
                  <a:srgbClr val="FFFFFF"/>
                </a:solidFill>
              </a:rPr>
              <a:t>Architecture creates the space within which later design must work.</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also affords a division of labor</a:t>
            </a:r>
          </a:p>
        </p:txBody>
      </p:sp>
      <p:sp>
        <p:nvSpPr>
          <p:cNvPr id="3" name="Slide Number Placeholder 2"/>
          <p:cNvSpPr>
            <a:spLocks noGrp="1"/>
          </p:cNvSpPr>
          <p:nvPr>
            <p:ph type="sldNum" sz="quarter" idx="4"/>
          </p:nvPr>
        </p:nvSpPr>
        <p:spPr/>
        <p:txBody>
          <a:bodyPr/>
          <a:lstStyle/>
          <a:p>
            <a:fld id="{7B3E9C4D-2A61-4F8B-A05C-9D1E4B7A2C31}" type="slidenum">
              <a:rPr lang="en-US" smtClean="0"/>
              <a:t>31</a:t>
            </a:fld>
            <a:endParaRPr lang="en-US"/>
          </a:p>
        </p:txBody>
      </p:sp>
      <p:sp>
        <p:nvSpPr>
          <p:cNvPr id="100" name="OrgALbl"/>
          <p:cNvSpPr txBox="1"/>
          <p:nvPr/>
        </p:nvSpPr>
        <p:spPr>
          <a:xfrm>
            <a:off x="700000" y="800000"/>
            <a:ext cx="3600000" cy="4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ORGANIZATION A</a:t>
            </a:r>
          </a:p>
        </p:txBody>
      </p:sp>
      <p:sp>
        <p:nvSpPr>
          <p:cNvPr id="101" name="OrgA0"/>
          <p:cNvSpPr/>
          <p:nvPr/>
        </p:nvSpPr>
        <p:spPr>
          <a:xfrm>
            <a:off x="700000" y="13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000" b="0" i="0" dirty="0">
                <a:solidFill>
                  <a:srgbClr val="5C4826"/>
                </a:solidFill>
              </a:rPr>
              <a:t>collect</a:t>
            </a:r>
          </a:p>
        </p:txBody>
      </p:sp>
      <p:sp>
        <p:nvSpPr>
          <p:cNvPr id="102" name="OrgA1"/>
          <p:cNvSpPr/>
          <p:nvPr/>
        </p:nvSpPr>
        <p:spPr>
          <a:xfrm>
            <a:off x="700000" y="19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000" b="0" i="0" dirty="0">
                <a:solidFill>
                  <a:srgbClr val="5C4826"/>
                </a:solidFill>
              </a:rPr>
              <a:t>classify</a:t>
            </a:r>
          </a:p>
        </p:txBody>
      </p:sp>
      <p:sp>
        <p:nvSpPr>
          <p:cNvPr id="103" name="OrgA2"/>
          <p:cNvSpPr/>
          <p:nvPr/>
        </p:nvSpPr>
        <p:spPr>
          <a:xfrm>
            <a:off x="700000" y="25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000" b="0" i="0" dirty="0">
                <a:solidFill>
                  <a:srgbClr val="5C4826"/>
                </a:solidFill>
              </a:rPr>
              <a:t>summarize</a:t>
            </a:r>
          </a:p>
        </p:txBody>
      </p:sp>
      <p:sp>
        <p:nvSpPr>
          <p:cNvPr id="104" name="OrgA3"/>
          <p:cNvSpPr/>
          <p:nvPr/>
        </p:nvSpPr>
        <p:spPr>
          <a:xfrm>
            <a:off x="700000" y="31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000" b="0" i="0" dirty="0">
                <a:solidFill>
                  <a:srgbClr val="5C4826"/>
                </a:solidFill>
              </a:rPr>
              <a:t>advise</a:t>
            </a:r>
          </a:p>
        </p:txBody>
      </p:sp>
      <p:sp>
        <p:nvSpPr>
          <p:cNvPr id="110" name="BraceA1"/>
          <p:cNvSpPr/>
          <p:nvPr/>
        </p:nvSpPr>
        <p:spPr>
          <a:xfrm>
            <a:off x="2960000" y="13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11" name="BraceA2"/>
          <p:cNvSpPr/>
          <p:nvPr/>
        </p:nvSpPr>
        <p:spPr>
          <a:xfrm>
            <a:off x="2960000" y="19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12" name="BraceA3"/>
          <p:cNvSpPr/>
          <p:nvPr/>
        </p:nvSpPr>
        <p:spPr>
          <a:xfrm>
            <a:off x="2960000" y="25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13" name="BraceA4"/>
          <p:cNvSpPr/>
          <p:nvPr/>
        </p:nvSpPr>
        <p:spPr>
          <a:xfrm>
            <a:off x="2960000" y="31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14" name="TeamA1"/>
          <p:cNvSpPr txBox="1"/>
          <p:nvPr/>
        </p:nvSpPr>
        <p:spPr>
          <a:xfrm>
            <a:off x="3220000" y="14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1</a:t>
            </a:r>
          </a:p>
        </p:txBody>
      </p:sp>
      <p:sp>
        <p:nvSpPr>
          <p:cNvPr id="115" name="TeamA2"/>
          <p:cNvSpPr txBox="1"/>
          <p:nvPr/>
        </p:nvSpPr>
        <p:spPr>
          <a:xfrm>
            <a:off x="3220000" y="20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2</a:t>
            </a:r>
          </a:p>
        </p:txBody>
      </p:sp>
      <p:sp>
        <p:nvSpPr>
          <p:cNvPr id="116" name="TeamA3"/>
          <p:cNvSpPr txBox="1"/>
          <p:nvPr/>
        </p:nvSpPr>
        <p:spPr>
          <a:xfrm>
            <a:off x="3220000" y="26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3</a:t>
            </a:r>
          </a:p>
        </p:txBody>
      </p:sp>
      <p:sp>
        <p:nvSpPr>
          <p:cNvPr id="117" name="TeamA4"/>
          <p:cNvSpPr txBox="1"/>
          <p:nvPr/>
        </p:nvSpPr>
        <p:spPr>
          <a:xfrm>
            <a:off x="3220000" y="32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4</a:t>
            </a:r>
          </a:p>
        </p:txBody>
      </p:sp>
      <p:cxnSp>
        <p:nvCxnSpPr>
          <p:cNvPr id="130" name="Div"/>
          <p:cNvCxnSpPr/>
          <p:nvPr/>
        </p:nvCxnSpPr>
        <p:spPr>
          <a:xfrm>
            <a:off x="4780000" y="1300000"/>
            <a:ext cx="0" cy="2400000"/>
          </a:xfrm>
          <a:prstGeom prst="line">
            <a:avLst/>
          </a:prstGeom>
          <a:ln w="12700">
            <a:solidFill>
              <a:srgbClr val="C9B991"/>
            </a:solidFill>
            <a:prstDash val="dash"/>
          </a:ln>
        </p:spPr>
      </p:cxnSp>
      <p:sp>
        <p:nvSpPr>
          <p:cNvPr id="120" name="OrgBLbl"/>
          <p:cNvSpPr txBox="1"/>
          <p:nvPr/>
        </p:nvSpPr>
        <p:spPr>
          <a:xfrm>
            <a:off x="5250000" y="800000"/>
            <a:ext cx="3600000" cy="4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ORGANIZATION B</a:t>
            </a:r>
          </a:p>
        </p:txBody>
      </p:sp>
      <p:sp>
        <p:nvSpPr>
          <p:cNvPr id="121" name="OrgB1"/>
          <p:cNvSpPr/>
          <p:nvPr/>
        </p:nvSpPr>
        <p:spPr>
          <a:xfrm>
            <a:off x="5250000" y="13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1700" b="0" i="0" dirty="0">
                <a:solidFill>
                  <a:srgbClr val="5C4826"/>
                </a:solidFill>
              </a:rPr>
              <a:t>collect · store</a:t>
            </a:r>
          </a:p>
        </p:txBody>
      </p:sp>
      <p:sp>
        <p:nvSpPr>
          <p:cNvPr id="122" name="OrgB2"/>
          <p:cNvSpPr/>
          <p:nvPr/>
        </p:nvSpPr>
        <p:spPr>
          <a:xfrm>
            <a:off x="5250000" y="1900000"/>
            <a:ext cx="2200000" cy="6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1700" b="0" i="0" dirty="0">
                <a:solidFill>
                  <a:srgbClr val="5C4826"/>
                </a:solidFill>
              </a:rPr>
              <a:t>model · advise</a:t>
            </a:r>
          </a:p>
        </p:txBody>
      </p:sp>
      <p:sp>
        <p:nvSpPr>
          <p:cNvPr id="123" name="OrgB3"/>
          <p:cNvSpPr/>
          <p:nvPr/>
        </p:nvSpPr>
        <p:spPr>
          <a:xfrm>
            <a:off x="5250000" y="2500000"/>
            <a:ext cx="2200000" cy="600000"/>
          </a:xfrm>
          <a:prstGeom prst="rect">
            <a:avLst/>
          </a:prstGeom>
          <a:solidFill>
            <a:srgbClr val="8E6F3E"/>
          </a:solidFill>
          <a:ln w="17526">
            <a:solidFill>
              <a:srgbClr val="8E6F3E"/>
            </a:solidFill>
          </a:ln>
        </p:spPr>
        <p:txBody>
          <a:bodyPr wrap="square" lIns="54864" tIns="27432" rIns="54864" bIns="27432" anchor="ctr">
            <a:normAutofit/>
          </a:bodyPr>
          <a:lstStyle/>
          <a:p>
            <a:pPr algn="ctr">
              <a:buNone/>
            </a:pPr>
            <a:r>
              <a:rPr lang="en-US" sz="1700" b="0" i="0" dirty="0">
                <a:solidFill>
                  <a:srgbClr val="FFFFFF"/>
                </a:solidFill>
              </a:rPr>
              <a:t>sharing</a:t>
            </a:r>
          </a:p>
        </p:txBody>
      </p:sp>
      <p:sp>
        <p:nvSpPr>
          <p:cNvPr id="124" name="BraceB1"/>
          <p:cNvSpPr/>
          <p:nvPr/>
        </p:nvSpPr>
        <p:spPr>
          <a:xfrm>
            <a:off x="7510000" y="13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25" name="BraceB2"/>
          <p:cNvSpPr/>
          <p:nvPr/>
        </p:nvSpPr>
        <p:spPr>
          <a:xfrm>
            <a:off x="7510000" y="19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26" name="BraceB3"/>
          <p:cNvSpPr/>
          <p:nvPr/>
        </p:nvSpPr>
        <p:spPr>
          <a:xfrm>
            <a:off x="7510000" y="2540000"/>
            <a:ext cx="180000" cy="520000"/>
          </a:xfrm>
          <a:prstGeom prst="rightBrace">
            <a:avLst/>
          </a:prstGeom>
          <a:noFill/>
          <a:ln w="19050">
            <a:solidFill>
              <a:srgbClr val="8E6F3E"/>
            </a:solidFill>
          </a:ln>
        </p:spPr>
        <p:txBody>
          <a:bodyPr wrap="square" lIns="0" tIns="0" rIns="0" bIns="0" anchor="ctr">
            <a:normAutofit/>
          </a:bodyPr>
          <a:lstStyle/>
          <a:p>
            <a:endParaRPr/>
          </a:p>
        </p:txBody>
      </p:sp>
      <p:sp>
        <p:nvSpPr>
          <p:cNvPr id="127" name="TeamB1"/>
          <p:cNvSpPr txBox="1"/>
          <p:nvPr/>
        </p:nvSpPr>
        <p:spPr>
          <a:xfrm>
            <a:off x="7770000" y="14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1</a:t>
            </a:r>
          </a:p>
        </p:txBody>
      </p:sp>
      <p:sp>
        <p:nvSpPr>
          <p:cNvPr id="128" name="TeamB2"/>
          <p:cNvSpPr txBox="1"/>
          <p:nvPr/>
        </p:nvSpPr>
        <p:spPr>
          <a:xfrm>
            <a:off x="7770000" y="20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2</a:t>
            </a:r>
          </a:p>
        </p:txBody>
      </p:sp>
      <p:sp>
        <p:nvSpPr>
          <p:cNvPr id="129" name="TeamB3"/>
          <p:cNvSpPr txBox="1"/>
          <p:nvPr/>
        </p:nvSpPr>
        <p:spPr>
          <a:xfrm>
            <a:off x="7770000" y="2660000"/>
            <a:ext cx="1150000" cy="300000"/>
          </a:xfrm>
          <a:prstGeom prst="rect">
            <a:avLst/>
          </a:prstGeom>
          <a:noFill/>
          <a:ln>
            <a:noFill/>
          </a:ln>
        </p:spPr>
        <p:txBody>
          <a:bodyPr wrap="square" lIns="0" tIns="0" rIns="0" bIns="0" anchor="t">
            <a:normAutofit/>
          </a:bodyPr>
          <a:lstStyle/>
          <a:p>
            <a:pPr algn="l">
              <a:buNone/>
            </a:pPr>
            <a:r>
              <a:rPr lang="en-US" sz="1400" b="1" i="0" dirty="0">
                <a:solidFill>
                  <a:srgbClr val="8E6F3E"/>
                </a:solidFill>
              </a:rPr>
              <a:t>TEAM 3</a:t>
            </a:r>
          </a:p>
        </p:txBody>
      </p:sp>
      <p:sp>
        <p:nvSpPr>
          <p:cNvPr id="140" name="Cap"/>
          <p:cNvSpPr txBox="1"/>
          <p:nvPr/>
        </p:nvSpPr>
        <p:spPr>
          <a:xfrm>
            <a:off x="685800" y="4020000"/>
            <a:ext cx="7772400" cy="380000"/>
          </a:xfrm>
          <a:prstGeom prst="rect">
            <a:avLst/>
          </a:prstGeom>
          <a:noFill/>
          <a:ln>
            <a:noFill/>
          </a:ln>
        </p:spPr>
        <p:txBody>
          <a:bodyPr wrap="square" lIns="0" tIns="0" rIns="0" bIns="0" anchor="t">
            <a:normAutofit/>
          </a:bodyPr>
          <a:lstStyle/>
          <a:p>
            <a:pPr algn="ctr">
              <a:buNone/>
            </a:pPr>
            <a:r>
              <a:rPr lang="en-US" sz="1500" b="0" i="1" dirty="0">
                <a:solidFill>
                  <a:srgbClr val="5C4826"/>
                </a:solidFill>
              </a:rPr>
              <a:t>Software boundaries create possible ownership boundaries</a:t>
            </a:r>
          </a:p>
        </p:txBody>
      </p:sp>
      <p:sp>
        <p:nvSpPr>
          <p:cNvPr id="141" name="ConwayBox"/>
          <p:cNvSpPr/>
          <p:nvPr/>
        </p:nvSpPr>
        <p:spPr>
          <a:xfrm>
            <a:off x="1200000" y="4560000"/>
            <a:ext cx="6744000" cy="800000"/>
          </a:xfrm>
          <a:prstGeom prst="rect">
            <a:avLst/>
          </a:prstGeom>
          <a:solidFill>
            <a:srgbClr val="F5F1E8"/>
          </a:solidFill>
          <a:ln w="14097">
            <a:solidFill>
              <a:srgbClr val="C9B991"/>
            </a:solidFill>
          </a:ln>
        </p:spPr>
        <p:txBody>
          <a:bodyPr wrap="square" lIns="137160" tIns="45720" rIns="137160" bIns="45720" anchor="ctr">
            <a:normAutofit/>
          </a:bodyPr>
          <a:lstStyle/>
          <a:p>
            <a:pPr algn="ctr">
              <a:buNone/>
            </a:pPr>
            <a:r>
              <a:rPr lang="en-US" sz="1500" b="1" i="0" dirty="0">
                <a:solidFill>
                  <a:srgbClr val="5C4826"/>
                </a:solidFill>
              </a:rPr>
              <a:t>Conway’s Law</a:t>
            </a:r>
            <a:r>
              <a:rPr lang="en-US" sz="1500" b="0" i="0" dirty="0">
                <a:solidFill>
                  <a:srgbClr val="000000"/>
                </a:solidFill>
              </a:rPr>
              <a:t> — Organizations tend to design systems whose communication structures resemble their own.</a:t>
            </a:r>
          </a:p>
        </p:txBody>
      </p:sp>
      <p:sp>
        <p:nvSpPr>
          <p:cNvPr id="142" name="TakeawayBand"/>
          <p:cNvSpPr/>
          <p:nvPr/>
        </p:nvSpPr>
        <p:spPr>
          <a:xfrm>
            <a:off x="279400" y="5640000"/>
            <a:ext cx="8585200" cy="820000"/>
          </a:xfrm>
          <a:prstGeom prst="rect">
            <a:avLst/>
          </a:prstGeom>
          <a:solidFill>
            <a:srgbClr val="8E6F3E"/>
          </a:solidFill>
          <a:ln>
            <a:noFill/>
          </a:ln>
        </p:spPr>
        <p:txBody>
          <a:bodyPr wrap="square" lIns="109728" tIns="45720" rIns="109728" bIns="45720" anchor="ctr">
            <a:normAutofit/>
          </a:bodyPr>
          <a:lstStyle/>
          <a:p>
            <a:pPr algn="ctr">
              <a:buNone/>
            </a:pPr>
            <a:r>
              <a:rPr lang="en-US" sz="2200" b="1" i="0" dirty="0">
                <a:solidFill>
                  <a:srgbClr val="FFFFFF"/>
                </a:solidFill>
              </a:rPr>
              <a:t>Architecture allocates coupling in software and coordination among people.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4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4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400"/>
                                        <p:tgtEl>
                                          <p:spTgt spid="112"/>
                                        </p:tgtEl>
                                      </p:cBhvr>
                                    </p:animEffect>
                                  </p:childTnLst>
                                </p:cTn>
                              </p:par>
                              <p:par>
                                <p:cTn id="14" presetID="10" presetClass="entr" presetSubtype="0" fill="hold" nodeType="withEffect">
                                  <p:stCondLst>
                                    <p:cond delay="0"/>
                                  </p:stCondLst>
                                  <p:childTnLst>
                                    <p:set>
                                      <p:cBhvr>
                                        <p:cTn id="15" dur="1" fill="hold">
                                          <p:stCondLst>
                                            <p:cond delay="0"/>
                                          </p:stCondLst>
                                        </p:cTn>
                                        <p:tgtEl>
                                          <p:spTgt spid="113"/>
                                        </p:tgtEl>
                                        <p:attrNameLst>
                                          <p:attrName>style.visibility</p:attrName>
                                        </p:attrNameLst>
                                      </p:cBhvr>
                                      <p:to>
                                        <p:strVal val="visible"/>
                                      </p:to>
                                    </p:set>
                                    <p:animEffect transition="in" filter="fade">
                                      <p:cBhvr>
                                        <p:cTn id="16" dur="400"/>
                                        <p:tgtEl>
                                          <p:spTgt spid="113"/>
                                        </p:tgtEl>
                                      </p:cBhvr>
                                    </p:animEffect>
                                  </p:childTnLst>
                                </p:cTn>
                              </p:par>
                              <p:par>
                                <p:cTn id="17" presetID="10"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animEffect transition="in" filter="fade">
                                      <p:cBhvr>
                                        <p:cTn id="19" dur="400"/>
                                        <p:tgtEl>
                                          <p:spTgt spid="114"/>
                                        </p:tgtEl>
                                      </p:cBhvr>
                                    </p:animEffect>
                                  </p:childTnLst>
                                </p:cTn>
                              </p:par>
                              <p:par>
                                <p:cTn id="20" presetID="10" presetClass="entr" presetSubtype="0" fill="hold" nodeType="withEffect">
                                  <p:stCondLst>
                                    <p:cond delay="0"/>
                                  </p:stCondLst>
                                  <p:childTnLst>
                                    <p:set>
                                      <p:cBhvr>
                                        <p:cTn id="21" dur="1" fill="hold">
                                          <p:stCondLst>
                                            <p:cond delay="0"/>
                                          </p:stCondLst>
                                        </p:cTn>
                                        <p:tgtEl>
                                          <p:spTgt spid="115"/>
                                        </p:tgtEl>
                                        <p:attrNameLst>
                                          <p:attrName>style.visibility</p:attrName>
                                        </p:attrNameLst>
                                      </p:cBhvr>
                                      <p:to>
                                        <p:strVal val="visible"/>
                                      </p:to>
                                    </p:set>
                                    <p:animEffect transition="in" filter="fade">
                                      <p:cBhvr>
                                        <p:cTn id="22" dur="400"/>
                                        <p:tgtEl>
                                          <p:spTgt spid="115"/>
                                        </p:tgtEl>
                                      </p:cBhvr>
                                    </p:animEffect>
                                  </p:childTnLst>
                                </p:cTn>
                              </p:par>
                              <p:par>
                                <p:cTn id="23" presetID="10" presetClass="entr" presetSubtype="0" fill="hold" nodeType="withEffect">
                                  <p:stCondLst>
                                    <p:cond delay="0"/>
                                  </p:stCondLst>
                                  <p:childTnLst>
                                    <p:set>
                                      <p:cBhvr>
                                        <p:cTn id="24" dur="1" fill="hold">
                                          <p:stCondLst>
                                            <p:cond delay="0"/>
                                          </p:stCondLst>
                                        </p:cTn>
                                        <p:tgtEl>
                                          <p:spTgt spid="116"/>
                                        </p:tgtEl>
                                        <p:attrNameLst>
                                          <p:attrName>style.visibility</p:attrName>
                                        </p:attrNameLst>
                                      </p:cBhvr>
                                      <p:to>
                                        <p:strVal val="visible"/>
                                      </p:to>
                                    </p:set>
                                    <p:animEffect transition="in" filter="fade">
                                      <p:cBhvr>
                                        <p:cTn id="25" dur="400"/>
                                        <p:tgtEl>
                                          <p:spTgt spid="116"/>
                                        </p:tgtEl>
                                      </p:cBhvr>
                                    </p:animEffect>
                                  </p:childTnLst>
                                </p:cTn>
                              </p:par>
                              <p:par>
                                <p:cTn id="26" presetID="10" presetClass="entr" presetSubtype="0" fill="hold" nodeType="withEffect">
                                  <p:stCondLst>
                                    <p:cond delay="0"/>
                                  </p:stCondLst>
                                  <p:childTnLst>
                                    <p:set>
                                      <p:cBhvr>
                                        <p:cTn id="27" dur="1" fill="hold">
                                          <p:stCondLst>
                                            <p:cond delay="0"/>
                                          </p:stCondLst>
                                        </p:cTn>
                                        <p:tgtEl>
                                          <p:spTgt spid="117"/>
                                        </p:tgtEl>
                                        <p:attrNameLst>
                                          <p:attrName>style.visibility</p:attrName>
                                        </p:attrNameLst>
                                      </p:cBhvr>
                                      <p:to>
                                        <p:strVal val="visible"/>
                                      </p:to>
                                    </p:set>
                                    <p:animEffect transition="in" filter="fade">
                                      <p:cBhvr>
                                        <p:cTn id="28" dur="400"/>
                                        <p:tgtEl>
                                          <p:spTgt spid="117"/>
                                        </p:tgtEl>
                                      </p:cBhvr>
                                    </p:animEffect>
                                  </p:childTnLst>
                                </p:cTn>
                              </p:par>
                              <p:par>
                                <p:cTn id="29" presetID="10" presetClass="entr" presetSubtype="0" fill="hold" nodeType="withEffect">
                                  <p:stCondLst>
                                    <p:cond delay="0"/>
                                  </p:stCondLst>
                                  <p:childTnLst>
                                    <p:set>
                                      <p:cBhvr>
                                        <p:cTn id="30" dur="1" fill="hold">
                                          <p:stCondLst>
                                            <p:cond delay="0"/>
                                          </p:stCondLst>
                                        </p:cTn>
                                        <p:tgtEl>
                                          <p:spTgt spid="140"/>
                                        </p:tgtEl>
                                        <p:attrNameLst>
                                          <p:attrName>style.visibility</p:attrName>
                                        </p:attrNameLst>
                                      </p:cBhvr>
                                      <p:to>
                                        <p:strVal val="visible"/>
                                      </p:to>
                                    </p:set>
                                    <p:animEffect transition="in" filter="fade">
                                      <p:cBhvr>
                                        <p:cTn id="31" dur="400"/>
                                        <p:tgtEl>
                                          <p:spTgt spid="14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0"/>
                                        </p:tgtEl>
                                        <p:attrNameLst>
                                          <p:attrName>style.visibility</p:attrName>
                                        </p:attrNameLst>
                                      </p:cBhvr>
                                      <p:to>
                                        <p:strVal val="visible"/>
                                      </p:to>
                                    </p:set>
                                    <p:animEffect transition="in" filter="fade">
                                      <p:cBhvr>
                                        <p:cTn id="36" dur="400"/>
                                        <p:tgtEl>
                                          <p:spTgt spid="120"/>
                                        </p:tgtEl>
                                      </p:cBhvr>
                                    </p:animEffect>
                                  </p:childTnLst>
                                </p:cTn>
                              </p:par>
                              <p:par>
                                <p:cTn id="37" presetID="10" presetClass="entr" presetSubtype="0" fill="hold" nodeType="withEffect">
                                  <p:stCondLst>
                                    <p:cond delay="0"/>
                                  </p:stCondLst>
                                  <p:childTnLst>
                                    <p:set>
                                      <p:cBhvr>
                                        <p:cTn id="38" dur="1" fill="hold">
                                          <p:stCondLst>
                                            <p:cond delay="0"/>
                                          </p:stCondLst>
                                        </p:cTn>
                                        <p:tgtEl>
                                          <p:spTgt spid="130"/>
                                        </p:tgtEl>
                                        <p:attrNameLst>
                                          <p:attrName>style.visibility</p:attrName>
                                        </p:attrNameLst>
                                      </p:cBhvr>
                                      <p:to>
                                        <p:strVal val="visible"/>
                                      </p:to>
                                    </p:set>
                                    <p:animEffect transition="in" filter="fade">
                                      <p:cBhvr>
                                        <p:cTn id="39" dur="400"/>
                                        <p:tgtEl>
                                          <p:spTgt spid="130"/>
                                        </p:tgtEl>
                                      </p:cBhvr>
                                    </p:animEffect>
                                  </p:childTnLst>
                                </p:cTn>
                              </p:par>
                              <p:par>
                                <p:cTn id="40" presetID="10" presetClass="entr" presetSubtype="0" fill="hold" nodeType="withEffect">
                                  <p:stCondLst>
                                    <p:cond delay="0"/>
                                  </p:stCondLst>
                                  <p:childTnLst>
                                    <p:set>
                                      <p:cBhvr>
                                        <p:cTn id="41" dur="1" fill="hold">
                                          <p:stCondLst>
                                            <p:cond delay="0"/>
                                          </p:stCondLst>
                                        </p:cTn>
                                        <p:tgtEl>
                                          <p:spTgt spid="121"/>
                                        </p:tgtEl>
                                        <p:attrNameLst>
                                          <p:attrName>style.visibility</p:attrName>
                                        </p:attrNameLst>
                                      </p:cBhvr>
                                      <p:to>
                                        <p:strVal val="visible"/>
                                      </p:to>
                                    </p:set>
                                    <p:animEffect transition="in" filter="fade">
                                      <p:cBhvr>
                                        <p:cTn id="42" dur="400"/>
                                        <p:tgtEl>
                                          <p:spTgt spid="121"/>
                                        </p:tgtEl>
                                      </p:cBhvr>
                                    </p:animEffect>
                                  </p:childTnLst>
                                </p:cTn>
                              </p:par>
                              <p:par>
                                <p:cTn id="43" presetID="10" presetClass="entr" presetSubtype="0" fill="hold" nodeType="withEffect">
                                  <p:stCondLst>
                                    <p:cond delay="0"/>
                                  </p:stCondLst>
                                  <p:childTnLst>
                                    <p:set>
                                      <p:cBhvr>
                                        <p:cTn id="44" dur="1" fill="hold">
                                          <p:stCondLst>
                                            <p:cond delay="0"/>
                                          </p:stCondLst>
                                        </p:cTn>
                                        <p:tgtEl>
                                          <p:spTgt spid="122"/>
                                        </p:tgtEl>
                                        <p:attrNameLst>
                                          <p:attrName>style.visibility</p:attrName>
                                        </p:attrNameLst>
                                      </p:cBhvr>
                                      <p:to>
                                        <p:strVal val="visible"/>
                                      </p:to>
                                    </p:set>
                                    <p:animEffect transition="in" filter="fade">
                                      <p:cBhvr>
                                        <p:cTn id="45" dur="400"/>
                                        <p:tgtEl>
                                          <p:spTgt spid="122"/>
                                        </p:tgtEl>
                                      </p:cBhvr>
                                    </p:animEffect>
                                  </p:childTnLst>
                                </p:cTn>
                              </p:par>
                              <p:par>
                                <p:cTn id="46" presetID="10" presetClass="entr" presetSubtype="0" fill="hold" nodeType="withEffect">
                                  <p:stCondLst>
                                    <p:cond delay="0"/>
                                  </p:stCondLst>
                                  <p:childTnLst>
                                    <p:set>
                                      <p:cBhvr>
                                        <p:cTn id="47" dur="1" fill="hold">
                                          <p:stCondLst>
                                            <p:cond delay="0"/>
                                          </p:stCondLst>
                                        </p:cTn>
                                        <p:tgtEl>
                                          <p:spTgt spid="123"/>
                                        </p:tgtEl>
                                        <p:attrNameLst>
                                          <p:attrName>style.visibility</p:attrName>
                                        </p:attrNameLst>
                                      </p:cBhvr>
                                      <p:to>
                                        <p:strVal val="visible"/>
                                      </p:to>
                                    </p:set>
                                    <p:animEffect transition="in" filter="fade">
                                      <p:cBhvr>
                                        <p:cTn id="48" dur="400"/>
                                        <p:tgtEl>
                                          <p:spTgt spid="123"/>
                                        </p:tgtEl>
                                      </p:cBhvr>
                                    </p:animEffect>
                                  </p:childTnLst>
                                </p:cTn>
                              </p:par>
                              <p:par>
                                <p:cTn id="49" presetID="10" presetClass="entr" presetSubtype="0" fill="hold" nodeType="withEffect">
                                  <p:stCondLst>
                                    <p:cond delay="0"/>
                                  </p:stCondLst>
                                  <p:childTnLst>
                                    <p:set>
                                      <p:cBhvr>
                                        <p:cTn id="50" dur="1" fill="hold">
                                          <p:stCondLst>
                                            <p:cond delay="0"/>
                                          </p:stCondLst>
                                        </p:cTn>
                                        <p:tgtEl>
                                          <p:spTgt spid="124"/>
                                        </p:tgtEl>
                                        <p:attrNameLst>
                                          <p:attrName>style.visibility</p:attrName>
                                        </p:attrNameLst>
                                      </p:cBhvr>
                                      <p:to>
                                        <p:strVal val="visible"/>
                                      </p:to>
                                    </p:set>
                                    <p:animEffect transition="in" filter="fade">
                                      <p:cBhvr>
                                        <p:cTn id="51" dur="400"/>
                                        <p:tgtEl>
                                          <p:spTgt spid="124"/>
                                        </p:tgtEl>
                                      </p:cBhvr>
                                    </p:animEffect>
                                  </p:childTnLst>
                                </p:cTn>
                              </p:par>
                              <p:par>
                                <p:cTn id="52" presetID="10" presetClass="entr" presetSubtype="0" fill="hold" nodeType="withEffect">
                                  <p:stCondLst>
                                    <p:cond delay="0"/>
                                  </p:stCondLst>
                                  <p:childTnLst>
                                    <p:set>
                                      <p:cBhvr>
                                        <p:cTn id="53" dur="1" fill="hold">
                                          <p:stCondLst>
                                            <p:cond delay="0"/>
                                          </p:stCondLst>
                                        </p:cTn>
                                        <p:tgtEl>
                                          <p:spTgt spid="125"/>
                                        </p:tgtEl>
                                        <p:attrNameLst>
                                          <p:attrName>style.visibility</p:attrName>
                                        </p:attrNameLst>
                                      </p:cBhvr>
                                      <p:to>
                                        <p:strVal val="visible"/>
                                      </p:to>
                                    </p:set>
                                    <p:animEffect transition="in" filter="fade">
                                      <p:cBhvr>
                                        <p:cTn id="54" dur="400"/>
                                        <p:tgtEl>
                                          <p:spTgt spid="125"/>
                                        </p:tgtEl>
                                      </p:cBhvr>
                                    </p:animEffect>
                                  </p:childTnLst>
                                </p:cTn>
                              </p:par>
                              <p:par>
                                <p:cTn id="55" presetID="10" presetClass="entr" presetSubtype="0" fill="hold" nodeType="withEffect">
                                  <p:stCondLst>
                                    <p:cond delay="0"/>
                                  </p:stCondLst>
                                  <p:childTnLst>
                                    <p:set>
                                      <p:cBhvr>
                                        <p:cTn id="56" dur="1" fill="hold">
                                          <p:stCondLst>
                                            <p:cond delay="0"/>
                                          </p:stCondLst>
                                        </p:cTn>
                                        <p:tgtEl>
                                          <p:spTgt spid="126"/>
                                        </p:tgtEl>
                                        <p:attrNameLst>
                                          <p:attrName>style.visibility</p:attrName>
                                        </p:attrNameLst>
                                      </p:cBhvr>
                                      <p:to>
                                        <p:strVal val="visible"/>
                                      </p:to>
                                    </p:set>
                                    <p:animEffect transition="in" filter="fade">
                                      <p:cBhvr>
                                        <p:cTn id="57" dur="400"/>
                                        <p:tgtEl>
                                          <p:spTgt spid="126"/>
                                        </p:tgtEl>
                                      </p:cBhvr>
                                    </p:animEffect>
                                  </p:childTnLst>
                                </p:cTn>
                              </p:par>
                              <p:par>
                                <p:cTn id="58" presetID="10" presetClass="entr" presetSubtype="0" fill="hold" nodeType="withEffect">
                                  <p:stCondLst>
                                    <p:cond delay="0"/>
                                  </p:stCondLst>
                                  <p:childTnLst>
                                    <p:set>
                                      <p:cBhvr>
                                        <p:cTn id="59" dur="1" fill="hold">
                                          <p:stCondLst>
                                            <p:cond delay="0"/>
                                          </p:stCondLst>
                                        </p:cTn>
                                        <p:tgtEl>
                                          <p:spTgt spid="127"/>
                                        </p:tgtEl>
                                        <p:attrNameLst>
                                          <p:attrName>style.visibility</p:attrName>
                                        </p:attrNameLst>
                                      </p:cBhvr>
                                      <p:to>
                                        <p:strVal val="visible"/>
                                      </p:to>
                                    </p:set>
                                    <p:animEffect transition="in" filter="fade">
                                      <p:cBhvr>
                                        <p:cTn id="60" dur="400"/>
                                        <p:tgtEl>
                                          <p:spTgt spid="127"/>
                                        </p:tgtEl>
                                      </p:cBhvr>
                                    </p:animEffect>
                                  </p:childTnLst>
                                </p:cTn>
                              </p:par>
                              <p:par>
                                <p:cTn id="61" presetID="10" presetClass="entr" presetSubtype="0" fill="hold" nodeType="withEffect">
                                  <p:stCondLst>
                                    <p:cond delay="0"/>
                                  </p:stCondLst>
                                  <p:childTnLst>
                                    <p:set>
                                      <p:cBhvr>
                                        <p:cTn id="62" dur="1" fill="hold">
                                          <p:stCondLst>
                                            <p:cond delay="0"/>
                                          </p:stCondLst>
                                        </p:cTn>
                                        <p:tgtEl>
                                          <p:spTgt spid="128"/>
                                        </p:tgtEl>
                                        <p:attrNameLst>
                                          <p:attrName>style.visibility</p:attrName>
                                        </p:attrNameLst>
                                      </p:cBhvr>
                                      <p:to>
                                        <p:strVal val="visible"/>
                                      </p:to>
                                    </p:set>
                                    <p:animEffect transition="in" filter="fade">
                                      <p:cBhvr>
                                        <p:cTn id="63" dur="400"/>
                                        <p:tgtEl>
                                          <p:spTgt spid="128"/>
                                        </p:tgtEl>
                                      </p:cBhvr>
                                    </p:animEffect>
                                  </p:childTnLst>
                                </p:cTn>
                              </p:par>
                              <p:par>
                                <p:cTn id="64" presetID="10" presetClass="entr" presetSubtype="0" fill="hold" nodeType="withEffect">
                                  <p:stCondLst>
                                    <p:cond delay="0"/>
                                  </p:stCondLst>
                                  <p:childTnLst>
                                    <p:set>
                                      <p:cBhvr>
                                        <p:cTn id="65" dur="1" fill="hold">
                                          <p:stCondLst>
                                            <p:cond delay="0"/>
                                          </p:stCondLst>
                                        </p:cTn>
                                        <p:tgtEl>
                                          <p:spTgt spid="129"/>
                                        </p:tgtEl>
                                        <p:attrNameLst>
                                          <p:attrName>style.visibility</p:attrName>
                                        </p:attrNameLst>
                                      </p:cBhvr>
                                      <p:to>
                                        <p:strVal val="visible"/>
                                      </p:to>
                                    </p:set>
                                    <p:animEffect transition="in" filter="fade">
                                      <p:cBhvr>
                                        <p:cTn id="66" dur="400"/>
                                        <p:tgtEl>
                                          <p:spTgt spid="129"/>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141"/>
                                        </p:tgtEl>
                                        <p:attrNameLst>
                                          <p:attrName>style.visibility</p:attrName>
                                        </p:attrNameLst>
                                      </p:cBhvr>
                                      <p:to>
                                        <p:strVal val="visible"/>
                                      </p:to>
                                    </p:set>
                                    <p:animEffect transition="in" filter="fade">
                                      <p:cBhvr>
                                        <p:cTn id="71" dur="400"/>
                                        <p:tgtEl>
                                          <p:spTgt spid="141"/>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42"/>
                                        </p:tgtEl>
                                        <p:attrNameLst>
                                          <p:attrName>style.visibility</p:attrName>
                                        </p:attrNameLst>
                                      </p:cBhvr>
                                      <p:to>
                                        <p:strVal val="visible"/>
                                      </p:to>
                                    </p:set>
                                    <p:animEffect transition="in" filter="fade">
                                      <p:cBhvr>
                                        <p:cTn id="76" dur="400"/>
                                        <p:tgtEl>
                                          <p:spTgt spid="1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8553</TotalTime>
  <Words>8987</Words>
  <Application>Microsoft Macintosh PowerPoint</Application>
  <PresentationFormat>On-screen Show (4:3)</PresentationFormat>
  <Paragraphs>985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vt:lpstr>
      <vt:lpstr>Purdue1</vt:lpstr>
      <vt:lpstr>ECE 30861/46100: Software Engineering</vt:lpstr>
      <vt:lpstr>In specification we separate obligations. In architecture we must build ONE machine</vt:lpstr>
      <vt:lpstr>What is architecture?</vt:lpstr>
      <vt:lpstr>A specification describes the BEHAVIOR but not the MACHINE</vt:lpstr>
      <vt:lpstr>Architecture answers four questions</vt:lpstr>
      <vt:lpstr>Where should the boundaries go?</vt:lpstr>
      <vt:lpstr>How do we choose among acceptable architectures?</vt:lpstr>
      <vt:lpstr>Two architectures. Which one is better?</vt:lpstr>
      <vt:lpstr>The decision matrix says architecture A wins, 3.95 to 3.70</vt:lpstr>
      <vt:lpstr>First eliminate unacceptable and dominated alternatives</vt:lpstr>
      <vt:lpstr>Pareto tradeoffs require judgment</vt:lpstr>
      <vt:lpstr>Sometimes the right decision is to buy more information</vt:lpstr>
      <vt:lpstr>Where do the alternatives come from?</vt:lpstr>
      <vt:lpstr>Patterns capture recurring choices and expected consequences</vt:lpstr>
      <vt:lpstr>Shall we layer communication paths? How strictly?</vt:lpstr>
      <vt:lpstr>How should processing and shared state be organized?</vt:lpstr>
      <vt:lpstr>How should components communicate?</vt:lpstr>
      <vt:lpstr>Which way should infrastructure dependencies point?</vt:lpstr>
      <vt:lpstr>Patterns give us expectations, not measurements</vt:lpstr>
      <vt:lpstr>How much can we know before we build?</vt:lpstr>
      <vt:lpstr>An architecture model is useful only if it answers a question</vt:lpstr>
      <vt:lpstr>How strongly can we support an architectural claim?</vt:lpstr>
      <vt:lpstr>Can this change remain local?</vt:lpstr>
      <vt:lpstr>What sets the latency floor?</vt:lpstr>
      <vt:lpstr>What happens when architectural evidence gets cheaper?</vt:lpstr>
      <vt:lpstr>Architect one system</vt:lpstr>
      <vt:lpstr>Exercise: Here is the specification</vt:lpstr>
      <vt:lpstr>Defend the architectural decision</vt:lpstr>
      <vt:lpstr>Specification → Architecture →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388</cp:revision>
  <dcterms:created xsi:type="dcterms:W3CDTF">2020-02-21T23:00:33Z</dcterms:created>
  <dcterms:modified xsi:type="dcterms:W3CDTF">2026-09-12T02:08:37Z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