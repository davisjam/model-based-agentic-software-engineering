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webextensions/webextension2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5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6" Type="http://schemas.openxmlformats.org/officeDocument/2006/relationships/custom-properties" Target="docProps/custom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08" r:id="rId1"/>
  </p:sldMasterIdLst>
  <p:notesMasterIdLst>
    <p:notesMasterId r:id="rId33"/>
  </p:notesMasterIdLst>
  <p:sldIdLst>
    <p:sldId id="517" r:id="rId2"/>
    <p:sldId id="738" r:id="rId3"/>
    <p:sldId id="760" r:id="rId38"/>
    <p:sldId id="751" r:id="rId17"/>
    <p:sldId id="744" r:id="rId6"/>
    <p:sldId id="651" r:id="rId4"/>
    <p:sldId id="746" r:id="rId9"/>
    <p:sldId id="747" r:id="rId12"/>
    <p:sldId id="748" r:id="rId13"/>
    <p:sldId id="749" r:id="rId14"/>
    <p:sldId id="750" r:id="rId15"/>
    <p:sldId id="701" r:id="rId23"/>
    <p:sldId id="752" r:id="rId18"/>
    <p:sldId id="731" r:id="rId11"/>
    <p:sldId id="712" r:id="rId19"/>
    <p:sldId id="713" r:id="rId20"/>
    <p:sldId id="735" r:id="rId21"/>
    <p:sldId id="753" r:id="rId22"/>
    <p:sldId id="720" r:id="rId16"/>
    <p:sldId id="754" r:id="rId24"/>
    <p:sldId id="755" r:id="rId25"/>
    <p:sldId id="638" r:id="rId26"/>
    <p:sldId id="756" r:id="rId27"/>
    <p:sldId id="740" r:id="rId31"/>
    <p:sldId id="759" r:id="rId28"/>
    <p:sldId id="757" r:id="rId29"/>
    <p:sldId id="739" r:id="rId30"/>
    <p:sldId id="741" r:id="rId3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766" autoAdjust="0"/>
    <p:restoredTop sz="56137"/>
  </p:normalViewPr>
  <p:slideViewPr>
    <p:cSldViewPr snapToGrid="0" snapToObjects="1">
      <p:cViewPr varScale="1">
        <p:scale>
          <a:sx n="107" d="100"/>
          <a:sy n="107" d="100"/>
        </p:scale>
        <p:origin x="3048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 snapToObjects="1">
      <p:cViewPr varScale="1">
        <p:scale>
          <a:sx n="66" d="100"/>
          <a:sy n="66" d="100"/>
        </p:scale>
        <p:origin x="0" y="0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3" Type="http://schemas.openxmlformats.org/officeDocument/2006/relationships/slide" Target="slides/slide2.xml"/><Relationship Id="rId38" Type="http://schemas.openxmlformats.org/officeDocument/2006/relationships/slide" Target="slides/slide32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E8B4C4-0720-F64E-9EEE-9472CF165DC6}" type="datetimeFigureOut">
              <a:t>9/10/26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F209F92-05EE-6F4A-AD9C-ED35F0F76927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45567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dirty="0"/>
              <a:t>DEFINITION (deliver orally, not as a figure): Architecture describes the consequential organization of the system: its major parts, their responsibilities, their interfaces, and the rules governing their interaction.</a:t>
            </a:r>
          </a:p>
        </p:txBody>
      </p:sp>
    </p:spTree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- sim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918" name="Rectangle 14"/>
          <p:cNvSpPr>
            <a:spLocks noGrp="1" noChangeArrowheads="1"/>
          </p:cNvSpPr>
          <p:nvPr>
            <p:ph type="subTitle" idx="1"/>
          </p:nvPr>
        </p:nvSpPr>
        <p:spPr>
          <a:xfrm>
            <a:off x="1308100" y="3235325"/>
            <a:ext cx="6400800" cy="1881188"/>
          </a:xfrm>
        </p:spPr>
        <p:txBody>
          <a:bodyPr/>
          <a:lstStyle>
            <a:lvl1pPr marL="0" indent="0" algn="ctr">
              <a:buFont typeface="Times" pitchFamily="18" charset="0"/>
              <a:buNone/>
              <a:defRPr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subtitle style</a:t>
            </a:r>
          </a:p>
        </p:txBody>
      </p:sp>
      <p:sp>
        <p:nvSpPr>
          <p:cNvPr id="251914" name="Rectangle 10"/>
          <p:cNvSpPr>
            <a:spLocks noGrp="1" noChangeArrowheads="1"/>
          </p:cNvSpPr>
          <p:nvPr>
            <p:ph type="ctrTitle" hasCustomPrompt="1"/>
          </p:nvPr>
        </p:nvSpPr>
        <p:spPr>
          <a:xfrm>
            <a:off x="1127125" y="2078038"/>
            <a:ext cx="7031038" cy="874712"/>
          </a:xfrm>
          <a:ln>
            <a:noFill/>
          </a:ln>
        </p:spPr>
        <p:txBody>
          <a:bodyPr/>
          <a:lstStyle>
            <a:lvl1pPr algn="ctr">
              <a:defRPr sz="3600" cap="none">
                <a:solidFill>
                  <a:srgbClr val="000000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Click to edit master title style</a:t>
            </a:r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9629C0A1-FA46-974B-8B59-DAFA34D587F5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16760" y="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Line 66">
            <a:extLst>
              <a:ext uri="{FF2B5EF4-FFF2-40B4-BE49-F238E27FC236}">
                <a16:creationId xmlns:a16="http://schemas.microsoft.com/office/drawing/2014/main" id="{F21F285B-3B58-4149-B959-9010CE636448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0" y="6858000"/>
            <a:ext cx="9144000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0" name="Slide Number Placeholder 4">
            <a:extLst>
              <a:ext uri="{FF2B5EF4-FFF2-40B4-BE49-F238E27FC236}">
                <a16:creationId xmlns:a16="http://schemas.microsoft.com/office/drawing/2014/main" id="{5F3C42A2-A875-7F49-9930-886B64F2621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  <p:pic>
        <p:nvPicPr>
          <p:cNvPr id="1026" name="Picture 2" descr="Electrical and Computer Engineering Black and Gold Co-Brand Logo">
            <a:extLst>
              <a:ext uri="{FF2B5EF4-FFF2-40B4-BE49-F238E27FC236}">
                <a16:creationId xmlns:a16="http://schemas.microsoft.com/office/drawing/2014/main" id="{DA2A365A-4E3B-2A48-8812-990B2A2EE92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6158" y="5721845"/>
            <a:ext cx="1264684" cy="99963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3260954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idx="1" hasCustomPrompt="1"/>
          </p:nvPr>
        </p:nvSpPr>
        <p:spPr>
          <a:xfrm>
            <a:off x="277148" y="1305004"/>
            <a:ext cx="8557768" cy="5166916"/>
          </a:xfrm>
        </p:spPr>
        <p:txBody>
          <a:bodyPr/>
          <a:lstStyle>
            <a:lvl2pPr>
              <a:defRPr/>
            </a:lvl2pPr>
            <a:lvl3pPr>
              <a:defRPr/>
            </a:lvl3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  <a:p>
            <a:pPr lvl="1"/>
            <a:r>
              <a:rPr lang="en-US" altLang="ko-KR" dirty="0"/>
              <a:t>Words</a:t>
            </a:r>
            <a:endParaRPr lang="ko-KR" altLang="en-US" dirty="0"/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67B3E873-1394-3543-8BD2-2C910090ECB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57769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010635A2-0953-8C4C-807B-9F1EE80A1BF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8718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/>
          <p:cNvSpPr>
            <a:spLocks noGrp="1"/>
          </p:cNvSpPr>
          <p:nvPr>
            <p:ph sz="half" idx="1" hasCustomPrompt="1"/>
          </p:nvPr>
        </p:nvSpPr>
        <p:spPr>
          <a:xfrm>
            <a:off x="484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675369" y="1250205"/>
            <a:ext cx="4038600" cy="452596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altLang="ko-KR" dirty="0"/>
              <a:t>Words</a:t>
            </a:r>
          </a:p>
          <a:p>
            <a:pPr lvl="1"/>
            <a:r>
              <a:rPr lang="en-US" altLang="ko-KR" dirty="0"/>
              <a:t>Words</a:t>
            </a:r>
          </a:p>
          <a:p>
            <a:pPr lvl="2"/>
            <a:r>
              <a:rPr lang="en-US" altLang="ko-KR" dirty="0"/>
              <a:t>Words</a:t>
            </a:r>
          </a:p>
          <a:p>
            <a:pPr lvl="3"/>
            <a:r>
              <a:rPr lang="en-US" altLang="ko-KR" dirty="0"/>
              <a:t>Words</a:t>
            </a:r>
          </a:p>
          <a:p>
            <a:pPr lvl="4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43238AEC-E676-EF48-A1EE-CE1856C5DB8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2" name="제목 1">
            <a:extLst>
              <a:ext uri="{FF2B5EF4-FFF2-40B4-BE49-F238E27FC236}">
                <a16:creationId xmlns:a16="http://schemas.microsoft.com/office/drawing/2014/main" id="{4EEA1B3E-FF6B-734D-830E-C9FC203C0A8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9" name="Slide Number Placeholder 4">
            <a:extLst>
              <a:ext uri="{FF2B5EF4-FFF2-40B4-BE49-F238E27FC236}">
                <a16:creationId xmlns:a16="http://schemas.microsoft.com/office/drawing/2014/main" id="{3596EAF3-2266-1C40-896A-50BCE8F3A5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46983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685800" y="2747963"/>
            <a:ext cx="7772400" cy="1362075"/>
          </a:xfrm>
          <a:ln>
            <a:noFill/>
          </a:ln>
        </p:spPr>
        <p:txBody>
          <a:bodyPr anchor="t"/>
          <a:lstStyle>
            <a:lvl1pPr algn="ctr">
              <a:defRPr sz="4000" b="0" cap="none"/>
            </a:lvl1pPr>
          </a:lstStyle>
          <a:p>
            <a:r>
              <a:rPr lang="en-US" altLang="ko-KR" dirty="0"/>
              <a:t>Section heading</a:t>
            </a:r>
            <a:endParaRPr lang="ko-KR" alt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5A7CBECB-F891-1E49-A038-D12E9EBD544E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6" name="Line 66">
            <a:extLst>
              <a:ext uri="{FF2B5EF4-FFF2-40B4-BE49-F238E27FC236}">
                <a16:creationId xmlns:a16="http://schemas.microsoft.com/office/drawing/2014/main" id="{A0F4931F-670B-5345-A445-E4A05AED83C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78517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Slide Number Placeholder 4">
            <a:extLst>
              <a:ext uri="{FF2B5EF4-FFF2-40B4-BE49-F238E27FC236}">
                <a16:creationId xmlns:a16="http://schemas.microsoft.com/office/drawing/2014/main" id="{8B85C08C-FD8D-C643-B13D-155D9A63D59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92555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uble content - titl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텍스트 개체 틀 2"/>
          <p:cNvSpPr>
            <a:spLocks noGrp="1"/>
          </p:cNvSpPr>
          <p:nvPr>
            <p:ph type="body" idx="1" hasCustomPrompt="1"/>
          </p:nvPr>
        </p:nvSpPr>
        <p:spPr>
          <a:xfrm>
            <a:off x="457200" y="1258655"/>
            <a:ext cx="4040188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Left title</a:t>
            </a:r>
            <a:endParaRPr lang="ko-KR" altLang="en-US" dirty="0"/>
          </a:p>
        </p:txBody>
      </p:sp>
      <p:sp>
        <p:nvSpPr>
          <p:cNvPr id="4" name="내용 개체 틀 3"/>
          <p:cNvSpPr>
            <a:spLocks noGrp="1"/>
          </p:cNvSpPr>
          <p:nvPr>
            <p:ph sz="half" idx="2" hasCustomPrompt="1"/>
          </p:nvPr>
        </p:nvSpPr>
        <p:spPr>
          <a:xfrm>
            <a:off x="457200" y="1898417"/>
            <a:ext cx="4040188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 hasCustomPrompt="1"/>
          </p:nvPr>
        </p:nvSpPr>
        <p:spPr>
          <a:xfrm>
            <a:off x="4645025" y="1258655"/>
            <a:ext cx="4041775" cy="639762"/>
          </a:xfrm>
        </p:spPr>
        <p:txBody>
          <a:bodyPr anchor="b"/>
          <a:lstStyle>
            <a:lvl1pPr marL="0" indent="0">
              <a:buNone/>
              <a:defRPr sz="32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altLang="ko-KR" dirty="0"/>
              <a:t>Right title</a:t>
            </a:r>
            <a:endParaRPr lang="ko-KR" altLang="en-US" dirty="0"/>
          </a:p>
        </p:txBody>
      </p:sp>
      <p:sp>
        <p:nvSpPr>
          <p:cNvPr id="6" name="내용 개체 틀 5"/>
          <p:cNvSpPr>
            <a:spLocks noGrp="1"/>
          </p:cNvSpPr>
          <p:nvPr>
            <p:ph sz="quarter" idx="4" hasCustomPrompt="1"/>
          </p:nvPr>
        </p:nvSpPr>
        <p:spPr>
          <a:xfrm>
            <a:off x="4645025" y="1898417"/>
            <a:ext cx="4041775" cy="3951288"/>
          </a:xfrm>
        </p:spPr>
        <p:txBody>
          <a:bodyPr/>
          <a:lstStyle>
            <a:lvl1pPr>
              <a:defRPr sz="32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altLang="ko-KR" dirty="0"/>
              <a:t>Words</a:t>
            </a:r>
            <a:endParaRPr lang="ko-KR" altLang="en-US" dirty="0"/>
          </a:p>
        </p:txBody>
      </p:sp>
      <p:sp>
        <p:nvSpPr>
          <p:cNvPr id="9" name="Line 66">
            <a:extLst>
              <a:ext uri="{FF2B5EF4-FFF2-40B4-BE49-F238E27FC236}">
                <a16:creationId xmlns:a16="http://schemas.microsoft.com/office/drawing/2014/main" id="{2473502F-33E0-294C-B0A7-D634CB781736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AA231EA3-1A2F-1844-B410-74339C343F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9B355AFC-141A-4E45-A581-13630ADD3A5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1691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Just bor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7" name="Slide Number Placeholder 4">
            <a:extLst>
              <a:ext uri="{FF2B5EF4-FFF2-40B4-BE49-F238E27FC236}">
                <a16:creationId xmlns:a16="http://schemas.microsoft.com/office/drawing/2014/main" id="{6ABDBE64-F9E8-B742-A7A4-414B9EF73E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529823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adra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Line 66">
            <a:extLst>
              <a:ext uri="{FF2B5EF4-FFF2-40B4-BE49-F238E27FC236}">
                <a16:creationId xmlns:a16="http://schemas.microsoft.com/office/drawing/2014/main" id="{5FBB5167-3962-F644-A1B0-164B48533467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4" name="Line 66">
            <a:extLst>
              <a:ext uri="{FF2B5EF4-FFF2-40B4-BE49-F238E27FC236}">
                <a16:creationId xmlns:a16="http://schemas.microsoft.com/office/drawing/2014/main" id="{E355375E-B5F3-774A-87F7-3A95BA8BDF7B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5" name="그림 개체 틀 2">
            <a:extLst>
              <a:ext uri="{FF2B5EF4-FFF2-40B4-BE49-F238E27FC236}">
                <a16:creationId xmlns:a16="http://schemas.microsoft.com/office/drawing/2014/main" id="{672F7B82-6823-A344-B297-9A5CC48E1F1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877888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7" name="그림 개체 틀 2">
            <a:extLst>
              <a:ext uri="{FF2B5EF4-FFF2-40B4-BE49-F238E27FC236}">
                <a16:creationId xmlns:a16="http://schemas.microsoft.com/office/drawing/2014/main" id="{07CA502D-41E1-4240-B817-57AFD70BC6F0}"/>
              </a:ext>
            </a:extLst>
          </p:cNvPr>
          <p:cNvSpPr>
            <a:spLocks noGrp="1"/>
          </p:cNvSpPr>
          <p:nvPr>
            <p:ph type="pic" idx="10"/>
          </p:nvPr>
        </p:nvSpPr>
        <p:spPr>
          <a:xfrm>
            <a:off x="5204723" y="765140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2" name="그림 개체 틀 2">
            <a:extLst>
              <a:ext uri="{FF2B5EF4-FFF2-40B4-BE49-F238E27FC236}">
                <a16:creationId xmlns:a16="http://schemas.microsoft.com/office/drawing/2014/main" id="{D1C72364-3DC9-604F-9514-883DF7EEBE18}"/>
              </a:ext>
            </a:extLst>
          </p:cNvPr>
          <p:cNvSpPr>
            <a:spLocks noGrp="1"/>
          </p:cNvSpPr>
          <p:nvPr>
            <p:ph type="pic" idx="11"/>
          </p:nvPr>
        </p:nvSpPr>
        <p:spPr>
          <a:xfrm>
            <a:off x="877887" y="3596647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16" name="그림 개체 틀 2">
            <a:extLst>
              <a:ext uri="{FF2B5EF4-FFF2-40B4-BE49-F238E27FC236}">
                <a16:creationId xmlns:a16="http://schemas.microsoft.com/office/drawing/2014/main" id="{4193784B-AAFC-0447-AC84-915471C69183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5204723" y="3616525"/>
            <a:ext cx="3137521" cy="246833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32" name="Text Placeholder 31">
            <a:extLst>
              <a:ext uri="{FF2B5EF4-FFF2-40B4-BE49-F238E27FC236}">
                <a16:creationId xmlns:a16="http://schemas.microsoft.com/office/drawing/2014/main" id="{4036BF46-3CC3-FB43-A785-15DF5595B707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877819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6" name="Text Placeholder 31">
            <a:extLst>
              <a:ext uri="{FF2B5EF4-FFF2-40B4-BE49-F238E27FC236}">
                <a16:creationId xmlns:a16="http://schemas.microsoft.com/office/drawing/2014/main" id="{8484378F-A4EB-7845-937E-05F96717894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205344" y="213987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7" name="Text Placeholder 31">
            <a:extLst>
              <a:ext uri="{FF2B5EF4-FFF2-40B4-BE49-F238E27FC236}">
                <a16:creationId xmlns:a16="http://schemas.microsoft.com/office/drawing/2014/main" id="{1EB6C479-EE50-B041-BED8-613EFA5D95F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877819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38" name="Text Placeholder 31">
            <a:extLst>
              <a:ext uri="{FF2B5EF4-FFF2-40B4-BE49-F238E27FC236}">
                <a16:creationId xmlns:a16="http://schemas.microsoft.com/office/drawing/2014/main" id="{7D0CA80B-F16F-FF48-80A3-27652129D32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205344" y="6093410"/>
            <a:ext cx="3136900" cy="550603"/>
          </a:xfrm>
        </p:spPr>
        <p:txBody>
          <a:bodyPr/>
          <a:lstStyle>
            <a:lvl1pPr marL="0" indent="0" algn="ctr">
              <a:buNone/>
              <a:defRPr sz="3200"/>
            </a:lvl1pPr>
          </a:lstStyle>
          <a:p>
            <a:pPr lvl="0"/>
            <a:r>
              <a:rPr lang="en-US" dirty="0"/>
              <a:t>Title</a:t>
            </a:r>
          </a:p>
        </p:txBody>
      </p:sp>
      <p:sp>
        <p:nvSpPr>
          <p:cNvPr id="14" name="Slide Number Placeholder 4">
            <a:extLst>
              <a:ext uri="{FF2B5EF4-FFF2-40B4-BE49-F238E27FC236}">
                <a16:creationId xmlns:a16="http://schemas.microsoft.com/office/drawing/2014/main" id="{A66D64DC-EDD3-FD46-B93B-F8B818A43F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3951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 hasCustomPrompt="1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>
                <a:latin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 altLang="ko-KR" dirty="0"/>
              <a:t>Title</a:t>
            </a:r>
            <a:endParaRPr lang="ko-KR" altLang="en-US" dirty="0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 dirty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 hasCustomPrompt="1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altLang="ko-KR" dirty="0"/>
              <a:t>Remarks</a:t>
            </a:r>
            <a:endParaRPr lang="ko-KR" altLang="en-US" dirty="0"/>
          </a:p>
        </p:txBody>
      </p:sp>
      <p:sp>
        <p:nvSpPr>
          <p:cNvPr id="7" name="Line 66">
            <a:extLst>
              <a:ext uri="{FF2B5EF4-FFF2-40B4-BE49-F238E27FC236}">
                <a16:creationId xmlns:a16="http://schemas.microsoft.com/office/drawing/2014/main" id="{00379C94-9660-514E-8573-54286DE89411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37071" y="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Line 66">
            <a:extLst>
              <a:ext uri="{FF2B5EF4-FFF2-40B4-BE49-F238E27FC236}">
                <a16:creationId xmlns:a16="http://schemas.microsoft.com/office/drawing/2014/main" id="{D15DDF22-1F41-F644-A1F1-7ADD56BDE3A3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-57794" y="6858000"/>
            <a:ext cx="9259587" cy="0"/>
          </a:xfrm>
          <a:prstGeom prst="line">
            <a:avLst/>
          </a:prstGeom>
          <a:noFill/>
          <a:ln w="762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68A78BD7-835C-4B42-B0A0-24D4E1AA39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996155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ibu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3A8F23-A2CA-264E-8907-B0144A7D91A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595200" y="106023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1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5" name="Line 66">
            <a:extLst>
              <a:ext uri="{FF2B5EF4-FFF2-40B4-BE49-F238E27FC236}">
                <a16:creationId xmlns:a16="http://schemas.microsoft.com/office/drawing/2014/main" id="{86516E46-FEB4-8747-ABDB-067B42ABF68D}"/>
              </a:ext>
            </a:extLst>
          </p:cNvPr>
          <p:cNvSpPr>
            <a:spLocks noChangeShapeType="1"/>
          </p:cNvSpPr>
          <p:nvPr userDrawn="1"/>
        </p:nvSpPr>
        <p:spPr bwMode="auto">
          <a:xfrm flipV="1">
            <a:off x="277148" y="756603"/>
            <a:ext cx="8577217" cy="0"/>
          </a:xfrm>
          <a:prstGeom prst="line">
            <a:avLst/>
          </a:prstGeom>
          <a:noFill/>
          <a:ln w="38100">
            <a:solidFill>
              <a:schemeClr val="accent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endParaRPr lang="ko-KR" altLang="en-US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21898EFD-2916-7E45-875E-EDC4A17C4091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7610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Picture Placeholder 7">
            <a:extLst>
              <a:ext uri="{FF2B5EF4-FFF2-40B4-BE49-F238E27FC236}">
                <a16:creationId xmlns:a16="http://schemas.microsoft.com/office/drawing/2014/main" id="{1F72ABDE-5179-AD48-8D9D-B12289E15BE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843866" y="174928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B91A572F-A890-4245-9D69-1E7986ADF746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95200" y="3129880"/>
            <a:ext cx="6064017" cy="1838037"/>
          </a:xfrm>
        </p:spPr>
        <p:txBody>
          <a:bodyPr/>
          <a:lstStyle>
            <a:lvl1pPr marL="0" marR="0" indent="0" algn="l" defTabSz="914400" rtl="0" eaLnBrk="1" fontAlgn="base" latinLnBrk="0" hangingPunct="1">
              <a:lnSpc>
                <a:spcPct val="100000"/>
              </a:lnSpc>
              <a:spcBef>
                <a:spcPct val="20000"/>
              </a:spcBef>
              <a:spcAft>
                <a:spcPct val="0"/>
              </a:spcAft>
              <a:buClr>
                <a:srgbClr val="000000"/>
              </a:buClr>
              <a:buSzPct val="120000"/>
              <a:buFont typeface="+mj-lt"/>
              <a:buNone/>
              <a:tabLst/>
              <a:defRPr sz="2600" b="0" u="sng">
                <a:effectLst/>
              </a:defRPr>
            </a:lvl1pPr>
          </a:lstStyle>
          <a:p>
            <a:pPr lvl="0"/>
            <a:r>
              <a:rPr lang="en-US" dirty="0"/>
              <a:t>Contribution 2</a:t>
            </a:r>
            <a:r>
              <a:rPr lang="en-US" b="1" u="none" dirty="0"/>
              <a:t xml:space="preserve">		Details</a:t>
            </a:r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b="1" u="none" dirty="0"/>
          </a:p>
          <a:p>
            <a:pPr lvl="0"/>
            <a:endParaRPr lang="en-US" dirty="0"/>
          </a:p>
        </p:txBody>
      </p:sp>
      <p:sp>
        <p:nvSpPr>
          <p:cNvPr id="23" name="Picture Placeholder 7">
            <a:extLst>
              <a:ext uri="{FF2B5EF4-FFF2-40B4-BE49-F238E27FC236}">
                <a16:creationId xmlns:a16="http://schemas.microsoft.com/office/drawing/2014/main" id="{15D737B2-4D4D-4242-8E23-8DE607338BCE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7610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24" name="Picture Placeholder 7">
            <a:extLst>
              <a:ext uri="{FF2B5EF4-FFF2-40B4-BE49-F238E27FC236}">
                <a16:creationId xmlns:a16="http://schemas.microsoft.com/office/drawing/2014/main" id="{96C1B088-3A02-5945-975E-54F1F9D0E5EF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43866" y="3818938"/>
            <a:ext cx="1456267" cy="914400"/>
          </a:xfrm>
        </p:spPr>
        <p:txBody>
          <a:bodyPr/>
          <a:lstStyle/>
          <a:p>
            <a:endParaRPr lang="en-US"/>
          </a:p>
        </p:txBody>
      </p:sp>
      <p:sp>
        <p:nvSpPr>
          <p:cNvPr id="11" name="제목 1">
            <a:extLst>
              <a:ext uri="{FF2B5EF4-FFF2-40B4-BE49-F238E27FC236}">
                <a16:creationId xmlns:a16="http://schemas.microsoft.com/office/drawing/2014/main" id="{763F7E14-41AB-9449-929A-4F43668AF03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7148" y="118428"/>
            <a:ext cx="8043862" cy="638175"/>
          </a:xfrm>
          <a:noFill/>
          <a:ln>
            <a:noFill/>
          </a:ln>
        </p:spPr>
        <p:txBody>
          <a:bodyPr/>
          <a:lstStyle>
            <a:lvl1pPr algn="l">
              <a:defRPr b="0"/>
            </a:lvl1pPr>
          </a:lstStyle>
          <a:p>
            <a:r>
              <a:rPr lang="en-US" altLang="ko-KR" dirty="0"/>
              <a:t>Summary of contributions</a:t>
            </a:r>
            <a:endParaRPr lang="ko-KR" altLang="en-US" dirty="0"/>
          </a:p>
        </p:txBody>
      </p:sp>
      <p:sp>
        <p:nvSpPr>
          <p:cNvPr id="13" name="Slide Number Placeholder 4">
            <a:extLst>
              <a:ext uri="{FF2B5EF4-FFF2-40B4-BE49-F238E27FC236}">
                <a16:creationId xmlns:a16="http://schemas.microsoft.com/office/drawing/2014/main" id="{218A7F7C-A154-3640-88AE-9E855B94CC3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95915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pn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black">
          <a:xfrm>
            <a:off x="1606045" y="964692"/>
            <a:ext cx="5937755" cy="1188720"/>
          </a:xfrm>
          <a:prstGeom prst="rect">
            <a:avLst/>
          </a:prstGeom>
          <a:solidFill>
            <a:srgbClr val="FFFFFF"/>
          </a:solidFill>
          <a:ln w="31750" cap="sq">
            <a:solidFill>
              <a:srgbClr val="404040"/>
            </a:solidFill>
            <a:miter lim="800000"/>
          </a:ln>
        </p:spPr>
        <p:txBody>
          <a:bodyPr vert="horz" lIns="182880" tIns="182880" rIns="182880" bIns="18288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606045" y="2638045"/>
            <a:ext cx="5937755" cy="310198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8" name="Picture 7" descr="A close up of a sign&#10;&#10;Description automatically generated">
            <a:extLst>
              <a:ext uri="{FF2B5EF4-FFF2-40B4-BE49-F238E27FC236}">
                <a16:creationId xmlns:a16="http://schemas.microsoft.com/office/drawing/2014/main" id="{C6965342-B6F4-4E4D-AE27-465DB42B2B52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8746670" y="6562249"/>
            <a:ext cx="292555" cy="156273"/>
          </a:xfrm>
          <a:prstGeom prst="rect">
            <a:avLst/>
          </a:prstGeom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ABD288-7B20-F443-BAE8-CBAAD13A464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457950" y="6356350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7EB45DA-9A0D-DC49-8E02-F30A5DDC21C3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368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26" r:id="rId1"/>
    <p:sldLayoutId id="2147483728" r:id="rId2"/>
    <p:sldLayoutId id="2147483729" r:id="rId3"/>
    <p:sldLayoutId id="2147483730" r:id="rId4"/>
    <p:sldLayoutId id="2147483731" r:id="rId5"/>
    <p:sldLayoutId id="2147483732" r:id="rId6"/>
    <p:sldLayoutId id="2147483733" r:id="rId7"/>
    <p:sldLayoutId id="2147483734" r:id="rId8"/>
    <p:sldLayoutId id="2147483735" r:id="rId9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2600" kern="1200" cap="none" spc="200" baseline="0">
          <a:solidFill>
            <a:srgbClr val="262626"/>
          </a:solidFill>
          <a:latin typeface="Calibri" panose="020F0502020204030204" pitchFamily="34" charset="0"/>
          <a:ea typeface="+mj-ea"/>
          <a:cs typeface="Calibri" panose="020F050202020403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Calibri" panose="020F0502020204030204" pitchFamily="34" charset="0"/>
          <a:ea typeface="+mn-ea"/>
          <a:cs typeface="Calibri" panose="020F0502020204030204" pitchFamily="34" charset="0"/>
        </a:defRPr>
      </a:lvl5pPr>
      <a:lvl6pPr marL="13144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14859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165735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1828800" indent="-228600" algn="l" defTabSz="914400" rtl="0" eaLnBrk="1" latinLnBrk="0" hangingPunct="1">
        <a:lnSpc>
          <a:spcPct val="100000"/>
        </a:lnSpc>
        <a:spcBef>
          <a:spcPts val="1000"/>
        </a:spcBef>
        <a:buClr>
          <a:schemeClr val="accent2"/>
        </a:buClr>
        <a:buFont typeface="Arial" panose="020B0604020202020204" pitchFamily="34" charset="0"/>
        <a:buChar char="•"/>
        <a:defRPr sz="16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>
          <p15:clr>
            <a:srgbClr val="F26B43"/>
          </p15:clr>
        </p15:guide>
        <p15:guide id="2" pos="2880">
          <p15:clr>
            <a:srgbClr val="F26B43"/>
          </p15:clr>
        </p15:guide>
        <p15:guide id="3" orient="horz" pos="4056">
          <p15:clr>
            <a:srgbClr val="F26B43"/>
          </p15:clr>
        </p15:guide>
        <p15:guide id="4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?><Relationships xmlns="http://schemas.openxmlformats.org/package/2006/relationships"><Relationship Id="rId3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?><Relationships xmlns="http://schemas.openxmlformats.org/package/2006/relationships"><Relationship Id="rId3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?><Relationships xmlns="http://schemas.openxmlformats.org/package/2006/relationships"><Relationship Id="rId3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?><Relationships xmlns="http://schemas.openxmlformats.org/package/2006/relationships"><Relationship Id="rId3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0.svg"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19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0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1.xml.rels><?xml version="1.0" encoding="UTF-8"?><Relationships xmlns="http://schemas.openxmlformats.org/package/2006/relationships"><Relationship Id="rId3" Type="http://schemas.openxmlformats.org/officeDocument/2006/relationships/image" Target="../media/image9.svg"/><Relationship Id="rId1" Type="http://schemas.openxmlformats.org/officeDocument/2006/relationships/slideLayout" Target="../slideLayouts/slideLayout2.xml"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?><Relationships xmlns="http://schemas.openxmlformats.org/package/2006/relationships"><Relationship Id="rId3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?><Relationships xmlns="http://schemas.openxmlformats.org/package/2006/relationships"><Relationship Id="rId3" Type="http://schemas.openxmlformats.org/officeDocument/2006/relationships/image" Target="../media/image11.emf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2.emf"/></Relationships>
</file>

<file path=ppt/slides/_rels/slide28.xml.rels><?xml version="1.0" encoding="UTF-8"?><Relationships xmlns="http://schemas.openxmlformats.org/package/2006/relationships"><Relationship Id="rId3" Type="http://schemas.openxmlformats.org/officeDocument/2006/relationships/image" Target="../media/image1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svg"/><Relationship Id="rId4" Type="http://schemas.openxmlformats.org/officeDocument/2006/relationships/image" Target="../media/image14.svg"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089D1F61-B74F-FD46-9676-D29849AD257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9339" y="565150"/>
            <a:ext cx="8265319" cy="874712"/>
          </a:xfrm>
        </p:spPr>
        <p:txBody>
          <a:bodyPr>
            <a:normAutofit/>
          </a:bodyPr>
          <a:lstStyle/>
          <a:p>
            <a:pPr>
              <a:defRPr b="0"/>
            </a:pPr>
            <a:r>
              <a:rPr lang="en-US" sz="2000" b="0" i="1" dirty="0"/>
              <a:t>ECE 30861/46100: Software Engineering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22D48-A395-DA43-BD56-73B6F8BCBF4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/>
              <a:t>1</a:t>
            </a:fld>
            <a:endParaRPr lang="en-US"/>
          </a:p>
        </p:txBody>
      </p:sp>
      <p:sp>
        <p:nvSpPr>
          <p:cNvPr id="7" name="Subtitle 1">
            <a:extLst>
              <a:ext uri="{FF2B5EF4-FFF2-40B4-BE49-F238E27FC236}">
                <a16:creationId xmlns:a16="http://schemas.microsoft.com/office/drawing/2014/main" id="{8F813479-8512-DCF4-B5C8-FFAD6ABA1785}"/>
              </a:ext>
            </a:extLst>
          </p:cNvPr>
          <p:cNvSpPr txBox="1">
            <a:spLocks/>
          </p:cNvSpPr>
          <p:nvPr/>
        </p:nvSpPr>
        <p:spPr>
          <a:xfrm>
            <a:off x="224171" y="2488405"/>
            <a:ext cx="8695654" cy="2887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Times" pitchFamily="18" charset="0"/>
              <a:buNone/>
              <a:defRPr sz="1800" kern="1200">
                <a:solidFill>
                  <a:srgbClr val="000000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4572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2pPr>
            <a:lvl3pPr marL="685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3pPr>
            <a:lvl4pPr marL="9144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4pPr>
            <a:lvl5pPr marL="11430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85000"/>
                    <a:lumOff val="15000"/>
                  </a:schemeClr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5pPr>
            <a:lvl6pPr marL="13144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4859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165735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1828800" indent="-22860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Clr>
                <a:schemeClr val="accent2"/>
              </a:buClr>
              <a:buFont typeface="Arial" panose="020B0604020202020204" pitchFamily="34" charset="0"/>
              <a:buChar char="•"/>
              <a:defRPr sz="1600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5200" dirty="0"/>
              <a:t>Software Architecture</a:t>
            </a:r>
          </a:p>
          <a:p>
            <a:r>
              <a:rPr lang="en-US" sz="2800" i="1" dirty="0">
                <a:solidFill>
                  <a:srgbClr val="8E6F3E"/>
                </a:solidFill>
              </a:rPr>
              <a:t>How should one acceptable system be organized?</a:t>
            </a:r>
          </a:p>
          <a:p>
            <a:endParaRPr lang="en-US" sz="1200" dirty="0"/>
          </a:p>
          <a:p>
            <a:r>
              <a:rPr lang="en-US" i="1" dirty="0"/>
              <a:t>Prof. James C. Davis</a:t>
            </a:r>
          </a:p>
          <a:p>
            <a:r>
              <a:rPr lang="en-US" i="1" dirty="0"/>
              <a:t>Prof. Steve France</a:t>
            </a:r>
          </a:p>
        </p:txBody>
      </p:sp>
    </p:spTree>
    <p:extLst>
      <p:ext uri="{BB962C8B-B14F-4D97-AF65-F5344CB8AC3E}">
        <p14:creationId xmlns:p14="http://schemas.microsoft.com/office/powerpoint/2010/main" val="4073495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 xml:space="preserve">Yesterday we kept these separate. We have to build ONE MACHINE.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0" name="StateCard"/>
          <p:cNvSpPr/>
          <p:nvPr/>
        </p:nvSpPr>
        <p:spPr>
          <a:xfrm>
            <a:off x="685800" y="13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STATE VIEW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asleep  →  awake</a:t>
            </a:r>
          </a:p>
        </p:txBody>
      </p:sp>
      <p:sp>
        <p:nvSpPr>
          <p:cNvPr id="61" name="ActivityCard"/>
          <p:cNvSpPr/>
          <p:nvPr/>
        </p:nvSpPr>
        <p:spPr>
          <a:xfrm>
            <a:off x="5958200" y="13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ACTIVITY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collect  →  classify</a:t>
            </a:r>
          </a:p>
        </p:txBody>
      </p:sp>
      <p:sp>
        <p:nvSpPr>
          <p:cNvPr id="62" name="SchemaCard"/>
          <p:cNvSpPr/>
          <p:nvPr/>
        </p:nvSpPr>
        <p:spPr>
          <a:xfrm>
            <a:off x="685800" y="47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SCHEMA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Night Summary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Advice</a:t>
            </a:r>
          </a:p>
        </p:txBody>
      </p:sp>
      <p:sp>
        <p:nvSpPr>
          <p:cNvPr id="63" name="TimingCard"/>
          <p:cNvSpPr/>
          <p:nvPr/>
        </p:nvSpPr>
        <p:spPr>
          <a:xfrm>
            <a:off x="5958200" y="4700000"/>
            <a:ext cx="2500000" cy="130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TIMING / OTHER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 xml:space="preserve">≤ 60 seconds</a:t>
            </a:r>
          </a:p>
          <a:p>
            <a:pPr algn="ctr">
              <a:spcBef>
                <a:spcPts val="100"/>
              </a:spcBef>
              <a:buNone/>
            </a:pPr>
            <a:r>
              <a:rPr lang="en-US" sz="1700" b="0" i="0" dirty="0">
                <a:solidFill>
                  <a:srgbClr val="000000"/>
                </a:solidFill>
              </a:rPr>
              <a:t xml:space="preserve">privacy · 7 nights</a:t>
            </a:r>
          </a:p>
        </p:txBody>
      </p:sp>
      <p:cxnSp>
        <p:nvCxnSpPr>
          <p:cNvPr id="64" name="Arr64"/>
          <p:cNvCxnSpPr/>
          <p:nvPr/>
        </p:nvCxnSpPr>
        <p:spPr>
          <a:xfrm>
            <a:off x="3300000" y="27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65" name="Arr65"/>
          <p:cNvCxnSpPr/>
          <p:nvPr/>
        </p:nvCxnSpPr>
        <p:spPr>
          <a:xfrm flipH="1">
            <a:off x="5194000" y="27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66" name="Arr66"/>
          <p:cNvCxnSpPr/>
          <p:nvPr/>
        </p:nvCxnSpPr>
        <p:spPr>
          <a:xfrm flipV="1">
            <a:off x="3300000" y="43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cxnSp>
        <p:nvCxnSpPr>
          <p:cNvPr id="67" name="Arr67"/>
          <p:cNvCxnSpPr/>
          <p:nvPr/>
        </p:nvCxnSpPr>
        <p:spPr>
          <a:xfrm flipH="1" flipV="1">
            <a:off x="5194000" y="4300000"/>
            <a:ext cx="650000" cy="550000"/>
          </a:xfrm>
          <a:prstGeom prst="line">
            <a:avLst/>
          </a:prstGeom>
          <a:ln w="28575">
            <a:solidFill>
              <a:srgbClr val="8E6F3E"/>
            </a:solidFill>
            <a:tailEnd type="triangle" w="med" len="med"/>
          </a:ln>
        </p:spPr>
      </p:cxnSp>
      <p:sp>
        <p:nvSpPr>
          <p:cNvPr id="68" name="OneMachine"/>
          <p:cNvSpPr/>
          <p:nvPr/>
        </p:nvSpPr>
        <p:spPr>
          <a:xfrm>
            <a:off x="3172000" y="3250000"/>
            <a:ext cx="2800000" cy="10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800" b="1" i="0" dirty="0">
                <a:solidFill>
                  <a:srgbClr val="FFFFFF"/>
                </a:solidFill>
              </a:rPr>
              <a:t xml:space="preserve">ONE MACHINE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400"/>
                                        <p:tgtEl>
                                          <p:spTgt spid="6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400"/>
                                        <p:tgtEl>
                                          <p:spTgt spid="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 xml:space="preserve">Choosing among acceptable organizations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2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Architecture is decision-making under tradeoffs.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Where should the boundaries go?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3600000"/>
            <a:ext cx="8585200" cy="7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CHANGE TOGETHER? · FAIL TOGETHER? · SCALE TOGETHER? · CONSISTENT TOGETHER? · SECURE TOGETHER? · OWNED TOGETHER?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4520000"/>
            <a:ext cx="77724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Architecture allocates coupling; it does not eliminate it.</a:t>
            </a:r>
          </a:p>
        </p:txBody>
      </p:sp>
      <p:sp>
        <p:nvSpPr>
          <p:cNvPr id="63" name="Band63"/>
          <p:cNvSpPr/>
          <p:nvPr/>
        </p:nvSpPr>
        <p:spPr>
          <a:xfrm>
            <a:off x="279400" y="5200000"/>
            <a:ext cx="8585200" cy="11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Where should we draw boundaries so the interactions and changes we expect are easy, while the interactions and changes we do not want are difficult?</a:t>
            </a:r>
          </a:p>
        </p:txBody>
      </p:sp>
      <p:sp>
        <p:nvSpPr>
          <p:cNvPr id="100" name="OrgALbl"/>
          <p:cNvSpPr txBox="1"/>
          <p:nvPr/>
        </p:nvSpPr>
        <p:spPr>
          <a:xfrm>
            <a:off x="750000" y="1200000"/>
            <a:ext cx="3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 xml:space="preserve">ORGANIZATION A</a:t>
            </a:r>
          </a:p>
        </p:txBody>
      </p:sp>
      <p:sp>
        <p:nvSpPr>
          <p:cNvPr id="101" name="OrgA0"/>
          <p:cNvSpPr/>
          <p:nvPr/>
        </p:nvSpPr>
        <p:spPr>
          <a:xfrm>
            <a:off x="1550000" y="1580000"/>
            <a:ext cx="1600000" cy="4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collect</a:t>
            </a:r>
          </a:p>
        </p:txBody>
      </p:sp>
      <p:sp>
        <p:nvSpPr>
          <p:cNvPr id="102" name="OrgA1"/>
          <p:cNvSpPr/>
          <p:nvPr/>
        </p:nvSpPr>
        <p:spPr>
          <a:xfrm>
            <a:off x="1550000" y="2000000"/>
            <a:ext cx="1600000" cy="4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classify</a:t>
            </a:r>
          </a:p>
        </p:txBody>
      </p:sp>
      <p:sp>
        <p:nvSpPr>
          <p:cNvPr id="103" name="OrgA2"/>
          <p:cNvSpPr/>
          <p:nvPr/>
        </p:nvSpPr>
        <p:spPr>
          <a:xfrm>
            <a:off x="1550000" y="2420000"/>
            <a:ext cx="1600000" cy="4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summarize</a:t>
            </a:r>
          </a:p>
        </p:txBody>
      </p:sp>
      <p:sp>
        <p:nvSpPr>
          <p:cNvPr id="104" name="OrgA3"/>
          <p:cNvSpPr/>
          <p:nvPr/>
        </p:nvSpPr>
        <p:spPr>
          <a:xfrm>
            <a:off x="1550000" y="2840000"/>
            <a:ext cx="1600000" cy="4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advise</a:t>
            </a:r>
          </a:p>
        </p:txBody>
      </p:sp>
      <p:sp>
        <p:nvSpPr>
          <p:cNvPr id="105" name="OrgAOuter"/>
          <p:cNvSpPr/>
          <p:nvPr/>
        </p:nvSpPr>
        <p:spPr>
          <a:xfrm>
            <a:off x="1550000" y="1580000"/>
            <a:ext cx="1600000" cy="1680000"/>
          </a:xfrm>
          <a:prstGeom prst="rect">
            <a:avLst/>
          </a:prstGeom>
          <a:noFill/>
          <a:ln w="2540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cxnSp>
        <p:nvCxnSpPr>
          <p:cNvPr id="106" name="Div"/>
          <p:cNvCxnSpPr/>
          <p:nvPr/>
        </p:nvCxnSpPr>
        <p:spPr>
          <a:xfrm>
            <a:off x="4572000" y="1350000"/>
            <a:ext cx="0" cy="190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07" name="OrgBLbl"/>
          <p:cNvSpPr txBox="1"/>
          <p:nvPr/>
        </p:nvSpPr>
        <p:spPr>
          <a:xfrm>
            <a:off x="5200000" y="1200000"/>
            <a:ext cx="32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 xml:space="preserve">ORGANIZATION B</a:t>
            </a:r>
          </a:p>
        </p:txBody>
      </p:sp>
      <p:sp>
        <p:nvSpPr>
          <p:cNvPr id="108" name="OrgB1"/>
          <p:cNvSpPr/>
          <p:nvPr/>
        </p:nvSpPr>
        <p:spPr>
          <a:xfrm>
            <a:off x="5350000" y="1580000"/>
            <a:ext cx="135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collect · store</a:t>
            </a:r>
          </a:p>
        </p:txBody>
      </p:sp>
      <p:sp>
        <p:nvSpPr>
          <p:cNvPr id="109" name="OrgB2"/>
          <p:cNvSpPr/>
          <p:nvPr/>
        </p:nvSpPr>
        <p:spPr>
          <a:xfrm>
            <a:off x="6950000" y="1580000"/>
            <a:ext cx="135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0" i="0" dirty="0">
                <a:solidFill>
                  <a:srgbClr val="5C4826"/>
                </a:solidFill>
              </a:rPr>
              <a:t xml:space="preserve">model · advise</a:t>
            </a:r>
          </a:p>
        </p:txBody>
      </p:sp>
      <p:sp>
        <p:nvSpPr>
          <p:cNvPr id="110" name="OrgBShare"/>
          <p:cNvSpPr/>
          <p:nvPr/>
        </p:nvSpPr>
        <p:spPr>
          <a:xfrm>
            <a:off x="6150000" y="2750000"/>
            <a:ext cx="1350000" cy="5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FFFFFF"/>
                </a:solidFill>
              </a:rPr>
              <a:t xml:space="preserve">sharing</a:t>
            </a:r>
          </a:p>
        </p:txBody>
      </p:sp>
      <p:cxnSp>
        <p:nvCxnSpPr>
          <p:cNvPr id="111" name="OrgBa1"/>
          <p:cNvCxnSpPr/>
          <p:nvPr/>
        </p:nvCxnSpPr>
        <p:spPr>
          <a:xfrm>
            <a:off x="6025000" y="2080000"/>
            <a:ext cx="575000" cy="67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OrgBa2"/>
          <p:cNvCxnSpPr/>
          <p:nvPr/>
        </p:nvCxnSpPr>
        <p:spPr>
          <a:xfrm flipH="1">
            <a:off x="7050000" y="2080000"/>
            <a:ext cx="575000" cy="67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Cap"/>
          <p:cNvSpPr txBox="1"/>
          <p:nvPr/>
        </p:nvSpPr>
        <p:spPr>
          <a:xfrm>
            <a:off x="685800" y="3330000"/>
            <a:ext cx="77724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0" i="1" dirty="0">
                <a:solidFill>
                  <a:srgbClr val="5C4826"/>
                </a:solidFill>
              </a:rPr>
              <a:t xml:space="preserve">Different boundaries → different coupling.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Two architectures. Which one is better?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pic>
        <p:nvPicPr>
          <p:cNvPr id="60" name="Think Pair Share banner" descr="Think, Pair, Sha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" y="797706"/>
            <a:ext cx="4066969" cy="1170794"/>
          </a:xfrm>
          <a:prstGeom prst="rect">
            <a:avLst/>
          </a:prstGeom>
        </p:spPr>
      </p:pic>
      <p:sp>
        <p:nvSpPr>
          <p:cNvPr id="101" name="C101"/>
          <p:cNvSpPr/>
          <p:nvPr/>
        </p:nvSpPr>
        <p:spPr>
          <a:xfrm>
            <a:off x="3800000" y="2150000"/>
            <a:ext cx="19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A</a:t>
            </a:r>
          </a:p>
        </p:txBody>
      </p:sp>
      <p:sp>
        <p:nvSpPr>
          <p:cNvPr id="102" name="C102"/>
          <p:cNvSpPr/>
          <p:nvPr/>
        </p:nvSpPr>
        <p:spPr>
          <a:xfrm>
            <a:off x="5700000" y="2150000"/>
            <a:ext cx="1900000" cy="52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B</a:t>
            </a:r>
          </a:p>
        </p:txBody>
      </p:sp>
      <p:sp>
        <p:nvSpPr>
          <p:cNvPr id="103" name="C103"/>
          <p:cNvSpPr/>
          <p:nvPr/>
        </p:nvSpPr>
        <p:spPr>
          <a:xfrm>
            <a:off x="1500000" y="267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Latency</a:t>
            </a:r>
          </a:p>
        </p:txBody>
      </p:sp>
      <p:sp>
        <p:nvSpPr>
          <p:cNvPr id="104" name="C104"/>
          <p:cNvSpPr/>
          <p:nvPr/>
        </p:nvSpPr>
        <p:spPr>
          <a:xfrm>
            <a:off x="3800000" y="267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~100 ms</a:t>
            </a:r>
          </a:p>
        </p:txBody>
      </p:sp>
      <p:sp>
        <p:nvSpPr>
          <p:cNvPr id="105" name="C105"/>
          <p:cNvSpPr/>
          <p:nvPr/>
        </p:nvSpPr>
        <p:spPr>
          <a:xfrm>
            <a:off x="5700000" y="267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~180 ms</a:t>
            </a:r>
          </a:p>
        </p:txBody>
      </p:sp>
      <p:sp>
        <p:nvSpPr>
          <p:cNvPr id="106" name="C106"/>
          <p:cNvSpPr/>
          <p:nvPr/>
        </p:nvSpPr>
        <p:spPr>
          <a:xfrm>
            <a:off x="1500000" y="319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Cost</a:t>
            </a:r>
          </a:p>
        </p:txBody>
      </p:sp>
      <p:sp>
        <p:nvSpPr>
          <p:cNvPr id="107" name="C107"/>
          <p:cNvSpPr/>
          <p:nvPr/>
        </p:nvSpPr>
        <p:spPr>
          <a:xfrm>
            <a:off x="3800000" y="319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$$$</a:t>
            </a:r>
          </a:p>
        </p:txBody>
      </p:sp>
      <p:sp>
        <p:nvSpPr>
          <p:cNvPr id="108" name="C108"/>
          <p:cNvSpPr/>
          <p:nvPr/>
        </p:nvSpPr>
        <p:spPr>
          <a:xfrm>
            <a:off x="5700000" y="319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$</a:t>
            </a:r>
          </a:p>
        </p:txBody>
      </p:sp>
      <p:sp>
        <p:nvSpPr>
          <p:cNvPr id="109" name="C109"/>
          <p:cNvSpPr/>
          <p:nvPr/>
        </p:nvSpPr>
        <p:spPr>
          <a:xfrm>
            <a:off x="1500000" y="371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Change</a:t>
            </a:r>
          </a:p>
        </p:txBody>
      </p:sp>
      <p:sp>
        <p:nvSpPr>
          <p:cNvPr id="110" name="C110"/>
          <p:cNvSpPr/>
          <p:nvPr/>
        </p:nvSpPr>
        <p:spPr>
          <a:xfrm>
            <a:off x="3800000" y="371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more coupled</a:t>
            </a:r>
          </a:p>
        </p:txBody>
      </p:sp>
      <p:sp>
        <p:nvSpPr>
          <p:cNvPr id="111" name="C111"/>
          <p:cNvSpPr/>
          <p:nvPr/>
        </p:nvSpPr>
        <p:spPr>
          <a:xfrm>
            <a:off x="5700000" y="371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more local</a:t>
            </a:r>
          </a:p>
        </p:txBody>
      </p:sp>
      <p:sp>
        <p:nvSpPr>
          <p:cNvPr id="112" name="C112"/>
          <p:cNvSpPr/>
          <p:nvPr/>
        </p:nvSpPr>
        <p:spPr>
          <a:xfrm>
            <a:off x="1500000" y="423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Availability</a:t>
            </a:r>
          </a:p>
        </p:txBody>
      </p:sp>
      <p:sp>
        <p:nvSpPr>
          <p:cNvPr id="113" name="C113"/>
          <p:cNvSpPr/>
          <p:nvPr/>
        </p:nvSpPr>
        <p:spPr>
          <a:xfrm>
            <a:off x="3800000" y="423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higher</a:t>
            </a:r>
          </a:p>
        </p:txBody>
      </p:sp>
      <p:sp>
        <p:nvSpPr>
          <p:cNvPr id="114" name="C114"/>
          <p:cNvSpPr/>
          <p:nvPr/>
        </p:nvSpPr>
        <p:spPr>
          <a:xfrm>
            <a:off x="5700000" y="4230000"/>
            <a:ext cx="1900000" cy="52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lower</a:t>
            </a:r>
          </a:p>
        </p:txBody>
      </p:sp>
      <p:sp>
        <p:nvSpPr>
          <p:cNvPr id="80" name="S80"/>
          <p:cNvSpPr/>
          <p:nvPr/>
        </p:nvSpPr>
        <p:spPr>
          <a:xfrm>
            <a:off x="279400" y="5054600"/>
            <a:ext cx="88900" cy="558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81" name="S81"/>
          <p:cNvSpPr/>
          <p:nvPr/>
        </p:nvSpPr>
        <p:spPr>
          <a:xfrm>
            <a:off x="368300" y="5054600"/>
            <a:ext cx="8293100" cy="5588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5C4826"/>
                </a:solidFill>
              </a:rPr>
              <a:t xml:space="preserve">THINK 1 min   ·   PAIR 2 min   ·   SHARE 2 min</a:t>
            </a:r>
          </a:p>
        </p:txBody>
      </p:sp>
      <p:sp>
        <p:nvSpPr>
          <p:cNvPr id="82" name="T82"/>
          <p:cNvSpPr txBox="1"/>
          <p:nvPr/>
        </p:nvSpPr>
        <p:spPr>
          <a:xfrm>
            <a:off x="279400" y="5816600"/>
            <a:ext cx="85598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000000"/>
                </a:solidFill>
              </a:rPr>
              <a:t xml:space="preserve">WHICH ONE?</a:t>
            </a:r>
            <a:r>
              <a:rPr lang="en-US" sz="2400" b="1" i="0" dirty="0">
                <a:solidFill>
                  <a:srgbClr val="8E6F3E"/>
                </a:solidFill>
              </a:rPr>
              <a:t xml:space="preserve">    ·    </a:t>
            </a:r>
            <a:r>
              <a:rPr lang="en-US" sz="2400" b="1" i="0" dirty="0">
                <a:solidFill>
                  <a:srgbClr val="000000"/>
                </a:solidFill>
              </a:rPr>
              <a:t xml:space="preserve">Choose one.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Layers: constrain which parts may depend on which.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4650000"/>
            <a:ext cx="7772400" cy="1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900" b="0" i="1" dirty="0">
                <a:solidFill>
                  <a:srgbClr val="000000"/>
                </a:solidFill>
              </a:rPr>
              <a:t xml:space="preserve">Real systems sometimes deliberately cross or blur conceptual layers because doing so buys something important — mmap is why “follow the layered pattern” is a rule of thumb, not a law.</a:t>
            </a:r>
          </a:p>
        </p:txBody>
      </p:sp>
      <p:sp>
        <p:nvSpPr>
          <p:cNvPr id="100" name="LblPat"/>
          <p:cNvSpPr txBox="1"/>
          <p:nvPr/>
        </p:nvSpPr>
        <p:spPr>
          <a:xfrm>
            <a:off x="1000000" y="1180000"/>
            <a:ext cx="2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THE PATTERN</a:t>
            </a:r>
          </a:p>
        </p:txBody>
      </p:sp>
      <p:sp>
        <p:nvSpPr>
          <p:cNvPr id="101" name="LblReal"/>
          <p:cNvSpPr txBox="1"/>
          <p:nvPr/>
        </p:nvSpPr>
        <p:spPr>
          <a:xfrm>
            <a:off x="5300000" y="1180000"/>
            <a:ext cx="2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IN PRACTICE: mmap</a:t>
            </a:r>
          </a:p>
        </p:txBody>
      </p:sp>
      <p:sp>
        <p:nvSpPr>
          <p:cNvPr id="102" name="L0"/>
          <p:cNvSpPr/>
          <p:nvPr/>
        </p:nvSpPr>
        <p:spPr>
          <a:xfrm>
            <a:off x="1000000" y="152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sp>
        <p:nvSpPr>
          <p:cNvPr id="103" name="L1"/>
          <p:cNvSpPr/>
          <p:nvPr/>
        </p:nvSpPr>
        <p:spPr>
          <a:xfrm>
            <a:off x="1000000" y="224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APPLICATION</a:t>
            </a:r>
          </a:p>
        </p:txBody>
      </p:sp>
      <p:cxnSp>
        <p:nvCxnSpPr>
          <p:cNvPr id="104" name="LA1"/>
          <p:cNvCxnSpPr/>
          <p:nvPr/>
        </p:nvCxnSpPr>
        <p:spPr>
          <a:xfrm>
            <a:off x="2100000" y="210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5" name="L2"/>
          <p:cNvSpPr/>
          <p:nvPr/>
        </p:nvSpPr>
        <p:spPr>
          <a:xfrm>
            <a:off x="1000000" y="296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DOMAIN</a:t>
            </a:r>
          </a:p>
        </p:txBody>
      </p:sp>
      <p:cxnSp>
        <p:nvCxnSpPr>
          <p:cNvPr id="106" name="LA2"/>
          <p:cNvCxnSpPr/>
          <p:nvPr/>
        </p:nvCxnSpPr>
        <p:spPr>
          <a:xfrm>
            <a:off x="2100000" y="282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7" name="L3"/>
          <p:cNvSpPr/>
          <p:nvPr/>
        </p:nvSpPr>
        <p:spPr>
          <a:xfrm>
            <a:off x="1000000" y="368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INFRASTRUCTURE</a:t>
            </a:r>
          </a:p>
        </p:txBody>
      </p:sp>
      <p:cxnSp>
        <p:nvCxnSpPr>
          <p:cNvPr id="108" name="LA3"/>
          <p:cNvCxnSpPr/>
          <p:nvPr/>
        </p:nvCxnSpPr>
        <p:spPr>
          <a:xfrm>
            <a:off x="2100000" y="354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9" name="Allowed"/>
          <p:cNvCxnSpPr/>
          <p:nvPr/>
        </p:nvCxnSpPr>
        <p:spPr>
          <a:xfrm>
            <a:off x="700000" y="1650000"/>
            <a:ext cx="0" cy="245000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0" name="AllowedLbl"/>
          <p:cNvSpPr txBox="1"/>
          <p:nvPr/>
        </p:nvSpPr>
        <p:spPr>
          <a:xfrm rot="-5400000">
            <a:off x="-335000" y="2740000"/>
            <a:ext cx="18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allowed dependencies</a:t>
            </a:r>
          </a:p>
        </p:txBody>
      </p:sp>
      <p:sp>
        <p:nvSpPr>
          <p:cNvPr id="111" name="R0"/>
          <p:cNvSpPr/>
          <p:nvPr/>
        </p:nvSpPr>
        <p:spPr>
          <a:xfrm>
            <a:off x="5300000" y="152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APPLICATION</a:t>
            </a:r>
          </a:p>
        </p:txBody>
      </p:sp>
      <p:sp>
        <p:nvSpPr>
          <p:cNvPr id="112" name="R1"/>
          <p:cNvSpPr/>
          <p:nvPr/>
        </p:nvSpPr>
        <p:spPr>
          <a:xfrm>
            <a:off x="5300000" y="224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FILE / STORAGE API</a:t>
            </a:r>
          </a:p>
        </p:txBody>
      </p:sp>
      <p:cxnSp>
        <p:nvCxnSpPr>
          <p:cNvPr id="113" name="RA1"/>
          <p:cNvCxnSpPr/>
          <p:nvPr/>
        </p:nvCxnSpPr>
        <p:spPr>
          <a:xfrm>
            <a:off x="6400000" y="210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4" name="R2"/>
          <p:cNvSpPr/>
          <p:nvPr/>
        </p:nvSpPr>
        <p:spPr>
          <a:xfrm>
            <a:off x="5300000" y="296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OPERATING SYSTEM</a:t>
            </a:r>
          </a:p>
        </p:txBody>
      </p:sp>
      <p:cxnSp>
        <p:nvCxnSpPr>
          <p:cNvPr id="115" name="RA2"/>
          <p:cNvCxnSpPr/>
          <p:nvPr/>
        </p:nvCxnSpPr>
        <p:spPr>
          <a:xfrm>
            <a:off x="6400000" y="282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6" name="R3"/>
          <p:cNvSpPr/>
          <p:nvPr/>
        </p:nvSpPr>
        <p:spPr>
          <a:xfrm>
            <a:off x="5300000" y="3680000"/>
            <a:ext cx="2200000" cy="5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STORAGE</a:t>
            </a:r>
          </a:p>
        </p:txBody>
      </p:sp>
      <p:cxnSp>
        <p:nvCxnSpPr>
          <p:cNvPr id="117" name="RA3"/>
          <p:cNvCxnSpPr/>
          <p:nvPr/>
        </p:nvCxnSpPr>
        <p:spPr>
          <a:xfrm>
            <a:off x="6400000" y="3540000"/>
            <a:ext cx="0" cy="1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8" name="VM"/>
          <p:cNvSpPr/>
          <p:nvPr/>
        </p:nvSpPr>
        <p:spPr>
          <a:xfrm>
            <a:off x="7900000" y="2240000"/>
            <a:ext cx="1150000" cy="58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VIRTUAL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MEMORY</a:t>
            </a:r>
          </a:p>
        </p:txBody>
      </p:sp>
      <p:cxnSp>
        <p:nvCxnSpPr>
          <p:cNvPr id="119" name="MmapA"/>
          <p:cNvCxnSpPr/>
          <p:nvPr/>
        </p:nvCxnSpPr>
        <p:spPr>
          <a:xfrm>
            <a:off x="7500000" y="1810000"/>
            <a:ext cx="600000" cy="430000"/>
          </a:xfrm>
          <a:prstGeom prst="line">
            <a:avLst/>
          </a:prstGeom>
          <a:ln w="1905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20" name="MmapLbl"/>
          <p:cNvSpPr txBox="1"/>
          <p:nvPr/>
        </p:nvSpPr>
        <p:spPr>
          <a:xfrm>
            <a:off x="7960000" y="1830000"/>
            <a:ext cx="9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1" i="1" dirty="0">
                <a:solidFill>
                  <a:srgbClr val="8E6F3E"/>
                </a:solidFill>
              </a:rPr>
              <a:t xml:space="preserve">mmap</a:t>
            </a:r>
          </a:p>
        </p:txBody>
      </p:sp>
      <p:cxnSp>
        <p:nvCxnSpPr>
          <p:cNvPr id="121" name="PfA"/>
          <p:cNvCxnSpPr/>
          <p:nvPr/>
        </p:nvCxnSpPr>
        <p:spPr>
          <a:xfrm flipH="1">
            <a:off x="7500000" y="2820000"/>
            <a:ext cx="975000" cy="1080000"/>
          </a:xfrm>
          <a:prstGeom prst="line">
            <a:avLst/>
          </a:prstGeom>
          <a:ln w="1905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22" name="PfLbl"/>
          <p:cNvSpPr txBox="1"/>
          <p:nvPr/>
        </p:nvSpPr>
        <p:spPr>
          <a:xfrm>
            <a:off x="8210000" y="3400000"/>
            <a:ext cx="1050000" cy="4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page faults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→ FILE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600" b="0" i="0" dirty="0">
                <a:solidFill>
                  <a:srgbClr val="000000"/>
                </a:solidFill>
              </a:rPr>
              <a:t xml:space="preserve">The decision matrix says Architecture A wins, 3.95 to 3.70.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C61"/>
          <p:cNvSpPr/>
          <p:nvPr/>
        </p:nvSpPr>
        <p:spPr>
          <a:xfrm>
            <a:off x="3600000" y="1150000"/>
            <a:ext cx="13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Weight</a:t>
            </a:r>
          </a:p>
        </p:txBody>
      </p:sp>
      <p:sp>
        <p:nvSpPr>
          <p:cNvPr id="62" name="C62"/>
          <p:cNvSpPr/>
          <p:nvPr/>
        </p:nvSpPr>
        <p:spPr>
          <a:xfrm>
            <a:off x="4900000" y="1150000"/>
            <a:ext cx="13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A</a:t>
            </a:r>
          </a:p>
        </p:txBody>
      </p:sp>
      <p:sp>
        <p:nvSpPr>
          <p:cNvPr id="63" name="C63"/>
          <p:cNvSpPr/>
          <p:nvPr/>
        </p:nvSpPr>
        <p:spPr>
          <a:xfrm>
            <a:off x="6200000" y="1150000"/>
            <a:ext cx="13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FFFFFF"/>
                </a:solidFill>
              </a:rPr>
              <a:t xml:space="preserve">B</a:t>
            </a:r>
          </a:p>
        </p:txBody>
      </p:sp>
      <p:sp>
        <p:nvSpPr>
          <p:cNvPr id="64" name="C64"/>
          <p:cNvSpPr/>
          <p:nvPr/>
        </p:nvSpPr>
        <p:spPr>
          <a:xfrm>
            <a:off x="1200000" y="163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Performance</a:t>
            </a:r>
          </a:p>
        </p:txBody>
      </p:sp>
      <p:sp>
        <p:nvSpPr>
          <p:cNvPr id="65" name="C65"/>
          <p:cNvSpPr/>
          <p:nvPr/>
        </p:nvSpPr>
        <p:spPr>
          <a:xfrm>
            <a:off x="3600000" y="163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.30</a:t>
            </a:r>
          </a:p>
        </p:txBody>
      </p:sp>
      <p:sp>
        <p:nvSpPr>
          <p:cNvPr id="66" name="C66"/>
          <p:cNvSpPr/>
          <p:nvPr/>
        </p:nvSpPr>
        <p:spPr>
          <a:xfrm>
            <a:off x="4900000" y="163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5</a:t>
            </a:r>
          </a:p>
        </p:txBody>
      </p:sp>
      <p:sp>
        <p:nvSpPr>
          <p:cNvPr id="67" name="C67"/>
          <p:cNvSpPr/>
          <p:nvPr/>
        </p:nvSpPr>
        <p:spPr>
          <a:xfrm>
            <a:off x="6200000" y="163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3</a:t>
            </a:r>
          </a:p>
        </p:txBody>
      </p:sp>
      <p:sp>
        <p:nvSpPr>
          <p:cNvPr id="68" name="C68"/>
          <p:cNvSpPr/>
          <p:nvPr/>
        </p:nvSpPr>
        <p:spPr>
          <a:xfrm>
            <a:off x="1200000" y="211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Cost</a:t>
            </a:r>
          </a:p>
        </p:txBody>
      </p:sp>
      <p:sp>
        <p:nvSpPr>
          <p:cNvPr id="69" name="C69"/>
          <p:cNvSpPr/>
          <p:nvPr/>
        </p:nvSpPr>
        <p:spPr>
          <a:xfrm>
            <a:off x="3600000" y="211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.25</a:t>
            </a:r>
          </a:p>
        </p:txBody>
      </p:sp>
      <p:sp>
        <p:nvSpPr>
          <p:cNvPr id="70" name="C70"/>
          <p:cNvSpPr/>
          <p:nvPr/>
        </p:nvSpPr>
        <p:spPr>
          <a:xfrm>
            <a:off x="4900000" y="211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2</a:t>
            </a:r>
          </a:p>
        </p:txBody>
      </p:sp>
      <p:sp>
        <p:nvSpPr>
          <p:cNvPr id="71" name="C71"/>
          <p:cNvSpPr/>
          <p:nvPr/>
        </p:nvSpPr>
        <p:spPr>
          <a:xfrm>
            <a:off x="6200000" y="211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5</a:t>
            </a:r>
          </a:p>
        </p:txBody>
      </p:sp>
      <p:sp>
        <p:nvSpPr>
          <p:cNvPr id="72" name="C72"/>
          <p:cNvSpPr/>
          <p:nvPr/>
        </p:nvSpPr>
        <p:spPr>
          <a:xfrm>
            <a:off x="1200000" y="259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Changeability</a:t>
            </a:r>
          </a:p>
        </p:txBody>
      </p:sp>
      <p:sp>
        <p:nvSpPr>
          <p:cNvPr id="73" name="C73"/>
          <p:cNvSpPr/>
          <p:nvPr/>
        </p:nvSpPr>
        <p:spPr>
          <a:xfrm>
            <a:off x="3600000" y="259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.20</a:t>
            </a:r>
          </a:p>
        </p:txBody>
      </p:sp>
      <p:sp>
        <p:nvSpPr>
          <p:cNvPr id="74" name="C74"/>
          <p:cNvSpPr/>
          <p:nvPr/>
        </p:nvSpPr>
        <p:spPr>
          <a:xfrm>
            <a:off x="4900000" y="259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4</a:t>
            </a:r>
          </a:p>
        </p:txBody>
      </p:sp>
      <p:sp>
        <p:nvSpPr>
          <p:cNvPr id="75" name="C75"/>
          <p:cNvSpPr/>
          <p:nvPr/>
        </p:nvSpPr>
        <p:spPr>
          <a:xfrm>
            <a:off x="6200000" y="259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3</a:t>
            </a:r>
          </a:p>
        </p:txBody>
      </p:sp>
      <p:sp>
        <p:nvSpPr>
          <p:cNvPr id="76" name="C76"/>
          <p:cNvSpPr/>
          <p:nvPr/>
        </p:nvSpPr>
        <p:spPr>
          <a:xfrm>
            <a:off x="1200000" y="307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Reliability</a:t>
            </a:r>
          </a:p>
        </p:txBody>
      </p:sp>
      <p:sp>
        <p:nvSpPr>
          <p:cNvPr id="77" name="C77"/>
          <p:cNvSpPr/>
          <p:nvPr/>
        </p:nvSpPr>
        <p:spPr>
          <a:xfrm>
            <a:off x="3600000" y="307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.25</a:t>
            </a:r>
          </a:p>
        </p:txBody>
      </p:sp>
      <p:sp>
        <p:nvSpPr>
          <p:cNvPr id="78" name="C78"/>
          <p:cNvSpPr/>
          <p:nvPr/>
        </p:nvSpPr>
        <p:spPr>
          <a:xfrm>
            <a:off x="4900000" y="307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5</a:t>
            </a:r>
          </a:p>
        </p:txBody>
      </p:sp>
      <p:sp>
        <p:nvSpPr>
          <p:cNvPr id="79" name="C79"/>
          <p:cNvSpPr/>
          <p:nvPr/>
        </p:nvSpPr>
        <p:spPr>
          <a:xfrm>
            <a:off x="6200000" y="307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0" i="0" dirty="0">
                <a:solidFill>
                  <a:srgbClr val="000000"/>
                </a:solidFill>
              </a:rPr>
              <a:t xml:space="preserve">4</a:t>
            </a:r>
          </a:p>
        </p:txBody>
      </p:sp>
      <p:sp>
        <p:nvSpPr>
          <p:cNvPr id="80" name="C80"/>
          <p:cNvSpPr/>
          <p:nvPr/>
        </p:nvSpPr>
        <p:spPr>
          <a:xfrm>
            <a:off x="1200000" y="3550000"/>
            <a:ext cx="24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5C4826"/>
                </a:solidFill>
              </a:rPr>
              <a:t xml:space="preserve">Weighted</a:t>
            </a:r>
          </a:p>
        </p:txBody>
      </p:sp>
      <p:sp>
        <p:nvSpPr>
          <p:cNvPr id="82" name="C82"/>
          <p:cNvSpPr/>
          <p:nvPr/>
        </p:nvSpPr>
        <p:spPr>
          <a:xfrm>
            <a:off x="4900000" y="355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 xml:space="preserve">3.95</a:t>
            </a:r>
          </a:p>
        </p:txBody>
      </p:sp>
      <p:sp>
        <p:nvSpPr>
          <p:cNvPr id="83" name="C83"/>
          <p:cNvSpPr/>
          <p:nvPr/>
        </p:nvSpPr>
        <p:spPr>
          <a:xfrm>
            <a:off x="6200000" y="3550000"/>
            <a:ext cx="1300000" cy="48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800" b="1" i="0" dirty="0">
                <a:solidFill>
                  <a:srgbClr val="000000"/>
                </a:solidFill>
              </a:rPr>
              <a:t xml:space="preserve">3.70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685800" y="418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1" i="0" dirty="0">
                <a:solidFill>
                  <a:srgbClr val="8E6F3E"/>
                </a:solidFill>
              </a:rPr>
              <a:t xml:space="preserve">🏆  A WINS  🏆</a:t>
            </a:r>
          </a:p>
        </p:txBody>
      </p:sp>
      <p:sp>
        <p:nvSpPr>
          <p:cNvPr id="92" name="T92"/>
          <p:cNvSpPr txBox="1"/>
          <p:nvPr/>
        </p:nvSpPr>
        <p:spPr>
          <a:xfrm>
            <a:off x="685800" y="5800000"/>
            <a:ext cx="7772400" cy="4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000" b="0" i="1" dirty="0">
                <a:solidFill>
                  <a:srgbClr val="000000"/>
                </a:solidFill>
              </a:rPr>
              <a:t xml:space="preserve">This is not measurement merely because a spreadsheet produced a number.</a:t>
            </a:r>
          </a:p>
        </p:txBody>
      </p:sp>
      <p:sp>
        <p:nvSpPr>
          <p:cNvPr id="120" name="Callout1"/>
          <p:cNvSpPr/>
          <p:nvPr/>
        </p:nvSpPr>
        <p:spPr>
          <a:xfrm>
            <a:off x="90000" y="1890000"/>
            <a:ext cx="1020000" cy="44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B23B3B"/>
                </a:solidFill>
              </a:rPr>
              <a:t xml:space="preserve">WHY .30?</a:t>
            </a:r>
          </a:p>
        </p:txBody>
      </p:sp>
      <p:cxnSp>
        <p:nvCxnSpPr>
          <p:cNvPr id="121" name="CalloutArw1"/>
          <p:cNvCxnSpPr/>
          <p:nvPr/>
        </p:nvCxnSpPr>
        <p:spPr>
          <a:xfrm>
            <a:off x="1110000" y="2110000"/>
            <a:ext cx="2450000" cy="0"/>
          </a:xfrm>
          <a:prstGeom prst="line">
            <a:avLst/>
          </a:prstGeom>
          <a:ln w="15875">
            <a:solidFill>
              <a:srgbClr val="B23B3B"/>
            </a:solidFill>
            <a:tailEnd type="triangle" w="med" len="med"/>
          </a:ln>
        </p:spPr>
      </p:cxnSp>
      <p:sp>
        <p:nvSpPr>
          <p:cNvPr id="122" name="Callout2"/>
          <p:cNvSpPr/>
          <p:nvPr/>
        </p:nvSpPr>
        <p:spPr>
          <a:xfrm>
            <a:off x="7590000" y="1350000"/>
            <a:ext cx="1450000" cy="56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B23B3B"/>
                </a:solidFill>
              </a:rPr>
              <a:t xml:space="preserve">WHAT IS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00" b="1" i="0" dirty="0">
                <a:solidFill>
                  <a:srgbClr val="B23B3B"/>
                </a:solidFill>
              </a:rPr>
              <a:t xml:space="preserve">A “5”?</a:t>
            </a:r>
          </a:p>
        </p:txBody>
      </p:sp>
      <p:cxnSp>
        <p:nvCxnSpPr>
          <p:cNvPr id="123" name="CalloutArw2"/>
          <p:cNvCxnSpPr/>
          <p:nvPr/>
        </p:nvCxnSpPr>
        <p:spPr>
          <a:xfrm flipH="1">
            <a:off x="6240000" y="1630000"/>
            <a:ext cx="1350000" cy="0"/>
          </a:xfrm>
          <a:prstGeom prst="line">
            <a:avLst/>
          </a:prstGeom>
          <a:ln w="15875">
            <a:solidFill>
              <a:srgbClr val="B23B3B"/>
            </a:solidFill>
            <a:tailEnd type="triangle" w="med" len="med"/>
          </a:ln>
        </p:spPr>
      </p:cxnSp>
      <p:sp>
        <p:nvSpPr>
          <p:cNvPr id="124" name="CalloutBrace"/>
          <p:cNvSpPr/>
          <p:nvPr/>
        </p:nvSpPr>
        <p:spPr>
          <a:xfrm>
            <a:off x="7530000" y="2110000"/>
            <a:ext cx="240000" cy="1440000"/>
          </a:xfrm>
          <a:prstGeom prst="leftBrace">
            <a:avLst/>
          </a:prstGeom>
          <a:noFill/>
          <a:ln w="15875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25" name="Callout3"/>
          <p:cNvSpPr/>
          <p:nvPr/>
        </p:nvSpPr>
        <p:spPr>
          <a:xfrm>
            <a:off x="7800000" y="2350000"/>
            <a:ext cx="1300000" cy="1000000"/>
          </a:xfrm>
          <a:prstGeom prst="roundRect">
            <a:avLst/>
          </a:prstGeom>
          <a:solidFill>
            <a:srgbClr val="FFFFFF"/>
          </a:solidFill>
          <a:ln w="15875">
            <a:solidFill>
              <a:srgbClr val="B23B3B"/>
            </a:solidFill>
          </a:ln>
        </p:spPr>
        <p:txBody>
          <a:bodyPr wrap="square" lIns="45720" tIns="27432" rIns="45720" bIns="27432" anchor="ctr">
            <a:normAutofit/>
          </a:bodyPr>
          <a:lstStyle/>
          <a:p>
            <a:pPr algn="ctr">
              <a:buNone/>
            </a:pPr>
            <a:r>
              <a:rPr lang="en-US" sz="1000" b="1" i="0" dirty="0">
                <a:solidFill>
                  <a:srgbClr val="B23B3B"/>
                </a:solidFill>
              </a:rPr>
              <a:t xml:space="preserve">WHY CAN COST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00" b="1" i="0" dirty="0">
                <a:solidFill>
                  <a:srgbClr val="B23B3B"/>
                </a:solidFill>
              </a:rPr>
              <a:t xml:space="preserve">COMPENSATE FOR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00" b="1" i="0" dirty="0">
                <a:solidFill>
                  <a:srgbClr val="B23B3B"/>
                </a:solidFill>
              </a:rPr>
              <a:t xml:space="preserve">RELIABILITY?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1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400"/>
                                        <p:tgtEl>
                                          <p:spTgt spid="1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1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First eliminate unacceptable and dominated alternatives.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4800000"/>
            <a:ext cx="77724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000000"/>
                </a:solidFill>
              </a:rPr>
              <a:t xml:space="preserve">Constraints are not objectives.</a:t>
            </a:r>
          </a:p>
          <a:p>
            <a:pPr algn="ctr">
              <a:spcBef>
                <a:spcPts val="200"/>
              </a:spcBef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Specification first removes infeasible candidates; then dominance removes the clearly-worse ones.</a:t>
            </a:r>
          </a:p>
        </p:txBody>
      </p:sp>
      <p:sp>
        <p:nvSpPr>
          <p:cNvPr id="100" name="S1Lbl"/>
          <p:cNvSpPr txBox="1"/>
          <p:nvPr/>
        </p:nvSpPr>
        <p:spPr>
          <a:xfrm>
            <a:off x="685800" y="130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 xml:space="preserve">STAGE 1 — SPECIFICATION</a:t>
            </a:r>
          </a:p>
        </p:txBody>
      </p:sp>
      <p:sp>
        <p:nvSpPr>
          <p:cNvPr id="101" name="S1A"/>
          <p:cNvSpPr/>
          <p:nvPr/>
        </p:nvSpPr>
        <p:spPr>
          <a:xfrm>
            <a:off x="685800" y="1750000"/>
            <a:ext cx="780000" cy="8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A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1" i="0" dirty="0">
                <a:solidFill>
                  <a:srgbClr val="1F7A4D"/>
                </a:solidFill>
              </a:rPr>
              <a:t xml:space="preserve">✓</a:t>
            </a:r>
          </a:p>
        </p:txBody>
      </p:sp>
      <p:sp>
        <p:nvSpPr>
          <p:cNvPr id="102" name="S1B"/>
          <p:cNvSpPr/>
          <p:nvPr/>
        </p:nvSpPr>
        <p:spPr>
          <a:xfrm>
            <a:off x="1565800" y="1750000"/>
            <a:ext cx="780000" cy="850000"/>
          </a:xfrm>
          <a:prstGeom prst="rect">
            <a:avLst/>
          </a:prstGeom>
          <a:solidFill>
            <a:srgbClr val="F5F1E8"/>
          </a:solidFill>
          <a:ln w="19050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B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1" i="0" dirty="0">
                <a:solidFill>
                  <a:srgbClr val="B23B3B"/>
                </a:solidFill>
              </a:rPr>
              <a:t xml:space="preserve">✗</a:t>
            </a:r>
          </a:p>
        </p:txBody>
      </p:sp>
      <p:sp>
        <p:nvSpPr>
          <p:cNvPr id="103" name="S1C"/>
          <p:cNvSpPr/>
          <p:nvPr/>
        </p:nvSpPr>
        <p:spPr>
          <a:xfrm>
            <a:off x="2445800" y="1750000"/>
            <a:ext cx="780000" cy="8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C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1" i="0" dirty="0">
                <a:solidFill>
                  <a:srgbClr val="1F7A4D"/>
                </a:solidFill>
              </a:rPr>
              <a:t xml:space="preserve">✓</a:t>
            </a:r>
          </a:p>
        </p:txBody>
      </p:sp>
      <p:sp>
        <p:nvSpPr>
          <p:cNvPr id="104" name="S1D"/>
          <p:cNvSpPr/>
          <p:nvPr/>
        </p:nvSpPr>
        <p:spPr>
          <a:xfrm>
            <a:off x="3325800" y="1750000"/>
            <a:ext cx="780000" cy="8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D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600" b="1" i="0" dirty="0">
                <a:solidFill>
                  <a:srgbClr val="1F7A4D"/>
                </a:solidFill>
              </a:rPr>
              <a:t xml:space="preserve">✓</a:t>
            </a:r>
          </a:p>
        </p:txBody>
      </p:sp>
      <p:sp>
        <p:nvSpPr>
          <p:cNvPr id="105" name="S1Btag"/>
          <p:cNvSpPr txBox="1"/>
          <p:nvPr/>
        </p:nvSpPr>
        <p:spPr>
          <a:xfrm>
            <a:off x="1145800" y="2700000"/>
            <a:ext cx="16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B23B3B"/>
                </a:solidFill>
              </a:rPr>
              <a:t xml:space="preserve">B violates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50" b="0" i="1" dirty="0">
                <a:solidFill>
                  <a:srgbClr val="B23B3B"/>
                </a:solidFill>
              </a:rPr>
              <a:t xml:space="preserve">required latency</a:t>
            </a:r>
          </a:p>
        </p:txBody>
      </p:sp>
      <p:cxnSp>
        <p:nvCxnSpPr>
          <p:cNvPr id="106" name="Div"/>
          <p:cNvCxnSpPr/>
          <p:nvPr/>
        </p:nvCxnSpPr>
        <p:spPr>
          <a:xfrm>
            <a:off x="4600000" y="1350000"/>
            <a:ext cx="0" cy="2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07" name="S2Lbl"/>
          <p:cNvSpPr txBox="1"/>
          <p:nvPr/>
        </p:nvSpPr>
        <p:spPr>
          <a:xfrm>
            <a:off x="4950000" y="1300000"/>
            <a:ext cx="36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300" b="1" i="0" dirty="0">
                <a:solidFill>
                  <a:srgbClr val="8E6F3E"/>
                </a:solidFill>
              </a:rPr>
              <a:t xml:space="preserve">STAGE 2 — DOMINANCE</a:t>
            </a:r>
          </a:p>
        </p:txBody>
      </p:sp>
      <p:cxnSp>
        <p:nvCxnSpPr>
          <p:cNvPr id="108" name="AxX"/>
          <p:cNvCxnSpPr/>
          <p:nvPr/>
        </p:nvCxnSpPr>
        <p:spPr>
          <a:xfrm>
            <a:off x="5100000" y="4100000"/>
            <a:ext cx="32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9" name="AxY"/>
          <p:cNvCxnSpPr/>
          <p:nvPr/>
        </p:nvCxnSpPr>
        <p:spPr>
          <a:xfrm flipV="1">
            <a:off x="5100000" y="1750000"/>
            <a:ext cx="0" cy="23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0" name="AxXLbl"/>
          <p:cNvSpPr txBox="1"/>
          <p:nvPr/>
        </p:nvSpPr>
        <p:spPr>
          <a:xfrm>
            <a:off x="7300000" y="4180000"/>
            <a:ext cx="11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better →</a:t>
            </a:r>
          </a:p>
        </p:txBody>
      </p:sp>
      <p:sp>
        <p:nvSpPr>
          <p:cNvPr id="111" name="AxYLbl"/>
          <p:cNvSpPr txBox="1"/>
          <p:nvPr/>
        </p:nvSpPr>
        <p:spPr>
          <a:xfrm rot="-5400000">
            <a:off x="4300000" y="2050000"/>
            <a:ext cx="11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better →</a:t>
            </a:r>
          </a:p>
        </p:txBody>
      </p:sp>
      <p:sp>
        <p:nvSpPr>
          <p:cNvPr id="112" name="DomRegion"/>
          <p:cNvSpPr/>
          <p:nvPr/>
        </p:nvSpPr>
        <p:spPr>
          <a:xfrm>
            <a:off x="5100000" y="2450000"/>
            <a:ext cx="2300000" cy="1650000"/>
          </a:xfrm>
          <a:prstGeom prst="rect">
            <a:avLst/>
          </a:prstGeom>
          <a:solidFill>
            <a:srgbClr val="B23B3B">
              <a:alpha val="9000"/>
            </a:srgbClr>
          </a:solidFill>
          <a:ln w="12700">
            <a:solidFill>
              <a:srgbClr val="B23B3B"/>
            </a:solidFill>
            <a:prstDash val="dash"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3" name="PtA"/>
          <p:cNvSpPr/>
          <p:nvPr/>
        </p:nvSpPr>
        <p:spPr>
          <a:xfrm>
            <a:off x="7305000" y="2355000"/>
            <a:ext cx="190000" cy="19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4" name="PtLblA"/>
          <p:cNvSpPr txBox="1"/>
          <p:nvPr/>
        </p:nvSpPr>
        <p:spPr>
          <a:xfrm>
            <a:off x="7510000" y="2160000"/>
            <a:ext cx="3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5" name="PtC"/>
          <p:cNvSpPr/>
          <p:nvPr/>
        </p:nvSpPr>
        <p:spPr>
          <a:xfrm>
            <a:off x="5705000" y="1855000"/>
            <a:ext cx="190000" cy="19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6" name="PtLblC"/>
          <p:cNvSpPr txBox="1"/>
          <p:nvPr/>
        </p:nvSpPr>
        <p:spPr>
          <a:xfrm>
            <a:off x="5910000" y="1660000"/>
            <a:ext cx="3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17" name="PtD"/>
          <p:cNvSpPr/>
          <p:nvPr/>
        </p:nvSpPr>
        <p:spPr>
          <a:xfrm>
            <a:off x="6505000" y="3205000"/>
            <a:ext cx="190000" cy="190000"/>
          </a:xfrm>
          <a:prstGeom prst="ellipse">
            <a:avLst/>
          </a:prstGeom>
          <a:solidFill>
            <a:srgbClr val="B23B3B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8" name="PtLblD"/>
          <p:cNvSpPr txBox="1"/>
          <p:nvPr/>
        </p:nvSpPr>
        <p:spPr>
          <a:xfrm>
            <a:off x="6710000" y="3010000"/>
            <a:ext cx="35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B23B3B"/>
                </a:solidFill>
              </a:rPr>
              <a:t xml:space="preserve">D</a:t>
            </a:r>
          </a:p>
        </p:txBody>
      </p:sp>
      <p:sp>
        <p:nvSpPr>
          <p:cNvPr id="119" name="DomLbl"/>
          <p:cNvSpPr txBox="1"/>
          <p:nvPr/>
        </p:nvSpPr>
        <p:spPr>
          <a:xfrm>
            <a:off x="5200000" y="3480000"/>
            <a:ext cx="19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B23B3B"/>
                </a:solidFill>
              </a:rPr>
              <a:t xml:space="preserve">D is dominated by 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A real tradeoff requires judgment.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5100000"/>
            <a:ext cx="8585200" cy="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 xml:space="preserve">Mathematics has not chosen for us.</a:t>
            </a:r>
          </a:p>
        </p:txBody>
      </p:sp>
      <p:cxnSp>
        <p:nvCxnSpPr>
          <p:cNvPr id="100" name="AxX"/>
          <p:cNvCxnSpPr/>
          <p:nvPr/>
        </p:nvCxnSpPr>
        <p:spPr>
          <a:xfrm>
            <a:off x="1700000" y="4300000"/>
            <a:ext cx="62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1" name="AxY"/>
          <p:cNvCxnSpPr/>
          <p:nvPr/>
        </p:nvCxnSpPr>
        <p:spPr>
          <a:xfrm flipV="1">
            <a:off x="1700000" y="1400000"/>
            <a:ext cx="0" cy="29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AxXLbl"/>
          <p:cNvSpPr txBox="1"/>
          <p:nvPr/>
        </p:nvSpPr>
        <p:spPr>
          <a:xfrm>
            <a:off x="5900000" y="4390000"/>
            <a:ext cx="20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</a:pPr>
            <a:r>
              <a:rPr lang="en-US" sz="1200" b="0" i="1" dirty="0">
                <a:solidFill>
                  <a:srgbClr val="555960"/>
                </a:solidFill>
              </a:rPr>
              <a:t xml:space="preserve">Property X → better</a:t>
            </a:r>
          </a:p>
        </p:txBody>
      </p:sp>
      <p:sp>
        <p:nvSpPr>
          <p:cNvPr id="103" name="AxYLbl"/>
          <p:cNvSpPr txBox="1"/>
          <p:nvPr/>
        </p:nvSpPr>
        <p:spPr>
          <a:xfrm rot="-5400000">
            <a:off x="250000" y="2500000"/>
            <a:ext cx="205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200" b="0" i="1" dirty="0">
                <a:solidFill>
                  <a:srgbClr val="555960"/>
                </a:solidFill>
              </a:rPr>
              <a:t xml:space="preserve">Property Y → better</a:t>
            </a:r>
          </a:p>
        </p:txBody>
      </p:sp>
      <p:cxnSp>
        <p:nvCxnSpPr>
          <p:cNvPr id="104" name="Fr0"/>
          <p:cNvCxnSpPr/>
          <p:nvPr/>
        </p:nvCxnSpPr>
        <p:spPr>
          <a:xfrm>
            <a:off x="2500000" y="1800000"/>
            <a:ext cx="1600000" cy="500000"/>
          </a:xfrm>
          <a:prstGeom prst="line">
            <a:avLst/>
          </a:prstGeom>
          <a:ln w="19050">
            <a:solidFill>
              <a:srgbClr val="C9B991"/>
            </a:solidFill>
            <a:prstDash val="dash"/>
          </a:ln>
        </p:spPr>
      </p:cxnSp>
      <p:cxnSp>
        <p:nvCxnSpPr>
          <p:cNvPr id="105" name="Fr1"/>
          <p:cNvCxnSpPr/>
          <p:nvPr/>
        </p:nvCxnSpPr>
        <p:spPr>
          <a:xfrm>
            <a:off x="4100000" y="2300000"/>
            <a:ext cx="1600000" cy="700000"/>
          </a:xfrm>
          <a:prstGeom prst="line">
            <a:avLst/>
          </a:prstGeom>
          <a:ln w="19050">
            <a:solidFill>
              <a:srgbClr val="C9B991"/>
            </a:solidFill>
            <a:prstDash val="dash"/>
          </a:ln>
        </p:spPr>
      </p:cxnSp>
      <p:cxnSp>
        <p:nvCxnSpPr>
          <p:cNvPr id="106" name="Fr2"/>
          <p:cNvCxnSpPr/>
          <p:nvPr/>
        </p:nvCxnSpPr>
        <p:spPr>
          <a:xfrm>
            <a:off x="5700000" y="3000000"/>
            <a:ext cx="1500000" cy="850000"/>
          </a:xfrm>
          <a:prstGeom prst="line">
            <a:avLst/>
          </a:prstGeom>
          <a:ln w="19050">
            <a:solidFill>
              <a:srgbClr val="C9B991"/>
            </a:solidFill>
            <a:prstDash val="dash"/>
          </a:ln>
        </p:spPr>
      </p:cxnSp>
      <p:sp>
        <p:nvSpPr>
          <p:cNvPr id="107" name="PtA"/>
          <p:cNvSpPr/>
          <p:nvPr/>
        </p:nvSpPr>
        <p:spPr>
          <a:xfrm>
            <a:off x="2400000" y="1700000"/>
            <a:ext cx="200000" cy="20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8" name="PtLblA"/>
          <p:cNvSpPr txBox="1"/>
          <p:nvPr/>
        </p:nvSpPr>
        <p:spPr>
          <a:xfrm>
            <a:off x="2620000" y="1460000"/>
            <a:ext cx="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9" name="PtB"/>
          <p:cNvSpPr/>
          <p:nvPr/>
        </p:nvSpPr>
        <p:spPr>
          <a:xfrm>
            <a:off x="4000000" y="2200000"/>
            <a:ext cx="200000" cy="20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0" name="PtLblB"/>
          <p:cNvSpPr txBox="1"/>
          <p:nvPr/>
        </p:nvSpPr>
        <p:spPr>
          <a:xfrm>
            <a:off x="4220000" y="1960000"/>
            <a:ext cx="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1" name="PtC"/>
          <p:cNvSpPr/>
          <p:nvPr/>
        </p:nvSpPr>
        <p:spPr>
          <a:xfrm>
            <a:off x="5600000" y="2900000"/>
            <a:ext cx="200000" cy="20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2" name="PtLblC"/>
          <p:cNvSpPr txBox="1"/>
          <p:nvPr/>
        </p:nvSpPr>
        <p:spPr>
          <a:xfrm>
            <a:off x="5820000" y="2660000"/>
            <a:ext cx="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13" name="PtD"/>
          <p:cNvSpPr/>
          <p:nvPr/>
        </p:nvSpPr>
        <p:spPr>
          <a:xfrm>
            <a:off x="7100000" y="3750000"/>
            <a:ext cx="200000" cy="20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4" name="PtLblD"/>
          <p:cNvSpPr txBox="1"/>
          <p:nvPr/>
        </p:nvSpPr>
        <p:spPr>
          <a:xfrm>
            <a:off x="7320000" y="3510000"/>
            <a:ext cx="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sp>
        <p:nvSpPr>
          <p:cNvPr id="115" name="NoDom"/>
          <p:cNvSpPr txBox="1"/>
          <p:nvPr/>
        </p:nvSpPr>
        <p:spPr>
          <a:xfrm>
            <a:off x="5500000" y="1650000"/>
            <a:ext cx="25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no point dominates another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Sometimes the right decision is to buy more information.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5100000"/>
            <a:ext cx="8585200" cy="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FFFFFF"/>
                </a:solidFill>
              </a:rPr>
              <a:t xml:space="preserve">Is the information worth more than it costs to obtain?</a:t>
            </a:r>
          </a:p>
        </p:txBody>
      </p:sp>
      <p:sp>
        <p:nvSpPr>
          <p:cNvPr id="100" name="Uncertain"/>
          <p:cNvSpPr/>
          <p:nvPr/>
        </p:nvSpPr>
        <p:spPr>
          <a:xfrm>
            <a:off x="685800" y="2400000"/>
            <a:ext cx="1500000" cy="6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UNCERTAIN CHOICE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2185800" y="2725000"/>
            <a:ext cx="3142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Diamond"/>
          <p:cNvSpPr/>
          <p:nvPr/>
        </p:nvSpPr>
        <p:spPr>
          <a:xfrm>
            <a:off x="2550000" y="1900000"/>
            <a:ext cx="2300000" cy="1650000"/>
          </a:xfrm>
          <a:prstGeom prst="diamond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80000" tIns="180000" rIns="180000" bIns="180000" anchor="ctr">
            <a:normAutofit/>
          </a:bodyPr>
          <a:lstStyle/>
          <a:p>
            <a:pPr algn="ctr">
              <a:buNone/>
            </a:pPr>
            <a:r>
              <a:rPr lang="en-US" sz="1050" b="1" i="0" dirty="0">
                <a:solidFill>
                  <a:srgbClr val="5C4826"/>
                </a:solidFill>
              </a:rPr>
              <a:t xml:space="preserve">Could knowing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50" b="1" i="0" dirty="0">
                <a:solidFill>
                  <a:srgbClr val="5C4826"/>
                </a:solidFill>
              </a:rPr>
              <a:t xml:space="preserve">more change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50" b="1" i="0" dirty="0">
                <a:solidFill>
                  <a:srgbClr val="5C4826"/>
                </a:solidFill>
              </a:rPr>
              <a:t xml:space="preserve">the decision?</a:t>
            </a:r>
          </a:p>
        </p:txBody>
      </p:sp>
      <p:cxnSp>
        <p:nvCxnSpPr>
          <p:cNvPr id="103" name="ANo"/>
          <p:cNvCxnSpPr/>
          <p:nvPr/>
        </p:nvCxnSpPr>
        <p:spPr>
          <a:xfrm>
            <a:off x="3700000" y="3550000"/>
            <a:ext cx="0" cy="5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NoLbl"/>
          <p:cNvSpPr txBox="1"/>
          <p:nvPr/>
        </p:nvSpPr>
        <p:spPr>
          <a:xfrm>
            <a:off x="3790000" y="3620000"/>
            <a:ext cx="5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1" i="0" dirty="0">
                <a:solidFill>
                  <a:srgbClr val="555960"/>
                </a:solidFill>
              </a:rPr>
              <a:t xml:space="preserve">NO</a:t>
            </a:r>
          </a:p>
        </p:txBody>
      </p:sp>
      <p:sp>
        <p:nvSpPr>
          <p:cNvPr id="105" name="Decide"/>
          <p:cNvSpPr/>
          <p:nvPr/>
        </p:nvSpPr>
        <p:spPr>
          <a:xfrm>
            <a:off x="3100000" y="4050000"/>
            <a:ext cx="12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DECIDE</a:t>
            </a:r>
          </a:p>
        </p:txBody>
      </p:sp>
      <p:cxnSp>
        <p:nvCxnSpPr>
          <p:cNvPr id="106" name="AYes"/>
          <p:cNvCxnSpPr/>
          <p:nvPr/>
        </p:nvCxnSpPr>
        <p:spPr>
          <a:xfrm>
            <a:off x="4850000" y="2725000"/>
            <a:ext cx="3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7" name="YesLbl"/>
          <p:cNvSpPr txBox="1"/>
          <p:nvPr/>
        </p:nvSpPr>
        <p:spPr>
          <a:xfrm>
            <a:off x="4820000" y="2400000"/>
            <a:ext cx="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1" i="0" dirty="0">
                <a:solidFill>
                  <a:srgbClr val="555960"/>
                </a:solidFill>
              </a:rPr>
              <a:t xml:space="preserve">YES</a:t>
            </a:r>
          </a:p>
        </p:txBody>
      </p:sp>
      <p:sp>
        <p:nvSpPr>
          <p:cNvPr id="108" name="BuyEv"/>
          <p:cNvSpPr/>
          <p:nvPr/>
        </p:nvSpPr>
        <p:spPr>
          <a:xfrm>
            <a:off x="5150000" y="2400000"/>
            <a:ext cx="1400000" cy="6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 xml:space="preserve">BUY EVIDENCE</a:t>
            </a:r>
          </a:p>
        </p:txBody>
      </p:sp>
      <p:sp>
        <p:nvSpPr>
          <p:cNvPr id="109" name="Kid0"/>
          <p:cNvSpPr/>
          <p:nvPr/>
        </p:nvSpPr>
        <p:spPr>
          <a:xfrm>
            <a:off x="6850000" y="1500000"/>
            <a:ext cx="115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cxnSp>
        <p:nvCxnSpPr>
          <p:cNvPr id="110" name="KA0"/>
          <p:cNvCxnSpPr/>
          <p:nvPr/>
        </p:nvCxnSpPr>
        <p:spPr>
          <a:xfrm flipV="1">
            <a:off x="6550000" y="1740000"/>
            <a:ext cx="300000" cy="985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1" name="Kid1"/>
          <p:cNvSpPr/>
          <p:nvPr/>
        </p:nvSpPr>
        <p:spPr>
          <a:xfrm>
            <a:off x="6850000" y="2485000"/>
            <a:ext cx="115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PROTOTYPE</a:t>
            </a:r>
          </a:p>
        </p:txBody>
      </p:sp>
      <p:cxnSp>
        <p:nvCxnSpPr>
          <p:cNvPr id="112" name="KA1"/>
          <p:cNvCxnSpPr/>
          <p:nvPr/>
        </p:nvCxnSpPr>
        <p:spPr>
          <a:xfrm>
            <a:off x="6550000" y="2725000"/>
            <a:ext cx="3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Kid2"/>
          <p:cNvSpPr/>
          <p:nvPr/>
        </p:nvSpPr>
        <p:spPr>
          <a:xfrm>
            <a:off x="6850000" y="3470000"/>
            <a:ext cx="115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MEASURE</a:t>
            </a:r>
          </a:p>
        </p:txBody>
      </p:sp>
      <p:cxnSp>
        <p:nvCxnSpPr>
          <p:cNvPr id="114" name="KA2"/>
          <p:cNvCxnSpPr/>
          <p:nvPr/>
        </p:nvCxnSpPr>
        <p:spPr>
          <a:xfrm>
            <a:off x="6550000" y="2725000"/>
            <a:ext cx="300000" cy="985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5" name="DecideBetter"/>
          <p:cNvSpPr/>
          <p:nvPr/>
        </p:nvSpPr>
        <p:spPr>
          <a:xfrm>
            <a:off x="8150000" y="2425000"/>
            <a:ext cx="900000" cy="6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FFFFFF"/>
                </a:solidFill>
              </a:rPr>
              <a:t xml:space="preserve">DECIDE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FFFFFF"/>
                </a:solidFill>
              </a:rPr>
              <a:t xml:space="preserve">BETTER</a:t>
            </a:r>
          </a:p>
        </p:txBody>
      </p:sp>
      <p:cxnSp>
        <p:nvCxnSpPr>
          <p:cNvPr id="116" name="CA0"/>
          <p:cNvCxnSpPr/>
          <p:nvPr/>
        </p:nvCxnSpPr>
        <p:spPr>
          <a:xfrm>
            <a:off x="8000000" y="1740000"/>
            <a:ext cx="150000" cy="985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7" name="CA1"/>
          <p:cNvCxnSpPr/>
          <p:nvPr/>
        </p:nvCxnSpPr>
        <p:spPr>
          <a:xfrm>
            <a:off x="8000000" y="2725000"/>
            <a:ext cx="1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8" name="CA2"/>
          <p:cNvCxnSpPr/>
          <p:nvPr/>
        </p:nvCxnSpPr>
        <p:spPr>
          <a:xfrm flipV="1">
            <a:off x="8000000" y="2725000"/>
            <a:ext cx="150000" cy="985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600" b="0" i="0" dirty="0">
                <a:solidFill>
                  <a:srgbClr val="000000"/>
                </a:solidFill>
              </a:rPr>
              <a:t xml:space="preserve">How much can we know before we build it?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4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Architecture makes some properties analyzable.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Architecture answers four questions.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100" name="QCard0"/>
          <p:cNvSpPr/>
          <p:nvPr/>
        </p:nvSpPr>
        <p:spPr>
          <a:xfrm>
            <a:off x="685800" y="1300000"/>
            <a:ext cx="3708400" cy="1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1" name="QTxt0"/>
          <p:cNvSpPr txBox="1"/>
          <p:nvPr/>
        </p:nvSpPr>
        <p:spPr>
          <a:xfrm>
            <a:off x="835800" y="1430000"/>
            <a:ext cx="34084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What are the parts?</a:t>
            </a:r>
          </a:p>
        </p:txBody>
      </p:sp>
      <p:sp>
        <p:nvSpPr>
          <p:cNvPr id="102" name="QCard1"/>
          <p:cNvSpPr/>
          <p:nvPr/>
        </p:nvSpPr>
        <p:spPr>
          <a:xfrm>
            <a:off x="4749800" y="1300000"/>
            <a:ext cx="3708400" cy="1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3" name="QTxt1"/>
          <p:cNvSpPr txBox="1"/>
          <p:nvPr/>
        </p:nvSpPr>
        <p:spPr>
          <a:xfrm>
            <a:off x="4899800" y="1430000"/>
            <a:ext cx="34084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Where are the boundaries?</a:t>
            </a:r>
          </a:p>
        </p:txBody>
      </p:sp>
      <p:sp>
        <p:nvSpPr>
          <p:cNvPr id="104" name="QCard2"/>
          <p:cNvSpPr/>
          <p:nvPr/>
        </p:nvSpPr>
        <p:spPr>
          <a:xfrm>
            <a:off x="685800" y="3300000"/>
            <a:ext cx="3708400" cy="1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5" name="QTxt2"/>
          <p:cNvSpPr txBox="1"/>
          <p:nvPr/>
        </p:nvSpPr>
        <p:spPr>
          <a:xfrm>
            <a:off x="835800" y="3430000"/>
            <a:ext cx="34084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How may they interact?</a:t>
            </a:r>
          </a:p>
        </p:txBody>
      </p:sp>
      <p:sp>
        <p:nvSpPr>
          <p:cNvPr id="106" name="QCard3"/>
          <p:cNvSpPr/>
          <p:nvPr/>
        </p:nvSpPr>
        <p:spPr>
          <a:xfrm>
            <a:off x="4749800" y="3300000"/>
            <a:ext cx="3708400" cy="1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7" name="QTxt3"/>
          <p:cNvSpPr txBox="1"/>
          <p:nvPr/>
        </p:nvSpPr>
        <p:spPr>
          <a:xfrm>
            <a:off x="4899800" y="3430000"/>
            <a:ext cx="34084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What properties must the organization support?</a:t>
            </a:r>
          </a:p>
        </p:txBody>
      </p:sp>
      <p:sp>
        <p:nvSpPr>
          <p:cNvPr id="108" name="G1A"/>
          <p:cNvSpPr/>
          <p:nvPr/>
        </p:nvSpPr>
        <p:spPr>
          <a:xfrm>
            <a:off x="1740000" y="2250000"/>
            <a:ext cx="7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9" name="G1B"/>
          <p:cNvSpPr/>
          <p:nvPr/>
        </p:nvSpPr>
        <p:spPr>
          <a:xfrm>
            <a:off x="2640000" y="2250000"/>
            <a:ext cx="7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0" name="G2box"/>
          <p:cNvSpPr/>
          <p:nvPr/>
        </p:nvSpPr>
        <p:spPr>
          <a:xfrm>
            <a:off x="5804000" y="2250000"/>
            <a:ext cx="16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cxnSp>
        <p:nvCxnSpPr>
          <p:cNvPr id="111" name="G2div"/>
          <p:cNvCxnSpPr/>
          <p:nvPr/>
        </p:nvCxnSpPr>
        <p:spPr>
          <a:xfrm>
            <a:off x="6604000" y="2160000"/>
            <a:ext cx="0" cy="680000"/>
          </a:xfrm>
          <a:prstGeom prst="line">
            <a:avLst/>
          </a:prstGeom>
          <a:ln w="28575">
            <a:solidFill>
              <a:srgbClr val="8E6F3E"/>
            </a:solidFill>
            <a:prstDash val="dash"/>
          </a:ln>
        </p:spPr>
      </p:cxnSp>
      <p:sp>
        <p:nvSpPr>
          <p:cNvPr id="112" name="G2A"/>
          <p:cNvSpPr txBox="1"/>
          <p:nvPr/>
        </p:nvSpPr>
        <p:spPr>
          <a:xfrm>
            <a:off x="5804000" y="2360000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3" name="G2B"/>
          <p:cNvSpPr txBox="1"/>
          <p:nvPr/>
        </p:nvSpPr>
        <p:spPr>
          <a:xfrm>
            <a:off x="6604000" y="2360000"/>
            <a:ext cx="8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4" name="G3A"/>
          <p:cNvSpPr/>
          <p:nvPr/>
        </p:nvSpPr>
        <p:spPr>
          <a:xfrm>
            <a:off x="1540000" y="4250000"/>
            <a:ext cx="7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5" name="G3B"/>
          <p:cNvSpPr/>
          <p:nvPr/>
        </p:nvSpPr>
        <p:spPr>
          <a:xfrm>
            <a:off x="2840000" y="4250000"/>
            <a:ext cx="700000" cy="50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cxnSp>
        <p:nvCxnSpPr>
          <p:cNvPr id="116" name="G3arw"/>
          <p:cNvCxnSpPr/>
          <p:nvPr/>
        </p:nvCxnSpPr>
        <p:spPr>
          <a:xfrm>
            <a:off x="2240000" y="4500000"/>
            <a:ext cx="600000" cy="0"/>
          </a:xfrm>
          <a:prstGeom prst="line">
            <a:avLst/>
          </a:prstGeom>
          <a:ln w="25400">
            <a:solidFill>
              <a:srgbClr val="8E6F3E"/>
            </a:solidFill>
            <a:tailEnd type="triangle" w="med" len="med"/>
          </a:ln>
        </p:spPr>
      </p:cxnSp>
      <p:sp>
        <p:nvSpPr>
          <p:cNvPr id="117" name="G4clock"/>
          <p:cNvSpPr/>
          <p:nvPr/>
        </p:nvSpPr>
        <p:spPr>
          <a:xfrm>
            <a:off x="5044000" y="4230000"/>
            <a:ext cx="420000" cy="420000"/>
          </a:xfrm>
          <a:prstGeom prst="ellipse">
            <a:avLst/>
          </a:prstGeom>
          <a:noFill/>
          <a:ln w="2540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cxnSp>
        <p:nvCxnSpPr>
          <p:cNvPr id="118" name="G4h1"/>
          <p:cNvCxnSpPr/>
          <p:nvPr/>
        </p:nvCxnSpPr>
        <p:spPr>
          <a:xfrm flipV="1">
            <a:off x="5254000" y="4320000"/>
            <a:ext cx="0" cy="120000"/>
          </a:xfrm>
          <a:prstGeom prst="line">
            <a:avLst/>
          </a:prstGeom>
          <a:ln w="19050">
            <a:solidFill>
              <a:srgbClr val="8E6F3E"/>
            </a:solidFill>
          </a:ln>
        </p:spPr>
      </p:cxnSp>
      <p:cxnSp>
        <p:nvCxnSpPr>
          <p:cNvPr id="119" name="G4h2"/>
          <p:cNvCxnSpPr/>
          <p:nvPr/>
        </p:nvCxnSpPr>
        <p:spPr>
          <a:xfrm>
            <a:off x="5254000" y="4440000"/>
            <a:ext cx="100000" cy="0"/>
          </a:xfrm>
          <a:prstGeom prst="line">
            <a:avLst/>
          </a:prstGeom>
          <a:ln w="19050">
            <a:solidFill>
              <a:srgbClr val="8E6F3E"/>
            </a:solidFill>
          </a:ln>
        </p:spPr>
      </p:cxnSp>
      <p:sp>
        <p:nvSpPr>
          <p:cNvPr id="120" name="G4shackle"/>
          <p:cNvSpPr/>
          <p:nvPr/>
        </p:nvSpPr>
        <p:spPr>
          <a:xfrm>
            <a:off x="5904000" y="4230000"/>
            <a:ext cx="260000" cy="260000"/>
          </a:xfrm>
          <a:prstGeom prst="ellipse">
            <a:avLst/>
          </a:prstGeom>
          <a:noFill/>
          <a:ln w="2540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21" name="G4lockbody"/>
          <p:cNvSpPr/>
          <p:nvPr/>
        </p:nvSpPr>
        <p:spPr>
          <a:xfrm>
            <a:off x="5824000" y="4390000"/>
            <a:ext cx="420000" cy="28000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22" name="G4cycle"/>
          <p:cNvSpPr/>
          <p:nvPr/>
        </p:nvSpPr>
        <p:spPr>
          <a:xfrm>
            <a:off x="6644000" y="4230000"/>
            <a:ext cx="420000" cy="420000"/>
          </a:xfrm>
          <a:prstGeom prst="circularArrow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23" name="G4bang"/>
          <p:cNvSpPr/>
          <p:nvPr/>
        </p:nvSpPr>
        <p:spPr>
          <a:xfrm>
            <a:off x="7444000" y="4210000"/>
            <a:ext cx="420000" cy="440000"/>
          </a:xfrm>
          <a:prstGeom prst="triangle">
            <a:avLst/>
          </a:prstGeom>
          <a:noFill/>
          <a:ln w="25400">
            <a:solidFill>
              <a:srgbClr val="8E6F3E"/>
            </a:solidFill>
          </a:ln>
        </p:spPr>
        <p:txBody>
          <a:bodyPr wrap="square" lIns="0" tIns="120000" rIns="0" bIns="0" anchor="ctr">
            <a:normAutofit/>
          </a:bodyPr>
          <a:lstStyle/>
          <a:p>
            <a:endParaRPr/>
          </a:p>
        </p:txBody>
      </p:sp>
      <p:sp>
        <p:nvSpPr>
          <p:cNvPr id="124" name="G4cap"/>
          <p:cNvSpPr txBox="1"/>
          <p:nvPr/>
        </p:nvSpPr>
        <p:spPr>
          <a:xfrm>
            <a:off x="4949800" y="4750000"/>
            <a:ext cx="33084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latency · security · change · failure</a:t>
            </a:r>
          </a:p>
        </p:txBody>
      </p:sp>
      <p:sp>
        <p:nvSpPr>
          <p:cNvPr id="140" name="G4bangTxt"/>
          <p:cNvSpPr txBox="1"/>
          <p:nvPr/>
        </p:nvSpPr>
        <p:spPr>
          <a:xfrm>
            <a:off x="7444000" y="4390000"/>
            <a:ext cx="42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8E6F3E"/>
                </a:solidFill>
              </a:rPr>
              <a:t xml:space="preserve">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600" b="0" i="0" dirty="0">
                <a:solidFill>
                  <a:srgbClr val="000000"/>
                </a:solidFill>
              </a:rPr>
              <a:t xml:space="preserve">Patterns give us alternatives—and expectations about their consequences.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4900000"/>
            <a:ext cx="8585200" cy="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FFFFFF"/>
                </a:solidFill>
              </a:rPr>
              <a:t xml:space="preserve">These are rules of thumb, not guarantees.</a:t>
            </a:r>
          </a:p>
        </p:txBody>
      </p:sp>
      <p:sp>
        <p:nvSpPr>
          <p:cNvPr id="100" name="PastExp"/>
          <p:cNvSpPr/>
          <p:nvPr/>
        </p:nvSpPr>
        <p:spPr>
          <a:xfrm>
            <a:off x="685800" y="2200000"/>
            <a:ext cx="210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PAST ENGINEERING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EXPERIENCE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a recurring problem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2785800" y="2700000"/>
            <a:ext cx="5642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Pattern"/>
          <p:cNvSpPr/>
          <p:nvPr/>
        </p:nvSpPr>
        <p:spPr>
          <a:xfrm>
            <a:off x="3350000" y="2350000"/>
            <a:ext cx="1700000" cy="7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FFFFFF"/>
                </a:solidFill>
              </a:rPr>
              <a:t xml:space="preserve">PATTERN</a:t>
            </a:r>
          </a:p>
        </p:txBody>
      </p:sp>
      <p:sp>
        <p:nvSpPr>
          <p:cNvPr id="103" name="Org"/>
          <p:cNvSpPr/>
          <p:nvPr/>
        </p:nvSpPr>
        <p:spPr>
          <a:xfrm>
            <a:off x="6000000" y="1600000"/>
            <a:ext cx="245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ORGANIZATION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“try organizing it this way”</a:t>
            </a:r>
          </a:p>
        </p:txBody>
      </p:sp>
      <p:sp>
        <p:nvSpPr>
          <p:cNvPr id="104" name="ExpProp"/>
          <p:cNvSpPr/>
          <p:nvPr/>
        </p:nvSpPr>
        <p:spPr>
          <a:xfrm>
            <a:off x="6000000" y="3000000"/>
            <a:ext cx="2450000" cy="10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EXPECTED PROPERTIES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“tends to make X easier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and Y harder”</a:t>
            </a:r>
          </a:p>
        </p:txBody>
      </p:sp>
      <p:cxnSp>
        <p:nvCxnSpPr>
          <p:cNvPr id="105" name="A2"/>
          <p:cNvCxnSpPr/>
          <p:nvPr/>
        </p:nvCxnSpPr>
        <p:spPr>
          <a:xfrm flipV="1">
            <a:off x="5050000" y="2100000"/>
            <a:ext cx="950000" cy="4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6" name="A3"/>
          <p:cNvCxnSpPr/>
          <p:nvPr/>
        </p:nvCxnSpPr>
        <p:spPr>
          <a:xfrm>
            <a:off x="5050000" y="2850000"/>
            <a:ext cx="950000" cy="6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MVC: separate model, view, and interaction logic.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4800000"/>
            <a:ext cx="7772400" cy="9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100" b="1" i="0" dirty="0">
                <a:solidFill>
                  <a:srgbClr val="000000"/>
                </a:solidFill>
              </a:rPr>
              <a:t xml:space="preserve">Expected tradeoff: </a:t>
            </a:r>
            <a:r>
              <a:rPr lang="en-US" sz="2100" b="0" i="1" dirty="0">
                <a:solidFill>
                  <a:srgbClr val="000000"/>
                </a:solidFill>
              </a:rPr>
              <a:t xml:space="preserve">multiple presentations and independent evolution — vs. coordination and indirection.</a:t>
            </a:r>
          </a:p>
        </p:txBody>
      </p:sp>
      <p:sp>
        <p:nvSpPr>
          <p:cNvPr id="100" name="User"/>
          <p:cNvSpPr/>
          <p:nvPr/>
        </p:nvSpPr>
        <p:spPr>
          <a:xfrm>
            <a:off x="900000" y="2600000"/>
            <a:ext cx="1400000" cy="620000"/>
          </a:xfrm>
          <a:prstGeom prst="rect">
            <a:avLst/>
          </a:prstGeom>
          <a:solidFill>
            <a:srgbClr val="FFFFFF"/>
          </a:solidFill>
          <a:ln w="15875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USER</a:t>
            </a:r>
          </a:p>
        </p:txBody>
      </p:sp>
      <p:sp>
        <p:nvSpPr>
          <p:cNvPr id="101" name="Controller"/>
          <p:cNvSpPr/>
          <p:nvPr/>
        </p:nvSpPr>
        <p:spPr>
          <a:xfrm>
            <a:off x="3800000" y="1500000"/>
            <a:ext cx="19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CONTROLLER</a:t>
            </a:r>
          </a:p>
        </p:txBody>
      </p:sp>
      <p:sp>
        <p:nvSpPr>
          <p:cNvPr id="102" name="Model"/>
          <p:cNvSpPr/>
          <p:nvPr/>
        </p:nvSpPr>
        <p:spPr>
          <a:xfrm>
            <a:off x="6900000" y="2600000"/>
            <a:ext cx="15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3" name="View"/>
          <p:cNvSpPr/>
          <p:nvPr/>
        </p:nvSpPr>
        <p:spPr>
          <a:xfrm>
            <a:off x="3800000" y="3750000"/>
            <a:ext cx="1900000" cy="6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VIEW</a:t>
            </a:r>
          </a:p>
        </p:txBody>
      </p:sp>
      <p:cxnSp>
        <p:nvCxnSpPr>
          <p:cNvPr id="104" name="UC"/>
          <p:cNvCxnSpPr/>
          <p:nvPr/>
        </p:nvCxnSpPr>
        <p:spPr>
          <a:xfrm flipV="1">
            <a:off x="2100000" y="1900000"/>
            <a:ext cx="1700000" cy="7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5" name="CM"/>
          <p:cNvCxnSpPr/>
          <p:nvPr/>
        </p:nvCxnSpPr>
        <p:spPr>
          <a:xfrm>
            <a:off x="5700000" y="1900000"/>
            <a:ext cx="1300000" cy="7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CMLbl"/>
          <p:cNvSpPr txBox="1"/>
          <p:nvPr/>
        </p:nvSpPr>
        <p:spPr>
          <a:xfrm>
            <a:off x="6350000" y="1830000"/>
            <a:ext cx="13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changes</a:t>
            </a:r>
          </a:p>
        </p:txBody>
      </p:sp>
      <p:cxnSp>
        <p:nvCxnSpPr>
          <p:cNvPr id="107" name="MV"/>
          <p:cNvCxnSpPr/>
          <p:nvPr/>
        </p:nvCxnSpPr>
        <p:spPr>
          <a:xfrm flipH="1">
            <a:off x="5700000" y="3220000"/>
            <a:ext cx="1350000" cy="76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MVLbl"/>
          <p:cNvSpPr txBox="1"/>
          <p:nvPr/>
        </p:nvSpPr>
        <p:spPr>
          <a:xfrm>
            <a:off x="6500000" y="3720000"/>
            <a:ext cx="16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555960"/>
                </a:solidFill>
              </a:rPr>
              <a:t xml:space="preserve">observed by</a:t>
            </a:r>
          </a:p>
        </p:txBody>
      </p:sp>
      <p:cxnSp>
        <p:nvCxnSpPr>
          <p:cNvPr id="109" name="VU"/>
          <p:cNvCxnSpPr/>
          <p:nvPr/>
        </p:nvCxnSpPr>
        <p:spPr>
          <a:xfrm flipH="1" flipV="1">
            <a:off x="2000000" y="3220000"/>
            <a:ext cx="1800000" cy="84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Repository: organize around shared authoritative state.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4550000"/>
            <a:ext cx="8585200" cy="13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2000" b="1" i="0" dirty="0">
                <a:solidFill>
                  <a:srgbClr val="000000"/>
                </a:solidFill>
              </a:rPr>
              <a:t xml:space="preserve">Expected property: </a:t>
            </a:r>
            <a:r>
              <a:rPr lang="en-US" sz="2000" b="0" i="0" dirty="0">
                <a:solidFill>
                  <a:srgbClr val="000000"/>
                </a:solidFill>
              </a:rPr>
              <a:t xml:space="preserve">a shared representation simplifies consistency and integration.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2000" b="1" i="0" dirty="0">
                <a:solidFill>
                  <a:srgbClr val="000000"/>
                </a:solidFill>
              </a:rPr>
              <a:t xml:space="preserve">Tradeoff: </a:t>
            </a:r>
            <a:r>
              <a:rPr lang="en-US" sz="2000" b="0" i="0" dirty="0">
                <a:solidFill>
                  <a:srgbClr val="000000"/>
                </a:solidFill>
              </a:rPr>
              <a:t xml:space="preserve">everyone now depends on the center — central coupling, potential bottleneck.</a:t>
            </a:r>
          </a:p>
        </p:txBody>
      </p:sp>
      <p:sp>
        <p:nvSpPr>
          <p:cNvPr id="100" name="Repo"/>
          <p:cNvSpPr/>
          <p:nvPr/>
        </p:nvSpPr>
        <p:spPr>
          <a:xfrm>
            <a:off x="3600000" y="2300000"/>
            <a:ext cx="19500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 xml:space="preserve">REPOSITORY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00" b="0" i="1" dirty="0">
                <a:solidFill>
                  <a:srgbClr val="FFFFFF"/>
                </a:solidFill>
              </a:rPr>
              <a:t xml:space="preserve">shared authoritative state</a:t>
            </a:r>
          </a:p>
        </p:txBody>
      </p:sp>
      <p:sp>
        <p:nvSpPr>
          <p:cNvPr id="101" name="Input"/>
          <p:cNvSpPr/>
          <p:nvPr/>
        </p:nvSpPr>
        <p:spPr>
          <a:xfrm>
            <a:off x="1000000" y="2450000"/>
            <a:ext cx="13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INPUT</a:t>
            </a:r>
          </a:p>
        </p:txBody>
      </p:sp>
      <p:cxnSp>
        <p:nvCxnSpPr>
          <p:cNvPr id="102" name="AIn"/>
          <p:cNvCxnSpPr/>
          <p:nvPr/>
        </p:nvCxnSpPr>
        <p:spPr>
          <a:xfrm>
            <a:off x="2300000" y="2750000"/>
            <a:ext cx="13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3" name="Reporter"/>
          <p:cNvSpPr/>
          <p:nvPr/>
        </p:nvSpPr>
        <p:spPr>
          <a:xfrm>
            <a:off x="7000000" y="2450000"/>
            <a:ext cx="1400000" cy="6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REPORTER</a:t>
            </a:r>
          </a:p>
        </p:txBody>
      </p:sp>
      <p:cxnSp>
        <p:nvCxnSpPr>
          <p:cNvPr id="104" name="AOut"/>
          <p:cNvCxnSpPr/>
          <p:nvPr/>
        </p:nvCxnSpPr>
        <p:spPr>
          <a:xfrm>
            <a:off x="5550000" y="2750000"/>
            <a:ext cx="14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5" name="Analyzer"/>
          <p:cNvSpPr/>
          <p:nvPr/>
        </p:nvSpPr>
        <p:spPr>
          <a:xfrm>
            <a:off x="3925000" y="1350000"/>
            <a:ext cx="13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ANALYZER</a:t>
            </a:r>
          </a:p>
        </p:txBody>
      </p:sp>
      <p:cxnSp>
        <p:nvCxnSpPr>
          <p:cNvPr id="106" name="ADown"/>
          <p:cNvCxnSpPr/>
          <p:nvPr/>
        </p:nvCxnSpPr>
        <p:spPr>
          <a:xfrm>
            <a:off x="4575000" y="1900000"/>
            <a:ext cx="0" cy="40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7" name="Optimizer"/>
          <p:cNvSpPr/>
          <p:nvPr/>
        </p:nvSpPr>
        <p:spPr>
          <a:xfrm>
            <a:off x="3925000" y="3650000"/>
            <a:ext cx="13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OPTIMIZER</a:t>
            </a:r>
          </a:p>
        </p:txBody>
      </p:sp>
      <p:cxnSp>
        <p:nvCxnSpPr>
          <p:cNvPr id="108" name="AUp"/>
          <p:cNvCxnSpPr/>
          <p:nvPr/>
        </p:nvCxnSpPr>
        <p:spPr>
          <a:xfrm flipV="1">
            <a:off x="4575000" y="3200000"/>
            <a:ext cx="0" cy="4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9" name="ConsLbl"/>
          <p:cNvSpPr txBox="1"/>
          <p:nvPr/>
        </p:nvSpPr>
        <p:spPr>
          <a:xfrm>
            <a:off x="1000000" y="3750000"/>
            <a:ext cx="21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1" dirty="0">
                <a:solidFill>
                  <a:srgbClr val="1F7A4D"/>
                </a:solidFill>
              </a:rPr>
              <a:t xml:space="preserve">consistency ↑</a:t>
            </a:r>
          </a:p>
        </p:txBody>
      </p:sp>
      <p:sp>
        <p:nvSpPr>
          <p:cNvPr id="110" name="CoupLbl"/>
          <p:cNvSpPr txBox="1"/>
          <p:nvPr/>
        </p:nvSpPr>
        <p:spPr>
          <a:xfrm>
            <a:off x="6650000" y="3750000"/>
            <a:ext cx="2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</a:pPr>
            <a:r>
              <a:rPr lang="en-US" sz="1200" b="1" i="1" dirty="0">
                <a:solidFill>
                  <a:srgbClr val="B23B3B"/>
                </a:solidFill>
              </a:rPr>
              <a:t xml:space="preserve">central coupling ↑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Control dependencies across boundaries.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4400000"/>
            <a:ext cx="7772400" cy="11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000" b="0" i="0" dirty="0">
                <a:solidFill>
                  <a:srgbClr val="000000"/>
                </a:solidFill>
              </a:rPr>
              <a:t xml:space="preserve">We’re no longer merely grouping responsibilities — we’re deliberately arranging the direction of dependency so infrastructure choices don’t become domain dependencies.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6050000"/>
            <a:ext cx="77724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200" b="0" i="1" dirty="0">
                <a:solidFill>
                  <a:srgbClr val="555960"/>
                </a:solidFill>
              </a:rPr>
              <a:t xml:space="preserve">Often called ports-and-adapters / hexagonal / clean architecture.</a:t>
            </a:r>
          </a:p>
        </p:txBody>
      </p:sp>
      <p:sp>
        <p:nvSpPr>
          <p:cNvPr id="100" name="BeforeLbl"/>
          <p:cNvSpPr txBox="1"/>
          <p:nvPr/>
        </p:nvSpPr>
        <p:spPr>
          <a:xfrm>
            <a:off x="685800" y="1280000"/>
            <a:ext cx="14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BEFORE</a:t>
            </a:r>
          </a:p>
        </p:txBody>
      </p:sp>
      <p:sp>
        <p:nvSpPr>
          <p:cNvPr id="101" name="BUI"/>
          <p:cNvSpPr/>
          <p:nvPr/>
        </p:nvSpPr>
        <p:spPr>
          <a:xfrm>
            <a:off x="1200000" y="1620000"/>
            <a:ext cx="13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sp>
        <p:nvSpPr>
          <p:cNvPr id="102" name="BDomain"/>
          <p:cNvSpPr/>
          <p:nvPr/>
        </p:nvSpPr>
        <p:spPr>
          <a:xfrm>
            <a:off x="3300000" y="1620000"/>
            <a:ext cx="16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DOMAIN</a:t>
            </a:r>
          </a:p>
        </p:txBody>
      </p:sp>
      <p:sp>
        <p:nvSpPr>
          <p:cNvPr id="103" name="BDb"/>
          <p:cNvSpPr/>
          <p:nvPr/>
        </p:nvSpPr>
        <p:spPr>
          <a:xfrm>
            <a:off x="5700000" y="1620000"/>
            <a:ext cx="16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DATABASE</a:t>
            </a:r>
          </a:p>
        </p:txBody>
      </p:sp>
      <p:cxnSp>
        <p:nvCxnSpPr>
          <p:cNvPr id="104" name="BA1"/>
          <p:cNvCxnSpPr/>
          <p:nvPr/>
        </p:nvCxnSpPr>
        <p:spPr>
          <a:xfrm>
            <a:off x="2500000" y="1895000"/>
            <a:ext cx="8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05" name="BA2"/>
          <p:cNvCxnSpPr/>
          <p:nvPr/>
        </p:nvCxnSpPr>
        <p:spPr>
          <a:xfrm>
            <a:off x="4900000" y="1895000"/>
            <a:ext cx="800000" cy="0"/>
          </a:xfrm>
          <a:prstGeom prst="line">
            <a:avLst/>
          </a:prstGeom>
          <a:ln w="19050">
            <a:solidFill>
              <a:srgbClr val="B23B3B"/>
            </a:solidFill>
            <a:tailEnd type="triangle" w="med" len="med"/>
          </a:ln>
        </p:spPr>
      </p:cxnSp>
      <p:sp>
        <p:nvSpPr>
          <p:cNvPr id="106" name="BCap"/>
          <p:cNvSpPr txBox="1"/>
          <p:nvPr/>
        </p:nvSpPr>
        <p:spPr>
          <a:xfrm>
            <a:off x="3900000" y="2300000"/>
            <a:ext cx="3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B23B3B"/>
                </a:solidFill>
              </a:rPr>
              <a:t xml:space="preserve">infrastructure becomes a domain dependency</a:t>
            </a:r>
          </a:p>
        </p:txBody>
      </p:sp>
      <p:sp>
        <p:nvSpPr>
          <p:cNvPr id="107" name="AfterLbl"/>
          <p:cNvSpPr txBox="1"/>
          <p:nvPr/>
        </p:nvSpPr>
        <p:spPr>
          <a:xfrm>
            <a:off x="685800" y="2780000"/>
            <a:ext cx="14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AFTER</a:t>
            </a:r>
          </a:p>
        </p:txBody>
      </p:sp>
      <p:sp>
        <p:nvSpPr>
          <p:cNvPr id="108" name="AUI"/>
          <p:cNvSpPr/>
          <p:nvPr/>
        </p:nvSpPr>
        <p:spPr>
          <a:xfrm>
            <a:off x="1200000" y="3120000"/>
            <a:ext cx="13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sp>
        <p:nvSpPr>
          <p:cNvPr id="109" name="ADomain"/>
          <p:cNvSpPr/>
          <p:nvPr/>
        </p:nvSpPr>
        <p:spPr>
          <a:xfrm>
            <a:off x="3300000" y="3120000"/>
            <a:ext cx="16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DOMAIN</a:t>
            </a:r>
          </a:p>
        </p:txBody>
      </p:sp>
      <p:sp>
        <p:nvSpPr>
          <p:cNvPr id="110" name="Iface"/>
          <p:cNvSpPr/>
          <p:nvPr/>
        </p:nvSpPr>
        <p:spPr>
          <a:xfrm>
            <a:off x="4900000" y="3050000"/>
            <a:ext cx="100000" cy="69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1" name="IfaceLbl"/>
          <p:cNvSpPr txBox="1"/>
          <p:nvPr/>
        </p:nvSpPr>
        <p:spPr>
          <a:xfrm>
            <a:off x="4050000" y="2790000"/>
            <a:ext cx="28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1" i="0" dirty="0">
                <a:solidFill>
                  <a:srgbClr val="8E6F3E"/>
                </a:solidFill>
              </a:rPr>
              <a:t xml:space="preserve">DOMAIN-DEFINED INTERFACE</a:t>
            </a:r>
          </a:p>
        </p:txBody>
      </p:sp>
      <p:sp>
        <p:nvSpPr>
          <p:cNvPr id="112" name="AAdapter"/>
          <p:cNvSpPr/>
          <p:nvPr/>
        </p:nvSpPr>
        <p:spPr>
          <a:xfrm>
            <a:off x="5900000" y="3120000"/>
            <a:ext cx="1700000" cy="5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DB ADAPTER</a:t>
            </a:r>
          </a:p>
        </p:txBody>
      </p:sp>
      <p:cxnSp>
        <p:nvCxnSpPr>
          <p:cNvPr id="113" name="AA1"/>
          <p:cNvCxnSpPr/>
          <p:nvPr/>
        </p:nvCxnSpPr>
        <p:spPr>
          <a:xfrm>
            <a:off x="2500000" y="3395000"/>
            <a:ext cx="80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4" name="AA2"/>
          <p:cNvCxnSpPr/>
          <p:nvPr/>
        </p:nvCxnSpPr>
        <p:spPr>
          <a:xfrm flipH="1">
            <a:off x="5030000" y="3395000"/>
            <a:ext cx="870000" cy="0"/>
          </a:xfrm>
          <a:prstGeom prst="line">
            <a:avLst/>
          </a:prstGeom>
          <a:ln w="25400">
            <a:solidFill>
              <a:srgbClr val="1F7A4D"/>
            </a:solidFill>
            <a:tailEnd type="triangle" w="med" len="med"/>
          </a:ln>
        </p:spPr>
      </p:cxnSp>
      <p:sp>
        <p:nvSpPr>
          <p:cNvPr id="115" name="ACap"/>
          <p:cNvSpPr txBox="1"/>
          <p:nvPr/>
        </p:nvSpPr>
        <p:spPr>
          <a:xfrm>
            <a:off x="3900000" y="3800000"/>
            <a:ext cx="42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1F7A4D"/>
                </a:solidFill>
              </a:rPr>
              <a:t xml:space="preserve">the dependency now points into the domain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Events: producers need not know their consumers.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3500000"/>
            <a:ext cx="77724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900" b="1" i="0" dirty="0">
                <a:solidFill>
                  <a:srgbClr val="000000"/>
                </a:solidFill>
              </a:rPr>
              <a:t xml:space="preserve">Rule of thumb: </a:t>
            </a:r>
            <a:r>
              <a:rPr lang="en-US" sz="1900" b="0" i="0" dirty="0">
                <a:solidFill>
                  <a:srgbClr val="000000"/>
                </a:solidFill>
              </a:rPr>
              <a:t xml:space="preserve">event-based often makes adding consumers easier.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3980000"/>
            <a:ext cx="77724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900" b="1" i="0" dirty="0">
                <a:solidFill>
                  <a:srgbClr val="5C4826"/>
                </a:solidFill>
              </a:rPr>
              <a:t xml:space="preserve">Engineering question: </a:t>
            </a:r>
            <a:r>
              <a:rPr lang="en-US" sz="1900" b="0" i="1" dirty="0">
                <a:solidFill>
                  <a:srgbClr val="000000"/>
                </a:solidFill>
              </a:rPr>
              <a:t xml:space="preserve">does THIS event architecture satisfy our ordering, latency, reliability, and observability obligations?</a:t>
            </a:r>
          </a:p>
        </p:txBody>
      </p:sp>
      <p:sp>
        <p:nvSpPr>
          <p:cNvPr id="63" name="Band63"/>
          <p:cNvSpPr/>
          <p:nvPr/>
        </p:nvSpPr>
        <p:spPr>
          <a:xfrm>
            <a:off x="279400" y="4900000"/>
            <a:ext cx="85852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1700" b="1" i="0" dirty="0">
                <a:solidFill>
                  <a:srgbClr val="FFFFFF"/>
                </a:solidFill>
              </a:rPr>
              <a:t xml:space="preserve">PATTERN KNOWLEDGE  ——  increasing complexity / consequence  ——▶  ANALYSIS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1500" b="0" i="1" dirty="0">
                <a:solidFill>
                  <a:srgbClr val="FFFFFF"/>
                </a:solidFill>
              </a:rPr>
              <a:t xml:space="preserve">“reasonable expectation”  →  “show me”</a:t>
            </a:r>
          </a:p>
        </p:txBody>
      </p:sp>
      <p:sp>
        <p:nvSpPr>
          <p:cNvPr id="64" name="T64"/>
          <p:cNvSpPr txBox="1"/>
          <p:nvPr/>
        </p:nvSpPr>
        <p:spPr>
          <a:xfrm>
            <a:off x="685800" y="6000000"/>
            <a:ext cx="7772400" cy="35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 xml:space="preserve">—  STRETCH BREAK  —</a:t>
            </a:r>
          </a:p>
        </p:txBody>
      </p:sp>
      <p:sp>
        <p:nvSpPr>
          <p:cNvPr id="100" name="DirLbl"/>
          <p:cNvSpPr txBox="1"/>
          <p:nvPr/>
        </p:nvSpPr>
        <p:spPr>
          <a:xfrm>
            <a:off x="685800" y="1150000"/>
            <a:ext cx="20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DIRECT</a:t>
            </a:r>
          </a:p>
        </p:txBody>
      </p:sp>
      <p:sp>
        <p:nvSpPr>
          <p:cNvPr id="101" name="DA"/>
          <p:cNvSpPr/>
          <p:nvPr/>
        </p:nvSpPr>
        <p:spPr>
          <a:xfrm>
            <a:off x="800000" y="2050000"/>
            <a:ext cx="7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2" name="DB"/>
          <p:cNvSpPr/>
          <p:nvPr/>
        </p:nvSpPr>
        <p:spPr>
          <a:xfrm>
            <a:off x="2750000" y="150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cxnSp>
        <p:nvCxnSpPr>
          <p:cNvPr id="103" name="DA0"/>
          <p:cNvCxnSpPr/>
          <p:nvPr/>
        </p:nvCxnSpPr>
        <p:spPr>
          <a:xfrm flipV="1">
            <a:off x="1500000" y="1720000"/>
            <a:ext cx="1250000" cy="5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DC"/>
          <p:cNvSpPr/>
          <p:nvPr/>
        </p:nvSpPr>
        <p:spPr>
          <a:xfrm>
            <a:off x="2750000" y="208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05" name="DA1"/>
          <p:cNvCxnSpPr/>
          <p:nvPr/>
        </p:nvCxnSpPr>
        <p:spPr>
          <a:xfrm>
            <a:off x="1500000" y="2300000"/>
            <a:ext cx="12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DD"/>
          <p:cNvSpPr/>
          <p:nvPr/>
        </p:nvSpPr>
        <p:spPr>
          <a:xfrm>
            <a:off x="2750000" y="266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cxnSp>
        <p:nvCxnSpPr>
          <p:cNvPr id="107" name="DA2"/>
          <p:cNvCxnSpPr/>
          <p:nvPr/>
        </p:nvCxnSpPr>
        <p:spPr>
          <a:xfrm>
            <a:off x="1500000" y="2300000"/>
            <a:ext cx="1250000" cy="5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DCap"/>
          <p:cNvSpPr txBox="1"/>
          <p:nvPr/>
        </p:nvSpPr>
        <p:spPr>
          <a:xfrm>
            <a:off x="800000" y="3220000"/>
            <a:ext cx="29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A knows B, C, D</a:t>
            </a:r>
          </a:p>
        </p:txBody>
      </p:sp>
      <p:cxnSp>
        <p:nvCxnSpPr>
          <p:cNvPr id="109" name="Div"/>
          <p:cNvCxnSpPr/>
          <p:nvPr/>
        </p:nvCxnSpPr>
        <p:spPr>
          <a:xfrm>
            <a:off x="4370000" y="1300000"/>
            <a:ext cx="0" cy="1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10" name="EvLbl"/>
          <p:cNvSpPr txBox="1"/>
          <p:nvPr/>
        </p:nvSpPr>
        <p:spPr>
          <a:xfrm>
            <a:off x="4750000" y="1150000"/>
            <a:ext cx="2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EVENT-BASED</a:t>
            </a:r>
          </a:p>
        </p:txBody>
      </p:sp>
      <p:sp>
        <p:nvSpPr>
          <p:cNvPr id="111" name="EA"/>
          <p:cNvSpPr/>
          <p:nvPr/>
        </p:nvSpPr>
        <p:spPr>
          <a:xfrm>
            <a:off x="4750000" y="2050000"/>
            <a:ext cx="7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2" name="EBus"/>
          <p:cNvSpPr/>
          <p:nvPr/>
        </p:nvSpPr>
        <p:spPr>
          <a:xfrm>
            <a:off x="6000000" y="1450000"/>
            <a:ext cx="380000" cy="16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3" name="EBusLbl"/>
          <p:cNvSpPr txBox="1"/>
          <p:nvPr/>
        </p:nvSpPr>
        <p:spPr>
          <a:xfrm rot="-5400000">
            <a:off x="5290000" y="2145000"/>
            <a:ext cx="18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1" i="0" dirty="0">
                <a:solidFill>
                  <a:srgbClr val="FFFFFF"/>
                </a:solidFill>
              </a:rPr>
              <a:t xml:space="preserve">EVENT BUS</a:t>
            </a:r>
          </a:p>
        </p:txBody>
      </p:sp>
      <p:cxnSp>
        <p:nvCxnSpPr>
          <p:cNvPr id="114" name="EAB"/>
          <p:cNvCxnSpPr/>
          <p:nvPr/>
        </p:nvCxnSpPr>
        <p:spPr>
          <a:xfrm>
            <a:off x="5450000" y="2300000"/>
            <a:ext cx="5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5" name="EB"/>
          <p:cNvSpPr/>
          <p:nvPr/>
        </p:nvSpPr>
        <p:spPr>
          <a:xfrm>
            <a:off x="7250000" y="150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cxnSp>
        <p:nvCxnSpPr>
          <p:cNvPr id="116" name="EA0"/>
          <p:cNvCxnSpPr/>
          <p:nvPr/>
        </p:nvCxnSpPr>
        <p:spPr>
          <a:xfrm flipV="1">
            <a:off x="6380000" y="1720000"/>
            <a:ext cx="870000" cy="5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7" name="EC"/>
          <p:cNvSpPr/>
          <p:nvPr/>
        </p:nvSpPr>
        <p:spPr>
          <a:xfrm>
            <a:off x="7250000" y="208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18" name="EA1"/>
          <p:cNvCxnSpPr/>
          <p:nvPr/>
        </p:nvCxnSpPr>
        <p:spPr>
          <a:xfrm>
            <a:off x="6380000" y="2300000"/>
            <a:ext cx="87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9" name="ED"/>
          <p:cNvSpPr/>
          <p:nvPr/>
        </p:nvSpPr>
        <p:spPr>
          <a:xfrm>
            <a:off x="7250000" y="2660000"/>
            <a:ext cx="700000" cy="44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cxnSp>
        <p:nvCxnSpPr>
          <p:cNvPr id="120" name="EA2"/>
          <p:cNvCxnSpPr/>
          <p:nvPr/>
        </p:nvCxnSpPr>
        <p:spPr>
          <a:xfrm>
            <a:off x="6380000" y="2300000"/>
            <a:ext cx="870000" cy="5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21" name="ECap"/>
          <p:cNvSpPr txBox="1"/>
          <p:nvPr/>
        </p:nvSpPr>
        <p:spPr>
          <a:xfrm>
            <a:off x="4750000" y="3220000"/>
            <a:ext cx="3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A knows the event, not the consumers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3200" b="0" i="0" dirty="0">
                <a:solidFill>
                  <a:srgbClr val="000000"/>
                </a:solidFill>
              </a:rPr>
              <a:t xml:space="preserve">Patterns capture recurring architectural choices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3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What organizations recur, and what do they tend to buy—and cost?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600" b="0" i="0" dirty="0">
                <a:solidFill>
                  <a:srgbClr val="000000"/>
                </a:solidFill>
              </a:rPr>
              <a:t xml:space="preserve">An architecture diagram is useful only if it answers a question.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500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000000"/>
                </a:solidFill>
              </a:rPr>
              <a:t xml:space="preserve">Different question → different model.</a:t>
            </a:r>
          </a:p>
        </p:txBody>
      </p:sp>
      <p:sp>
        <p:nvSpPr>
          <p:cNvPr id="100" name="PH0"/>
          <p:cNvSpPr txBox="1"/>
          <p:nvPr/>
        </p:nvSpPr>
        <p:spPr>
          <a:xfrm>
            <a:off x="685800" y="1300000"/>
            <a:ext cx="2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 xml:space="preserve">CHANGE?</a:t>
            </a:r>
          </a:p>
        </p:txBody>
      </p:sp>
      <p:sp>
        <p:nvSpPr>
          <p:cNvPr id="101" name="PS0"/>
          <p:cNvSpPr txBox="1"/>
          <p:nvPr/>
        </p:nvSpPr>
        <p:spPr>
          <a:xfrm>
            <a:off x="685800" y="1650000"/>
            <a:ext cx="24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dependency view</a:t>
            </a:r>
          </a:p>
        </p:txBody>
      </p:sp>
      <p:sp>
        <p:nvSpPr>
          <p:cNvPr id="102" name="PH1"/>
          <p:cNvSpPr txBox="1"/>
          <p:nvPr/>
        </p:nvSpPr>
        <p:spPr>
          <a:xfrm>
            <a:off x="3385800" y="1300000"/>
            <a:ext cx="2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 xml:space="preserve">LATENCY?</a:t>
            </a:r>
          </a:p>
        </p:txBody>
      </p:sp>
      <p:sp>
        <p:nvSpPr>
          <p:cNvPr id="103" name="PS1"/>
          <p:cNvSpPr txBox="1"/>
          <p:nvPr/>
        </p:nvSpPr>
        <p:spPr>
          <a:xfrm>
            <a:off x="3385800" y="1650000"/>
            <a:ext cx="24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weighted flow</a:t>
            </a:r>
          </a:p>
        </p:txBody>
      </p:sp>
      <p:cxnSp>
        <p:nvCxnSpPr>
          <p:cNvPr id="104" name="PDiv1"/>
          <p:cNvCxnSpPr/>
          <p:nvPr/>
        </p:nvCxnSpPr>
        <p:spPr>
          <a:xfrm>
            <a:off x="3235800" y="1350000"/>
            <a:ext cx="0" cy="2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05" name="PH2"/>
          <p:cNvSpPr txBox="1"/>
          <p:nvPr/>
        </p:nvSpPr>
        <p:spPr>
          <a:xfrm>
            <a:off x="6085800" y="1300000"/>
            <a:ext cx="2400000" cy="32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8E6F3E"/>
                </a:solidFill>
              </a:rPr>
              <a:t xml:space="preserve">FAILURE?</a:t>
            </a:r>
          </a:p>
        </p:txBody>
      </p:sp>
      <p:sp>
        <p:nvSpPr>
          <p:cNvPr id="106" name="PS2"/>
          <p:cNvSpPr txBox="1"/>
          <p:nvPr/>
        </p:nvSpPr>
        <p:spPr>
          <a:xfrm>
            <a:off x="6085800" y="1650000"/>
            <a:ext cx="24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deployment view</a:t>
            </a:r>
          </a:p>
        </p:txBody>
      </p:sp>
      <p:cxnSp>
        <p:nvCxnSpPr>
          <p:cNvPr id="107" name="PDiv2"/>
          <p:cNvCxnSpPr/>
          <p:nvPr/>
        </p:nvCxnSpPr>
        <p:spPr>
          <a:xfrm>
            <a:off x="5935800" y="1350000"/>
            <a:ext cx="0" cy="2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08" name="P1A"/>
          <p:cNvSpPr/>
          <p:nvPr/>
        </p:nvSpPr>
        <p:spPr>
          <a:xfrm>
            <a:off x="1185800" y="21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9" name="P1B"/>
          <p:cNvSpPr/>
          <p:nvPr/>
        </p:nvSpPr>
        <p:spPr>
          <a:xfrm>
            <a:off x="1185800" y="29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0" name="P1C"/>
          <p:cNvSpPr/>
          <p:nvPr/>
        </p:nvSpPr>
        <p:spPr>
          <a:xfrm>
            <a:off x="1185800" y="36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11" name="P1D"/>
          <p:cNvSpPr/>
          <p:nvPr/>
        </p:nvSpPr>
        <p:spPr>
          <a:xfrm>
            <a:off x="2285800" y="29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cxnSp>
        <p:nvCxnSpPr>
          <p:cNvPr id="112" name="P1ab"/>
          <p:cNvCxnSpPr/>
          <p:nvPr/>
        </p:nvCxnSpPr>
        <p:spPr>
          <a:xfrm>
            <a:off x="1505800" y="2580000"/>
            <a:ext cx="0" cy="32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3" name="P1bc"/>
          <p:cNvCxnSpPr/>
          <p:nvPr/>
        </p:nvCxnSpPr>
        <p:spPr>
          <a:xfrm>
            <a:off x="1505800" y="3330000"/>
            <a:ext cx="0" cy="32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4" name="P1bd"/>
          <p:cNvCxnSpPr/>
          <p:nvPr/>
        </p:nvCxnSpPr>
        <p:spPr>
          <a:xfrm>
            <a:off x="1825800" y="3115000"/>
            <a:ext cx="46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5" name="P2A"/>
          <p:cNvSpPr/>
          <p:nvPr/>
        </p:nvSpPr>
        <p:spPr>
          <a:xfrm>
            <a:off x="4265800" y="21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16" name="P2B"/>
          <p:cNvSpPr/>
          <p:nvPr/>
        </p:nvSpPr>
        <p:spPr>
          <a:xfrm>
            <a:off x="4265800" y="29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17" name="P2C"/>
          <p:cNvSpPr/>
          <p:nvPr/>
        </p:nvSpPr>
        <p:spPr>
          <a:xfrm>
            <a:off x="4265800" y="375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18" name="P2ab"/>
          <p:cNvCxnSpPr/>
          <p:nvPr/>
        </p:nvCxnSpPr>
        <p:spPr>
          <a:xfrm>
            <a:off x="4585800" y="2580000"/>
            <a:ext cx="0" cy="37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9" name="P2abL"/>
          <p:cNvSpPr txBox="1"/>
          <p:nvPr/>
        </p:nvSpPr>
        <p:spPr>
          <a:xfrm>
            <a:off x="4685800" y="262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20 ms</a:t>
            </a:r>
          </a:p>
        </p:txBody>
      </p:sp>
      <p:cxnSp>
        <p:nvCxnSpPr>
          <p:cNvPr id="120" name="P2bc"/>
          <p:cNvCxnSpPr/>
          <p:nvPr/>
        </p:nvCxnSpPr>
        <p:spPr>
          <a:xfrm>
            <a:off x="4585800" y="3380000"/>
            <a:ext cx="0" cy="370000"/>
          </a:xfrm>
          <a:prstGeom prst="line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21" name="P2bcL"/>
          <p:cNvSpPr txBox="1"/>
          <p:nvPr/>
        </p:nvSpPr>
        <p:spPr>
          <a:xfrm>
            <a:off x="4685800" y="342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1" i="1" dirty="0">
                <a:solidFill>
                  <a:srgbClr val="5C4826"/>
                </a:solidFill>
              </a:rPr>
              <a:t xml:space="preserve">80 ms</a:t>
            </a:r>
          </a:p>
        </p:txBody>
      </p:sp>
      <p:sp>
        <p:nvSpPr>
          <p:cNvPr id="122" name="P3R0"/>
          <p:cNvSpPr/>
          <p:nvPr/>
        </p:nvSpPr>
        <p:spPr>
          <a:xfrm>
            <a:off x="6145800" y="2150000"/>
            <a:ext cx="1080000" cy="195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54864" tIns="27432" rIns="54864" bIns="27432" anchor="t">
            <a:normAutofit/>
          </a:bodyPr>
          <a:lstStyle/>
          <a:p>
            <a:pPr algn="ctr">
              <a:buNone/>
            </a:pPr>
            <a:r>
              <a:rPr lang="en-US" sz="950" b="1" i="0" dirty="0">
                <a:solidFill>
                  <a:srgbClr val="8E6F3E"/>
                </a:solidFill>
              </a:rPr>
              <a:t xml:space="preserve">REGION 1</a:t>
            </a:r>
          </a:p>
        </p:txBody>
      </p:sp>
      <p:sp>
        <p:nvSpPr>
          <p:cNvPr id="123" name="P3A"/>
          <p:cNvSpPr/>
          <p:nvPr/>
        </p:nvSpPr>
        <p:spPr>
          <a:xfrm>
            <a:off x="6365800" y="26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24" name="P3B"/>
          <p:cNvSpPr/>
          <p:nvPr/>
        </p:nvSpPr>
        <p:spPr>
          <a:xfrm>
            <a:off x="6365800" y="33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25" name="P3R1"/>
          <p:cNvSpPr/>
          <p:nvPr/>
        </p:nvSpPr>
        <p:spPr>
          <a:xfrm>
            <a:off x="7375800" y="2150000"/>
            <a:ext cx="1080000" cy="1950000"/>
          </a:xfrm>
          <a:prstGeom prst="roundRect">
            <a:avLst/>
          </a:prstGeom>
          <a:solidFill>
            <a:srgbClr val="FBF8F2"/>
          </a:solidFill>
          <a:ln w="15875">
            <a:solidFill>
              <a:srgbClr val="C9B991"/>
            </a:solidFill>
            <a:prstDash val="dash"/>
          </a:ln>
        </p:spPr>
        <p:txBody>
          <a:bodyPr wrap="square" lIns="54864" tIns="27432" rIns="54864" bIns="27432" anchor="t">
            <a:normAutofit/>
          </a:bodyPr>
          <a:lstStyle/>
          <a:p>
            <a:pPr algn="ctr">
              <a:buNone/>
            </a:pPr>
            <a:r>
              <a:rPr lang="en-US" sz="950" b="1" i="0" dirty="0">
                <a:solidFill>
                  <a:srgbClr val="8E6F3E"/>
                </a:solidFill>
              </a:rPr>
              <a:t xml:space="preserve">REGION 2</a:t>
            </a:r>
          </a:p>
        </p:txBody>
      </p:sp>
      <p:sp>
        <p:nvSpPr>
          <p:cNvPr id="126" name="P3C"/>
          <p:cNvSpPr/>
          <p:nvPr/>
        </p:nvSpPr>
        <p:spPr>
          <a:xfrm>
            <a:off x="7595800" y="26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27" name="P3D"/>
          <p:cNvSpPr/>
          <p:nvPr/>
        </p:nvSpPr>
        <p:spPr>
          <a:xfrm>
            <a:off x="7595800" y="3300000"/>
            <a:ext cx="64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Some claims require less betting than others.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4900000"/>
            <a:ext cx="8585200" cy="9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The more faithfully the model captures the property we care about, the less we have to bet.</a:t>
            </a:r>
          </a:p>
        </p:txBody>
      </p:sp>
      <p:cxnSp>
        <p:nvCxnSpPr>
          <p:cNvPr id="100" name="Axis"/>
          <p:cNvCxnSpPr/>
          <p:nvPr/>
        </p:nvCxnSpPr>
        <p:spPr>
          <a:xfrm>
            <a:off x="800000" y="2850000"/>
            <a:ext cx="7544000" cy="0"/>
          </a:xfrm>
          <a:prstGeom prst="line">
            <a:avLst/>
          </a:prstGeom>
          <a:ln w="28575">
            <a:solidFill>
              <a:srgbClr val="8E6F3E"/>
            </a:solidFill>
            <a:headEnd type="triangle" w="med" len="med"/>
            <a:tailEnd type="triangle" w="med" len="med"/>
          </a:ln>
        </p:spPr>
      </p:cxnSp>
      <p:sp>
        <p:nvSpPr>
          <p:cNvPr id="101" name="MoreLbl"/>
          <p:cNvSpPr txBox="1"/>
          <p:nvPr/>
        </p:nvSpPr>
        <p:spPr>
          <a:xfrm>
            <a:off x="700000" y="2480000"/>
            <a:ext cx="14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MORE BETTING</a:t>
            </a:r>
          </a:p>
        </p:txBody>
      </p:sp>
      <p:sp>
        <p:nvSpPr>
          <p:cNvPr id="102" name="LessLbl"/>
          <p:cNvSpPr txBox="1"/>
          <p:nvPr/>
        </p:nvSpPr>
        <p:spPr>
          <a:xfrm>
            <a:off x="7100000" y="2480000"/>
            <a:ext cx="1300000" cy="3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LESS BETTING</a:t>
            </a:r>
          </a:p>
        </p:txBody>
      </p:sp>
      <p:sp>
        <p:nvSpPr>
          <p:cNvPr id="103" name="Stop0"/>
          <p:cNvSpPr/>
          <p:nvPr/>
        </p:nvSpPr>
        <p:spPr>
          <a:xfrm>
            <a:off x="1820000" y="2770000"/>
            <a:ext cx="160000" cy="16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4" name="StopLbl0"/>
          <p:cNvSpPr txBox="1"/>
          <p:nvPr/>
        </p:nvSpPr>
        <p:spPr>
          <a:xfrm>
            <a:off x="1050000" y="1900000"/>
            <a:ext cx="17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REASONED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EXPECTATION</a:t>
            </a:r>
          </a:p>
        </p:txBody>
      </p:sp>
      <p:sp>
        <p:nvSpPr>
          <p:cNvPr id="105" name="StopQ0"/>
          <p:cNvSpPr txBox="1"/>
          <p:nvPr/>
        </p:nvSpPr>
        <p:spPr>
          <a:xfrm>
            <a:off x="1050000" y="3150000"/>
            <a:ext cx="17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“should remain local”</a:t>
            </a:r>
          </a:p>
        </p:txBody>
      </p:sp>
      <p:sp>
        <p:nvSpPr>
          <p:cNvPr id="106" name="Stop1"/>
          <p:cNvSpPr/>
          <p:nvPr/>
        </p:nvSpPr>
        <p:spPr>
          <a:xfrm>
            <a:off x="3520000" y="2770000"/>
            <a:ext cx="160000" cy="16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07" name="StopLbl1"/>
          <p:cNvSpPr txBox="1"/>
          <p:nvPr/>
        </p:nvSpPr>
        <p:spPr>
          <a:xfrm>
            <a:off x="2750000" y="1900000"/>
            <a:ext cx="17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STRUCTURAL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ARGUMENT</a:t>
            </a:r>
          </a:p>
        </p:txBody>
      </p:sp>
      <p:sp>
        <p:nvSpPr>
          <p:cNvPr id="108" name="StopQ1"/>
          <p:cNvSpPr txBox="1"/>
          <p:nvPr/>
        </p:nvSpPr>
        <p:spPr>
          <a:xfrm>
            <a:off x="2750000" y="3150000"/>
            <a:ext cx="17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“no dependency crosses this boundary”</a:t>
            </a:r>
          </a:p>
        </p:txBody>
      </p:sp>
      <p:sp>
        <p:nvSpPr>
          <p:cNvPr id="109" name="Stop2"/>
          <p:cNvSpPr/>
          <p:nvPr/>
        </p:nvSpPr>
        <p:spPr>
          <a:xfrm>
            <a:off x="5220000" y="2770000"/>
            <a:ext cx="160000" cy="16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0" name="StopLbl2"/>
          <p:cNvSpPr txBox="1"/>
          <p:nvPr/>
        </p:nvSpPr>
        <p:spPr>
          <a:xfrm>
            <a:off x="4450000" y="1900000"/>
            <a:ext cx="17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QUANTITATIVE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PREDICTION</a:t>
            </a:r>
          </a:p>
        </p:txBody>
      </p:sp>
      <p:sp>
        <p:nvSpPr>
          <p:cNvPr id="111" name="StopQ2"/>
          <p:cNvSpPr txBox="1"/>
          <p:nvPr/>
        </p:nvSpPr>
        <p:spPr>
          <a:xfrm>
            <a:off x="4450000" y="3150000"/>
            <a:ext cx="17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“≈ 11.5 s”</a:t>
            </a:r>
          </a:p>
        </p:txBody>
      </p:sp>
      <p:sp>
        <p:nvSpPr>
          <p:cNvPr id="112" name="Stop3"/>
          <p:cNvSpPr/>
          <p:nvPr/>
        </p:nvSpPr>
        <p:spPr>
          <a:xfrm>
            <a:off x="6920000" y="2770000"/>
            <a:ext cx="160000" cy="160000"/>
          </a:xfrm>
          <a:prstGeom prst="ellipse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3" name="StopLbl3"/>
          <p:cNvSpPr txBox="1"/>
          <p:nvPr/>
        </p:nvSpPr>
        <p:spPr>
          <a:xfrm>
            <a:off x="6150000" y="1900000"/>
            <a:ext cx="1700000" cy="54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OBSERVED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EVIDENCE</a:t>
            </a:r>
          </a:p>
        </p:txBody>
      </p:sp>
      <p:sp>
        <p:nvSpPr>
          <p:cNvPr id="114" name="StopQ3"/>
          <p:cNvSpPr txBox="1"/>
          <p:nvPr/>
        </p:nvSpPr>
        <p:spPr>
          <a:xfrm>
            <a:off x="6150000" y="3150000"/>
            <a:ext cx="1700000" cy="7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50" b="0" i="1" dirty="0">
                <a:solidFill>
                  <a:srgbClr val="555960"/>
                </a:solidFill>
              </a:rPr>
              <a:t xml:space="preserve">“11.8 s measured”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Can this change remain local?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500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What claim can the dependency model actually establish?</a:t>
            </a:r>
          </a:p>
        </p:txBody>
      </p:sp>
      <p:sp>
        <p:nvSpPr>
          <p:cNvPr id="100" name="BeforeLbl"/>
          <p:cNvSpPr txBox="1"/>
          <p:nvPr/>
        </p:nvSpPr>
        <p:spPr>
          <a:xfrm>
            <a:off x="685800" y="1300000"/>
            <a:ext cx="14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BEFORE</a:t>
            </a:r>
          </a:p>
        </p:txBody>
      </p:sp>
      <p:sp>
        <p:nvSpPr>
          <p:cNvPr id="101" name="BModel"/>
          <p:cNvSpPr/>
          <p:nvPr/>
        </p:nvSpPr>
        <p:spPr>
          <a:xfrm>
            <a:off x="800000" y="2500000"/>
            <a:ext cx="1550000" cy="7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ILLNESS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02" name="BDelta"/>
          <p:cNvSpPr/>
          <p:nvPr/>
        </p:nvSpPr>
        <p:spPr>
          <a:xfrm>
            <a:off x="2160000" y="2360000"/>
            <a:ext cx="300000" cy="300000"/>
          </a:xfrm>
          <a:prstGeom prst="ellipse">
            <a:avLst/>
          </a:prstGeom>
          <a:solidFill>
            <a:srgbClr val="B23B3B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FFFFFF"/>
                </a:solidFill>
              </a:rPr>
              <a:t xml:space="preserve">Δ</a:t>
            </a:r>
          </a:p>
        </p:txBody>
      </p:sp>
      <p:sp>
        <p:nvSpPr>
          <p:cNvPr id="103" name="BUI"/>
          <p:cNvSpPr/>
          <p:nvPr/>
        </p:nvSpPr>
        <p:spPr>
          <a:xfrm>
            <a:off x="3150000" y="165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cxnSp>
        <p:nvCxnSpPr>
          <p:cNvPr id="104" name="BA0"/>
          <p:cNvCxnSpPr/>
          <p:nvPr/>
        </p:nvCxnSpPr>
        <p:spPr>
          <a:xfrm flipV="1">
            <a:off x="2350000" y="1910000"/>
            <a:ext cx="800000" cy="940000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105" name="BADVICE"/>
          <p:cNvSpPr/>
          <p:nvPr/>
        </p:nvSpPr>
        <p:spPr>
          <a:xfrm>
            <a:off x="3150000" y="260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ADVICE</a:t>
            </a:r>
          </a:p>
        </p:txBody>
      </p:sp>
      <p:cxnSp>
        <p:nvCxnSpPr>
          <p:cNvPr id="106" name="BA1"/>
          <p:cNvCxnSpPr/>
          <p:nvPr/>
        </p:nvCxnSpPr>
        <p:spPr>
          <a:xfrm>
            <a:off x="2350000" y="2850000"/>
            <a:ext cx="800000" cy="10000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107" name="BSTORAGE"/>
          <p:cNvSpPr/>
          <p:nvPr/>
        </p:nvSpPr>
        <p:spPr>
          <a:xfrm>
            <a:off x="3150000" y="355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STORAGE</a:t>
            </a:r>
          </a:p>
        </p:txBody>
      </p:sp>
      <p:cxnSp>
        <p:nvCxnSpPr>
          <p:cNvPr id="108" name="BA2"/>
          <p:cNvCxnSpPr/>
          <p:nvPr/>
        </p:nvCxnSpPr>
        <p:spPr>
          <a:xfrm>
            <a:off x="2350000" y="2850000"/>
            <a:ext cx="800000" cy="960000"/>
          </a:xfrm>
          <a:prstGeom prst="line">
            <a:avLst/>
          </a:prstGeom>
          <a:ln w="19050">
            <a:solidFill>
              <a:srgbClr val="B23B3B"/>
            </a:solidFill>
            <a:prstDash val="dash"/>
            <a:tailEnd type="triangle" w="med" len="med"/>
          </a:ln>
        </p:spPr>
      </p:cxnSp>
      <p:sp>
        <p:nvSpPr>
          <p:cNvPr id="109" name="BCap"/>
          <p:cNvSpPr txBox="1"/>
          <p:nvPr/>
        </p:nvSpPr>
        <p:spPr>
          <a:xfrm>
            <a:off x="750000" y="4200000"/>
            <a:ext cx="3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B23B3B"/>
                </a:solidFill>
              </a:rPr>
              <a:t xml:space="preserve">one expected change touches everything</a:t>
            </a:r>
          </a:p>
        </p:txBody>
      </p:sp>
      <p:cxnSp>
        <p:nvCxnSpPr>
          <p:cNvPr id="110" name="Div"/>
          <p:cNvCxnSpPr/>
          <p:nvPr/>
        </p:nvCxnSpPr>
        <p:spPr>
          <a:xfrm>
            <a:off x="4600000" y="1350000"/>
            <a:ext cx="0" cy="2950000"/>
          </a:xfrm>
          <a:prstGeom prst="line">
            <a:avLst/>
          </a:prstGeom>
          <a:ln w="12700">
            <a:solidFill>
              <a:srgbClr val="C9B991"/>
            </a:solidFill>
            <a:prstDash val="dash"/>
          </a:ln>
        </p:spPr>
      </p:cxnSp>
      <p:sp>
        <p:nvSpPr>
          <p:cNvPr id="111" name="AfterLbl"/>
          <p:cNvSpPr txBox="1"/>
          <p:nvPr/>
        </p:nvSpPr>
        <p:spPr>
          <a:xfrm>
            <a:off x="4900000" y="1300000"/>
            <a:ext cx="14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200" b="1" i="0" dirty="0">
                <a:solidFill>
                  <a:srgbClr val="8E6F3E"/>
                </a:solidFill>
              </a:rPr>
              <a:t xml:space="preserve">AFTER</a:t>
            </a:r>
          </a:p>
        </p:txBody>
      </p:sp>
      <p:sp>
        <p:nvSpPr>
          <p:cNvPr id="112" name="AUI"/>
          <p:cNvSpPr/>
          <p:nvPr/>
        </p:nvSpPr>
        <p:spPr>
          <a:xfrm>
            <a:off x="4950000" y="180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UI</a:t>
            </a:r>
          </a:p>
        </p:txBody>
      </p:sp>
      <p:sp>
        <p:nvSpPr>
          <p:cNvPr id="113" name="AAdvice"/>
          <p:cNvSpPr/>
          <p:nvPr/>
        </p:nvSpPr>
        <p:spPr>
          <a:xfrm>
            <a:off x="4950000" y="2800000"/>
            <a:ext cx="115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ADVICE</a:t>
            </a:r>
          </a:p>
        </p:txBody>
      </p:sp>
      <p:sp>
        <p:nvSpPr>
          <p:cNvPr id="114" name="AIface"/>
          <p:cNvSpPr/>
          <p:nvPr/>
        </p:nvSpPr>
        <p:spPr>
          <a:xfrm>
            <a:off x="6650000" y="1700000"/>
            <a:ext cx="100000" cy="17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5" name="AIfaceLbl"/>
          <p:cNvSpPr txBox="1"/>
          <p:nvPr/>
        </p:nvSpPr>
        <p:spPr>
          <a:xfrm>
            <a:off x="5550000" y="1380000"/>
            <a:ext cx="33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1" i="0" dirty="0">
                <a:solidFill>
                  <a:srgbClr val="8E6F3E"/>
                </a:solidFill>
              </a:rPr>
              <a:t xml:space="preserve">MODEL SERVICE INTERFACE</a:t>
            </a:r>
          </a:p>
        </p:txBody>
      </p:sp>
      <p:sp>
        <p:nvSpPr>
          <p:cNvPr id="116" name="AModel"/>
          <p:cNvSpPr/>
          <p:nvPr/>
        </p:nvSpPr>
        <p:spPr>
          <a:xfrm>
            <a:off x="6900000" y="2250000"/>
            <a:ext cx="1600000" cy="7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ILLNESS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sp>
        <p:nvSpPr>
          <p:cNvPr id="117" name="ADelta"/>
          <p:cNvSpPr/>
          <p:nvPr/>
        </p:nvSpPr>
        <p:spPr>
          <a:xfrm>
            <a:off x="8250000" y="2110000"/>
            <a:ext cx="300000" cy="300000"/>
          </a:xfrm>
          <a:prstGeom prst="ellipse">
            <a:avLst/>
          </a:prstGeom>
          <a:solidFill>
            <a:srgbClr val="B23B3B"/>
          </a:solidFill>
          <a:ln>
            <a:noFill/>
          </a:ln>
        </p:spPr>
        <p:txBody>
          <a:bodyPr wrap="square" lIns="0" tIns="0" rIns="0" bIns="0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FFFFFF"/>
                </a:solidFill>
              </a:rPr>
              <a:t xml:space="preserve">Δ</a:t>
            </a:r>
          </a:p>
        </p:txBody>
      </p:sp>
      <p:cxnSp>
        <p:nvCxnSpPr>
          <p:cNvPr id="118" name="AA1"/>
          <p:cNvCxnSpPr/>
          <p:nvPr/>
        </p:nvCxnSpPr>
        <p:spPr>
          <a:xfrm>
            <a:off x="6100000" y="2060000"/>
            <a:ext cx="550000" cy="29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9" name="AA2"/>
          <p:cNvCxnSpPr/>
          <p:nvPr/>
        </p:nvCxnSpPr>
        <p:spPr>
          <a:xfrm flipV="1">
            <a:off x="6100000" y="2900000"/>
            <a:ext cx="550000" cy="16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20" name="ACap"/>
          <p:cNvSpPr txBox="1"/>
          <p:nvPr/>
        </p:nvSpPr>
        <p:spPr>
          <a:xfrm>
            <a:off x="4950000" y="4200000"/>
            <a:ext cx="38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0" i="1" dirty="0">
                <a:solidFill>
                  <a:srgbClr val="1F7A4D"/>
                </a:solidFill>
              </a:rPr>
              <a:t xml:space="preserve">the change stays behind the seam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What sets the latency floor?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5000000"/>
            <a:ext cx="77724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Could decomposition shorten the critical path?</a:t>
            </a:r>
          </a:p>
        </p:txBody>
      </p:sp>
      <p:sp>
        <p:nvSpPr>
          <p:cNvPr id="100" name="NA"/>
          <p:cNvSpPr/>
          <p:nvPr/>
        </p:nvSpPr>
        <p:spPr>
          <a:xfrm>
            <a:off x="800000" y="2000000"/>
            <a:ext cx="650000" cy="4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 xml:space="preserve">A</a:t>
            </a:r>
          </a:p>
        </p:txBody>
      </p:sp>
      <p:sp>
        <p:nvSpPr>
          <p:cNvPr id="101" name="NB"/>
          <p:cNvSpPr/>
          <p:nvPr/>
        </p:nvSpPr>
        <p:spPr>
          <a:xfrm>
            <a:off x="2600000" y="1400000"/>
            <a:ext cx="950000" cy="5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500" b="1" i="0" dirty="0">
                <a:solidFill>
                  <a:srgbClr val="FFFFFF"/>
                </a:solidFill>
              </a:rPr>
              <a:t xml:space="preserve">B</a:t>
            </a:r>
          </a:p>
        </p:txBody>
      </p:sp>
      <p:sp>
        <p:nvSpPr>
          <p:cNvPr id="102" name="NC"/>
          <p:cNvSpPr/>
          <p:nvPr/>
        </p:nvSpPr>
        <p:spPr>
          <a:xfrm>
            <a:off x="2850000" y="2850000"/>
            <a:ext cx="650000" cy="4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sp>
        <p:nvSpPr>
          <p:cNvPr id="103" name="NE"/>
          <p:cNvSpPr/>
          <p:nvPr/>
        </p:nvSpPr>
        <p:spPr>
          <a:xfrm>
            <a:off x="4700000" y="2850000"/>
            <a:ext cx="650000" cy="4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E</a:t>
            </a:r>
          </a:p>
        </p:txBody>
      </p:sp>
      <p:sp>
        <p:nvSpPr>
          <p:cNvPr id="104" name="ND"/>
          <p:cNvSpPr/>
          <p:nvPr/>
        </p:nvSpPr>
        <p:spPr>
          <a:xfrm>
            <a:off x="4600000" y="1200000"/>
            <a:ext cx="650000" cy="45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5C4826"/>
                </a:solidFill>
              </a:rPr>
              <a:t xml:space="preserve">D</a:t>
            </a:r>
          </a:p>
        </p:txBody>
      </p:sp>
      <p:sp>
        <p:nvSpPr>
          <p:cNvPr id="105" name="NF"/>
          <p:cNvSpPr/>
          <p:nvPr/>
        </p:nvSpPr>
        <p:spPr>
          <a:xfrm>
            <a:off x="6500000" y="1850000"/>
            <a:ext cx="650000" cy="45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400" b="1" i="0" dirty="0">
                <a:solidFill>
                  <a:srgbClr val="FFFFFF"/>
                </a:solidFill>
              </a:rPr>
              <a:t xml:space="preserve">F</a:t>
            </a:r>
          </a:p>
        </p:txBody>
      </p:sp>
      <p:cxnSp>
        <p:nvCxnSpPr>
          <p:cNvPr id="106" name="EAB"/>
          <p:cNvCxnSpPr/>
          <p:nvPr/>
        </p:nvCxnSpPr>
        <p:spPr>
          <a:xfrm flipV="1">
            <a:off x="1450000" y="1800000"/>
            <a:ext cx="1150000" cy="350000"/>
          </a:xfrm>
          <a:prstGeom prst="line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7" name="WAB"/>
          <p:cNvSpPr txBox="1"/>
          <p:nvPr/>
        </p:nvSpPr>
        <p:spPr>
          <a:xfrm>
            <a:off x="1750000" y="150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1" i="1" dirty="0">
                <a:solidFill>
                  <a:srgbClr val="5C4826"/>
                </a:solidFill>
              </a:rPr>
              <a:t xml:space="preserve">80 ms</a:t>
            </a:r>
          </a:p>
        </p:txBody>
      </p:sp>
      <p:cxnSp>
        <p:nvCxnSpPr>
          <p:cNvPr id="108" name="EBF"/>
          <p:cNvCxnSpPr/>
          <p:nvPr/>
        </p:nvCxnSpPr>
        <p:spPr>
          <a:xfrm>
            <a:off x="3550000" y="1675000"/>
            <a:ext cx="2950000" cy="325000"/>
          </a:xfrm>
          <a:prstGeom prst="line">
            <a:avLst/>
          </a:prstGeom>
          <a:ln w="38100">
            <a:solidFill>
              <a:srgbClr val="8E6F3E"/>
            </a:solidFill>
            <a:tailEnd type="triangle" w="med" len="med"/>
          </a:ln>
        </p:spPr>
      </p:cxnSp>
      <p:sp>
        <p:nvSpPr>
          <p:cNvPr id="109" name="WBF"/>
          <p:cNvSpPr txBox="1"/>
          <p:nvPr/>
        </p:nvSpPr>
        <p:spPr>
          <a:xfrm>
            <a:off x="5350000" y="198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50" b="1" i="1" dirty="0">
                <a:solidFill>
                  <a:srgbClr val="5C4826"/>
                </a:solidFill>
              </a:rPr>
              <a:t xml:space="preserve">40 ms</a:t>
            </a:r>
          </a:p>
        </p:txBody>
      </p:sp>
      <p:cxnSp>
        <p:nvCxnSpPr>
          <p:cNvPr id="110" name="EAC"/>
          <p:cNvCxnSpPr/>
          <p:nvPr/>
        </p:nvCxnSpPr>
        <p:spPr>
          <a:xfrm>
            <a:off x="1275000" y="2450000"/>
            <a:ext cx="1575000" cy="55000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1" name="WAC"/>
          <p:cNvSpPr txBox="1"/>
          <p:nvPr/>
        </p:nvSpPr>
        <p:spPr>
          <a:xfrm>
            <a:off x="1650000" y="276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10 ms</a:t>
            </a:r>
          </a:p>
        </p:txBody>
      </p:sp>
      <p:cxnSp>
        <p:nvCxnSpPr>
          <p:cNvPr id="112" name="ECE"/>
          <p:cNvCxnSpPr/>
          <p:nvPr/>
        </p:nvCxnSpPr>
        <p:spPr>
          <a:xfrm>
            <a:off x="3500000" y="3075000"/>
            <a:ext cx="1200000" cy="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3" name="WCE"/>
          <p:cNvSpPr txBox="1"/>
          <p:nvPr/>
        </p:nvSpPr>
        <p:spPr>
          <a:xfrm>
            <a:off x="3800000" y="276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15 ms</a:t>
            </a:r>
          </a:p>
        </p:txBody>
      </p:sp>
      <p:cxnSp>
        <p:nvCxnSpPr>
          <p:cNvPr id="114" name="EDF"/>
          <p:cNvCxnSpPr/>
          <p:nvPr/>
        </p:nvCxnSpPr>
        <p:spPr>
          <a:xfrm>
            <a:off x="5250000" y="1425000"/>
            <a:ext cx="1400000" cy="42500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15" name="WDF"/>
          <p:cNvSpPr txBox="1"/>
          <p:nvPr/>
        </p:nvSpPr>
        <p:spPr>
          <a:xfrm>
            <a:off x="5900000" y="1180000"/>
            <a:ext cx="7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950" b="0" i="1" dirty="0">
                <a:solidFill>
                  <a:srgbClr val="555960"/>
                </a:solidFill>
              </a:rPr>
              <a:t xml:space="preserve">20 ms</a:t>
            </a:r>
          </a:p>
        </p:txBody>
      </p:sp>
      <p:sp>
        <p:nvSpPr>
          <p:cNvPr id="116" name="CritLbl"/>
          <p:cNvSpPr txBox="1"/>
          <p:nvPr/>
        </p:nvSpPr>
        <p:spPr>
          <a:xfrm>
            <a:off x="7000000" y="2500000"/>
            <a:ext cx="2000000" cy="5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critical path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8E6F3E"/>
                </a:solidFill>
              </a:rPr>
              <a:t xml:space="preserve">A → B → F  ·  120 ms</a:t>
            </a:r>
          </a:p>
        </p:txBody>
      </p:sp>
      <p:cxnSp>
        <p:nvCxnSpPr>
          <p:cNvPr id="117" name="CandArw"/>
          <p:cNvCxnSpPr/>
          <p:nvPr/>
        </p:nvCxnSpPr>
        <p:spPr>
          <a:xfrm flipH="1">
            <a:off x="2550000" y="1950000"/>
            <a:ext cx="250000" cy="1600000"/>
          </a:xfrm>
          <a:prstGeom prst="line">
            <a:avLst/>
          </a:prstGeom>
          <a:ln w="19050">
            <a:solidFill>
              <a:srgbClr val="8E6F3E"/>
            </a:solidFill>
            <a:prstDash val="dash"/>
            <a:tailEnd type="triangle" w="med" len="med"/>
          </a:ln>
        </p:spPr>
      </p:cxnSp>
      <p:sp>
        <p:nvSpPr>
          <p:cNvPr id="118" name="CandBox"/>
          <p:cNvSpPr/>
          <p:nvPr/>
        </p:nvSpPr>
        <p:spPr>
          <a:xfrm>
            <a:off x="2000000" y="3550000"/>
            <a:ext cx="2700000" cy="8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54864" tIns="27432" rIns="54864" bIns="27432" anchor="ctr">
            <a:normAutofit/>
          </a:bodyPr>
          <a:lstStyle/>
          <a:p>
            <a:endParaRPr/>
          </a:p>
        </p:txBody>
      </p:sp>
      <p:sp>
        <p:nvSpPr>
          <p:cNvPr id="119" name="CandB1"/>
          <p:cNvSpPr/>
          <p:nvPr/>
        </p:nvSpPr>
        <p:spPr>
          <a:xfrm>
            <a:off x="2200000" y="3760000"/>
            <a:ext cx="70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B1</a:t>
            </a:r>
          </a:p>
        </p:txBody>
      </p:sp>
      <p:sp>
        <p:nvSpPr>
          <p:cNvPr id="120" name="CandB2"/>
          <p:cNvSpPr/>
          <p:nvPr/>
        </p:nvSpPr>
        <p:spPr>
          <a:xfrm>
            <a:off x="3000000" y="3760000"/>
            <a:ext cx="70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B2</a:t>
            </a:r>
          </a:p>
        </p:txBody>
      </p:sp>
      <p:sp>
        <p:nvSpPr>
          <p:cNvPr id="121" name="CandB3"/>
          <p:cNvSpPr/>
          <p:nvPr/>
        </p:nvSpPr>
        <p:spPr>
          <a:xfrm>
            <a:off x="3800000" y="3760000"/>
            <a:ext cx="70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B3</a:t>
            </a:r>
          </a:p>
        </p:txBody>
      </p:sp>
      <p:sp>
        <p:nvSpPr>
          <p:cNvPr id="122" name="CandLbl"/>
          <p:cNvSpPr txBox="1"/>
          <p:nvPr/>
        </p:nvSpPr>
        <p:spPr>
          <a:xfrm>
            <a:off x="4900000" y="3900000"/>
            <a:ext cx="2600000" cy="28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100" b="0" i="1" dirty="0">
                <a:solidFill>
                  <a:srgbClr val="8E6F3E"/>
                </a:solidFill>
              </a:rPr>
              <a:t xml:space="preserve">candidate: decompose B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240280"/>
            <a:ext cx="7772400" cy="914400"/>
          </a:xfrm>
        </p:spPr>
        <p:txBody>
          <a:bodyPr>
            <a:normAutofit/>
          </a:bodyPr>
          <a:lstStyle/>
          <a:p>
            <a:pPr algn="ctr">
              <a:buNone/>
              <a:defRPr b="0"/>
            </a:pPr>
            <a:r>
              <a:rPr lang="en-US" sz="4000" b="0" i="0" dirty="0">
                <a:solidFill>
                  <a:srgbClr val="000000"/>
                </a:solidFill>
              </a:rPr>
              <a:t xml:space="preserve">Architect one system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50" name="T50"/>
          <p:cNvSpPr txBox="1"/>
          <p:nvPr/>
        </p:nvSpPr>
        <p:spPr>
          <a:xfrm>
            <a:off x="685800" y="1737360"/>
            <a:ext cx="77724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1" i="0" dirty="0">
                <a:solidFill>
                  <a:srgbClr val="8E6F3E"/>
                </a:solidFill>
              </a:rPr>
              <a:t xml:space="preserve">SECTION 5</a:t>
            </a:r>
          </a:p>
        </p:txBody>
      </p:sp>
      <p:sp>
        <p:nvSpPr>
          <p:cNvPr id="51" name="S51"/>
          <p:cNvSpPr/>
          <p:nvPr/>
        </p:nvSpPr>
        <p:spPr>
          <a:xfrm>
            <a:off x="3429000" y="3383280"/>
            <a:ext cx="2286000" cy="508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endParaRPr/>
          </a:p>
        </p:txBody>
      </p:sp>
      <p:sp>
        <p:nvSpPr>
          <p:cNvPr id="52" name="T52"/>
          <p:cNvSpPr txBox="1"/>
          <p:nvPr/>
        </p:nvSpPr>
        <p:spPr>
          <a:xfrm>
            <a:off x="1371600" y="3977640"/>
            <a:ext cx="6400800" cy="100584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800" b="0" i="0" dirty="0">
                <a:solidFill>
                  <a:srgbClr val="555960"/>
                </a:solidFill>
              </a:rPr>
              <a:t xml:space="preserve">Enough vocabulary. Make the decision.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Exercise: Here is the specification.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4500000"/>
            <a:ext cx="8585200" cy="13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2100" b="1" i="0" dirty="0">
                <a:solidFill>
                  <a:srgbClr val="000000"/>
                </a:solidFill>
              </a:rPr>
              <a:t xml:space="preserve">Sketch the major parts, the boundaries, and the interactions.</a:t>
            </a:r>
          </a:p>
          <a:p>
            <a:pPr algn="l">
              <a:spcBef>
                <a:spcPts val="200"/>
              </a:spcBef>
              <a:buNone/>
            </a:pPr>
            <a:r>
              <a:rPr lang="en-US" sz="2100" b="0" i="0" dirty="0">
                <a:solidFill>
                  <a:srgbClr val="000000"/>
                </a:solidFill>
              </a:rPr>
              <a:t xml:space="preserve">Produce TWO plausible organizations — do not converge on one yet.</a:t>
            </a:r>
          </a:p>
        </p:txBody>
      </p:sp>
      <p:sp>
        <p:nvSpPr>
          <p:cNvPr id="100" name="SysBox"/>
          <p:cNvSpPr/>
          <p:nvPr/>
        </p:nvSpPr>
        <p:spPr>
          <a:xfrm>
            <a:off x="3600000" y="2350000"/>
            <a:ext cx="1950000" cy="9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8E6F3E"/>
                </a:solidFill>
              </a:rPr>
              <a:t xml:space="preserve">SYSTEM ?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900" b="0" i="1" dirty="0">
                <a:solidFill>
                  <a:srgbClr val="8E6F3E"/>
                </a:solidFill>
              </a:rPr>
              <a:t xml:space="preserve">YOUR ARCHITECTURE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900" b="0" i="1" dirty="0">
                <a:solidFill>
                  <a:srgbClr val="8E6F3E"/>
                </a:solidFill>
              </a:rPr>
              <a:t xml:space="preserve">GOES HERE</a:t>
            </a:r>
          </a:p>
        </p:txBody>
      </p:sp>
      <p:sp>
        <p:nvSpPr>
          <p:cNvPr id="101" name="Obl0"/>
          <p:cNvSpPr/>
          <p:nvPr/>
        </p:nvSpPr>
        <p:spPr>
          <a:xfrm>
            <a:off x="3775000" y="130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≤ 2 s latency</a:t>
            </a:r>
          </a:p>
        </p:txBody>
      </p:sp>
      <p:cxnSp>
        <p:nvCxnSpPr>
          <p:cNvPr id="102" name="OblA0"/>
          <p:cNvCxnSpPr/>
          <p:nvPr/>
        </p:nvCxnSpPr>
        <p:spPr>
          <a:xfrm>
            <a:off x="4575000" y="1800000"/>
            <a:ext cx="0" cy="563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03" name="Obl1"/>
          <p:cNvSpPr/>
          <p:nvPr/>
        </p:nvSpPr>
        <p:spPr>
          <a:xfrm>
            <a:off x="1000000" y="175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privacy</a:t>
            </a:r>
          </a:p>
        </p:txBody>
      </p:sp>
      <p:cxnSp>
        <p:nvCxnSpPr>
          <p:cNvPr id="104" name="OblA1"/>
          <p:cNvCxnSpPr/>
          <p:nvPr/>
        </p:nvCxnSpPr>
        <p:spPr>
          <a:xfrm>
            <a:off x="2600000" y="2000000"/>
            <a:ext cx="1086250" cy="453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05" name="Obl2"/>
          <p:cNvSpPr/>
          <p:nvPr/>
        </p:nvSpPr>
        <p:spPr>
          <a:xfrm>
            <a:off x="6750000" y="175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expected change</a:t>
            </a:r>
          </a:p>
        </p:txBody>
      </p:sp>
      <p:cxnSp>
        <p:nvCxnSpPr>
          <p:cNvPr id="106" name="OblA2"/>
          <p:cNvCxnSpPr/>
          <p:nvPr/>
        </p:nvCxnSpPr>
        <p:spPr>
          <a:xfrm flipH="1">
            <a:off x="5553750" y="2000000"/>
            <a:ext cx="1196250" cy="453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07" name="Obl3"/>
          <p:cNvSpPr/>
          <p:nvPr/>
        </p:nvSpPr>
        <p:spPr>
          <a:xfrm>
            <a:off x="1400000" y="350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availability</a:t>
            </a:r>
          </a:p>
        </p:txBody>
      </p:sp>
      <p:cxnSp>
        <p:nvCxnSpPr>
          <p:cNvPr id="108" name="OblA3"/>
          <p:cNvCxnSpPr/>
          <p:nvPr/>
        </p:nvCxnSpPr>
        <p:spPr>
          <a:xfrm flipV="1">
            <a:off x="3000000" y="3241250"/>
            <a:ext cx="866250" cy="508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  <p:sp>
        <p:nvSpPr>
          <p:cNvPr id="109" name="Obl4"/>
          <p:cNvSpPr/>
          <p:nvPr/>
        </p:nvSpPr>
        <p:spPr>
          <a:xfrm>
            <a:off x="6350000" y="3500000"/>
            <a:ext cx="1600000" cy="5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consistency</a:t>
            </a:r>
          </a:p>
        </p:txBody>
      </p:sp>
      <p:cxnSp>
        <p:nvCxnSpPr>
          <p:cNvPr id="110" name="OblA4"/>
          <p:cNvCxnSpPr/>
          <p:nvPr/>
        </p:nvCxnSpPr>
        <p:spPr>
          <a:xfrm flipH="1" flipV="1">
            <a:off x="5373750" y="3241250"/>
            <a:ext cx="976250" cy="508750"/>
          </a:xfrm>
          <a:prstGeom prst="line">
            <a:avLst/>
          </a:prstGeom>
          <a:ln w="19050">
            <a:solidFill>
              <a:srgbClr val="C9B991"/>
            </a:solidFill>
            <a:tailEnd type="triangle" w="med" len="med"/>
          </a:ln>
        </p:spPr>
      </p:cxn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Defend the architectural decision.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Band61"/>
          <p:cNvSpPr/>
          <p:nvPr/>
        </p:nvSpPr>
        <p:spPr>
          <a:xfrm>
            <a:off x="279400" y="3900000"/>
            <a:ext cx="8585200" cy="1900000"/>
          </a:xfrm>
          <a:prstGeom prst="rect">
            <a:avLst/>
          </a:prstGeom>
          <a:solidFill>
            <a:srgbClr val="F5F1E8"/>
          </a:solidFill>
          <a:ln>
            <a:noFill/>
          </a:ln>
        </p:spPr>
        <p:txBody>
          <a:bodyPr wrap="square" lIns="109728" tIns="82296" rIns="109728" bIns="82296" anchor="ctr">
            <a:normAutofit/>
          </a:bodyPr>
          <a:lstStyle/>
          <a:p>
            <a:pPr algn="l"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Which candidates violate specification?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Is anything Pareto-dominated?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What genuine tradeoff remains?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What architectural model would help distinguish the alternatives?</a:t>
            </a:r>
          </a:p>
          <a:p>
            <a:pPr algn="l">
              <a:spcBef>
                <a:spcPts val="150"/>
              </a:spcBef>
              <a:buNone/>
            </a:pPr>
            <a:r>
              <a:rPr lang="en-US" sz="1800" b="1" i="0" dirty="0">
                <a:solidFill>
                  <a:srgbClr val="8E6F3E"/>
                </a:solidFill>
              </a:rPr>
              <a:t xml:space="preserve">·  </a:t>
            </a:r>
            <a:r>
              <a:rPr lang="en-US" sz="1800" b="0" i="0" dirty="0">
                <a:solidFill>
                  <a:srgbClr val="000000"/>
                </a:solidFill>
              </a:rPr>
              <a:t xml:space="preserve">What information would you buy before committing?</a:t>
            </a:r>
          </a:p>
        </p:txBody>
      </p:sp>
      <p:sp>
        <p:nvSpPr>
          <p:cNvPr id="62" name="T62"/>
          <p:cNvSpPr txBox="1"/>
          <p:nvPr/>
        </p:nvSpPr>
        <p:spPr>
          <a:xfrm>
            <a:off x="685800" y="5950000"/>
            <a:ext cx="7772400" cy="4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200" b="0" i="1" dirty="0">
                <a:solidFill>
                  <a:srgbClr val="000000"/>
                </a:solidFill>
              </a:rPr>
              <a:t xml:space="preserve">There need not be one “correct” architecture.</a:t>
            </a:r>
          </a:p>
        </p:txBody>
      </p:sp>
      <p:sp>
        <p:nvSpPr>
          <p:cNvPr id="100" name="CandA"/>
          <p:cNvSpPr/>
          <p:nvPr/>
        </p:nvSpPr>
        <p:spPr>
          <a:xfrm>
            <a:off x="3184500" y="1150000"/>
            <a:ext cx="7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1" name="CandB"/>
          <p:cNvSpPr/>
          <p:nvPr/>
        </p:nvSpPr>
        <p:spPr>
          <a:xfrm>
            <a:off x="4109500" y="1150000"/>
            <a:ext cx="7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02" name="CandC"/>
          <p:cNvSpPr/>
          <p:nvPr/>
        </p:nvSpPr>
        <p:spPr>
          <a:xfrm>
            <a:off x="5034500" y="1150000"/>
            <a:ext cx="7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03" name="FunA0"/>
          <p:cNvCxnSpPr/>
          <p:nvPr/>
        </p:nvCxnSpPr>
        <p:spPr>
          <a:xfrm>
            <a:off x="4572000" y="149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FunR0"/>
          <p:cNvSpPr/>
          <p:nvPr/>
        </p:nvSpPr>
        <p:spPr>
          <a:xfrm>
            <a:off x="1572000" y="1600000"/>
            <a:ext cx="60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SPECIFICATION — eliminate the invalid</a:t>
            </a:r>
          </a:p>
        </p:txBody>
      </p:sp>
      <p:cxnSp>
        <p:nvCxnSpPr>
          <p:cNvPr id="105" name="FunA1"/>
          <p:cNvCxnSpPr/>
          <p:nvPr/>
        </p:nvCxnSpPr>
        <p:spPr>
          <a:xfrm>
            <a:off x="4572000" y="193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6" name="FunR1"/>
          <p:cNvSpPr/>
          <p:nvPr/>
        </p:nvSpPr>
        <p:spPr>
          <a:xfrm>
            <a:off x="2172000" y="2040000"/>
            <a:ext cx="48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DOMINANCE — eliminate the clearly worse</a:t>
            </a:r>
          </a:p>
        </p:txBody>
      </p:sp>
      <p:cxnSp>
        <p:nvCxnSpPr>
          <p:cNvPr id="107" name="FunA2"/>
          <p:cNvCxnSpPr/>
          <p:nvPr/>
        </p:nvCxnSpPr>
        <p:spPr>
          <a:xfrm>
            <a:off x="4572000" y="237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8" name="FunR2"/>
          <p:cNvSpPr/>
          <p:nvPr/>
        </p:nvSpPr>
        <p:spPr>
          <a:xfrm>
            <a:off x="2722000" y="2480000"/>
            <a:ext cx="37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WHAT DON’T WE KNOW?</a:t>
            </a:r>
          </a:p>
        </p:txBody>
      </p:sp>
      <p:cxnSp>
        <p:nvCxnSpPr>
          <p:cNvPr id="109" name="FunA3"/>
          <p:cNvCxnSpPr/>
          <p:nvPr/>
        </p:nvCxnSpPr>
        <p:spPr>
          <a:xfrm>
            <a:off x="4572000" y="281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0" name="FunR3"/>
          <p:cNvSpPr/>
          <p:nvPr/>
        </p:nvSpPr>
        <p:spPr>
          <a:xfrm>
            <a:off x="3122000" y="2920000"/>
            <a:ext cx="2900000" cy="3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BUY INFORMATION?</a:t>
            </a:r>
          </a:p>
        </p:txBody>
      </p:sp>
      <p:cxnSp>
        <p:nvCxnSpPr>
          <p:cNvPr id="111" name="FunA4"/>
          <p:cNvCxnSpPr/>
          <p:nvPr/>
        </p:nvCxnSpPr>
        <p:spPr>
          <a:xfrm>
            <a:off x="4572000" y="3250000"/>
            <a:ext cx="0" cy="1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FunR4"/>
          <p:cNvSpPr/>
          <p:nvPr/>
        </p:nvSpPr>
        <p:spPr>
          <a:xfrm>
            <a:off x="3572000" y="3360000"/>
            <a:ext cx="2000000" cy="33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FFFFFF"/>
                </a:solidFill>
              </a:rPr>
              <a:t xml:space="preserve">DECIDE</a:t>
            </a:r>
          </a:p>
        </p:txBody>
      </p:sp>
      <p:sp>
        <p:nvSpPr>
          <p:cNvPr id="113" name="TradeLbl"/>
          <p:cNvSpPr txBox="1"/>
          <p:nvPr/>
        </p:nvSpPr>
        <p:spPr>
          <a:xfrm>
            <a:off x="7100000" y="2510000"/>
            <a:ext cx="19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a genuine tradeoff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remains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800" b="0" i="0" dirty="0">
                <a:solidFill>
                  <a:srgbClr val="000000"/>
                </a:solidFill>
              </a:rPr>
              <a:t xml:space="preserve">What happens when architectural evidence gets cheap?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0</a:t>
            </a:fld>
            <a:endParaRPr lang="en-US"/>
          </a:p>
        </p:txBody>
      </p:sp>
      <p:sp>
        <p:nvSpPr>
          <p:cNvPr id="61" name="T61"/>
          <p:cNvSpPr txBox="1"/>
          <p:nvPr/>
        </p:nvSpPr>
        <p:spPr>
          <a:xfrm>
            <a:off x="685800" y="3650000"/>
            <a:ext cx="7772400" cy="8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100" b="0" i="1" dirty="0">
                <a:solidFill>
                  <a:srgbClr val="000000"/>
                </a:solidFill>
              </a:rPr>
              <a:t xml:space="preserve">GenAI doesn’t remove architectural tradeoffs. It can make evidence about those tradeoffs cheaper.</a:t>
            </a:r>
          </a:p>
        </p:txBody>
      </p:sp>
      <p:sp>
        <p:nvSpPr>
          <p:cNvPr id="6" name="MAGE Moment badge"/>
          <p:cNvSpPr txBox="1"/>
          <p:nvPr/>
        </p:nvSpPr>
        <p:spPr>
          <a:xfrm>
            <a:off x="2691524" y="4428182"/>
            <a:ext cx="5080000" cy="787400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 algn="l">
              <a:buNone/>
            </a:pPr>
            <a:r>
              <a:rPr lang="en-US" sz="4800" dirty="0"/>
              <a:t>🧙</a:t>
            </a:r>
            <a:r>
              <a:rPr lang="en-US" sz="2400" i="1" dirty="0"/>
              <a:t xml:space="preserve">  MAGE Moment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49" y="5215582"/>
            <a:ext cx="8341929" cy="1230997"/>
          </a:xfrm>
          <a:prstGeom prst="rect">
            <a:avLst/>
          </a:prstGeom>
          <a:noFill/>
        </p:spPr>
        <p:txBody>
          <a:bodyPr wrap="square" rtlCol="0">
            <a:normAutofit/>
          </a:bodyPr>
          <a:lstStyle/>
          <a:p>
            <a:pPr algn="ctr">
              <a:buNone/>
            </a:pPr>
            <a:r>
              <a:rPr lang="en-US" sz="2200" b="1" dirty="0">
                <a:solidFill>
                  <a:srgbClr val="5C4826"/>
                </a:solidFill>
              </a:rPr>
              <a:t>DON’T ASK THE AGENT TO CHOOSE YOUR ARCHITECTURE.</a:t>
            </a:r>
          </a:p>
          <a:p>
            <a:pPr algn="ctr">
              <a:buNone/>
            </a:pPr>
            <a:r>
              <a:rPr lang="en-US" sz="2200" b="1" dirty="0">
                <a:solidFill>
                  <a:srgbClr val="5C4826"/>
                </a:solidFill>
              </a:rPr>
              <a:t>USE IT TO REDUCE HOW MUCH OF YOUR ARCHITECTURE REMAINS A BET.</a:t>
            </a:r>
          </a:p>
        </p:txBody>
      </p:sp>
      <p:sp>
        <p:nvSpPr>
          <p:cNvPr id="100" name="ArchUnc"/>
          <p:cNvSpPr/>
          <p:nvPr/>
        </p:nvSpPr>
        <p:spPr>
          <a:xfrm>
            <a:off x="400000" y="1750000"/>
            <a:ext cx="1600000" cy="70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ARCHITECTURAL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UNCERTAINTY</a:t>
            </a:r>
          </a:p>
        </p:txBody>
      </p:sp>
      <p:cxnSp>
        <p:nvCxnSpPr>
          <p:cNvPr id="101" name="A1"/>
          <p:cNvCxnSpPr/>
          <p:nvPr/>
        </p:nvCxnSpPr>
        <p:spPr>
          <a:xfrm>
            <a:off x="2000000" y="2100000"/>
            <a:ext cx="32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BuyInfo"/>
          <p:cNvSpPr/>
          <p:nvPr/>
        </p:nvSpPr>
        <p:spPr>
          <a:xfrm>
            <a:off x="2320000" y="1800000"/>
            <a:ext cx="1500000" cy="60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FFFFFF"/>
                </a:solidFill>
              </a:rPr>
              <a:t xml:space="preserve">BUY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250" b="1" i="0" dirty="0">
                <a:solidFill>
                  <a:srgbClr val="FFFFFF"/>
                </a:solidFill>
              </a:rPr>
              <a:t xml:space="preserve">INFORMATION</a:t>
            </a:r>
          </a:p>
        </p:txBody>
      </p:sp>
      <p:sp>
        <p:nvSpPr>
          <p:cNvPr id="103" name="Kid0"/>
          <p:cNvSpPr/>
          <p:nvPr/>
        </p:nvSpPr>
        <p:spPr>
          <a:xfrm>
            <a:off x="4400000" y="1300000"/>
            <a:ext cx="1350000" cy="4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 xml:space="preserve">MODEL</a:t>
            </a:r>
          </a:p>
        </p:txBody>
      </p:sp>
      <p:cxnSp>
        <p:nvCxnSpPr>
          <p:cNvPr id="104" name="KA0"/>
          <p:cNvCxnSpPr/>
          <p:nvPr/>
        </p:nvCxnSpPr>
        <p:spPr>
          <a:xfrm flipV="1">
            <a:off x="3820000" y="1530000"/>
            <a:ext cx="580000" cy="57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5" name="Kid1"/>
          <p:cNvSpPr/>
          <p:nvPr/>
        </p:nvSpPr>
        <p:spPr>
          <a:xfrm>
            <a:off x="4400000" y="1880000"/>
            <a:ext cx="1350000" cy="4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 xml:space="preserve">PROTOTYPE</a:t>
            </a:r>
          </a:p>
        </p:txBody>
      </p:sp>
      <p:cxnSp>
        <p:nvCxnSpPr>
          <p:cNvPr id="106" name="KA1"/>
          <p:cNvCxnSpPr/>
          <p:nvPr/>
        </p:nvCxnSpPr>
        <p:spPr>
          <a:xfrm>
            <a:off x="3820000" y="2100000"/>
            <a:ext cx="580000" cy="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7" name="Kid2"/>
          <p:cNvSpPr/>
          <p:nvPr/>
        </p:nvSpPr>
        <p:spPr>
          <a:xfrm>
            <a:off x="4400000" y="2460000"/>
            <a:ext cx="1350000" cy="46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00" b="1" i="0" dirty="0">
                <a:solidFill>
                  <a:srgbClr val="5C4826"/>
                </a:solidFill>
              </a:rPr>
              <a:t xml:space="preserve">EXPERIMENT</a:t>
            </a:r>
          </a:p>
        </p:txBody>
      </p:sp>
      <p:cxnSp>
        <p:nvCxnSpPr>
          <p:cNvPr id="108" name="KA2"/>
          <p:cNvCxnSpPr/>
          <p:nvPr/>
        </p:nvCxnSpPr>
        <p:spPr>
          <a:xfrm>
            <a:off x="3820000" y="2100000"/>
            <a:ext cx="580000" cy="59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9" name="CostBox"/>
          <p:cNvSpPr/>
          <p:nvPr/>
        </p:nvSpPr>
        <p:spPr>
          <a:xfrm>
            <a:off x="6450000" y="1830000"/>
            <a:ext cx="1250000" cy="62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B23B3B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B23B3B"/>
                </a:solidFill>
              </a:rPr>
              <a:t xml:space="preserve">$$$ · TIME</a:t>
            </a:r>
          </a:p>
        </p:txBody>
      </p:sp>
      <p:cxnSp>
        <p:nvCxnSpPr>
          <p:cNvPr id="110" name="CA0"/>
          <p:cNvCxnSpPr/>
          <p:nvPr/>
        </p:nvCxnSpPr>
        <p:spPr>
          <a:xfrm>
            <a:off x="5750000" y="1530000"/>
            <a:ext cx="700000" cy="61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1" name="CA1"/>
          <p:cNvCxnSpPr/>
          <p:nvPr/>
        </p:nvCxnSpPr>
        <p:spPr>
          <a:xfrm>
            <a:off x="5750000" y="2110000"/>
            <a:ext cx="700000" cy="3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112" name="CA2"/>
          <p:cNvCxnSpPr/>
          <p:nvPr/>
        </p:nvCxnSpPr>
        <p:spPr>
          <a:xfrm flipV="1">
            <a:off x="5750000" y="2140000"/>
            <a:ext cx="700000" cy="55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3" name="CostCap"/>
          <p:cNvSpPr txBox="1"/>
          <p:nvPr/>
        </p:nvSpPr>
        <p:spPr>
          <a:xfrm>
            <a:off x="6100000" y="2550000"/>
            <a:ext cx="2400000" cy="50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historically limits how</a:t>
            </a:r>
          </a:p>
          <a:p>
            <a:pPr algn="ctr">
              <a:spcBef>
                <a:spcPts val="300"/>
              </a:spcBef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often we can do this</a:t>
            </a:r>
          </a:p>
        </p:txBody>
      </p:sp>
      <p:sp>
        <p:nvSpPr>
          <p:cNvPr id="150" name="GenAI"/>
          <p:cNvSpPr/>
          <p:nvPr/>
        </p:nvSpPr>
        <p:spPr>
          <a:xfrm>
            <a:off x="400000" y="3000000"/>
            <a:ext cx="1100000" cy="48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300" b="1" i="0" dirty="0">
                <a:solidFill>
                  <a:srgbClr val="FFFFFF"/>
                </a:solidFill>
              </a:rPr>
              <a:t xml:space="preserve">GenAI</a:t>
            </a:r>
          </a:p>
        </p:txBody>
      </p:sp>
      <p:cxnSp>
        <p:nvCxnSpPr>
          <p:cNvPr id="151" name="G1"/>
          <p:cNvCxnSpPr/>
          <p:nvPr/>
        </p:nvCxnSpPr>
        <p:spPr>
          <a:xfrm>
            <a:off x="1500000" y="3240000"/>
            <a:ext cx="3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52" name="CostDown"/>
          <p:cNvSpPr/>
          <p:nvPr/>
        </p:nvSpPr>
        <p:spPr>
          <a:xfrm>
            <a:off x="1850000" y="3000000"/>
            <a:ext cx="2100000" cy="48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COST OF EVIDENCE ↓</a:t>
            </a:r>
          </a:p>
        </p:txBody>
      </p:sp>
      <p:cxnSp>
        <p:nvCxnSpPr>
          <p:cNvPr id="153" name="G2"/>
          <p:cNvCxnSpPr/>
          <p:nvPr/>
        </p:nvCxnSpPr>
        <p:spPr>
          <a:xfrm>
            <a:off x="3950000" y="3240000"/>
            <a:ext cx="350000" cy="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54" name="MoreQ"/>
          <p:cNvSpPr/>
          <p:nvPr/>
        </p:nvSpPr>
        <p:spPr>
          <a:xfrm>
            <a:off x="4300000" y="3000000"/>
            <a:ext cx="4300000" cy="48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150" b="1" i="0" dirty="0">
                <a:solidFill>
                  <a:srgbClr val="5C4826"/>
                </a:solidFill>
              </a:rPr>
              <a:t xml:space="preserve">MORE QUESTIONS BECOME WORTH INVESTIGATING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221" fill="hold">
                      <p:stCondLst>
                        <p:cond delay="indefinite"/>
                      </p:stCondLst>
                      <p:childTnLst>
                        <p:par>
                          <p:cTn id="222" fill="hold">
                            <p:stCondLst>
                              <p:cond delay="0"/>
                            </p:stCondLst>
                            <p:childTnLst>
                              <p:par>
                                <p:cTn id="20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4" dur="4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8" dur="400"/>
                                        <p:tgtEl>
                                          <p:spTgt spid="1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2" dur="400"/>
                                        <p:tgtEl>
                                          <p:spTgt spid="1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6" dur="400"/>
                                        <p:tgtEl>
                                          <p:spTgt spid="1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0" dur="400"/>
                                        <p:tgtEl>
                                          <p:spTgt spid="1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  <p:bldP spid="7" grpId="0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6A07E37-5A58-8F72-4386-C963BB7586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algn="l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Specification → Architecture →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315202-6E93-5123-3161-3510B7FB3A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31</a:t>
            </a:fld>
            <a:endParaRPr lang="en-US"/>
          </a:p>
        </p:txBody>
      </p:sp>
      <p:sp>
        <p:nvSpPr>
          <p:cNvPr id="2" name="Right Brace 1">
            <a:extLst>
              <a:ext uri="{FF2B5EF4-FFF2-40B4-BE49-F238E27FC236}">
                <a16:creationId xmlns:a16="http://schemas.microsoft.com/office/drawing/2014/main" id="{6FC471C8-BA11-64E0-E312-9EF0CB33BB27}"/>
              </a:ext>
            </a:extLst>
          </p:cNvPr>
          <p:cNvSpPr/>
          <p:nvPr/>
        </p:nvSpPr>
        <p:spPr>
          <a:xfrm>
            <a:off x="6480000" y="3910000"/>
            <a:ext cx="380000" cy="2430000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6ED68F9-9FC5-8DCB-B698-72DAEEC94731}"/>
              </a:ext>
            </a:extLst>
          </p:cNvPr>
          <p:cNvSpPr txBox="1"/>
          <p:nvPr/>
        </p:nvSpPr>
        <p:spPr>
          <a:xfrm>
            <a:off x="6960000" y="3900000"/>
            <a:ext cx="2050000" cy="2450000"/>
          </a:xfrm>
          <a:prstGeom prst="rect">
            <a:avLst/>
          </a:prstGeom>
          <a:noFill/>
        </p:spPr>
        <p:txBody>
          <a:bodyPr wrap="square" rtlCol="0" anchor="ctr">
            <a:normAutofit/>
          </a:bodyPr>
          <a:lstStyle/>
          <a:p>
            <a:pPr algn="l">
              <a:buNone/>
            </a:pPr>
            <a:r>
              <a:rPr lang="en-US" sz="1400" b="1" dirty="0">
                <a:solidFill>
                  <a:srgbClr val="8E6F3E"/>
                </a:solidFill>
              </a:rPr>
              <a:t>Specification</a:t>
            </a:r>
            <a:r>
              <a:rPr lang="en-US" sz="1400" dirty="0">
                <a:solidFill>
                  <a:srgbClr val="000000"/>
                </a:solidFill>
              </a:rPr>
              <a:t xml:space="preserve">  constrain what an acceptable system may do.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8E6F3E"/>
                </a:solidFill>
              </a:rPr>
              <a:t>Architecture</a:t>
            </a:r>
            <a:r>
              <a:rPr lang="en-US" sz="1400" dirty="0">
                <a:solidFill>
                  <a:srgbClr val="000000"/>
                </a:solidFill>
              </a:rPr>
              <a:t xml:space="preserve">  choose how the acceptable system is organized and how its parts may interact.</a:t>
            </a:r>
          </a:p>
          <a:p>
            <a:pPr algn="l">
              <a:spcBef>
                <a:spcPts val="300"/>
              </a:spcBef>
              <a:buNone/>
            </a:pPr>
            <a:r>
              <a:rPr lang="en-US" sz="1400" b="1" dirty="0">
                <a:solidFill>
                  <a:srgbClr val="8E6F3E"/>
                </a:solidFill>
              </a:rPr>
              <a:t>Design</a:t>
            </a:r>
            <a:r>
              <a:rPr lang="en-US" sz="1400" dirty="0">
                <a:solidFill>
                  <a:srgbClr val="000000"/>
                </a:solidFill>
              </a:rPr>
              <a:t xml:space="preserve">  choose how each part realizes its responsibility.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279400" y="6400800"/>
            <a:ext cx="85852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1800" b="0" i="1" dirty="0">
                <a:solidFill>
                  <a:srgbClr val="5C4826"/>
                </a:solidFill>
              </a:rPr>
              <a:t>Next time: given one of these parts, how should we engineer it well?</a:t>
            </a:r>
          </a:p>
        </p:txBody>
      </p:sp>
      <p:sp>
        <p:nvSpPr>
          <p:cNvPr id="100" name="Req"/>
          <p:cNvSpPr/>
          <p:nvPr/>
        </p:nvSpPr>
        <p:spPr>
          <a:xfrm>
            <a:off x="2750000" y="1340000"/>
            <a:ext cx="2300000" cy="52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REQUIREMENTS</a:t>
            </a:r>
          </a:p>
        </p:txBody>
      </p:sp>
      <p:cxnSp>
        <p:nvCxnSpPr>
          <p:cNvPr id="101" name="Arr1"/>
          <p:cNvCxnSpPr/>
          <p:nvPr/>
        </p:nvCxnSpPr>
        <p:spPr>
          <a:xfrm>
            <a:off x="3900000" y="186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2" name="Spec"/>
          <p:cNvSpPr/>
          <p:nvPr/>
        </p:nvSpPr>
        <p:spPr>
          <a:xfrm>
            <a:off x="2750000" y="2040000"/>
            <a:ext cx="2300000" cy="56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SPECIFICATION</a:t>
            </a:r>
          </a:p>
        </p:txBody>
      </p:sp>
      <p:cxnSp>
        <p:nvCxnSpPr>
          <p:cNvPr id="103" name="Arr2"/>
          <p:cNvCxnSpPr/>
          <p:nvPr/>
        </p:nvCxnSpPr>
        <p:spPr>
          <a:xfrm>
            <a:off x="3900000" y="260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4" name="Cont1"/>
          <p:cNvSpPr/>
          <p:nvPr/>
        </p:nvSpPr>
        <p:spPr>
          <a:xfrm>
            <a:off x="1450000" y="2780000"/>
            <a:ext cx="4900000" cy="9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54864" tIns="27432" rIns="54864" bIns="27432" anchor="t">
            <a:normAutofit/>
          </a:bodyPr>
          <a:lstStyle/>
          <a:p>
            <a:pPr algn="l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ACCEPTABLE REALIZATIONS</a:t>
            </a:r>
          </a:p>
        </p:txBody>
      </p:sp>
      <p:sp>
        <p:nvSpPr>
          <p:cNvPr id="105" name="RealA"/>
          <p:cNvSpPr/>
          <p:nvPr/>
        </p:nvSpPr>
        <p:spPr>
          <a:xfrm>
            <a:off x="1700000" y="3200000"/>
            <a:ext cx="12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A</a:t>
            </a:r>
          </a:p>
        </p:txBody>
      </p:sp>
      <p:sp>
        <p:nvSpPr>
          <p:cNvPr id="106" name="RealB"/>
          <p:cNvSpPr/>
          <p:nvPr/>
        </p:nvSpPr>
        <p:spPr>
          <a:xfrm>
            <a:off x="3300000" y="3200000"/>
            <a:ext cx="12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B</a:t>
            </a:r>
          </a:p>
        </p:txBody>
      </p:sp>
      <p:sp>
        <p:nvSpPr>
          <p:cNvPr id="107" name="RealC"/>
          <p:cNvSpPr/>
          <p:nvPr/>
        </p:nvSpPr>
        <p:spPr>
          <a:xfrm>
            <a:off x="4900000" y="3200000"/>
            <a:ext cx="12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600" b="1" i="0" dirty="0">
                <a:solidFill>
                  <a:srgbClr val="5C4826"/>
                </a:solidFill>
              </a:rPr>
              <a:t xml:space="preserve">C</a:t>
            </a:r>
          </a:p>
        </p:txBody>
      </p:sp>
      <p:cxnSp>
        <p:nvCxnSpPr>
          <p:cNvPr id="108" name="Arr3"/>
          <p:cNvCxnSpPr/>
          <p:nvPr/>
        </p:nvCxnSpPr>
        <p:spPr>
          <a:xfrm>
            <a:off x="3900000" y="373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09" name="ChooseLbl"/>
          <p:cNvSpPr txBox="1"/>
          <p:nvPr/>
        </p:nvSpPr>
        <p:spPr>
          <a:xfrm>
            <a:off x="4080000" y="3720000"/>
            <a:ext cx="1500000" cy="26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1000" b="0" i="1" dirty="0">
                <a:solidFill>
                  <a:srgbClr val="555960"/>
                </a:solidFill>
              </a:rPr>
              <a:t xml:space="preserve">choose one</a:t>
            </a:r>
          </a:p>
        </p:txBody>
      </p:sp>
      <p:sp>
        <p:nvSpPr>
          <p:cNvPr id="110" name="Arch"/>
          <p:cNvSpPr/>
          <p:nvPr/>
        </p:nvSpPr>
        <p:spPr>
          <a:xfrm>
            <a:off x="2750000" y="3910000"/>
            <a:ext cx="2300000" cy="5600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5C4826"/>
                </a:solidFill>
              </a:rPr>
              <a:t xml:space="preserve">ARCHITECTURE</a:t>
            </a:r>
          </a:p>
        </p:txBody>
      </p:sp>
      <p:cxnSp>
        <p:nvCxnSpPr>
          <p:cNvPr id="111" name="Arr4"/>
          <p:cNvCxnSpPr/>
          <p:nvPr/>
        </p:nvCxnSpPr>
        <p:spPr>
          <a:xfrm>
            <a:off x="3900000" y="447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2" name="Cont2"/>
          <p:cNvSpPr/>
          <p:nvPr/>
        </p:nvSpPr>
        <p:spPr>
          <a:xfrm>
            <a:off x="1450000" y="4650000"/>
            <a:ext cx="4900000" cy="950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54864" tIns="27432" rIns="54864" bIns="27432" anchor="t">
            <a:normAutofit/>
          </a:bodyPr>
          <a:lstStyle/>
          <a:p>
            <a:pPr algn="l">
              <a:buNone/>
            </a:pPr>
            <a:r>
              <a:rPr lang="en-US" sz="1500" b="1" i="0" dirty="0">
                <a:solidFill>
                  <a:srgbClr val="8E6F3E"/>
                </a:solidFill>
              </a:rPr>
              <a:t xml:space="preserve">PARTS OF THE CHOSEN SYSTEM</a:t>
            </a:r>
          </a:p>
        </p:txBody>
      </p:sp>
      <p:sp>
        <p:nvSpPr>
          <p:cNvPr id="113" name="Part0"/>
          <p:cNvSpPr/>
          <p:nvPr/>
        </p:nvSpPr>
        <p:spPr>
          <a:xfrm>
            <a:off x="1660000" y="5070000"/>
            <a:ext cx="10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PART A</a:t>
            </a:r>
          </a:p>
        </p:txBody>
      </p:sp>
      <p:sp>
        <p:nvSpPr>
          <p:cNvPr id="114" name="Part1"/>
          <p:cNvSpPr/>
          <p:nvPr/>
        </p:nvSpPr>
        <p:spPr>
          <a:xfrm>
            <a:off x="2840000" y="5070000"/>
            <a:ext cx="10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PART B</a:t>
            </a:r>
          </a:p>
        </p:txBody>
      </p:sp>
      <p:sp>
        <p:nvSpPr>
          <p:cNvPr id="115" name="Part2"/>
          <p:cNvSpPr/>
          <p:nvPr/>
        </p:nvSpPr>
        <p:spPr>
          <a:xfrm>
            <a:off x="4020000" y="5070000"/>
            <a:ext cx="10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PART C</a:t>
            </a:r>
          </a:p>
        </p:txBody>
      </p:sp>
      <p:sp>
        <p:nvSpPr>
          <p:cNvPr id="116" name="Part3"/>
          <p:cNvSpPr/>
          <p:nvPr/>
        </p:nvSpPr>
        <p:spPr>
          <a:xfrm>
            <a:off x="5200000" y="5070000"/>
            <a:ext cx="1050000" cy="4300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1250" b="1" i="0" dirty="0">
                <a:solidFill>
                  <a:srgbClr val="5C4826"/>
                </a:solidFill>
              </a:rPr>
              <a:t xml:space="preserve">PART D</a:t>
            </a:r>
          </a:p>
        </p:txBody>
      </p:sp>
      <p:cxnSp>
        <p:nvCxnSpPr>
          <p:cNvPr id="117" name="Arr5"/>
          <p:cNvCxnSpPr/>
          <p:nvPr/>
        </p:nvCxnSpPr>
        <p:spPr>
          <a:xfrm>
            <a:off x="3900000" y="5600000"/>
            <a:ext cx="0" cy="1800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118" name="Design"/>
          <p:cNvSpPr/>
          <p:nvPr/>
        </p:nvSpPr>
        <p:spPr>
          <a:xfrm>
            <a:off x="2750000" y="5780000"/>
            <a:ext cx="2300000" cy="5600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54864" tIns="27432" rIns="54864" bIns="27432" anchor="ctr">
            <a:normAutofit/>
          </a:bodyPr>
          <a:lstStyle/>
          <a:p>
            <a:pPr algn="ctr">
              <a:buNone/>
            </a:pPr>
            <a:r>
              <a:rPr lang="en-US" sz="2000" b="1" i="0" dirty="0">
                <a:solidFill>
                  <a:srgbClr val="FFFFFF"/>
                </a:solidFill>
              </a:rPr>
              <a:t xml:space="preserve">DESIGN</a:t>
            </a:r>
          </a:p>
        </p:txBody>
      </p:sp>
    </p:spTree>
    <p:extLst>
      <p:ext uri="{BB962C8B-B14F-4D97-AF65-F5344CB8AC3E}">
        <p14:creationId xmlns:p14="http://schemas.microsoft.com/office/powerpoint/2010/main" val="25549761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" dur="400"/>
                                        <p:tgtEl>
                                          <p:spTgt spid="10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400"/>
                                        <p:tgtEl>
                                          <p:spTgt spid="10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10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0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400"/>
                                        <p:tgtEl>
                                          <p:spTgt spid="10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400"/>
                                        <p:tgtEl>
                                          <p:spTgt spid="10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400"/>
                                        <p:tgtEl>
                                          <p:spTgt spid="10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1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400"/>
                                        <p:tgtEl>
                                          <p:spTgt spid="1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400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400"/>
                                        <p:tgtEl>
                                          <p:spTgt spid="1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4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2" dur="4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3" fill="hold">
                      <p:stCondLst>
                        <p:cond delay="indefinite"/>
                      </p:stCondLst>
                      <p:childTnLst>
                        <p:par>
                          <p:cTn id="8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4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2" dur="4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3" fill="hold">
                      <p:stCondLst>
                        <p:cond delay="indefinite"/>
                      </p:stCondLst>
                      <p:childTnLst>
                        <p:par>
                          <p:cTn id="94" fill="hold">
                            <p:stCondLst>
                              <p:cond delay="0"/>
                            </p:stCondLst>
                            <p:childTnLst>
                              <p:par>
                                <p:cTn id="8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2" dur="4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7B3E2FCF-E673-9928-E320-9D7777FE9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75000"/>
          </a:bodyPr>
          <a:lstStyle/>
          <a:p>
            <a:pPr algn="l">
              <a:buNone/>
              <a:defRPr b="0"/>
            </a:pPr>
            <a:r>
              <a:rPr lang="en-US" sz="2400" b="0" i="0" dirty="0">
                <a:solidFill>
                  <a:srgbClr val="000000"/>
                </a:solidFill>
              </a:rPr>
              <a:t>A specification tells us what must be true—but deliberately leaves organization open.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25202C-4A61-F639-A638-0A90AFE883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B7EB45DA-9A0D-DC49-8E02-F30A5DDC21C3}" type="slidenum">
              <a:rPr lang="en-US" smtClean="0"/>
              <a:t>2</a:t>
            </a:fld>
            <a:endParaRPr lang="en-US"/>
          </a:p>
        </p:txBody>
      </p:sp>
      <p:sp>
        <p:nvSpPr>
          <p:cNvPr id="60" name="S60"/>
          <p:cNvSpPr/>
          <p:nvPr/>
        </p:nvSpPr>
        <p:spPr>
          <a:xfrm>
            <a:off x="3429000" y="914400"/>
            <a:ext cx="2286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REQUIREMENTS</a:t>
            </a:r>
          </a:p>
        </p:txBody>
      </p:sp>
      <p:cxnSp>
        <p:nvCxnSpPr>
          <p:cNvPr id="61" name="L61"/>
          <p:cNvCxnSpPr/>
          <p:nvPr/>
        </p:nvCxnSpPr>
        <p:spPr>
          <a:xfrm>
            <a:off x="4572000" y="1473200"/>
            <a:ext cx="0" cy="203200"/>
          </a:xfrm>
          <a:prstGeom prst="line">
            <a:avLst/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2" name="S62"/>
          <p:cNvSpPr/>
          <p:nvPr/>
        </p:nvSpPr>
        <p:spPr>
          <a:xfrm>
            <a:off x="2540000" y="1676400"/>
            <a:ext cx="4064000" cy="1117600"/>
          </a:xfrm>
          <a:prstGeom prst="rect">
            <a:avLst/>
          </a:prstGeom>
          <a:solidFill>
            <a:srgbClr val="8E6F3E"/>
          </a:solidFill>
          <a:ln>
            <a:noFill/>
          </a:ln>
        </p:spPr>
        <p:txBody>
          <a:bodyPr wrap="square" lIns="109728" tIns="82296" rIns="109728" bIns="82296" anchor="ctr">
            <a:normAutofit fontScale="92500" lnSpcReduction="10000"/>
          </a:bodyPr>
          <a:lstStyle/>
          <a:p>
            <a:pPr algn="ctr">
              <a:buNone/>
            </a:pPr>
            <a:r>
              <a:rPr lang="en-US" sz="2800" b="1" i="0" dirty="0">
                <a:solidFill>
                  <a:srgbClr val="FFFFFF"/>
                </a:solidFill>
              </a:rPr>
              <a:t>SPECIFICATION</a:t>
            </a:r>
          </a:p>
          <a:p>
            <a:pPr algn="ctr">
              <a:spcBef>
                <a:spcPts val="150"/>
              </a:spcBef>
              <a:buNone/>
            </a:pPr>
            <a:r>
              <a:rPr lang="en-US" sz="2200" b="0" i="0" dirty="0">
                <a:solidFill>
                  <a:srgbClr val="FFFFFF"/>
                </a:solidFill>
              </a:rPr>
              <a:t>consequential obligations</a:t>
            </a:r>
            <a:br>
              <a:rPr lang="en-US" sz="2200" b="0" i="0" dirty="0">
                <a:solidFill>
                  <a:srgbClr val="FFFFFF"/>
                </a:solidFill>
              </a:rPr>
            </a:br>
            <a:r>
              <a:rPr lang="en-US" sz="2200" b="0" i="0" dirty="0">
                <a:solidFill>
                  <a:srgbClr val="FFFFFF"/>
                </a:solidFill>
              </a:rPr>
              <a:t>made explicit</a:t>
            </a:r>
          </a:p>
        </p:txBody>
      </p:sp>
      <p:cxnSp>
        <p:nvCxnSpPr>
          <p:cNvPr id="63" name="L63"/>
          <p:cNvCxnSpPr/>
          <p:nvPr/>
        </p:nvCxnSpPr>
        <p:spPr>
          <a:xfrm rot="5400000">
            <a:off x="3187700" y="1892300"/>
            <a:ext cx="482600" cy="2286000"/>
          </a:xfrm>
          <a:prstGeom prst="bentConnector3">
            <a:avLst>
              <a:gd name="adj1" fmla="val 50000"/>
            </a:avLst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64" name="L64"/>
          <p:cNvCxnSpPr/>
          <p:nvPr/>
        </p:nvCxnSpPr>
        <p:spPr>
          <a:xfrm rot="16200000" flipH="1">
            <a:off x="5473700" y="1892300"/>
            <a:ext cx="482600" cy="2286000"/>
          </a:xfrm>
          <a:prstGeom prst="bentConnector3">
            <a:avLst>
              <a:gd name="adj1" fmla="val 50000"/>
            </a:avLst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5" name="S65"/>
          <p:cNvSpPr/>
          <p:nvPr/>
        </p:nvSpPr>
        <p:spPr>
          <a:xfrm>
            <a:off x="698500" y="3276600"/>
            <a:ext cx="31750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OBLIGATIONS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100" b="0" i="0" dirty="0">
                <a:solidFill>
                  <a:srgbClr val="000000"/>
                </a:solidFill>
              </a:rPr>
              <a:t>what we constrain</a:t>
            </a:r>
          </a:p>
        </p:txBody>
      </p:sp>
      <p:sp>
        <p:nvSpPr>
          <p:cNvPr id="66" name="S66"/>
          <p:cNvSpPr/>
          <p:nvPr/>
        </p:nvSpPr>
        <p:spPr>
          <a:xfrm>
            <a:off x="5270500" y="3276600"/>
            <a:ext cx="3175000" cy="914400"/>
          </a:xfrm>
          <a:prstGeom prst="rect">
            <a:avLst/>
          </a:prstGeom>
          <a:solidFill>
            <a:srgbClr val="FFFFFF"/>
          </a:solidFill>
          <a:ln w="19050">
            <a:solidFill>
              <a:srgbClr val="8E6F3E"/>
            </a:solidFill>
          </a:ln>
        </p:spPr>
        <p:txBody>
          <a:bodyPr wrap="square" lIns="109728" tIns="82296" rIns="109728" bIns="82296" anchor="ctr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DEGREES OF FREEDOM</a:t>
            </a:r>
          </a:p>
          <a:p>
            <a:pPr algn="ctr">
              <a:spcBef>
                <a:spcPts val="120"/>
              </a:spcBef>
              <a:buNone/>
            </a:pPr>
            <a:r>
              <a:rPr lang="en-US" sz="2100" b="0" i="0" dirty="0">
                <a:solidFill>
                  <a:srgbClr val="000000"/>
                </a:solidFill>
              </a:rPr>
              <a:t>what we leave open</a:t>
            </a:r>
          </a:p>
        </p:txBody>
      </p:sp>
      <p:cxnSp>
        <p:nvCxnSpPr>
          <p:cNvPr id="67" name="L67"/>
          <p:cNvCxnSpPr/>
          <p:nvPr/>
        </p:nvCxnSpPr>
        <p:spPr>
          <a:xfrm rot="16200000" flipH="1">
            <a:off x="2679700" y="3797300"/>
            <a:ext cx="355600" cy="1143000"/>
          </a:xfrm>
          <a:prstGeom prst="bentConnector3">
            <a:avLst>
              <a:gd name="adj1" fmla="val 50000"/>
            </a:avLst>
          </a:prstGeom>
          <a:ln w="19050">
            <a:solidFill>
              <a:srgbClr val="8E6F3E"/>
            </a:solidFill>
            <a:tailEnd type="triangle" w="med" len="med"/>
          </a:ln>
        </p:spPr>
      </p:cxnSp>
      <p:cxnSp>
        <p:nvCxnSpPr>
          <p:cNvPr id="68" name="L68"/>
          <p:cNvCxnSpPr/>
          <p:nvPr/>
        </p:nvCxnSpPr>
        <p:spPr>
          <a:xfrm rot="5400000">
            <a:off x="6108700" y="3797300"/>
            <a:ext cx="355600" cy="1143000"/>
          </a:xfrm>
          <a:prstGeom prst="bentConnector3">
            <a:avLst>
              <a:gd name="adj1" fmla="val 50000"/>
            </a:avLst>
          </a:prstGeom>
          <a:ln w="19050">
            <a:solidFill>
              <a:srgbClr val="8E6F3E"/>
            </a:solidFill>
            <a:tailEnd type="triangle" w="med" len="med"/>
          </a:ln>
        </p:spPr>
      </p:cxnSp>
      <p:sp>
        <p:nvSpPr>
          <p:cNvPr id="69" name="S69"/>
          <p:cNvSpPr/>
          <p:nvPr/>
        </p:nvSpPr>
        <p:spPr>
          <a:xfrm>
            <a:off x="2159000" y="4546600"/>
            <a:ext cx="4826000" cy="1016000"/>
          </a:xfrm>
          <a:prstGeom prst="roundRect">
            <a:avLst/>
          </a:prstGeom>
          <a:solidFill>
            <a:srgbClr val="FBF8F2"/>
          </a:solidFill>
          <a:ln w="19050">
            <a:solidFill>
              <a:srgbClr val="8E6F3E"/>
            </a:solidFill>
            <a:prstDash val="dash"/>
          </a:ln>
        </p:spPr>
        <p:txBody>
          <a:bodyPr wrap="square" lIns="109728" tIns="82296" rIns="109728" bIns="82296" anchor="t">
            <a:normAutofit/>
          </a:bodyPr>
          <a:lstStyle/>
          <a:p>
            <a:endParaRPr/>
          </a:p>
        </p:txBody>
      </p:sp>
      <p:sp>
        <p:nvSpPr>
          <p:cNvPr id="70" name="T70"/>
          <p:cNvSpPr txBox="1"/>
          <p:nvPr/>
        </p:nvSpPr>
        <p:spPr>
          <a:xfrm>
            <a:off x="2311400" y="4597400"/>
            <a:ext cx="45212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l">
              <a:buNone/>
            </a:pPr>
            <a:r>
              <a:rPr lang="en-US" sz="2100" b="1" i="0" dirty="0">
                <a:solidFill>
                  <a:srgbClr val="8E6F3E"/>
                </a:solidFill>
              </a:rPr>
              <a:t>ACCEPTABLE REALIZATIONS</a:t>
            </a:r>
          </a:p>
        </p:txBody>
      </p:sp>
      <p:sp>
        <p:nvSpPr>
          <p:cNvPr id="71" name="S71"/>
          <p:cNvSpPr/>
          <p:nvPr/>
        </p:nvSpPr>
        <p:spPr>
          <a:xfrm>
            <a:off x="2476500" y="4953000"/>
            <a:ext cx="1270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C4826"/>
                </a:solidFill>
              </a:rPr>
              <a:t>A   ✓</a:t>
            </a:r>
          </a:p>
        </p:txBody>
      </p:sp>
      <p:sp>
        <p:nvSpPr>
          <p:cNvPr id="72" name="S72"/>
          <p:cNvSpPr/>
          <p:nvPr/>
        </p:nvSpPr>
        <p:spPr>
          <a:xfrm>
            <a:off x="3937000" y="4953000"/>
            <a:ext cx="1270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C4826"/>
                </a:solidFill>
              </a:rPr>
              <a:t>B   ✓</a:t>
            </a:r>
          </a:p>
        </p:txBody>
      </p:sp>
      <p:sp>
        <p:nvSpPr>
          <p:cNvPr id="73" name="S73"/>
          <p:cNvSpPr/>
          <p:nvPr/>
        </p:nvSpPr>
        <p:spPr>
          <a:xfrm>
            <a:off x="5397500" y="4953000"/>
            <a:ext cx="1270000" cy="558800"/>
          </a:xfrm>
          <a:prstGeom prst="rect">
            <a:avLst/>
          </a:prstGeom>
          <a:solidFill>
            <a:srgbClr val="F5F1E8"/>
          </a:solidFill>
          <a:ln w="12700">
            <a:solidFill>
              <a:srgbClr val="C9B991"/>
            </a:solidFill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C4826"/>
                </a:solidFill>
              </a:rPr>
              <a:t>C   ✓</a:t>
            </a:r>
          </a:p>
        </p:txBody>
      </p:sp>
      <p:sp>
        <p:nvSpPr>
          <p:cNvPr id="80" name="S80"/>
          <p:cNvSpPr/>
          <p:nvPr/>
        </p:nvSpPr>
        <p:spPr>
          <a:xfrm>
            <a:off x="7569200" y="4953000"/>
            <a:ext cx="1143000" cy="558800"/>
          </a:xfrm>
          <a:prstGeom prst="rect">
            <a:avLst/>
          </a:prstGeom>
          <a:solidFill>
            <a:srgbClr val="FFFFFF"/>
          </a:solidFill>
          <a:ln w="19050">
            <a:solidFill>
              <a:srgbClr val="555960"/>
            </a:solidFill>
            <a:prstDash val="dash"/>
          </a:ln>
        </p:spPr>
        <p:txBody>
          <a:bodyPr wrap="square" lIns="109728" tIns="82296" rIns="109728" bIns="82296" anchor="ctr">
            <a:normAutofit lnSpcReduction="10000"/>
          </a:bodyPr>
          <a:lstStyle/>
          <a:p>
            <a:pPr algn="ctr">
              <a:buNone/>
            </a:pPr>
            <a:r>
              <a:rPr lang="en-US" sz="2600" b="1" i="0" dirty="0">
                <a:solidFill>
                  <a:srgbClr val="555960"/>
                </a:solidFill>
              </a:rPr>
              <a:t>D   ✗</a:t>
            </a:r>
          </a:p>
        </p:txBody>
      </p:sp>
      <p:sp>
        <p:nvSpPr>
          <p:cNvPr id="81" name="T81"/>
          <p:cNvSpPr txBox="1"/>
          <p:nvPr/>
        </p:nvSpPr>
        <p:spPr>
          <a:xfrm>
            <a:off x="7188200" y="5511800"/>
            <a:ext cx="177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000" b="0" i="0" dirty="0">
                <a:solidFill>
                  <a:srgbClr val="555960"/>
                </a:solidFill>
              </a:rPr>
              <a:t>not acceptable</a:t>
            </a:r>
          </a:p>
        </p:txBody>
      </p:sp>
      <p:sp>
        <p:nvSpPr>
          <p:cNvPr id="90" name="T90"/>
          <p:cNvSpPr txBox="1"/>
          <p:nvPr/>
        </p:nvSpPr>
        <p:spPr>
          <a:xfrm>
            <a:off x="279400" y="5892800"/>
            <a:ext cx="85598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>
            <a:normAutofit/>
          </a:bodyPr>
          <a:lstStyle/>
          <a:p>
            <a:pPr algn="ctr">
              <a:buNone/>
            </a:pPr>
            <a:r>
              <a:rPr lang="en-US" sz="2400" b="1" i="0" dirty="0">
                <a:solidFill>
                  <a:srgbClr val="5C4826"/>
                </a:solidFill>
              </a:rPr>
              <a:t>We pick one. But how should this realization be organized?</a:t>
            </a:r>
          </a:p>
        </p:txBody>
      </p:sp>
      <p:sp>
        <p:nvSpPr>
          <p:cNvPr id="100" name="SelectionRing"/>
          <p:cNvSpPr/>
          <p:nvPr/>
        </p:nvSpPr>
        <p:spPr>
          <a:xfrm>
            <a:off x="3835400" y="4851400"/>
            <a:ext cx="1473200" cy="762000"/>
          </a:xfrm>
          <a:prstGeom prst="roundRect">
            <a:avLst/>
          </a:prstGeom>
          <a:noFill/>
          <a:ln w="38100">
            <a:solidFill>
              <a:srgbClr val="5C4826"/>
            </a:solidFill>
          </a:ln>
        </p:spPr>
        <p:txBody>
          <a:bodyPr wrap="square" lIns="0" tIns="0" rIns="0" bIns="0" anchor="ctr">
            <a:normAutofit/>
          </a:bodyPr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3745772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6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6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6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400"/>
                                        <p:tgtEl>
                                          <p:spTgt spid="6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400"/>
                                        <p:tgtEl>
                                          <p:spTgt spid="6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400"/>
                                        <p:tgtEl>
                                          <p:spTgt spid="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400"/>
                                        <p:tgtEl>
                                          <p:spTgt spid="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400"/>
                                        <p:tgtEl>
                                          <p:spTgt spid="7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400"/>
                                        <p:tgtEl>
                                          <p:spTgt spid="7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400"/>
                                        <p:tgtEl>
                                          <p:spTgt spid="7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4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4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10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Purdue1">
  <a:themeElements>
    <a:clrScheme name="PurdueColors">
      <a:dk1>
        <a:srgbClr val="000000"/>
      </a:dk1>
      <a:lt1>
        <a:srgbClr val="000000"/>
      </a:lt1>
      <a:dk2>
        <a:srgbClr val="C4BFC0"/>
      </a:dk2>
      <a:lt2>
        <a:srgbClr val="C9B991"/>
      </a:lt2>
      <a:accent1>
        <a:srgbClr val="8E6F3E"/>
      </a:accent1>
      <a:accent2>
        <a:srgbClr val="555960"/>
      </a:accent2>
      <a:accent3>
        <a:srgbClr val="C9B991"/>
      </a:accent3>
      <a:accent4>
        <a:srgbClr val="FFFFFF"/>
      </a:accent4>
      <a:accent5>
        <a:srgbClr val="000000"/>
      </a:accent5>
      <a:accent6>
        <a:srgbClr val="555960"/>
      </a:accent6>
      <a:hlink>
        <a:srgbClr val="000000"/>
      </a:hlink>
      <a:folHlink>
        <a:srgbClr val="555960"/>
      </a:folHlink>
    </a:clrScheme>
    <a:fontScheme name="Calibri">
      <a:maj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Parcel">
      <a: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107000"/>
                <a:lumMod val="103000"/>
              </a:schemeClr>
            </a:gs>
            <a:gs pos="100000">
              <a:schemeClr val="phClr">
                <a:tint val="82000"/>
                <a:satMod val="109000"/>
                <a:lumMod val="103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3000"/>
                <a:lumMod val="100000"/>
              </a:schemeClr>
            </a:gs>
            <a:gs pos="100000">
              <a:schemeClr val="phClr">
                <a:shade val="93000"/>
                <a:satMod val="11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317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5880" dist="1524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brightRoom" dir="tl"/>
          </a:scene3d>
          <a:sp3d prstMaterial="dkEdge">
            <a:bevelT w="0" h="0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7000"/>
                <a:shade val="100000"/>
                <a:satMod val="185000"/>
                <a:lumMod val="120000"/>
              </a:schemeClr>
            </a:gs>
            <a:gs pos="100000">
              <a:schemeClr val="phClr">
                <a:tint val="96000"/>
                <a:shade val="95000"/>
                <a:satMod val="215000"/>
                <a:lumMod val="80000"/>
              </a:schemeClr>
            </a:gs>
          </a:gsLst>
          <a:path path="circle">
            <a:fillToRect l="50000" t="55000" r="125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U-CoBrand_Template_Gold_Theme_Std_Screen_2.pptx" id="{33130098-72E9-B14B-8D33-14895F32E203}" vid="{24A02D5D-460C-B047-B557-67731F776B7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"1.0" encoding="UTF-8"?><Relationships xmlns="http://schemas.openxmlformats.org/package/2006/relationships"><Relationship Id="rId2" Type="http://schemas.microsoft.com/office/2011/relationships/webextension" Target="webextension2.xml"/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  <wetp:taskpane dockstate="right" visibility="0" width="350" row="0">
    <wetp:webextensionref xmlns:r="http://schemas.openxmlformats.org/officeDocument/2006/relationships" r:id="rId2"/>
  </wetp:taskpane>
</wetp:taskpanes>
</file>

<file path=ppt/webextensions/webextension1.xml><?xml version="1.0" encoding="utf-8"?>
<we:webextension xmlns:we="http://schemas.microsoft.com/office/webextensions/webextension/2010/11" id="{02577843-0252-164E-9900-50E04AC84376}">
  <we:reference id="wa104381063" version="1.0.0.1" store="en-001" storeType="OMEX"/>
  <we:alternateReferences>
    <we:reference id="wa104381063" version="1.0.0.1" store="wa104381063" storeType="OMEX"/>
  </we:alternateReferences>
  <we:properties/>
  <we:bindings/>
  <we:snapshot xmlns:r="http://schemas.openxmlformats.org/officeDocument/2006/relationships"/>
</we:webextension>
</file>

<file path=ppt/webextensions/webextension2.xml><?xml version="1.0" encoding="utf-8"?>
<we:webextension xmlns:we="http://schemas.microsoft.com/office/webextensions/webextension/2010/11" id="{B2F6451B-05D5-964F-AC61-763C973265E8}">
  <we:reference id="WA200010001" version="1.0.0.1" store="Omex" storeType="OMEX"/>
  <we:alternateReferences>
    <we:reference id="WA200010001" version="1.0.0.1" store="WA200010001" storeType="OMEX"/>
  </we:alternateReferences>
  <we:properties>
    <we:property name="claude.fileId" value="&quot;1299b91e-8e0b-4b63-ab37-4fd482b3179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PU-CoBrand_Template_Gold_Theme_Std_Screen_2</Template>
  <TotalTime>8515</TotalTime>
  <Words>8606</Words>
  <Application>Microsoft Macintosh PowerPoint</Application>
  <PresentationFormat>On-screen Show (4:3)</PresentationFormat>
  <Paragraphs>726</Paragraphs>
  <Slides>31</Slides>
  <Notes>31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38" baseType="lpstr">
      <vt:lpstr>Times</vt:lpstr>
      <vt:lpstr>Arial</vt:lpstr>
      <vt:lpstr>Calibri</vt:lpstr>
      <vt:lpstr>Consolas</vt:lpstr>
      <vt:lpstr>Times New Roman</vt:lpstr>
      <vt:lpstr>Wingdings</vt:lpstr>
      <vt:lpstr>Purdue1</vt:lpstr>
      <vt:lpstr>ECE 30861/46100: Software Engineering</vt:lpstr>
      <vt:lpstr>From requirements to acceptable realizations</vt:lpstr>
      <vt:lpstr>Specification</vt:lpstr>
      <vt:lpstr>Running example: Sleep Advisor</vt:lpstr>
      <vt:lpstr>We have requirements. Now what?</vt:lpstr>
      <vt:lpstr>Requirements ≠ Specification ≠ Machine instr.</vt:lpstr>
      <vt:lpstr>A specification connects the machine to the requirement</vt:lpstr>
      <vt:lpstr>How would you constrain the machine (implementation)?</vt:lpstr>
      <vt:lpstr>A real software specification</vt:lpstr>
      <vt:lpstr>A real software specification: the A-7E aircraft</vt:lpstr>
      <vt:lpstr>Specifies behavior, not the implementation</vt:lpstr>
      <vt:lpstr>Timing requirements: Responsiveness of functions</vt:lpstr>
      <vt:lpstr>The system must work in useful subsets</vt:lpstr>
      <vt:lpstr>The specification acknowledges what may change</vt:lpstr>
      <vt:lpstr>One system, many views</vt:lpstr>
      <vt:lpstr>A model is a purposeful view</vt:lpstr>
      <vt:lpstr>Representations make different properties expressible</vt:lpstr>
      <vt:lpstr>State models expose allowable behavior</vt:lpstr>
      <vt:lpstr>Sequence and activity models expose ordering</vt:lpstr>
      <vt:lpstr>Schemas expose permitted structure</vt:lpstr>
      <vt:lpstr>Three views of one system</vt:lpstr>
      <vt:lpstr>Specification and degrees of freedom</vt:lpstr>
      <vt:lpstr>Specification bounds a realization space</vt:lpstr>
      <vt:lpstr>Not constrained is not the same as free</vt:lpstr>
      <vt:lpstr>Classify each: Unknown, tacit, or free?</vt:lpstr>
      <vt:lpstr>Tacit requirements and agents (or the intern)</vt:lpstr>
      <vt:lpstr>Learning specifications</vt:lpstr>
      <vt:lpstr>Remember, software is unusually changeable</vt:lpstr>
      <vt:lpstr>Specification through iteration</vt:lpstr>
      <vt:lpstr>Specify what matters</vt:lpstr>
      <vt:lpstr>Requirements, specification, architecture, design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Bowers, Anna K</dc:creator>
  <cp:keywords/>
  <dc:description/>
  <cp:lastModifiedBy>Steve France</cp:lastModifiedBy>
  <cp:revision>333</cp:revision>
  <dcterms:created xsi:type="dcterms:W3CDTF">2020-02-21T23:00:33Z</dcterms:created>
  <dcterms:modified xsi:type="dcterms:W3CDTF">2026-09-10T14:18:17Z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2024-09-05T02:27:24Z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e1ff3097-c009-4f67-8781-6e468e7749d4</vt:lpwstr>
  </property>
  <property fmtid="{D5CDD505-2E9C-101B-9397-08002B2CF9AE}" pid="8" name="MSIP_Label_4044bd30-2ed7-4c9d-9d12-46200872a97b_ContentBits">
    <vt:lpwstr>0</vt:lpwstr>
  </property>
</Properties>
</file>