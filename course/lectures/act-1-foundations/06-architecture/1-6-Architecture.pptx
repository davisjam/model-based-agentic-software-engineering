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517" r:id="rId2"/>
    <p:sldId id="738" r:id="rId3"/>
    <p:sldId id="762" r:id="rId35"/>
    <p:sldId id="761" r:id="rId4"/>
    <p:sldId id="751" r:id="rId5"/>
    <p:sldId id="744" r:id="rId6"/>
    <p:sldId id="651" r:id="rId7"/>
    <p:sldId id="746" r:id="rId8"/>
    <p:sldId id="747" r:id="rId9"/>
    <p:sldId id="748" r:id="rId10"/>
    <p:sldId id="749" r:id="rId11"/>
    <p:sldId id="750" r:id="rId12"/>
    <p:sldId id="701" r:id="rId13"/>
    <p:sldId id="752" r:id="rId14"/>
    <p:sldId id="731" r:id="rId15"/>
    <p:sldId id="712" r:id="rId16"/>
    <p:sldId id="713" r:id="rId17"/>
    <p:sldId id="735" r:id="rId18"/>
    <p:sldId id="753" r:id="rId19"/>
    <p:sldId id="720" r:id="rId20"/>
    <p:sldId id="754" r:id="rId21"/>
    <p:sldId id="755" r:id="rId22"/>
    <p:sldId id="638" r:id="rId23"/>
    <p:sldId id="756" r:id="rId24"/>
    <p:sldId id="740" r:id="rId25"/>
    <p:sldId id="759" r:id="rId26"/>
    <p:sldId id="757" r:id="rId27"/>
    <p:sldId id="739" r:id="rId28"/>
    <p:sldId id="741"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1" autoAdjust="0"/>
    <p:restoredTop sz="56164"/>
  </p:normalViewPr>
  <p:slideViewPr>
    <p:cSldViewPr snapToGrid="0" snapToObjects="1">
      <p:cViewPr varScale="1">
        <p:scale>
          <a:sx n="64" d="100"/>
          <a:sy n="64" d="100"/>
        </p:scale>
        <p:origin x="1944"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on slide 3, after the problem that motivates it.</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last click is the point.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whole trick. Each view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pick one of the acceptable systems.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sound structural. The fourth is why the structure matters: we do not draw boxes for their own sake, we draw them because the drawing determines what the system can promise.</a:t>
            </a:r>
          </a:p>
          <a:p>
            <a:endParaRPr dirty="0"/>
          </a:p>
          <a:p>
            <a:r>
              <a:rPr dirty="0"/>
              <a:t>Of these, the boundary question is where the consequences concentrate. Let us look at it properly.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Three callout clicks. Let students read the verdict line first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Second, dominance. Compare D with A: on every property we care about, D is no better, and on at least one it is strictly worse. Choosing D over A could never be right, under any weighting of the properties. So D goes — and notice we never needed a weight or a score to say so.</a:t>
            </a:r>
          </a:p>
          <a:p>
            <a:endParaRPr dirty="0"/>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decision method to the accumulated knowledge that supplies candidates.</a:t>
            </a:r>
          </a:p>
          <a:p>
            <a:endParaRPr dirty="0"/>
          </a:p>
          <a:p>
            <a:r>
              <a:rPr dirty="0"/>
              <a:t>- Do not pause for discussion.</a:t>
            </a:r>
          </a:p>
          <a:p>
            <a:endParaRPr dirty="0"/>
          </a:p>
          <a:p>
            <a:r>
              <a:rPr dirty="0"/>
              <a:t>=====</a:t>
            </a:r>
          </a:p>
          <a:p>
            <a:r>
              <a:rPr dirty="0"/>
              <a:t>Section three. Patterns — the field's accumulated engineering experience about how systems can be organized. Not just shapes to imitate: each one arrives carrying expectations about what it buys and what it costs.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Patterns matter twice: they supply candidate organizations, and priors about the consequences. Priors are evidence, not guarantees.</a:t>
            </a:r>
          </a:p>
          <a:p>
            <a:endParaRPr dirty="0"/>
          </a:p>
          <a:p>
            <a:r>
              <a:rPr dirty="0"/>
              <a:t>- Two outputs of the diagram: an organization to try, and an expectation — tends to make X easier and Y harder.</a:t>
            </a:r>
          </a:p>
          <a:p>
            <a:endParaRPr dirty="0"/>
          </a:p>
          <a:p>
            <a:r>
              <a:rPr dirty="0"/>
              <a:t>- Resolve the tension with the matrix slide EXPLICITLY — students who were paying attention should be asking. The matrix invented numbers and called them proof. A prior is a legitimate input to judgment; the dishonesty was the arithmetic costume, not the use of experience.</a:t>
            </a:r>
          </a:p>
          <a:p>
            <a:endParaRPr dirty="0"/>
          </a:p>
          <a:p>
            <a:r>
              <a:rPr dirty="0"/>
              <a:t>- The dial: small, familiar, low-consequence — take the conventional organization and proceed; an educated guess, or an AI agent, recognizes it fine. As scale, novelty, interaction, or consequence rises, the canned tradeoff degrades into a hypothesis to investigate.</a:t>
            </a:r>
          </a:p>
          <a:p>
            <a:endParaRPr dirty="0"/>
          </a:p>
          <a:p>
            <a:r>
              <a:rPr dirty="0"/>
              <a:t>=====</a:t>
            </a:r>
          </a:p>
          <a:p>
            <a:r>
              <a:rPr dirty="0"/>
              <a:t>A pattern is compressed experience. Enough engineers hit a recurring problem, some organizations kept working, and the field remembered two things: the organization itself, and what tended to happen to the systems organized that way.</a:t>
            </a:r>
          </a:p>
          <a:p>
            <a:endParaRPr dirty="0"/>
          </a:p>
          <a:p>
            <a:r>
              <a:rPr dirty="0"/>
              <a:t>So patterns feed our decision framework twice. They put candidates on the table you would not have invented from scratch. And they hand each candidate a prior: this shape tends to make X easier and Y harder.</a:t>
            </a:r>
          </a:p>
          <a:p>
            <a:endParaRPr dirty="0"/>
          </a:p>
          <a:p>
            <a:r>
              <a:rPr dirty="0"/>
              <a:t>Now, some of you should be objecting. Twenty minutes ago I mocked a spreadsheet for exactly this — deciding from opinions. Here is the difference. The matrix took judgments, dressed them as arithmetic, and claimed the number proved the choice. A rule of thumb claims nothing of the sort — it is experience, offered as evidence, with its uncertainty showing. Rules of thumb are legitimate inputs to judgment. They are not analytical proof.</a:t>
            </a:r>
          </a:p>
          <a:p>
            <a:endParaRPr dirty="0"/>
          </a:p>
          <a:p>
            <a:r>
              <a:rPr dirty="0"/>
              <a:t>So the discipline: for a small, familiar, low-stakes system, take the conventional organization and get on with it — an educated guess is fine, and frankly an AI agent will recognize the convention too. But as scale, novelty, interaction, or consequence grows, the pattern's promise stops being a conclusion and becomes a hypothesis you must test.</a:t>
            </a:r>
          </a:p>
          <a:p>
            <a:endParaRPr dirty="0"/>
          </a:p>
          <a:p>
            <a:r>
              <a:rPr dirty="0"/>
              <a:t>Let us meet four of these patterns — and for each one, I want you to hear both the prior and the question it does not answer. Start with the oldest: layers.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Layers constrain dependency direction; mmap shows the rule of thumb deliberately broken for profit.</a:t>
            </a:r>
          </a:p>
          <a:p>
            <a:endParaRPr dirty="0"/>
          </a:p>
          <a:p>
            <a:r>
              <a:rPr dirty="0"/>
              <a:t>- The pattern: each layer may depend only downward. The prior: substitution and change-isolation get easier; strictness costs indirection.</a:t>
            </a:r>
          </a:p>
          <a:p>
            <a:endParaRPr dirty="0"/>
          </a:p>
          <a:p>
            <a:r>
              <a:rPr dirty="0"/>
              <a:t>- mmap is not a bug or laziness — it is a deliberate crossing that buys something real: file-backed data participates in virtual memory; pages fault in on demand.</a:t>
            </a:r>
          </a:p>
          <a:p>
            <a:endParaRPr dirty="0"/>
          </a:p>
          <a:p>
            <a:r>
              <a:rPr dirty="0"/>
              <a:t>- That is precisely why 'follow the layered pattern' is a rule of thumb, not a law: the mature judgment is knowing what the rule buys and when crossing it buys more.</a:t>
            </a:r>
          </a:p>
          <a:p>
            <a:endParaRPr dirty="0"/>
          </a:p>
          <a:p>
            <a:r>
              <a:rPr dirty="0"/>
              <a:t>=====</a:t>
            </a:r>
          </a:p>
          <a:p>
            <a:r>
              <a:rPr dirty="0"/>
              <a:t>Layers: organize the system so each part depends only on the layer beneath it. The prior is strong — you can replace the infrastructure without rewriting the domain, understand one stratum at a time, contain change below an interface.</a:t>
            </a:r>
          </a:p>
          <a:p>
            <a:endParaRPr dirty="0"/>
          </a:p>
          <a:p>
            <a:r>
              <a:rPr dirty="0"/>
              <a:t>And then real systems do this. mmap. The application is supposed to reach files through the file API, layer by layer. mmap instead wires a file straight into the process's virtual memory: touch a page, the fault handler pulls it from storage.</a:t>
            </a:r>
          </a:p>
          <a:p>
            <a:endParaRPr dirty="0"/>
          </a:p>
          <a:p>
            <a:r>
              <a:rPr dirty="0"/>
              <a:t>That is a layer crossing, done on purpose, by people who understood layering perfectly well. And it buys something the clean route cannot: file-backed data participating in the paging machinery itself — no copy through the API, demand paging for free.</a:t>
            </a:r>
          </a:p>
          <a:p>
            <a:endParaRPr dirty="0"/>
          </a:p>
          <a:p>
            <a:r>
              <a:rPr dirty="0"/>
              <a:t>This is what I mean by rule of thumb, not law. The pattern earns its keep as a default; the exceptions are engineered, priced, and paid for. Follow the layered pattern — until you can name exactly what crossing it buys you.</a:t>
            </a:r>
          </a:p>
          <a:p>
            <a:endParaRPr dirty="0"/>
          </a:p>
          <a:p>
            <a:r>
              <a:rPr dirty="0"/>
              <a:t>Layers came from operating systems. The next pattern grew up in interactive applications.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MVC separates model, view, and interaction logic; the prior and its price in three sentences each.</a:t>
            </a:r>
          </a:p>
          <a:p>
            <a:endParaRPr dirty="0"/>
          </a:p>
          <a:p>
            <a:r>
              <a:rPr dirty="0"/>
              <a:t>- Prior: multiple presentations of one model, and independent evolution of each corner.</a:t>
            </a:r>
          </a:p>
          <a:p>
            <a:endParaRPr dirty="0"/>
          </a:p>
          <a:p>
            <a:r>
              <a:rPr dirty="0"/>
              <a:t>- Price: coordination and indirection — a simple edit now takes a tour.</a:t>
            </a:r>
          </a:p>
          <a:p>
            <a:endParaRPr dirty="0"/>
          </a:p>
          <a:p>
            <a:r>
              <a:rPr dirty="0"/>
              <a:t>- Engineering question the prior does not answer: does THIS system need multiple presentations, and can we afford the indirection where the interaction is hot?</a:t>
            </a:r>
          </a:p>
          <a:p>
            <a:endParaRPr dirty="0"/>
          </a:p>
          <a:p>
            <a:r>
              <a:rPr dirty="0"/>
              <a:t>=====</a:t>
            </a:r>
          </a:p>
          <a:p>
            <a:r>
              <a:rPr dirty="0"/>
              <a:t>Model-view-controller. Keep what the system knows — the model — apart from what the user sees — the view — apart from the logic that turns input into change — the controller.</a:t>
            </a:r>
          </a:p>
          <a:p>
            <a:endParaRPr dirty="0"/>
          </a:p>
          <a:p>
            <a:r>
              <a:rPr dirty="0"/>
              <a:t>The expectation it carries: you can hang several views off one model, and the three corners evolve independently. The cost it carries: indirection — a one-line change of behavior can become a three-part negotiation.</a:t>
            </a:r>
          </a:p>
          <a:p>
            <a:endParaRPr dirty="0"/>
          </a:p>
          <a:p>
            <a:r>
              <a:rPr dirty="0"/>
              <a:t>And the question the pattern cannot answer for you: does this system actually need multiple presentations? Will it, within its lifetime? If not, you are paying the coordination tax for a benefit that never arrives.</a:t>
            </a:r>
          </a:p>
          <a:p>
            <a:endParaRPr dirty="0"/>
          </a:p>
          <a:p>
            <a:r>
              <a:rPr dirty="0"/>
              <a:t>MVC separates computation from presentation. Sometimes the organizing pressure is different — everyone needs the same state.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Repository organizes around shared authoritative state; consistency bought with central coupling.</a:t>
            </a:r>
          </a:p>
          <a:p>
            <a:endParaRPr dirty="0"/>
          </a:p>
          <a:p>
            <a:r>
              <a:rPr dirty="0"/>
              <a:t>- Prior: one authoritative representation simplifies consistency and integration — everyone reads the same truth.</a:t>
            </a:r>
          </a:p>
          <a:p>
            <a:endParaRPr dirty="0"/>
          </a:p>
          <a:p>
            <a:r>
              <a:rPr dirty="0"/>
              <a:t>- Price: everyone depends on the center — schema coupling, potential bottleneck, shared fate.</a:t>
            </a:r>
          </a:p>
          <a:p>
            <a:endParaRPr dirty="0"/>
          </a:p>
          <a:p>
            <a:r>
              <a:rPr dirty="0"/>
              <a:t>- Engineering question: under OUR load and OUR change pattern, is the center a bottleneck — in performance or in evolution?</a:t>
            </a:r>
          </a:p>
          <a:p>
            <a:endParaRPr dirty="0"/>
          </a:p>
          <a:p>
            <a:r>
              <a:rPr dirty="0"/>
              <a:t>=====</a:t>
            </a:r>
          </a:p>
          <a:p>
            <a:r>
              <a:rPr dirty="0"/>
              <a:t>The repository. Put the authoritative state in the middle; the tools — input, analysis, reporting, optimization — all read and write the shared representation.</a:t>
            </a:r>
          </a:p>
          <a:p>
            <a:endParaRPr dirty="0"/>
          </a:p>
          <a:p>
            <a:r>
              <a:rPr dirty="0"/>
              <a:t>What experience says it buys: consistency and integration become simpler. No pairwise translations between tools; one truth.</a:t>
            </a:r>
          </a:p>
          <a:p>
            <a:endParaRPr dirty="0"/>
          </a:p>
          <a:p>
            <a:r>
              <a:rPr dirty="0"/>
              <a:t>What experience says it costs: the center is now everyone's dependency. Change the shared schema and every tool feels it. Load the store and every tool waits. Consistency up; central coupling up — the slide says both because both are the pattern.</a:t>
            </a:r>
          </a:p>
          <a:p>
            <a:endParaRPr dirty="0"/>
          </a:p>
          <a:p>
            <a:r>
              <a:rPr dirty="0"/>
              <a:t>The question the prior leaves open: for our workload and our rate of schema change, is the center a convenience or a chokepoint?</a:t>
            </a:r>
          </a:p>
          <a:p>
            <a:endParaRPr dirty="0"/>
          </a:p>
          <a:p>
            <a:r>
              <a:rPr dirty="0"/>
              <a:t>Both patterns so far accepted the dependencies and arranged them. The next one is more aggressive: it turns a dependency around.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Ports and adapters: deliberately arrange the direction of dependency so infrastructure choices do not become domain dependencies.</a:t>
            </a:r>
          </a:p>
          <a:p>
            <a:endParaRPr dirty="0"/>
          </a:p>
          <a:p>
            <a:r>
              <a:rPr dirty="0"/>
              <a:t>- The shift to flag aloud: we are no longer merely grouping responsibilities — we are choosing which way the arrows point.</a:t>
            </a:r>
          </a:p>
          <a:p>
            <a:endParaRPr dirty="0"/>
          </a:p>
          <a:p>
            <a:r>
              <a:rPr dirty="0"/>
              <a:t>- Before: the domain imports the database; the vendor is now a domain dependency. After: the domain defines the interface; the adapter implements it; the arrow points INTO the domain.</a:t>
            </a:r>
          </a:p>
          <a:p>
            <a:endParaRPr dirty="0"/>
          </a:p>
          <a:p>
            <a:r>
              <a:rPr dirty="0"/>
              <a:t>- Names in the wild: ports-and-adapters, hexagonal, clean architecture. Same move.</a:t>
            </a:r>
          </a:p>
          <a:p>
            <a:endParaRPr dirty="0"/>
          </a:p>
          <a:p>
            <a:r>
              <a:rPr dirty="0"/>
              <a:t>- Engineering question: is the indirection worth it for the changes THIS system actually expects?</a:t>
            </a:r>
          </a:p>
          <a:p>
            <a:endParaRPr dirty="0"/>
          </a:p>
          <a:p>
            <a:r>
              <a:rPr dirty="0"/>
              <a:t>=====</a:t>
            </a:r>
          </a:p>
          <a:p>
            <a:r>
              <a:rPr dirty="0"/>
              <a:t>So far we have grouped responsibilities. This pattern does something sharper: it chooses the direction of a dependency.</a:t>
            </a:r>
          </a:p>
          <a:p>
            <a:endParaRPr dirty="0"/>
          </a:p>
          <a:p>
            <a:r>
              <a:rPr dirty="0"/>
              <a:t>Before: the UI calls the domain, the domain calls the database. Innocent — until you notice the domain logic now depends on a storage vendor. Swap the database and your business rules are in the diff.</a:t>
            </a:r>
          </a:p>
          <a:p>
            <a:endParaRPr dirty="0"/>
          </a:p>
          <a:p>
            <a:r>
              <a:rPr dirty="0"/>
              <a:t>After: the domain declares the interface it needs — a port. The database code implements it — an adapter. Same runtime calls, but the compile-time arrow now points into the domain. Infrastructure orbits the domain instead of anchoring it.</a:t>
            </a:r>
          </a:p>
          <a:p>
            <a:endParaRPr dirty="0"/>
          </a:p>
          <a:p>
            <a:r>
              <a:rPr dirty="0"/>
              <a:t>You will meet this as ports-and-adapters, hexagonal architecture, clean architecture — one move, three names. And the prior does not answer: will the changes this system actually faces ever cross that seam? Indirection is a premium; you pay it against expected change.</a:t>
            </a:r>
          </a:p>
          <a:p>
            <a:endParaRPr dirty="0"/>
          </a:p>
          <a:p>
            <a:r>
              <a:rPr dirty="0"/>
              <a:t>One pattern left — and this one reorganizes who is allowed to know about whom at runtime.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Events decouple producers from consumers; then close the section: as complexity and consequence rise, priors hand off to analysis. STRETCH BREAK after this slide.</a:t>
            </a:r>
          </a:p>
          <a:p>
            <a:endParaRPr dirty="0"/>
          </a:p>
          <a:p>
            <a:r>
              <a:rPr dirty="0"/>
              <a:t>- Contrast on-slide: direct — A knows B, C, D; event-based — A knows the event, not the consumers.</a:t>
            </a:r>
          </a:p>
          <a:p>
            <a:endParaRPr dirty="0"/>
          </a:p>
          <a:p>
            <a:r>
              <a:rPr dirty="0"/>
              <a:t>- Rule of thumb: adding consumers gets easier. Engineering question, read it with weight: does THIS event architecture satisfy our ordering, latency, reliability, and observability obligations?</a:t>
            </a:r>
          </a:p>
          <a:p>
            <a:endParaRPr dirty="0"/>
          </a:p>
          <a:p>
            <a:r>
              <a:rPr dirty="0"/>
              <a:t>- The bottom band is the section's synthesis: pattern knowledge shades into analysis as complexity and consequence increase — from 'reasonable expectation' to 'show me'.</a:t>
            </a:r>
          </a:p>
          <a:p>
            <a:endParaRPr dirty="0"/>
          </a:p>
          <a:p>
            <a:r>
              <a:rPr dirty="0"/>
              <a:t>- Call the STRETCH BREAK, 2 minutes, before Section 4.</a:t>
            </a:r>
          </a:p>
          <a:p>
            <a:endParaRPr dirty="0"/>
          </a:p>
          <a:p>
            <a:r>
              <a:rPr dirty="0"/>
              <a:t>=====</a:t>
            </a:r>
          </a:p>
          <a:p>
            <a:r>
              <a:rPr dirty="0"/>
              <a:t>Events. In the direct organization, A calls B, C, and D — so A knows all three, and adding a fourth consumer means editing A. In the event organization, A announces what happened; whoever cares subscribes. A knows the event, not the audience.</a:t>
            </a:r>
          </a:p>
          <a:p>
            <a:endParaRPr dirty="0"/>
          </a:p>
          <a:p>
            <a:r>
              <a:rPr dirty="0"/>
              <a:t>The rule of thumb: when you expect the audience to grow, events make growth cheap. And now apply the discipline from the top of this section. Fine — but does this event architecture, the one you are about to build, satisfy our ordering obligations? Our latency budget? What happens to a lost event, and how would we even see it? The pattern promises none of that. Those are analysis questions.</a:t>
            </a:r>
          </a:p>
          <a:p>
            <a:endParaRPr dirty="0"/>
          </a:p>
          <a:p>
            <a:r>
              <a:rPr dirty="0"/>
              <a:t>And that is the section in one line — read the band: pattern knowledge on the left, analysis on the right, and what moves you rightward is complexity and consequence. 'Reasonable expectation' gives way to 'show me.'</a:t>
            </a:r>
          </a:p>
          <a:p>
            <a:endParaRPr dirty="0"/>
          </a:p>
          <a:p>
            <a:r>
              <a:rPr dirty="0"/>
              <a:t>Stand up, stretch, two minutes. When we sit back down: what can 'show me' actually deliver before the system exists?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Real evidence;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change stays behind the seam.</a:t>
            </a:r>
          </a:p>
          <a:p>
            <a:endParaRPr dirty="0"/>
          </a:p>
          <a:p>
            <a:r>
              <a:rPr dirty="0"/>
              <a:t>Be precise about the rung we are standing on. The model establishes a structural fact: no dependency crosses the boundary. That is a guarantee about the graph — and it buys strong qualitative confidence about the change, provided the graph is faithful to the code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That is not an implementation detail; that is a floor the organization itself imposes. Given these dependencies and modeled costs, the critical path establishes the predicted latency floor for this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yesterday's spectrum: a number, from a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choosing still takes a preference, a stake, and a person who owns the outcome. The betting is what you can now buy down.</a:t>
            </a:r>
          </a:p>
          <a:p>
            <a:endParaRPr dirty="0"/>
          </a:p>
          <a:p>
            <a:r>
              <a:rPr dirty="0"/>
              <a:t>That is the full toolkit. Time to use all of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specification excerpt aloud once: two-second latency, privacy, the expected change, availability, consistency.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test from slide 5?);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If your second candidate is a strawman, you have done the exercise wrong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slide 3,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 xml:space="preserve">In specification we separate obligations. </a:t>
            </a:r>
            <a:r>
              <a:rPr lang="en-US" sz="1800" b="0" i="0" dirty="0">
                <a:solidFill>
                  <a:srgbClr val="000000"/>
                </a:solidFill>
              </a:rPr>
              <a:t>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STATE VIEW</a:t>
            </a:r>
          </a:p>
          <a:p>
            <a:pPr algn="ctr">
              <a:spcBef>
                <a:spcPts val="204"/>
              </a:spcBef>
              <a:buNone/>
            </a:pPr>
            <a:r>
              <a:rPr lang="en-US" sz="2700" b="0" i="0" dirty="0">
                <a:solidFill>
                  <a:srgbClr val="000000"/>
                </a:solidFill>
              </a:rPr>
              <a:t>asleep  →  awake</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ACTIVITY</a:t>
            </a:r>
          </a:p>
          <a:p>
            <a:pPr algn="ctr">
              <a:spcBef>
                <a:spcPts val="204"/>
              </a:spcBef>
              <a:buNone/>
            </a:pPr>
            <a:r>
              <a:rPr lang="en-US" sz="2700" b="0" i="0" dirty="0">
                <a:solidFill>
                  <a:srgbClr val="000000"/>
                </a:solidFill>
              </a:rPr>
              <a:t>collect  →  classify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SCHEMA</a:t>
            </a:r>
          </a:p>
          <a:p>
            <a:pPr algn="ctr">
              <a:spcBef>
                <a:spcPts val="204"/>
              </a:spcBef>
              <a:buNone/>
            </a:pPr>
            <a:r>
              <a:rPr lang="en-US" sz="2400" b="0" i="0" dirty="0">
                <a:solidFill>
                  <a:srgbClr val="000000"/>
                </a:solidFill>
              </a:rPr>
              <a:t>Night Summary</a:t>
            </a:r>
          </a:p>
          <a:p>
            <a:pPr algn="ctr">
              <a:spcBef>
                <a:spcPts val="136"/>
              </a:spcBef>
              <a:buNone/>
            </a:pPr>
            <a:r>
              <a:rPr lang="en-US" sz="2400" b="0" i="0" dirty="0">
                <a:solidFill>
                  <a:srgbClr val="000000"/>
                </a:solidFill>
              </a:rPr>
              <a:t>Advice</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TIMING / OTHER</a:t>
            </a:r>
          </a:p>
          <a:p>
            <a:pPr algn="ctr">
              <a:spcBef>
                <a:spcPts val="204"/>
              </a:spcBef>
              <a:buNone/>
            </a:pPr>
            <a:r>
              <a:rPr lang="en-US" sz="2400" b="0" i="0" dirty="0">
                <a:solidFill>
                  <a:srgbClr val="000000"/>
                </a:solidFill>
              </a:rPr>
              <a:t>≤ 60 seconds</a:t>
            </a:r>
          </a:p>
          <a:p>
            <a:pPr algn="ctr">
              <a:spcBef>
                <a:spcPts val="136"/>
              </a:spcBef>
              <a:buNone/>
            </a:pPr>
            <a:r>
              <a:rPr lang="en-US" sz="2400" b="0" i="0" dirty="0">
                <a:solidFill>
                  <a:srgbClr val="000000"/>
                </a:solidFill>
              </a:rPr>
              <a:t>privacy · 7 nights</a:t>
            </a:r>
          </a:p>
        </p:txBody>
      </p:sp>
      <p:cxnSp>
        <p:nvCxnSpPr>
          <p:cNvPr id="64" name="Arr64"/>
          <p:cNvCxnSpPr/>
          <p:nvPr/>
        </p:nvCxnSpPr>
        <p:spPr>
          <a:xfrm>
            <a:off x="3170256" y="2633100"/>
            <a:ext cx="716300" cy="606100"/>
          </a:xfrm>
          <a:prstGeom prst="line">
            <a:avLst/>
          </a:prstGeom>
          <a:ln w="59831">
            <a:solidFill>
              <a:srgbClr val="8E6F3E"/>
            </a:solidFill>
            <a:tailEnd type="triangle" w="med" len="med"/>
          </a:ln>
        </p:spPr>
      </p:cxnSp>
      <p:cxnSp>
        <p:nvCxnSpPr>
          <p:cNvPr id="65" name="Arr65"/>
          <p:cNvCxnSpPr/>
          <p:nvPr/>
        </p:nvCxnSpPr>
        <p:spPr>
          <a:xfrm flipH="1">
            <a:off x="5257444" y="2633100"/>
            <a:ext cx="716300" cy="606100"/>
          </a:xfrm>
          <a:prstGeom prst="line">
            <a:avLst/>
          </a:prstGeom>
          <a:ln w="59831">
            <a:solidFill>
              <a:srgbClr val="8E6F3E"/>
            </a:solidFill>
            <a:tailEnd type="triangle" w="med" len="med"/>
          </a:ln>
        </p:spPr>
      </p:cxnSp>
      <p:cxnSp>
        <p:nvCxnSpPr>
          <p:cNvPr id="66" name="Arr66"/>
          <p:cNvCxnSpPr/>
          <p:nvPr/>
        </p:nvCxnSpPr>
        <p:spPr>
          <a:xfrm flipV="1">
            <a:off x="3170256" y="4396300"/>
            <a:ext cx="716300" cy="606100"/>
          </a:xfrm>
          <a:prstGeom prst="line">
            <a:avLst/>
          </a:prstGeom>
          <a:ln w="59831">
            <a:solidFill>
              <a:srgbClr val="8E6F3E"/>
            </a:solidFill>
            <a:tailEnd type="triangle" w="med" len="med"/>
          </a:ln>
        </p:spPr>
      </p:cxnSp>
      <p:cxnSp>
        <p:nvCxnSpPr>
          <p:cNvPr id="67" name="Arr67"/>
          <p:cNvCxnSpPr/>
          <p:nvPr/>
        </p:nvCxnSpPr>
        <p:spPr>
          <a:xfrm flipH="1" flipV="1">
            <a:off x="5257444" y="4396300"/>
            <a:ext cx="716300" cy="606100"/>
          </a:xfrm>
          <a:prstGeom prst="line">
            <a:avLst/>
          </a:prstGeom>
          <a:ln w="59831">
            <a:solidFill>
              <a:srgbClr val="8E6F3E"/>
            </a:solidFill>
            <a:tailEnd type="triangle" w="med" len="med"/>
          </a:ln>
        </p:spPr>
      </p:cxnSp>
      <p:sp>
        <p:nvSpPr>
          <p:cNvPr id="68" name="OneMachine"/>
          <p:cNvSpPr/>
          <p:nvPr/>
        </p:nvSpPr>
        <p:spPr>
          <a:xfrm>
            <a:off x="3029200" y="3239200"/>
            <a:ext cx="3085600" cy="11571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3800" b="1" i="0" dirty="0">
                <a:solidFill>
                  <a:srgbClr val="FFFFFF"/>
                </a:solidFill>
              </a:rPr>
              <a:t>ONE MACHINE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400"/>
                                        <p:tgtEl>
                                          <p:spTgt spid="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35"/>
            <a:ext cx="0" cy="489226"/>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167783"/>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Describing a “B”</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
                                        </p:tgtEl>
                                        <p:attrNameLst>
                                          <p:attrName>style.visibility</p:attrName>
                                        </p:attrNameLst>
                                      </p:cBhvr>
                                      <p:to>
                                        <p:strVal val="visible"/>
                                      </p:to>
                                    </p:set>
                                    <p:animEffect transition="in" filter="fade">
                                      <p:cBhvr>
                                        <p:cTn id="44" dur="400"/>
                                        <p:tgtEl>
                                          <p:spTgt spid="2"/>
                                        </p:tgtEl>
                                      </p:cBhvr>
                                    </p:animEffect>
                                  </p:childTnLst>
                                </p:cTn>
                              </p:par>
                              <p:par>
                                <p:cTn id="45" presetID="1" presetClass="entr" presetSubtype="0" fill="hold" nodeType="with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4</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61" name="Band61"/>
          <p:cNvSpPr/>
          <p:nvPr/>
        </p:nvSpPr>
        <p:spPr>
          <a:xfrm>
            <a:off x="279400" y="4230000"/>
            <a:ext cx="8585200" cy="82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2200" b="1" i="0" dirty="0">
                <a:solidFill>
                  <a:srgbClr val="8E6F3E"/>
                </a:solidFill>
              </a:rPr>
              <a:t>CHANGE TOGETHER? · FAIL TOGETHER? · SCALE TOGETHER? · CONSISTENT TOGETHER? · SECURE TOGETHER? · OWNED TOGETHER?</a:t>
            </a:r>
          </a:p>
        </p:txBody>
      </p:sp>
      <p:sp>
        <p:nvSpPr>
          <p:cNvPr id="62" name="T62"/>
          <p:cNvSpPr txBox="1"/>
          <p:nvPr/>
        </p:nvSpPr>
        <p:spPr>
          <a:xfrm>
            <a:off x="685800" y="5120000"/>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9086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246000" y="14330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246000" y="20126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246000" y="25922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246000" y="31718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246000" y="1433000"/>
            <a:ext cx="2208000" cy="23184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50000"/>
            <a:ext cx="0" cy="2650000"/>
          </a:xfrm>
          <a:prstGeom prst="line">
            <a:avLst/>
          </a:prstGeom>
          <a:ln w="28575">
            <a:solidFill>
              <a:srgbClr val="C9B991"/>
            </a:solidFill>
            <a:prstDash val="dash"/>
          </a:ln>
        </p:spPr>
      </p:cxnSp>
      <p:sp>
        <p:nvSpPr>
          <p:cNvPr id="107" name="OrgBLbl"/>
          <p:cNvSpPr txBox="1"/>
          <p:nvPr/>
        </p:nvSpPr>
        <p:spPr>
          <a:xfrm>
            <a:off x="4592000" y="9155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99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7007000" y="1439900"/>
            <a:ext cx="1863000" cy="690000"/>
          </a:xfrm>
          <a:prstGeom prst="rect">
            <a:avLst/>
          </a:prstGeom>
          <a:solidFill>
            <a:srgbClr val="F5F1E8"/>
          </a:solidFill>
          <a:ln w="17526">
            <a:solidFill>
              <a:srgbClr val="C9B991"/>
            </a:solidFill>
          </a:ln>
        </p:spPr>
        <p:txBody>
          <a:bodyPr wrap="square" lIns="54864" tIns="27432" rIns="54864" bIns="27432" anchor="ctr">
            <a:normAutofit fontScale="92500"/>
          </a:bodyPr>
          <a:lstStyle/>
          <a:p>
            <a:pPr algn="ctr">
              <a:buNone/>
            </a:pPr>
            <a:r>
              <a:rPr lang="en-US" sz="2400" b="0" i="0" dirty="0">
                <a:solidFill>
                  <a:srgbClr val="5C4826"/>
                </a:solidFill>
              </a:rPr>
              <a:t>model · advise</a:t>
            </a:r>
          </a:p>
        </p:txBody>
      </p:sp>
      <p:sp>
        <p:nvSpPr>
          <p:cNvPr id="110" name="OrgBShare"/>
          <p:cNvSpPr/>
          <p:nvPr/>
        </p:nvSpPr>
        <p:spPr>
          <a:xfrm>
            <a:off x="5903000" y="3054500"/>
            <a:ext cx="1863000" cy="69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a1"/>
          <p:cNvCxnSpPr/>
          <p:nvPr/>
        </p:nvCxnSpPr>
        <p:spPr>
          <a:xfrm>
            <a:off x="5730500" y="2129900"/>
            <a:ext cx="793500" cy="924600"/>
          </a:xfrm>
          <a:prstGeom prst="line">
            <a:avLst/>
          </a:prstGeom>
          <a:ln w="59150">
            <a:solidFill>
              <a:srgbClr val="8E6F3E"/>
            </a:solidFill>
            <a:tailEnd type="triangle" w="med" len="med"/>
          </a:ln>
        </p:spPr>
      </p:cxnSp>
      <p:cxnSp>
        <p:nvCxnSpPr>
          <p:cNvPr id="112" name="OrgBa2"/>
          <p:cNvCxnSpPr/>
          <p:nvPr/>
        </p:nvCxnSpPr>
        <p:spPr>
          <a:xfrm flipH="1">
            <a:off x="7145000" y="2129900"/>
            <a:ext cx="793500" cy="924600"/>
          </a:xfrm>
          <a:prstGeom prst="line">
            <a:avLst/>
          </a:prstGeom>
          <a:ln w="59150">
            <a:solidFill>
              <a:srgbClr val="8E6F3E"/>
            </a:solidFill>
            <a:tailEnd type="triangle" w="med" len="med"/>
          </a:ln>
        </p:spPr>
      </p:cxnSp>
      <p:sp>
        <p:nvSpPr>
          <p:cNvPr id="113" name="Cap"/>
          <p:cNvSpPr txBox="1"/>
          <p:nvPr/>
        </p:nvSpPr>
        <p:spPr>
          <a:xfrm>
            <a:off x="685800" y="3790000"/>
            <a:ext cx="7772400" cy="43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Choosing among 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pic>
        <p:nvPicPr>
          <p:cNvPr id="60" name="Think Pair Share banner" descr="Think, Pair, Share"/>
          <p:cNvPicPr>
            <a:picLocks noChangeAspect="1"/>
          </p:cNvPicPr>
          <p:nvPr/>
        </p:nvPicPr>
        <p:blipFill>
          <a:blip r:embed="rId3"/>
          <a:stretch>
            <a:fillRect/>
          </a:stretch>
        </p:blipFill>
        <p:spPr>
          <a:xfrm>
            <a:off x="482497" y="764355"/>
            <a:ext cx="3871754" cy="1114596"/>
          </a:xfrm>
          <a:prstGeom prst="rect">
            <a:avLst/>
          </a:prstGeom>
        </p:spPr>
      </p:pic>
      <p:sp>
        <p:nvSpPr>
          <p:cNvPr id="101" name="C101"/>
          <p:cNvSpPr/>
          <p:nvPr/>
        </p:nvSpPr>
        <p:spPr>
          <a:xfrm>
            <a:off x="3634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5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31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8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44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xml:space="preserve">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  A WINS  🏆</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WHY .30?</a:t>
            </a:r>
          </a:p>
        </p:txBody>
      </p:sp>
      <p:cxnSp>
        <p:nvCxnSpPr>
          <p:cNvPr id="121" name="CalloutArw1"/>
          <p:cNvCxnSpPr/>
          <p:nvPr/>
        </p:nvCxnSpPr>
        <p:spPr>
          <a:xfrm>
            <a:off x="1270000" y="1620000"/>
            <a:ext cx="2100000" cy="380000"/>
          </a:xfrm>
          <a:prstGeom prst="line">
            <a:avLst/>
          </a:prstGeom>
          <a:ln w="35719">
            <a:solidFill>
              <a:srgbClr val="B23B3B"/>
            </a:solidFill>
            <a:tailEnd type="triangle" w="med" len="med"/>
          </a:ln>
        </p:spPr>
      </p:cxnSp>
      <p:sp>
        <p:nvSpPr>
          <p:cNvPr id="122" name="Callout2"/>
          <p:cNvSpPr/>
          <p:nvPr/>
        </p:nvSpPr>
        <p:spPr>
          <a:xfrm>
            <a:off x="7560000" y="1150000"/>
            <a:ext cx="1520000" cy="640000"/>
          </a:xfrm>
          <a:prstGeom prst="roundRect">
            <a:avLst/>
          </a:prstGeom>
          <a:solidFill>
            <a:srgbClr val="FFFFFF"/>
          </a:solidFill>
          <a:ln w="15875">
            <a:solidFill>
              <a:srgbClr val="B23B3B"/>
            </a:solidFill>
          </a:ln>
        </p:spPr>
        <p:txBody>
          <a:bodyPr wrap="square" lIns="54864" tIns="27432" rIns="54864" bIns="27432" anchor="ctr">
            <a:normAutofit lnSpcReduction="10000"/>
          </a:bodyPr>
          <a:lstStyle/>
          <a:p>
            <a:pPr algn="ctr">
              <a:buNone/>
            </a:pPr>
            <a:r>
              <a:rPr lang="en-US" sz="1600" b="1" i="0" dirty="0">
                <a:solidFill>
                  <a:srgbClr val="B23B3B"/>
                </a:solidFill>
              </a:rPr>
              <a:t>WHAT IS</a:t>
            </a:r>
          </a:p>
          <a:p>
            <a:pPr algn="ctr">
              <a:spcBef>
                <a:spcPts val="300"/>
              </a:spcBef>
              <a:buNone/>
            </a:pPr>
            <a:r>
              <a:rPr lang="en-US" sz="1600" b="1" i="0" dirty="0">
                <a:solidFill>
                  <a:srgbClr val="B23B3B"/>
                </a:solidFill>
              </a:rPr>
              <a:t>A “5”?</a:t>
            </a:r>
          </a:p>
        </p:txBody>
      </p:sp>
      <p:cxnSp>
        <p:nvCxnSpPr>
          <p:cNvPr id="123" name="CalloutArw2"/>
          <p:cNvCxnSpPr/>
          <p:nvPr/>
        </p:nvCxnSpPr>
        <p:spPr>
          <a:xfrm flipH="1">
            <a:off x="6040000" y="1785000"/>
            <a:ext cx="1620000" cy="55000"/>
          </a:xfrm>
          <a:prstGeom prst="line">
            <a:avLst/>
          </a:prstGeom>
          <a:ln w="35719">
            <a:solidFill>
              <a:srgbClr val="B23B3B"/>
            </a:solidFill>
            <a:tailEnd type="triangle" w="med" len="med"/>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450000"/>
            <a:ext cx="1440000" cy="1750000"/>
          </a:xfrm>
          <a:prstGeom prst="roundRect">
            <a:avLst/>
          </a:prstGeom>
          <a:solidFill>
            <a:srgbClr val="FFFFFF"/>
          </a:solidFill>
          <a:ln w="15875">
            <a:solidFill>
              <a:srgbClr val="B23B3B"/>
            </a:solidFill>
          </a:ln>
        </p:spPr>
        <p:txBody>
          <a:bodyPr wrap="square" lIns="45720" tIns="27432" rIns="45720" bIns="27432" anchor="ctr">
            <a:normAutofit/>
          </a:bodyPr>
          <a:lstStyle/>
          <a:p>
            <a:pPr algn="ctr">
              <a:buNone/>
            </a:pPr>
            <a:r>
              <a:rPr lang="en-US" sz="1500" b="1" i="0" dirty="0">
                <a:solidFill>
                  <a:srgbClr val="B23B3B"/>
                </a:solidFill>
              </a:rPr>
              <a:t>WHY CAN COST</a:t>
            </a:r>
          </a:p>
          <a:p>
            <a:pPr algn="ctr">
              <a:spcBef>
                <a:spcPts val="300"/>
              </a:spcBef>
              <a:buNone/>
            </a:pPr>
            <a:r>
              <a:rPr lang="en-US" sz="1500" b="1" i="0" dirty="0">
                <a:solidFill>
                  <a:srgbClr val="B23B3B"/>
                </a:solidFill>
              </a:rPr>
              <a:t>COMPENSATE FOR</a:t>
            </a:r>
          </a:p>
          <a:p>
            <a:pPr algn="ctr">
              <a:spcBef>
                <a:spcPts val="300"/>
              </a:spcBef>
              <a:buNone/>
            </a:pPr>
            <a:r>
              <a:rPr lang="en-US" sz="15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4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2"/>
                                        </p:tgtEl>
                                        <p:attrNameLst>
                                          <p:attrName>style.visibility</p:attrName>
                                        </p:attrNameLst>
                                      </p:cBhvr>
                                      <p:to>
                                        <p:strVal val="visible"/>
                                      </p:to>
                                    </p:set>
                                    <p:animEffect transition="in" filter="fade">
                                      <p:cBhvr>
                                        <p:cTn id="15" dur="400"/>
                                        <p:tgtEl>
                                          <p:spTgt spid="122"/>
                                        </p:tgtEl>
                                      </p:cBhvr>
                                    </p:animEffect>
                                  </p:childTnLst>
                                </p:cTn>
                              </p:par>
                              <p:par>
                                <p:cTn id="16" presetID="10" presetClass="entr" presetSubtype="0" fill="hold" nodeType="withEffect">
                                  <p:stCondLst>
                                    <p:cond delay="0"/>
                                  </p:stCondLst>
                                  <p:childTnLst>
                                    <p:set>
                                      <p:cBhvr>
                                        <p:cTn id="17" dur="1" fill="hold">
                                          <p:stCondLst>
                                            <p:cond delay="0"/>
                                          </p:stCondLst>
                                        </p:cTn>
                                        <p:tgtEl>
                                          <p:spTgt spid="123"/>
                                        </p:tgtEl>
                                        <p:attrNameLst>
                                          <p:attrName>style.visibility</p:attrName>
                                        </p:attrNameLst>
                                      </p:cBhvr>
                                      <p:to>
                                        <p:strVal val="visible"/>
                                      </p:to>
                                    </p:set>
                                    <p:animEffect transition="in" filter="fade">
                                      <p:cBhvr>
                                        <p:cTn id="18" dur="400"/>
                                        <p:tgtEl>
                                          <p:spTgt spid="1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4"/>
                                        </p:tgtEl>
                                        <p:attrNameLst>
                                          <p:attrName>style.visibility</p:attrName>
                                        </p:attrNameLst>
                                      </p:cBhvr>
                                      <p:to>
                                        <p:strVal val="visible"/>
                                      </p:to>
                                    </p:set>
                                    <p:animEffect transition="in" filter="fade">
                                      <p:cBhvr>
                                        <p:cTn id="23" dur="400"/>
                                        <p:tgtEl>
                                          <p:spTgt spid="124"/>
                                        </p:tgtEl>
                                      </p:cBhvr>
                                    </p:animEffect>
                                  </p:childTnLst>
                                </p:cTn>
                              </p:par>
                              <p:par>
                                <p:cTn id="24" presetID="10" presetClass="entr" presetSubtype="0" fill="hold" nodeType="withEffect">
                                  <p:stCondLst>
                                    <p:cond delay="0"/>
                                  </p:stCondLst>
                                  <p:childTnLst>
                                    <p:set>
                                      <p:cBhvr>
                                        <p:cTn id="25" dur="1" fill="hold">
                                          <p:stCondLst>
                                            <p:cond delay="0"/>
                                          </p:stCondLst>
                                        </p:cTn>
                                        <p:tgtEl>
                                          <p:spTgt spid="125"/>
                                        </p:tgtEl>
                                        <p:attrNameLst>
                                          <p:attrName>style.visibility</p:attrName>
                                        </p:attrNameLst>
                                      </p:cBhvr>
                                      <p:to>
                                        <p:strVal val="visible"/>
                                      </p:to>
                                    </p:set>
                                    <p:animEffect transition="in" filter="fade">
                                      <p:cBhvr>
                                        <p:cTn id="26"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fontScale="92500" lnSpcReduction="20000"/>
          </a:bodyPr>
          <a:lstStyle/>
          <a:p>
            <a:pPr algn="ctr">
              <a:buNone/>
            </a:pPr>
            <a:r>
              <a:rPr lang="en-US" sz="2500" b="1" i="0" dirty="0">
                <a:solidFill>
                  <a:srgbClr val="000000"/>
                </a:solidFill>
              </a:rPr>
              <a:t>Constraints are not objectives.</a:t>
            </a:r>
          </a:p>
          <a:p>
            <a:pPr algn="ctr">
              <a:spcBef>
                <a:spcPts val="230"/>
              </a:spcBef>
              <a:buNone/>
            </a:pPr>
            <a:r>
              <a:rPr lang="en-US" sz="2400" b="0" i="0" dirty="0">
                <a:solidFill>
                  <a:srgbClr val="000000"/>
                </a:solidFill>
              </a:rPr>
              <a:t>Specification first removes infeasible candidates; then dominance removes the clearly-worse ones.</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22860">
            <a:solidFill>
              <a:srgbClr val="B23B3B"/>
            </a:solidFill>
          </a:ln>
        </p:spPr>
        <p:txBody>
          <a:bodyPr wrap="square" lIns="54864" tIns="27432" rIns="54864" bIns="27432" anchor="ctr">
            <a:normAutofit/>
          </a:bodyPr>
          <a:lstStyle/>
          <a:p>
            <a:pPr algn="ctr">
              <a:buNone/>
            </a:pPr>
            <a:r>
              <a:rPr lang="en-US" sz="2600" b="1" i="0" dirty="0">
                <a:solidFill>
                  <a:srgbClr val="5C4826"/>
                </a:solidFill>
              </a:rPr>
              <a:t>B</a:t>
            </a:r>
          </a:p>
          <a:p>
            <a:pPr algn="ctr">
              <a:spcBef>
                <a:spcPts val="480"/>
              </a:spcBef>
              <a:buNone/>
            </a:pPr>
            <a:r>
              <a:rPr lang="en-US" sz="2600" b="1" i="0" dirty="0">
                <a:solidFill>
                  <a:srgbClr val="B23B3B"/>
                </a:solidFill>
              </a:rPr>
              <a:t>✗</a:t>
            </a:r>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 real tradeoff requires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7100000" y="5060000"/>
            <a:ext cx="1700000" cy="320000"/>
          </a:xfrm>
          <a:prstGeom prst="rect">
            <a:avLst/>
          </a:prstGeom>
          <a:noFill/>
          <a:ln>
            <a:noFill/>
          </a:ln>
        </p:spPr>
        <p:txBody>
          <a:bodyPr wrap="square" lIns="0" tIns="0" rIns="0" bIns="0" anchor="t">
            <a:normAutofit fontScale="77500" lnSpcReduction="20000"/>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700000"/>
            <a:ext cx="2700000" cy="2300000"/>
          </a:xfrm>
          <a:prstGeom prst="diamond">
            <a:avLst/>
          </a:prstGeom>
          <a:solidFill>
            <a:srgbClr val="FFFFFF"/>
          </a:solidFill>
          <a:ln w="19431">
            <a:solidFill>
              <a:srgbClr val="8E6F3E"/>
            </a:solidFill>
          </a:ln>
        </p:spPr>
        <p:txBody>
          <a:bodyPr wrap="square" lIns="180000" tIns="180000" rIns="180000" bIns="180000" anchor="ctr">
            <a:normAutofit fontScale="85000" lnSpcReduction="10000"/>
          </a:bodyPr>
          <a:lstStyle/>
          <a:p>
            <a:pPr algn="ctr">
              <a:buNone/>
            </a:pPr>
            <a:r>
              <a:rPr lang="en-US" sz="1400" b="1" dirty="0">
                <a:solidFill>
                  <a:srgbClr val="5C4826"/>
                </a:solidFill>
              </a:rPr>
              <a:t>Could knowing</a:t>
            </a:r>
          </a:p>
          <a:p>
            <a:pPr algn="ctr">
              <a:spcBef>
                <a:spcPts val="566"/>
              </a:spcBef>
              <a:buNone/>
            </a:pPr>
            <a:r>
              <a:rPr lang="en-US" sz="1400" b="1" dirty="0">
                <a:solidFill>
                  <a:srgbClr val="5C4826"/>
                </a:solidFill>
              </a:rPr>
              <a:t>more change</a:t>
            </a:r>
          </a:p>
          <a:p>
            <a:pPr algn="ctr">
              <a:spcBef>
                <a:spcPts val="566"/>
              </a:spcBef>
              <a:buNone/>
            </a:pPr>
            <a:r>
              <a:rPr lang="en-US" sz="1400" b="1" dirty="0">
                <a:solidFill>
                  <a:srgbClr val="5C4826"/>
                </a:solidFill>
              </a:rPr>
              <a:t>the decision?</a:t>
            </a:r>
          </a:p>
        </p:txBody>
      </p:sp>
      <p:cxnSp>
        <p:nvCxnSpPr>
          <p:cNvPr id="103" name="ANo"/>
          <p:cNvCxnSpPr/>
          <p:nvPr/>
        </p:nvCxnSpPr>
        <p:spPr>
          <a:xfrm>
            <a:off x="3300000" y="4000000"/>
            <a:ext cx="0" cy="450000"/>
          </a:xfrm>
          <a:prstGeom prst="line">
            <a:avLst/>
          </a:prstGeom>
          <a:ln w="43720">
            <a:solidFill>
              <a:srgbClr val="8E6F3E"/>
            </a:solidFill>
            <a:tailEnd type="triangle" w="med" len="med"/>
          </a:ln>
        </p:spPr>
      </p:cxnSp>
      <p:sp>
        <p:nvSpPr>
          <p:cNvPr id="104" name="NoLbl"/>
          <p:cNvSpPr txBox="1"/>
          <p:nvPr/>
        </p:nvSpPr>
        <p:spPr>
          <a:xfrm>
            <a:off x="3390000" y="406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200" b="0" i="0" dirty="0">
                <a:solidFill>
                  <a:srgbClr val="000000"/>
                </a:solidFill>
              </a:rPr>
              <a:t>Patterns capture recurring architectural choices</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organizations recur, and what do they tend to buy—and cost?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Patterns: Pre-canned alternatives and expectations</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61" name="Band61"/>
          <p:cNvSpPr/>
          <p:nvPr/>
        </p:nvSpPr>
        <p:spPr>
          <a:xfrm>
            <a:off x="279400" y="49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These are rules of thumb, not guarantees.</a:t>
            </a:r>
          </a:p>
        </p:txBody>
      </p:sp>
      <p:sp>
        <p:nvSpPr>
          <p:cNvPr id="100" name="PastExp"/>
          <p:cNvSpPr/>
          <p:nvPr/>
        </p:nvSpPr>
        <p:spPr>
          <a:xfrm>
            <a:off x="571437" y="1980000"/>
            <a:ext cx="2163000" cy="1450000"/>
          </a:xfrm>
          <a:prstGeom prst="rect">
            <a:avLst/>
          </a:prstGeom>
          <a:solidFill>
            <a:srgbClr val="F5F1E8"/>
          </a:solidFill>
          <a:ln w="13081">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PAST ENGINEERING</a:t>
            </a:r>
          </a:p>
          <a:p>
            <a:pPr algn="ctr">
              <a:spcBef>
                <a:spcPts val="555"/>
              </a:spcBef>
              <a:buNone/>
            </a:pPr>
            <a:r>
              <a:rPr lang="en-US" sz="2300" b="1" i="0" dirty="0">
                <a:solidFill>
                  <a:srgbClr val="5C4826"/>
                </a:solidFill>
              </a:rPr>
              <a:t>EXPERIENCE</a:t>
            </a:r>
          </a:p>
          <a:p>
            <a:pPr algn="ctr">
              <a:spcBef>
                <a:spcPts val="555"/>
              </a:spcBef>
              <a:buNone/>
            </a:pPr>
            <a:r>
              <a:rPr lang="en-US" sz="2000" b="0" i="1" dirty="0">
                <a:solidFill>
                  <a:srgbClr val="555960"/>
                </a:solidFill>
              </a:rPr>
              <a:t>a recurring problem</a:t>
            </a:r>
          </a:p>
        </p:txBody>
      </p:sp>
      <p:cxnSp>
        <p:nvCxnSpPr>
          <p:cNvPr id="101" name="A1"/>
          <p:cNvCxnSpPr/>
          <p:nvPr/>
        </p:nvCxnSpPr>
        <p:spPr>
          <a:xfrm>
            <a:off x="2734437" y="2705000"/>
            <a:ext cx="581126" cy="0"/>
          </a:xfrm>
          <a:prstGeom prst="line">
            <a:avLst/>
          </a:prstGeom>
          <a:ln w="44150">
            <a:solidFill>
              <a:srgbClr val="8E6F3E"/>
            </a:solidFill>
            <a:tailEnd type="triangle" w="med" len="med"/>
          </a:ln>
        </p:spPr>
      </p:cxnSp>
      <p:sp>
        <p:nvSpPr>
          <p:cNvPr id="102" name="Pattern"/>
          <p:cNvSpPr/>
          <p:nvPr/>
        </p:nvSpPr>
        <p:spPr>
          <a:xfrm>
            <a:off x="3315563" y="2197500"/>
            <a:ext cx="1751000" cy="1015000"/>
          </a:xfrm>
          <a:prstGeom prst="rect">
            <a:avLst/>
          </a:prstGeom>
          <a:solidFill>
            <a:srgbClr val="8E6F3E"/>
          </a:solidFill>
          <a:ln>
            <a:noFill/>
          </a:ln>
        </p:spPr>
        <p:txBody>
          <a:bodyPr wrap="square" lIns="54864" tIns="27432" rIns="54864" bIns="27432" anchor="ctr">
            <a:normAutofit/>
          </a:bodyPr>
          <a:lstStyle/>
          <a:p>
            <a:pPr algn="ctr">
              <a:buNone/>
            </a:pPr>
            <a:r>
              <a:rPr lang="en-US" sz="3000" b="1" i="0" dirty="0">
                <a:solidFill>
                  <a:srgbClr val="FFFFFF"/>
                </a:solidFill>
              </a:rPr>
              <a:t>PATTERN</a:t>
            </a:r>
          </a:p>
        </p:txBody>
      </p:sp>
      <p:sp>
        <p:nvSpPr>
          <p:cNvPr id="103" name="Org"/>
          <p:cNvSpPr/>
          <p:nvPr/>
        </p:nvSpPr>
        <p:spPr>
          <a:xfrm>
            <a:off x="6045063" y="1110000"/>
            <a:ext cx="25235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ORGANIZATION</a:t>
            </a:r>
          </a:p>
          <a:p>
            <a:pPr algn="ctr">
              <a:spcBef>
                <a:spcPts val="555"/>
              </a:spcBef>
              <a:buNone/>
            </a:pPr>
            <a:r>
              <a:rPr lang="en-US" sz="2000" b="0" i="1" dirty="0">
                <a:solidFill>
                  <a:srgbClr val="555960"/>
                </a:solidFill>
              </a:rPr>
              <a:t>“try organizing it this way”</a:t>
            </a:r>
          </a:p>
        </p:txBody>
      </p:sp>
      <p:sp>
        <p:nvSpPr>
          <p:cNvPr id="104" name="ExpProp"/>
          <p:cNvSpPr/>
          <p:nvPr/>
        </p:nvSpPr>
        <p:spPr>
          <a:xfrm>
            <a:off x="6045063" y="3140000"/>
            <a:ext cx="2523500" cy="1450000"/>
          </a:xfrm>
          <a:prstGeom prst="rect">
            <a:avLst/>
          </a:prstGeom>
          <a:solidFill>
            <a:srgbClr val="F5F1E8"/>
          </a:solidFill>
          <a:ln w="13081">
            <a:solidFill>
              <a:srgbClr val="C9B991"/>
            </a:solidFill>
          </a:ln>
        </p:spPr>
        <p:txBody>
          <a:bodyPr wrap="square" lIns="54864" tIns="27432" rIns="54864" bIns="27432" anchor="ctr">
            <a:normAutofit fontScale="92500" lnSpcReduction="10000"/>
          </a:bodyPr>
          <a:lstStyle/>
          <a:p>
            <a:pPr algn="ctr">
              <a:buNone/>
            </a:pPr>
            <a:r>
              <a:rPr lang="en-US" sz="2400" b="1" i="0" dirty="0">
                <a:solidFill>
                  <a:srgbClr val="5C4826"/>
                </a:solidFill>
              </a:rPr>
              <a:t>EXPECTED PROPERTIES</a:t>
            </a:r>
          </a:p>
          <a:p>
            <a:pPr algn="ctr">
              <a:spcBef>
                <a:spcPts val="555"/>
              </a:spcBef>
              <a:buNone/>
            </a:pPr>
            <a:r>
              <a:rPr lang="en-US" sz="2000" b="0" i="1" dirty="0">
                <a:solidFill>
                  <a:srgbClr val="555960"/>
                </a:solidFill>
              </a:rPr>
              <a:t>“tends to make X easier</a:t>
            </a:r>
          </a:p>
          <a:p>
            <a:pPr algn="ctr">
              <a:spcBef>
                <a:spcPts val="555"/>
              </a:spcBef>
              <a:buNone/>
            </a:pPr>
            <a:r>
              <a:rPr lang="en-US" sz="2000" b="0" i="1" dirty="0">
                <a:solidFill>
                  <a:srgbClr val="555960"/>
                </a:solidFill>
              </a:rPr>
              <a:t>and Y harder”</a:t>
            </a:r>
          </a:p>
        </p:txBody>
      </p:sp>
      <p:cxnSp>
        <p:nvCxnSpPr>
          <p:cNvPr id="105" name="A2"/>
          <p:cNvCxnSpPr/>
          <p:nvPr/>
        </p:nvCxnSpPr>
        <p:spPr>
          <a:xfrm flipV="1">
            <a:off x="5066563" y="1835000"/>
            <a:ext cx="978500" cy="652500"/>
          </a:xfrm>
          <a:prstGeom prst="line">
            <a:avLst/>
          </a:prstGeom>
          <a:ln w="44150">
            <a:solidFill>
              <a:srgbClr val="8E6F3E"/>
            </a:solidFill>
            <a:tailEnd type="triangle" w="med" len="med"/>
          </a:ln>
        </p:spPr>
      </p:cxnSp>
      <p:cxnSp>
        <p:nvCxnSpPr>
          <p:cNvPr id="106" name="A3"/>
          <p:cNvCxnSpPr/>
          <p:nvPr/>
        </p:nvCxnSpPr>
        <p:spPr>
          <a:xfrm>
            <a:off x="5066563" y="2922500"/>
            <a:ext cx="978500" cy="942500"/>
          </a:xfrm>
          <a:prstGeom prst="line">
            <a:avLst/>
          </a:prstGeom>
          <a:ln w="44150">
            <a:solidFill>
              <a:srgbClr val="8E6F3E"/>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Layers: constrain which parts may depend on which</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61" name="T61"/>
          <p:cNvSpPr txBox="1"/>
          <p:nvPr/>
        </p:nvSpPr>
        <p:spPr>
          <a:xfrm>
            <a:off x="685800" y="5300000"/>
            <a:ext cx="7772400" cy="9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mmap deliberately crosses the abstraction: sometimes breaking the rule buys something important.</a:t>
            </a:r>
          </a:p>
        </p:txBody>
      </p:sp>
      <p:sp>
        <p:nvSpPr>
          <p:cNvPr id="100" name="LblPat"/>
          <p:cNvSpPr txBox="1"/>
          <p:nvPr/>
        </p:nvSpPr>
        <p:spPr>
          <a:xfrm>
            <a:off x="912500" y="1028800"/>
            <a:ext cx="2750000" cy="358400"/>
          </a:xfrm>
          <a:prstGeom prst="rect">
            <a:avLst/>
          </a:prstGeom>
          <a:noFill/>
          <a:ln>
            <a:noFill/>
          </a:ln>
        </p:spPr>
        <p:txBody>
          <a:bodyPr wrap="square" lIns="0" tIns="0" rIns="0" bIns="0" anchor="t">
            <a:normAutofit lnSpcReduction="10000"/>
          </a:bodyPr>
          <a:lstStyle/>
          <a:p>
            <a:pPr algn="ctr">
              <a:buNone/>
            </a:pPr>
            <a:r>
              <a:rPr lang="en-US" sz="2400" b="1" i="0" dirty="0">
                <a:solidFill>
                  <a:srgbClr val="8E6F3E"/>
                </a:solidFill>
              </a:rPr>
              <a:t>THE PATTERN</a:t>
            </a:r>
          </a:p>
        </p:txBody>
      </p:sp>
      <p:sp>
        <p:nvSpPr>
          <p:cNvPr id="101" name="LblReal"/>
          <p:cNvSpPr txBox="1"/>
          <p:nvPr/>
        </p:nvSpPr>
        <p:spPr>
          <a:xfrm>
            <a:off x="5170000" y="1078800"/>
            <a:ext cx="2200000" cy="358400"/>
          </a:xfrm>
          <a:prstGeom prst="rect">
            <a:avLst/>
          </a:prstGeom>
          <a:noFill/>
          <a:ln>
            <a:noFill/>
          </a:ln>
        </p:spPr>
        <p:txBody>
          <a:bodyPr wrap="square" lIns="0" tIns="0" rIns="0" bIns="0" anchor="t">
            <a:normAutofit fontScale="85000" lnSpcReduction="10000"/>
          </a:bodyPr>
          <a:lstStyle/>
          <a:p>
            <a:pPr algn="ctr">
              <a:buNone/>
            </a:pPr>
            <a:r>
              <a:rPr lang="en-US" sz="2400" b="1" i="0" dirty="0">
                <a:solidFill>
                  <a:srgbClr val="8E6F3E"/>
                </a:solidFill>
              </a:rPr>
              <a:t>IN PRACTICE: mmap</a:t>
            </a:r>
          </a:p>
        </p:txBody>
      </p:sp>
      <p:sp>
        <p:nvSpPr>
          <p:cNvPr id="102" name="L0"/>
          <p:cNvSpPr/>
          <p:nvPr/>
        </p:nvSpPr>
        <p:spPr>
          <a:xfrm>
            <a:off x="912500" y="14640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UI</a:t>
            </a:r>
          </a:p>
        </p:txBody>
      </p:sp>
      <p:sp>
        <p:nvSpPr>
          <p:cNvPr id="103" name="L1"/>
          <p:cNvSpPr/>
          <p:nvPr/>
        </p:nvSpPr>
        <p:spPr>
          <a:xfrm>
            <a:off x="912500" y="23856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APPLICATION</a:t>
            </a:r>
          </a:p>
        </p:txBody>
      </p:sp>
      <p:cxnSp>
        <p:nvCxnSpPr>
          <p:cNvPr id="104" name="LA1"/>
          <p:cNvCxnSpPr/>
          <p:nvPr/>
        </p:nvCxnSpPr>
        <p:spPr>
          <a:xfrm>
            <a:off x="2287500" y="2206400"/>
            <a:ext cx="0" cy="179200"/>
          </a:xfrm>
          <a:prstGeom prst="line">
            <a:avLst/>
          </a:prstGeom>
          <a:ln w="53577">
            <a:solidFill>
              <a:srgbClr val="8E6F3E"/>
            </a:solidFill>
            <a:tailEnd type="triangle" w="med" len="med"/>
          </a:ln>
        </p:spPr>
      </p:cxnSp>
      <p:sp>
        <p:nvSpPr>
          <p:cNvPr id="105" name="L2"/>
          <p:cNvSpPr/>
          <p:nvPr/>
        </p:nvSpPr>
        <p:spPr>
          <a:xfrm>
            <a:off x="912500" y="33072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DOMAIN</a:t>
            </a:r>
          </a:p>
        </p:txBody>
      </p:sp>
      <p:cxnSp>
        <p:nvCxnSpPr>
          <p:cNvPr id="106" name="LA2"/>
          <p:cNvCxnSpPr/>
          <p:nvPr/>
        </p:nvCxnSpPr>
        <p:spPr>
          <a:xfrm>
            <a:off x="2287500" y="3128000"/>
            <a:ext cx="0" cy="179200"/>
          </a:xfrm>
          <a:prstGeom prst="line">
            <a:avLst/>
          </a:prstGeom>
          <a:ln w="53577">
            <a:solidFill>
              <a:srgbClr val="8E6F3E"/>
            </a:solidFill>
            <a:tailEnd type="triangle" w="med" len="med"/>
          </a:ln>
        </p:spPr>
      </p:cxnSp>
      <p:sp>
        <p:nvSpPr>
          <p:cNvPr id="107" name="L3"/>
          <p:cNvSpPr/>
          <p:nvPr/>
        </p:nvSpPr>
        <p:spPr>
          <a:xfrm>
            <a:off x="912500" y="42288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INFRASTRUCTURE</a:t>
            </a:r>
          </a:p>
        </p:txBody>
      </p:sp>
      <p:cxnSp>
        <p:nvCxnSpPr>
          <p:cNvPr id="108" name="LA3"/>
          <p:cNvCxnSpPr/>
          <p:nvPr/>
        </p:nvCxnSpPr>
        <p:spPr>
          <a:xfrm>
            <a:off x="2287500" y="4049600"/>
            <a:ext cx="0" cy="179200"/>
          </a:xfrm>
          <a:prstGeom prst="line">
            <a:avLst/>
          </a:prstGeom>
          <a:ln w="53577">
            <a:solidFill>
              <a:srgbClr val="8E6F3E"/>
            </a:solidFill>
            <a:tailEnd type="triangle" w="med" len="med"/>
          </a:ln>
        </p:spPr>
      </p:cxnSp>
      <p:cxnSp>
        <p:nvCxnSpPr>
          <p:cNvPr id="109" name="Allowed"/>
          <p:cNvCxnSpPr/>
          <p:nvPr/>
        </p:nvCxnSpPr>
        <p:spPr>
          <a:xfrm>
            <a:off x="537500" y="1630400"/>
            <a:ext cx="0" cy="3136000"/>
          </a:xfrm>
          <a:prstGeom prst="line">
            <a:avLst/>
          </a:prstGeom>
          <a:ln w="53577">
            <a:solidFill>
              <a:srgbClr val="C9B991"/>
            </a:solidFill>
            <a:tailEnd type="triangle" w="med" len="med"/>
          </a:ln>
        </p:spPr>
      </p:cxnSp>
      <p:sp>
        <p:nvSpPr>
          <p:cNvPr id="110" name="AllowedLbl"/>
          <p:cNvSpPr txBox="1"/>
          <p:nvPr/>
        </p:nvSpPr>
        <p:spPr>
          <a:xfrm rot="-5400000">
            <a:off x="-550000" y="2840000"/>
            <a:ext cx="1800000" cy="320000"/>
          </a:xfrm>
          <a:prstGeom prst="rect">
            <a:avLst/>
          </a:prstGeom>
          <a:noFill/>
          <a:ln>
            <a:noFill/>
          </a:ln>
        </p:spPr>
        <p:txBody>
          <a:bodyPr wrap="square" lIns="0" tIns="0" rIns="0" bIns="0" anchor="t">
            <a:normAutofit fontScale="70000" lnSpcReduction="20000"/>
          </a:bodyPr>
          <a:lstStyle/>
          <a:p>
            <a:pPr algn="ctr">
              <a:buNone/>
            </a:pPr>
            <a:r>
              <a:rPr lang="en-US" sz="2000" b="0" i="1" dirty="0">
                <a:solidFill>
                  <a:srgbClr val="555960"/>
                </a:solidFill>
              </a:rPr>
              <a:t>allowed dependencies</a:t>
            </a:r>
          </a:p>
        </p:txBody>
      </p:sp>
      <p:sp>
        <p:nvSpPr>
          <p:cNvPr id="111" name="R0"/>
          <p:cNvSpPr/>
          <p:nvPr/>
        </p:nvSpPr>
        <p:spPr>
          <a:xfrm>
            <a:off x="5170000" y="15140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APPLICATION</a:t>
            </a:r>
          </a:p>
        </p:txBody>
      </p:sp>
      <p:sp>
        <p:nvSpPr>
          <p:cNvPr id="112" name="R1"/>
          <p:cNvSpPr/>
          <p:nvPr/>
        </p:nvSpPr>
        <p:spPr>
          <a:xfrm>
            <a:off x="5170000" y="2435600"/>
            <a:ext cx="2200000" cy="742400"/>
          </a:xfrm>
          <a:prstGeom prst="rect">
            <a:avLst/>
          </a:prstGeom>
          <a:solidFill>
            <a:srgbClr val="F5F1E8"/>
          </a:solidFill>
          <a:ln w="12700">
            <a:solidFill>
              <a:srgbClr val="C9B991"/>
            </a:solidFill>
          </a:ln>
        </p:spPr>
        <p:txBody>
          <a:bodyPr wrap="square" lIns="54864" tIns="27432" rIns="54864" bIns="27432" anchor="ctr">
            <a:normAutofit lnSpcReduction="10000"/>
          </a:bodyPr>
          <a:lstStyle/>
          <a:p>
            <a:pPr algn="ctr">
              <a:buNone/>
            </a:pPr>
            <a:r>
              <a:rPr lang="en-US" sz="2400" b="1" i="0" dirty="0">
                <a:solidFill>
                  <a:srgbClr val="5C4826"/>
                </a:solidFill>
              </a:rPr>
              <a:t>FILE / STORAGE API</a:t>
            </a:r>
          </a:p>
        </p:txBody>
      </p:sp>
      <p:cxnSp>
        <p:nvCxnSpPr>
          <p:cNvPr id="113" name="RA1"/>
          <p:cNvCxnSpPr/>
          <p:nvPr/>
        </p:nvCxnSpPr>
        <p:spPr>
          <a:xfrm>
            <a:off x="6270000" y="2256400"/>
            <a:ext cx="0" cy="179200"/>
          </a:xfrm>
          <a:prstGeom prst="line">
            <a:avLst/>
          </a:prstGeom>
          <a:ln w="42862">
            <a:solidFill>
              <a:srgbClr val="8E6F3E"/>
            </a:solidFill>
            <a:tailEnd type="triangle" w="med" len="med"/>
          </a:ln>
        </p:spPr>
      </p:cxnSp>
      <p:sp>
        <p:nvSpPr>
          <p:cNvPr id="114" name="R2"/>
          <p:cNvSpPr/>
          <p:nvPr/>
        </p:nvSpPr>
        <p:spPr>
          <a:xfrm>
            <a:off x="5170000" y="3357200"/>
            <a:ext cx="2200000" cy="742400"/>
          </a:xfrm>
          <a:prstGeom prst="rect">
            <a:avLst/>
          </a:prstGeom>
          <a:solidFill>
            <a:srgbClr val="F5F1E8"/>
          </a:solidFill>
          <a:ln w="12700">
            <a:solidFill>
              <a:srgbClr val="C9B991"/>
            </a:solidFill>
          </a:ln>
        </p:spPr>
        <p:txBody>
          <a:bodyPr wrap="square" lIns="54864" tIns="27432" rIns="54864" bIns="27432" anchor="ctr">
            <a:normAutofit lnSpcReduction="10000"/>
          </a:bodyPr>
          <a:lstStyle/>
          <a:p>
            <a:pPr algn="ctr">
              <a:buNone/>
            </a:pPr>
            <a:r>
              <a:rPr lang="en-US" sz="2400" b="1" i="0" dirty="0">
                <a:solidFill>
                  <a:srgbClr val="5C4826"/>
                </a:solidFill>
              </a:rPr>
              <a:t>OPERATING SYSTEM</a:t>
            </a:r>
          </a:p>
        </p:txBody>
      </p:sp>
      <p:cxnSp>
        <p:nvCxnSpPr>
          <p:cNvPr id="115" name="RA2"/>
          <p:cNvCxnSpPr/>
          <p:nvPr/>
        </p:nvCxnSpPr>
        <p:spPr>
          <a:xfrm>
            <a:off x="6270000" y="3178000"/>
            <a:ext cx="0" cy="179200"/>
          </a:xfrm>
          <a:prstGeom prst="line">
            <a:avLst/>
          </a:prstGeom>
          <a:ln w="42862">
            <a:solidFill>
              <a:srgbClr val="8E6F3E"/>
            </a:solidFill>
            <a:tailEnd type="triangle" w="med" len="med"/>
          </a:ln>
        </p:spPr>
      </p:cxnSp>
      <p:sp>
        <p:nvSpPr>
          <p:cNvPr id="116" name="R3"/>
          <p:cNvSpPr/>
          <p:nvPr/>
        </p:nvSpPr>
        <p:spPr>
          <a:xfrm>
            <a:off x="5170000" y="42788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STORAGE</a:t>
            </a:r>
          </a:p>
        </p:txBody>
      </p:sp>
      <p:cxnSp>
        <p:nvCxnSpPr>
          <p:cNvPr id="117" name="RA3"/>
          <p:cNvCxnSpPr/>
          <p:nvPr/>
        </p:nvCxnSpPr>
        <p:spPr>
          <a:xfrm>
            <a:off x="6270000" y="4099600"/>
            <a:ext cx="0" cy="179200"/>
          </a:xfrm>
          <a:prstGeom prst="line">
            <a:avLst/>
          </a:prstGeom>
          <a:ln w="42862">
            <a:solidFill>
              <a:srgbClr val="8E6F3E"/>
            </a:solidFill>
            <a:tailEnd type="triangle" w="med" len="med"/>
          </a:ln>
        </p:spPr>
      </p:cxnSp>
      <p:sp>
        <p:nvSpPr>
          <p:cNvPr id="118" name="VM"/>
          <p:cNvSpPr/>
          <p:nvPr/>
        </p:nvSpPr>
        <p:spPr>
          <a:xfrm>
            <a:off x="7770000" y="2435600"/>
            <a:ext cx="1150000" cy="742400"/>
          </a:xfrm>
          <a:prstGeom prst="rect">
            <a:avLst/>
          </a:prstGeom>
          <a:solidFill>
            <a:srgbClr val="FFFFFF"/>
          </a:solidFill>
          <a:ln w="15875">
            <a:solidFill>
              <a:srgbClr val="8E6F3E"/>
            </a:solidFill>
          </a:ln>
        </p:spPr>
        <p:txBody>
          <a:bodyPr wrap="square" lIns="54864" tIns="27432" rIns="54864" bIns="27432" anchor="ctr">
            <a:normAutofit fontScale="85000" lnSpcReduction="10000"/>
          </a:bodyPr>
          <a:lstStyle/>
          <a:p>
            <a:pPr algn="ctr">
              <a:buNone/>
            </a:pPr>
            <a:r>
              <a:rPr lang="en-US" sz="2400" b="1" i="0" dirty="0">
                <a:solidFill>
                  <a:srgbClr val="5C4826"/>
                </a:solidFill>
              </a:rPr>
              <a:t>VIRTUAL</a:t>
            </a:r>
          </a:p>
          <a:p>
            <a:pPr algn="ctr">
              <a:spcBef>
                <a:spcPts val="555"/>
              </a:spcBef>
              <a:buNone/>
            </a:pPr>
            <a:r>
              <a:rPr lang="en-US" sz="2400" b="1" i="0" dirty="0">
                <a:solidFill>
                  <a:srgbClr val="5C4826"/>
                </a:solidFill>
              </a:rPr>
              <a:t>MEMORY</a:t>
            </a:r>
          </a:p>
        </p:txBody>
      </p:sp>
      <p:cxnSp>
        <p:nvCxnSpPr>
          <p:cNvPr id="119" name="MmapA"/>
          <p:cNvCxnSpPr/>
          <p:nvPr/>
        </p:nvCxnSpPr>
        <p:spPr>
          <a:xfrm>
            <a:off x="7370000" y="1885200"/>
            <a:ext cx="600000" cy="550400"/>
          </a:xfrm>
          <a:prstGeom prst="line">
            <a:avLst/>
          </a:prstGeom>
          <a:ln w="42862">
            <a:solidFill>
              <a:srgbClr val="8E6F3E"/>
            </a:solidFill>
            <a:prstDash val="dash"/>
            <a:tailEnd type="triangle" w="med" len="med"/>
          </a:ln>
        </p:spPr>
      </p:cxnSp>
      <p:sp>
        <p:nvSpPr>
          <p:cNvPr id="120" name="MmapLbl"/>
          <p:cNvSpPr txBox="1"/>
          <p:nvPr/>
        </p:nvSpPr>
        <p:spPr>
          <a:xfrm>
            <a:off x="7830000" y="1910800"/>
            <a:ext cx="900000" cy="332800"/>
          </a:xfrm>
          <a:prstGeom prst="rect">
            <a:avLst/>
          </a:prstGeom>
          <a:noFill/>
          <a:ln>
            <a:noFill/>
          </a:ln>
        </p:spPr>
        <p:txBody>
          <a:bodyPr wrap="square" lIns="0" tIns="0" rIns="0" bIns="0" anchor="t">
            <a:normAutofit lnSpcReduction="10000"/>
          </a:bodyPr>
          <a:lstStyle/>
          <a:p>
            <a:pPr algn="l">
              <a:buNone/>
            </a:pPr>
            <a:r>
              <a:rPr lang="en-US" sz="2400" b="1" i="1" dirty="0">
                <a:solidFill>
                  <a:srgbClr val="8E6F3E"/>
                </a:solidFill>
              </a:rPr>
              <a:t>mmap</a:t>
            </a:r>
          </a:p>
        </p:txBody>
      </p:sp>
      <p:cxnSp>
        <p:nvCxnSpPr>
          <p:cNvPr id="121" name="PfA"/>
          <p:cNvCxnSpPr/>
          <p:nvPr/>
        </p:nvCxnSpPr>
        <p:spPr>
          <a:xfrm flipH="1">
            <a:off x="7370000" y="3178000"/>
            <a:ext cx="975000" cy="1382400"/>
          </a:xfrm>
          <a:prstGeom prst="line">
            <a:avLst/>
          </a:prstGeom>
          <a:ln w="42862">
            <a:solidFill>
              <a:srgbClr val="8E6F3E"/>
            </a:solidFill>
            <a:prstDash val="dash"/>
            <a:tailEnd type="triangle" w="med" len="med"/>
          </a:ln>
        </p:spPr>
      </p:cxnSp>
      <p:sp>
        <p:nvSpPr>
          <p:cNvPr id="122" name="PfLbl"/>
          <p:cNvSpPr txBox="1"/>
          <p:nvPr/>
        </p:nvSpPr>
        <p:spPr>
          <a:xfrm>
            <a:off x="8080000" y="3920400"/>
            <a:ext cx="1050000" cy="614400"/>
          </a:xfrm>
          <a:prstGeom prst="rect">
            <a:avLst/>
          </a:prstGeom>
          <a:noFill/>
          <a:ln>
            <a:noFill/>
          </a:ln>
        </p:spPr>
        <p:txBody>
          <a:bodyPr wrap="square" lIns="0" tIns="0" rIns="0" bIns="0" anchor="t">
            <a:normAutofit fontScale="70000" lnSpcReduction="20000"/>
          </a:bodyPr>
          <a:lstStyle/>
          <a:p>
            <a:pPr algn="l">
              <a:buNone/>
            </a:pPr>
            <a:r>
              <a:rPr lang="en-US" sz="2400" b="0" i="1" dirty="0">
                <a:solidFill>
                  <a:srgbClr val="555960"/>
                </a:solidFill>
              </a:rPr>
              <a:t>page faults</a:t>
            </a:r>
          </a:p>
          <a:p>
            <a:pPr algn="l">
              <a:spcBef>
                <a:spcPts val="555"/>
              </a:spcBef>
              <a:buNone/>
            </a:pPr>
            <a:r>
              <a:rPr lang="en-US" sz="2400" b="0" i="1" dirty="0">
                <a:solidFill>
                  <a:srgbClr val="555960"/>
                </a:solidFill>
              </a:rPr>
              <a:t>→ FILE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MVC: separate model, view, and interaction logic</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61" name="T61"/>
          <p:cNvSpPr txBox="1"/>
          <p:nvPr/>
        </p:nvSpPr>
        <p:spPr>
          <a:xfrm>
            <a:off x="685800" y="4830000"/>
            <a:ext cx="7772400" cy="900000"/>
          </a:xfrm>
          <a:prstGeom prst="rect">
            <a:avLst/>
          </a:prstGeom>
          <a:noFill/>
          <a:ln>
            <a:noFill/>
          </a:ln>
        </p:spPr>
        <p:txBody>
          <a:bodyPr wrap="square" lIns="0" tIns="0" rIns="0" bIns="0" anchor="t">
            <a:normAutofit/>
          </a:bodyPr>
          <a:lstStyle/>
          <a:p>
            <a:pPr algn="ctr">
              <a:buNone/>
            </a:pPr>
            <a:r>
              <a:rPr lang="en-US" sz="2400" b="1" i="0" dirty="0">
                <a:solidFill>
                  <a:srgbClr val="000000"/>
                </a:solidFill>
              </a:rPr>
              <a:t xml:space="preserve">Expected tradeoff: </a:t>
            </a:r>
            <a:r>
              <a:rPr lang="en-US" sz="2400" b="0" i="1" dirty="0">
                <a:solidFill>
                  <a:srgbClr val="000000"/>
                </a:solidFill>
              </a:rPr>
              <a:t>multiple presentations and independent evolution — vs. coordination and indirection.</a:t>
            </a:r>
          </a:p>
        </p:txBody>
      </p:sp>
      <p:sp>
        <p:nvSpPr>
          <p:cNvPr id="100" name="User"/>
          <p:cNvSpPr/>
          <p:nvPr/>
        </p:nvSpPr>
        <p:spPr>
          <a:xfrm>
            <a:off x="480000" y="2414000"/>
            <a:ext cx="2240000" cy="992000"/>
          </a:xfrm>
          <a:prstGeom prst="rect">
            <a:avLst/>
          </a:prstGeom>
          <a:solidFill>
            <a:srgbClr val="FFFFFF"/>
          </a:solidFill>
          <a:ln w="15875">
            <a:solidFill>
              <a:srgbClr val="C9B991"/>
            </a:solidFill>
          </a:ln>
        </p:spPr>
        <p:txBody>
          <a:bodyPr wrap="square" lIns="54864" tIns="27432" rIns="54864" bIns="27432" anchor="ctr">
            <a:normAutofit/>
          </a:bodyPr>
          <a:lstStyle/>
          <a:p>
            <a:pPr algn="ctr">
              <a:buNone/>
            </a:pPr>
            <a:r>
              <a:rPr lang="en-US" sz="2600" b="1" i="0" dirty="0">
                <a:solidFill>
                  <a:srgbClr val="5C4826"/>
                </a:solidFill>
              </a:rPr>
              <a:t>USER</a:t>
            </a:r>
          </a:p>
        </p:txBody>
      </p:sp>
      <p:sp>
        <p:nvSpPr>
          <p:cNvPr id="101" name="Controller"/>
          <p:cNvSpPr/>
          <p:nvPr/>
        </p:nvSpPr>
        <p:spPr>
          <a:xfrm>
            <a:off x="3230000" y="1314000"/>
            <a:ext cx="304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CONTROLLER</a:t>
            </a:r>
          </a:p>
        </p:txBody>
      </p:sp>
      <p:sp>
        <p:nvSpPr>
          <p:cNvPr id="102" name="Model"/>
          <p:cNvSpPr/>
          <p:nvPr/>
        </p:nvSpPr>
        <p:spPr>
          <a:xfrm>
            <a:off x="6450000" y="2414000"/>
            <a:ext cx="240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MODEL</a:t>
            </a:r>
          </a:p>
        </p:txBody>
      </p:sp>
      <p:sp>
        <p:nvSpPr>
          <p:cNvPr id="103" name="View"/>
          <p:cNvSpPr/>
          <p:nvPr/>
        </p:nvSpPr>
        <p:spPr>
          <a:xfrm>
            <a:off x="3230000" y="3564000"/>
            <a:ext cx="304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VIEW</a:t>
            </a:r>
          </a:p>
        </p:txBody>
      </p:sp>
      <p:cxnSp>
        <p:nvCxnSpPr>
          <p:cNvPr id="104" name="UC"/>
          <p:cNvCxnSpPr/>
          <p:nvPr/>
        </p:nvCxnSpPr>
        <p:spPr>
          <a:xfrm flipV="1">
            <a:off x="2400000" y="1810000"/>
            <a:ext cx="830000" cy="790000"/>
          </a:xfrm>
          <a:prstGeom prst="line">
            <a:avLst/>
          </a:prstGeom>
          <a:ln w="42862">
            <a:solidFill>
              <a:srgbClr val="8E6F3E"/>
            </a:solidFill>
            <a:tailEnd type="triangle" w="med" len="med"/>
          </a:ln>
        </p:spPr>
      </p:cxnSp>
      <p:cxnSp>
        <p:nvCxnSpPr>
          <p:cNvPr id="105" name="CM"/>
          <p:cNvCxnSpPr/>
          <p:nvPr/>
        </p:nvCxnSpPr>
        <p:spPr>
          <a:xfrm>
            <a:off x="6270000" y="1900000"/>
            <a:ext cx="930000" cy="514000"/>
          </a:xfrm>
          <a:prstGeom prst="line">
            <a:avLst/>
          </a:prstGeom>
          <a:ln w="42862">
            <a:solidFill>
              <a:srgbClr val="8E6F3E"/>
            </a:solidFill>
            <a:tailEnd type="triangle" w="med" len="med"/>
          </a:ln>
        </p:spPr>
      </p:cxnSp>
      <p:sp>
        <p:nvSpPr>
          <p:cNvPr id="106" name="CMLbl"/>
          <p:cNvSpPr txBox="1"/>
          <p:nvPr/>
        </p:nvSpPr>
        <p:spPr>
          <a:xfrm>
            <a:off x="6550000" y="1650000"/>
            <a:ext cx="1500000" cy="320000"/>
          </a:xfrm>
          <a:prstGeom prst="rect">
            <a:avLst/>
          </a:prstGeom>
          <a:noFill/>
          <a:ln>
            <a:noFill/>
          </a:ln>
        </p:spPr>
        <p:txBody>
          <a:bodyPr wrap="square" lIns="0" tIns="0" rIns="0" bIns="0" anchor="t">
            <a:normAutofit/>
          </a:bodyPr>
          <a:lstStyle/>
          <a:p>
            <a:pPr algn="l">
              <a:buNone/>
            </a:pPr>
            <a:r>
              <a:rPr lang="en-US" sz="2000" b="0" i="1" dirty="0">
                <a:solidFill>
                  <a:srgbClr val="555960"/>
                </a:solidFill>
              </a:rPr>
              <a:t>changes</a:t>
            </a:r>
          </a:p>
        </p:txBody>
      </p:sp>
      <p:cxnSp>
        <p:nvCxnSpPr>
          <p:cNvPr id="107" name="MV"/>
          <p:cNvCxnSpPr/>
          <p:nvPr/>
        </p:nvCxnSpPr>
        <p:spPr>
          <a:xfrm flipH="1">
            <a:off x="6270000" y="3406000"/>
            <a:ext cx="1030000" cy="494000"/>
          </a:xfrm>
          <a:prstGeom prst="line">
            <a:avLst/>
          </a:prstGeom>
          <a:ln w="42862">
            <a:solidFill>
              <a:srgbClr val="8E6F3E"/>
            </a:solidFill>
            <a:tailEnd type="triangle" w="med" len="med"/>
          </a:ln>
        </p:spPr>
      </p:cxnSp>
      <p:sp>
        <p:nvSpPr>
          <p:cNvPr id="108" name="MVLbl"/>
          <p:cNvSpPr txBox="1"/>
          <p:nvPr/>
        </p:nvSpPr>
        <p:spPr>
          <a:xfrm>
            <a:off x="6650000" y="3960000"/>
            <a:ext cx="1900000" cy="320000"/>
          </a:xfrm>
          <a:prstGeom prst="rect">
            <a:avLst/>
          </a:prstGeom>
          <a:noFill/>
          <a:ln>
            <a:noFill/>
          </a:ln>
        </p:spPr>
        <p:txBody>
          <a:bodyPr wrap="square" lIns="0" tIns="0" rIns="0" bIns="0" anchor="t">
            <a:normAutofit/>
          </a:bodyPr>
          <a:lstStyle/>
          <a:p>
            <a:pPr algn="l">
              <a:buNone/>
            </a:pPr>
            <a:r>
              <a:rPr lang="en-US" sz="2000" b="0" i="1" dirty="0">
                <a:solidFill>
                  <a:srgbClr val="555960"/>
                </a:solidFill>
              </a:rPr>
              <a:t>observed by</a:t>
            </a:r>
          </a:p>
        </p:txBody>
      </p:sp>
      <p:cxnSp>
        <p:nvCxnSpPr>
          <p:cNvPr id="109" name="VU"/>
          <p:cNvCxnSpPr/>
          <p:nvPr/>
        </p:nvCxnSpPr>
        <p:spPr>
          <a:xfrm flipH="1" flipV="1">
            <a:off x="2100000" y="3406000"/>
            <a:ext cx="1130000" cy="494000"/>
          </a:xfrm>
          <a:prstGeom prst="line">
            <a:avLst/>
          </a:prstGeom>
          <a:ln w="42862">
            <a:solidFill>
              <a:srgbClr val="8E6F3E"/>
            </a:solidFill>
            <a:tailEnd type="triangle" w="med" len="med"/>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Repository: organize around shared authoritative state</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61" name="Band61"/>
          <p:cNvSpPr/>
          <p:nvPr/>
        </p:nvSpPr>
        <p:spPr>
          <a:xfrm>
            <a:off x="279400" y="455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600" b="0" i="0" dirty="0">
                <a:solidFill>
                  <a:srgbClr val="000000"/>
                </a:solidFill>
              </a:rPr>
              <a:t>Consistency and integration become easier.</a:t>
            </a:r>
          </a:p>
          <a:p>
            <a:pPr algn="l">
              <a:spcBef>
                <a:spcPts val="200"/>
              </a:spcBef>
              <a:buNone/>
            </a:pPr>
            <a:r>
              <a:rPr lang="en-US" sz="2600" b="0" i="0" dirty="0">
                <a:solidFill>
                  <a:srgbClr val="000000"/>
                </a:solidFill>
              </a:rPr>
              <a:t>Everyone now depends on the center.</a:t>
            </a:r>
          </a:p>
        </p:txBody>
      </p:sp>
      <p:sp>
        <p:nvSpPr>
          <p:cNvPr id="100" name="Repo"/>
          <p:cNvSpPr/>
          <p:nvPr/>
        </p:nvSpPr>
        <p:spPr>
          <a:xfrm>
            <a:off x="3160000" y="2175000"/>
            <a:ext cx="2830000" cy="11500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REPOSITORY</a:t>
            </a:r>
          </a:p>
          <a:p>
            <a:pPr algn="ctr">
              <a:spcBef>
                <a:spcPts val="525"/>
              </a:spcBef>
              <a:buNone/>
            </a:pPr>
            <a:r>
              <a:rPr lang="en-US" sz="1800" b="0" i="1" dirty="0">
                <a:solidFill>
                  <a:srgbClr val="FFFFFF"/>
                </a:solidFill>
              </a:rPr>
              <a:t>shared authoritative state</a:t>
            </a:r>
          </a:p>
        </p:txBody>
      </p:sp>
      <p:sp>
        <p:nvSpPr>
          <p:cNvPr id="101" name="Input"/>
          <p:cNvSpPr/>
          <p:nvPr/>
        </p:nvSpPr>
        <p:spPr>
          <a:xfrm>
            <a:off x="707500" y="2315000"/>
            <a:ext cx="1885000" cy="8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INPUT</a:t>
            </a:r>
          </a:p>
        </p:txBody>
      </p:sp>
      <p:cxnSp>
        <p:nvCxnSpPr>
          <p:cNvPr id="102" name="AIn"/>
          <p:cNvCxnSpPr/>
          <p:nvPr/>
        </p:nvCxnSpPr>
        <p:spPr>
          <a:xfrm>
            <a:off x="2592500" y="2750000"/>
            <a:ext cx="567500" cy="0"/>
          </a:xfrm>
          <a:prstGeom prst="line">
            <a:avLst/>
          </a:prstGeom>
          <a:ln w="42862">
            <a:solidFill>
              <a:srgbClr val="8E6F3E"/>
            </a:solidFill>
            <a:tailEnd type="triangle" w="med" len="med"/>
          </a:ln>
        </p:spPr>
      </p:cxnSp>
      <p:sp>
        <p:nvSpPr>
          <p:cNvPr id="103" name="Reporter"/>
          <p:cNvSpPr/>
          <p:nvPr/>
        </p:nvSpPr>
        <p:spPr>
          <a:xfrm>
            <a:off x="6685000" y="2315000"/>
            <a:ext cx="2030000" cy="8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REPORTER</a:t>
            </a:r>
          </a:p>
        </p:txBody>
      </p:sp>
      <p:cxnSp>
        <p:nvCxnSpPr>
          <p:cNvPr id="104" name="AOut"/>
          <p:cNvCxnSpPr/>
          <p:nvPr/>
        </p:nvCxnSpPr>
        <p:spPr>
          <a:xfrm>
            <a:off x="5990000" y="2750000"/>
            <a:ext cx="695000" cy="0"/>
          </a:xfrm>
          <a:prstGeom prst="line">
            <a:avLst/>
          </a:prstGeom>
          <a:ln w="42862">
            <a:solidFill>
              <a:srgbClr val="8E6F3E"/>
            </a:solidFill>
            <a:tailEnd type="triangle" w="med" len="med"/>
          </a:ln>
        </p:spPr>
      </p:cxnSp>
      <p:sp>
        <p:nvSpPr>
          <p:cNvPr id="105" name="Analyzer"/>
          <p:cNvSpPr/>
          <p:nvPr/>
        </p:nvSpPr>
        <p:spPr>
          <a:xfrm>
            <a:off x="3665000" y="1165000"/>
            <a:ext cx="1820000" cy="7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ANALYZER</a:t>
            </a:r>
          </a:p>
        </p:txBody>
      </p:sp>
      <p:cxnSp>
        <p:nvCxnSpPr>
          <p:cNvPr id="106" name="ADown"/>
          <p:cNvCxnSpPr/>
          <p:nvPr/>
        </p:nvCxnSpPr>
        <p:spPr>
          <a:xfrm>
            <a:off x="4575000" y="1935000"/>
            <a:ext cx="0" cy="240000"/>
          </a:xfrm>
          <a:prstGeom prst="line">
            <a:avLst/>
          </a:prstGeom>
          <a:ln w="42862">
            <a:solidFill>
              <a:srgbClr val="8E6F3E"/>
            </a:solidFill>
            <a:tailEnd type="triangle" w="med" len="med"/>
          </a:ln>
        </p:spPr>
      </p:cxnSp>
      <p:sp>
        <p:nvSpPr>
          <p:cNvPr id="107" name="Optimizer"/>
          <p:cNvSpPr/>
          <p:nvPr/>
        </p:nvSpPr>
        <p:spPr>
          <a:xfrm>
            <a:off x="3665000" y="3615000"/>
            <a:ext cx="1820000" cy="7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OPTIMIZER</a:t>
            </a:r>
          </a:p>
        </p:txBody>
      </p:sp>
      <p:cxnSp>
        <p:nvCxnSpPr>
          <p:cNvPr id="108" name="AUp"/>
          <p:cNvCxnSpPr/>
          <p:nvPr/>
        </p:nvCxnSpPr>
        <p:spPr>
          <a:xfrm flipV="1">
            <a:off x="4575000" y="3325000"/>
            <a:ext cx="0" cy="290000"/>
          </a:xfrm>
          <a:prstGeom prst="line">
            <a:avLst/>
          </a:prstGeom>
          <a:ln w="42862">
            <a:solidFill>
              <a:srgbClr val="8E6F3E"/>
            </a:solidFill>
            <a:tailEnd type="triangle" w="med" len="med"/>
          </a:ln>
        </p:spPr>
      </p:cxnSp>
      <p:sp>
        <p:nvSpPr>
          <p:cNvPr id="109" name="ConsLbl"/>
          <p:cNvSpPr txBox="1"/>
          <p:nvPr/>
        </p:nvSpPr>
        <p:spPr>
          <a:xfrm>
            <a:off x="850000" y="3900000"/>
            <a:ext cx="2400000" cy="380000"/>
          </a:xfrm>
          <a:prstGeom prst="rect">
            <a:avLst/>
          </a:prstGeom>
          <a:noFill/>
          <a:ln>
            <a:noFill/>
          </a:ln>
        </p:spPr>
        <p:txBody>
          <a:bodyPr wrap="square" lIns="0" tIns="0" rIns="0" bIns="0" anchor="t">
            <a:normAutofit/>
          </a:bodyPr>
          <a:lstStyle/>
          <a:p>
            <a:pPr algn="l">
              <a:buNone/>
            </a:pPr>
            <a:r>
              <a:rPr lang="en-US" sz="2000" b="1" i="1" dirty="0">
                <a:solidFill>
                  <a:srgbClr val="1F7A4D"/>
                </a:solidFill>
              </a:rPr>
              <a:t>consistency ↑</a:t>
            </a:r>
          </a:p>
        </p:txBody>
      </p:sp>
      <p:sp>
        <p:nvSpPr>
          <p:cNvPr id="110" name="CoupLbl"/>
          <p:cNvSpPr txBox="1"/>
          <p:nvPr/>
        </p:nvSpPr>
        <p:spPr>
          <a:xfrm>
            <a:off x="6250000" y="3900000"/>
            <a:ext cx="2700000" cy="380000"/>
          </a:xfrm>
          <a:prstGeom prst="rect">
            <a:avLst/>
          </a:prstGeom>
          <a:noFill/>
          <a:ln>
            <a:noFill/>
          </a:ln>
        </p:spPr>
        <p:txBody>
          <a:bodyPr wrap="square" lIns="0" tIns="0" rIns="0" bIns="0" anchor="t">
            <a:normAutofit/>
          </a:bodyPr>
          <a:lstStyle/>
          <a:p>
            <a:pPr algn="r">
              <a:buNone/>
            </a:pPr>
            <a:r>
              <a:rPr lang="en-US" sz="2000" b="1" i="1" dirty="0">
                <a:solidFill>
                  <a:srgbClr val="B23B3B"/>
                </a:solidFill>
              </a:rPr>
              <a:t>central coupling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Control dependencies across boundaries</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62" name="T62"/>
          <p:cNvSpPr txBox="1"/>
          <p:nvPr/>
        </p:nvSpPr>
        <p:spPr>
          <a:xfrm>
            <a:off x="685800" y="6050000"/>
            <a:ext cx="7772400" cy="35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Often called ports-and-adapters / hexagonal / clean architecture.</a:t>
            </a:r>
          </a:p>
        </p:txBody>
      </p:sp>
      <p:sp>
        <p:nvSpPr>
          <p:cNvPr id="100" name="BeforeLbl"/>
          <p:cNvSpPr txBox="1"/>
          <p:nvPr/>
        </p:nvSpPr>
        <p:spPr>
          <a:xfrm>
            <a:off x="300000" y="1022000"/>
            <a:ext cx="1778000" cy="3556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UI"/>
          <p:cNvSpPr/>
          <p:nvPr/>
        </p:nvSpPr>
        <p:spPr>
          <a:xfrm>
            <a:off x="545017" y="1453800"/>
            <a:ext cx="1651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UI</a:t>
            </a:r>
          </a:p>
        </p:txBody>
      </p:sp>
      <p:sp>
        <p:nvSpPr>
          <p:cNvPr id="102" name="BDomain"/>
          <p:cNvSpPr/>
          <p:nvPr/>
        </p:nvSpPr>
        <p:spPr>
          <a:xfrm>
            <a:off x="3212017" y="1453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DOMAIN</a:t>
            </a:r>
          </a:p>
        </p:txBody>
      </p:sp>
      <p:sp>
        <p:nvSpPr>
          <p:cNvPr id="103" name="BDb"/>
          <p:cNvSpPr/>
          <p:nvPr/>
        </p:nvSpPr>
        <p:spPr>
          <a:xfrm>
            <a:off x="6260017" y="1453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DATABASE</a:t>
            </a:r>
          </a:p>
        </p:txBody>
      </p:sp>
      <p:cxnSp>
        <p:nvCxnSpPr>
          <p:cNvPr id="104" name="BA1"/>
          <p:cNvCxnSpPr/>
          <p:nvPr/>
        </p:nvCxnSpPr>
        <p:spPr>
          <a:xfrm>
            <a:off x="2196017" y="1803050"/>
            <a:ext cx="1016000" cy="0"/>
          </a:xfrm>
          <a:prstGeom prst="line">
            <a:avLst/>
          </a:prstGeom>
          <a:ln w="54436">
            <a:solidFill>
              <a:srgbClr val="8E6F3E"/>
            </a:solidFill>
            <a:tailEnd type="triangle" w="med" len="med"/>
          </a:ln>
        </p:spPr>
      </p:cxnSp>
      <p:cxnSp>
        <p:nvCxnSpPr>
          <p:cNvPr id="105" name="BA2"/>
          <p:cNvCxnSpPr/>
          <p:nvPr/>
        </p:nvCxnSpPr>
        <p:spPr>
          <a:xfrm>
            <a:off x="5244017" y="1803050"/>
            <a:ext cx="1016000" cy="0"/>
          </a:xfrm>
          <a:prstGeom prst="line">
            <a:avLst/>
          </a:prstGeom>
          <a:ln w="54436">
            <a:solidFill>
              <a:srgbClr val="B23B3B"/>
            </a:solidFill>
            <a:tailEnd type="triangle" w="med" len="med"/>
          </a:ln>
        </p:spPr>
      </p:cxnSp>
      <p:sp>
        <p:nvSpPr>
          <p:cNvPr id="106" name="BCap"/>
          <p:cNvSpPr txBox="1"/>
          <p:nvPr/>
        </p:nvSpPr>
        <p:spPr>
          <a:xfrm>
            <a:off x="3974017" y="2317400"/>
            <a:ext cx="4572000" cy="355600"/>
          </a:xfrm>
          <a:prstGeom prst="rect">
            <a:avLst/>
          </a:prstGeom>
          <a:noFill/>
          <a:ln>
            <a:noFill/>
          </a:ln>
        </p:spPr>
        <p:txBody>
          <a:bodyPr wrap="square" lIns="0" tIns="0" rIns="0" bIns="0" anchor="t">
            <a:normAutofit/>
          </a:bodyPr>
          <a:lstStyle/>
          <a:p>
            <a:pPr algn="l">
              <a:buNone/>
            </a:pPr>
            <a:r>
              <a:rPr lang="en-US" sz="1900" b="0" i="1" dirty="0">
                <a:solidFill>
                  <a:srgbClr val="B23B3B"/>
                </a:solidFill>
              </a:rPr>
              <a:t>infrastructure becomes a domain dependency</a:t>
            </a:r>
          </a:p>
        </p:txBody>
      </p:sp>
      <p:sp>
        <p:nvSpPr>
          <p:cNvPr id="107" name="AfterLbl"/>
          <p:cNvSpPr txBox="1"/>
          <p:nvPr/>
        </p:nvSpPr>
        <p:spPr>
          <a:xfrm>
            <a:off x="300000" y="3777000"/>
            <a:ext cx="1778000" cy="3556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08" name="AUI"/>
          <p:cNvSpPr/>
          <p:nvPr/>
        </p:nvSpPr>
        <p:spPr>
          <a:xfrm>
            <a:off x="545017" y="4208800"/>
            <a:ext cx="1651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UI</a:t>
            </a:r>
          </a:p>
        </p:txBody>
      </p:sp>
      <p:sp>
        <p:nvSpPr>
          <p:cNvPr id="109" name="ADomain"/>
          <p:cNvSpPr/>
          <p:nvPr/>
        </p:nvSpPr>
        <p:spPr>
          <a:xfrm>
            <a:off x="3212017" y="4208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DOMAIN</a:t>
            </a:r>
          </a:p>
        </p:txBody>
      </p:sp>
      <p:sp>
        <p:nvSpPr>
          <p:cNvPr id="110" name="Iface"/>
          <p:cNvSpPr/>
          <p:nvPr/>
        </p:nvSpPr>
        <p:spPr>
          <a:xfrm>
            <a:off x="5244017" y="4119900"/>
            <a:ext cx="127000" cy="876300"/>
          </a:xfrm>
          <a:prstGeom prst="rect">
            <a:avLst/>
          </a:prstGeom>
          <a:solidFill>
            <a:srgbClr val="8E6F3E"/>
          </a:solidFill>
          <a:ln>
            <a:noFill/>
          </a:ln>
        </p:spPr>
        <p:txBody>
          <a:bodyPr wrap="square" lIns="54864" tIns="27432" rIns="54864" bIns="27432" anchor="ctr">
            <a:normAutofit/>
          </a:bodyPr>
          <a:lstStyle/>
          <a:p>
            <a:endParaRPr/>
          </a:p>
        </p:txBody>
      </p:sp>
      <p:sp>
        <p:nvSpPr>
          <p:cNvPr id="111" name="IfaceLbl"/>
          <p:cNvSpPr txBox="1"/>
          <p:nvPr/>
        </p:nvSpPr>
        <p:spPr>
          <a:xfrm>
            <a:off x="4164517" y="3789700"/>
            <a:ext cx="3556000" cy="330200"/>
          </a:xfrm>
          <a:prstGeom prst="rect">
            <a:avLst/>
          </a:prstGeom>
          <a:noFill/>
          <a:ln>
            <a:noFill/>
          </a:ln>
        </p:spPr>
        <p:txBody>
          <a:bodyPr wrap="square" lIns="0" tIns="0" rIns="0" bIns="0" anchor="t">
            <a:normAutofit/>
          </a:bodyPr>
          <a:lstStyle/>
          <a:p>
            <a:pPr algn="l">
              <a:buNone/>
            </a:pPr>
            <a:r>
              <a:rPr lang="en-US" sz="1800" b="1" i="0" dirty="0">
                <a:solidFill>
                  <a:srgbClr val="8E6F3E"/>
                </a:solidFill>
              </a:rPr>
              <a:t>DOMAIN-DEFINED INTERFACE</a:t>
            </a:r>
          </a:p>
        </p:txBody>
      </p:sp>
      <p:sp>
        <p:nvSpPr>
          <p:cNvPr id="112" name="AAdapter"/>
          <p:cNvSpPr/>
          <p:nvPr/>
        </p:nvSpPr>
        <p:spPr>
          <a:xfrm>
            <a:off x="6260017" y="4208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DB ADAPTER</a:t>
            </a:r>
          </a:p>
        </p:txBody>
      </p:sp>
      <p:cxnSp>
        <p:nvCxnSpPr>
          <p:cNvPr id="113" name="AA1"/>
          <p:cNvCxnSpPr/>
          <p:nvPr/>
        </p:nvCxnSpPr>
        <p:spPr>
          <a:xfrm>
            <a:off x="2196017" y="4558050"/>
            <a:ext cx="1016000" cy="0"/>
          </a:xfrm>
          <a:prstGeom prst="line">
            <a:avLst/>
          </a:prstGeom>
          <a:ln w="54436">
            <a:solidFill>
              <a:srgbClr val="8E6F3E"/>
            </a:solidFill>
            <a:tailEnd type="triangle" w="med" len="med"/>
          </a:ln>
        </p:spPr>
      </p:cxnSp>
      <p:cxnSp>
        <p:nvCxnSpPr>
          <p:cNvPr id="114" name="AA2"/>
          <p:cNvCxnSpPr/>
          <p:nvPr/>
        </p:nvCxnSpPr>
        <p:spPr>
          <a:xfrm flipH="1">
            <a:off x="5409117" y="4558050"/>
            <a:ext cx="850900" cy="0"/>
          </a:xfrm>
          <a:prstGeom prst="line">
            <a:avLst/>
          </a:prstGeom>
          <a:ln w="61290">
            <a:solidFill>
              <a:srgbClr val="1F7A4D"/>
            </a:solidFill>
            <a:tailEnd type="triangle" w="med" len="med"/>
          </a:ln>
        </p:spPr>
      </p:cxnSp>
      <p:sp>
        <p:nvSpPr>
          <p:cNvPr id="115" name="ACap"/>
          <p:cNvSpPr txBox="1"/>
          <p:nvPr/>
        </p:nvSpPr>
        <p:spPr>
          <a:xfrm>
            <a:off x="3974017" y="5072400"/>
            <a:ext cx="5334000" cy="355600"/>
          </a:xfrm>
          <a:prstGeom prst="rect">
            <a:avLst/>
          </a:prstGeom>
          <a:noFill/>
          <a:ln>
            <a:noFill/>
          </a:ln>
        </p:spPr>
        <p:txBody>
          <a:bodyPr wrap="square" lIns="0" tIns="0" rIns="0" bIns="0" anchor="t">
            <a:normAutofit/>
          </a:bodyPr>
          <a:lstStyle/>
          <a:p>
            <a:pPr algn="l">
              <a:buNone/>
            </a:pPr>
            <a:r>
              <a:rPr lang="en-US" sz="1900" b="0" i="1" dirty="0">
                <a:solidFill>
                  <a:srgbClr val="1F7A4D"/>
                </a:solidFill>
              </a:rPr>
              <a:t>the dependency now points into the domain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Events: producers need not know their consumers</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61" name="T61"/>
          <p:cNvSpPr txBox="1"/>
          <p:nvPr/>
        </p:nvSpPr>
        <p:spPr>
          <a:xfrm>
            <a:off x="685800" y="4230000"/>
            <a:ext cx="7772400" cy="420000"/>
          </a:xfrm>
          <a:prstGeom prst="rect">
            <a:avLst/>
          </a:prstGeom>
          <a:noFill/>
          <a:ln>
            <a:noFill/>
          </a:ln>
        </p:spPr>
        <p:txBody>
          <a:bodyPr wrap="square" lIns="0" tIns="0" rIns="0" bIns="0" anchor="t">
            <a:normAutofit/>
          </a:bodyPr>
          <a:lstStyle/>
          <a:p>
            <a:pPr algn="ctr">
              <a:buNone/>
            </a:pPr>
            <a:r>
              <a:rPr lang="en-US" sz="2200" b="1" i="0" dirty="0">
                <a:solidFill>
                  <a:srgbClr val="000000"/>
                </a:solidFill>
              </a:rPr>
              <a:t xml:space="preserve">Rule of thumb: </a:t>
            </a:r>
            <a:r>
              <a:rPr lang="en-US" sz="2200" b="0" i="0" dirty="0">
                <a:solidFill>
                  <a:srgbClr val="000000"/>
                </a:solidFill>
              </a:rPr>
              <a:t>event-based often makes adding consumers easier.</a:t>
            </a:r>
          </a:p>
        </p:txBody>
      </p:sp>
      <p:sp>
        <p:nvSpPr>
          <p:cNvPr id="62" name="T62"/>
          <p:cNvSpPr txBox="1"/>
          <p:nvPr/>
        </p:nvSpPr>
        <p:spPr>
          <a:xfrm>
            <a:off x="685800" y="4680000"/>
            <a:ext cx="7772400" cy="640000"/>
          </a:xfrm>
          <a:prstGeom prst="rect">
            <a:avLst/>
          </a:prstGeom>
          <a:noFill/>
          <a:ln>
            <a:noFill/>
          </a:ln>
        </p:spPr>
        <p:txBody>
          <a:bodyPr wrap="square" lIns="0" tIns="0" rIns="0" bIns="0" anchor="t">
            <a:normAutofit lnSpcReduction="10000"/>
          </a:bodyPr>
          <a:lstStyle/>
          <a:p>
            <a:pPr algn="ctr">
              <a:buNone/>
            </a:pPr>
            <a:r>
              <a:rPr lang="en-US" sz="2200" b="1" i="0" dirty="0">
                <a:solidFill>
                  <a:srgbClr val="5C4826"/>
                </a:solidFill>
              </a:rPr>
              <a:t xml:space="preserve">Engineering question: </a:t>
            </a:r>
            <a:r>
              <a:rPr lang="en-US" sz="2200" b="0" i="1" dirty="0">
                <a:solidFill>
                  <a:srgbClr val="000000"/>
                </a:solidFill>
              </a:rPr>
              <a:t>does THIS event architecture satisfy our ordering, latency, reliability, and observability obligations?</a:t>
            </a:r>
          </a:p>
        </p:txBody>
      </p:sp>
      <p:sp>
        <p:nvSpPr>
          <p:cNvPr id="63" name="Band63"/>
          <p:cNvSpPr/>
          <p:nvPr/>
        </p:nvSpPr>
        <p:spPr>
          <a:xfrm>
            <a:off x="279400" y="5330000"/>
            <a:ext cx="8585200" cy="9000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2100" b="1" i="0" dirty="0">
                <a:solidFill>
                  <a:srgbClr val="FFFFFF"/>
                </a:solidFill>
              </a:rPr>
              <a:t>PATTERN KNOWLEDGE  —  increasing complexity / consequence  —▶  ANALYSIS</a:t>
            </a:r>
          </a:p>
          <a:p>
            <a:pPr algn="ctr">
              <a:spcBef>
                <a:spcPts val="182"/>
              </a:spcBef>
              <a:buNone/>
            </a:pPr>
            <a:r>
              <a:rPr lang="en-US" sz="1800" b="0" i="1" dirty="0">
                <a:solidFill>
                  <a:srgbClr val="FFFFFF"/>
                </a:solidFill>
              </a:rPr>
              <a:t>“reasonable expectation”  →  “show me”</a:t>
            </a:r>
          </a:p>
        </p:txBody>
      </p:sp>
      <p:sp>
        <p:nvSpPr>
          <p:cNvPr id="64" name="T64"/>
          <p:cNvSpPr txBox="1"/>
          <p:nvPr/>
        </p:nvSpPr>
        <p:spPr>
          <a:xfrm>
            <a:off x="685800" y="6400000"/>
            <a:ext cx="7772400" cy="35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  STRETCH BREAK  —</a:t>
            </a:r>
          </a:p>
        </p:txBody>
      </p:sp>
      <p:sp>
        <p:nvSpPr>
          <p:cNvPr id="100" name="DirLbl"/>
          <p:cNvSpPr txBox="1"/>
          <p:nvPr/>
        </p:nvSpPr>
        <p:spPr>
          <a:xfrm>
            <a:off x="571437" y="1050000"/>
            <a:ext cx="2060000" cy="369600"/>
          </a:xfrm>
          <a:prstGeom prst="rect">
            <a:avLst/>
          </a:prstGeom>
          <a:noFill/>
          <a:ln>
            <a:noFill/>
          </a:ln>
        </p:spPr>
        <p:txBody>
          <a:bodyPr wrap="square" lIns="0" tIns="0" rIns="0" bIns="0" anchor="t">
            <a:normAutofit/>
          </a:bodyPr>
          <a:lstStyle/>
          <a:p>
            <a:pPr algn="l">
              <a:buNone/>
            </a:pPr>
            <a:r>
              <a:rPr lang="en-US" sz="2400" b="1" i="0" dirty="0">
                <a:solidFill>
                  <a:srgbClr val="8E6F3E"/>
                </a:solidFill>
              </a:rPr>
              <a:t>DIRECT</a:t>
            </a:r>
          </a:p>
        </p:txBody>
      </p:sp>
      <p:sp>
        <p:nvSpPr>
          <p:cNvPr id="101" name="DA"/>
          <p:cNvSpPr/>
          <p:nvPr/>
        </p:nvSpPr>
        <p:spPr>
          <a:xfrm>
            <a:off x="689063" y="2238000"/>
            <a:ext cx="721000" cy="66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500" b="1" i="0" dirty="0">
                <a:solidFill>
                  <a:srgbClr val="5C4826"/>
                </a:solidFill>
              </a:rPr>
              <a:t>A</a:t>
            </a:r>
          </a:p>
        </p:txBody>
      </p:sp>
      <p:sp>
        <p:nvSpPr>
          <p:cNvPr id="102" name="DB"/>
          <p:cNvSpPr/>
          <p:nvPr/>
        </p:nvSpPr>
        <p:spPr>
          <a:xfrm>
            <a:off x="2697563" y="15120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03" name="DA0"/>
          <p:cNvCxnSpPr/>
          <p:nvPr/>
        </p:nvCxnSpPr>
        <p:spPr>
          <a:xfrm flipV="1">
            <a:off x="1410063" y="1802400"/>
            <a:ext cx="1287500" cy="765600"/>
          </a:xfrm>
          <a:prstGeom prst="line">
            <a:avLst/>
          </a:prstGeom>
          <a:ln w="44150">
            <a:solidFill>
              <a:srgbClr val="8E6F3E"/>
            </a:solidFill>
            <a:tailEnd type="triangle" w="med" len="med"/>
          </a:ln>
        </p:spPr>
      </p:cxnSp>
      <p:sp>
        <p:nvSpPr>
          <p:cNvPr id="104" name="DC"/>
          <p:cNvSpPr/>
          <p:nvPr/>
        </p:nvSpPr>
        <p:spPr>
          <a:xfrm>
            <a:off x="2697563" y="22776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cxnSp>
        <p:nvCxnSpPr>
          <p:cNvPr id="105" name="DA1"/>
          <p:cNvCxnSpPr/>
          <p:nvPr/>
        </p:nvCxnSpPr>
        <p:spPr>
          <a:xfrm>
            <a:off x="1410063" y="2568000"/>
            <a:ext cx="1287500" cy="0"/>
          </a:xfrm>
          <a:prstGeom prst="line">
            <a:avLst/>
          </a:prstGeom>
          <a:ln w="44150">
            <a:solidFill>
              <a:srgbClr val="8E6F3E"/>
            </a:solidFill>
            <a:tailEnd type="triangle" w="med" len="med"/>
          </a:ln>
        </p:spPr>
      </p:cxnSp>
      <p:sp>
        <p:nvSpPr>
          <p:cNvPr id="106" name="DD"/>
          <p:cNvSpPr/>
          <p:nvPr/>
        </p:nvSpPr>
        <p:spPr>
          <a:xfrm>
            <a:off x="2697563" y="30432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cxnSp>
        <p:nvCxnSpPr>
          <p:cNvPr id="107" name="DA2"/>
          <p:cNvCxnSpPr/>
          <p:nvPr/>
        </p:nvCxnSpPr>
        <p:spPr>
          <a:xfrm>
            <a:off x="1410063" y="2568000"/>
            <a:ext cx="1287500" cy="765600"/>
          </a:xfrm>
          <a:prstGeom prst="line">
            <a:avLst/>
          </a:prstGeom>
          <a:ln w="44150">
            <a:solidFill>
              <a:srgbClr val="8E6F3E"/>
            </a:solidFill>
            <a:tailEnd type="triangle" w="med" len="med"/>
          </a:ln>
        </p:spPr>
      </p:cxnSp>
      <p:sp>
        <p:nvSpPr>
          <p:cNvPr id="108" name="DCap"/>
          <p:cNvSpPr txBox="1"/>
          <p:nvPr/>
        </p:nvSpPr>
        <p:spPr>
          <a:xfrm>
            <a:off x="689063" y="3782400"/>
            <a:ext cx="2987000" cy="343200"/>
          </a:xfrm>
          <a:prstGeom prst="rect">
            <a:avLst/>
          </a:prstGeom>
          <a:noFill/>
          <a:ln>
            <a:noFill/>
          </a:ln>
        </p:spPr>
        <p:txBody>
          <a:bodyPr wrap="square" lIns="0" tIns="0" rIns="0" bIns="0" anchor="t">
            <a:normAutofit lnSpcReduction="10000"/>
          </a:bodyPr>
          <a:lstStyle/>
          <a:p>
            <a:pPr algn="l">
              <a:buNone/>
            </a:pPr>
            <a:r>
              <a:rPr lang="en-US" sz="2400" b="0" i="1" dirty="0">
                <a:solidFill>
                  <a:srgbClr val="555960"/>
                </a:solidFill>
              </a:rPr>
              <a:t>A knows B, C, D</a:t>
            </a:r>
          </a:p>
        </p:txBody>
      </p:sp>
      <p:cxnSp>
        <p:nvCxnSpPr>
          <p:cNvPr id="109" name="Div"/>
          <p:cNvCxnSpPr/>
          <p:nvPr/>
        </p:nvCxnSpPr>
        <p:spPr>
          <a:xfrm>
            <a:off x="4366163" y="1248000"/>
            <a:ext cx="0" cy="2574000"/>
          </a:xfrm>
          <a:prstGeom prst="line">
            <a:avLst/>
          </a:prstGeom>
          <a:ln w="29432">
            <a:solidFill>
              <a:srgbClr val="C9B991"/>
            </a:solidFill>
            <a:prstDash val="dash"/>
          </a:ln>
        </p:spPr>
      </p:cxnSp>
      <p:sp>
        <p:nvSpPr>
          <p:cNvPr id="110" name="EvLbl"/>
          <p:cNvSpPr txBox="1"/>
          <p:nvPr/>
        </p:nvSpPr>
        <p:spPr>
          <a:xfrm>
            <a:off x="4757563" y="1050000"/>
            <a:ext cx="2678000" cy="369600"/>
          </a:xfrm>
          <a:prstGeom prst="rect">
            <a:avLst/>
          </a:prstGeom>
          <a:noFill/>
          <a:ln>
            <a:noFill/>
          </a:ln>
        </p:spPr>
        <p:txBody>
          <a:bodyPr wrap="square" lIns="0" tIns="0" rIns="0" bIns="0" anchor="t">
            <a:normAutofit/>
          </a:bodyPr>
          <a:lstStyle/>
          <a:p>
            <a:pPr algn="l">
              <a:buNone/>
            </a:pPr>
            <a:r>
              <a:rPr lang="en-US" sz="2400" b="1" i="0" dirty="0">
                <a:solidFill>
                  <a:srgbClr val="8E6F3E"/>
                </a:solidFill>
              </a:rPr>
              <a:t>EVENT-BASED</a:t>
            </a:r>
          </a:p>
        </p:txBody>
      </p:sp>
      <p:sp>
        <p:nvSpPr>
          <p:cNvPr id="111" name="EA"/>
          <p:cNvSpPr/>
          <p:nvPr/>
        </p:nvSpPr>
        <p:spPr>
          <a:xfrm>
            <a:off x="4757563" y="2238000"/>
            <a:ext cx="721000" cy="66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500" b="1" i="0" dirty="0">
                <a:solidFill>
                  <a:srgbClr val="5C4826"/>
                </a:solidFill>
              </a:rPr>
              <a:t>A</a:t>
            </a:r>
          </a:p>
        </p:txBody>
      </p:sp>
      <p:sp>
        <p:nvSpPr>
          <p:cNvPr id="112" name="EBus"/>
          <p:cNvSpPr/>
          <p:nvPr/>
        </p:nvSpPr>
        <p:spPr>
          <a:xfrm>
            <a:off x="6045063" y="1446000"/>
            <a:ext cx="391400" cy="2178000"/>
          </a:xfrm>
          <a:prstGeom prst="rect">
            <a:avLst/>
          </a:prstGeom>
          <a:solidFill>
            <a:srgbClr val="8E6F3E"/>
          </a:solidFill>
          <a:ln>
            <a:noFill/>
          </a:ln>
        </p:spPr>
        <p:txBody>
          <a:bodyPr wrap="square" lIns="54864" tIns="27432" rIns="54864" bIns="27432" anchor="ctr">
            <a:normAutofit/>
          </a:bodyPr>
          <a:lstStyle/>
          <a:p>
            <a:endParaRPr/>
          </a:p>
        </p:txBody>
      </p:sp>
      <p:sp>
        <p:nvSpPr>
          <p:cNvPr id="113" name="EBusLbl"/>
          <p:cNvSpPr txBox="1"/>
          <p:nvPr/>
        </p:nvSpPr>
        <p:spPr>
          <a:xfrm rot="-5400000">
            <a:off x="5313763" y="2363400"/>
            <a:ext cx="1854000" cy="343200"/>
          </a:xfrm>
          <a:prstGeom prst="rect">
            <a:avLst/>
          </a:prstGeom>
          <a:noFill/>
          <a:ln>
            <a:noFill/>
          </a:ln>
        </p:spPr>
        <p:txBody>
          <a:bodyPr wrap="square" lIns="0" tIns="0" rIns="0" bIns="0" anchor="t">
            <a:normAutofit lnSpcReduction="10000"/>
          </a:bodyPr>
          <a:lstStyle/>
          <a:p>
            <a:pPr algn="ctr">
              <a:buNone/>
            </a:pPr>
            <a:r>
              <a:rPr lang="en-US" sz="2400" b="1" i="0" dirty="0">
                <a:solidFill>
                  <a:srgbClr val="FFFFFF"/>
                </a:solidFill>
              </a:rPr>
              <a:t>EVENT BUS</a:t>
            </a:r>
          </a:p>
        </p:txBody>
      </p:sp>
      <p:cxnSp>
        <p:nvCxnSpPr>
          <p:cNvPr id="114" name="EAB"/>
          <p:cNvCxnSpPr/>
          <p:nvPr/>
        </p:nvCxnSpPr>
        <p:spPr>
          <a:xfrm>
            <a:off x="5478563" y="2568000"/>
            <a:ext cx="566500" cy="0"/>
          </a:xfrm>
          <a:prstGeom prst="line">
            <a:avLst/>
          </a:prstGeom>
          <a:ln w="44150">
            <a:solidFill>
              <a:srgbClr val="8E6F3E"/>
            </a:solidFill>
            <a:tailEnd type="triangle" w="med" len="med"/>
          </a:ln>
        </p:spPr>
      </p:cxnSp>
      <p:sp>
        <p:nvSpPr>
          <p:cNvPr id="115" name="EB"/>
          <p:cNvSpPr/>
          <p:nvPr/>
        </p:nvSpPr>
        <p:spPr>
          <a:xfrm>
            <a:off x="7332563" y="15120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EA0"/>
          <p:cNvCxnSpPr/>
          <p:nvPr/>
        </p:nvCxnSpPr>
        <p:spPr>
          <a:xfrm flipV="1">
            <a:off x="6436463" y="1802400"/>
            <a:ext cx="896100" cy="765600"/>
          </a:xfrm>
          <a:prstGeom prst="line">
            <a:avLst/>
          </a:prstGeom>
          <a:ln w="44150">
            <a:solidFill>
              <a:srgbClr val="8E6F3E"/>
            </a:solidFill>
            <a:tailEnd type="triangle" w="med" len="med"/>
          </a:ln>
        </p:spPr>
      </p:cxnSp>
      <p:sp>
        <p:nvSpPr>
          <p:cNvPr id="117" name="EC"/>
          <p:cNvSpPr/>
          <p:nvPr/>
        </p:nvSpPr>
        <p:spPr>
          <a:xfrm>
            <a:off x="7332563" y="22776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cxnSp>
        <p:nvCxnSpPr>
          <p:cNvPr id="118" name="EA1"/>
          <p:cNvCxnSpPr/>
          <p:nvPr/>
        </p:nvCxnSpPr>
        <p:spPr>
          <a:xfrm>
            <a:off x="6436463" y="2568000"/>
            <a:ext cx="896100" cy="0"/>
          </a:xfrm>
          <a:prstGeom prst="line">
            <a:avLst/>
          </a:prstGeom>
          <a:ln w="44150">
            <a:solidFill>
              <a:srgbClr val="8E6F3E"/>
            </a:solidFill>
            <a:tailEnd type="triangle" w="med" len="med"/>
          </a:ln>
        </p:spPr>
      </p:cxnSp>
      <p:sp>
        <p:nvSpPr>
          <p:cNvPr id="119" name="ED"/>
          <p:cNvSpPr/>
          <p:nvPr/>
        </p:nvSpPr>
        <p:spPr>
          <a:xfrm>
            <a:off x="7332563" y="30432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cxnSp>
        <p:nvCxnSpPr>
          <p:cNvPr id="120" name="EA2"/>
          <p:cNvCxnSpPr/>
          <p:nvPr/>
        </p:nvCxnSpPr>
        <p:spPr>
          <a:xfrm>
            <a:off x="6436463" y="2568000"/>
            <a:ext cx="896100" cy="765600"/>
          </a:xfrm>
          <a:prstGeom prst="line">
            <a:avLst/>
          </a:prstGeom>
          <a:ln w="44150">
            <a:solidFill>
              <a:srgbClr val="8E6F3E"/>
            </a:solidFill>
            <a:tailEnd type="triangle" w="med" len="med"/>
          </a:ln>
        </p:spPr>
      </p:cxnSp>
      <p:sp>
        <p:nvSpPr>
          <p:cNvPr id="121" name="ECap"/>
          <p:cNvSpPr txBox="1"/>
          <p:nvPr/>
        </p:nvSpPr>
        <p:spPr>
          <a:xfrm>
            <a:off x="4757563" y="3782400"/>
            <a:ext cx="3811000" cy="343200"/>
          </a:xfrm>
          <a:prstGeom prst="rect">
            <a:avLst/>
          </a:prstGeom>
          <a:noFill/>
          <a:ln>
            <a:noFill/>
          </a:ln>
        </p:spPr>
        <p:txBody>
          <a:bodyPr wrap="square" lIns="0" tIns="0" rIns="0" bIns="0" anchor="t">
            <a:normAutofit fontScale="77500" lnSpcReduction="20000"/>
          </a:bodyPr>
          <a:lstStyle/>
          <a:p>
            <a:pPr algn="l">
              <a:buNone/>
            </a:pPr>
            <a:r>
              <a:rPr lang="en-US" sz="2400" b="0" i="1" dirty="0">
                <a:solidFill>
                  <a:srgbClr val="555960"/>
                </a:solidFill>
              </a:rPr>
              <a:t>A knows the event, not the consumers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764"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457236" y="2697600"/>
            <a:ext cx="1798000" cy="812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034836" y="25352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sp>
        <p:nvSpPr>
          <p:cNvPr id="103" name="BUI"/>
          <p:cNvSpPr/>
          <p:nvPr/>
        </p:nvSpPr>
        <p:spPr>
          <a:xfrm>
            <a:off x="3183236" y="1711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0"/>
          <p:cNvCxnSpPr/>
          <p:nvPr/>
        </p:nvCxnSpPr>
        <p:spPr>
          <a:xfrm flipV="1">
            <a:off x="2255236" y="2013200"/>
            <a:ext cx="928000" cy="1090400"/>
          </a:xfrm>
          <a:prstGeom prst="line">
            <a:avLst/>
          </a:prstGeom>
          <a:ln w="49720">
            <a:solidFill>
              <a:srgbClr val="B23B3B"/>
            </a:solidFill>
            <a:prstDash val="dash"/>
            <a:tailEnd type="triangle" w="med" len="med"/>
          </a:ln>
        </p:spPr>
      </p:cxnSp>
      <p:sp>
        <p:nvSpPr>
          <p:cNvPr id="105" name="BADVICE"/>
          <p:cNvSpPr/>
          <p:nvPr/>
        </p:nvSpPr>
        <p:spPr>
          <a:xfrm>
            <a:off x="3183236" y="2813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
          <p:cNvCxnSpPr/>
          <p:nvPr/>
        </p:nvCxnSpPr>
        <p:spPr>
          <a:xfrm>
            <a:off x="2255236" y="3103600"/>
            <a:ext cx="928000" cy="11600"/>
          </a:xfrm>
          <a:prstGeom prst="line">
            <a:avLst/>
          </a:prstGeom>
          <a:ln w="49720">
            <a:solidFill>
              <a:srgbClr val="B23B3B"/>
            </a:solidFill>
            <a:prstDash val="dash"/>
            <a:tailEnd type="triangle" w="med" len="med"/>
          </a:ln>
        </p:spPr>
      </p:cxnSp>
      <p:sp>
        <p:nvSpPr>
          <p:cNvPr id="107" name="BSTORAGE"/>
          <p:cNvSpPr/>
          <p:nvPr/>
        </p:nvSpPr>
        <p:spPr>
          <a:xfrm>
            <a:off x="3183236" y="391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2"/>
          <p:cNvCxnSpPr/>
          <p:nvPr/>
        </p:nvCxnSpPr>
        <p:spPr>
          <a:xfrm>
            <a:off x="2255236" y="3103600"/>
            <a:ext cx="928000" cy="1113600"/>
          </a:xfrm>
          <a:prstGeom prst="line">
            <a:avLst/>
          </a:prstGeom>
          <a:ln w="49720">
            <a:solidFill>
              <a:srgbClr val="B23B3B"/>
            </a:solidFill>
            <a:prstDash val="dash"/>
            <a:tailEnd type="triangle" w="med" len="med"/>
          </a:ln>
        </p:spPr>
      </p:cxnSp>
      <p:sp>
        <p:nvSpPr>
          <p:cNvPr id="109" name="BCap"/>
          <p:cNvSpPr txBox="1"/>
          <p:nvPr/>
        </p:nvSpPr>
        <p:spPr>
          <a:xfrm>
            <a:off x="399236" y="4669600"/>
            <a:ext cx="4176000" cy="3248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667000" y="188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667000" y="304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639000" y="1769600"/>
            <a:ext cx="116000" cy="203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63000" y="1398400"/>
            <a:ext cx="3828000" cy="3016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929000" y="2407600"/>
            <a:ext cx="1856000" cy="87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95000" y="22452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
          <p:cNvCxnSpPr/>
          <p:nvPr/>
        </p:nvCxnSpPr>
        <p:spPr>
          <a:xfrm>
            <a:off x="6001000" y="2187200"/>
            <a:ext cx="638000" cy="336400"/>
          </a:xfrm>
          <a:prstGeom prst="line">
            <a:avLst/>
          </a:prstGeom>
          <a:ln w="49720">
            <a:solidFill>
              <a:srgbClr val="8E6F3E"/>
            </a:solidFill>
            <a:tailEnd type="triangle" w="med" len="med"/>
          </a:ln>
        </p:spPr>
      </p:cxnSp>
      <p:cxnSp>
        <p:nvCxnSpPr>
          <p:cNvPr id="119" name="AA2"/>
          <p:cNvCxnSpPr/>
          <p:nvPr/>
        </p:nvCxnSpPr>
        <p:spPr>
          <a:xfrm flipV="1">
            <a:off x="6001000" y="3161600"/>
            <a:ext cx="638000" cy="185600"/>
          </a:xfrm>
          <a:prstGeom prst="line">
            <a:avLst/>
          </a:prstGeom>
          <a:ln w="49720">
            <a:solidFill>
              <a:srgbClr val="8E6F3E"/>
            </a:solidFill>
            <a:tailEnd type="triangle" w="med" len="med"/>
          </a:ln>
        </p:spPr>
      </p:cxnSp>
      <p:sp>
        <p:nvSpPr>
          <p:cNvPr id="120" name="ACap"/>
          <p:cNvSpPr txBox="1"/>
          <p:nvPr/>
        </p:nvSpPr>
        <p:spPr>
          <a:xfrm>
            <a:off x="4667000" y="4669600"/>
            <a:ext cx="4408000" cy="324800"/>
          </a:xfrm>
          <a:prstGeom prst="rect">
            <a:avLst/>
          </a:prstGeom>
          <a:noFill/>
          <a:ln>
            <a:noFill/>
          </a:ln>
        </p:spPr>
        <p:txBody>
          <a:bodyPr wrap="square" lIns="0" tIns="0" rIns="0" bIns="0" anchor="t">
            <a:normAutofit/>
          </a:bodyPr>
          <a:lstStyle/>
          <a:p>
            <a:pPr algn="l">
              <a:buNone/>
            </a:pPr>
            <a:r>
              <a:rPr lang="en-US" sz="1900" b="0" i="1" dirty="0">
                <a:solidFill>
                  <a:srgbClr val="1F7A4D"/>
                </a:solidFill>
              </a:rPr>
              <a:t>the change stays behind the seam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a:bodyPr>
          <a:lstStyle/>
          <a:p>
            <a:pPr algn="l">
              <a:buNone/>
            </a:pPr>
            <a:r>
              <a:rPr lang="en-US" sz="2000" b="1" i="0" dirty="0">
                <a:solidFill>
                  <a:srgbClr val="8E6F3E"/>
                </a:solidFill>
              </a:rPr>
              <a:t>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720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39500"/>
            <a:ext cx="345600" cy="0"/>
          </a:xfrm>
          <a:prstGeom prst="line">
            <a:avLst/>
          </a:prstGeom>
          <a:ln w="45004">
            <a:solidFill>
              <a:srgbClr val="8E6F3E"/>
            </a:solidFill>
            <a:tailEnd type="triangle" w="med" len="med"/>
          </a:ln>
        </p:spPr>
      </p:cxnSp>
      <p:sp>
        <p:nvSpPr>
          <p:cNvPr id="102" name="BuyInfo"/>
          <p:cNvSpPr/>
          <p:nvPr/>
        </p:nvSpPr>
        <p:spPr>
          <a:xfrm>
            <a:off x="2381600" y="16245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5985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39500"/>
            <a:ext cx="626400" cy="1050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39500"/>
            <a:ext cx="626400" cy="619500"/>
          </a:xfrm>
          <a:prstGeom prst="line">
            <a:avLst/>
          </a:prstGeom>
          <a:ln w="45004">
            <a:solidFill>
              <a:srgbClr val="8E6F3E"/>
            </a:solidFill>
            <a:tailEnd type="triangle" w="med" len="med"/>
          </a:ln>
        </p:spPr>
      </p:cxnSp>
      <p:sp>
        <p:nvSpPr>
          <p:cNvPr id="109" name="CostBox"/>
          <p:cNvSpPr/>
          <p:nvPr/>
        </p:nvSpPr>
        <p:spPr>
          <a:xfrm>
            <a:off x="6842000" y="16560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40500"/>
          </a:xfrm>
          <a:prstGeom prst="line">
            <a:avLst/>
          </a:prstGeom>
          <a:ln w="45004">
            <a:solidFill>
              <a:srgbClr val="8E6F3E"/>
            </a:solidFill>
            <a:tailEnd type="triangle" w="med" len="med"/>
          </a:ln>
        </p:spPr>
      </p:cxnSp>
      <p:cxnSp>
        <p:nvCxnSpPr>
          <p:cNvPr id="111" name="CA1"/>
          <p:cNvCxnSpPr/>
          <p:nvPr/>
        </p:nvCxnSpPr>
        <p:spPr>
          <a:xfrm>
            <a:off x="6086000" y="1950000"/>
            <a:ext cx="756000" cy="31500"/>
          </a:xfrm>
          <a:prstGeom prst="line">
            <a:avLst/>
          </a:prstGeom>
          <a:ln w="45004">
            <a:solidFill>
              <a:srgbClr val="8E6F3E"/>
            </a:solidFill>
            <a:tailEnd type="triangle" w="med" len="med"/>
          </a:ln>
        </p:spPr>
      </p:cxnSp>
      <p:cxnSp>
        <p:nvCxnSpPr>
          <p:cNvPr id="112" name="CA2"/>
          <p:cNvCxnSpPr/>
          <p:nvPr/>
        </p:nvCxnSpPr>
        <p:spPr>
          <a:xfrm flipV="1">
            <a:off x="6086000" y="1981500"/>
            <a:ext cx="756000" cy="5775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0"/>
                                        </p:tgtEl>
                                        <p:attrNameLst>
                                          <p:attrName>style.visibility</p:attrName>
                                        </p:attrNameLst>
                                      </p:cBhvr>
                                      <p:to>
                                        <p:strVal val="visible"/>
                                      </p:to>
                                    </p:set>
                                    <p:animEffect transition="in" filter="fade">
                                      <p:cBhvr>
                                        <p:cTn id="7" dur="400"/>
                                        <p:tgtEl>
                                          <p:spTgt spid="150"/>
                                        </p:tgtEl>
                                      </p:cBhvr>
                                    </p:animEffect>
                                  </p:childTnLst>
                                </p:cTn>
                              </p:par>
                              <p:par>
                                <p:cTn id="8" presetID="10" presetClass="entr" presetSubtype="0" fill="hold" nodeType="with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400"/>
                                        <p:tgtEl>
                                          <p:spTgt spid="151"/>
                                        </p:tgtEl>
                                      </p:cBhvr>
                                    </p:animEffect>
                                  </p:childTnLst>
                                </p:cTn>
                              </p:par>
                              <p:par>
                                <p:cTn id="11" presetID="10" presetClass="entr" presetSubtype="0" fill="hold" nodeType="withEffect">
                                  <p:stCondLst>
                                    <p:cond delay="0"/>
                                  </p:stCondLst>
                                  <p:childTnLst>
                                    <p:set>
                                      <p:cBhvr>
                                        <p:cTn id="12" dur="1" fill="hold">
                                          <p:stCondLst>
                                            <p:cond delay="0"/>
                                          </p:stCondLst>
                                        </p:cTn>
                                        <p:tgtEl>
                                          <p:spTgt spid="152"/>
                                        </p:tgtEl>
                                        <p:attrNameLst>
                                          <p:attrName>style.visibility</p:attrName>
                                        </p:attrNameLst>
                                      </p:cBhvr>
                                      <p:to>
                                        <p:strVal val="visible"/>
                                      </p:to>
                                    </p:set>
                                    <p:animEffect transition="in" filter="fade">
                                      <p:cBhvr>
                                        <p:cTn id="13" dur="400"/>
                                        <p:tgtEl>
                                          <p:spTgt spid="152"/>
                                        </p:tgtEl>
                                      </p:cBhvr>
                                    </p:animEffect>
                                  </p:childTnLst>
                                </p:cTn>
                              </p:par>
                              <p:par>
                                <p:cTn id="14" presetID="10" presetClass="entr" presetSubtype="0" fill="hold" nodeType="withEffect">
                                  <p:stCondLst>
                                    <p:cond delay="0"/>
                                  </p:stCondLst>
                                  <p:childTnLst>
                                    <p:set>
                                      <p:cBhvr>
                                        <p:cTn id="15" dur="1" fill="hold">
                                          <p:stCondLst>
                                            <p:cond delay="0"/>
                                          </p:stCondLst>
                                        </p:cTn>
                                        <p:tgtEl>
                                          <p:spTgt spid="153"/>
                                        </p:tgtEl>
                                        <p:attrNameLst>
                                          <p:attrName>style.visibility</p:attrName>
                                        </p:attrNameLst>
                                      </p:cBhvr>
                                      <p:to>
                                        <p:strVal val="visible"/>
                                      </p:to>
                                    </p:set>
                                    <p:animEffect transition="in" filter="fade">
                                      <p:cBhvr>
                                        <p:cTn id="16" dur="400"/>
                                        <p:tgtEl>
                                          <p:spTgt spid="153"/>
                                        </p:tgtEl>
                                      </p:cBhvr>
                                    </p:animEffect>
                                  </p:childTnLst>
                                </p:cTn>
                              </p:par>
                              <p:par>
                                <p:cTn id="17" presetID="10" presetClass="entr" presetSubtype="0" fill="hold" nodeType="withEffect">
                                  <p:stCondLst>
                                    <p:cond delay="0"/>
                                  </p:stCondLst>
                                  <p:childTnLst>
                                    <p:set>
                                      <p:cBhvr>
                                        <p:cTn id="18" dur="1" fill="hold">
                                          <p:stCondLst>
                                            <p:cond delay="0"/>
                                          </p:stCondLst>
                                        </p:cTn>
                                        <p:tgtEl>
                                          <p:spTgt spid="154"/>
                                        </p:tgtEl>
                                        <p:attrNameLst>
                                          <p:attrName>style.visibility</p:attrName>
                                        </p:attrNameLst>
                                      </p:cBhvr>
                                      <p:to>
                                        <p:strVal val="visible"/>
                                      </p:to>
                                    </p:set>
                                    <p:animEffect transition="in" filter="fade">
                                      <p:cBhvr>
                                        <p:cTn id="19" dur="400"/>
                                        <p:tgtEl>
                                          <p:spTgt spid="154"/>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Band61"/>
          <p:cNvSpPr/>
          <p:nvPr/>
        </p:nvSpPr>
        <p:spPr>
          <a:xfrm>
            <a:off x="279400" y="450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400" b="1" i="0" dirty="0">
                <a:solidFill>
                  <a:srgbClr val="000000"/>
                </a:solidFill>
              </a:rPr>
              <a:t>Sketch the major parts, the boundaries, and the interactions.</a:t>
            </a:r>
          </a:p>
          <a:p>
            <a:pPr algn="l">
              <a:spcBef>
                <a:spcPts val="200"/>
              </a:spcBef>
              <a:buNone/>
            </a:pPr>
            <a:r>
              <a:rPr lang="en-US" sz="2400" b="0" i="0" dirty="0">
                <a:solidFill>
                  <a:srgbClr val="000000"/>
                </a:solidFill>
              </a:rPr>
              <a:t>Produce TWO plausible organizations —</a:t>
            </a:r>
            <a:br>
              <a:rPr lang="en-US" sz="2400" b="0" i="0" dirty="0">
                <a:solidFill>
                  <a:srgbClr val="000000"/>
                </a:solidFill>
              </a:rPr>
            </a:br>
            <a:r>
              <a:rPr lang="en-US" sz="2400" b="0" i="0" dirty="0">
                <a:solidFill>
                  <a:srgbClr val="000000"/>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455000" y="1150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2 s latency</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68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privacy</a:t>
            </a:r>
          </a:p>
        </p:txBody>
      </p:sp>
      <p:cxnSp>
        <p:nvCxnSpPr>
          <p:cNvPr id="104" name="OblA1"/>
          <p:cNvCxnSpPr/>
          <p:nvPr/>
        </p:nvCxnSpPr>
        <p:spPr>
          <a:xfrm>
            <a:off x="2920000" y="2200000"/>
            <a:ext cx="205000" cy="450000"/>
          </a:xfrm>
          <a:prstGeom prst="line">
            <a:avLst/>
          </a:prstGeom>
          <a:ln w="42862">
            <a:solidFill>
              <a:srgbClr val="C9B991"/>
            </a:solidFill>
            <a:tailEnd type="triangle" w="med" len="med"/>
          </a:ln>
        </p:spPr>
      </p:cxnSp>
      <p:sp>
        <p:nvSpPr>
          <p:cNvPr id="105" name="Obl2"/>
          <p:cNvSpPr/>
          <p:nvPr/>
        </p:nvSpPr>
        <p:spPr>
          <a:xfrm>
            <a:off x="623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expected change</a:t>
            </a:r>
          </a:p>
        </p:txBody>
      </p:sp>
      <p:cxnSp>
        <p:nvCxnSpPr>
          <p:cNvPr id="106" name="OblA2"/>
          <p:cNvCxnSpPr/>
          <p:nvPr/>
        </p:nvCxnSpPr>
        <p:spPr>
          <a:xfrm flipH="1">
            <a:off x="6025000" y="2200000"/>
            <a:ext cx="205000" cy="450000"/>
          </a:xfrm>
          <a:prstGeom prst="line">
            <a:avLst/>
          </a:prstGeom>
          <a:ln w="42862">
            <a:solidFill>
              <a:srgbClr val="C9B991"/>
            </a:solidFill>
            <a:tailEnd type="triangle" w="med" len="med"/>
          </a:ln>
        </p:spPr>
      </p:cxnSp>
      <p:sp>
        <p:nvSpPr>
          <p:cNvPr id="107" name="Obl3"/>
          <p:cNvSpPr/>
          <p:nvPr/>
        </p:nvSpPr>
        <p:spPr>
          <a:xfrm>
            <a:off x="10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availability</a:t>
            </a:r>
          </a:p>
        </p:txBody>
      </p:sp>
      <p:cxnSp>
        <p:nvCxnSpPr>
          <p:cNvPr id="108" name="OblA3"/>
          <p:cNvCxnSpPr/>
          <p:nvPr/>
        </p:nvCxnSpPr>
        <p:spPr>
          <a:xfrm flipV="1">
            <a:off x="3350000" y="3550000"/>
            <a:ext cx="450000" cy="250000"/>
          </a:xfrm>
          <a:prstGeom prst="line">
            <a:avLst/>
          </a:prstGeom>
          <a:ln w="42862">
            <a:solidFill>
              <a:srgbClr val="C9B991"/>
            </a:solidFill>
            <a:tailEnd type="triangle" w="med" len="med"/>
          </a:ln>
        </p:spPr>
      </p:cxnSp>
      <p:sp>
        <p:nvSpPr>
          <p:cNvPr id="109" name="Obl4"/>
          <p:cNvSpPr/>
          <p:nvPr/>
        </p:nvSpPr>
        <p:spPr>
          <a:xfrm>
            <a:off x="58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consistency</a:t>
            </a:r>
          </a:p>
        </p:txBody>
      </p:sp>
      <p:cxnSp>
        <p:nvCxnSpPr>
          <p:cNvPr id="110" name="OblA4"/>
          <p:cNvCxnSpPr/>
          <p:nvPr/>
        </p:nvCxnSpPr>
        <p:spPr>
          <a:xfrm flipH="1" flipV="1">
            <a:off x="5350000" y="3550000"/>
            <a:ext cx="530000" cy="250000"/>
          </a:xfrm>
          <a:prstGeom prst="line">
            <a:avLst/>
          </a:prstGeom>
          <a:ln w="42862">
            <a:solidFill>
              <a:srgbClr val="C9B991"/>
            </a:solidFill>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xml:space="preserve">·  </a:t>
            </a:r>
            <a:r>
              <a:rPr lang="en-US" sz="2200" b="0" i="0" dirty="0">
                <a:solidFill>
                  <a:srgbClr val="000000"/>
                </a:solidFill>
              </a:rPr>
              <a:t>Which candidates violate specification?</a:t>
            </a:r>
          </a:p>
          <a:p>
            <a:pPr algn="l">
              <a:spcBef>
                <a:spcPts val="150"/>
              </a:spcBef>
              <a:buNone/>
            </a:pPr>
            <a:r>
              <a:rPr lang="en-US" sz="2200" b="1" i="0" dirty="0">
                <a:solidFill>
                  <a:srgbClr val="8E6F3E"/>
                </a:solidFill>
              </a:rPr>
              <a:t xml:space="preserve">·  </a:t>
            </a:r>
            <a:r>
              <a:rPr lang="en-US" sz="2200" b="0" i="0" dirty="0">
                <a:solidFill>
                  <a:srgbClr val="000000"/>
                </a:solidFill>
              </a:rPr>
              <a:t>Is anything Pareto-dominated?</a:t>
            </a:r>
          </a:p>
          <a:p>
            <a:pPr algn="l">
              <a:spcBef>
                <a:spcPts val="150"/>
              </a:spcBef>
              <a:buNone/>
            </a:pPr>
            <a:r>
              <a:rPr lang="en-US" sz="2200" b="1" i="0" dirty="0">
                <a:solidFill>
                  <a:srgbClr val="8E6F3E"/>
                </a:solidFill>
              </a:rPr>
              <a:t xml:space="preserve">·  </a:t>
            </a:r>
            <a:r>
              <a:rPr lang="en-US" sz="2200" b="0" i="0" dirty="0">
                <a:solidFill>
                  <a:srgbClr val="000000"/>
                </a:solidFill>
              </a:rPr>
              <a:t>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What architectural model would help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par>
                                <p:cTn id="25" presetID="10" presetClass="entr" presetSubtype="0" fill="hold" nodeType="withEffect">
                                  <p:stCondLst>
                                    <p:cond delay="0"/>
                                  </p:stCondLst>
                                  <p:childTnLst>
                                    <p:set>
                                      <p:cBhvr>
                                        <p:cTn id="26" dur="1" fill="hold">
                                          <p:stCondLst>
                                            <p:cond delay="0"/>
                                          </p:stCondLst>
                                        </p:cTn>
                                        <p:tgtEl>
                                          <p:spTgt spid="107"/>
                                        </p:tgtEl>
                                        <p:attrNameLst>
                                          <p:attrName>style.visibility</p:attrName>
                                        </p:attrNameLst>
                                      </p:cBhvr>
                                      <p:to>
                                        <p:strVal val="visible"/>
                                      </p:to>
                                    </p:set>
                                    <p:animEffect transition="in" filter="fade">
                                      <p:cBhvr>
                                        <p:cTn id="27" dur="400"/>
                                        <p:tgtEl>
                                          <p:spTgt spid="10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par>
                                <p:cTn id="33" presetID="10" presetClass="entr" presetSubtype="0" fill="hold" nodeType="withEffect">
                                  <p:stCondLst>
                                    <p:cond delay="0"/>
                                  </p:stCondLst>
                                  <p:childTnLst>
                                    <p:set>
                                      <p:cBhvr>
                                        <p:cTn id="34" dur="1" fill="hold">
                                          <p:stCondLst>
                                            <p:cond delay="0"/>
                                          </p:stCondLst>
                                        </p:cTn>
                                        <p:tgtEl>
                                          <p:spTgt spid="109"/>
                                        </p:tgtEl>
                                        <p:attrNameLst>
                                          <p:attrName>style.visibility</p:attrName>
                                        </p:attrNameLst>
                                      </p:cBhvr>
                                      <p:to>
                                        <p:strVal val="visible"/>
                                      </p:to>
                                    </p:set>
                                    <p:animEffect transition="in" filter="fade">
                                      <p:cBhvr>
                                        <p:cTn id="35" dur="400"/>
                                        <p:tgtEl>
                                          <p:spTgt spid="109"/>
                                        </p:tgtEl>
                                      </p:cBhvr>
                                    </p:animEffect>
                                  </p:childTnLst>
                                </p:cTn>
                              </p:par>
                              <p:par>
                                <p:cTn id="36" presetID="10" presetClass="entr" presetSubtype="0" fill="hold" nodeType="withEffect">
                                  <p:stCondLst>
                                    <p:cond delay="0"/>
                                  </p:stCondLst>
                                  <p:childTnLst>
                                    <p:set>
                                      <p:cBhvr>
                                        <p:cTn id="37" dur="1" fill="hold">
                                          <p:stCondLst>
                                            <p:cond delay="0"/>
                                          </p:stCondLst>
                                        </p:cTn>
                                        <p:tgtEl>
                                          <p:spTgt spid="110"/>
                                        </p:tgtEl>
                                        <p:attrNameLst>
                                          <p:attrName>style.visibility</p:attrName>
                                        </p:attrNameLst>
                                      </p:cBhvr>
                                      <p:to>
                                        <p:strVal val="visible"/>
                                      </p:to>
                                    </p:set>
                                    <p:animEffect transition="in" filter="fade">
                                      <p:cBhvr>
                                        <p:cTn id="38" dur="400"/>
                                        <p:tgtEl>
                                          <p:spTgt spid="1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par>
                                <p:cTn id="44" presetID="10" presetClass="entr" presetSubtype="0" fill="hold" nodeType="with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400"/>
                                        <p:tgtEl>
                                          <p:spTgt spid="112"/>
                                        </p:tgtEl>
                                      </p:cBhvr>
                                    </p:animEffect>
                                  </p:childTnLst>
                                </p:cTn>
                              </p:par>
                              <p:par>
                                <p:cTn id="47" presetID="10" presetClass="entr" presetSubtype="0" fill="hold" nodeType="with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4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14"/>
                                        </p:tgtEl>
                                        <p:attrNameLst>
                                          <p:attrName>style.visibility</p:attrName>
                                        </p:attrNameLst>
                                      </p:cBhvr>
                                      <p:to>
                                        <p:strVal val="visible"/>
                                      </p:to>
                                    </p:set>
                                    <p:animEffect transition="in" filter="fade">
                                      <p:cBhvr>
                                        <p:cTn id="52" dur="400"/>
                                        <p:tgtEl>
                                          <p:spTgt spid="114"/>
                                        </p:tgtEl>
                                      </p:cBhvr>
                                    </p:animEffect>
                                  </p:childTnLst>
                                </p:cTn>
                              </p:par>
                              <p:par>
                                <p:cTn id="53" presetID="10" presetClass="entr" presetSubtype="0" fill="hold" nodeType="withEffect">
                                  <p:stCondLst>
                                    <p:cond delay="0"/>
                                  </p:stCondLst>
                                  <p:childTnLst>
                                    <p:set>
                                      <p:cBhvr>
                                        <p:cTn id="54" dur="1" fill="hold">
                                          <p:stCondLst>
                                            <p:cond delay="0"/>
                                          </p:stCondLst>
                                        </p:cTn>
                                        <p:tgtEl>
                                          <p:spTgt spid="115"/>
                                        </p:tgtEl>
                                        <p:attrNameLst>
                                          <p:attrName>style.visibility</p:attrName>
                                        </p:attrNameLst>
                                      </p:cBhvr>
                                      <p:to>
                                        <p:strVal val="visible"/>
                                      </p:to>
                                    </p:set>
                                    <p:animEffect transition="in" filter="fade">
                                      <p:cBhvr>
                                        <p:cTn id="55" dur="400"/>
                                        <p:tgtEl>
                                          <p:spTgt spid="115"/>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7"/>
                                        </p:tgtEl>
                                        <p:attrNameLst>
                                          <p:attrName>style.visibility</p:attrName>
                                        </p:attrNameLst>
                                      </p:cBhvr>
                                      <p:to>
                                        <p:strVal val="visible"/>
                                      </p:to>
                                    </p:set>
                                    <p:animEffect transition="in" filter="fade">
                                      <p:cBhvr>
                                        <p:cTn id="63" dur="400"/>
                                        <p:tgtEl>
                                          <p:spTgt spid="117"/>
                                        </p:tgtEl>
                                      </p:cBhvr>
                                    </p:animEffect>
                                  </p:childTnLst>
                                </p:cTn>
                              </p:par>
                              <p:par>
                                <p:cTn id="64" presetID="10" presetClass="entr" presetSubtype="0" fill="hold" nodeType="withEffect">
                                  <p:stCondLst>
                                    <p:cond delay="0"/>
                                  </p:stCondLst>
                                  <p:childTnLst>
                                    <p:set>
                                      <p:cBhvr>
                                        <p:cTn id="65" dur="1" fill="hold">
                                          <p:stCondLst>
                                            <p:cond delay="0"/>
                                          </p:stCondLst>
                                        </p:cTn>
                                        <p:tgtEl>
                                          <p:spTgt spid="118"/>
                                        </p:tgtEl>
                                        <p:attrNameLst>
                                          <p:attrName>style.visibility</p:attrName>
                                        </p:attrNameLst>
                                      </p:cBhvr>
                                      <p:to>
                                        <p:strVal val="visible"/>
                                      </p:to>
                                    </p:set>
                                    <p:animEffect transition="in" filter="fade">
                                      <p:cBhvr>
                                        <p:cTn id="66" dur="400"/>
                                        <p:tgtEl>
                                          <p:spTgt spid="11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
                                        </p:tgtEl>
                                        <p:attrNameLst>
                                          <p:attrName>style.visibility</p:attrName>
                                        </p:attrNameLst>
                                      </p:cBhvr>
                                      <p:to>
                                        <p:strVal val="visible"/>
                                      </p:to>
                                    </p:set>
                                    <p:animEffect transition="in" filter="fade">
                                      <p:cBhvr>
                                        <p:cTn id="71" dur="400"/>
                                        <p:tgtEl>
                                          <p:spTgt spid="2"/>
                                        </p:tgtEl>
                                      </p:cBhvr>
                                    </p:animEffect>
                                  </p:childTnLst>
                                </p:cTn>
                              </p:par>
                              <p:par>
                                <p:cTn id="72" presetID="10" presetClass="entr" presetSubtype="0" fill="hold" nodeType="withEffect">
                                  <p:stCondLst>
                                    <p:cond delay="0"/>
                                  </p:stCondLst>
                                  <p:childTnLst>
                                    <p:set>
                                      <p:cBhvr>
                                        <p:cTn id="73" dur="1" fill="hold">
                                          <p:stCondLst>
                                            <p:cond delay="0"/>
                                          </p:stCondLst>
                                        </p:cTn>
                                        <p:tgtEl>
                                          <p:spTgt spid="5"/>
                                        </p:tgtEl>
                                        <p:attrNameLst>
                                          <p:attrName>style.visibility</p:attrName>
                                        </p:attrNameLst>
                                      </p:cBhvr>
                                      <p:to>
                                        <p:strVal val="visible"/>
                                      </p:to>
                                    </p:set>
                                    <p:animEffect transition="in" filter="fade">
                                      <p:cBhvr>
                                        <p:cTn id="74" dur="400"/>
                                        <p:tgtEl>
                                          <p:spTgt spid="5"/>
                                        </p:tgtEl>
                                      </p:cBhvr>
                                    </p:animEffect>
                                  </p:childTnLst>
                                </p:cTn>
                              </p:par>
                              <p:par>
                                <p:cTn id="75" presetID="10" presetClass="entr" presetSubtype="0" fill="hold" nodeType="withEffect">
                                  <p:stCondLst>
                                    <p:cond delay="0"/>
                                  </p:stCondLst>
                                  <p:childTnLst>
                                    <p:set>
                                      <p:cBhvr>
                                        <p:cTn id="76" dur="1" fill="hold">
                                          <p:stCondLst>
                                            <p:cond delay="0"/>
                                          </p:stCondLst>
                                        </p:cTn>
                                        <p:tgtEl>
                                          <p:spTgt spid="300"/>
                                        </p:tgtEl>
                                        <p:attrNameLst>
                                          <p:attrName>style.visibility</p:attrName>
                                        </p:attrNameLst>
                                      </p:cBhvr>
                                      <p:to>
                                        <p:strVal val="visible"/>
                                      </p:to>
                                    </p:set>
                                    <p:animEffect transition="in" filter="fade">
                                      <p:cBhvr>
                                        <p:cTn id="77" dur="400"/>
                                        <p:tgtEl>
                                          <p:spTgt spid="300"/>
                                        </p:tgtEl>
                                      </p:cBhvr>
                                    </p:animEffect>
                                  </p:childTnLst>
                                </p:cTn>
                              </p:par>
                              <p:par>
                                <p:cTn id="78" presetID="10" presetClass="entr" presetSubtype="0" fill="hold" nodeType="withEffect">
                                  <p:stCondLst>
                                    <p:cond delay="0"/>
                                  </p:stCondLst>
                                  <p:childTnLst>
                                    <p:set>
                                      <p:cBhvr>
                                        <p:cTn id="79" dur="1" fill="hold">
                                          <p:stCondLst>
                                            <p:cond delay="0"/>
                                          </p:stCondLst>
                                        </p:cTn>
                                        <p:tgtEl>
                                          <p:spTgt spid="301"/>
                                        </p:tgtEl>
                                        <p:attrNameLst>
                                          <p:attrName>style.visibility</p:attrName>
                                        </p:attrNameLst>
                                      </p:cBhvr>
                                      <p:to>
                                        <p:strVal val="visible"/>
                                      </p:to>
                                    </p:set>
                                    <p:animEffect transition="in" filter="fade">
                                      <p:cBhvr>
                                        <p:cTn id="80"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How should one acceptable system</a:t>
            </a:r>
            <a:br>
              <a:rPr lang="en-US" sz="2800"/>
            </a:br>
            <a:r>
              <a:rPr lang="en-US" sz="2800" b="0" i="0" dirty="0">
                <a:solidFill>
                  <a:srgbClr val="555960"/>
                </a:solidFill>
              </a:rPr>
              <a:t>be organized?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8525</TotalTime>
  <Words>8514</Words>
  <Application>Microsoft Macintosh PowerPoint</Application>
  <PresentationFormat>On-screen Show (4:3)</PresentationFormat>
  <Paragraphs>915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Choosing among acceptable organizations</vt:lpstr>
      <vt:lpstr>Two architectures. Which one is better?</vt:lpstr>
      <vt:lpstr>The decision matrix says Architecture A wins, 3.95 to 3.70</vt:lpstr>
      <vt:lpstr>First eliminate unacceptable and dominated alternatives</vt:lpstr>
      <vt:lpstr>A real tradeoff requires judgment</vt:lpstr>
      <vt:lpstr>Sometimes the right decision is to “buy” more information</vt:lpstr>
      <vt:lpstr>Patterns capture recurring architectural choices</vt:lpstr>
      <vt:lpstr>Patterns: Pre-canned alternatives and expectations</vt:lpstr>
      <vt:lpstr>Layers: constrain which parts may depend on which</vt:lpstr>
      <vt:lpstr>MVC: separate model, view, and interaction logic</vt:lpstr>
      <vt:lpstr>Repository: organize around shared authoritative state</vt:lpstr>
      <vt:lpstr>Control dependencies across boundaries</vt:lpstr>
      <vt:lpstr>Events: producers need not know their consumers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345</cp:revision>
  <dcterms:created xsi:type="dcterms:W3CDTF">2020-02-21T23:00:33Z</dcterms:created>
  <dcterms:modified xsi:type="dcterms:W3CDTF">2026-09-11T20:48:14Z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