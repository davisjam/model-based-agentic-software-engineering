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2.xml" ContentType="application/vnd.openxmlformats-officedocument.presentationml.slide+xml"/>
  <Override PartName="/ppt/notesSlides/notesSlide32.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2.xml" ContentType="application/vnd.openxmlformats-officedocument.presentationml.notesSlide+xml"/>
  <Override PartName="/ppt/notesSlides/notesSlide17.xml" ContentType="application/vnd.openxmlformats-officedocument.presentationml.notesSlide+xml"/>
  <Override PartName="/ppt/notesSlides/notesSlide10.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15.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517" r:id="rId2"/>
    <p:sldId id="738" r:id="rId3"/>
    <p:sldId id="760" r:id="rId38"/>
    <p:sldId id="751" r:id="rId17"/>
    <p:sldId id="744" r:id="rId6"/>
    <p:sldId id="651" r:id="rId4"/>
    <p:sldId id="746" r:id="rId9"/>
    <p:sldId id="747" r:id="rId12"/>
    <p:sldId id="748" r:id="rId13"/>
    <p:sldId id="749" r:id="rId14"/>
    <p:sldId id="750" r:id="rId15"/>
    <p:sldId id="701" r:id="rId23"/>
    <p:sldId id="752" r:id="rId18"/>
    <p:sldId id="731" r:id="rId11"/>
    <p:sldId id="712" r:id="rId19"/>
    <p:sldId id="713" r:id="rId20"/>
    <p:sldId id="735" r:id="rId21"/>
    <p:sldId id="753" r:id="rId22"/>
    <p:sldId id="720" r:id="rId16"/>
    <p:sldId id="754" r:id="rId24"/>
    <p:sldId id="755" r:id="rId25"/>
    <p:sldId id="638" r:id="rId26"/>
    <p:sldId id="756" r:id="rId27"/>
    <p:sldId id="740" r:id="rId31"/>
    <p:sldId id="759" r:id="rId28"/>
    <p:sldId id="757" r:id="rId29"/>
    <p:sldId id="739" r:id="rId30"/>
    <p:sldId id="741"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66" autoAdjust="0"/>
    <p:restoredTop sz="56137"/>
  </p:normalViewPr>
  <p:slideViewPr>
    <p:cSldViewPr snapToGrid="0" snapToObjects="1">
      <p:cViewPr varScale="1">
        <p:scale>
          <a:sx n="107" d="100"/>
          <a:sy n="107" d="100"/>
        </p:scale>
        <p:origin x="3048"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3" Type="http://schemas.openxmlformats.org/officeDocument/2006/relationships/slide" Target="slides/slide2.xml"/><Relationship Id="rId38"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on slide 3, after the problem that motivates it.</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last click is the point.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whole trick. Each view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Layers constrain dependency direction; mmap shows the rule of thumb deliberately broken for profit.</a:t>
            </a:r>
          </a:p>
          <a:p>
            <a:endParaRPr dirty="0"/>
          </a:p>
          <a:p>
            <a:r>
              <a:rPr dirty="0"/>
              <a:t>- The pattern: each layer may depend only downward. The prior: substitution and change-isolation get easier; strictness costs indirection.</a:t>
            </a:r>
          </a:p>
          <a:p>
            <a:endParaRPr dirty="0"/>
          </a:p>
          <a:p>
            <a:r>
              <a:rPr dirty="0"/>
              <a:t>- mmap is not a bug or laziness — it is a deliberate crossing that buys something real: file-backed data participates in virtual memory; pages fault in on demand.</a:t>
            </a:r>
          </a:p>
          <a:p>
            <a:endParaRPr dirty="0"/>
          </a:p>
          <a:p>
            <a:r>
              <a:rPr dirty="0"/>
              <a:t>- That is precisely why 'follow the layered pattern' is a rule of thumb, not a law: the mature judgment is knowing what the rule buys and when crossing it buys more.</a:t>
            </a:r>
          </a:p>
          <a:p>
            <a:endParaRPr dirty="0"/>
          </a:p>
          <a:p>
            <a:r>
              <a:rPr dirty="0"/>
              <a:t>=====</a:t>
            </a:r>
          </a:p>
          <a:p>
            <a:r>
              <a:rPr dirty="0"/>
              <a:t>Layers: organize the system so each part depends only on the layer beneath it. The prior is strong — you can replace the infrastructure without rewriting the domain, understand one stratum at a time, contain change below an interface.</a:t>
            </a:r>
          </a:p>
          <a:p>
            <a:endParaRPr dirty="0"/>
          </a:p>
          <a:p>
            <a:r>
              <a:rPr dirty="0"/>
              <a:t>And then real systems do this. mmap. The application is supposed to reach files through the file API, layer by layer. mmap instead wires a file straight into the process's virtual memory: touch a page, the fault handler pulls it from storage.</a:t>
            </a:r>
          </a:p>
          <a:p>
            <a:endParaRPr dirty="0"/>
          </a:p>
          <a:p>
            <a:r>
              <a:rPr dirty="0"/>
              <a:t>That is a layer crossing, done on purpose, by people who understood layering perfectly well. And it buys something the clean route cannot: file-backed data participating in the paging machinery itself — no copy through the API, demand paging for free.</a:t>
            </a:r>
          </a:p>
          <a:p>
            <a:endParaRPr dirty="0"/>
          </a:p>
          <a:p>
            <a:r>
              <a:rPr dirty="0"/>
              <a:t>This is what I mean by rule of thumb, not law. The pattern earns its keep as a default; the exceptions are engineered, priced, and paid for. Follow the layered pattern — until you can name exactly what crossing it buys you.</a:t>
            </a:r>
          </a:p>
          <a:p>
            <a:endParaRPr dirty="0"/>
          </a:p>
          <a:p>
            <a:r>
              <a:rPr dirty="0"/>
              <a:t>Layers came from operating systems. The next pattern grew up in interactive applications.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Three callout clicks. Let students read the verdict line first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Second, dominance. Compare D with A: on every property we care about, D is no better, and on at least one it is strictly worse. Choosing D over A could never be right, under any weighting of the properties. So D goes — and notice we never needed a weight or a score to say so.</a:t>
            </a:r>
          </a:p>
          <a:p>
            <a:endParaRPr dirty="0"/>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Put latency on one axis, cost on the other — better in each direction.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latency, security, change, failure are decided here, not discovered later.</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sound structural. The fourth is why the structure matters: we do not draw boxes for their own sake, we draw them because the drawing determines what the system can promise.</a:t>
            </a:r>
          </a:p>
          <a:p>
            <a:endParaRPr dirty="0"/>
          </a:p>
          <a:p>
            <a:r>
              <a:rPr dirty="0"/>
              <a:t>Of these, the boundary question is where the consequences concentrate. Let us look at it properly.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Patterns matter twice: they supply candidate organizations, and priors about the consequences. Priors are evidence, not guarantees.</a:t>
            </a:r>
          </a:p>
          <a:p>
            <a:endParaRPr dirty="0"/>
          </a:p>
          <a:p>
            <a:r>
              <a:rPr dirty="0"/>
              <a:t>- Two outputs of the diagram: an organization to try, and an expectation — tends to make X easier and Y harder.</a:t>
            </a:r>
          </a:p>
          <a:p>
            <a:endParaRPr dirty="0"/>
          </a:p>
          <a:p>
            <a:r>
              <a:rPr dirty="0"/>
              <a:t>- Resolve the tension with the matrix slide EXPLICITLY — students who were paying attention should be asking. The matrix invented numbers and called them proof. A prior is a legitimate input to judgment; the dishonesty was the arithmetic costume, not the use of experience.</a:t>
            </a:r>
          </a:p>
          <a:p>
            <a:endParaRPr dirty="0"/>
          </a:p>
          <a:p>
            <a:r>
              <a:rPr dirty="0"/>
              <a:t>- The dial: small, familiar, low-consequence — take the conventional organization and proceed; an educated guess, or an AI agent, recognizes it fine. As scale, novelty, interaction, or consequence rises, the canned tradeoff degrades into a hypothesis to investigate.</a:t>
            </a:r>
          </a:p>
          <a:p>
            <a:endParaRPr dirty="0"/>
          </a:p>
          <a:p>
            <a:r>
              <a:rPr dirty="0"/>
              <a:t>=====</a:t>
            </a:r>
          </a:p>
          <a:p>
            <a:r>
              <a:rPr dirty="0"/>
              <a:t>A pattern is compressed experience. Enough engineers hit a recurring problem, some organizations kept working, and the field remembered two things: the organization itself, and what tended to happen to the systems organized that way.</a:t>
            </a:r>
          </a:p>
          <a:p>
            <a:endParaRPr dirty="0"/>
          </a:p>
          <a:p>
            <a:r>
              <a:rPr dirty="0"/>
              <a:t>So patterns feed our decision framework twice. They put candidates on the table you would not have invented from scratch. And they hand each candidate a prior: this shape tends to make X easier and Y harder.</a:t>
            </a:r>
          </a:p>
          <a:p>
            <a:endParaRPr dirty="0"/>
          </a:p>
          <a:p>
            <a:r>
              <a:rPr dirty="0"/>
              <a:t>Now, some of you should be objecting. Twenty minutes ago I mocked a spreadsheet for exactly this — deciding from opinions. Here is the difference. The matrix took judgments, dressed them as arithmetic, and claimed the number proved the choice. A rule of thumb claims nothing of the sort — it is experience, offered as evidence, with its uncertainty showing. Rules of thumb are legitimate inputs to judgment. They are not analytical proof.</a:t>
            </a:r>
          </a:p>
          <a:p>
            <a:endParaRPr dirty="0"/>
          </a:p>
          <a:p>
            <a:r>
              <a:rPr dirty="0"/>
              <a:t>So the discipline: for a small, familiar, low-stakes system, take the conventional organization and get on with it — an educated guess is fine, and frankly an AI agent will recognize the convention too. But as scale, novelty, interaction, or consequence grows, the pattern's promise stops being a conclusion and becomes a hypothesis you must test.</a:t>
            </a:r>
          </a:p>
          <a:p>
            <a:endParaRPr dirty="0"/>
          </a:p>
          <a:p>
            <a:r>
              <a:rPr dirty="0"/>
              <a:t>Let us meet four of these patterns — and for each one, I want you to hear both the prior and the question it does not answer. Start with the oldest: layers.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MVC separates model, view, and interaction logic; the prior and its price in three sentences each.</a:t>
            </a:r>
          </a:p>
          <a:p>
            <a:endParaRPr dirty="0"/>
          </a:p>
          <a:p>
            <a:r>
              <a:rPr dirty="0"/>
              <a:t>- Prior: multiple presentations of one model, and independent evolution of each corner.</a:t>
            </a:r>
          </a:p>
          <a:p>
            <a:endParaRPr dirty="0"/>
          </a:p>
          <a:p>
            <a:r>
              <a:rPr dirty="0"/>
              <a:t>- Price: coordination and indirection — a simple edit now takes a tour.</a:t>
            </a:r>
          </a:p>
          <a:p>
            <a:endParaRPr dirty="0"/>
          </a:p>
          <a:p>
            <a:r>
              <a:rPr dirty="0"/>
              <a:t>- Engineering question the prior does not answer: does THIS system need multiple presentations, and can we afford the indirection where the interaction is hot?</a:t>
            </a:r>
          </a:p>
          <a:p>
            <a:endParaRPr dirty="0"/>
          </a:p>
          <a:p>
            <a:r>
              <a:rPr dirty="0"/>
              <a:t>=====</a:t>
            </a:r>
          </a:p>
          <a:p>
            <a:r>
              <a:rPr dirty="0"/>
              <a:t>Model-view-controller. Keep what the system knows — the model — apart from what the user sees — the view — apart from the logic that turns input into change — the controller.</a:t>
            </a:r>
          </a:p>
          <a:p>
            <a:endParaRPr dirty="0"/>
          </a:p>
          <a:p>
            <a:r>
              <a:rPr dirty="0"/>
              <a:t>The expectation it carries: you can hang several views off one model, and the three corners evolve independently. The cost it carries: indirection — a one-line change of behavior can become a three-part negotiation.</a:t>
            </a:r>
          </a:p>
          <a:p>
            <a:endParaRPr dirty="0"/>
          </a:p>
          <a:p>
            <a:r>
              <a:rPr dirty="0"/>
              <a:t>And the question the pattern cannot answer for you: does this system actually need multiple presentations? Will it, within its lifetime? If not, you are paying the coordination tax for a benefit that never arrives.</a:t>
            </a:r>
          </a:p>
          <a:p>
            <a:endParaRPr dirty="0"/>
          </a:p>
          <a:p>
            <a:r>
              <a:rPr dirty="0"/>
              <a:t>MVC separates computation from presentation. Sometimes the organizing pressure is different — everyone needs the same state.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Repository organizes around shared authoritative state; consistency bought with central coupling.</a:t>
            </a:r>
          </a:p>
          <a:p>
            <a:endParaRPr dirty="0"/>
          </a:p>
          <a:p>
            <a:r>
              <a:rPr dirty="0"/>
              <a:t>- Prior: one authoritative representation simplifies consistency and integration — everyone reads the same truth.</a:t>
            </a:r>
          </a:p>
          <a:p>
            <a:endParaRPr dirty="0"/>
          </a:p>
          <a:p>
            <a:r>
              <a:rPr dirty="0"/>
              <a:t>- Price: everyone depends on the center — schema coupling, potential bottleneck, shared fate.</a:t>
            </a:r>
          </a:p>
          <a:p>
            <a:endParaRPr dirty="0"/>
          </a:p>
          <a:p>
            <a:r>
              <a:rPr dirty="0"/>
              <a:t>- Engineering question: under OUR load and OUR change pattern, is the center a bottleneck — in performance or in evolution?</a:t>
            </a:r>
          </a:p>
          <a:p>
            <a:endParaRPr dirty="0"/>
          </a:p>
          <a:p>
            <a:r>
              <a:rPr dirty="0"/>
              <a:t>=====</a:t>
            </a:r>
          </a:p>
          <a:p>
            <a:r>
              <a:rPr dirty="0"/>
              <a:t>The repository. Put the authoritative state in the middle; the tools — input, analysis, reporting, optimization — all read and write the shared representation.</a:t>
            </a:r>
          </a:p>
          <a:p>
            <a:endParaRPr dirty="0"/>
          </a:p>
          <a:p>
            <a:r>
              <a:rPr dirty="0"/>
              <a:t>What experience says it buys: consistency and integration become almost free. No pairwise translations between tools; one truth.</a:t>
            </a:r>
          </a:p>
          <a:p>
            <a:endParaRPr dirty="0"/>
          </a:p>
          <a:p>
            <a:r>
              <a:rPr dirty="0"/>
              <a:t>What experience says it costs: the center is now everyone's dependency. Change the shared schema and every tool feels it. Load the store and every tool waits. Consistency up; central coupling up — the slide says both because both are the pattern.</a:t>
            </a:r>
          </a:p>
          <a:p>
            <a:endParaRPr dirty="0"/>
          </a:p>
          <a:p>
            <a:r>
              <a:rPr dirty="0"/>
              <a:t>The question the prior leaves open: for our workload and our rate of schema change, is the center a convenience or a chokepoint?</a:t>
            </a:r>
          </a:p>
          <a:p>
            <a:endParaRPr dirty="0"/>
          </a:p>
          <a:p>
            <a:r>
              <a:rPr dirty="0"/>
              <a:t>Both patterns so far accepted the dependencies and arranged them. The next one is more aggressive: it turns a dependency around.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Ports and adapters: deliberately arrange the direction of dependency so infrastructure choices do not become domain dependencies.</a:t>
            </a:r>
          </a:p>
          <a:p>
            <a:endParaRPr dirty="0"/>
          </a:p>
          <a:p>
            <a:r>
              <a:rPr dirty="0"/>
              <a:t>- The shift to flag aloud: we are no longer merely grouping responsibilities — we are choosing which way the arrows point.</a:t>
            </a:r>
          </a:p>
          <a:p>
            <a:endParaRPr dirty="0"/>
          </a:p>
          <a:p>
            <a:r>
              <a:rPr dirty="0"/>
              <a:t>- Before: the domain imports the database; the vendor is now a domain dependency. After: the domain defines the interface; the adapter implements it; the arrow points INTO the domain.</a:t>
            </a:r>
          </a:p>
          <a:p>
            <a:endParaRPr dirty="0"/>
          </a:p>
          <a:p>
            <a:r>
              <a:rPr dirty="0"/>
              <a:t>- Names in the wild: ports-and-adapters, hexagonal, clean architecture. Same move.</a:t>
            </a:r>
          </a:p>
          <a:p>
            <a:endParaRPr dirty="0"/>
          </a:p>
          <a:p>
            <a:r>
              <a:rPr dirty="0"/>
              <a:t>- Engineering question: is the indirection worth it for the changes THIS system actually expects?</a:t>
            </a:r>
          </a:p>
          <a:p>
            <a:endParaRPr dirty="0"/>
          </a:p>
          <a:p>
            <a:r>
              <a:rPr dirty="0"/>
              <a:t>=====</a:t>
            </a:r>
          </a:p>
          <a:p>
            <a:r>
              <a:rPr dirty="0"/>
              <a:t>So far we have grouped responsibilities. This pattern does something sharper: it chooses the direction of a dependency.</a:t>
            </a:r>
          </a:p>
          <a:p>
            <a:endParaRPr dirty="0"/>
          </a:p>
          <a:p>
            <a:r>
              <a:rPr dirty="0"/>
              <a:t>Before: the UI calls the domain, the domain calls the database. Innocent — until you notice the domain logic now depends on a storage vendor. Swap the database and your business rules are in the diff.</a:t>
            </a:r>
          </a:p>
          <a:p>
            <a:endParaRPr dirty="0"/>
          </a:p>
          <a:p>
            <a:r>
              <a:rPr dirty="0"/>
              <a:t>After: the domain declares the interface it needs — a port. The database code implements it — an adapter. Same runtime calls, but the compile-time arrow now points into the domain. Infrastructure orbits the domain instead of anchoring it.</a:t>
            </a:r>
          </a:p>
          <a:p>
            <a:endParaRPr dirty="0"/>
          </a:p>
          <a:p>
            <a:r>
              <a:rPr dirty="0"/>
              <a:t>You will meet this as ports-and-adapters, hexagonal architecture, clean architecture — one move, three names. And the prior does not answer: will the changes this system actually faces ever cross that seam? Indirection is a premium; you pay it against expected change.</a:t>
            </a:r>
          </a:p>
          <a:p>
            <a:endParaRPr dirty="0"/>
          </a:p>
          <a:p>
            <a:r>
              <a:rPr dirty="0"/>
              <a:t>One pattern left — and this one reorganizes who is allowed to know about whom at runtime.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Events decouple producers from consumers; then close the section: as complexity and consequence rise, priors hand off to analysis. STRETCH BREAK after this slide.</a:t>
            </a:r>
          </a:p>
          <a:p>
            <a:endParaRPr dirty="0"/>
          </a:p>
          <a:p>
            <a:r>
              <a:rPr dirty="0"/>
              <a:t>- Contrast on-slide: direct — A knows B, C, D; event-based — A knows the event, not the consumers.</a:t>
            </a:r>
          </a:p>
          <a:p>
            <a:endParaRPr dirty="0"/>
          </a:p>
          <a:p>
            <a:r>
              <a:rPr dirty="0"/>
              <a:t>- Rule of thumb: adding consumers gets easier. Engineering question, read it with weight: does THIS event architecture satisfy our ordering, latency, reliability, and observability obligations?</a:t>
            </a:r>
          </a:p>
          <a:p>
            <a:endParaRPr dirty="0"/>
          </a:p>
          <a:p>
            <a:r>
              <a:rPr dirty="0"/>
              <a:t>- The bottom band is the section's synthesis: pattern knowledge shades into analysis as complexity and consequence increase — from 'reasonable expectation' to 'show me'.</a:t>
            </a:r>
          </a:p>
          <a:p>
            <a:endParaRPr dirty="0"/>
          </a:p>
          <a:p>
            <a:r>
              <a:rPr dirty="0"/>
              <a:t>- Call the STRETCH BREAK, 2 minutes, before Section 4.</a:t>
            </a:r>
          </a:p>
          <a:p>
            <a:endParaRPr dirty="0"/>
          </a:p>
          <a:p>
            <a:r>
              <a:rPr dirty="0"/>
              <a:t>=====</a:t>
            </a:r>
          </a:p>
          <a:p>
            <a:r>
              <a:rPr dirty="0"/>
              <a:t>Events. In the direct organization, A calls B, C, and D — so A knows all three, and adding a fourth consumer means editing A. In the event organization, A announces what happened; whoever cares subscribes. A knows the event, not the audience.</a:t>
            </a:r>
          </a:p>
          <a:p>
            <a:endParaRPr dirty="0"/>
          </a:p>
          <a:p>
            <a:r>
              <a:rPr dirty="0"/>
              <a:t>The rule of thumb: when you expect the audience to grow, events make growth cheap. And now apply the discipline from the top of this section. Fine — but does this event architecture, the one you are about to build, satisfy our ordering obligations? Our latency budget? What happens to a lost event, and how would we even see it? The pattern promises none of that. Those are analysis questions.</a:t>
            </a:r>
          </a:p>
          <a:p>
            <a:endParaRPr dirty="0"/>
          </a:p>
          <a:p>
            <a:r>
              <a:rPr dirty="0"/>
              <a:t>And that is the section in one line — read the band: pattern knowledge on the left, analysis on the right, and what moves you rightward is complexity and consequence. 'Reasonable expectation' gives way to 'show me.'</a:t>
            </a:r>
          </a:p>
          <a:p>
            <a:endParaRPr dirty="0"/>
          </a:p>
          <a:p>
            <a:r>
              <a:rPr dirty="0"/>
              <a:t>Stand up, stretch, two minutes. When we sit back down: what can 'show me' actually deliver before the system exists?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decision method to the accumulated knowledge that supplies candidates.</a:t>
            </a:r>
          </a:p>
          <a:p>
            <a:endParaRPr dirty="0"/>
          </a:p>
          <a:p>
            <a:r>
              <a:rPr dirty="0"/>
              <a:t>- Do not pause for discussion.</a:t>
            </a:r>
          </a:p>
          <a:p>
            <a:endParaRPr dirty="0"/>
          </a:p>
          <a:p>
            <a:r>
              <a:rPr dirty="0"/>
              <a:t>=====</a:t>
            </a:r>
          </a:p>
          <a:p>
            <a:r>
              <a:rPr dirty="0"/>
              <a:t>Section three. Patterns — the field's accumulated engineering experience about how systems can be organized. Not just shapes to imitate: each one arrives carrying expectations about what it buys and what it costs.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guess. Real evidence; maximum betting.</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delta stays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change stays behind the seam.</a:t>
            </a:r>
          </a:p>
          <a:p>
            <a:endParaRPr dirty="0"/>
          </a:p>
          <a:p>
            <a:r>
              <a:rPr dirty="0"/>
              <a:t>Be precise about the rung we are standing on. The model establishes a structural fact: no dependency crosses the boundary. That is a guarantee about the graph — and it buys strong qualitative confidence about the change, provided the graph is faithful to the code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sets a latency floor, and decomposition is a candidate change you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critical path A to B to F, 120 ms. Everything off the path is latency-irrelevant.</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That is not an implementation detail; that is a floor the organization itself imposes. No amount of clever coding beats the sum of the path.</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yesterday's spectrum: a number, from a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specification excerpt aloud once: two-second latency, privacy, the expected change, availability, consistency.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test from slide 5?);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If your second candidate is a strawman, you have done the exercise wrong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Historically, the buy-evidence box was rationed — most architectural uncertainty was resolved by seniority and a strong opinion, because evidence cost too much.</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choosing still takes a preference, a stake, and a person who owns the outcome. The betting is what you can now buy down.</a:t>
            </a:r>
          </a:p>
          <a:p>
            <a:endParaRPr dirty="0"/>
          </a:p>
          <a:p>
            <a:r>
              <a:rPr dirty="0"/>
              <a:t>That is the full toolkit. Time to use all of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slide 3,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Pick up yesterday's acceptable-realizations argument and deliver the definition of architecture orally.</a:t>
            </a:r>
          </a:p>
          <a:p>
            <a:endParaRPr dirty="0"/>
          </a:p>
          <a:p>
            <a:r>
              <a:rPr dirty="0"/>
              <a:t>- The figure is yesterday's model extended; students should recognize it instantly. Walk it briskly until the selection ring.</a:t>
            </a:r>
          </a:p>
          <a:p>
            <a:endParaRPr dirty="0"/>
          </a:p>
          <a:p>
            <a:r>
              <a:rPr dirty="0"/>
              <a:t>- DEFINITION (deliver orally, exact phrasing): Architecture describes the consequential organization of the system: its major parts, their responsibilities, their interfaces, and the rules governing their interaction.</a:t>
            </a:r>
          </a:p>
          <a:p>
            <a:endParaRPr dirty="0"/>
          </a:p>
          <a:p>
            <a:r>
              <a:rPr dirty="0"/>
              <a:t>- Lean on 'consequential' — architecture is not every organizational fact, only the ones that matter. It echoes 'consequential obligations' from yesterday on purpose.</a:t>
            </a:r>
          </a:p>
          <a:p>
            <a:endParaRPr dirty="0"/>
          </a:p>
          <a:p>
            <a:r>
              <a:rPr dirty="0"/>
              <a:t>=====</a:t>
            </a:r>
          </a:p>
          <a:p>
            <a:r>
              <a:rPr dirty="0"/>
              <a:t>This is yesterday's picture. Requirements told us what should be true; the specification made the consequential obligations explicit.</a:t>
            </a:r>
          </a:p>
          <a:p>
            <a:endParaRPr dirty="0"/>
          </a:p>
          <a:p>
            <a:r>
              <a:rPr dirty="0"/>
              <a:t>ANIMATE</a:t>
            </a:r>
          </a:p>
          <a:p>
            <a:endParaRPr dirty="0"/>
          </a:p>
          <a:p>
            <a:r>
              <a:rPr dirty="0"/>
              <a:t>And it did two things at once: it constrained what matters, and it deliberately left degrees of freedom open.</a:t>
            </a:r>
          </a:p>
          <a:p>
            <a:endParaRPr dirty="0"/>
          </a:p>
          <a:p>
            <a:r>
              <a:rPr dirty="0"/>
              <a:t>ANIMATE</a:t>
            </a:r>
          </a:p>
          <a:p>
            <a:endParaRPr dirty="0"/>
          </a:p>
          <a:p>
            <a:r>
              <a:rPr dirty="0"/>
              <a:t>So several genuinely different systems — A, B, C — all satisfy every obligation.</a:t>
            </a:r>
          </a:p>
          <a:p>
            <a:endParaRPr dirty="0"/>
          </a:p>
          <a:p>
            <a:r>
              <a:rPr dirty="0"/>
              <a:t>ANIMATE</a:t>
            </a:r>
          </a:p>
          <a:p>
            <a:endParaRPr dirty="0"/>
          </a:p>
          <a:p>
            <a:r>
              <a:rPr dirty="0"/>
              <a:t>And some, like D, do not. The specification drew a boundary, not a point.</a:t>
            </a:r>
          </a:p>
          <a:p>
            <a:endParaRPr dirty="0"/>
          </a:p>
          <a:p>
            <a:r>
              <a:rPr dirty="0"/>
              <a:t>ANIMATE</a:t>
            </a:r>
          </a:p>
          <a:p>
            <a:endParaRPr dirty="0"/>
          </a:p>
          <a:p>
            <a:r>
              <a:rPr dirty="0"/>
              <a:t>Today we pick one of the acceptable systems. And the moment we do, yesterday's question flips: not 'is this system acceptable?' but 'how should this system be organized?'</a:t>
            </a:r>
          </a:p>
          <a:p>
            <a:endParaRPr dirty="0"/>
          </a:p>
          <a:p>
            <a:r>
              <a:rPr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dirty="0"/>
          </a:p>
          <a:p>
            <a:r>
              <a:rPr dirty="0"/>
              <a:t>That definition compresses into four questions, and the four questions are today's map.</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Relationships xmlns="http://schemas.openxmlformats.org/package/2006/relationships"><Relationship Id="rId3"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4.xml"/><Relationship Id="rId4" Type="http://schemas.openxmlformats.org/officeDocument/2006/relationships/image" Target="../media/image10.svg"/><Relationship Id="rId5"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3"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3" Type="http://schemas.openxmlformats.org/officeDocument/2006/relationships/image" Target="../media/image11.emf"/><Relationship Id="rId1" Type="http://schemas.openxmlformats.org/officeDocument/2006/relationships/slideLayout" Target="../slideLayouts/slideLayout4.xml"/><Relationship Id="rId4" Type="http://schemas.openxmlformats.org/officeDocument/2006/relationships/image" Target="../media/image12.emf"/><Relationship Id="rId5" Type="http://schemas.openxmlformats.org/officeDocument/2006/relationships/notesSlide" Target="../notesSlides/notesSlide27.xml"/></Relationships>
</file>

<file path=ppt/slides/_rels/slide28.xml.rels><?xml version="1.0" encoding="UTF-8"?><Relationships xmlns="http://schemas.openxmlformats.org/package/2006/relationships"><Relationship Id="rId3" Type="http://schemas.openxmlformats.org/officeDocument/2006/relationships/image" Target="../media/image13.jpeg"/><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 Id="rId6"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400" b="0" i="0" dirty="0">
                <a:solidFill>
                  <a:srgbClr val="000000"/>
                </a:solidFill>
              </a:rPr>
              <a:t xml:space="preserve">Yesterday we kept these separate. We have to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0" name="StateCard"/>
          <p:cNvSpPr/>
          <p:nvPr/>
        </p:nvSpPr>
        <p:spPr>
          <a:xfrm>
            <a:off x="685800" y="1300000"/>
            <a:ext cx="2500000" cy="13000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1800" b="1" i="0" dirty="0">
                <a:solidFill>
                  <a:srgbClr val="8E6F3E"/>
                </a:solidFill>
              </a:rPr>
              <a:t xml:space="preserve">STATE VIEW</a:t>
            </a:r>
          </a:p>
          <a:p>
            <a:pPr algn="ctr">
              <a:spcBef>
                <a:spcPts val="150"/>
              </a:spcBef>
              <a:buNone/>
            </a:pPr>
            <a:r>
              <a:rPr lang="en-US" sz="2000" b="0" i="0" dirty="0">
                <a:solidFill>
                  <a:srgbClr val="000000"/>
                </a:solidFill>
              </a:rPr>
              <a:t xml:space="preserve">asleep  →  awake</a:t>
            </a:r>
          </a:p>
        </p:txBody>
      </p:sp>
      <p:sp>
        <p:nvSpPr>
          <p:cNvPr id="61" name="ActivityCard"/>
          <p:cNvSpPr/>
          <p:nvPr/>
        </p:nvSpPr>
        <p:spPr>
          <a:xfrm>
            <a:off x="5958200" y="1300000"/>
            <a:ext cx="2500000" cy="13000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1800" b="1" i="0" dirty="0">
                <a:solidFill>
                  <a:srgbClr val="8E6F3E"/>
                </a:solidFill>
              </a:rPr>
              <a:t xml:space="preserve">ACTIVITY</a:t>
            </a:r>
          </a:p>
          <a:p>
            <a:pPr algn="ctr">
              <a:spcBef>
                <a:spcPts val="150"/>
              </a:spcBef>
              <a:buNone/>
            </a:pPr>
            <a:r>
              <a:rPr lang="en-US" sz="2000" b="0" i="0" dirty="0">
                <a:solidFill>
                  <a:srgbClr val="000000"/>
                </a:solidFill>
              </a:rPr>
              <a:t xml:space="preserve">collect  →  classify</a:t>
            </a:r>
          </a:p>
        </p:txBody>
      </p:sp>
      <p:sp>
        <p:nvSpPr>
          <p:cNvPr id="62" name="SchemaCard"/>
          <p:cNvSpPr/>
          <p:nvPr/>
        </p:nvSpPr>
        <p:spPr>
          <a:xfrm>
            <a:off x="685800" y="4700000"/>
            <a:ext cx="2500000" cy="13000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1800" b="1" i="0" dirty="0">
                <a:solidFill>
                  <a:srgbClr val="8E6F3E"/>
                </a:solidFill>
              </a:rPr>
              <a:t xml:space="preserve">SCHEMA</a:t>
            </a:r>
          </a:p>
          <a:p>
            <a:pPr algn="ctr">
              <a:spcBef>
                <a:spcPts val="150"/>
              </a:spcBef>
              <a:buNone/>
            </a:pPr>
            <a:r>
              <a:rPr lang="en-US" sz="1800" b="0" i="0" dirty="0">
                <a:solidFill>
                  <a:srgbClr val="000000"/>
                </a:solidFill>
              </a:rPr>
              <a:t xml:space="preserve">Night Summary</a:t>
            </a:r>
          </a:p>
          <a:p>
            <a:pPr algn="ctr">
              <a:spcBef>
                <a:spcPts val="100"/>
              </a:spcBef>
              <a:buNone/>
            </a:pPr>
            <a:r>
              <a:rPr lang="en-US" sz="1800" b="0" i="0" dirty="0">
                <a:solidFill>
                  <a:srgbClr val="000000"/>
                </a:solidFill>
              </a:rPr>
              <a:t xml:space="preserve">Advice</a:t>
            </a:r>
          </a:p>
        </p:txBody>
      </p:sp>
      <p:sp>
        <p:nvSpPr>
          <p:cNvPr id="63" name="TimingCard"/>
          <p:cNvSpPr/>
          <p:nvPr/>
        </p:nvSpPr>
        <p:spPr>
          <a:xfrm>
            <a:off x="5958200" y="4700000"/>
            <a:ext cx="2500000" cy="13000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1800" b="1" i="0" dirty="0">
                <a:solidFill>
                  <a:srgbClr val="8E6F3E"/>
                </a:solidFill>
              </a:rPr>
              <a:t xml:space="preserve">TIMING / OTHER</a:t>
            </a:r>
          </a:p>
          <a:p>
            <a:pPr algn="ctr">
              <a:spcBef>
                <a:spcPts val="150"/>
              </a:spcBef>
              <a:buNone/>
            </a:pPr>
            <a:r>
              <a:rPr lang="en-US" sz="1700" b="0" i="0" dirty="0">
                <a:solidFill>
                  <a:srgbClr val="000000"/>
                </a:solidFill>
              </a:rPr>
              <a:t xml:space="preserve">≤ 60 seconds</a:t>
            </a:r>
          </a:p>
          <a:p>
            <a:pPr algn="ctr">
              <a:spcBef>
                <a:spcPts val="100"/>
              </a:spcBef>
              <a:buNone/>
            </a:pPr>
            <a:r>
              <a:rPr lang="en-US" sz="1700" b="0" i="0" dirty="0">
                <a:solidFill>
                  <a:srgbClr val="000000"/>
                </a:solidFill>
              </a:rPr>
              <a:t xml:space="preserve">privacy · 7 nights</a:t>
            </a:r>
          </a:p>
        </p:txBody>
      </p:sp>
      <p:cxnSp>
        <p:nvCxnSpPr>
          <p:cNvPr id="64" name="Arr64"/>
          <p:cNvCxnSpPr/>
          <p:nvPr/>
        </p:nvCxnSpPr>
        <p:spPr>
          <a:xfrm>
            <a:off x="3300000" y="2700000"/>
            <a:ext cx="650000" cy="550000"/>
          </a:xfrm>
          <a:prstGeom prst="line">
            <a:avLst/>
          </a:prstGeom>
          <a:ln w="28575">
            <a:solidFill>
              <a:srgbClr val="8E6F3E"/>
            </a:solidFill>
            <a:tailEnd type="triangle" w="med" len="med"/>
          </a:ln>
        </p:spPr>
      </p:cxnSp>
      <p:cxnSp>
        <p:nvCxnSpPr>
          <p:cNvPr id="65" name="Arr65"/>
          <p:cNvCxnSpPr/>
          <p:nvPr/>
        </p:nvCxnSpPr>
        <p:spPr>
          <a:xfrm flipH="1">
            <a:off x="5194000" y="2700000"/>
            <a:ext cx="650000" cy="550000"/>
          </a:xfrm>
          <a:prstGeom prst="line">
            <a:avLst/>
          </a:prstGeom>
          <a:ln w="28575">
            <a:solidFill>
              <a:srgbClr val="8E6F3E"/>
            </a:solidFill>
            <a:tailEnd type="triangle" w="med" len="med"/>
          </a:ln>
        </p:spPr>
      </p:cxnSp>
      <p:cxnSp>
        <p:nvCxnSpPr>
          <p:cNvPr id="66" name="Arr66"/>
          <p:cNvCxnSpPr/>
          <p:nvPr/>
        </p:nvCxnSpPr>
        <p:spPr>
          <a:xfrm flipV="1">
            <a:off x="3300000" y="4300000"/>
            <a:ext cx="650000" cy="550000"/>
          </a:xfrm>
          <a:prstGeom prst="line">
            <a:avLst/>
          </a:prstGeom>
          <a:ln w="28575">
            <a:solidFill>
              <a:srgbClr val="8E6F3E"/>
            </a:solidFill>
            <a:tailEnd type="triangle" w="med" len="med"/>
          </a:ln>
        </p:spPr>
      </p:cxnSp>
      <p:cxnSp>
        <p:nvCxnSpPr>
          <p:cNvPr id="67" name="Arr67"/>
          <p:cNvCxnSpPr/>
          <p:nvPr/>
        </p:nvCxnSpPr>
        <p:spPr>
          <a:xfrm flipH="1" flipV="1">
            <a:off x="5194000" y="4300000"/>
            <a:ext cx="650000" cy="550000"/>
          </a:xfrm>
          <a:prstGeom prst="line">
            <a:avLst/>
          </a:prstGeom>
          <a:ln w="28575">
            <a:solidFill>
              <a:srgbClr val="8E6F3E"/>
            </a:solidFill>
            <a:tailEnd type="triangle" w="med" len="med"/>
          </a:ln>
        </p:spPr>
      </p:cxnSp>
      <p:sp>
        <p:nvSpPr>
          <p:cNvPr id="68" name="OneMachine"/>
          <p:cNvSpPr/>
          <p:nvPr/>
        </p:nvSpPr>
        <p:spPr>
          <a:xfrm>
            <a:off x="3172000" y="3250000"/>
            <a:ext cx="2800000" cy="105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 xml:space="preserve">ONE MACHINE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400"/>
                                        <p:tgtEl>
                                          <p:spTgt spid="6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68"/>
                                        </p:tgtEl>
                                        <p:attrNameLst>
                                          <p:attrName>style.visibility</p:attrName>
                                        </p:attrNameLst>
                                      </p:cBhvr>
                                      <p:to>
                                        <p:strVal val="visible"/>
                                      </p:to>
                                    </p:set>
                                    <p:animEffect transition="in" filter="fade">
                                      <p:cBhvr>
                                        <p:cTn id="41"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 xml:space="preserve">Choosing among 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Architecture is decision-making</a:t>
            </a:r>
            <a:br>
              <a:rPr lang="en-US" sz="2800"/>
            </a:br>
            <a:r>
              <a:rPr lang="en-US" sz="2800" b="0" i="0" dirty="0">
                <a:solidFill>
                  <a:srgbClr val="555960"/>
                </a:solidFill>
              </a:rPr>
              <a:t xml:space="preserve">under tradeoffs.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3600000"/>
            <a:ext cx="8585200" cy="700000"/>
          </a:xfrm>
          <a:prstGeom prst="rect">
            <a:avLst/>
          </a:prstGeom>
          <a:solidFill>
            <a:srgbClr val="F5F1E8"/>
          </a:solidFill>
          <a:ln>
            <a:noFill/>
          </a:ln>
        </p:spPr>
        <p:txBody>
          <a:bodyPr wrap="square" lIns="109728" tIns="82296" rIns="109728" bIns="82296" anchor="ctr">
            <a:normAutofit/>
          </a:bodyPr>
          <a:lstStyle/>
          <a:p>
            <a:pPr algn="ctr">
              <a:buNone/>
            </a:pPr>
            <a:r>
              <a:rPr lang="en-US" sz="1500" b="1" i="0" dirty="0">
                <a:solidFill>
                  <a:srgbClr val="8E6F3E"/>
                </a:solidFill>
              </a:rPr>
              <a:t xml:space="preserve">CHANGE TOGETHER? · FAIL TOGETHER? · SCALE TOGETHER? · CONSISTENT TOGETHER? · SECURE TOGETHER? · OWNED TOGETHER?</a:t>
            </a:r>
          </a:p>
        </p:txBody>
      </p:sp>
      <p:sp>
        <p:nvSpPr>
          <p:cNvPr id="62" name="T62"/>
          <p:cNvSpPr txBox="1"/>
          <p:nvPr/>
        </p:nvSpPr>
        <p:spPr>
          <a:xfrm>
            <a:off x="685800" y="4520000"/>
            <a:ext cx="7772400" cy="420000"/>
          </a:xfrm>
          <a:prstGeom prst="rect">
            <a:avLst/>
          </a:prstGeom>
          <a:noFill/>
          <a:ln>
            <a:noFill/>
          </a:ln>
        </p:spPr>
        <p:txBody>
          <a:bodyPr wrap="square" lIns="0" tIns="0" rIns="0" bIns="0" anchor="t">
            <a:normAutofit/>
          </a:bodyPr>
          <a:lstStyle/>
          <a:p>
            <a:pPr algn="ctr">
              <a:buNone/>
            </a:pPr>
            <a:r>
              <a:rPr lang="en-US" sz="2200" b="0" i="1" dirty="0">
                <a:solidFill>
                  <a:srgbClr val="000000"/>
                </a:solidFill>
              </a:rPr>
              <a:t xml:space="preserve">Architecture allocates coupling; it does not eliminate it.</a:t>
            </a:r>
          </a:p>
        </p:txBody>
      </p:sp>
      <p:sp>
        <p:nvSpPr>
          <p:cNvPr id="63" name="Band63"/>
          <p:cNvSpPr/>
          <p:nvPr/>
        </p:nvSpPr>
        <p:spPr>
          <a:xfrm>
            <a:off x="279400" y="5200000"/>
            <a:ext cx="8585200" cy="1100000"/>
          </a:xfrm>
          <a:prstGeom prst="rect">
            <a:avLst/>
          </a:prstGeom>
          <a:solidFill>
            <a:srgbClr val="8E6F3E"/>
          </a:solidFill>
          <a:ln>
            <a:noFill/>
          </a:ln>
        </p:spPr>
        <p:txBody>
          <a:bodyPr wrap="square" lIns="109728" tIns="82296" rIns="109728" bIns="82296" anchor="ctr">
            <a:normAutofit/>
          </a:bodyPr>
          <a:lstStyle/>
          <a:p>
            <a:pPr algn="ctr">
              <a:buNone/>
            </a:pPr>
            <a:r>
              <a:rPr lang="en-US" sz="1800" b="1" i="0" dirty="0">
                <a:solidFill>
                  <a:srgbClr val="FFFFFF"/>
                </a:solidFill>
              </a:rPr>
              <a:t xml:space="preserve">Where should we draw boundaries so the interactions and changes we expect are easy, while the interactions and changes we do not want are difficult?</a:t>
            </a:r>
          </a:p>
        </p:txBody>
      </p:sp>
      <p:sp>
        <p:nvSpPr>
          <p:cNvPr id="100" name="OrgALbl"/>
          <p:cNvSpPr txBox="1"/>
          <p:nvPr/>
        </p:nvSpPr>
        <p:spPr>
          <a:xfrm>
            <a:off x="750000" y="1200000"/>
            <a:ext cx="3200000"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 xml:space="preserve">ORGANIZATION A</a:t>
            </a:r>
          </a:p>
        </p:txBody>
      </p:sp>
      <p:sp>
        <p:nvSpPr>
          <p:cNvPr id="101" name="OrgA0"/>
          <p:cNvSpPr/>
          <p:nvPr/>
        </p:nvSpPr>
        <p:spPr>
          <a:xfrm>
            <a:off x="1550000" y="1580000"/>
            <a:ext cx="1600000" cy="4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0" i="0" dirty="0">
                <a:solidFill>
                  <a:srgbClr val="5C4826"/>
                </a:solidFill>
              </a:rPr>
              <a:t xml:space="preserve">collect</a:t>
            </a:r>
          </a:p>
        </p:txBody>
      </p:sp>
      <p:sp>
        <p:nvSpPr>
          <p:cNvPr id="102" name="OrgA1"/>
          <p:cNvSpPr/>
          <p:nvPr/>
        </p:nvSpPr>
        <p:spPr>
          <a:xfrm>
            <a:off x="1550000" y="2000000"/>
            <a:ext cx="1600000" cy="4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0" i="0" dirty="0">
                <a:solidFill>
                  <a:srgbClr val="5C4826"/>
                </a:solidFill>
              </a:rPr>
              <a:t xml:space="preserve">classify</a:t>
            </a:r>
          </a:p>
        </p:txBody>
      </p:sp>
      <p:sp>
        <p:nvSpPr>
          <p:cNvPr id="103" name="OrgA2"/>
          <p:cNvSpPr/>
          <p:nvPr/>
        </p:nvSpPr>
        <p:spPr>
          <a:xfrm>
            <a:off x="1550000" y="2420000"/>
            <a:ext cx="1600000" cy="4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0" i="0" dirty="0">
                <a:solidFill>
                  <a:srgbClr val="5C4826"/>
                </a:solidFill>
              </a:rPr>
              <a:t xml:space="preserve">summarize</a:t>
            </a:r>
          </a:p>
        </p:txBody>
      </p:sp>
      <p:sp>
        <p:nvSpPr>
          <p:cNvPr id="104" name="OrgA3"/>
          <p:cNvSpPr/>
          <p:nvPr/>
        </p:nvSpPr>
        <p:spPr>
          <a:xfrm>
            <a:off x="1550000" y="2840000"/>
            <a:ext cx="1600000" cy="4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0" i="0" dirty="0">
                <a:solidFill>
                  <a:srgbClr val="5C4826"/>
                </a:solidFill>
              </a:rPr>
              <a:t xml:space="preserve">advise</a:t>
            </a:r>
          </a:p>
        </p:txBody>
      </p:sp>
      <p:sp>
        <p:nvSpPr>
          <p:cNvPr id="105" name="OrgAOuter"/>
          <p:cNvSpPr/>
          <p:nvPr/>
        </p:nvSpPr>
        <p:spPr>
          <a:xfrm>
            <a:off x="1550000" y="1580000"/>
            <a:ext cx="1600000" cy="1680000"/>
          </a:xfrm>
          <a:prstGeom prst="rect">
            <a:avLst/>
          </a:prstGeom>
          <a:noFill/>
          <a:ln w="25400">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350000"/>
            <a:ext cx="0" cy="1900000"/>
          </a:xfrm>
          <a:prstGeom prst="line">
            <a:avLst/>
          </a:prstGeom>
          <a:ln w="12700">
            <a:solidFill>
              <a:srgbClr val="C9B991"/>
            </a:solidFill>
            <a:prstDash val="dash"/>
          </a:ln>
        </p:spPr>
      </p:cxnSp>
      <p:sp>
        <p:nvSpPr>
          <p:cNvPr id="107" name="OrgBLbl"/>
          <p:cNvSpPr txBox="1"/>
          <p:nvPr/>
        </p:nvSpPr>
        <p:spPr>
          <a:xfrm>
            <a:off x="5200000" y="1200000"/>
            <a:ext cx="3200000"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 xml:space="preserve">ORGANIZATION B</a:t>
            </a:r>
          </a:p>
        </p:txBody>
      </p:sp>
      <p:sp>
        <p:nvSpPr>
          <p:cNvPr id="108" name="OrgB1"/>
          <p:cNvSpPr/>
          <p:nvPr/>
        </p:nvSpPr>
        <p:spPr>
          <a:xfrm>
            <a:off x="5350000" y="1580000"/>
            <a:ext cx="135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0" i="0" dirty="0">
                <a:solidFill>
                  <a:srgbClr val="5C4826"/>
                </a:solidFill>
              </a:rPr>
              <a:t xml:space="preserve">collect · store</a:t>
            </a:r>
          </a:p>
        </p:txBody>
      </p:sp>
      <p:sp>
        <p:nvSpPr>
          <p:cNvPr id="109" name="OrgB2"/>
          <p:cNvSpPr/>
          <p:nvPr/>
        </p:nvSpPr>
        <p:spPr>
          <a:xfrm>
            <a:off x="6950000" y="1580000"/>
            <a:ext cx="135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0" i="0" dirty="0">
                <a:solidFill>
                  <a:srgbClr val="5C4826"/>
                </a:solidFill>
              </a:rPr>
              <a:t xml:space="preserve">model · advise</a:t>
            </a:r>
          </a:p>
        </p:txBody>
      </p:sp>
      <p:sp>
        <p:nvSpPr>
          <p:cNvPr id="110" name="OrgBShare"/>
          <p:cNvSpPr/>
          <p:nvPr/>
        </p:nvSpPr>
        <p:spPr>
          <a:xfrm>
            <a:off x="6150000" y="2750000"/>
            <a:ext cx="1350000" cy="500000"/>
          </a:xfrm>
          <a:prstGeom prst="rect">
            <a:avLst/>
          </a:prstGeom>
          <a:solidFill>
            <a:srgbClr val="8E6F3E"/>
          </a:solidFill>
          <a:ln>
            <a:noFill/>
          </a:ln>
        </p:spPr>
        <p:txBody>
          <a:bodyPr wrap="square" lIns="54864" tIns="27432" rIns="54864" bIns="27432" anchor="ctr">
            <a:normAutofit/>
          </a:bodyPr>
          <a:lstStyle/>
          <a:p>
            <a:pPr algn="ctr">
              <a:buNone/>
            </a:pPr>
            <a:r>
              <a:rPr lang="en-US" sz="1250" b="1" i="0" dirty="0">
                <a:solidFill>
                  <a:srgbClr val="FFFFFF"/>
                </a:solidFill>
              </a:rPr>
              <a:t xml:space="preserve">sharing</a:t>
            </a:r>
          </a:p>
        </p:txBody>
      </p:sp>
      <p:cxnSp>
        <p:nvCxnSpPr>
          <p:cNvPr id="111" name="OrgBa1"/>
          <p:cNvCxnSpPr/>
          <p:nvPr/>
        </p:nvCxnSpPr>
        <p:spPr>
          <a:xfrm>
            <a:off x="6025000" y="2080000"/>
            <a:ext cx="575000" cy="670000"/>
          </a:xfrm>
          <a:prstGeom prst="line">
            <a:avLst/>
          </a:prstGeom>
          <a:ln w="19050">
            <a:solidFill>
              <a:srgbClr val="8E6F3E"/>
            </a:solidFill>
            <a:tailEnd type="triangle" w="med" len="med"/>
          </a:ln>
        </p:spPr>
      </p:cxnSp>
      <p:cxnSp>
        <p:nvCxnSpPr>
          <p:cNvPr id="112" name="OrgBa2"/>
          <p:cNvCxnSpPr/>
          <p:nvPr/>
        </p:nvCxnSpPr>
        <p:spPr>
          <a:xfrm flipH="1">
            <a:off x="7050000" y="2080000"/>
            <a:ext cx="575000" cy="670000"/>
          </a:xfrm>
          <a:prstGeom prst="line">
            <a:avLst/>
          </a:prstGeom>
          <a:ln w="19050">
            <a:solidFill>
              <a:srgbClr val="8E6F3E"/>
            </a:solidFill>
            <a:tailEnd type="triangle" w="med" len="med"/>
          </a:ln>
        </p:spPr>
      </p:cxnSp>
      <p:sp>
        <p:nvSpPr>
          <p:cNvPr id="113" name="Cap"/>
          <p:cNvSpPr txBox="1"/>
          <p:nvPr/>
        </p:nvSpPr>
        <p:spPr>
          <a:xfrm>
            <a:off x="685800" y="3330000"/>
            <a:ext cx="7772400" cy="300000"/>
          </a:xfrm>
          <a:prstGeom prst="rect">
            <a:avLst/>
          </a:prstGeom>
          <a:noFill/>
          <a:ln>
            <a:noFill/>
          </a:ln>
        </p:spPr>
        <p:txBody>
          <a:bodyPr wrap="square" lIns="0" tIns="0" rIns="0" bIns="0" anchor="t">
            <a:normAutofit/>
          </a:bodyPr>
          <a:lstStyle/>
          <a:p>
            <a:pPr algn="ctr">
              <a:buNone/>
            </a:pPr>
            <a:r>
              <a:rPr lang="en-US" sz="1400" b="0" i="1" dirty="0">
                <a:solidFill>
                  <a:srgbClr val="5C4826"/>
                </a:solidFill>
              </a:rPr>
              <a:t xml:space="preserve">Different boundaries → different coupling.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pic>
        <p:nvPicPr>
          <p:cNvPr id="60" name="Think Pair Share banner" descr="Think, Pair, Share"/>
          <p:cNvPicPr>
            <a:picLocks noChangeAspect="1"/>
          </p:cNvPicPr>
          <p:nvPr/>
        </p:nvPicPr>
        <p:blipFill>
          <a:blip r:embed="rId3"/>
          <a:stretch>
            <a:fillRect/>
          </a:stretch>
        </p:blipFill>
        <p:spPr>
          <a:xfrm>
            <a:off x="279400" y="797706"/>
            <a:ext cx="4066969" cy="1170794"/>
          </a:xfrm>
          <a:prstGeom prst="rect">
            <a:avLst/>
          </a:prstGeom>
        </p:spPr>
      </p:pic>
      <p:sp>
        <p:nvSpPr>
          <p:cNvPr id="101" name="C101"/>
          <p:cNvSpPr/>
          <p:nvPr/>
        </p:nvSpPr>
        <p:spPr>
          <a:xfrm>
            <a:off x="3800000" y="2150000"/>
            <a:ext cx="1900000" cy="520000"/>
          </a:xfrm>
          <a:prstGeom prst="rect">
            <a:avLst/>
          </a:prstGeom>
          <a:solidFill>
            <a:srgbClr val="8E6F3E"/>
          </a:solidFill>
          <a:ln>
            <a:noFill/>
          </a:ln>
        </p:spPr>
        <p:txBody>
          <a:bodyPr wrap="square" lIns="109728" tIns="82296" rIns="109728" bIns="82296" anchor="ctr">
            <a:normAutofit/>
          </a:bodyPr>
          <a:lstStyle/>
          <a:p>
            <a:pPr algn="ctr">
              <a:buNone/>
            </a:pPr>
            <a:r>
              <a:rPr lang="en-US" sz="2000" b="1" i="0" dirty="0">
                <a:solidFill>
                  <a:srgbClr val="FFFFFF"/>
                </a:solidFill>
              </a:rPr>
              <a:t xml:space="preserve">A</a:t>
            </a:r>
          </a:p>
        </p:txBody>
      </p:sp>
      <p:sp>
        <p:nvSpPr>
          <p:cNvPr id="102" name="C102"/>
          <p:cNvSpPr/>
          <p:nvPr/>
        </p:nvSpPr>
        <p:spPr>
          <a:xfrm>
            <a:off x="5700000" y="2150000"/>
            <a:ext cx="1900000" cy="520000"/>
          </a:xfrm>
          <a:prstGeom prst="rect">
            <a:avLst/>
          </a:prstGeom>
          <a:solidFill>
            <a:srgbClr val="8E6F3E"/>
          </a:solidFill>
          <a:ln>
            <a:noFill/>
          </a:ln>
        </p:spPr>
        <p:txBody>
          <a:bodyPr wrap="square" lIns="109728" tIns="82296" rIns="109728" bIns="82296" anchor="ctr">
            <a:normAutofit/>
          </a:bodyPr>
          <a:lstStyle/>
          <a:p>
            <a:pPr algn="ctr">
              <a:buNone/>
            </a:pPr>
            <a:r>
              <a:rPr lang="en-US" sz="2000" b="1" i="0" dirty="0">
                <a:solidFill>
                  <a:srgbClr val="FFFFFF"/>
                </a:solidFill>
              </a:rPr>
              <a:t xml:space="preserve">B</a:t>
            </a:r>
          </a:p>
        </p:txBody>
      </p:sp>
      <p:sp>
        <p:nvSpPr>
          <p:cNvPr id="103" name="C103"/>
          <p:cNvSpPr/>
          <p:nvPr/>
        </p:nvSpPr>
        <p:spPr>
          <a:xfrm>
            <a:off x="1500000" y="2670000"/>
            <a:ext cx="2300000" cy="52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Latency</a:t>
            </a:r>
          </a:p>
        </p:txBody>
      </p:sp>
      <p:sp>
        <p:nvSpPr>
          <p:cNvPr id="104" name="C104"/>
          <p:cNvSpPr/>
          <p:nvPr/>
        </p:nvSpPr>
        <p:spPr>
          <a:xfrm>
            <a:off x="3800000" y="267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~100 ms</a:t>
            </a:r>
          </a:p>
        </p:txBody>
      </p:sp>
      <p:sp>
        <p:nvSpPr>
          <p:cNvPr id="105" name="C105"/>
          <p:cNvSpPr/>
          <p:nvPr/>
        </p:nvSpPr>
        <p:spPr>
          <a:xfrm>
            <a:off x="5700000" y="267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~180 ms</a:t>
            </a:r>
          </a:p>
        </p:txBody>
      </p:sp>
      <p:sp>
        <p:nvSpPr>
          <p:cNvPr id="106" name="C106"/>
          <p:cNvSpPr/>
          <p:nvPr/>
        </p:nvSpPr>
        <p:spPr>
          <a:xfrm>
            <a:off x="1500000" y="3190000"/>
            <a:ext cx="2300000" cy="52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Cost</a:t>
            </a:r>
          </a:p>
        </p:txBody>
      </p:sp>
      <p:sp>
        <p:nvSpPr>
          <p:cNvPr id="107" name="C107"/>
          <p:cNvSpPr/>
          <p:nvPr/>
        </p:nvSpPr>
        <p:spPr>
          <a:xfrm>
            <a:off x="3800000" y="319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a:t>
            </a:r>
          </a:p>
        </p:txBody>
      </p:sp>
      <p:sp>
        <p:nvSpPr>
          <p:cNvPr id="108" name="C108"/>
          <p:cNvSpPr/>
          <p:nvPr/>
        </p:nvSpPr>
        <p:spPr>
          <a:xfrm>
            <a:off x="5700000" y="319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a:t>
            </a:r>
          </a:p>
        </p:txBody>
      </p:sp>
      <p:sp>
        <p:nvSpPr>
          <p:cNvPr id="109" name="C109"/>
          <p:cNvSpPr/>
          <p:nvPr/>
        </p:nvSpPr>
        <p:spPr>
          <a:xfrm>
            <a:off x="1500000" y="3710000"/>
            <a:ext cx="2300000" cy="52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Change</a:t>
            </a:r>
          </a:p>
        </p:txBody>
      </p:sp>
      <p:sp>
        <p:nvSpPr>
          <p:cNvPr id="110" name="C110"/>
          <p:cNvSpPr/>
          <p:nvPr/>
        </p:nvSpPr>
        <p:spPr>
          <a:xfrm>
            <a:off x="3800000" y="371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more coupled</a:t>
            </a:r>
          </a:p>
        </p:txBody>
      </p:sp>
      <p:sp>
        <p:nvSpPr>
          <p:cNvPr id="111" name="C111"/>
          <p:cNvSpPr/>
          <p:nvPr/>
        </p:nvSpPr>
        <p:spPr>
          <a:xfrm>
            <a:off x="5700000" y="371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more local</a:t>
            </a:r>
          </a:p>
        </p:txBody>
      </p:sp>
      <p:sp>
        <p:nvSpPr>
          <p:cNvPr id="112" name="C112"/>
          <p:cNvSpPr/>
          <p:nvPr/>
        </p:nvSpPr>
        <p:spPr>
          <a:xfrm>
            <a:off x="1500000" y="4230000"/>
            <a:ext cx="2300000" cy="52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Availability</a:t>
            </a:r>
          </a:p>
        </p:txBody>
      </p:sp>
      <p:sp>
        <p:nvSpPr>
          <p:cNvPr id="113" name="C113"/>
          <p:cNvSpPr/>
          <p:nvPr/>
        </p:nvSpPr>
        <p:spPr>
          <a:xfrm>
            <a:off x="3800000" y="423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higher</a:t>
            </a:r>
          </a:p>
        </p:txBody>
      </p:sp>
      <p:sp>
        <p:nvSpPr>
          <p:cNvPr id="114" name="C114"/>
          <p:cNvSpPr/>
          <p:nvPr/>
        </p:nvSpPr>
        <p:spPr>
          <a:xfrm>
            <a:off x="5700000" y="4230000"/>
            <a:ext cx="1900000" cy="52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lower</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 xml:space="preserve">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 xml:space="preserve">WHICH ONE?</a:t>
            </a:r>
            <a:r>
              <a:rPr lang="en-US" sz="2400" b="1" i="0" dirty="0">
                <a:solidFill>
                  <a:srgbClr val="8E6F3E"/>
                </a:solidFill>
              </a:rPr>
              <a:t xml:space="preserve">    ·    </a:t>
            </a:r>
            <a:r>
              <a:rPr lang="en-US" sz="2400" b="1" i="0" dirty="0">
                <a:solidFill>
                  <a:srgbClr val="000000"/>
                </a:solidFill>
              </a:rPr>
              <a:t xml:space="preserve">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Layers: constrain which parts may depend on which.</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650000"/>
            <a:ext cx="7772400" cy="1300000"/>
          </a:xfrm>
          <a:prstGeom prst="rect">
            <a:avLst/>
          </a:prstGeom>
          <a:noFill/>
          <a:ln>
            <a:noFill/>
          </a:ln>
        </p:spPr>
        <p:txBody>
          <a:bodyPr wrap="square" lIns="0" tIns="0" rIns="0" bIns="0" anchor="t">
            <a:normAutofit/>
          </a:bodyPr>
          <a:lstStyle/>
          <a:p>
            <a:pPr algn="ctr">
              <a:buNone/>
            </a:pPr>
            <a:r>
              <a:rPr lang="en-US" sz="1900" b="0" i="1" dirty="0">
                <a:solidFill>
                  <a:srgbClr val="000000"/>
                </a:solidFill>
              </a:rPr>
              <a:t xml:space="preserve">Real systems sometimes deliberately cross or blur conceptual layers because doing so buys something important — mmap is why “follow the layered pattern” is a rule of thumb, not a law.</a:t>
            </a:r>
          </a:p>
        </p:txBody>
      </p:sp>
      <p:sp>
        <p:nvSpPr>
          <p:cNvPr id="100" name="LblPat"/>
          <p:cNvSpPr txBox="1"/>
          <p:nvPr/>
        </p:nvSpPr>
        <p:spPr>
          <a:xfrm>
            <a:off x="1000000" y="1180000"/>
            <a:ext cx="2200000" cy="280000"/>
          </a:xfrm>
          <a:prstGeom prst="rect">
            <a:avLst/>
          </a:prstGeom>
          <a:noFill/>
          <a:ln>
            <a:noFill/>
          </a:ln>
        </p:spPr>
        <p:txBody>
          <a:bodyPr wrap="square" lIns="0" tIns="0" rIns="0" bIns="0" anchor="t">
            <a:normAutofit/>
          </a:bodyPr>
          <a:lstStyle/>
          <a:p>
            <a:pPr algn="ctr">
              <a:buNone/>
            </a:pPr>
            <a:r>
              <a:rPr lang="en-US" sz="1200" b="1" i="0" dirty="0">
                <a:solidFill>
                  <a:srgbClr val="8E6F3E"/>
                </a:solidFill>
              </a:rPr>
              <a:t xml:space="preserve">THE PATTERN</a:t>
            </a:r>
          </a:p>
        </p:txBody>
      </p:sp>
      <p:sp>
        <p:nvSpPr>
          <p:cNvPr id="101" name="LblReal"/>
          <p:cNvSpPr txBox="1"/>
          <p:nvPr/>
        </p:nvSpPr>
        <p:spPr>
          <a:xfrm>
            <a:off x="5300000" y="1180000"/>
            <a:ext cx="2200000" cy="280000"/>
          </a:xfrm>
          <a:prstGeom prst="rect">
            <a:avLst/>
          </a:prstGeom>
          <a:noFill/>
          <a:ln>
            <a:noFill/>
          </a:ln>
        </p:spPr>
        <p:txBody>
          <a:bodyPr wrap="square" lIns="0" tIns="0" rIns="0" bIns="0" anchor="t">
            <a:normAutofit/>
          </a:bodyPr>
          <a:lstStyle/>
          <a:p>
            <a:pPr algn="ctr">
              <a:buNone/>
            </a:pPr>
            <a:r>
              <a:rPr lang="en-US" sz="1200" b="1" i="0" dirty="0">
                <a:solidFill>
                  <a:srgbClr val="8E6F3E"/>
                </a:solidFill>
              </a:rPr>
              <a:t xml:space="preserve">IN PRACTICE: mmap</a:t>
            </a:r>
          </a:p>
        </p:txBody>
      </p:sp>
      <p:sp>
        <p:nvSpPr>
          <p:cNvPr id="102" name="L0"/>
          <p:cNvSpPr/>
          <p:nvPr/>
        </p:nvSpPr>
        <p:spPr>
          <a:xfrm>
            <a:off x="1000000" y="152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UI</a:t>
            </a:r>
          </a:p>
        </p:txBody>
      </p:sp>
      <p:sp>
        <p:nvSpPr>
          <p:cNvPr id="103" name="L1"/>
          <p:cNvSpPr/>
          <p:nvPr/>
        </p:nvSpPr>
        <p:spPr>
          <a:xfrm>
            <a:off x="1000000" y="224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APPLICATION</a:t>
            </a:r>
          </a:p>
        </p:txBody>
      </p:sp>
      <p:cxnSp>
        <p:nvCxnSpPr>
          <p:cNvPr id="104" name="LA1"/>
          <p:cNvCxnSpPr/>
          <p:nvPr/>
        </p:nvCxnSpPr>
        <p:spPr>
          <a:xfrm>
            <a:off x="2100000" y="2100000"/>
            <a:ext cx="0" cy="140000"/>
          </a:xfrm>
          <a:prstGeom prst="line">
            <a:avLst/>
          </a:prstGeom>
          <a:ln w="19050">
            <a:solidFill>
              <a:srgbClr val="8E6F3E"/>
            </a:solidFill>
            <a:tailEnd type="triangle" w="med" len="med"/>
          </a:ln>
        </p:spPr>
      </p:cxnSp>
      <p:sp>
        <p:nvSpPr>
          <p:cNvPr id="105" name="L2"/>
          <p:cNvSpPr/>
          <p:nvPr/>
        </p:nvSpPr>
        <p:spPr>
          <a:xfrm>
            <a:off x="1000000" y="296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DOMAIN</a:t>
            </a:r>
          </a:p>
        </p:txBody>
      </p:sp>
      <p:cxnSp>
        <p:nvCxnSpPr>
          <p:cNvPr id="106" name="LA2"/>
          <p:cNvCxnSpPr/>
          <p:nvPr/>
        </p:nvCxnSpPr>
        <p:spPr>
          <a:xfrm>
            <a:off x="2100000" y="2820000"/>
            <a:ext cx="0" cy="140000"/>
          </a:xfrm>
          <a:prstGeom prst="line">
            <a:avLst/>
          </a:prstGeom>
          <a:ln w="19050">
            <a:solidFill>
              <a:srgbClr val="8E6F3E"/>
            </a:solidFill>
            <a:tailEnd type="triangle" w="med" len="med"/>
          </a:ln>
        </p:spPr>
      </p:cxnSp>
      <p:sp>
        <p:nvSpPr>
          <p:cNvPr id="107" name="L3"/>
          <p:cNvSpPr/>
          <p:nvPr/>
        </p:nvSpPr>
        <p:spPr>
          <a:xfrm>
            <a:off x="1000000" y="368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INFRASTRUCTURE</a:t>
            </a:r>
          </a:p>
        </p:txBody>
      </p:sp>
      <p:cxnSp>
        <p:nvCxnSpPr>
          <p:cNvPr id="108" name="LA3"/>
          <p:cNvCxnSpPr/>
          <p:nvPr/>
        </p:nvCxnSpPr>
        <p:spPr>
          <a:xfrm>
            <a:off x="2100000" y="3540000"/>
            <a:ext cx="0" cy="140000"/>
          </a:xfrm>
          <a:prstGeom prst="line">
            <a:avLst/>
          </a:prstGeom>
          <a:ln w="19050">
            <a:solidFill>
              <a:srgbClr val="8E6F3E"/>
            </a:solidFill>
            <a:tailEnd type="triangle" w="med" len="med"/>
          </a:ln>
        </p:spPr>
      </p:cxnSp>
      <p:cxnSp>
        <p:nvCxnSpPr>
          <p:cNvPr id="109" name="Allowed"/>
          <p:cNvCxnSpPr/>
          <p:nvPr/>
        </p:nvCxnSpPr>
        <p:spPr>
          <a:xfrm>
            <a:off x="700000" y="1650000"/>
            <a:ext cx="0" cy="2450000"/>
          </a:xfrm>
          <a:prstGeom prst="line">
            <a:avLst/>
          </a:prstGeom>
          <a:ln w="19050">
            <a:solidFill>
              <a:srgbClr val="C9B991"/>
            </a:solidFill>
            <a:tailEnd type="triangle" w="med" len="med"/>
          </a:ln>
        </p:spPr>
      </p:cxnSp>
      <p:sp>
        <p:nvSpPr>
          <p:cNvPr id="110" name="AllowedLbl"/>
          <p:cNvSpPr txBox="1"/>
          <p:nvPr/>
        </p:nvSpPr>
        <p:spPr>
          <a:xfrm rot="-5400000">
            <a:off x="-335000" y="2740000"/>
            <a:ext cx="1800000" cy="26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 xml:space="preserve">allowed dependencies</a:t>
            </a:r>
          </a:p>
        </p:txBody>
      </p:sp>
      <p:sp>
        <p:nvSpPr>
          <p:cNvPr id="111" name="R0"/>
          <p:cNvSpPr/>
          <p:nvPr/>
        </p:nvSpPr>
        <p:spPr>
          <a:xfrm>
            <a:off x="5300000" y="152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APPLICATION</a:t>
            </a:r>
          </a:p>
        </p:txBody>
      </p:sp>
      <p:sp>
        <p:nvSpPr>
          <p:cNvPr id="112" name="R1"/>
          <p:cNvSpPr/>
          <p:nvPr/>
        </p:nvSpPr>
        <p:spPr>
          <a:xfrm>
            <a:off x="5300000" y="224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FILE / STORAGE API</a:t>
            </a:r>
          </a:p>
        </p:txBody>
      </p:sp>
      <p:cxnSp>
        <p:nvCxnSpPr>
          <p:cNvPr id="113" name="RA1"/>
          <p:cNvCxnSpPr/>
          <p:nvPr/>
        </p:nvCxnSpPr>
        <p:spPr>
          <a:xfrm>
            <a:off x="6400000" y="2100000"/>
            <a:ext cx="0" cy="140000"/>
          </a:xfrm>
          <a:prstGeom prst="line">
            <a:avLst/>
          </a:prstGeom>
          <a:ln w="19050">
            <a:solidFill>
              <a:srgbClr val="8E6F3E"/>
            </a:solidFill>
            <a:tailEnd type="triangle" w="med" len="med"/>
          </a:ln>
        </p:spPr>
      </p:cxnSp>
      <p:sp>
        <p:nvSpPr>
          <p:cNvPr id="114" name="R2"/>
          <p:cNvSpPr/>
          <p:nvPr/>
        </p:nvSpPr>
        <p:spPr>
          <a:xfrm>
            <a:off x="5300000" y="296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OPERATING SYSTEM</a:t>
            </a:r>
          </a:p>
        </p:txBody>
      </p:sp>
      <p:cxnSp>
        <p:nvCxnSpPr>
          <p:cNvPr id="115" name="RA2"/>
          <p:cNvCxnSpPr/>
          <p:nvPr/>
        </p:nvCxnSpPr>
        <p:spPr>
          <a:xfrm>
            <a:off x="6400000" y="2820000"/>
            <a:ext cx="0" cy="140000"/>
          </a:xfrm>
          <a:prstGeom prst="line">
            <a:avLst/>
          </a:prstGeom>
          <a:ln w="19050">
            <a:solidFill>
              <a:srgbClr val="8E6F3E"/>
            </a:solidFill>
            <a:tailEnd type="triangle" w="med" len="med"/>
          </a:ln>
        </p:spPr>
      </p:cxnSp>
      <p:sp>
        <p:nvSpPr>
          <p:cNvPr id="116" name="R3"/>
          <p:cNvSpPr/>
          <p:nvPr/>
        </p:nvSpPr>
        <p:spPr>
          <a:xfrm>
            <a:off x="5300000" y="3680000"/>
            <a:ext cx="2200000" cy="5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STORAGE</a:t>
            </a:r>
          </a:p>
        </p:txBody>
      </p:sp>
      <p:cxnSp>
        <p:nvCxnSpPr>
          <p:cNvPr id="117" name="RA3"/>
          <p:cNvCxnSpPr/>
          <p:nvPr/>
        </p:nvCxnSpPr>
        <p:spPr>
          <a:xfrm>
            <a:off x="6400000" y="3540000"/>
            <a:ext cx="0" cy="140000"/>
          </a:xfrm>
          <a:prstGeom prst="line">
            <a:avLst/>
          </a:prstGeom>
          <a:ln w="19050">
            <a:solidFill>
              <a:srgbClr val="8E6F3E"/>
            </a:solidFill>
            <a:tailEnd type="triangle" w="med" len="med"/>
          </a:ln>
        </p:spPr>
      </p:cxnSp>
      <p:sp>
        <p:nvSpPr>
          <p:cNvPr id="118" name="VM"/>
          <p:cNvSpPr/>
          <p:nvPr/>
        </p:nvSpPr>
        <p:spPr>
          <a:xfrm>
            <a:off x="7900000" y="2240000"/>
            <a:ext cx="1150000" cy="58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150" b="1" i="0" dirty="0">
                <a:solidFill>
                  <a:srgbClr val="5C4826"/>
                </a:solidFill>
              </a:rPr>
              <a:t xml:space="preserve">VIRTUAL</a:t>
            </a:r>
          </a:p>
          <a:p>
            <a:pPr algn="ctr">
              <a:spcBef>
                <a:spcPts val="300"/>
              </a:spcBef>
              <a:buNone/>
            </a:pPr>
            <a:r>
              <a:rPr lang="en-US" sz="1150" b="1" i="0" dirty="0">
                <a:solidFill>
                  <a:srgbClr val="5C4826"/>
                </a:solidFill>
              </a:rPr>
              <a:t xml:space="preserve">MEMORY</a:t>
            </a:r>
          </a:p>
        </p:txBody>
      </p:sp>
      <p:cxnSp>
        <p:nvCxnSpPr>
          <p:cNvPr id="119" name="MmapA"/>
          <p:cNvCxnSpPr/>
          <p:nvPr/>
        </p:nvCxnSpPr>
        <p:spPr>
          <a:xfrm>
            <a:off x="7500000" y="1810000"/>
            <a:ext cx="600000" cy="430000"/>
          </a:xfrm>
          <a:prstGeom prst="line">
            <a:avLst/>
          </a:prstGeom>
          <a:ln w="19050">
            <a:solidFill>
              <a:srgbClr val="8E6F3E"/>
            </a:solidFill>
            <a:prstDash val="dash"/>
            <a:tailEnd type="triangle" w="med" len="med"/>
          </a:ln>
        </p:spPr>
      </p:cxnSp>
      <p:sp>
        <p:nvSpPr>
          <p:cNvPr id="120" name="MmapLbl"/>
          <p:cNvSpPr txBox="1"/>
          <p:nvPr/>
        </p:nvSpPr>
        <p:spPr>
          <a:xfrm>
            <a:off x="7960000" y="1830000"/>
            <a:ext cx="900000" cy="260000"/>
          </a:xfrm>
          <a:prstGeom prst="rect">
            <a:avLst/>
          </a:prstGeom>
          <a:noFill/>
          <a:ln>
            <a:noFill/>
          </a:ln>
        </p:spPr>
        <p:txBody>
          <a:bodyPr wrap="square" lIns="0" tIns="0" rIns="0" bIns="0" anchor="t">
            <a:normAutofit/>
          </a:bodyPr>
          <a:lstStyle/>
          <a:p>
            <a:pPr algn="l">
              <a:buNone/>
            </a:pPr>
            <a:r>
              <a:rPr lang="en-US" sz="1100" b="1" i="1" dirty="0">
                <a:solidFill>
                  <a:srgbClr val="8E6F3E"/>
                </a:solidFill>
              </a:rPr>
              <a:t xml:space="preserve">mmap</a:t>
            </a:r>
          </a:p>
        </p:txBody>
      </p:sp>
      <p:cxnSp>
        <p:nvCxnSpPr>
          <p:cNvPr id="121" name="PfA"/>
          <p:cNvCxnSpPr/>
          <p:nvPr/>
        </p:nvCxnSpPr>
        <p:spPr>
          <a:xfrm flipH="1">
            <a:off x="7500000" y="2820000"/>
            <a:ext cx="975000" cy="1080000"/>
          </a:xfrm>
          <a:prstGeom prst="line">
            <a:avLst/>
          </a:prstGeom>
          <a:ln w="19050">
            <a:solidFill>
              <a:srgbClr val="8E6F3E"/>
            </a:solidFill>
            <a:prstDash val="dash"/>
            <a:tailEnd type="triangle" w="med" len="med"/>
          </a:ln>
        </p:spPr>
      </p:cxnSp>
      <p:sp>
        <p:nvSpPr>
          <p:cNvPr id="122" name="PfLbl"/>
          <p:cNvSpPr txBox="1"/>
          <p:nvPr/>
        </p:nvSpPr>
        <p:spPr>
          <a:xfrm>
            <a:off x="8210000" y="3400000"/>
            <a:ext cx="1050000" cy="480000"/>
          </a:xfrm>
          <a:prstGeom prst="rect">
            <a:avLst/>
          </a:prstGeom>
          <a:noFill/>
          <a:ln>
            <a:noFill/>
          </a:ln>
        </p:spPr>
        <p:txBody>
          <a:bodyPr wrap="square" lIns="0" tIns="0" rIns="0" bIns="0" anchor="t">
            <a:normAutofit/>
          </a:bodyPr>
          <a:lstStyle/>
          <a:p>
            <a:pPr algn="l">
              <a:buNone/>
            </a:pPr>
            <a:r>
              <a:rPr lang="en-US" sz="950" b="0" i="1" dirty="0">
                <a:solidFill>
                  <a:srgbClr val="555960"/>
                </a:solidFill>
              </a:rPr>
              <a:t xml:space="preserve">page faults</a:t>
            </a:r>
          </a:p>
          <a:p>
            <a:pPr algn="l">
              <a:spcBef>
                <a:spcPts val="300"/>
              </a:spcBef>
              <a:buNone/>
            </a:pPr>
            <a:r>
              <a:rPr lang="en-US" sz="950" b="0" i="1" dirty="0">
                <a:solidFill>
                  <a:srgbClr val="555960"/>
                </a:solidFill>
              </a:rPr>
              <a:t xml:space="preserve">→ FILE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C61"/>
          <p:cNvSpPr/>
          <p:nvPr/>
        </p:nvSpPr>
        <p:spPr>
          <a:xfrm>
            <a:off x="3600000" y="1150000"/>
            <a:ext cx="1300000" cy="480000"/>
          </a:xfrm>
          <a:prstGeom prst="rect">
            <a:avLst/>
          </a:prstGeom>
          <a:solidFill>
            <a:srgbClr val="8E6F3E"/>
          </a:solidFill>
          <a:ln>
            <a:noFill/>
          </a:ln>
        </p:spPr>
        <p:txBody>
          <a:bodyPr wrap="square" lIns="109728" tIns="82296" rIns="109728" bIns="82296" anchor="ctr">
            <a:normAutofit/>
          </a:bodyPr>
          <a:lstStyle/>
          <a:p>
            <a:pPr algn="ctr">
              <a:buNone/>
            </a:pPr>
            <a:r>
              <a:rPr lang="en-US" sz="1800" b="1" i="0" dirty="0">
                <a:solidFill>
                  <a:srgbClr val="FFFFFF"/>
                </a:solidFill>
              </a:rPr>
              <a:t xml:space="preserve">Weight</a:t>
            </a:r>
          </a:p>
        </p:txBody>
      </p:sp>
      <p:sp>
        <p:nvSpPr>
          <p:cNvPr id="62" name="C62"/>
          <p:cNvSpPr/>
          <p:nvPr/>
        </p:nvSpPr>
        <p:spPr>
          <a:xfrm>
            <a:off x="4900000" y="1150000"/>
            <a:ext cx="1300000" cy="480000"/>
          </a:xfrm>
          <a:prstGeom prst="rect">
            <a:avLst/>
          </a:prstGeom>
          <a:solidFill>
            <a:srgbClr val="8E6F3E"/>
          </a:solidFill>
          <a:ln>
            <a:noFill/>
          </a:ln>
        </p:spPr>
        <p:txBody>
          <a:bodyPr wrap="square" lIns="109728" tIns="82296" rIns="109728" bIns="82296" anchor="ctr">
            <a:normAutofit/>
          </a:bodyPr>
          <a:lstStyle/>
          <a:p>
            <a:pPr algn="ctr">
              <a:buNone/>
            </a:pPr>
            <a:r>
              <a:rPr lang="en-US" sz="1800" b="1" i="0" dirty="0">
                <a:solidFill>
                  <a:srgbClr val="FFFFFF"/>
                </a:solidFill>
              </a:rPr>
              <a:t xml:space="preserve">A</a:t>
            </a:r>
          </a:p>
        </p:txBody>
      </p:sp>
      <p:sp>
        <p:nvSpPr>
          <p:cNvPr id="63" name="C63"/>
          <p:cNvSpPr/>
          <p:nvPr/>
        </p:nvSpPr>
        <p:spPr>
          <a:xfrm>
            <a:off x="6200000" y="1150000"/>
            <a:ext cx="1300000" cy="480000"/>
          </a:xfrm>
          <a:prstGeom prst="rect">
            <a:avLst/>
          </a:prstGeom>
          <a:solidFill>
            <a:srgbClr val="8E6F3E"/>
          </a:solidFill>
          <a:ln>
            <a:noFill/>
          </a:ln>
        </p:spPr>
        <p:txBody>
          <a:bodyPr wrap="square" lIns="109728" tIns="82296" rIns="109728" bIns="82296" anchor="ctr">
            <a:normAutofit/>
          </a:bodyPr>
          <a:lstStyle/>
          <a:p>
            <a:pPr algn="ctr">
              <a:buNone/>
            </a:pPr>
            <a:r>
              <a:rPr lang="en-US" sz="1800" b="1" i="0" dirty="0">
                <a:solidFill>
                  <a:srgbClr val="FFFFFF"/>
                </a:solidFill>
              </a:rPr>
              <a:t xml:space="preserve">B</a:t>
            </a:r>
          </a:p>
        </p:txBody>
      </p:sp>
      <p:sp>
        <p:nvSpPr>
          <p:cNvPr id="64" name="C64"/>
          <p:cNvSpPr/>
          <p:nvPr/>
        </p:nvSpPr>
        <p:spPr>
          <a:xfrm>
            <a:off x="1200000" y="1630000"/>
            <a:ext cx="2400000" cy="48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Performance</a:t>
            </a:r>
          </a:p>
        </p:txBody>
      </p:sp>
      <p:sp>
        <p:nvSpPr>
          <p:cNvPr id="65" name="C65"/>
          <p:cNvSpPr/>
          <p:nvPr/>
        </p:nvSpPr>
        <p:spPr>
          <a:xfrm>
            <a:off x="3600000" y="163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.30</a:t>
            </a:r>
          </a:p>
        </p:txBody>
      </p:sp>
      <p:sp>
        <p:nvSpPr>
          <p:cNvPr id="66" name="C66"/>
          <p:cNvSpPr/>
          <p:nvPr/>
        </p:nvSpPr>
        <p:spPr>
          <a:xfrm>
            <a:off x="4900000" y="163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5</a:t>
            </a:r>
          </a:p>
        </p:txBody>
      </p:sp>
      <p:sp>
        <p:nvSpPr>
          <p:cNvPr id="67" name="C67"/>
          <p:cNvSpPr/>
          <p:nvPr/>
        </p:nvSpPr>
        <p:spPr>
          <a:xfrm>
            <a:off x="6200000" y="163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3</a:t>
            </a:r>
          </a:p>
        </p:txBody>
      </p:sp>
      <p:sp>
        <p:nvSpPr>
          <p:cNvPr id="68" name="C68"/>
          <p:cNvSpPr/>
          <p:nvPr/>
        </p:nvSpPr>
        <p:spPr>
          <a:xfrm>
            <a:off x="1200000" y="2110000"/>
            <a:ext cx="2400000" cy="48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Cost</a:t>
            </a:r>
          </a:p>
        </p:txBody>
      </p:sp>
      <p:sp>
        <p:nvSpPr>
          <p:cNvPr id="69" name="C69"/>
          <p:cNvSpPr/>
          <p:nvPr/>
        </p:nvSpPr>
        <p:spPr>
          <a:xfrm>
            <a:off x="3600000" y="211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.25</a:t>
            </a:r>
          </a:p>
        </p:txBody>
      </p:sp>
      <p:sp>
        <p:nvSpPr>
          <p:cNvPr id="70" name="C70"/>
          <p:cNvSpPr/>
          <p:nvPr/>
        </p:nvSpPr>
        <p:spPr>
          <a:xfrm>
            <a:off x="4900000" y="211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2</a:t>
            </a:r>
          </a:p>
        </p:txBody>
      </p:sp>
      <p:sp>
        <p:nvSpPr>
          <p:cNvPr id="71" name="C71"/>
          <p:cNvSpPr/>
          <p:nvPr/>
        </p:nvSpPr>
        <p:spPr>
          <a:xfrm>
            <a:off x="6200000" y="211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5</a:t>
            </a:r>
          </a:p>
        </p:txBody>
      </p:sp>
      <p:sp>
        <p:nvSpPr>
          <p:cNvPr id="72" name="C72"/>
          <p:cNvSpPr/>
          <p:nvPr/>
        </p:nvSpPr>
        <p:spPr>
          <a:xfrm>
            <a:off x="1200000" y="2590000"/>
            <a:ext cx="2400000" cy="48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Changeability</a:t>
            </a:r>
          </a:p>
        </p:txBody>
      </p:sp>
      <p:sp>
        <p:nvSpPr>
          <p:cNvPr id="73" name="C73"/>
          <p:cNvSpPr/>
          <p:nvPr/>
        </p:nvSpPr>
        <p:spPr>
          <a:xfrm>
            <a:off x="3600000" y="259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.20</a:t>
            </a:r>
          </a:p>
        </p:txBody>
      </p:sp>
      <p:sp>
        <p:nvSpPr>
          <p:cNvPr id="74" name="C74"/>
          <p:cNvSpPr/>
          <p:nvPr/>
        </p:nvSpPr>
        <p:spPr>
          <a:xfrm>
            <a:off x="4900000" y="259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4</a:t>
            </a:r>
          </a:p>
        </p:txBody>
      </p:sp>
      <p:sp>
        <p:nvSpPr>
          <p:cNvPr id="75" name="C75"/>
          <p:cNvSpPr/>
          <p:nvPr/>
        </p:nvSpPr>
        <p:spPr>
          <a:xfrm>
            <a:off x="6200000" y="259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3</a:t>
            </a:r>
          </a:p>
        </p:txBody>
      </p:sp>
      <p:sp>
        <p:nvSpPr>
          <p:cNvPr id="76" name="C76"/>
          <p:cNvSpPr/>
          <p:nvPr/>
        </p:nvSpPr>
        <p:spPr>
          <a:xfrm>
            <a:off x="1200000" y="3070000"/>
            <a:ext cx="2400000" cy="48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Reliability</a:t>
            </a:r>
          </a:p>
        </p:txBody>
      </p:sp>
      <p:sp>
        <p:nvSpPr>
          <p:cNvPr id="77" name="C77"/>
          <p:cNvSpPr/>
          <p:nvPr/>
        </p:nvSpPr>
        <p:spPr>
          <a:xfrm>
            <a:off x="3600000" y="307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.25</a:t>
            </a:r>
          </a:p>
        </p:txBody>
      </p:sp>
      <p:sp>
        <p:nvSpPr>
          <p:cNvPr id="78" name="C78"/>
          <p:cNvSpPr/>
          <p:nvPr/>
        </p:nvSpPr>
        <p:spPr>
          <a:xfrm>
            <a:off x="4900000" y="307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5</a:t>
            </a:r>
          </a:p>
        </p:txBody>
      </p:sp>
      <p:sp>
        <p:nvSpPr>
          <p:cNvPr id="79" name="C79"/>
          <p:cNvSpPr/>
          <p:nvPr/>
        </p:nvSpPr>
        <p:spPr>
          <a:xfrm>
            <a:off x="6200000" y="307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0" i="0" dirty="0">
                <a:solidFill>
                  <a:srgbClr val="000000"/>
                </a:solidFill>
              </a:rPr>
              <a:t xml:space="preserve">4</a:t>
            </a:r>
          </a:p>
        </p:txBody>
      </p:sp>
      <p:sp>
        <p:nvSpPr>
          <p:cNvPr id="80" name="C80"/>
          <p:cNvSpPr/>
          <p:nvPr/>
        </p:nvSpPr>
        <p:spPr>
          <a:xfrm>
            <a:off x="1200000" y="3550000"/>
            <a:ext cx="2400000" cy="4800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5C4826"/>
                </a:solidFill>
              </a:rPr>
              <a:t xml:space="preserve">Weighted</a:t>
            </a:r>
          </a:p>
        </p:txBody>
      </p:sp>
      <p:sp>
        <p:nvSpPr>
          <p:cNvPr id="82" name="C82"/>
          <p:cNvSpPr/>
          <p:nvPr/>
        </p:nvSpPr>
        <p:spPr>
          <a:xfrm>
            <a:off x="4900000" y="355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1" i="0" dirty="0">
                <a:solidFill>
                  <a:srgbClr val="000000"/>
                </a:solidFill>
              </a:rPr>
              <a:t xml:space="preserve">3.95</a:t>
            </a:r>
          </a:p>
        </p:txBody>
      </p:sp>
      <p:sp>
        <p:nvSpPr>
          <p:cNvPr id="83" name="C83"/>
          <p:cNvSpPr/>
          <p:nvPr/>
        </p:nvSpPr>
        <p:spPr>
          <a:xfrm>
            <a:off x="6200000" y="3550000"/>
            <a:ext cx="1300000" cy="480000"/>
          </a:xfrm>
          <a:prstGeom prst="rect">
            <a:avLst/>
          </a:prstGeom>
          <a:solidFill>
            <a:srgbClr val="FFFFFF"/>
          </a:solidFill>
          <a:ln w="12700">
            <a:solidFill>
              <a:srgbClr val="C9B991"/>
            </a:solidFill>
          </a:ln>
        </p:spPr>
        <p:txBody>
          <a:bodyPr wrap="square" lIns="109728" tIns="82296" rIns="109728" bIns="82296" anchor="ctr">
            <a:normAutofit/>
          </a:bodyPr>
          <a:lstStyle/>
          <a:p>
            <a:pPr algn="ctr">
              <a:buNone/>
            </a:pPr>
            <a:r>
              <a:rPr lang="en-US" sz="1800" b="1" i="0" dirty="0">
                <a:solidFill>
                  <a:srgbClr val="000000"/>
                </a:solidFill>
              </a:rPr>
              <a:t xml:space="preserve">3.70</a:t>
            </a:r>
          </a:p>
        </p:txBody>
      </p:sp>
      <p:sp>
        <p:nvSpPr>
          <p:cNvPr id="90" name="T90"/>
          <p:cNvSpPr txBox="1"/>
          <p:nvPr/>
        </p:nvSpPr>
        <p:spPr>
          <a:xfrm>
            <a:off x="685800" y="4180000"/>
            <a:ext cx="7772400" cy="500000"/>
          </a:xfrm>
          <a:prstGeom prst="rect">
            <a:avLst/>
          </a:prstGeom>
          <a:noFill/>
          <a:ln>
            <a:noFill/>
          </a:ln>
        </p:spPr>
        <p:txBody>
          <a:bodyPr wrap="square" lIns="0" tIns="0" rIns="0" bIns="0" anchor="t">
            <a:normAutofit/>
          </a:bodyPr>
          <a:lstStyle/>
          <a:p>
            <a:pPr algn="ctr">
              <a:buNone/>
            </a:pPr>
            <a:r>
              <a:rPr lang="en-US" sz="2800" b="1" i="0" dirty="0">
                <a:solidFill>
                  <a:srgbClr val="8E6F3E"/>
                </a:solidFill>
              </a:rPr>
              <a:t xml:space="preserve">🏆  A WINS  🏆</a:t>
            </a:r>
          </a:p>
        </p:txBody>
      </p:sp>
      <p:sp>
        <p:nvSpPr>
          <p:cNvPr id="92" name="T92"/>
          <p:cNvSpPr txBox="1"/>
          <p:nvPr/>
        </p:nvSpPr>
        <p:spPr>
          <a:xfrm>
            <a:off x="685800" y="5800000"/>
            <a:ext cx="7772400" cy="420000"/>
          </a:xfrm>
          <a:prstGeom prst="rect">
            <a:avLst/>
          </a:prstGeom>
          <a:noFill/>
          <a:ln>
            <a:noFill/>
          </a:ln>
        </p:spPr>
        <p:txBody>
          <a:bodyPr wrap="square" lIns="0" tIns="0" rIns="0" bIns="0" anchor="t">
            <a:normAutofit/>
          </a:bodyPr>
          <a:lstStyle/>
          <a:p>
            <a:pPr algn="ctr">
              <a:buNone/>
            </a:pPr>
            <a:r>
              <a:rPr lang="en-US" sz="2000" b="0" i="1" dirty="0">
                <a:solidFill>
                  <a:srgbClr val="000000"/>
                </a:solidFill>
              </a:rPr>
              <a:t xml:space="preserve">This is not measurement merely because a spreadsheet produced a number.</a:t>
            </a:r>
          </a:p>
        </p:txBody>
      </p:sp>
      <p:sp>
        <p:nvSpPr>
          <p:cNvPr id="120" name="Callout1"/>
          <p:cNvSpPr/>
          <p:nvPr/>
        </p:nvSpPr>
        <p:spPr>
          <a:xfrm>
            <a:off x="90000" y="1833372"/>
            <a:ext cx="1020000" cy="44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200" b="1" i="0" dirty="0">
                <a:solidFill>
                  <a:srgbClr val="B23B3B"/>
                </a:solidFill>
              </a:rPr>
              <a:t xml:space="preserve">WHY .30?</a:t>
            </a:r>
          </a:p>
        </p:txBody>
      </p:sp>
      <p:cxnSp>
        <p:nvCxnSpPr>
          <p:cNvPr id="121" name="CalloutArw1"/>
          <p:cNvCxnSpPr/>
          <p:nvPr/>
        </p:nvCxnSpPr>
        <p:spPr>
          <a:xfrm>
            <a:off x="1110000" y="2052828"/>
            <a:ext cx="2666472" cy="0"/>
          </a:xfrm>
          <a:prstGeom prst="line">
            <a:avLst/>
          </a:prstGeom>
          <a:ln w="15875">
            <a:solidFill>
              <a:srgbClr val="B23B3B"/>
            </a:solidFill>
            <a:tailEnd type="triangle" w="med" len="med"/>
          </a:ln>
        </p:spPr>
      </p:cxnSp>
      <p:sp>
        <p:nvSpPr>
          <p:cNvPr id="122" name="Callout2"/>
          <p:cNvSpPr/>
          <p:nvPr/>
        </p:nvSpPr>
        <p:spPr>
          <a:xfrm>
            <a:off x="7590000" y="1412748"/>
            <a:ext cx="1450000" cy="56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200" b="1" i="0" dirty="0">
                <a:solidFill>
                  <a:srgbClr val="B23B3B"/>
                </a:solidFill>
              </a:rPr>
              <a:t xml:space="preserve">WHAT IS</a:t>
            </a:r>
          </a:p>
          <a:p>
            <a:pPr algn="ctr">
              <a:spcBef>
                <a:spcPts val="300"/>
              </a:spcBef>
              <a:buNone/>
            </a:pPr>
            <a:r>
              <a:rPr lang="en-US" sz="1200" b="1" i="0" dirty="0">
                <a:solidFill>
                  <a:srgbClr val="B23B3B"/>
                </a:solidFill>
              </a:rPr>
              <a:t xml:space="preserve">A “5”?</a:t>
            </a:r>
          </a:p>
        </p:txBody>
      </p:sp>
      <p:cxnSp>
        <p:nvCxnSpPr>
          <p:cNvPr id="123" name="CalloutArw2"/>
          <p:cNvCxnSpPr/>
          <p:nvPr/>
        </p:nvCxnSpPr>
        <p:spPr>
          <a:xfrm flipH="1">
            <a:off x="6053328" y="1691640"/>
            <a:ext cx="1536672" cy="0"/>
          </a:xfrm>
          <a:prstGeom prst="line">
            <a:avLst/>
          </a:prstGeom>
          <a:ln w="15875">
            <a:solidFill>
              <a:srgbClr val="B23B3B"/>
            </a:solidFill>
            <a:tailEnd type="triangle" w="med" len="med"/>
          </a:ln>
        </p:spPr>
      </p:cxnSp>
      <p:sp>
        <p:nvSpPr>
          <p:cNvPr id="124" name="CalloutBrace"/>
          <p:cNvSpPr/>
          <p:nvPr/>
        </p:nvSpPr>
        <p:spPr>
          <a:xfrm>
            <a:off x="7530000" y="2110000"/>
            <a:ext cx="240000" cy="1440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800000" y="2350000"/>
            <a:ext cx="1300000" cy="1000000"/>
          </a:xfrm>
          <a:prstGeom prst="roundRect">
            <a:avLst/>
          </a:prstGeom>
          <a:solidFill>
            <a:srgbClr val="FFFFFF"/>
          </a:solidFill>
          <a:ln w="15875">
            <a:solidFill>
              <a:srgbClr val="B23B3B"/>
            </a:solidFill>
          </a:ln>
        </p:spPr>
        <p:txBody>
          <a:bodyPr wrap="square" lIns="45720" tIns="27432" rIns="45720" bIns="27432" anchor="ctr">
            <a:normAutofit/>
          </a:bodyPr>
          <a:lstStyle/>
          <a:p>
            <a:pPr algn="ctr">
              <a:buNone/>
            </a:pPr>
            <a:r>
              <a:rPr lang="en-US" sz="1000" b="1" i="0" dirty="0">
                <a:solidFill>
                  <a:srgbClr val="B23B3B"/>
                </a:solidFill>
              </a:rPr>
              <a:t xml:space="preserve">WHY CAN COST</a:t>
            </a:r>
          </a:p>
          <a:p>
            <a:pPr algn="ctr">
              <a:spcBef>
                <a:spcPts val="300"/>
              </a:spcBef>
              <a:buNone/>
            </a:pPr>
            <a:r>
              <a:rPr lang="en-US" sz="1000" b="1" i="0" dirty="0">
                <a:solidFill>
                  <a:srgbClr val="B23B3B"/>
                </a:solidFill>
              </a:rPr>
              <a:t xml:space="preserve">COMPENSATE FOR</a:t>
            </a:r>
          </a:p>
          <a:p>
            <a:pPr algn="ctr">
              <a:spcBef>
                <a:spcPts val="300"/>
              </a:spcBef>
              <a:buNone/>
            </a:pPr>
            <a:r>
              <a:rPr lang="en-US" sz="1000" b="1" i="0" dirty="0">
                <a:solidFill>
                  <a:srgbClr val="B23B3B"/>
                </a:solidFill>
              </a:rPr>
              <a:t xml:space="preserve">RELIABILITY?</a:t>
            </a:r>
          </a:p>
        </p:txBody>
      </p:sp>
    </p:spTree>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10" presetClass="entr" presetSubtype="0" fill="hold" nodeType="clickEffect">
                                  <p:stCondLst>
                                    <p:cond delay="0"/>
                                  </p:stCondLst>
                                  <p:childTnLst>
                                    <p:set>
                                      <p:cBhvr>
                                        <p:cTn id="5" dur="1" fill="hold">
                                          <p:stCondLst>
                                            <p:cond delay="0"/>
                                          </p:stCondLst>
                                        </p:cTn>
                                        <p:tgtEl>
                                          <p:spTgt spid="120"/>
                                        </p:tgtEl>
                                        <p:attrNameLst>
                                          <p:attrName>style.visibility</p:attrName>
                                        </p:attrNameLst>
                                      </p:cBhvr>
                                      <p:to>
                                        <p:strVal val="visible"/>
                                      </p:to>
                                    </p:set>
                                    <p:animEffect transition="in" filter="fade">
                                      <p:cBhvr>
                                        <p:cTn id="6" dur="400"/>
                                        <p:tgtEl>
                                          <p:spTgt spid="120"/>
                                        </p:tgtEl>
                                      </p:cBhvr>
                                    </p:animEffect>
                                  </p:childTnLst>
                                </p:cTn>
                              </p:par>
                              <p:par>
                                <p:cTn id="7"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4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13" presetID="10" presetClass="entr" presetSubtype="0" fill="hold" nodeType="clickEffect">
                                  <p:stCondLst>
                                    <p:cond delay="0"/>
                                  </p:stCondLst>
                                  <p:childTnLst>
                                    <p:set>
                                      <p:cBhvr>
                                        <p:cTn id="15" dur="1" fill="hold">
                                          <p:stCondLst>
                                            <p:cond delay="0"/>
                                          </p:stCondLst>
                                        </p:cTn>
                                        <p:tgtEl>
                                          <p:spTgt spid="122"/>
                                        </p:tgtEl>
                                        <p:attrNameLst>
                                          <p:attrName>style.visibility</p:attrName>
                                        </p:attrNameLst>
                                      </p:cBhvr>
                                      <p:to>
                                        <p:strVal val="visible"/>
                                      </p:to>
                                    </p:set>
                                    <p:animEffect transition="in" filter="fade">
                                      <p:cBhvr>
                                        <p:cTn id="16" dur="400"/>
                                        <p:tgtEl>
                                          <p:spTgt spid="122"/>
                                        </p:tgtEl>
                                      </p:cBhvr>
                                    </p:animEffect>
                                  </p:childTnLst>
                                </p:cTn>
                              </p:par>
                              <p:par>
                                <p:cTn id="17" presetID="10" presetClass="entr" presetSubtype="0" fill="hold" nodeType="withEffect">
                                  <p:stCondLst>
                                    <p:cond delay="0"/>
                                  </p:stCondLst>
                                  <p:childTnLst>
                                    <p:set>
                                      <p:cBhvr>
                                        <p:cTn id="19" dur="1" fill="hold">
                                          <p:stCondLst>
                                            <p:cond delay="0"/>
                                          </p:stCondLst>
                                        </p:cTn>
                                        <p:tgtEl>
                                          <p:spTgt spid="123"/>
                                        </p:tgtEl>
                                        <p:attrNameLst>
                                          <p:attrName>style.visibility</p:attrName>
                                        </p:attrNameLst>
                                      </p:cBhvr>
                                      <p:to>
                                        <p:strVal val="visible"/>
                                      </p:to>
                                    </p:set>
                                    <p:animEffect transition="in" filter="fade">
                                      <p:cBhvr>
                                        <p:cTn id="20" dur="4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23" presetID="10" presetClass="entr" presetSubtype="0" fill="hold" nodeType="clickEffect">
                                  <p:stCondLst>
                                    <p:cond delay="0"/>
                                  </p:stCondLst>
                                  <p:childTnLst>
                                    <p:set>
                                      <p:cBhvr>
                                        <p:cTn id="25" dur="1" fill="hold">
                                          <p:stCondLst>
                                            <p:cond delay="0"/>
                                          </p:stCondLst>
                                        </p:cTn>
                                        <p:tgtEl>
                                          <p:spTgt spid="124"/>
                                        </p:tgtEl>
                                        <p:attrNameLst>
                                          <p:attrName>style.visibility</p:attrName>
                                        </p:attrNameLst>
                                      </p:cBhvr>
                                      <p:to>
                                        <p:strVal val="visible"/>
                                      </p:to>
                                    </p:set>
                                    <p:animEffect transition="in" filter="fade">
                                      <p:cBhvr>
                                        <p:cTn id="26" dur="400"/>
                                        <p:tgtEl>
                                          <p:spTgt spid="124"/>
                                        </p:tgtEl>
                                      </p:cBhvr>
                                    </p:animEffect>
                                  </p:childTnLst>
                                </p:cTn>
                              </p:par>
                              <p:par>
                                <p:cTn id="27" presetID="10" presetClass="entr" presetSubtype="0" fill="hold" nodeType="withEffect">
                                  <p:stCondLst>
                                    <p:cond delay="0"/>
                                  </p:stCondLst>
                                  <p:childTnLst>
                                    <p:set>
                                      <p:cBhvr>
                                        <p:cTn id="29" dur="1" fill="hold">
                                          <p:stCondLst>
                                            <p:cond delay="0"/>
                                          </p:stCondLst>
                                        </p:cTn>
                                        <p:tgtEl>
                                          <p:spTgt spid="125"/>
                                        </p:tgtEl>
                                        <p:attrNameLst>
                                          <p:attrName>style.visibility</p:attrName>
                                        </p:attrNameLst>
                                      </p:cBhvr>
                                      <p:to>
                                        <p:strVal val="visible"/>
                                      </p:to>
                                    </p:set>
                                    <p:animEffect transition="in" filter="fade">
                                      <p:cBhvr>
                                        <p:cTn id="3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800000"/>
            <a:ext cx="7772400" cy="900000"/>
          </a:xfrm>
          <a:prstGeom prst="rect">
            <a:avLst/>
          </a:prstGeom>
          <a:noFill/>
          <a:ln>
            <a:noFill/>
          </a:ln>
        </p:spPr>
        <p:txBody>
          <a:bodyPr wrap="square" lIns="0" tIns="0" rIns="0" bIns="0" anchor="t">
            <a:normAutofit/>
          </a:bodyPr>
          <a:lstStyle/>
          <a:p>
            <a:pPr algn="ctr">
              <a:buNone/>
            </a:pPr>
            <a:r>
              <a:rPr lang="en-US" sz="2200" b="1" i="0" dirty="0">
                <a:solidFill>
                  <a:srgbClr val="000000"/>
                </a:solidFill>
              </a:rPr>
              <a:t xml:space="preserve">Constraints are not objectives.</a:t>
            </a:r>
          </a:p>
          <a:p>
            <a:pPr algn="ctr">
              <a:spcBef>
                <a:spcPts val="200"/>
              </a:spcBef>
              <a:buNone/>
            </a:pPr>
            <a:r>
              <a:rPr lang="en-US" sz="2000" b="0" i="0" dirty="0">
                <a:solidFill>
                  <a:srgbClr val="000000"/>
                </a:solidFill>
              </a:rPr>
              <a:t xml:space="preserve">Specification first removes infeasible candidates; then dominance removes the clearly-worse ones.</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a:bodyPr>
          <a:lstStyle/>
          <a:p>
            <a:pPr algn="l">
              <a:buNone/>
            </a:pPr>
            <a:r>
              <a:rPr lang="en-US" sz="1300" b="1" i="0" dirty="0">
                <a:solidFill>
                  <a:srgbClr val="8E6F3E"/>
                </a:solidFill>
              </a:rPr>
              <a:t xml:space="preserve">STAGE 1 — SPECIFICATION</a:t>
            </a:r>
          </a:p>
        </p:txBody>
      </p:sp>
      <p:sp>
        <p:nvSpPr>
          <p:cNvPr id="101" name="S1A"/>
          <p:cNvSpPr/>
          <p:nvPr/>
        </p:nvSpPr>
        <p:spPr>
          <a:xfrm>
            <a:off x="685800" y="1750000"/>
            <a:ext cx="780000" cy="8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600" b="1" i="0" dirty="0">
                <a:solidFill>
                  <a:srgbClr val="5C4826"/>
                </a:solidFill>
              </a:rPr>
              <a:t xml:space="preserve">A</a:t>
            </a:r>
          </a:p>
          <a:p>
            <a:pPr algn="ctr">
              <a:spcBef>
                <a:spcPts val="300"/>
              </a:spcBef>
              <a:buNone/>
            </a:pPr>
            <a:r>
              <a:rPr lang="en-US" sz="1600" b="1" i="0" dirty="0">
                <a:solidFill>
                  <a:srgbClr val="1F7A4D"/>
                </a:solidFill>
              </a:rPr>
              <a:t xml:space="preserve">✓</a:t>
            </a:r>
          </a:p>
        </p:txBody>
      </p:sp>
      <p:sp>
        <p:nvSpPr>
          <p:cNvPr id="102" name="S1B"/>
          <p:cNvSpPr/>
          <p:nvPr/>
        </p:nvSpPr>
        <p:spPr>
          <a:xfrm>
            <a:off x="1565800" y="1750000"/>
            <a:ext cx="780000" cy="850000"/>
          </a:xfrm>
          <a:prstGeom prst="rect">
            <a:avLst/>
          </a:prstGeom>
          <a:solidFill>
            <a:srgbClr val="F5F1E8"/>
          </a:solidFill>
          <a:ln w="19050">
            <a:solidFill>
              <a:srgbClr val="B23B3B"/>
            </a:solidFill>
          </a:ln>
        </p:spPr>
        <p:txBody>
          <a:bodyPr wrap="square" lIns="54864" tIns="27432" rIns="54864" bIns="27432" anchor="ctr">
            <a:normAutofit/>
          </a:bodyPr>
          <a:lstStyle/>
          <a:p>
            <a:pPr algn="ctr">
              <a:buNone/>
            </a:pPr>
            <a:r>
              <a:rPr lang="en-US" sz="1600" b="1" i="0" dirty="0">
                <a:solidFill>
                  <a:srgbClr val="5C4826"/>
                </a:solidFill>
              </a:rPr>
              <a:t xml:space="preserve">B</a:t>
            </a:r>
          </a:p>
          <a:p>
            <a:pPr algn="ctr">
              <a:spcBef>
                <a:spcPts val="300"/>
              </a:spcBef>
              <a:buNone/>
            </a:pPr>
            <a:r>
              <a:rPr lang="en-US" sz="1600" b="1" i="0" dirty="0">
                <a:solidFill>
                  <a:srgbClr val="B23B3B"/>
                </a:solidFill>
              </a:rPr>
              <a:t xml:space="preserve">✗</a:t>
            </a:r>
          </a:p>
        </p:txBody>
      </p:sp>
      <p:sp>
        <p:nvSpPr>
          <p:cNvPr id="103" name="S1C"/>
          <p:cNvSpPr/>
          <p:nvPr/>
        </p:nvSpPr>
        <p:spPr>
          <a:xfrm>
            <a:off x="2445800" y="1750000"/>
            <a:ext cx="780000" cy="8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600" b="1" i="0" dirty="0">
                <a:solidFill>
                  <a:srgbClr val="5C4826"/>
                </a:solidFill>
              </a:rPr>
              <a:t xml:space="preserve">C</a:t>
            </a:r>
          </a:p>
          <a:p>
            <a:pPr algn="ctr">
              <a:spcBef>
                <a:spcPts val="300"/>
              </a:spcBef>
              <a:buNone/>
            </a:pPr>
            <a:r>
              <a:rPr lang="en-US" sz="1600" b="1" i="0" dirty="0">
                <a:solidFill>
                  <a:srgbClr val="1F7A4D"/>
                </a:solidFill>
              </a:rPr>
              <a:t xml:space="preserve">✓</a:t>
            </a:r>
          </a:p>
        </p:txBody>
      </p:sp>
      <p:sp>
        <p:nvSpPr>
          <p:cNvPr id="104" name="S1D"/>
          <p:cNvSpPr/>
          <p:nvPr/>
        </p:nvSpPr>
        <p:spPr>
          <a:xfrm>
            <a:off x="3325800" y="1750000"/>
            <a:ext cx="780000" cy="8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600" b="1" i="0" dirty="0">
                <a:solidFill>
                  <a:srgbClr val="5C4826"/>
                </a:solidFill>
              </a:rPr>
              <a:t xml:space="preserve">D</a:t>
            </a:r>
          </a:p>
          <a:p>
            <a:pPr algn="ctr">
              <a:spcBef>
                <a:spcPts val="300"/>
              </a:spcBef>
              <a:buNone/>
            </a:pPr>
            <a:r>
              <a:rPr lang="en-US" sz="1600" b="1" i="0" dirty="0">
                <a:solidFill>
                  <a:srgbClr val="1F7A4D"/>
                </a:solidFill>
              </a:rPr>
              <a:t xml:space="preserve">✓</a:t>
            </a:r>
          </a:p>
        </p:txBody>
      </p:sp>
      <p:sp>
        <p:nvSpPr>
          <p:cNvPr id="105" name="S1Btag"/>
          <p:cNvSpPr txBox="1"/>
          <p:nvPr/>
        </p:nvSpPr>
        <p:spPr>
          <a:xfrm>
            <a:off x="1145800" y="2700000"/>
            <a:ext cx="1600000" cy="500000"/>
          </a:xfrm>
          <a:prstGeom prst="rect">
            <a:avLst/>
          </a:prstGeom>
          <a:noFill/>
          <a:ln>
            <a:noFill/>
          </a:ln>
        </p:spPr>
        <p:txBody>
          <a:bodyPr wrap="square" lIns="0" tIns="0" rIns="0" bIns="0" anchor="t">
            <a:normAutofit/>
          </a:bodyPr>
          <a:lstStyle/>
          <a:p>
            <a:pPr algn="ctr">
              <a:buNone/>
            </a:pPr>
            <a:r>
              <a:rPr lang="en-US" sz="1050" b="0" i="1" dirty="0">
                <a:solidFill>
                  <a:srgbClr val="B23B3B"/>
                </a:solidFill>
              </a:rPr>
              <a:t xml:space="preserve">B violates</a:t>
            </a:r>
          </a:p>
          <a:p>
            <a:pPr algn="ctr">
              <a:spcBef>
                <a:spcPts val="300"/>
              </a:spcBef>
              <a:buNone/>
            </a:pPr>
            <a:r>
              <a:rPr lang="en-US" sz="1050" b="0" i="1" dirty="0">
                <a:solidFill>
                  <a:srgbClr val="B23B3B"/>
                </a:solidFill>
              </a:rPr>
              <a:t xml:space="preserve">required latency</a:t>
            </a:r>
          </a:p>
        </p:txBody>
      </p:sp>
      <p:cxnSp>
        <p:nvCxnSpPr>
          <p:cNvPr id="106" name="Div"/>
          <p:cNvCxnSpPr/>
          <p:nvPr/>
        </p:nvCxnSpPr>
        <p:spPr>
          <a:xfrm>
            <a:off x="4600000" y="1350000"/>
            <a:ext cx="0" cy="2950000"/>
          </a:xfrm>
          <a:prstGeom prst="line">
            <a:avLst/>
          </a:prstGeom>
          <a:ln w="12700">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a:bodyPr>
          <a:lstStyle/>
          <a:p>
            <a:pPr algn="l">
              <a:buNone/>
            </a:pPr>
            <a:r>
              <a:rPr lang="en-US" sz="1300" b="1" i="0" dirty="0">
                <a:solidFill>
                  <a:srgbClr val="8E6F3E"/>
                </a:solidFill>
              </a:rPr>
              <a:t xml:space="preserve">STAGE 2 — DOMINANCE</a:t>
            </a:r>
          </a:p>
        </p:txBody>
      </p:sp>
      <p:cxnSp>
        <p:nvCxnSpPr>
          <p:cNvPr id="108" name="AxX"/>
          <p:cNvCxnSpPr/>
          <p:nvPr/>
        </p:nvCxnSpPr>
        <p:spPr>
          <a:xfrm>
            <a:off x="5100000" y="4100000"/>
            <a:ext cx="3250000" cy="0"/>
          </a:xfrm>
          <a:prstGeom prst="line">
            <a:avLst/>
          </a:prstGeom>
          <a:ln w="19050">
            <a:solidFill>
              <a:srgbClr val="8E6F3E"/>
            </a:solidFill>
            <a:tailEnd type="triangle" w="med" len="med"/>
          </a:ln>
        </p:spPr>
      </p:cxnSp>
      <p:cxnSp>
        <p:nvCxnSpPr>
          <p:cNvPr id="109" name="AxY"/>
          <p:cNvCxnSpPr/>
          <p:nvPr/>
        </p:nvCxnSpPr>
        <p:spPr>
          <a:xfrm flipV="1">
            <a:off x="5100000" y="1750000"/>
            <a:ext cx="0" cy="2350000"/>
          </a:xfrm>
          <a:prstGeom prst="line">
            <a:avLst/>
          </a:prstGeom>
          <a:ln w="19050">
            <a:solidFill>
              <a:srgbClr val="8E6F3E"/>
            </a:solidFill>
            <a:tailEnd type="triangle" w="med" len="med"/>
          </a:ln>
        </p:spPr>
      </p:cxnSp>
      <p:sp>
        <p:nvSpPr>
          <p:cNvPr id="110" name="AxXLbl"/>
          <p:cNvSpPr txBox="1"/>
          <p:nvPr/>
        </p:nvSpPr>
        <p:spPr>
          <a:xfrm>
            <a:off x="7300000" y="4180000"/>
            <a:ext cx="1100000" cy="260000"/>
          </a:xfrm>
          <a:prstGeom prst="rect">
            <a:avLst/>
          </a:prstGeom>
          <a:noFill/>
          <a:ln>
            <a:noFill/>
          </a:ln>
        </p:spPr>
        <p:txBody>
          <a:bodyPr wrap="square" lIns="0" tIns="0" rIns="0" bIns="0" anchor="t">
            <a:normAutofit/>
          </a:bodyPr>
          <a:lstStyle/>
          <a:p>
            <a:pPr algn="r">
              <a:buNone/>
            </a:pPr>
            <a:r>
              <a:rPr lang="en-US" sz="1000" b="0" i="1" dirty="0">
                <a:solidFill>
                  <a:srgbClr val="555960"/>
                </a:solidFill>
              </a:rPr>
              <a:t xml:space="preserve">better →</a:t>
            </a:r>
          </a:p>
        </p:txBody>
      </p:sp>
      <p:sp>
        <p:nvSpPr>
          <p:cNvPr id="111" name="AxYLbl"/>
          <p:cNvSpPr txBox="1"/>
          <p:nvPr/>
        </p:nvSpPr>
        <p:spPr>
          <a:xfrm rot="-5400000">
            <a:off x="4300000" y="2050000"/>
            <a:ext cx="1100000" cy="26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 xml:space="preserve">better →</a:t>
            </a:r>
          </a:p>
        </p:txBody>
      </p:sp>
      <p:sp>
        <p:nvSpPr>
          <p:cNvPr id="112" name="DomRegion"/>
          <p:cNvSpPr/>
          <p:nvPr/>
        </p:nvSpPr>
        <p:spPr>
          <a:xfrm>
            <a:off x="5100000" y="2450000"/>
            <a:ext cx="2300000" cy="1650000"/>
          </a:xfrm>
          <a:prstGeom prst="rect">
            <a:avLst/>
          </a:prstGeom>
          <a:solidFill>
            <a:srgbClr val="B23B3B">
              <a:alpha val="9000"/>
            </a:srgbClr>
          </a:solidFill>
          <a:ln w="12700">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305000" y="2355000"/>
            <a:ext cx="190000" cy="190000"/>
          </a:xfrm>
          <a:prstGeom prst="ellipse">
            <a:avLst/>
          </a:prstGeom>
          <a:solidFill>
            <a:srgbClr val="8E6F3E"/>
          </a:solidFill>
          <a:ln>
            <a:noFill/>
          </a:ln>
        </p:spPr>
        <p:txBody>
          <a:bodyPr wrap="square" lIns="54864" tIns="27432" rIns="54864" bIns="27432" anchor="ctr">
            <a:normAutofit/>
          </a:bodyPr>
          <a:lstStyle/>
          <a:p>
            <a:endParaRPr/>
          </a:p>
        </p:txBody>
      </p:sp>
      <p:sp>
        <p:nvSpPr>
          <p:cNvPr id="114" name="PtLblA"/>
          <p:cNvSpPr txBox="1"/>
          <p:nvPr/>
        </p:nvSpPr>
        <p:spPr>
          <a:xfrm>
            <a:off x="7510000" y="2160000"/>
            <a:ext cx="350000" cy="300000"/>
          </a:xfrm>
          <a:prstGeom prst="rect">
            <a:avLst/>
          </a:prstGeom>
          <a:noFill/>
          <a:ln>
            <a:noFill/>
          </a:ln>
        </p:spPr>
        <p:txBody>
          <a:bodyPr wrap="square" lIns="0" tIns="0" rIns="0" bIns="0" anchor="t">
            <a:normAutofit/>
          </a:bodyPr>
          <a:lstStyle/>
          <a:p>
            <a:pPr algn="l">
              <a:buNone/>
            </a:pPr>
            <a:r>
              <a:rPr lang="en-US" sz="1400" b="1" i="0" dirty="0">
                <a:solidFill>
                  <a:srgbClr val="5C4826"/>
                </a:solidFill>
              </a:rPr>
              <a:t xml:space="preserve">A</a:t>
            </a:r>
          </a:p>
        </p:txBody>
      </p:sp>
      <p:sp>
        <p:nvSpPr>
          <p:cNvPr id="115" name="PtC"/>
          <p:cNvSpPr/>
          <p:nvPr/>
        </p:nvSpPr>
        <p:spPr>
          <a:xfrm>
            <a:off x="5705000" y="1855000"/>
            <a:ext cx="190000" cy="190000"/>
          </a:xfrm>
          <a:prstGeom prst="ellipse">
            <a:avLst/>
          </a:prstGeom>
          <a:solidFill>
            <a:srgbClr val="8E6F3E"/>
          </a:solidFill>
          <a:ln>
            <a:noFill/>
          </a:ln>
        </p:spPr>
        <p:txBody>
          <a:bodyPr wrap="square" lIns="54864" tIns="27432" rIns="54864" bIns="27432" anchor="ctr">
            <a:normAutofit/>
          </a:bodyPr>
          <a:lstStyle/>
          <a:p>
            <a:endParaRPr/>
          </a:p>
        </p:txBody>
      </p:sp>
      <p:sp>
        <p:nvSpPr>
          <p:cNvPr id="116" name="PtLblC"/>
          <p:cNvSpPr txBox="1"/>
          <p:nvPr/>
        </p:nvSpPr>
        <p:spPr>
          <a:xfrm>
            <a:off x="5910000" y="1660000"/>
            <a:ext cx="350000" cy="300000"/>
          </a:xfrm>
          <a:prstGeom prst="rect">
            <a:avLst/>
          </a:prstGeom>
          <a:noFill/>
          <a:ln>
            <a:noFill/>
          </a:ln>
        </p:spPr>
        <p:txBody>
          <a:bodyPr wrap="square" lIns="0" tIns="0" rIns="0" bIns="0" anchor="t">
            <a:normAutofit/>
          </a:bodyPr>
          <a:lstStyle/>
          <a:p>
            <a:pPr algn="l">
              <a:buNone/>
            </a:pPr>
            <a:r>
              <a:rPr lang="en-US" sz="1400" b="1" i="0" dirty="0">
                <a:solidFill>
                  <a:srgbClr val="5C4826"/>
                </a:solidFill>
              </a:rPr>
              <a:t xml:space="preserve">C</a:t>
            </a:r>
          </a:p>
        </p:txBody>
      </p:sp>
      <p:sp>
        <p:nvSpPr>
          <p:cNvPr id="117" name="PtD"/>
          <p:cNvSpPr/>
          <p:nvPr/>
        </p:nvSpPr>
        <p:spPr>
          <a:xfrm>
            <a:off x="6505000" y="3205000"/>
            <a:ext cx="190000" cy="190000"/>
          </a:xfrm>
          <a:prstGeom prst="ellipse">
            <a:avLst/>
          </a:prstGeom>
          <a:solidFill>
            <a:srgbClr val="B23B3B"/>
          </a:solidFill>
          <a:ln>
            <a:noFill/>
          </a:ln>
        </p:spPr>
        <p:txBody>
          <a:bodyPr wrap="square" lIns="54864" tIns="27432" rIns="54864" bIns="27432" anchor="ctr">
            <a:normAutofit/>
          </a:bodyPr>
          <a:lstStyle/>
          <a:p>
            <a:endParaRPr/>
          </a:p>
        </p:txBody>
      </p:sp>
      <p:sp>
        <p:nvSpPr>
          <p:cNvPr id="118" name="PtLblD"/>
          <p:cNvSpPr txBox="1"/>
          <p:nvPr/>
        </p:nvSpPr>
        <p:spPr>
          <a:xfrm>
            <a:off x="6710000" y="3010000"/>
            <a:ext cx="350000" cy="300000"/>
          </a:xfrm>
          <a:prstGeom prst="rect">
            <a:avLst/>
          </a:prstGeom>
          <a:noFill/>
          <a:ln>
            <a:noFill/>
          </a:ln>
        </p:spPr>
        <p:txBody>
          <a:bodyPr wrap="square" lIns="0" tIns="0" rIns="0" bIns="0" anchor="t">
            <a:normAutofit/>
          </a:bodyPr>
          <a:lstStyle/>
          <a:p>
            <a:pPr algn="l">
              <a:buNone/>
            </a:pPr>
            <a:r>
              <a:rPr lang="en-US" sz="1400" b="1" i="0" dirty="0">
                <a:solidFill>
                  <a:srgbClr val="B23B3B"/>
                </a:solidFill>
              </a:rPr>
              <a:t xml:space="preserve">D</a:t>
            </a:r>
          </a:p>
        </p:txBody>
      </p:sp>
      <p:sp>
        <p:nvSpPr>
          <p:cNvPr id="119" name="DomLbl"/>
          <p:cNvSpPr txBox="1"/>
          <p:nvPr/>
        </p:nvSpPr>
        <p:spPr>
          <a:xfrm>
            <a:off x="5200000" y="3480000"/>
            <a:ext cx="1900000" cy="300000"/>
          </a:xfrm>
          <a:prstGeom prst="rect">
            <a:avLst/>
          </a:prstGeom>
          <a:noFill/>
          <a:ln>
            <a:noFill/>
          </a:ln>
        </p:spPr>
        <p:txBody>
          <a:bodyPr wrap="square" lIns="0" tIns="0" rIns="0" bIns="0" anchor="t">
            <a:normAutofit/>
          </a:bodyPr>
          <a:lstStyle/>
          <a:p>
            <a:pPr algn="l">
              <a:buNone/>
            </a:pPr>
            <a:r>
              <a:rPr lang="en-US" sz="1100" b="0" i="1" dirty="0">
                <a:solidFill>
                  <a:srgbClr val="B23B3B"/>
                </a:solidFill>
              </a:rPr>
              <a:t xml:space="preserve">D is dominated by 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A real tradeoff requires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Mathematics has not chosen for us.</a:t>
            </a:r>
          </a:p>
        </p:txBody>
      </p:sp>
      <p:cxnSp>
        <p:nvCxnSpPr>
          <p:cNvPr id="100" name="AxX"/>
          <p:cNvCxnSpPr/>
          <p:nvPr/>
        </p:nvCxnSpPr>
        <p:spPr>
          <a:xfrm>
            <a:off x="1700000" y="4300000"/>
            <a:ext cx="6250000" cy="0"/>
          </a:xfrm>
          <a:prstGeom prst="line">
            <a:avLst/>
          </a:prstGeom>
          <a:ln w="19050">
            <a:solidFill>
              <a:srgbClr val="8E6F3E"/>
            </a:solidFill>
            <a:tailEnd type="triangle" w="med" len="med"/>
          </a:ln>
        </p:spPr>
      </p:cxnSp>
      <p:cxnSp>
        <p:nvCxnSpPr>
          <p:cNvPr id="101" name="AxY"/>
          <p:cNvCxnSpPr/>
          <p:nvPr/>
        </p:nvCxnSpPr>
        <p:spPr>
          <a:xfrm flipV="1">
            <a:off x="1700000" y="1400000"/>
            <a:ext cx="0" cy="2900000"/>
          </a:xfrm>
          <a:prstGeom prst="line">
            <a:avLst/>
          </a:prstGeom>
          <a:ln w="19050">
            <a:solidFill>
              <a:srgbClr val="8E6F3E"/>
            </a:solidFill>
            <a:tailEnd type="triangle" w="med" len="med"/>
          </a:ln>
        </p:spPr>
      </p:cxnSp>
      <p:sp>
        <p:nvSpPr>
          <p:cNvPr id="102" name="AxXLbl"/>
          <p:cNvSpPr txBox="1"/>
          <p:nvPr/>
        </p:nvSpPr>
        <p:spPr>
          <a:xfrm>
            <a:off x="5900000" y="4390000"/>
            <a:ext cx="2050000" cy="280000"/>
          </a:xfrm>
          <a:prstGeom prst="rect">
            <a:avLst/>
          </a:prstGeom>
          <a:noFill/>
          <a:ln>
            <a:noFill/>
          </a:ln>
        </p:spPr>
        <p:txBody>
          <a:bodyPr wrap="square" lIns="0" tIns="0" rIns="0" bIns="0" anchor="t">
            <a:normAutofit/>
          </a:bodyPr>
          <a:lstStyle/>
          <a:p>
            <a:pPr algn="r">
              <a:buNone/>
            </a:pPr>
            <a:r>
              <a:rPr lang="en-US" sz="1200" b="0" i="1" dirty="0">
                <a:solidFill>
                  <a:srgbClr val="555960"/>
                </a:solidFill>
              </a:rPr>
              <a:t xml:space="preserve">Property X → better</a:t>
            </a:r>
          </a:p>
        </p:txBody>
      </p:sp>
      <p:sp>
        <p:nvSpPr>
          <p:cNvPr id="103" name="AxYLbl"/>
          <p:cNvSpPr txBox="1"/>
          <p:nvPr/>
        </p:nvSpPr>
        <p:spPr>
          <a:xfrm rot="-5400000">
            <a:off x="250000" y="2500000"/>
            <a:ext cx="2050000" cy="28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 xml:space="preserve">Property Y → better</a:t>
            </a:r>
          </a:p>
        </p:txBody>
      </p:sp>
      <p:cxnSp>
        <p:nvCxnSpPr>
          <p:cNvPr id="104" name="Fr0"/>
          <p:cNvCxnSpPr/>
          <p:nvPr/>
        </p:nvCxnSpPr>
        <p:spPr>
          <a:xfrm>
            <a:off x="2500000" y="1800000"/>
            <a:ext cx="1600000" cy="500000"/>
          </a:xfrm>
          <a:prstGeom prst="line">
            <a:avLst/>
          </a:prstGeom>
          <a:ln w="19050">
            <a:solidFill>
              <a:srgbClr val="C9B991"/>
            </a:solidFill>
            <a:prstDash val="dash"/>
          </a:ln>
        </p:spPr>
      </p:cxnSp>
      <p:cxnSp>
        <p:nvCxnSpPr>
          <p:cNvPr id="105" name="Fr1"/>
          <p:cNvCxnSpPr/>
          <p:nvPr/>
        </p:nvCxnSpPr>
        <p:spPr>
          <a:xfrm>
            <a:off x="4100000" y="2300000"/>
            <a:ext cx="1600000" cy="700000"/>
          </a:xfrm>
          <a:prstGeom prst="line">
            <a:avLst/>
          </a:prstGeom>
          <a:ln w="19050">
            <a:solidFill>
              <a:srgbClr val="C9B991"/>
            </a:solidFill>
            <a:prstDash val="dash"/>
          </a:ln>
        </p:spPr>
      </p:cxnSp>
      <p:cxnSp>
        <p:nvCxnSpPr>
          <p:cNvPr id="106" name="Fr2"/>
          <p:cNvCxnSpPr/>
          <p:nvPr/>
        </p:nvCxnSpPr>
        <p:spPr>
          <a:xfrm>
            <a:off x="5700000" y="3000000"/>
            <a:ext cx="1500000" cy="850000"/>
          </a:xfrm>
          <a:prstGeom prst="line">
            <a:avLst/>
          </a:prstGeom>
          <a:ln w="19050">
            <a:solidFill>
              <a:srgbClr val="C9B991"/>
            </a:solidFill>
            <a:prstDash val="dash"/>
          </a:ln>
        </p:spPr>
      </p:cxnSp>
      <p:sp>
        <p:nvSpPr>
          <p:cNvPr id="107" name="PtA"/>
          <p:cNvSpPr/>
          <p:nvPr/>
        </p:nvSpPr>
        <p:spPr>
          <a:xfrm>
            <a:off x="2400000" y="1700000"/>
            <a:ext cx="200000" cy="200000"/>
          </a:xfrm>
          <a:prstGeom prst="ellipse">
            <a:avLst/>
          </a:prstGeom>
          <a:solidFill>
            <a:srgbClr val="8E6F3E"/>
          </a:solidFill>
          <a:ln>
            <a:noFill/>
          </a:ln>
        </p:spPr>
        <p:txBody>
          <a:bodyPr wrap="square" lIns="54864" tIns="27432" rIns="54864" bIns="27432" anchor="ctr">
            <a:normAutofit/>
          </a:bodyPr>
          <a:lstStyle/>
          <a:p>
            <a:endParaRPr/>
          </a:p>
        </p:txBody>
      </p:sp>
      <p:sp>
        <p:nvSpPr>
          <p:cNvPr id="108" name="PtLblA"/>
          <p:cNvSpPr txBox="1"/>
          <p:nvPr/>
        </p:nvSpPr>
        <p:spPr>
          <a:xfrm>
            <a:off x="2620000" y="1460000"/>
            <a:ext cx="400000" cy="320000"/>
          </a:xfrm>
          <a:prstGeom prst="rect">
            <a:avLst/>
          </a:prstGeom>
          <a:noFill/>
          <a:ln>
            <a:noFill/>
          </a:ln>
        </p:spPr>
        <p:txBody>
          <a:bodyPr wrap="square" lIns="0" tIns="0" rIns="0" bIns="0" anchor="t">
            <a:normAutofit/>
          </a:bodyPr>
          <a:lstStyle/>
          <a:p>
            <a:pPr algn="l">
              <a:buNone/>
            </a:pPr>
            <a:r>
              <a:rPr lang="en-US" sz="1400" b="1" i="0" dirty="0">
                <a:solidFill>
                  <a:srgbClr val="5C4826"/>
                </a:solidFill>
              </a:rPr>
              <a:t xml:space="preserve">A</a:t>
            </a:r>
          </a:p>
        </p:txBody>
      </p:sp>
      <p:sp>
        <p:nvSpPr>
          <p:cNvPr id="109" name="PtB"/>
          <p:cNvSpPr/>
          <p:nvPr/>
        </p:nvSpPr>
        <p:spPr>
          <a:xfrm>
            <a:off x="4000000" y="2200000"/>
            <a:ext cx="200000" cy="200000"/>
          </a:xfrm>
          <a:prstGeom prst="ellipse">
            <a:avLst/>
          </a:prstGeom>
          <a:solidFill>
            <a:srgbClr val="8E6F3E"/>
          </a:solidFill>
          <a:ln>
            <a:noFill/>
          </a:ln>
        </p:spPr>
        <p:txBody>
          <a:bodyPr wrap="square" lIns="54864" tIns="27432" rIns="54864" bIns="27432" anchor="ctr">
            <a:normAutofit/>
          </a:bodyPr>
          <a:lstStyle/>
          <a:p>
            <a:endParaRPr/>
          </a:p>
        </p:txBody>
      </p:sp>
      <p:sp>
        <p:nvSpPr>
          <p:cNvPr id="110" name="PtLblB"/>
          <p:cNvSpPr txBox="1"/>
          <p:nvPr/>
        </p:nvSpPr>
        <p:spPr>
          <a:xfrm>
            <a:off x="4220000" y="1960000"/>
            <a:ext cx="400000" cy="320000"/>
          </a:xfrm>
          <a:prstGeom prst="rect">
            <a:avLst/>
          </a:prstGeom>
          <a:noFill/>
          <a:ln>
            <a:noFill/>
          </a:ln>
        </p:spPr>
        <p:txBody>
          <a:bodyPr wrap="square" lIns="0" tIns="0" rIns="0" bIns="0" anchor="t">
            <a:normAutofit/>
          </a:bodyPr>
          <a:lstStyle/>
          <a:p>
            <a:pPr algn="l">
              <a:buNone/>
            </a:pPr>
            <a:r>
              <a:rPr lang="en-US" sz="1400" b="1" i="0" dirty="0">
                <a:solidFill>
                  <a:srgbClr val="5C4826"/>
                </a:solidFill>
              </a:rPr>
              <a:t xml:space="preserve">B</a:t>
            </a:r>
          </a:p>
        </p:txBody>
      </p:sp>
      <p:sp>
        <p:nvSpPr>
          <p:cNvPr id="111" name="PtC"/>
          <p:cNvSpPr/>
          <p:nvPr/>
        </p:nvSpPr>
        <p:spPr>
          <a:xfrm>
            <a:off x="5600000" y="2900000"/>
            <a:ext cx="200000" cy="200000"/>
          </a:xfrm>
          <a:prstGeom prst="ellipse">
            <a:avLst/>
          </a:prstGeom>
          <a:solidFill>
            <a:srgbClr val="8E6F3E"/>
          </a:solidFill>
          <a:ln>
            <a:noFill/>
          </a:ln>
        </p:spPr>
        <p:txBody>
          <a:bodyPr wrap="square" lIns="54864" tIns="27432" rIns="54864" bIns="27432" anchor="ctr">
            <a:normAutofit/>
          </a:bodyPr>
          <a:lstStyle/>
          <a:p>
            <a:endParaRPr/>
          </a:p>
        </p:txBody>
      </p:sp>
      <p:sp>
        <p:nvSpPr>
          <p:cNvPr id="112" name="PtLblC"/>
          <p:cNvSpPr txBox="1"/>
          <p:nvPr/>
        </p:nvSpPr>
        <p:spPr>
          <a:xfrm>
            <a:off x="5820000" y="2660000"/>
            <a:ext cx="400000" cy="320000"/>
          </a:xfrm>
          <a:prstGeom prst="rect">
            <a:avLst/>
          </a:prstGeom>
          <a:noFill/>
          <a:ln>
            <a:noFill/>
          </a:ln>
        </p:spPr>
        <p:txBody>
          <a:bodyPr wrap="square" lIns="0" tIns="0" rIns="0" bIns="0" anchor="t">
            <a:normAutofit/>
          </a:bodyPr>
          <a:lstStyle/>
          <a:p>
            <a:pPr algn="l">
              <a:buNone/>
            </a:pPr>
            <a:r>
              <a:rPr lang="en-US" sz="1400" b="1" i="0" dirty="0">
                <a:solidFill>
                  <a:srgbClr val="5C4826"/>
                </a:solidFill>
              </a:rPr>
              <a:t xml:space="preserve">C</a:t>
            </a:r>
          </a:p>
        </p:txBody>
      </p:sp>
      <p:sp>
        <p:nvSpPr>
          <p:cNvPr id="113" name="PtD"/>
          <p:cNvSpPr/>
          <p:nvPr/>
        </p:nvSpPr>
        <p:spPr>
          <a:xfrm>
            <a:off x="7100000" y="3750000"/>
            <a:ext cx="200000" cy="200000"/>
          </a:xfrm>
          <a:prstGeom prst="ellipse">
            <a:avLst/>
          </a:prstGeom>
          <a:solidFill>
            <a:srgbClr val="8E6F3E"/>
          </a:solidFill>
          <a:ln>
            <a:noFill/>
          </a:ln>
        </p:spPr>
        <p:txBody>
          <a:bodyPr wrap="square" lIns="54864" tIns="27432" rIns="54864" bIns="27432" anchor="ctr">
            <a:normAutofit/>
          </a:bodyPr>
          <a:lstStyle/>
          <a:p>
            <a:endParaRPr/>
          </a:p>
        </p:txBody>
      </p:sp>
      <p:sp>
        <p:nvSpPr>
          <p:cNvPr id="114" name="PtLblD"/>
          <p:cNvSpPr txBox="1"/>
          <p:nvPr/>
        </p:nvSpPr>
        <p:spPr>
          <a:xfrm>
            <a:off x="7320000" y="3510000"/>
            <a:ext cx="400000" cy="320000"/>
          </a:xfrm>
          <a:prstGeom prst="rect">
            <a:avLst/>
          </a:prstGeom>
          <a:noFill/>
          <a:ln>
            <a:noFill/>
          </a:ln>
        </p:spPr>
        <p:txBody>
          <a:bodyPr wrap="square" lIns="0" tIns="0" rIns="0" bIns="0" anchor="t">
            <a:normAutofit/>
          </a:bodyPr>
          <a:lstStyle/>
          <a:p>
            <a:pPr algn="l">
              <a:buNone/>
            </a:pPr>
            <a:r>
              <a:rPr lang="en-US" sz="1400" b="1" i="0" dirty="0">
                <a:solidFill>
                  <a:srgbClr val="5C4826"/>
                </a:solidFill>
              </a:rPr>
              <a:t xml:space="preserve">D</a:t>
            </a:r>
          </a:p>
        </p:txBody>
      </p:sp>
      <p:sp>
        <p:nvSpPr>
          <p:cNvPr id="115" name="NoDom"/>
          <p:cNvSpPr txBox="1"/>
          <p:nvPr/>
        </p:nvSpPr>
        <p:spPr>
          <a:xfrm>
            <a:off x="5500000" y="1650000"/>
            <a:ext cx="2500000" cy="300000"/>
          </a:xfrm>
          <a:prstGeom prst="rect">
            <a:avLst/>
          </a:prstGeom>
          <a:noFill/>
          <a:ln>
            <a:noFill/>
          </a:ln>
        </p:spPr>
        <p:txBody>
          <a:bodyPr wrap="square" lIns="0" tIns="0" rIns="0" bIns="0" anchor="t">
            <a:normAutofit/>
          </a:bodyPr>
          <a:lstStyle/>
          <a:p>
            <a:pPr algn="l">
              <a:buNone/>
            </a:pPr>
            <a:r>
              <a:rPr lang="en-US" sz="1100" b="0" i="1" dirty="0">
                <a:solidFill>
                  <a:srgbClr val="555960"/>
                </a:solidFill>
              </a:rPr>
              <a:t xml:space="preserve">no point dominates another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 xml:space="preserve">Is the information worth more than it costs to obtain?</a:t>
            </a:r>
          </a:p>
        </p:txBody>
      </p:sp>
      <p:sp>
        <p:nvSpPr>
          <p:cNvPr id="100" name="Uncertain"/>
          <p:cNvSpPr/>
          <p:nvPr/>
        </p:nvSpPr>
        <p:spPr>
          <a:xfrm>
            <a:off x="685800" y="2400000"/>
            <a:ext cx="150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UNCERTAIN CHOICE</a:t>
            </a:r>
          </a:p>
        </p:txBody>
      </p:sp>
      <p:cxnSp>
        <p:nvCxnSpPr>
          <p:cNvPr id="101" name="A1"/>
          <p:cNvCxnSpPr/>
          <p:nvPr/>
        </p:nvCxnSpPr>
        <p:spPr>
          <a:xfrm>
            <a:off x="2185800" y="2725000"/>
            <a:ext cx="314200" cy="0"/>
          </a:xfrm>
          <a:prstGeom prst="line">
            <a:avLst/>
          </a:prstGeom>
          <a:ln w="19050">
            <a:solidFill>
              <a:srgbClr val="8E6F3E"/>
            </a:solidFill>
            <a:tailEnd type="triangle" w="med" len="med"/>
          </a:ln>
        </p:spPr>
      </p:cxnSp>
      <p:sp>
        <p:nvSpPr>
          <p:cNvPr id="102" name="Diamond"/>
          <p:cNvSpPr/>
          <p:nvPr/>
        </p:nvSpPr>
        <p:spPr>
          <a:xfrm>
            <a:off x="2550000" y="1900000"/>
            <a:ext cx="2300000" cy="1650000"/>
          </a:xfrm>
          <a:prstGeom prst="diamond">
            <a:avLst/>
          </a:prstGeom>
          <a:solidFill>
            <a:srgbClr val="FFFFFF"/>
          </a:solidFill>
          <a:ln w="19050">
            <a:solidFill>
              <a:srgbClr val="8E6F3E"/>
            </a:solidFill>
          </a:ln>
        </p:spPr>
        <p:txBody>
          <a:bodyPr wrap="square" lIns="180000" tIns="180000" rIns="180000" bIns="180000" anchor="ctr">
            <a:normAutofit/>
          </a:bodyPr>
          <a:lstStyle/>
          <a:p>
            <a:pPr algn="ctr">
              <a:buNone/>
            </a:pPr>
            <a:r>
              <a:rPr lang="en-US" sz="1050" b="1" i="0" dirty="0">
                <a:solidFill>
                  <a:srgbClr val="5C4826"/>
                </a:solidFill>
              </a:rPr>
              <a:t xml:space="preserve">Could knowing</a:t>
            </a:r>
          </a:p>
          <a:p>
            <a:pPr algn="ctr">
              <a:spcBef>
                <a:spcPts val="300"/>
              </a:spcBef>
              <a:buNone/>
            </a:pPr>
            <a:r>
              <a:rPr lang="en-US" sz="1050" b="1" i="0" dirty="0">
                <a:solidFill>
                  <a:srgbClr val="5C4826"/>
                </a:solidFill>
              </a:rPr>
              <a:t xml:space="preserve">more change</a:t>
            </a:r>
          </a:p>
          <a:p>
            <a:pPr algn="ctr">
              <a:spcBef>
                <a:spcPts val="300"/>
              </a:spcBef>
              <a:buNone/>
            </a:pPr>
            <a:r>
              <a:rPr lang="en-US" sz="1050" b="1" i="0" dirty="0">
                <a:solidFill>
                  <a:srgbClr val="5C4826"/>
                </a:solidFill>
              </a:rPr>
              <a:t xml:space="preserve">the decision?</a:t>
            </a:r>
          </a:p>
        </p:txBody>
      </p:sp>
      <p:cxnSp>
        <p:nvCxnSpPr>
          <p:cNvPr id="103" name="ANo"/>
          <p:cNvCxnSpPr/>
          <p:nvPr/>
        </p:nvCxnSpPr>
        <p:spPr>
          <a:xfrm>
            <a:off x="3700000" y="3550000"/>
            <a:ext cx="0" cy="500000"/>
          </a:xfrm>
          <a:prstGeom prst="line">
            <a:avLst/>
          </a:prstGeom>
          <a:ln w="19050">
            <a:solidFill>
              <a:srgbClr val="8E6F3E"/>
            </a:solidFill>
            <a:tailEnd type="triangle" w="med" len="med"/>
          </a:ln>
        </p:spPr>
      </p:cxnSp>
      <p:sp>
        <p:nvSpPr>
          <p:cNvPr id="104" name="NoLbl"/>
          <p:cNvSpPr txBox="1"/>
          <p:nvPr/>
        </p:nvSpPr>
        <p:spPr>
          <a:xfrm>
            <a:off x="3790000" y="3620000"/>
            <a:ext cx="500000" cy="280000"/>
          </a:xfrm>
          <a:prstGeom prst="rect">
            <a:avLst/>
          </a:prstGeom>
          <a:noFill/>
          <a:ln>
            <a:noFill/>
          </a:ln>
        </p:spPr>
        <p:txBody>
          <a:bodyPr wrap="square" lIns="0" tIns="0" rIns="0" bIns="0" anchor="t">
            <a:normAutofit/>
          </a:bodyPr>
          <a:lstStyle/>
          <a:p>
            <a:pPr algn="l">
              <a:buNone/>
            </a:pPr>
            <a:r>
              <a:rPr lang="en-US" sz="1100" b="1" i="0" dirty="0">
                <a:solidFill>
                  <a:srgbClr val="555960"/>
                </a:solidFill>
              </a:rPr>
              <a:t xml:space="preserve">NO</a:t>
            </a:r>
          </a:p>
        </p:txBody>
      </p:sp>
      <p:sp>
        <p:nvSpPr>
          <p:cNvPr id="105" name="Decide"/>
          <p:cNvSpPr/>
          <p:nvPr/>
        </p:nvSpPr>
        <p:spPr>
          <a:xfrm>
            <a:off x="3100000" y="4050000"/>
            <a:ext cx="12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DECIDE</a:t>
            </a:r>
          </a:p>
        </p:txBody>
      </p:sp>
      <p:cxnSp>
        <p:nvCxnSpPr>
          <p:cNvPr id="106" name="AYes"/>
          <p:cNvCxnSpPr/>
          <p:nvPr/>
        </p:nvCxnSpPr>
        <p:spPr>
          <a:xfrm>
            <a:off x="4850000" y="2725000"/>
            <a:ext cx="300000" cy="0"/>
          </a:xfrm>
          <a:prstGeom prst="line">
            <a:avLst/>
          </a:prstGeom>
          <a:ln w="19050">
            <a:solidFill>
              <a:srgbClr val="8E6F3E"/>
            </a:solidFill>
            <a:tailEnd type="triangle" w="med" len="med"/>
          </a:ln>
        </p:spPr>
      </p:cxnSp>
      <p:sp>
        <p:nvSpPr>
          <p:cNvPr id="107" name="YesLbl"/>
          <p:cNvSpPr txBox="1"/>
          <p:nvPr/>
        </p:nvSpPr>
        <p:spPr>
          <a:xfrm>
            <a:off x="4820000" y="2400000"/>
            <a:ext cx="600000" cy="280000"/>
          </a:xfrm>
          <a:prstGeom prst="rect">
            <a:avLst/>
          </a:prstGeom>
          <a:noFill/>
          <a:ln>
            <a:noFill/>
          </a:ln>
        </p:spPr>
        <p:txBody>
          <a:bodyPr wrap="square" lIns="0" tIns="0" rIns="0" bIns="0" anchor="t">
            <a:normAutofit/>
          </a:bodyPr>
          <a:lstStyle/>
          <a:p>
            <a:pPr algn="l">
              <a:buNone/>
            </a:pPr>
            <a:r>
              <a:rPr lang="en-US" sz="1100" b="1" i="0" dirty="0">
                <a:solidFill>
                  <a:srgbClr val="555960"/>
                </a:solidFill>
              </a:rPr>
              <a:t xml:space="preserve">YES</a:t>
            </a:r>
          </a:p>
        </p:txBody>
      </p:sp>
      <p:sp>
        <p:nvSpPr>
          <p:cNvPr id="108" name="BuyEv"/>
          <p:cNvSpPr/>
          <p:nvPr/>
        </p:nvSpPr>
        <p:spPr>
          <a:xfrm>
            <a:off x="5150000" y="2400000"/>
            <a:ext cx="1400000" cy="650000"/>
          </a:xfrm>
          <a:prstGeom prst="rect">
            <a:avLst/>
          </a:prstGeom>
          <a:solidFill>
            <a:srgbClr val="8E6F3E"/>
          </a:solidFill>
          <a:ln>
            <a:noFill/>
          </a:ln>
        </p:spPr>
        <p:txBody>
          <a:bodyPr wrap="square" lIns="54864" tIns="27432" rIns="54864" bIns="27432" anchor="ctr">
            <a:normAutofit/>
          </a:bodyPr>
          <a:lstStyle/>
          <a:p>
            <a:pPr algn="ctr">
              <a:buNone/>
            </a:pPr>
            <a:r>
              <a:rPr lang="en-US" sz="1300" b="1" i="0" dirty="0">
                <a:solidFill>
                  <a:srgbClr val="FFFFFF"/>
                </a:solidFill>
              </a:rPr>
              <a:t xml:space="preserve">BUY EVIDENCE</a:t>
            </a:r>
          </a:p>
        </p:txBody>
      </p:sp>
      <p:sp>
        <p:nvSpPr>
          <p:cNvPr id="109" name="Kid0"/>
          <p:cNvSpPr/>
          <p:nvPr/>
        </p:nvSpPr>
        <p:spPr>
          <a:xfrm>
            <a:off x="6850000" y="1500000"/>
            <a:ext cx="1150000" cy="4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MODEL</a:t>
            </a:r>
          </a:p>
        </p:txBody>
      </p:sp>
      <p:cxnSp>
        <p:nvCxnSpPr>
          <p:cNvPr id="110" name="KA0"/>
          <p:cNvCxnSpPr/>
          <p:nvPr/>
        </p:nvCxnSpPr>
        <p:spPr>
          <a:xfrm flipV="1">
            <a:off x="6550000" y="1740000"/>
            <a:ext cx="300000" cy="985000"/>
          </a:xfrm>
          <a:prstGeom prst="line">
            <a:avLst/>
          </a:prstGeom>
          <a:ln w="19050">
            <a:solidFill>
              <a:srgbClr val="8E6F3E"/>
            </a:solidFill>
            <a:tailEnd type="triangle" w="med" len="med"/>
          </a:ln>
        </p:spPr>
      </p:cxnSp>
      <p:sp>
        <p:nvSpPr>
          <p:cNvPr id="111" name="Kid1"/>
          <p:cNvSpPr/>
          <p:nvPr/>
        </p:nvSpPr>
        <p:spPr>
          <a:xfrm>
            <a:off x="6850000" y="2485000"/>
            <a:ext cx="1150000" cy="4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PROTOTYPE</a:t>
            </a:r>
          </a:p>
        </p:txBody>
      </p:sp>
      <p:cxnSp>
        <p:nvCxnSpPr>
          <p:cNvPr id="112" name="KA1"/>
          <p:cNvCxnSpPr/>
          <p:nvPr/>
        </p:nvCxnSpPr>
        <p:spPr>
          <a:xfrm>
            <a:off x="6550000" y="2725000"/>
            <a:ext cx="300000" cy="0"/>
          </a:xfrm>
          <a:prstGeom prst="line">
            <a:avLst/>
          </a:prstGeom>
          <a:ln w="19050">
            <a:solidFill>
              <a:srgbClr val="8E6F3E"/>
            </a:solidFill>
            <a:tailEnd type="triangle" w="med" len="med"/>
          </a:ln>
        </p:spPr>
      </p:cxnSp>
      <p:sp>
        <p:nvSpPr>
          <p:cNvPr id="113" name="Kid2"/>
          <p:cNvSpPr/>
          <p:nvPr/>
        </p:nvSpPr>
        <p:spPr>
          <a:xfrm>
            <a:off x="6850000" y="3470000"/>
            <a:ext cx="1150000" cy="4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MEASURE</a:t>
            </a:r>
          </a:p>
        </p:txBody>
      </p:sp>
      <p:cxnSp>
        <p:nvCxnSpPr>
          <p:cNvPr id="114" name="KA2"/>
          <p:cNvCxnSpPr/>
          <p:nvPr/>
        </p:nvCxnSpPr>
        <p:spPr>
          <a:xfrm>
            <a:off x="6550000" y="2725000"/>
            <a:ext cx="300000" cy="985000"/>
          </a:xfrm>
          <a:prstGeom prst="line">
            <a:avLst/>
          </a:prstGeom>
          <a:ln w="19050">
            <a:solidFill>
              <a:srgbClr val="8E6F3E"/>
            </a:solidFill>
            <a:tailEnd type="triangle" w="med" len="med"/>
          </a:ln>
        </p:spPr>
      </p:cxnSp>
      <p:sp>
        <p:nvSpPr>
          <p:cNvPr id="115" name="DecideBetter"/>
          <p:cNvSpPr/>
          <p:nvPr/>
        </p:nvSpPr>
        <p:spPr>
          <a:xfrm>
            <a:off x="8150000" y="2425000"/>
            <a:ext cx="900000" cy="600000"/>
          </a:xfrm>
          <a:prstGeom prst="rect">
            <a:avLst/>
          </a:prstGeom>
          <a:solidFill>
            <a:srgbClr val="8E6F3E"/>
          </a:solidFill>
          <a:ln>
            <a:noFill/>
          </a:ln>
        </p:spPr>
        <p:txBody>
          <a:bodyPr wrap="square" lIns="54864" tIns="27432" rIns="54864" bIns="27432" anchor="ctr">
            <a:normAutofit/>
          </a:bodyPr>
          <a:lstStyle/>
          <a:p>
            <a:pPr algn="ctr">
              <a:buNone/>
            </a:pPr>
            <a:r>
              <a:rPr lang="en-US" sz="1150" b="1" i="0" dirty="0">
                <a:solidFill>
                  <a:srgbClr val="FFFFFF"/>
                </a:solidFill>
              </a:rPr>
              <a:t xml:space="preserve">DECIDE</a:t>
            </a:r>
          </a:p>
          <a:p>
            <a:pPr algn="ctr">
              <a:spcBef>
                <a:spcPts val="300"/>
              </a:spcBef>
              <a:buNone/>
            </a:pPr>
            <a:r>
              <a:rPr lang="en-US" sz="1150" b="1" i="0" dirty="0">
                <a:solidFill>
                  <a:srgbClr val="FFFFFF"/>
                </a:solidFill>
              </a:rPr>
              <a:t xml:space="preserve">BETTER</a:t>
            </a:r>
          </a:p>
        </p:txBody>
      </p:sp>
      <p:cxnSp>
        <p:nvCxnSpPr>
          <p:cNvPr id="116" name="CA0"/>
          <p:cNvCxnSpPr/>
          <p:nvPr/>
        </p:nvCxnSpPr>
        <p:spPr>
          <a:xfrm>
            <a:off x="8000000" y="1740000"/>
            <a:ext cx="150000" cy="985000"/>
          </a:xfrm>
          <a:prstGeom prst="line">
            <a:avLst/>
          </a:prstGeom>
          <a:ln w="19050">
            <a:solidFill>
              <a:srgbClr val="8E6F3E"/>
            </a:solidFill>
            <a:tailEnd type="triangle" w="med" len="med"/>
          </a:ln>
        </p:spPr>
      </p:cxnSp>
      <p:cxnSp>
        <p:nvCxnSpPr>
          <p:cNvPr id="117" name="CA1"/>
          <p:cNvCxnSpPr/>
          <p:nvPr/>
        </p:nvCxnSpPr>
        <p:spPr>
          <a:xfrm>
            <a:off x="8000000" y="2725000"/>
            <a:ext cx="150000" cy="0"/>
          </a:xfrm>
          <a:prstGeom prst="line">
            <a:avLst/>
          </a:prstGeom>
          <a:ln w="19050">
            <a:solidFill>
              <a:srgbClr val="8E6F3E"/>
            </a:solidFill>
            <a:tailEnd type="triangle" w="med" len="med"/>
          </a:ln>
        </p:spPr>
      </p:cxnSp>
      <p:cxnSp>
        <p:nvCxnSpPr>
          <p:cNvPr id="118" name="CA2"/>
          <p:cNvCxnSpPr/>
          <p:nvPr/>
        </p:nvCxnSpPr>
        <p:spPr>
          <a:xfrm flipV="1">
            <a:off x="8000000" y="2725000"/>
            <a:ext cx="150000" cy="985000"/>
          </a:xfrm>
          <a:prstGeom prst="line">
            <a:avLst/>
          </a:prstGeom>
          <a:ln w="19050">
            <a:solidFill>
              <a:srgbClr val="8E6F3E"/>
            </a:solidFill>
            <a:tailEnd type="triangl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 xml:space="preserve">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Architecture makes some</a:t>
            </a:r>
            <a:br>
              <a:rPr lang="en-US" sz="2800"/>
            </a:br>
            <a:r>
              <a:rPr lang="en-US" sz="2800" b="0" i="0" dirty="0">
                <a:solidFill>
                  <a:srgbClr val="555960"/>
                </a:solidFill>
              </a:rPr>
              <a:t xml:space="preserve">properties analyzable.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100" name="QCard0"/>
          <p:cNvSpPr/>
          <p:nvPr/>
        </p:nvSpPr>
        <p:spPr>
          <a:xfrm>
            <a:off x="685800" y="1300000"/>
            <a:ext cx="3708400" cy="1750000"/>
          </a:xfrm>
          <a:prstGeom prst="rect">
            <a:avLst/>
          </a:prstGeom>
          <a:solidFill>
            <a:srgbClr val="F5F1E8"/>
          </a:solidFill>
          <a:ln w="12700">
            <a:solidFill>
              <a:srgbClr val="C9B991"/>
            </a:solidFill>
          </a:ln>
        </p:spPr>
        <p:txBody>
          <a:bodyPr wrap="square" lIns="54864" tIns="27432" rIns="54864" bIns="27432" anchor="ctr">
            <a:normAutofit/>
          </a:bodyPr>
          <a:lstStyle/>
          <a:p>
            <a:endParaRPr/>
          </a:p>
        </p:txBody>
      </p:sp>
      <p:sp>
        <p:nvSpPr>
          <p:cNvPr id="101" name="QTxt0"/>
          <p:cNvSpPr txBox="1"/>
          <p:nvPr/>
        </p:nvSpPr>
        <p:spPr>
          <a:xfrm>
            <a:off x="835800" y="1430000"/>
            <a:ext cx="3408400" cy="560000"/>
          </a:xfrm>
          <a:prstGeom prst="rect">
            <a:avLst/>
          </a:prstGeom>
          <a:noFill/>
          <a:ln>
            <a:noFill/>
          </a:ln>
        </p:spPr>
        <p:txBody>
          <a:bodyPr wrap="square" lIns="0" tIns="0" rIns="0" bIns="0" anchor="t">
            <a:normAutofit/>
          </a:bodyPr>
          <a:lstStyle/>
          <a:p>
            <a:pPr algn="ctr">
              <a:buNone/>
            </a:pPr>
            <a:r>
              <a:rPr lang="en-US" sz="1600" b="1" i="0" dirty="0">
                <a:solidFill>
                  <a:srgbClr val="5C4826"/>
                </a:solidFill>
              </a:rPr>
              <a:t xml:space="preserve">What are the parts?</a:t>
            </a:r>
          </a:p>
        </p:txBody>
      </p:sp>
      <p:sp>
        <p:nvSpPr>
          <p:cNvPr id="102" name="QCard1"/>
          <p:cNvSpPr/>
          <p:nvPr/>
        </p:nvSpPr>
        <p:spPr>
          <a:xfrm>
            <a:off x="4749800" y="1300000"/>
            <a:ext cx="3708400" cy="1750000"/>
          </a:xfrm>
          <a:prstGeom prst="rect">
            <a:avLst/>
          </a:prstGeom>
          <a:solidFill>
            <a:srgbClr val="F5F1E8"/>
          </a:solidFill>
          <a:ln w="12700">
            <a:solidFill>
              <a:srgbClr val="C9B991"/>
            </a:solidFill>
          </a:ln>
        </p:spPr>
        <p:txBody>
          <a:bodyPr wrap="square" lIns="54864" tIns="27432" rIns="54864" bIns="27432" anchor="ctr">
            <a:normAutofit/>
          </a:bodyPr>
          <a:lstStyle/>
          <a:p>
            <a:endParaRPr/>
          </a:p>
        </p:txBody>
      </p:sp>
      <p:sp>
        <p:nvSpPr>
          <p:cNvPr id="103" name="QTxt1"/>
          <p:cNvSpPr txBox="1"/>
          <p:nvPr/>
        </p:nvSpPr>
        <p:spPr>
          <a:xfrm>
            <a:off x="4899800" y="1430000"/>
            <a:ext cx="3408400" cy="560000"/>
          </a:xfrm>
          <a:prstGeom prst="rect">
            <a:avLst/>
          </a:prstGeom>
          <a:noFill/>
          <a:ln>
            <a:noFill/>
          </a:ln>
        </p:spPr>
        <p:txBody>
          <a:bodyPr wrap="square" lIns="0" tIns="0" rIns="0" bIns="0" anchor="t">
            <a:normAutofit/>
          </a:bodyPr>
          <a:lstStyle/>
          <a:p>
            <a:pPr algn="ctr">
              <a:buNone/>
            </a:pPr>
            <a:r>
              <a:rPr lang="en-US" sz="1600" b="1" i="0" dirty="0">
                <a:solidFill>
                  <a:srgbClr val="5C4826"/>
                </a:solidFill>
              </a:rPr>
              <a:t xml:space="preserve">Where are the boundaries?</a:t>
            </a:r>
          </a:p>
        </p:txBody>
      </p:sp>
      <p:sp>
        <p:nvSpPr>
          <p:cNvPr id="104" name="QCard2"/>
          <p:cNvSpPr/>
          <p:nvPr/>
        </p:nvSpPr>
        <p:spPr>
          <a:xfrm>
            <a:off x="685800" y="3300000"/>
            <a:ext cx="3708400" cy="1750000"/>
          </a:xfrm>
          <a:prstGeom prst="rect">
            <a:avLst/>
          </a:prstGeom>
          <a:solidFill>
            <a:srgbClr val="F5F1E8"/>
          </a:solidFill>
          <a:ln w="12700">
            <a:solidFill>
              <a:srgbClr val="C9B991"/>
            </a:solidFill>
          </a:ln>
        </p:spPr>
        <p:txBody>
          <a:bodyPr wrap="square" lIns="54864" tIns="27432" rIns="54864" bIns="27432" anchor="ctr">
            <a:normAutofit/>
          </a:bodyPr>
          <a:lstStyle/>
          <a:p>
            <a:endParaRPr/>
          </a:p>
        </p:txBody>
      </p:sp>
      <p:sp>
        <p:nvSpPr>
          <p:cNvPr id="105" name="QTxt2"/>
          <p:cNvSpPr txBox="1"/>
          <p:nvPr/>
        </p:nvSpPr>
        <p:spPr>
          <a:xfrm>
            <a:off x="835800" y="3430000"/>
            <a:ext cx="3408400" cy="560000"/>
          </a:xfrm>
          <a:prstGeom prst="rect">
            <a:avLst/>
          </a:prstGeom>
          <a:noFill/>
          <a:ln>
            <a:noFill/>
          </a:ln>
        </p:spPr>
        <p:txBody>
          <a:bodyPr wrap="square" lIns="0" tIns="0" rIns="0" bIns="0" anchor="t">
            <a:normAutofit/>
          </a:bodyPr>
          <a:lstStyle/>
          <a:p>
            <a:pPr algn="ctr">
              <a:buNone/>
            </a:pPr>
            <a:r>
              <a:rPr lang="en-US" sz="1600" b="1" i="0" dirty="0">
                <a:solidFill>
                  <a:srgbClr val="5C4826"/>
                </a:solidFill>
              </a:rPr>
              <a:t xml:space="preserve">How may they interact?</a:t>
            </a:r>
          </a:p>
        </p:txBody>
      </p:sp>
      <p:sp>
        <p:nvSpPr>
          <p:cNvPr id="106" name="QCard3"/>
          <p:cNvSpPr/>
          <p:nvPr/>
        </p:nvSpPr>
        <p:spPr>
          <a:xfrm>
            <a:off x="4749800" y="3300000"/>
            <a:ext cx="3708400" cy="1750000"/>
          </a:xfrm>
          <a:prstGeom prst="rect">
            <a:avLst/>
          </a:prstGeom>
          <a:solidFill>
            <a:srgbClr val="F5F1E8"/>
          </a:solidFill>
          <a:ln w="12700">
            <a:solidFill>
              <a:srgbClr val="C9B991"/>
            </a:solidFill>
          </a:ln>
        </p:spPr>
        <p:txBody>
          <a:bodyPr wrap="square" lIns="54864" tIns="27432" rIns="54864" bIns="27432" anchor="ctr">
            <a:normAutofit/>
          </a:bodyPr>
          <a:lstStyle/>
          <a:p>
            <a:endParaRPr/>
          </a:p>
        </p:txBody>
      </p:sp>
      <p:sp>
        <p:nvSpPr>
          <p:cNvPr id="107" name="QTxt3"/>
          <p:cNvSpPr txBox="1"/>
          <p:nvPr/>
        </p:nvSpPr>
        <p:spPr>
          <a:xfrm>
            <a:off x="4899800" y="3430000"/>
            <a:ext cx="3408400" cy="560000"/>
          </a:xfrm>
          <a:prstGeom prst="rect">
            <a:avLst/>
          </a:prstGeom>
          <a:noFill/>
          <a:ln>
            <a:noFill/>
          </a:ln>
        </p:spPr>
        <p:txBody>
          <a:bodyPr wrap="square" lIns="0" tIns="0" rIns="0" bIns="0" anchor="t">
            <a:normAutofit/>
          </a:bodyPr>
          <a:lstStyle/>
          <a:p>
            <a:pPr algn="ctr">
              <a:buNone/>
            </a:pPr>
            <a:r>
              <a:rPr lang="en-US" sz="1600" b="1" i="0" dirty="0">
                <a:solidFill>
                  <a:srgbClr val="5C4826"/>
                </a:solidFill>
              </a:rPr>
              <a:t xml:space="preserve">What properties must the organization support?</a:t>
            </a:r>
          </a:p>
        </p:txBody>
      </p:sp>
      <p:sp>
        <p:nvSpPr>
          <p:cNvPr id="108" name="G1A"/>
          <p:cNvSpPr/>
          <p:nvPr/>
        </p:nvSpPr>
        <p:spPr>
          <a:xfrm>
            <a:off x="1740000" y="2250000"/>
            <a:ext cx="700000" cy="50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400" b="1" i="0" dirty="0">
                <a:solidFill>
                  <a:srgbClr val="5C4826"/>
                </a:solidFill>
              </a:rPr>
              <a:t xml:space="preserve">A</a:t>
            </a:r>
          </a:p>
        </p:txBody>
      </p:sp>
      <p:sp>
        <p:nvSpPr>
          <p:cNvPr id="109" name="G1B"/>
          <p:cNvSpPr/>
          <p:nvPr/>
        </p:nvSpPr>
        <p:spPr>
          <a:xfrm>
            <a:off x="2640000" y="2250000"/>
            <a:ext cx="700000" cy="50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400" b="1" i="0" dirty="0">
                <a:solidFill>
                  <a:srgbClr val="5C4826"/>
                </a:solidFill>
              </a:rPr>
              <a:t xml:space="preserve">B</a:t>
            </a:r>
          </a:p>
        </p:txBody>
      </p:sp>
      <p:sp>
        <p:nvSpPr>
          <p:cNvPr id="110" name="G2box"/>
          <p:cNvSpPr/>
          <p:nvPr/>
        </p:nvSpPr>
        <p:spPr>
          <a:xfrm>
            <a:off x="5804000" y="2250000"/>
            <a:ext cx="1600000" cy="500000"/>
          </a:xfrm>
          <a:prstGeom prst="rect">
            <a:avLst/>
          </a:prstGeom>
          <a:solidFill>
            <a:srgbClr val="FFFFFF"/>
          </a:solidFill>
          <a:ln w="15875">
            <a:solidFill>
              <a:srgbClr val="8E6F3E"/>
            </a:solidFill>
          </a:ln>
        </p:spPr>
        <p:txBody>
          <a:bodyPr wrap="square" lIns="54864" tIns="27432" rIns="54864" bIns="27432" anchor="ctr">
            <a:normAutofit/>
          </a:bodyPr>
          <a:lstStyle/>
          <a:p>
            <a:endParaRPr/>
          </a:p>
        </p:txBody>
      </p:sp>
      <p:cxnSp>
        <p:nvCxnSpPr>
          <p:cNvPr id="111" name="G2div"/>
          <p:cNvCxnSpPr/>
          <p:nvPr/>
        </p:nvCxnSpPr>
        <p:spPr>
          <a:xfrm>
            <a:off x="6604000" y="2160000"/>
            <a:ext cx="0" cy="680000"/>
          </a:xfrm>
          <a:prstGeom prst="line">
            <a:avLst/>
          </a:prstGeom>
          <a:ln w="28575">
            <a:solidFill>
              <a:srgbClr val="8E6F3E"/>
            </a:solidFill>
            <a:prstDash val="dash"/>
          </a:ln>
        </p:spPr>
      </p:cxnSp>
      <p:sp>
        <p:nvSpPr>
          <p:cNvPr id="112" name="G2A"/>
          <p:cNvSpPr txBox="1"/>
          <p:nvPr/>
        </p:nvSpPr>
        <p:spPr>
          <a:xfrm>
            <a:off x="5804000" y="2360000"/>
            <a:ext cx="800000" cy="300000"/>
          </a:xfrm>
          <a:prstGeom prst="rect">
            <a:avLst/>
          </a:prstGeom>
          <a:noFill/>
          <a:ln>
            <a:noFill/>
          </a:ln>
        </p:spPr>
        <p:txBody>
          <a:bodyPr wrap="square" lIns="0" tIns="0" rIns="0" bIns="0" anchor="t">
            <a:normAutofit/>
          </a:bodyPr>
          <a:lstStyle/>
          <a:p>
            <a:pPr algn="ctr">
              <a:buNone/>
            </a:pPr>
            <a:r>
              <a:rPr lang="en-US" sz="1400" b="1" i="0" dirty="0">
                <a:solidFill>
                  <a:srgbClr val="5C4826"/>
                </a:solidFill>
              </a:rPr>
              <a:t xml:space="preserve">A</a:t>
            </a:r>
          </a:p>
        </p:txBody>
      </p:sp>
      <p:sp>
        <p:nvSpPr>
          <p:cNvPr id="113" name="G2B"/>
          <p:cNvSpPr txBox="1"/>
          <p:nvPr/>
        </p:nvSpPr>
        <p:spPr>
          <a:xfrm>
            <a:off x="6604000" y="2360000"/>
            <a:ext cx="800000" cy="300000"/>
          </a:xfrm>
          <a:prstGeom prst="rect">
            <a:avLst/>
          </a:prstGeom>
          <a:noFill/>
          <a:ln>
            <a:noFill/>
          </a:ln>
        </p:spPr>
        <p:txBody>
          <a:bodyPr wrap="square" lIns="0" tIns="0" rIns="0" bIns="0" anchor="t">
            <a:normAutofit/>
          </a:bodyPr>
          <a:lstStyle/>
          <a:p>
            <a:pPr algn="ctr">
              <a:buNone/>
            </a:pPr>
            <a:r>
              <a:rPr lang="en-US" sz="1400" b="1" i="0" dirty="0">
                <a:solidFill>
                  <a:srgbClr val="5C4826"/>
                </a:solidFill>
              </a:rPr>
              <a:t xml:space="preserve">B</a:t>
            </a:r>
          </a:p>
        </p:txBody>
      </p:sp>
      <p:sp>
        <p:nvSpPr>
          <p:cNvPr id="114" name="G3A"/>
          <p:cNvSpPr/>
          <p:nvPr/>
        </p:nvSpPr>
        <p:spPr>
          <a:xfrm>
            <a:off x="1540000" y="4250000"/>
            <a:ext cx="700000" cy="50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400" b="1" i="0" dirty="0">
                <a:solidFill>
                  <a:srgbClr val="5C4826"/>
                </a:solidFill>
              </a:rPr>
              <a:t xml:space="preserve">A</a:t>
            </a:r>
          </a:p>
        </p:txBody>
      </p:sp>
      <p:sp>
        <p:nvSpPr>
          <p:cNvPr id="115" name="G3B"/>
          <p:cNvSpPr/>
          <p:nvPr/>
        </p:nvSpPr>
        <p:spPr>
          <a:xfrm>
            <a:off x="2840000" y="4250000"/>
            <a:ext cx="700000" cy="50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400" b="1" i="0" dirty="0">
                <a:solidFill>
                  <a:srgbClr val="5C4826"/>
                </a:solidFill>
              </a:rPr>
              <a:t xml:space="preserve">B</a:t>
            </a:r>
          </a:p>
        </p:txBody>
      </p:sp>
      <p:cxnSp>
        <p:nvCxnSpPr>
          <p:cNvPr id="116" name="G3arw"/>
          <p:cNvCxnSpPr/>
          <p:nvPr/>
        </p:nvCxnSpPr>
        <p:spPr>
          <a:xfrm>
            <a:off x="2240000" y="4500000"/>
            <a:ext cx="600000" cy="0"/>
          </a:xfrm>
          <a:prstGeom prst="line">
            <a:avLst/>
          </a:prstGeom>
          <a:ln w="25400">
            <a:solidFill>
              <a:srgbClr val="8E6F3E"/>
            </a:solidFill>
            <a:tailEnd type="triangle" w="med" len="med"/>
          </a:ln>
        </p:spPr>
      </p:cxnSp>
      <p:sp>
        <p:nvSpPr>
          <p:cNvPr id="117" name="G4clock"/>
          <p:cNvSpPr/>
          <p:nvPr/>
        </p:nvSpPr>
        <p:spPr>
          <a:xfrm>
            <a:off x="5044000" y="4230000"/>
            <a:ext cx="420000" cy="420000"/>
          </a:xfrm>
          <a:prstGeom prst="ellipse">
            <a:avLst/>
          </a:prstGeom>
          <a:noFill/>
          <a:ln w="25400">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254000" y="4320000"/>
            <a:ext cx="0" cy="120000"/>
          </a:xfrm>
          <a:prstGeom prst="line">
            <a:avLst/>
          </a:prstGeom>
          <a:ln w="19050">
            <a:solidFill>
              <a:srgbClr val="8E6F3E"/>
            </a:solidFill>
          </a:ln>
        </p:spPr>
      </p:cxnSp>
      <p:cxnSp>
        <p:nvCxnSpPr>
          <p:cNvPr id="119" name="G4h2"/>
          <p:cNvCxnSpPr/>
          <p:nvPr/>
        </p:nvCxnSpPr>
        <p:spPr>
          <a:xfrm>
            <a:off x="5254000" y="4440000"/>
            <a:ext cx="100000" cy="0"/>
          </a:xfrm>
          <a:prstGeom prst="line">
            <a:avLst/>
          </a:prstGeom>
          <a:ln w="19050">
            <a:solidFill>
              <a:srgbClr val="8E6F3E"/>
            </a:solidFill>
          </a:ln>
        </p:spPr>
      </p:cxnSp>
      <p:sp>
        <p:nvSpPr>
          <p:cNvPr id="120" name="G4shackle"/>
          <p:cNvSpPr/>
          <p:nvPr/>
        </p:nvSpPr>
        <p:spPr>
          <a:xfrm>
            <a:off x="5904000" y="4230000"/>
            <a:ext cx="260000" cy="260000"/>
          </a:xfrm>
          <a:prstGeom prst="ellipse">
            <a:avLst/>
          </a:prstGeom>
          <a:noFill/>
          <a:ln w="25400">
            <a:solidFill>
              <a:srgbClr val="8E6F3E"/>
            </a:solidFill>
          </a:ln>
        </p:spPr>
        <p:txBody>
          <a:bodyPr wrap="square" lIns="54864" tIns="27432" rIns="54864" bIns="27432" anchor="ctr">
            <a:normAutofit/>
          </a:bodyPr>
          <a:lstStyle/>
          <a:p>
            <a:endParaRPr/>
          </a:p>
        </p:txBody>
      </p:sp>
      <p:sp>
        <p:nvSpPr>
          <p:cNvPr id="121" name="G4lockbody"/>
          <p:cNvSpPr/>
          <p:nvPr/>
        </p:nvSpPr>
        <p:spPr>
          <a:xfrm>
            <a:off x="5824000" y="4390000"/>
            <a:ext cx="420000" cy="280000"/>
          </a:xfrm>
          <a:prstGeom prst="roundRect">
            <a:avLst/>
          </a:prstGeom>
          <a:solidFill>
            <a:srgbClr val="FFFFFF"/>
          </a:solidFill>
          <a:ln w="25400">
            <a:solidFill>
              <a:srgbClr val="8E6F3E"/>
            </a:solidFill>
          </a:ln>
        </p:spPr>
        <p:txBody>
          <a:bodyPr wrap="square" lIns="54864" tIns="27432" rIns="54864" bIns="27432" anchor="ctr">
            <a:normAutofit/>
          </a:bodyPr>
          <a:lstStyle/>
          <a:p>
            <a:endParaRPr/>
          </a:p>
        </p:txBody>
      </p:sp>
      <p:sp>
        <p:nvSpPr>
          <p:cNvPr id="122" name="G4cycle"/>
          <p:cNvSpPr/>
          <p:nvPr/>
        </p:nvSpPr>
        <p:spPr>
          <a:xfrm>
            <a:off x="6644000" y="4230000"/>
            <a:ext cx="420000" cy="420000"/>
          </a:xfrm>
          <a:prstGeom prst="circularArrow">
            <a:avLst/>
          </a:prstGeom>
          <a:solidFill>
            <a:srgbClr val="8E6F3E"/>
          </a:solidFill>
          <a:ln>
            <a:noFill/>
          </a:ln>
        </p:spPr>
        <p:txBody>
          <a:bodyPr wrap="square" lIns="54864" tIns="27432" rIns="54864" bIns="27432" anchor="ctr">
            <a:normAutofit/>
          </a:bodyPr>
          <a:lstStyle/>
          <a:p>
            <a:endParaRPr/>
          </a:p>
        </p:txBody>
      </p:sp>
      <p:sp>
        <p:nvSpPr>
          <p:cNvPr id="123" name="G4bang"/>
          <p:cNvSpPr/>
          <p:nvPr/>
        </p:nvSpPr>
        <p:spPr>
          <a:xfrm>
            <a:off x="7444000" y="4210000"/>
            <a:ext cx="420000" cy="440000"/>
          </a:xfrm>
          <a:prstGeom prst="triangle">
            <a:avLst/>
          </a:prstGeom>
          <a:noFill/>
          <a:ln w="25400">
            <a:solidFill>
              <a:srgbClr val="8E6F3E"/>
            </a:solidFill>
          </a:ln>
        </p:spPr>
        <p:txBody>
          <a:bodyPr wrap="square" lIns="0" tIns="120000" rIns="0" bIns="0" anchor="ctr">
            <a:normAutofit/>
          </a:bodyPr>
          <a:lstStyle/>
          <a:p>
            <a:endParaRPr/>
          </a:p>
        </p:txBody>
      </p:sp>
      <p:sp>
        <p:nvSpPr>
          <p:cNvPr id="124" name="G4cap"/>
          <p:cNvSpPr txBox="1"/>
          <p:nvPr/>
        </p:nvSpPr>
        <p:spPr>
          <a:xfrm>
            <a:off x="4949800" y="4750000"/>
            <a:ext cx="3308400" cy="26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 xml:space="preserve">latency · security · change · failure</a:t>
            </a:r>
          </a:p>
        </p:txBody>
      </p:sp>
      <p:sp>
        <p:nvSpPr>
          <p:cNvPr id="140" name="G4bangTxt"/>
          <p:cNvSpPr txBox="1"/>
          <p:nvPr/>
        </p:nvSpPr>
        <p:spPr>
          <a:xfrm>
            <a:off x="7444000" y="4390000"/>
            <a:ext cx="420000" cy="260000"/>
          </a:xfrm>
          <a:prstGeom prst="rect">
            <a:avLst/>
          </a:prstGeom>
          <a:noFill/>
          <a:ln>
            <a:noFill/>
          </a:ln>
        </p:spPr>
        <p:txBody>
          <a:bodyPr wrap="square" lIns="0" tIns="0" rIns="0" bIns="0" anchor="ctr">
            <a:normAutofit/>
          </a:bodyPr>
          <a:lstStyle/>
          <a:p>
            <a:pPr algn="ctr">
              <a:buNone/>
            </a:pPr>
            <a:r>
              <a:rPr lang="en-US" sz="1100" b="1" i="0" dirty="0">
                <a:solidFill>
                  <a:srgbClr val="8E6F3E"/>
                </a:solidFill>
              </a:rPr>
              <a:t xml:space="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Patterns give us alternatives—and expectations about their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9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These are rules of thumb, not guarantees.</a:t>
            </a:r>
          </a:p>
        </p:txBody>
      </p:sp>
      <p:sp>
        <p:nvSpPr>
          <p:cNvPr id="100" name="PastExp"/>
          <p:cNvSpPr/>
          <p:nvPr/>
        </p:nvSpPr>
        <p:spPr>
          <a:xfrm>
            <a:off x="685800" y="2200000"/>
            <a:ext cx="2100000" cy="10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PAST ENGINEERING</a:t>
            </a:r>
          </a:p>
          <a:p>
            <a:pPr algn="ctr">
              <a:spcBef>
                <a:spcPts val="300"/>
              </a:spcBef>
              <a:buNone/>
            </a:pPr>
            <a:r>
              <a:rPr lang="en-US" sz="1250" b="1" i="0" dirty="0">
                <a:solidFill>
                  <a:srgbClr val="5C4826"/>
                </a:solidFill>
              </a:rPr>
              <a:t xml:space="preserve">EXPERIENCE</a:t>
            </a:r>
          </a:p>
          <a:p>
            <a:pPr algn="ctr">
              <a:spcBef>
                <a:spcPts val="300"/>
              </a:spcBef>
              <a:buNone/>
            </a:pPr>
            <a:r>
              <a:rPr lang="en-US" sz="1050" b="0" i="1" dirty="0">
                <a:solidFill>
                  <a:srgbClr val="555960"/>
                </a:solidFill>
              </a:rPr>
              <a:t xml:space="preserve">a recurring problem</a:t>
            </a:r>
          </a:p>
        </p:txBody>
      </p:sp>
      <p:cxnSp>
        <p:nvCxnSpPr>
          <p:cNvPr id="101" name="A1"/>
          <p:cNvCxnSpPr/>
          <p:nvPr/>
        </p:nvCxnSpPr>
        <p:spPr>
          <a:xfrm>
            <a:off x="2785800" y="2700000"/>
            <a:ext cx="564200" cy="0"/>
          </a:xfrm>
          <a:prstGeom prst="line">
            <a:avLst/>
          </a:prstGeom>
          <a:ln w="19050">
            <a:solidFill>
              <a:srgbClr val="8E6F3E"/>
            </a:solidFill>
            <a:tailEnd type="triangle" w="med" len="med"/>
          </a:ln>
        </p:spPr>
      </p:cxnSp>
      <p:sp>
        <p:nvSpPr>
          <p:cNvPr id="102" name="Pattern"/>
          <p:cNvSpPr/>
          <p:nvPr/>
        </p:nvSpPr>
        <p:spPr>
          <a:xfrm>
            <a:off x="3350000" y="2350000"/>
            <a:ext cx="1700000" cy="700000"/>
          </a:xfrm>
          <a:prstGeom prst="rect">
            <a:avLst/>
          </a:prstGeom>
          <a:solidFill>
            <a:srgbClr val="8E6F3E"/>
          </a:solidFill>
          <a:ln>
            <a:noFill/>
          </a:ln>
        </p:spPr>
        <p:txBody>
          <a:bodyPr wrap="square" lIns="54864" tIns="27432" rIns="54864" bIns="27432" anchor="ctr">
            <a:normAutofit/>
          </a:bodyPr>
          <a:lstStyle/>
          <a:p>
            <a:pPr algn="ctr">
              <a:buNone/>
            </a:pPr>
            <a:r>
              <a:rPr lang="en-US" sz="1600" b="1" i="0" dirty="0">
                <a:solidFill>
                  <a:srgbClr val="FFFFFF"/>
                </a:solidFill>
              </a:rPr>
              <a:t xml:space="preserve">PATTERN</a:t>
            </a:r>
          </a:p>
        </p:txBody>
      </p:sp>
      <p:sp>
        <p:nvSpPr>
          <p:cNvPr id="103" name="Org"/>
          <p:cNvSpPr/>
          <p:nvPr/>
        </p:nvSpPr>
        <p:spPr>
          <a:xfrm>
            <a:off x="6000000" y="1600000"/>
            <a:ext cx="2450000" cy="10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ORGANIZATION</a:t>
            </a:r>
          </a:p>
          <a:p>
            <a:pPr algn="ctr">
              <a:spcBef>
                <a:spcPts val="300"/>
              </a:spcBef>
              <a:buNone/>
            </a:pPr>
            <a:r>
              <a:rPr lang="en-US" sz="1100" b="0" i="1" dirty="0">
                <a:solidFill>
                  <a:srgbClr val="555960"/>
                </a:solidFill>
              </a:rPr>
              <a:t xml:space="preserve">“try organizing it this way”</a:t>
            </a:r>
          </a:p>
        </p:txBody>
      </p:sp>
      <p:sp>
        <p:nvSpPr>
          <p:cNvPr id="104" name="ExpProp"/>
          <p:cNvSpPr/>
          <p:nvPr/>
        </p:nvSpPr>
        <p:spPr>
          <a:xfrm>
            <a:off x="6000000" y="3000000"/>
            <a:ext cx="2450000" cy="10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EXPECTED PROPERTIES</a:t>
            </a:r>
          </a:p>
          <a:p>
            <a:pPr algn="ctr">
              <a:spcBef>
                <a:spcPts val="300"/>
              </a:spcBef>
              <a:buNone/>
            </a:pPr>
            <a:r>
              <a:rPr lang="en-US" sz="1100" b="0" i="1" dirty="0">
                <a:solidFill>
                  <a:srgbClr val="555960"/>
                </a:solidFill>
              </a:rPr>
              <a:t xml:space="preserve">“tends to make X easier</a:t>
            </a:r>
          </a:p>
          <a:p>
            <a:pPr algn="ctr">
              <a:spcBef>
                <a:spcPts val="300"/>
              </a:spcBef>
              <a:buNone/>
            </a:pPr>
            <a:r>
              <a:rPr lang="en-US" sz="1100" b="0" i="1" dirty="0">
                <a:solidFill>
                  <a:srgbClr val="555960"/>
                </a:solidFill>
              </a:rPr>
              <a:t xml:space="preserve">and Y harder”</a:t>
            </a:r>
          </a:p>
        </p:txBody>
      </p:sp>
      <p:cxnSp>
        <p:nvCxnSpPr>
          <p:cNvPr id="105" name="A2"/>
          <p:cNvCxnSpPr/>
          <p:nvPr/>
        </p:nvCxnSpPr>
        <p:spPr>
          <a:xfrm flipV="1">
            <a:off x="5050000" y="2100000"/>
            <a:ext cx="950000" cy="450000"/>
          </a:xfrm>
          <a:prstGeom prst="line">
            <a:avLst/>
          </a:prstGeom>
          <a:ln w="19050">
            <a:solidFill>
              <a:srgbClr val="8E6F3E"/>
            </a:solidFill>
            <a:tailEnd type="triangle" w="med" len="med"/>
          </a:ln>
        </p:spPr>
      </p:cxnSp>
      <p:cxnSp>
        <p:nvCxnSpPr>
          <p:cNvPr id="106" name="A3"/>
          <p:cNvCxnSpPr/>
          <p:nvPr/>
        </p:nvCxnSpPr>
        <p:spPr>
          <a:xfrm>
            <a:off x="5050000" y="2850000"/>
            <a:ext cx="950000" cy="650000"/>
          </a:xfrm>
          <a:prstGeom prst="line">
            <a:avLst/>
          </a:prstGeom>
          <a:ln w="19050">
            <a:solidFill>
              <a:srgbClr val="8E6F3E"/>
            </a:solidFill>
            <a:tailEnd type="triangl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MVC: separate model, view, and interaction logic.</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800000"/>
            <a:ext cx="7772400" cy="900000"/>
          </a:xfrm>
          <a:prstGeom prst="rect">
            <a:avLst/>
          </a:prstGeom>
          <a:noFill/>
          <a:ln>
            <a:noFill/>
          </a:ln>
        </p:spPr>
        <p:txBody>
          <a:bodyPr wrap="square" lIns="0" tIns="0" rIns="0" bIns="0" anchor="t">
            <a:normAutofit/>
          </a:bodyPr>
          <a:lstStyle/>
          <a:p>
            <a:pPr algn="ctr">
              <a:buNone/>
            </a:pPr>
            <a:r>
              <a:rPr lang="en-US" sz="2100" b="1" i="0" dirty="0">
                <a:solidFill>
                  <a:srgbClr val="000000"/>
                </a:solidFill>
              </a:rPr>
              <a:t xml:space="preserve">Expected tradeoff: </a:t>
            </a:r>
            <a:r>
              <a:rPr lang="en-US" sz="2100" b="0" i="1" dirty="0">
                <a:solidFill>
                  <a:srgbClr val="000000"/>
                </a:solidFill>
              </a:rPr>
              <a:t xml:space="preserve">multiple presentations and independent evolution — vs. coordination and indirection.</a:t>
            </a:r>
          </a:p>
        </p:txBody>
      </p:sp>
      <p:sp>
        <p:nvSpPr>
          <p:cNvPr id="100" name="User"/>
          <p:cNvSpPr/>
          <p:nvPr/>
        </p:nvSpPr>
        <p:spPr>
          <a:xfrm>
            <a:off x="900000" y="2600000"/>
            <a:ext cx="1400000" cy="620000"/>
          </a:xfrm>
          <a:prstGeom prst="rect">
            <a:avLst/>
          </a:prstGeom>
          <a:solidFill>
            <a:srgbClr val="FFFFFF"/>
          </a:solidFill>
          <a:ln w="15875">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USER</a:t>
            </a:r>
          </a:p>
        </p:txBody>
      </p:sp>
      <p:sp>
        <p:nvSpPr>
          <p:cNvPr id="101" name="Controller"/>
          <p:cNvSpPr/>
          <p:nvPr/>
        </p:nvSpPr>
        <p:spPr>
          <a:xfrm>
            <a:off x="3800000" y="1500000"/>
            <a:ext cx="1900000" cy="6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CONTROLLER</a:t>
            </a:r>
          </a:p>
        </p:txBody>
      </p:sp>
      <p:sp>
        <p:nvSpPr>
          <p:cNvPr id="102" name="Model"/>
          <p:cNvSpPr/>
          <p:nvPr/>
        </p:nvSpPr>
        <p:spPr>
          <a:xfrm>
            <a:off x="6900000" y="2600000"/>
            <a:ext cx="1500000" cy="6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MODEL</a:t>
            </a:r>
          </a:p>
        </p:txBody>
      </p:sp>
      <p:sp>
        <p:nvSpPr>
          <p:cNvPr id="103" name="View"/>
          <p:cNvSpPr/>
          <p:nvPr/>
        </p:nvSpPr>
        <p:spPr>
          <a:xfrm>
            <a:off x="3800000" y="3750000"/>
            <a:ext cx="1900000" cy="6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VIEW</a:t>
            </a:r>
          </a:p>
        </p:txBody>
      </p:sp>
      <p:cxnSp>
        <p:nvCxnSpPr>
          <p:cNvPr id="104" name="UC"/>
          <p:cNvCxnSpPr/>
          <p:nvPr/>
        </p:nvCxnSpPr>
        <p:spPr>
          <a:xfrm flipV="1">
            <a:off x="2100000" y="1900000"/>
            <a:ext cx="1700000" cy="700000"/>
          </a:xfrm>
          <a:prstGeom prst="line">
            <a:avLst/>
          </a:prstGeom>
          <a:ln w="19050">
            <a:solidFill>
              <a:srgbClr val="8E6F3E"/>
            </a:solidFill>
            <a:tailEnd type="triangle" w="med" len="med"/>
          </a:ln>
        </p:spPr>
      </p:cxnSp>
      <p:cxnSp>
        <p:nvCxnSpPr>
          <p:cNvPr id="105" name="CM"/>
          <p:cNvCxnSpPr/>
          <p:nvPr/>
        </p:nvCxnSpPr>
        <p:spPr>
          <a:xfrm>
            <a:off x="5700000" y="1900000"/>
            <a:ext cx="1300000" cy="700000"/>
          </a:xfrm>
          <a:prstGeom prst="line">
            <a:avLst/>
          </a:prstGeom>
          <a:ln w="19050">
            <a:solidFill>
              <a:srgbClr val="8E6F3E"/>
            </a:solidFill>
            <a:tailEnd type="triangle" w="med" len="med"/>
          </a:ln>
        </p:spPr>
      </p:cxnSp>
      <p:sp>
        <p:nvSpPr>
          <p:cNvPr id="106" name="CMLbl"/>
          <p:cNvSpPr txBox="1"/>
          <p:nvPr/>
        </p:nvSpPr>
        <p:spPr>
          <a:xfrm>
            <a:off x="6350000" y="1830000"/>
            <a:ext cx="1300000" cy="260000"/>
          </a:xfrm>
          <a:prstGeom prst="rect">
            <a:avLst/>
          </a:prstGeom>
          <a:noFill/>
          <a:ln>
            <a:noFill/>
          </a:ln>
        </p:spPr>
        <p:txBody>
          <a:bodyPr wrap="square" lIns="0" tIns="0" rIns="0" bIns="0" anchor="t">
            <a:normAutofit/>
          </a:bodyPr>
          <a:lstStyle/>
          <a:p>
            <a:pPr algn="l">
              <a:buNone/>
            </a:pPr>
            <a:r>
              <a:rPr lang="en-US" sz="1100" b="0" i="1" dirty="0">
                <a:solidFill>
                  <a:srgbClr val="555960"/>
                </a:solidFill>
              </a:rPr>
              <a:t xml:space="preserve">changes</a:t>
            </a:r>
          </a:p>
        </p:txBody>
      </p:sp>
      <p:cxnSp>
        <p:nvCxnSpPr>
          <p:cNvPr id="107" name="MV"/>
          <p:cNvCxnSpPr/>
          <p:nvPr/>
        </p:nvCxnSpPr>
        <p:spPr>
          <a:xfrm flipH="1">
            <a:off x="5700000" y="3220000"/>
            <a:ext cx="1350000" cy="760000"/>
          </a:xfrm>
          <a:prstGeom prst="line">
            <a:avLst/>
          </a:prstGeom>
          <a:ln w="19050">
            <a:solidFill>
              <a:srgbClr val="8E6F3E"/>
            </a:solidFill>
            <a:tailEnd type="triangle" w="med" len="med"/>
          </a:ln>
        </p:spPr>
      </p:cxnSp>
      <p:sp>
        <p:nvSpPr>
          <p:cNvPr id="108" name="MVLbl"/>
          <p:cNvSpPr txBox="1"/>
          <p:nvPr/>
        </p:nvSpPr>
        <p:spPr>
          <a:xfrm>
            <a:off x="6500000" y="3720000"/>
            <a:ext cx="1600000" cy="260000"/>
          </a:xfrm>
          <a:prstGeom prst="rect">
            <a:avLst/>
          </a:prstGeom>
          <a:noFill/>
          <a:ln>
            <a:noFill/>
          </a:ln>
        </p:spPr>
        <p:txBody>
          <a:bodyPr wrap="square" lIns="0" tIns="0" rIns="0" bIns="0" anchor="t">
            <a:normAutofit/>
          </a:bodyPr>
          <a:lstStyle/>
          <a:p>
            <a:pPr algn="l">
              <a:buNone/>
            </a:pPr>
            <a:r>
              <a:rPr lang="en-US" sz="1100" b="0" i="1" dirty="0">
                <a:solidFill>
                  <a:srgbClr val="555960"/>
                </a:solidFill>
              </a:rPr>
              <a:t xml:space="preserve">observed by</a:t>
            </a:r>
          </a:p>
        </p:txBody>
      </p:sp>
      <p:cxnSp>
        <p:nvCxnSpPr>
          <p:cNvPr id="109" name="VU"/>
          <p:cNvCxnSpPr/>
          <p:nvPr/>
        </p:nvCxnSpPr>
        <p:spPr>
          <a:xfrm flipH="1" flipV="1">
            <a:off x="2000000" y="3220000"/>
            <a:ext cx="1800000" cy="840000"/>
          </a:xfrm>
          <a:prstGeom prst="line">
            <a:avLst/>
          </a:prstGeom>
          <a:ln w="19050">
            <a:solidFill>
              <a:srgbClr val="8E6F3E"/>
            </a:solidFill>
            <a:tailEnd type="triangle"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Repository: organize around shared authoritative state.</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55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000" b="1" i="0" dirty="0">
                <a:solidFill>
                  <a:srgbClr val="000000"/>
                </a:solidFill>
              </a:rPr>
              <a:t xml:space="preserve">Expected property: </a:t>
            </a:r>
            <a:r>
              <a:rPr lang="en-US" sz="2000" b="0" i="0" dirty="0">
                <a:solidFill>
                  <a:srgbClr val="000000"/>
                </a:solidFill>
              </a:rPr>
              <a:t xml:space="preserve">a shared representation simplifies consistency and integration.</a:t>
            </a:r>
          </a:p>
          <a:p>
            <a:pPr algn="l">
              <a:spcBef>
                <a:spcPts val="200"/>
              </a:spcBef>
              <a:buNone/>
            </a:pPr>
            <a:r>
              <a:rPr lang="en-US" sz="2000" b="1" i="0" dirty="0">
                <a:solidFill>
                  <a:srgbClr val="000000"/>
                </a:solidFill>
              </a:rPr>
              <a:t xml:space="preserve">Tradeoff: </a:t>
            </a:r>
            <a:r>
              <a:rPr lang="en-US" sz="2000" b="0" i="0" dirty="0">
                <a:solidFill>
                  <a:srgbClr val="000000"/>
                </a:solidFill>
              </a:rPr>
              <a:t xml:space="preserve">everyone now depends on the center — central coupling, potential bottleneck.</a:t>
            </a:r>
          </a:p>
        </p:txBody>
      </p:sp>
      <p:sp>
        <p:nvSpPr>
          <p:cNvPr id="100" name="Repo"/>
          <p:cNvSpPr/>
          <p:nvPr/>
        </p:nvSpPr>
        <p:spPr>
          <a:xfrm>
            <a:off x="3600000" y="2300000"/>
            <a:ext cx="1950000" cy="900000"/>
          </a:xfrm>
          <a:prstGeom prst="rect">
            <a:avLst/>
          </a:prstGeom>
          <a:solidFill>
            <a:srgbClr val="8E6F3E"/>
          </a:solidFill>
          <a:ln>
            <a:noFill/>
          </a:ln>
        </p:spPr>
        <p:txBody>
          <a:bodyPr wrap="square" lIns="54864" tIns="27432" rIns="54864" bIns="27432" anchor="ctr">
            <a:normAutofit/>
          </a:bodyPr>
          <a:lstStyle/>
          <a:p>
            <a:pPr algn="ctr">
              <a:buNone/>
            </a:pPr>
            <a:r>
              <a:rPr lang="en-US" sz="1500" b="1" i="0" dirty="0">
                <a:solidFill>
                  <a:srgbClr val="FFFFFF"/>
                </a:solidFill>
              </a:rPr>
              <a:t xml:space="preserve">REPOSITORY</a:t>
            </a:r>
          </a:p>
          <a:p>
            <a:pPr algn="ctr">
              <a:spcBef>
                <a:spcPts val="300"/>
              </a:spcBef>
              <a:buNone/>
            </a:pPr>
            <a:r>
              <a:rPr lang="en-US" sz="1000" b="0" i="1" dirty="0">
                <a:solidFill>
                  <a:srgbClr val="FFFFFF"/>
                </a:solidFill>
              </a:rPr>
              <a:t xml:space="preserve">shared authoritative state</a:t>
            </a:r>
          </a:p>
        </p:txBody>
      </p:sp>
      <p:sp>
        <p:nvSpPr>
          <p:cNvPr id="101" name="Input"/>
          <p:cNvSpPr/>
          <p:nvPr/>
        </p:nvSpPr>
        <p:spPr>
          <a:xfrm>
            <a:off x="1000000" y="2450000"/>
            <a:ext cx="1300000" cy="6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INPUT</a:t>
            </a:r>
          </a:p>
        </p:txBody>
      </p:sp>
      <p:cxnSp>
        <p:nvCxnSpPr>
          <p:cNvPr id="102" name="AIn"/>
          <p:cNvCxnSpPr/>
          <p:nvPr/>
        </p:nvCxnSpPr>
        <p:spPr>
          <a:xfrm>
            <a:off x="2300000" y="2750000"/>
            <a:ext cx="1300000" cy="0"/>
          </a:xfrm>
          <a:prstGeom prst="line">
            <a:avLst/>
          </a:prstGeom>
          <a:ln w="19050">
            <a:solidFill>
              <a:srgbClr val="8E6F3E"/>
            </a:solidFill>
            <a:tailEnd type="triangle" w="med" len="med"/>
          </a:ln>
        </p:spPr>
      </p:cxnSp>
      <p:sp>
        <p:nvSpPr>
          <p:cNvPr id="103" name="Reporter"/>
          <p:cNvSpPr/>
          <p:nvPr/>
        </p:nvSpPr>
        <p:spPr>
          <a:xfrm>
            <a:off x="7000000" y="2450000"/>
            <a:ext cx="1400000" cy="6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REPORTER</a:t>
            </a:r>
          </a:p>
        </p:txBody>
      </p:sp>
      <p:cxnSp>
        <p:nvCxnSpPr>
          <p:cNvPr id="104" name="AOut"/>
          <p:cNvCxnSpPr/>
          <p:nvPr/>
        </p:nvCxnSpPr>
        <p:spPr>
          <a:xfrm>
            <a:off x="5550000" y="2750000"/>
            <a:ext cx="1450000" cy="0"/>
          </a:xfrm>
          <a:prstGeom prst="line">
            <a:avLst/>
          </a:prstGeom>
          <a:ln w="19050">
            <a:solidFill>
              <a:srgbClr val="8E6F3E"/>
            </a:solidFill>
            <a:tailEnd type="triangle" w="med" len="med"/>
          </a:ln>
        </p:spPr>
      </p:cxnSp>
      <p:sp>
        <p:nvSpPr>
          <p:cNvPr id="105" name="Analyzer"/>
          <p:cNvSpPr/>
          <p:nvPr/>
        </p:nvSpPr>
        <p:spPr>
          <a:xfrm>
            <a:off x="3925000" y="1350000"/>
            <a:ext cx="13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ANALYZER</a:t>
            </a:r>
          </a:p>
        </p:txBody>
      </p:sp>
      <p:cxnSp>
        <p:nvCxnSpPr>
          <p:cNvPr id="106" name="ADown"/>
          <p:cNvCxnSpPr/>
          <p:nvPr/>
        </p:nvCxnSpPr>
        <p:spPr>
          <a:xfrm>
            <a:off x="4575000" y="1900000"/>
            <a:ext cx="0" cy="400000"/>
          </a:xfrm>
          <a:prstGeom prst="line">
            <a:avLst/>
          </a:prstGeom>
          <a:ln w="19050">
            <a:solidFill>
              <a:srgbClr val="8E6F3E"/>
            </a:solidFill>
            <a:tailEnd type="triangle" w="med" len="med"/>
          </a:ln>
        </p:spPr>
      </p:cxnSp>
      <p:sp>
        <p:nvSpPr>
          <p:cNvPr id="107" name="Optimizer"/>
          <p:cNvSpPr/>
          <p:nvPr/>
        </p:nvSpPr>
        <p:spPr>
          <a:xfrm>
            <a:off x="3925000" y="3650000"/>
            <a:ext cx="13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OPTIMIZER</a:t>
            </a:r>
          </a:p>
        </p:txBody>
      </p:sp>
      <p:cxnSp>
        <p:nvCxnSpPr>
          <p:cNvPr id="108" name="AUp"/>
          <p:cNvCxnSpPr/>
          <p:nvPr/>
        </p:nvCxnSpPr>
        <p:spPr>
          <a:xfrm flipV="1">
            <a:off x="4575000" y="3200000"/>
            <a:ext cx="0" cy="450000"/>
          </a:xfrm>
          <a:prstGeom prst="line">
            <a:avLst/>
          </a:prstGeom>
          <a:ln w="19050">
            <a:solidFill>
              <a:srgbClr val="8E6F3E"/>
            </a:solidFill>
            <a:tailEnd type="triangle" w="med" len="med"/>
          </a:ln>
        </p:spPr>
      </p:cxnSp>
      <p:sp>
        <p:nvSpPr>
          <p:cNvPr id="109" name="ConsLbl"/>
          <p:cNvSpPr txBox="1"/>
          <p:nvPr/>
        </p:nvSpPr>
        <p:spPr>
          <a:xfrm>
            <a:off x="1000000" y="3750000"/>
            <a:ext cx="2100000" cy="300000"/>
          </a:xfrm>
          <a:prstGeom prst="rect">
            <a:avLst/>
          </a:prstGeom>
          <a:noFill/>
          <a:ln>
            <a:noFill/>
          </a:ln>
        </p:spPr>
        <p:txBody>
          <a:bodyPr wrap="square" lIns="0" tIns="0" rIns="0" bIns="0" anchor="t">
            <a:normAutofit/>
          </a:bodyPr>
          <a:lstStyle/>
          <a:p>
            <a:pPr algn="l">
              <a:buNone/>
            </a:pPr>
            <a:r>
              <a:rPr lang="en-US" sz="1200" b="1" i="1" dirty="0">
                <a:solidFill>
                  <a:srgbClr val="1F7A4D"/>
                </a:solidFill>
              </a:rPr>
              <a:t xml:space="preserve">consistency ↑</a:t>
            </a:r>
          </a:p>
        </p:txBody>
      </p:sp>
      <p:sp>
        <p:nvSpPr>
          <p:cNvPr id="110" name="CoupLbl"/>
          <p:cNvSpPr txBox="1"/>
          <p:nvPr/>
        </p:nvSpPr>
        <p:spPr>
          <a:xfrm>
            <a:off x="6512840" y="3750000"/>
            <a:ext cx="2300000" cy="300000"/>
          </a:xfrm>
          <a:prstGeom prst="rect">
            <a:avLst/>
          </a:prstGeom>
          <a:noFill/>
          <a:ln>
            <a:noFill/>
          </a:ln>
        </p:spPr>
        <p:txBody>
          <a:bodyPr wrap="square" lIns="0" tIns="0" rIns="0" bIns="0" anchor="t">
            <a:normAutofit/>
          </a:bodyPr>
          <a:lstStyle/>
          <a:p>
            <a:pPr algn="r">
              <a:buNone/>
            </a:pPr>
            <a:r>
              <a:rPr lang="en-US" sz="1200" b="1" i="1" dirty="0">
                <a:solidFill>
                  <a:srgbClr val="B23B3B"/>
                </a:solidFill>
              </a:rPr>
              <a:t xml:space="preserve">central coupling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Control dependencies across boundaries.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400000"/>
            <a:ext cx="7772400" cy="1100000"/>
          </a:xfrm>
          <a:prstGeom prst="rect">
            <a:avLst/>
          </a:prstGeom>
          <a:noFill/>
          <a:ln>
            <a:noFill/>
          </a:ln>
        </p:spPr>
        <p:txBody>
          <a:bodyPr wrap="square" lIns="0" tIns="0" rIns="0" bIns="0" anchor="t">
            <a:normAutofit/>
          </a:bodyPr>
          <a:lstStyle/>
          <a:p>
            <a:pPr algn="ctr">
              <a:buNone/>
            </a:pPr>
            <a:r>
              <a:rPr lang="en-US" sz="2000" b="0" i="0" dirty="0">
                <a:solidFill>
                  <a:srgbClr val="000000"/>
                </a:solidFill>
              </a:rPr>
              <a:t xml:space="preserve">We’re no longer merely grouping responsibilities — we’re deliberately arranging the direction of dependency so infrastructure choices don’t become domain dependencies.</a:t>
            </a:r>
          </a:p>
        </p:txBody>
      </p:sp>
      <p:sp>
        <p:nvSpPr>
          <p:cNvPr id="62" name="T62"/>
          <p:cNvSpPr txBox="1"/>
          <p:nvPr/>
        </p:nvSpPr>
        <p:spPr>
          <a:xfrm>
            <a:off x="685800" y="6050000"/>
            <a:ext cx="7772400" cy="35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 xml:space="preserve">Often called ports-and-adapters / hexagonal / clean architecture.</a:t>
            </a:r>
          </a:p>
        </p:txBody>
      </p:sp>
      <p:sp>
        <p:nvSpPr>
          <p:cNvPr id="100" name="BeforeLbl"/>
          <p:cNvSpPr txBox="1"/>
          <p:nvPr/>
        </p:nvSpPr>
        <p:spPr>
          <a:xfrm>
            <a:off x="685800" y="1280000"/>
            <a:ext cx="1400000" cy="280000"/>
          </a:xfrm>
          <a:prstGeom prst="rect">
            <a:avLst/>
          </a:prstGeom>
          <a:noFill/>
          <a:ln>
            <a:noFill/>
          </a:ln>
        </p:spPr>
        <p:txBody>
          <a:bodyPr wrap="square" lIns="0" tIns="0" rIns="0" bIns="0" anchor="t">
            <a:normAutofit/>
          </a:bodyPr>
          <a:lstStyle/>
          <a:p>
            <a:pPr algn="l">
              <a:buNone/>
            </a:pPr>
            <a:r>
              <a:rPr lang="en-US" sz="1200" b="1" i="0" dirty="0">
                <a:solidFill>
                  <a:srgbClr val="8E6F3E"/>
                </a:solidFill>
              </a:rPr>
              <a:t xml:space="preserve">BEFORE</a:t>
            </a:r>
          </a:p>
        </p:txBody>
      </p:sp>
      <p:sp>
        <p:nvSpPr>
          <p:cNvPr id="101" name="BUI"/>
          <p:cNvSpPr/>
          <p:nvPr/>
        </p:nvSpPr>
        <p:spPr>
          <a:xfrm>
            <a:off x="1200000" y="1620000"/>
            <a:ext cx="13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UI</a:t>
            </a:r>
          </a:p>
        </p:txBody>
      </p:sp>
      <p:sp>
        <p:nvSpPr>
          <p:cNvPr id="102" name="BDomain"/>
          <p:cNvSpPr/>
          <p:nvPr/>
        </p:nvSpPr>
        <p:spPr>
          <a:xfrm>
            <a:off x="3300000" y="1620000"/>
            <a:ext cx="16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DOMAIN</a:t>
            </a:r>
          </a:p>
        </p:txBody>
      </p:sp>
      <p:sp>
        <p:nvSpPr>
          <p:cNvPr id="103" name="BDb"/>
          <p:cNvSpPr/>
          <p:nvPr/>
        </p:nvSpPr>
        <p:spPr>
          <a:xfrm>
            <a:off x="5700000" y="1620000"/>
            <a:ext cx="16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DATABASE</a:t>
            </a:r>
          </a:p>
        </p:txBody>
      </p:sp>
      <p:cxnSp>
        <p:nvCxnSpPr>
          <p:cNvPr id="104" name="BA1"/>
          <p:cNvCxnSpPr/>
          <p:nvPr/>
        </p:nvCxnSpPr>
        <p:spPr>
          <a:xfrm>
            <a:off x="2500000" y="1895000"/>
            <a:ext cx="800000" cy="0"/>
          </a:xfrm>
          <a:prstGeom prst="line">
            <a:avLst/>
          </a:prstGeom>
          <a:ln w="19050">
            <a:solidFill>
              <a:srgbClr val="8E6F3E"/>
            </a:solidFill>
            <a:tailEnd type="triangle" w="med" len="med"/>
          </a:ln>
        </p:spPr>
      </p:cxnSp>
      <p:cxnSp>
        <p:nvCxnSpPr>
          <p:cNvPr id="105" name="BA2"/>
          <p:cNvCxnSpPr/>
          <p:nvPr/>
        </p:nvCxnSpPr>
        <p:spPr>
          <a:xfrm>
            <a:off x="4900000" y="1895000"/>
            <a:ext cx="800000" cy="0"/>
          </a:xfrm>
          <a:prstGeom prst="line">
            <a:avLst/>
          </a:prstGeom>
          <a:ln w="19050">
            <a:solidFill>
              <a:srgbClr val="B23B3B"/>
            </a:solidFill>
            <a:tailEnd type="triangle" w="med" len="med"/>
          </a:ln>
        </p:spPr>
      </p:cxnSp>
      <p:sp>
        <p:nvSpPr>
          <p:cNvPr id="106" name="BCap"/>
          <p:cNvSpPr txBox="1"/>
          <p:nvPr/>
        </p:nvSpPr>
        <p:spPr>
          <a:xfrm>
            <a:off x="3900000" y="2300000"/>
            <a:ext cx="3600000" cy="280000"/>
          </a:xfrm>
          <a:prstGeom prst="rect">
            <a:avLst/>
          </a:prstGeom>
          <a:noFill/>
          <a:ln>
            <a:noFill/>
          </a:ln>
        </p:spPr>
        <p:txBody>
          <a:bodyPr wrap="square" lIns="0" tIns="0" rIns="0" bIns="0" anchor="t">
            <a:normAutofit/>
          </a:bodyPr>
          <a:lstStyle/>
          <a:p>
            <a:pPr algn="l">
              <a:buNone/>
            </a:pPr>
            <a:r>
              <a:rPr lang="en-US" sz="1050" b="0" i="1" dirty="0">
                <a:solidFill>
                  <a:srgbClr val="B23B3B"/>
                </a:solidFill>
              </a:rPr>
              <a:t xml:space="preserve">infrastructure becomes a domain dependency</a:t>
            </a:r>
          </a:p>
        </p:txBody>
      </p:sp>
      <p:sp>
        <p:nvSpPr>
          <p:cNvPr id="107" name="AfterLbl"/>
          <p:cNvSpPr txBox="1"/>
          <p:nvPr/>
        </p:nvSpPr>
        <p:spPr>
          <a:xfrm>
            <a:off x="685800" y="2780000"/>
            <a:ext cx="1400000" cy="280000"/>
          </a:xfrm>
          <a:prstGeom prst="rect">
            <a:avLst/>
          </a:prstGeom>
          <a:noFill/>
          <a:ln>
            <a:noFill/>
          </a:ln>
        </p:spPr>
        <p:txBody>
          <a:bodyPr wrap="square" lIns="0" tIns="0" rIns="0" bIns="0" anchor="t">
            <a:normAutofit/>
          </a:bodyPr>
          <a:lstStyle/>
          <a:p>
            <a:pPr algn="l">
              <a:buNone/>
            </a:pPr>
            <a:r>
              <a:rPr lang="en-US" sz="1200" b="1" i="0" dirty="0">
                <a:solidFill>
                  <a:srgbClr val="8E6F3E"/>
                </a:solidFill>
              </a:rPr>
              <a:t xml:space="preserve">AFTER</a:t>
            </a:r>
          </a:p>
        </p:txBody>
      </p:sp>
      <p:sp>
        <p:nvSpPr>
          <p:cNvPr id="108" name="AUI"/>
          <p:cNvSpPr/>
          <p:nvPr/>
        </p:nvSpPr>
        <p:spPr>
          <a:xfrm>
            <a:off x="1200000" y="3120000"/>
            <a:ext cx="13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UI</a:t>
            </a:r>
          </a:p>
        </p:txBody>
      </p:sp>
      <p:sp>
        <p:nvSpPr>
          <p:cNvPr id="109" name="ADomain"/>
          <p:cNvSpPr/>
          <p:nvPr/>
        </p:nvSpPr>
        <p:spPr>
          <a:xfrm>
            <a:off x="3300000" y="3120000"/>
            <a:ext cx="16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DOMAIN</a:t>
            </a:r>
          </a:p>
        </p:txBody>
      </p:sp>
      <p:sp>
        <p:nvSpPr>
          <p:cNvPr id="110" name="Iface"/>
          <p:cNvSpPr/>
          <p:nvPr/>
        </p:nvSpPr>
        <p:spPr>
          <a:xfrm>
            <a:off x="4900000" y="3050000"/>
            <a:ext cx="100000" cy="690000"/>
          </a:xfrm>
          <a:prstGeom prst="rect">
            <a:avLst/>
          </a:prstGeom>
          <a:solidFill>
            <a:srgbClr val="8E6F3E"/>
          </a:solidFill>
          <a:ln>
            <a:noFill/>
          </a:ln>
        </p:spPr>
        <p:txBody>
          <a:bodyPr wrap="square" lIns="54864" tIns="27432" rIns="54864" bIns="27432" anchor="ctr">
            <a:normAutofit/>
          </a:bodyPr>
          <a:lstStyle/>
          <a:p>
            <a:endParaRPr/>
          </a:p>
        </p:txBody>
      </p:sp>
      <p:sp>
        <p:nvSpPr>
          <p:cNvPr id="111" name="IfaceLbl"/>
          <p:cNvSpPr txBox="1"/>
          <p:nvPr/>
        </p:nvSpPr>
        <p:spPr>
          <a:xfrm>
            <a:off x="4050000" y="2790000"/>
            <a:ext cx="2800000" cy="260000"/>
          </a:xfrm>
          <a:prstGeom prst="rect">
            <a:avLst/>
          </a:prstGeom>
          <a:noFill/>
          <a:ln>
            <a:noFill/>
          </a:ln>
        </p:spPr>
        <p:txBody>
          <a:bodyPr wrap="square" lIns="0" tIns="0" rIns="0" bIns="0" anchor="t">
            <a:normAutofit/>
          </a:bodyPr>
          <a:lstStyle/>
          <a:p>
            <a:pPr algn="l">
              <a:buNone/>
            </a:pPr>
            <a:r>
              <a:rPr lang="en-US" sz="1000" b="1" i="0" dirty="0">
                <a:solidFill>
                  <a:srgbClr val="8E6F3E"/>
                </a:solidFill>
              </a:rPr>
              <a:t xml:space="preserve">DOMAIN-DEFINED INTERFACE</a:t>
            </a:r>
          </a:p>
        </p:txBody>
      </p:sp>
      <p:sp>
        <p:nvSpPr>
          <p:cNvPr id="112" name="AAdapter"/>
          <p:cNvSpPr/>
          <p:nvPr/>
        </p:nvSpPr>
        <p:spPr>
          <a:xfrm>
            <a:off x="5700000" y="3120000"/>
            <a:ext cx="1600000" cy="5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DB ADAPTER</a:t>
            </a:r>
          </a:p>
        </p:txBody>
      </p:sp>
      <p:cxnSp>
        <p:nvCxnSpPr>
          <p:cNvPr id="113" name="AA1"/>
          <p:cNvCxnSpPr/>
          <p:nvPr/>
        </p:nvCxnSpPr>
        <p:spPr>
          <a:xfrm>
            <a:off x="2500000" y="3395000"/>
            <a:ext cx="800000" cy="0"/>
          </a:xfrm>
          <a:prstGeom prst="line">
            <a:avLst/>
          </a:prstGeom>
          <a:ln w="19050">
            <a:solidFill>
              <a:srgbClr val="8E6F3E"/>
            </a:solidFill>
            <a:tailEnd type="triangle" w="med" len="med"/>
          </a:ln>
        </p:spPr>
      </p:cxnSp>
      <p:cxnSp>
        <p:nvCxnSpPr>
          <p:cNvPr id="114" name="AA2"/>
          <p:cNvCxnSpPr/>
          <p:nvPr/>
        </p:nvCxnSpPr>
        <p:spPr>
          <a:xfrm flipH="1">
            <a:off x="5030000" y="3395000"/>
            <a:ext cx="670000" cy="0"/>
          </a:xfrm>
          <a:prstGeom prst="line">
            <a:avLst/>
          </a:prstGeom>
          <a:ln w="25400">
            <a:solidFill>
              <a:srgbClr val="1F7A4D"/>
            </a:solidFill>
            <a:tailEnd type="triangle" w="med" len="med"/>
          </a:ln>
        </p:spPr>
      </p:cxnSp>
      <p:sp>
        <p:nvSpPr>
          <p:cNvPr id="115" name="ACap"/>
          <p:cNvSpPr txBox="1"/>
          <p:nvPr/>
        </p:nvSpPr>
        <p:spPr>
          <a:xfrm>
            <a:off x="3900000" y="3800000"/>
            <a:ext cx="4200000" cy="280000"/>
          </a:xfrm>
          <a:prstGeom prst="rect">
            <a:avLst/>
          </a:prstGeom>
          <a:noFill/>
          <a:ln>
            <a:noFill/>
          </a:ln>
        </p:spPr>
        <p:txBody>
          <a:bodyPr wrap="square" lIns="0" tIns="0" rIns="0" bIns="0" anchor="t">
            <a:normAutofit/>
          </a:bodyPr>
          <a:lstStyle/>
          <a:p>
            <a:pPr algn="l">
              <a:buNone/>
            </a:pPr>
            <a:r>
              <a:rPr lang="en-US" sz="1050" b="0" i="1" dirty="0">
                <a:solidFill>
                  <a:srgbClr val="1F7A4D"/>
                </a:solidFill>
              </a:rPr>
              <a:t xml:space="preserve">the dependency now points into the domain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Events: producers need not know their consumers.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3500000"/>
            <a:ext cx="7772400" cy="400000"/>
          </a:xfrm>
          <a:prstGeom prst="rect">
            <a:avLst/>
          </a:prstGeom>
          <a:noFill/>
          <a:ln>
            <a:noFill/>
          </a:ln>
        </p:spPr>
        <p:txBody>
          <a:bodyPr wrap="square" lIns="0" tIns="0" rIns="0" bIns="0" anchor="t">
            <a:normAutofit/>
          </a:bodyPr>
          <a:lstStyle/>
          <a:p>
            <a:pPr algn="ctr">
              <a:buNone/>
            </a:pPr>
            <a:r>
              <a:rPr lang="en-US" sz="1900" b="1" i="0" dirty="0">
                <a:solidFill>
                  <a:srgbClr val="000000"/>
                </a:solidFill>
              </a:rPr>
              <a:t xml:space="preserve">Rule of thumb: </a:t>
            </a:r>
            <a:r>
              <a:rPr lang="en-US" sz="1900" b="0" i="0" dirty="0">
                <a:solidFill>
                  <a:srgbClr val="000000"/>
                </a:solidFill>
              </a:rPr>
              <a:t xml:space="preserve">event-based often makes adding consumers easier.</a:t>
            </a:r>
          </a:p>
        </p:txBody>
      </p:sp>
      <p:sp>
        <p:nvSpPr>
          <p:cNvPr id="62" name="T62"/>
          <p:cNvSpPr txBox="1"/>
          <p:nvPr/>
        </p:nvSpPr>
        <p:spPr>
          <a:xfrm>
            <a:off x="685800" y="3980000"/>
            <a:ext cx="7772400" cy="700000"/>
          </a:xfrm>
          <a:prstGeom prst="rect">
            <a:avLst/>
          </a:prstGeom>
          <a:noFill/>
          <a:ln>
            <a:noFill/>
          </a:ln>
        </p:spPr>
        <p:txBody>
          <a:bodyPr wrap="square" lIns="0" tIns="0" rIns="0" bIns="0" anchor="t">
            <a:normAutofit/>
          </a:bodyPr>
          <a:lstStyle/>
          <a:p>
            <a:pPr algn="ctr">
              <a:buNone/>
            </a:pPr>
            <a:r>
              <a:rPr lang="en-US" sz="1900" b="1" i="0" dirty="0">
                <a:solidFill>
                  <a:srgbClr val="5C4826"/>
                </a:solidFill>
              </a:rPr>
              <a:t xml:space="preserve">Engineering question: </a:t>
            </a:r>
            <a:r>
              <a:rPr lang="en-US" sz="1900" b="0" i="1" dirty="0">
                <a:solidFill>
                  <a:srgbClr val="000000"/>
                </a:solidFill>
              </a:rPr>
              <a:t xml:space="preserve">does THIS event architecture satisfy our ordering, latency, reliability, and observability obligations?</a:t>
            </a:r>
          </a:p>
        </p:txBody>
      </p:sp>
      <p:sp>
        <p:nvSpPr>
          <p:cNvPr id="63" name="Band63"/>
          <p:cNvSpPr/>
          <p:nvPr/>
        </p:nvSpPr>
        <p:spPr>
          <a:xfrm>
            <a:off x="279400" y="49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1700" b="1" i="0" dirty="0">
                <a:solidFill>
                  <a:srgbClr val="FFFFFF"/>
                </a:solidFill>
              </a:rPr>
              <a:t xml:space="preserve">PATTERN KNOWLEDGE  ——  increasing complexity / consequence  ——▶  ANALYSIS</a:t>
            </a:r>
          </a:p>
          <a:p>
            <a:pPr algn="ctr">
              <a:spcBef>
                <a:spcPts val="150"/>
              </a:spcBef>
              <a:buNone/>
            </a:pPr>
            <a:r>
              <a:rPr lang="en-US" sz="1500" b="0" i="1" dirty="0">
                <a:solidFill>
                  <a:srgbClr val="FFFFFF"/>
                </a:solidFill>
              </a:rPr>
              <a:t xml:space="preserve">“reasonable expectation”  →  “show me”</a:t>
            </a:r>
          </a:p>
        </p:txBody>
      </p:sp>
      <p:sp>
        <p:nvSpPr>
          <p:cNvPr id="64" name="T64"/>
          <p:cNvSpPr txBox="1"/>
          <p:nvPr/>
        </p:nvSpPr>
        <p:spPr>
          <a:xfrm>
            <a:off x="685800" y="6000000"/>
            <a:ext cx="7772400" cy="35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 xml:space="preserve">—  STRETCH BREAK  —</a:t>
            </a:r>
          </a:p>
        </p:txBody>
      </p:sp>
      <p:sp>
        <p:nvSpPr>
          <p:cNvPr id="100" name="DirLbl"/>
          <p:cNvSpPr txBox="1"/>
          <p:nvPr/>
        </p:nvSpPr>
        <p:spPr>
          <a:xfrm>
            <a:off x="685800" y="1150000"/>
            <a:ext cx="2000000" cy="280000"/>
          </a:xfrm>
          <a:prstGeom prst="rect">
            <a:avLst/>
          </a:prstGeom>
          <a:noFill/>
          <a:ln>
            <a:noFill/>
          </a:ln>
        </p:spPr>
        <p:txBody>
          <a:bodyPr wrap="square" lIns="0" tIns="0" rIns="0" bIns="0" anchor="t">
            <a:normAutofit/>
          </a:bodyPr>
          <a:lstStyle/>
          <a:p>
            <a:pPr algn="l">
              <a:buNone/>
            </a:pPr>
            <a:r>
              <a:rPr lang="en-US" sz="1200" b="1" i="0" dirty="0">
                <a:solidFill>
                  <a:srgbClr val="8E6F3E"/>
                </a:solidFill>
              </a:rPr>
              <a:t xml:space="preserve">DIRECT</a:t>
            </a:r>
          </a:p>
        </p:txBody>
      </p:sp>
      <p:sp>
        <p:nvSpPr>
          <p:cNvPr id="101" name="DA"/>
          <p:cNvSpPr/>
          <p:nvPr/>
        </p:nvSpPr>
        <p:spPr>
          <a:xfrm>
            <a:off x="800000" y="2050000"/>
            <a:ext cx="7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A</a:t>
            </a:r>
          </a:p>
        </p:txBody>
      </p:sp>
      <p:sp>
        <p:nvSpPr>
          <p:cNvPr id="102" name="DB"/>
          <p:cNvSpPr/>
          <p:nvPr/>
        </p:nvSpPr>
        <p:spPr>
          <a:xfrm>
            <a:off x="2750000" y="1500000"/>
            <a:ext cx="700000" cy="44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B</a:t>
            </a:r>
          </a:p>
        </p:txBody>
      </p:sp>
      <p:cxnSp>
        <p:nvCxnSpPr>
          <p:cNvPr id="103" name="DA0"/>
          <p:cNvCxnSpPr/>
          <p:nvPr/>
        </p:nvCxnSpPr>
        <p:spPr>
          <a:xfrm flipV="1">
            <a:off x="1500000" y="1720000"/>
            <a:ext cx="1250000" cy="580000"/>
          </a:xfrm>
          <a:prstGeom prst="line">
            <a:avLst/>
          </a:prstGeom>
          <a:ln w="19050">
            <a:solidFill>
              <a:srgbClr val="8E6F3E"/>
            </a:solidFill>
            <a:tailEnd type="triangle" w="med" len="med"/>
          </a:ln>
        </p:spPr>
      </p:cxnSp>
      <p:sp>
        <p:nvSpPr>
          <p:cNvPr id="104" name="DC"/>
          <p:cNvSpPr/>
          <p:nvPr/>
        </p:nvSpPr>
        <p:spPr>
          <a:xfrm>
            <a:off x="2750000" y="2080000"/>
            <a:ext cx="700000" cy="44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C</a:t>
            </a:r>
          </a:p>
        </p:txBody>
      </p:sp>
      <p:cxnSp>
        <p:nvCxnSpPr>
          <p:cNvPr id="105" name="DA1"/>
          <p:cNvCxnSpPr/>
          <p:nvPr/>
        </p:nvCxnSpPr>
        <p:spPr>
          <a:xfrm>
            <a:off x="1500000" y="2300000"/>
            <a:ext cx="1250000" cy="0"/>
          </a:xfrm>
          <a:prstGeom prst="line">
            <a:avLst/>
          </a:prstGeom>
          <a:ln w="19050">
            <a:solidFill>
              <a:srgbClr val="8E6F3E"/>
            </a:solidFill>
            <a:tailEnd type="triangle" w="med" len="med"/>
          </a:ln>
        </p:spPr>
      </p:cxnSp>
      <p:sp>
        <p:nvSpPr>
          <p:cNvPr id="106" name="DD"/>
          <p:cNvSpPr/>
          <p:nvPr/>
        </p:nvSpPr>
        <p:spPr>
          <a:xfrm>
            <a:off x="2750000" y="2660000"/>
            <a:ext cx="700000" cy="44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a:t>
            </a:r>
          </a:p>
        </p:txBody>
      </p:sp>
      <p:cxnSp>
        <p:nvCxnSpPr>
          <p:cNvPr id="107" name="DA2"/>
          <p:cNvCxnSpPr/>
          <p:nvPr/>
        </p:nvCxnSpPr>
        <p:spPr>
          <a:xfrm>
            <a:off x="1500000" y="2300000"/>
            <a:ext cx="1250000" cy="580000"/>
          </a:xfrm>
          <a:prstGeom prst="line">
            <a:avLst/>
          </a:prstGeom>
          <a:ln w="19050">
            <a:solidFill>
              <a:srgbClr val="8E6F3E"/>
            </a:solidFill>
            <a:tailEnd type="triangle" w="med" len="med"/>
          </a:ln>
        </p:spPr>
      </p:cxnSp>
      <p:sp>
        <p:nvSpPr>
          <p:cNvPr id="108" name="DCap"/>
          <p:cNvSpPr txBox="1"/>
          <p:nvPr/>
        </p:nvSpPr>
        <p:spPr>
          <a:xfrm>
            <a:off x="800000" y="3220000"/>
            <a:ext cx="2900000" cy="260000"/>
          </a:xfrm>
          <a:prstGeom prst="rect">
            <a:avLst/>
          </a:prstGeom>
          <a:noFill/>
          <a:ln>
            <a:noFill/>
          </a:ln>
        </p:spPr>
        <p:txBody>
          <a:bodyPr wrap="square" lIns="0" tIns="0" rIns="0" bIns="0" anchor="t">
            <a:normAutofit/>
          </a:bodyPr>
          <a:lstStyle/>
          <a:p>
            <a:pPr algn="l">
              <a:buNone/>
            </a:pPr>
            <a:r>
              <a:rPr lang="en-US" sz="1050" b="0" i="1" dirty="0">
                <a:solidFill>
                  <a:srgbClr val="555960"/>
                </a:solidFill>
              </a:rPr>
              <a:t xml:space="preserve">A knows B, C, D</a:t>
            </a:r>
          </a:p>
        </p:txBody>
      </p:sp>
      <p:cxnSp>
        <p:nvCxnSpPr>
          <p:cNvPr id="109" name="Div"/>
          <p:cNvCxnSpPr/>
          <p:nvPr/>
        </p:nvCxnSpPr>
        <p:spPr>
          <a:xfrm>
            <a:off x="4370000" y="1300000"/>
            <a:ext cx="0" cy="1950000"/>
          </a:xfrm>
          <a:prstGeom prst="line">
            <a:avLst/>
          </a:prstGeom>
          <a:ln w="12700">
            <a:solidFill>
              <a:srgbClr val="C9B991"/>
            </a:solidFill>
            <a:prstDash val="dash"/>
          </a:ln>
        </p:spPr>
      </p:cxnSp>
      <p:sp>
        <p:nvSpPr>
          <p:cNvPr id="110" name="EvLbl"/>
          <p:cNvSpPr txBox="1"/>
          <p:nvPr/>
        </p:nvSpPr>
        <p:spPr>
          <a:xfrm>
            <a:off x="4750000" y="1150000"/>
            <a:ext cx="2600000" cy="280000"/>
          </a:xfrm>
          <a:prstGeom prst="rect">
            <a:avLst/>
          </a:prstGeom>
          <a:noFill/>
          <a:ln>
            <a:noFill/>
          </a:ln>
        </p:spPr>
        <p:txBody>
          <a:bodyPr wrap="square" lIns="0" tIns="0" rIns="0" bIns="0" anchor="t">
            <a:normAutofit/>
          </a:bodyPr>
          <a:lstStyle/>
          <a:p>
            <a:pPr algn="l">
              <a:buNone/>
            </a:pPr>
            <a:r>
              <a:rPr lang="en-US" sz="1200" b="1" i="0" dirty="0">
                <a:solidFill>
                  <a:srgbClr val="8E6F3E"/>
                </a:solidFill>
              </a:rPr>
              <a:t xml:space="preserve">EVENT-BASED</a:t>
            </a:r>
          </a:p>
        </p:txBody>
      </p:sp>
      <p:sp>
        <p:nvSpPr>
          <p:cNvPr id="111" name="EA"/>
          <p:cNvSpPr/>
          <p:nvPr/>
        </p:nvSpPr>
        <p:spPr>
          <a:xfrm>
            <a:off x="4750000" y="2050000"/>
            <a:ext cx="7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A</a:t>
            </a:r>
          </a:p>
        </p:txBody>
      </p:sp>
      <p:sp>
        <p:nvSpPr>
          <p:cNvPr id="112" name="EBus"/>
          <p:cNvSpPr/>
          <p:nvPr/>
        </p:nvSpPr>
        <p:spPr>
          <a:xfrm>
            <a:off x="6000000" y="1450000"/>
            <a:ext cx="380000" cy="1650000"/>
          </a:xfrm>
          <a:prstGeom prst="rect">
            <a:avLst/>
          </a:prstGeom>
          <a:solidFill>
            <a:srgbClr val="8E6F3E"/>
          </a:solidFill>
          <a:ln>
            <a:noFill/>
          </a:ln>
        </p:spPr>
        <p:txBody>
          <a:bodyPr wrap="square" lIns="54864" tIns="27432" rIns="54864" bIns="27432" anchor="ctr">
            <a:normAutofit/>
          </a:bodyPr>
          <a:lstStyle/>
          <a:p>
            <a:endParaRPr/>
          </a:p>
        </p:txBody>
      </p:sp>
      <p:sp>
        <p:nvSpPr>
          <p:cNvPr id="113" name="EBusLbl"/>
          <p:cNvSpPr txBox="1"/>
          <p:nvPr/>
        </p:nvSpPr>
        <p:spPr>
          <a:xfrm rot="-5400000">
            <a:off x="5290000" y="2145000"/>
            <a:ext cx="1800000" cy="260000"/>
          </a:xfrm>
          <a:prstGeom prst="rect">
            <a:avLst/>
          </a:prstGeom>
          <a:noFill/>
          <a:ln>
            <a:noFill/>
          </a:ln>
        </p:spPr>
        <p:txBody>
          <a:bodyPr wrap="square" lIns="0" tIns="0" rIns="0" bIns="0" anchor="t">
            <a:normAutofit/>
          </a:bodyPr>
          <a:lstStyle/>
          <a:p>
            <a:pPr algn="ctr">
              <a:buNone/>
            </a:pPr>
            <a:r>
              <a:rPr lang="en-US" sz="1000" b="1" i="0" dirty="0">
                <a:solidFill>
                  <a:srgbClr val="FFFFFF"/>
                </a:solidFill>
              </a:rPr>
              <a:t xml:space="preserve">EVENT BUS</a:t>
            </a:r>
          </a:p>
        </p:txBody>
      </p:sp>
      <p:cxnSp>
        <p:nvCxnSpPr>
          <p:cNvPr id="114" name="EAB"/>
          <p:cNvCxnSpPr/>
          <p:nvPr/>
        </p:nvCxnSpPr>
        <p:spPr>
          <a:xfrm>
            <a:off x="5450000" y="2300000"/>
            <a:ext cx="550000" cy="0"/>
          </a:xfrm>
          <a:prstGeom prst="line">
            <a:avLst/>
          </a:prstGeom>
          <a:ln w="19050">
            <a:solidFill>
              <a:srgbClr val="8E6F3E"/>
            </a:solidFill>
            <a:tailEnd type="triangle" w="med" len="med"/>
          </a:ln>
        </p:spPr>
      </p:cxnSp>
      <p:sp>
        <p:nvSpPr>
          <p:cNvPr id="115" name="EB"/>
          <p:cNvSpPr/>
          <p:nvPr/>
        </p:nvSpPr>
        <p:spPr>
          <a:xfrm>
            <a:off x="7250000" y="1500000"/>
            <a:ext cx="700000" cy="44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B</a:t>
            </a:r>
          </a:p>
        </p:txBody>
      </p:sp>
      <p:cxnSp>
        <p:nvCxnSpPr>
          <p:cNvPr id="116" name="EA0"/>
          <p:cNvCxnSpPr/>
          <p:nvPr/>
        </p:nvCxnSpPr>
        <p:spPr>
          <a:xfrm flipV="1">
            <a:off x="6380000" y="1720000"/>
            <a:ext cx="870000" cy="580000"/>
          </a:xfrm>
          <a:prstGeom prst="line">
            <a:avLst/>
          </a:prstGeom>
          <a:ln w="19050">
            <a:solidFill>
              <a:srgbClr val="8E6F3E"/>
            </a:solidFill>
            <a:tailEnd type="triangle" w="med" len="med"/>
          </a:ln>
        </p:spPr>
      </p:cxnSp>
      <p:sp>
        <p:nvSpPr>
          <p:cNvPr id="117" name="EC"/>
          <p:cNvSpPr/>
          <p:nvPr/>
        </p:nvSpPr>
        <p:spPr>
          <a:xfrm>
            <a:off x="7250000" y="2080000"/>
            <a:ext cx="700000" cy="44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C</a:t>
            </a:r>
          </a:p>
        </p:txBody>
      </p:sp>
      <p:cxnSp>
        <p:nvCxnSpPr>
          <p:cNvPr id="118" name="EA1"/>
          <p:cNvCxnSpPr/>
          <p:nvPr/>
        </p:nvCxnSpPr>
        <p:spPr>
          <a:xfrm>
            <a:off x="6380000" y="2300000"/>
            <a:ext cx="870000" cy="0"/>
          </a:xfrm>
          <a:prstGeom prst="line">
            <a:avLst/>
          </a:prstGeom>
          <a:ln w="19050">
            <a:solidFill>
              <a:srgbClr val="8E6F3E"/>
            </a:solidFill>
            <a:tailEnd type="triangle" w="med" len="med"/>
          </a:ln>
        </p:spPr>
      </p:cxnSp>
      <p:sp>
        <p:nvSpPr>
          <p:cNvPr id="119" name="ED"/>
          <p:cNvSpPr/>
          <p:nvPr/>
        </p:nvSpPr>
        <p:spPr>
          <a:xfrm>
            <a:off x="7250000" y="2660000"/>
            <a:ext cx="700000" cy="44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 xml:space="preserve">D</a:t>
            </a:r>
          </a:p>
        </p:txBody>
      </p:sp>
      <p:cxnSp>
        <p:nvCxnSpPr>
          <p:cNvPr id="120" name="EA2"/>
          <p:cNvCxnSpPr/>
          <p:nvPr/>
        </p:nvCxnSpPr>
        <p:spPr>
          <a:xfrm>
            <a:off x="6380000" y="2300000"/>
            <a:ext cx="870000" cy="580000"/>
          </a:xfrm>
          <a:prstGeom prst="line">
            <a:avLst/>
          </a:prstGeom>
          <a:ln w="19050">
            <a:solidFill>
              <a:srgbClr val="8E6F3E"/>
            </a:solidFill>
            <a:tailEnd type="triangle" w="med" len="med"/>
          </a:ln>
        </p:spPr>
      </p:cxnSp>
      <p:sp>
        <p:nvSpPr>
          <p:cNvPr id="121" name="ECap"/>
          <p:cNvSpPr txBox="1"/>
          <p:nvPr/>
        </p:nvSpPr>
        <p:spPr>
          <a:xfrm>
            <a:off x="4750000" y="3220000"/>
            <a:ext cx="3700000" cy="260000"/>
          </a:xfrm>
          <a:prstGeom prst="rect">
            <a:avLst/>
          </a:prstGeom>
          <a:noFill/>
          <a:ln>
            <a:noFill/>
          </a:ln>
        </p:spPr>
        <p:txBody>
          <a:bodyPr wrap="square" lIns="0" tIns="0" rIns="0" bIns="0" anchor="t">
            <a:normAutofit/>
          </a:bodyPr>
          <a:lstStyle/>
          <a:p>
            <a:pPr algn="l">
              <a:buNone/>
            </a:pPr>
            <a:r>
              <a:rPr lang="en-US" sz="1050" b="0" i="1" dirty="0">
                <a:solidFill>
                  <a:srgbClr val="555960"/>
                </a:solidFill>
              </a:rPr>
              <a:t xml:space="preserve">A knows the event, not the consumers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 xml:space="preserve">Patterns capture recurring architectural choices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3</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What organizations recur, and what do they tend to buy—and cost?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000000"/>
            <a:ext cx="7772400" cy="500000"/>
          </a:xfrm>
          <a:prstGeom prst="rect">
            <a:avLst/>
          </a:prstGeom>
          <a:noFill/>
          <a:ln>
            <a:noFill/>
          </a:ln>
        </p:spPr>
        <p:txBody>
          <a:bodyPr wrap="square" lIns="0" tIns="0" rIns="0" bIns="0" anchor="t">
            <a:normAutofit/>
          </a:bodyPr>
          <a:lstStyle/>
          <a:p>
            <a:pPr algn="ctr">
              <a:buNone/>
            </a:pPr>
            <a:r>
              <a:rPr lang="en-US" sz="2400" b="1" i="0" dirty="0">
                <a:solidFill>
                  <a:srgbClr val="000000"/>
                </a:solidFill>
              </a:rPr>
              <a:t xml:space="preserve">Different question → different model.</a:t>
            </a:r>
          </a:p>
        </p:txBody>
      </p:sp>
      <p:sp>
        <p:nvSpPr>
          <p:cNvPr id="100" name="PH0"/>
          <p:cNvSpPr txBox="1"/>
          <p:nvPr/>
        </p:nvSpPr>
        <p:spPr>
          <a:xfrm>
            <a:off x="685800" y="1300000"/>
            <a:ext cx="2400000" cy="320000"/>
          </a:xfrm>
          <a:prstGeom prst="rect">
            <a:avLst/>
          </a:prstGeom>
          <a:noFill/>
          <a:ln>
            <a:noFill/>
          </a:ln>
        </p:spPr>
        <p:txBody>
          <a:bodyPr wrap="square" lIns="0" tIns="0" rIns="0" bIns="0" anchor="t">
            <a:normAutofit/>
          </a:bodyPr>
          <a:lstStyle/>
          <a:p>
            <a:pPr algn="ctr">
              <a:buNone/>
            </a:pPr>
            <a:r>
              <a:rPr lang="en-US" sz="1400" b="1" i="0" dirty="0">
                <a:solidFill>
                  <a:srgbClr val="8E6F3E"/>
                </a:solidFill>
              </a:rPr>
              <a:t xml:space="preserve">CHANGE?</a:t>
            </a:r>
          </a:p>
        </p:txBody>
      </p:sp>
      <p:sp>
        <p:nvSpPr>
          <p:cNvPr id="101" name="PS0"/>
          <p:cNvSpPr txBox="1"/>
          <p:nvPr/>
        </p:nvSpPr>
        <p:spPr>
          <a:xfrm>
            <a:off x="685800" y="1650000"/>
            <a:ext cx="2400000" cy="26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 xml:space="preserve">dependency view</a:t>
            </a:r>
          </a:p>
        </p:txBody>
      </p:sp>
      <p:sp>
        <p:nvSpPr>
          <p:cNvPr id="102" name="PH1"/>
          <p:cNvSpPr txBox="1"/>
          <p:nvPr/>
        </p:nvSpPr>
        <p:spPr>
          <a:xfrm>
            <a:off x="3385800" y="1300000"/>
            <a:ext cx="2400000" cy="320000"/>
          </a:xfrm>
          <a:prstGeom prst="rect">
            <a:avLst/>
          </a:prstGeom>
          <a:noFill/>
          <a:ln>
            <a:noFill/>
          </a:ln>
        </p:spPr>
        <p:txBody>
          <a:bodyPr wrap="square" lIns="0" tIns="0" rIns="0" bIns="0" anchor="t">
            <a:normAutofit/>
          </a:bodyPr>
          <a:lstStyle/>
          <a:p>
            <a:pPr algn="ctr">
              <a:buNone/>
            </a:pPr>
            <a:r>
              <a:rPr lang="en-US" sz="1400" b="1" i="0" dirty="0">
                <a:solidFill>
                  <a:srgbClr val="8E6F3E"/>
                </a:solidFill>
              </a:rPr>
              <a:t xml:space="preserve">LATENCY?</a:t>
            </a:r>
          </a:p>
        </p:txBody>
      </p:sp>
      <p:sp>
        <p:nvSpPr>
          <p:cNvPr id="103" name="PS1"/>
          <p:cNvSpPr txBox="1"/>
          <p:nvPr/>
        </p:nvSpPr>
        <p:spPr>
          <a:xfrm>
            <a:off x="3385800" y="1650000"/>
            <a:ext cx="2400000" cy="26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 xml:space="preserve">weighted flow</a:t>
            </a:r>
          </a:p>
        </p:txBody>
      </p:sp>
      <p:cxnSp>
        <p:nvCxnSpPr>
          <p:cNvPr id="104" name="PDiv1"/>
          <p:cNvCxnSpPr/>
          <p:nvPr/>
        </p:nvCxnSpPr>
        <p:spPr>
          <a:xfrm>
            <a:off x="3235800" y="1350000"/>
            <a:ext cx="0" cy="2950000"/>
          </a:xfrm>
          <a:prstGeom prst="line">
            <a:avLst/>
          </a:prstGeom>
          <a:ln w="12700">
            <a:solidFill>
              <a:srgbClr val="C9B991"/>
            </a:solidFill>
            <a:prstDash val="dash"/>
          </a:ln>
        </p:spPr>
      </p:cxnSp>
      <p:sp>
        <p:nvSpPr>
          <p:cNvPr id="105" name="PH2"/>
          <p:cNvSpPr txBox="1"/>
          <p:nvPr/>
        </p:nvSpPr>
        <p:spPr>
          <a:xfrm>
            <a:off x="6085800" y="1300000"/>
            <a:ext cx="2400000" cy="320000"/>
          </a:xfrm>
          <a:prstGeom prst="rect">
            <a:avLst/>
          </a:prstGeom>
          <a:noFill/>
          <a:ln>
            <a:noFill/>
          </a:ln>
        </p:spPr>
        <p:txBody>
          <a:bodyPr wrap="square" lIns="0" tIns="0" rIns="0" bIns="0" anchor="t">
            <a:normAutofit/>
          </a:bodyPr>
          <a:lstStyle/>
          <a:p>
            <a:pPr algn="ctr">
              <a:buNone/>
            </a:pPr>
            <a:r>
              <a:rPr lang="en-US" sz="1400" b="1" i="0" dirty="0">
                <a:solidFill>
                  <a:srgbClr val="8E6F3E"/>
                </a:solidFill>
              </a:rPr>
              <a:t xml:space="preserve">FAILURE?</a:t>
            </a:r>
          </a:p>
        </p:txBody>
      </p:sp>
      <p:sp>
        <p:nvSpPr>
          <p:cNvPr id="106" name="PS2"/>
          <p:cNvSpPr txBox="1"/>
          <p:nvPr/>
        </p:nvSpPr>
        <p:spPr>
          <a:xfrm>
            <a:off x="6085800" y="1650000"/>
            <a:ext cx="2400000" cy="26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 xml:space="preserve">deployment view</a:t>
            </a:r>
          </a:p>
        </p:txBody>
      </p:sp>
      <p:cxnSp>
        <p:nvCxnSpPr>
          <p:cNvPr id="107" name="PDiv2"/>
          <p:cNvCxnSpPr/>
          <p:nvPr/>
        </p:nvCxnSpPr>
        <p:spPr>
          <a:xfrm>
            <a:off x="5935800" y="1350000"/>
            <a:ext cx="0" cy="2950000"/>
          </a:xfrm>
          <a:prstGeom prst="line">
            <a:avLst/>
          </a:prstGeom>
          <a:ln w="12700">
            <a:solidFill>
              <a:srgbClr val="C9B991"/>
            </a:solidFill>
            <a:prstDash val="dash"/>
          </a:ln>
        </p:spPr>
      </p:cxnSp>
      <p:sp>
        <p:nvSpPr>
          <p:cNvPr id="108" name="P1A"/>
          <p:cNvSpPr/>
          <p:nvPr/>
        </p:nvSpPr>
        <p:spPr>
          <a:xfrm>
            <a:off x="1185800" y="215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A</a:t>
            </a:r>
          </a:p>
        </p:txBody>
      </p:sp>
      <p:sp>
        <p:nvSpPr>
          <p:cNvPr id="109" name="P1B"/>
          <p:cNvSpPr/>
          <p:nvPr/>
        </p:nvSpPr>
        <p:spPr>
          <a:xfrm>
            <a:off x="1185800" y="290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B</a:t>
            </a:r>
          </a:p>
        </p:txBody>
      </p:sp>
      <p:sp>
        <p:nvSpPr>
          <p:cNvPr id="110" name="P1C"/>
          <p:cNvSpPr/>
          <p:nvPr/>
        </p:nvSpPr>
        <p:spPr>
          <a:xfrm>
            <a:off x="1185800" y="365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C</a:t>
            </a:r>
          </a:p>
        </p:txBody>
      </p:sp>
      <p:sp>
        <p:nvSpPr>
          <p:cNvPr id="111" name="P1D"/>
          <p:cNvSpPr/>
          <p:nvPr/>
        </p:nvSpPr>
        <p:spPr>
          <a:xfrm>
            <a:off x="2285800" y="290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D</a:t>
            </a:r>
          </a:p>
        </p:txBody>
      </p:sp>
      <p:cxnSp>
        <p:nvCxnSpPr>
          <p:cNvPr id="112" name="P1ab"/>
          <p:cNvCxnSpPr/>
          <p:nvPr/>
        </p:nvCxnSpPr>
        <p:spPr>
          <a:xfrm>
            <a:off x="1505800" y="2580000"/>
            <a:ext cx="0" cy="320000"/>
          </a:xfrm>
          <a:prstGeom prst="line">
            <a:avLst/>
          </a:prstGeom>
          <a:ln w="19050">
            <a:solidFill>
              <a:srgbClr val="8E6F3E"/>
            </a:solidFill>
            <a:tailEnd type="triangle" w="med" len="med"/>
          </a:ln>
        </p:spPr>
      </p:cxnSp>
      <p:cxnSp>
        <p:nvCxnSpPr>
          <p:cNvPr id="113" name="P1bc"/>
          <p:cNvCxnSpPr/>
          <p:nvPr/>
        </p:nvCxnSpPr>
        <p:spPr>
          <a:xfrm>
            <a:off x="1505800" y="3330000"/>
            <a:ext cx="0" cy="320000"/>
          </a:xfrm>
          <a:prstGeom prst="line">
            <a:avLst/>
          </a:prstGeom>
          <a:ln w="19050">
            <a:solidFill>
              <a:srgbClr val="8E6F3E"/>
            </a:solidFill>
            <a:tailEnd type="triangle" w="med" len="med"/>
          </a:ln>
        </p:spPr>
      </p:cxnSp>
      <p:cxnSp>
        <p:nvCxnSpPr>
          <p:cNvPr id="114" name="P1bd"/>
          <p:cNvCxnSpPr/>
          <p:nvPr/>
        </p:nvCxnSpPr>
        <p:spPr>
          <a:xfrm>
            <a:off x="1825800" y="3115000"/>
            <a:ext cx="460000" cy="0"/>
          </a:xfrm>
          <a:prstGeom prst="line">
            <a:avLst/>
          </a:prstGeom>
          <a:ln w="19050">
            <a:solidFill>
              <a:srgbClr val="8E6F3E"/>
            </a:solidFill>
            <a:tailEnd type="triangle" w="med" len="med"/>
          </a:ln>
        </p:spPr>
      </p:cxnSp>
      <p:sp>
        <p:nvSpPr>
          <p:cNvPr id="115" name="P2A"/>
          <p:cNvSpPr/>
          <p:nvPr/>
        </p:nvSpPr>
        <p:spPr>
          <a:xfrm>
            <a:off x="4265800" y="215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A</a:t>
            </a:r>
          </a:p>
        </p:txBody>
      </p:sp>
      <p:sp>
        <p:nvSpPr>
          <p:cNvPr id="116" name="P2B"/>
          <p:cNvSpPr/>
          <p:nvPr/>
        </p:nvSpPr>
        <p:spPr>
          <a:xfrm>
            <a:off x="4265800" y="295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B</a:t>
            </a:r>
          </a:p>
        </p:txBody>
      </p:sp>
      <p:sp>
        <p:nvSpPr>
          <p:cNvPr id="117" name="P2C"/>
          <p:cNvSpPr/>
          <p:nvPr/>
        </p:nvSpPr>
        <p:spPr>
          <a:xfrm>
            <a:off x="4265800" y="375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C</a:t>
            </a:r>
          </a:p>
        </p:txBody>
      </p:sp>
      <p:cxnSp>
        <p:nvCxnSpPr>
          <p:cNvPr id="118" name="P2ab"/>
          <p:cNvCxnSpPr/>
          <p:nvPr/>
        </p:nvCxnSpPr>
        <p:spPr>
          <a:xfrm>
            <a:off x="4585800" y="2580000"/>
            <a:ext cx="0" cy="370000"/>
          </a:xfrm>
          <a:prstGeom prst="line">
            <a:avLst/>
          </a:prstGeom>
          <a:ln w="19050">
            <a:solidFill>
              <a:srgbClr val="8E6F3E"/>
            </a:solidFill>
            <a:tailEnd type="triangle" w="med" len="med"/>
          </a:ln>
        </p:spPr>
      </p:cxnSp>
      <p:sp>
        <p:nvSpPr>
          <p:cNvPr id="119" name="P2abL"/>
          <p:cNvSpPr txBox="1"/>
          <p:nvPr/>
        </p:nvSpPr>
        <p:spPr>
          <a:xfrm>
            <a:off x="4685800" y="2620000"/>
            <a:ext cx="700000" cy="260000"/>
          </a:xfrm>
          <a:prstGeom prst="rect">
            <a:avLst/>
          </a:prstGeom>
          <a:noFill/>
          <a:ln>
            <a:noFill/>
          </a:ln>
        </p:spPr>
        <p:txBody>
          <a:bodyPr wrap="square" lIns="0" tIns="0" rIns="0" bIns="0" anchor="t">
            <a:normAutofit/>
          </a:bodyPr>
          <a:lstStyle/>
          <a:p>
            <a:pPr algn="l">
              <a:buNone/>
            </a:pPr>
            <a:r>
              <a:rPr lang="en-US" sz="1000" b="0" i="1" dirty="0">
                <a:solidFill>
                  <a:srgbClr val="555960"/>
                </a:solidFill>
              </a:rPr>
              <a:t xml:space="preserve">20 ms</a:t>
            </a:r>
          </a:p>
        </p:txBody>
      </p:sp>
      <p:cxnSp>
        <p:nvCxnSpPr>
          <p:cNvPr id="120" name="P2bc"/>
          <p:cNvCxnSpPr/>
          <p:nvPr/>
        </p:nvCxnSpPr>
        <p:spPr>
          <a:xfrm>
            <a:off x="4585800" y="3380000"/>
            <a:ext cx="0" cy="370000"/>
          </a:xfrm>
          <a:prstGeom prst="line">
            <a:avLst/>
          </a:prstGeom>
          <a:ln w="38100">
            <a:solidFill>
              <a:srgbClr val="8E6F3E"/>
            </a:solidFill>
            <a:tailEnd type="triangle" w="med" len="med"/>
          </a:ln>
        </p:spPr>
      </p:cxnSp>
      <p:sp>
        <p:nvSpPr>
          <p:cNvPr id="121" name="P2bcL"/>
          <p:cNvSpPr txBox="1"/>
          <p:nvPr/>
        </p:nvSpPr>
        <p:spPr>
          <a:xfrm>
            <a:off x="4685800" y="3420000"/>
            <a:ext cx="700000" cy="260000"/>
          </a:xfrm>
          <a:prstGeom prst="rect">
            <a:avLst/>
          </a:prstGeom>
          <a:noFill/>
          <a:ln>
            <a:noFill/>
          </a:ln>
        </p:spPr>
        <p:txBody>
          <a:bodyPr wrap="square" lIns="0" tIns="0" rIns="0" bIns="0" anchor="t">
            <a:normAutofit/>
          </a:bodyPr>
          <a:lstStyle/>
          <a:p>
            <a:pPr algn="l">
              <a:buNone/>
            </a:pPr>
            <a:r>
              <a:rPr lang="en-US" sz="1000" b="1" i="1" dirty="0">
                <a:solidFill>
                  <a:srgbClr val="5C4826"/>
                </a:solidFill>
              </a:rPr>
              <a:t xml:space="preserve">80 ms</a:t>
            </a:r>
          </a:p>
        </p:txBody>
      </p:sp>
      <p:sp>
        <p:nvSpPr>
          <p:cNvPr id="122" name="P3R0"/>
          <p:cNvSpPr/>
          <p:nvPr/>
        </p:nvSpPr>
        <p:spPr>
          <a:xfrm>
            <a:off x="6145800" y="2150000"/>
            <a:ext cx="1080000" cy="1950000"/>
          </a:xfrm>
          <a:prstGeom prst="roundRect">
            <a:avLst/>
          </a:prstGeom>
          <a:solidFill>
            <a:srgbClr val="FBF8F2"/>
          </a:solidFill>
          <a:ln w="15875">
            <a:solidFill>
              <a:srgbClr val="C9B991"/>
            </a:solidFill>
            <a:prstDash val="dash"/>
          </a:ln>
        </p:spPr>
        <p:txBody>
          <a:bodyPr wrap="square" lIns="54864" tIns="27432" rIns="54864" bIns="27432" anchor="t">
            <a:normAutofit/>
          </a:bodyPr>
          <a:lstStyle/>
          <a:p>
            <a:pPr algn="ctr">
              <a:buNone/>
            </a:pPr>
            <a:r>
              <a:rPr lang="en-US" sz="950" b="1" i="0" dirty="0">
                <a:solidFill>
                  <a:srgbClr val="8E6F3E"/>
                </a:solidFill>
              </a:rPr>
              <a:t xml:space="preserve">REGION 1</a:t>
            </a:r>
          </a:p>
        </p:txBody>
      </p:sp>
      <p:sp>
        <p:nvSpPr>
          <p:cNvPr id="123" name="P3A"/>
          <p:cNvSpPr/>
          <p:nvPr/>
        </p:nvSpPr>
        <p:spPr>
          <a:xfrm>
            <a:off x="6365800" y="260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A</a:t>
            </a:r>
          </a:p>
        </p:txBody>
      </p:sp>
      <p:sp>
        <p:nvSpPr>
          <p:cNvPr id="124" name="P3B"/>
          <p:cNvSpPr/>
          <p:nvPr/>
        </p:nvSpPr>
        <p:spPr>
          <a:xfrm>
            <a:off x="6365800" y="330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B</a:t>
            </a:r>
          </a:p>
        </p:txBody>
      </p:sp>
      <p:sp>
        <p:nvSpPr>
          <p:cNvPr id="125" name="P3R1"/>
          <p:cNvSpPr/>
          <p:nvPr/>
        </p:nvSpPr>
        <p:spPr>
          <a:xfrm>
            <a:off x="7375800" y="2150000"/>
            <a:ext cx="1080000" cy="1950000"/>
          </a:xfrm>
          <a:prstGeom prst="roundRect">
            <a:avLst/>
          </a:prstGeom>
          <a:solidFill>
            <a:srgbClr val="FBF8F2"/>
          </a:solidFill>
          <a:ln w="15875">
            <a:solidFill>
              <a:srgbClr val="C9B991"/>
            </a:solidFill>
            <a:prstDash val="dash"/>
          </a:ln>
        </p:spPr>
        <p:txBody>
          <a:bodyPr wrap="square" lIns="54864" tIns="27432" rIns="54864" bIns="27432" anchor="t">
            <a:normAutofit/>
          </a:bodyPr>
          <a:lstStyle/>
          <a:p>
            <a:pPr algn="ctr">
              <a:buNone/>
            </a:pPr>
            <a:r>
              <a:rPr lang="en-US" sz="950" b="1" i="0" dirty="0">
                <a:solidFill>
                  <a:srgbClr val="8E6F3E"/>
                </a:solidFill>
              </a:rPr>
              <a:t xml:space="preserve">REGION 2</a:t>
            </a:r>
          </a:p>
        </p:txBody>
      </p:sp>
      <p:sp>
        <p:nvSpPr>
          <p:cNvPr id="126" name="P3C"/>
          <p:cNvSpPr/>
          <p:nvPr/>
        </p:nvSpPr>
        <p:spPr>
          <a:xfrm>
            <a:off x="7595800" y="260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C</a:t>
            </a:r>
          </a:p>
        </p:txBody>
      </p:sp>
      <p:sp>
        <p:nvSpPr>
          <p:cNvPr id="127" name="P3D"/>
          <p:cNvSpPr/>
          <p:nvPr/>
        </p:nvSpPr>
        <p:spPr>
          <a:xfrm>
            <a:off x="7595800" y="3300000"/>
            <a:ext cx="64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9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000" b="1" i="0" dirty="0">
                <a:solidFill>
                  <a:srgbClr val="FFFFFF"/>
                </a:solidFill>
              </a:rPr>
              <a:t xml:space="preserve">The more faithfully the model captures the property we care about, the less we have to bet.</a:t>
            </a:r>
          </a:p>
        </p:txBody>
      </p:sp>
      <p:cxnSp>
        <p:nvCxnSpPr>
          <p:cNvPr id="100" name="Axis"/>
          <p:cNvCxnSpPr/>
          <p:nvPr/>
        </p:nvCxnSpPr>
        <p:spPr>
          <a:xfrm>
            <a:off x="800000" y="2850000"/>
            <a:ext cx="7544000" cy="0"/>
          </a:xfrm>
          <a:prstGeom prst="line">
            <a:avLst/>
          </a:prstGeom>
          <a:ln w="28575">
            <a:solidFill>
              <a:srgbClr val="8E6F3E"/>
            </a:solidFill>
            <a:headEnd type="triangle" w="med" len="med"/>
            <a:tailEnd type="triangle" w="med" len="med"/>
          </a:ln>
        </p:spPr>
      </p:cxnSp>
      <p:sp>
        <p:nvSpPr>
          <p:cNvPr id="101" name="MoreLbl"/>
          <p:cNvSpPr txBox="1"/>
          <p:nvPr/>
        </p:nvSpPr>
        <p:spPr>
          <a:xfrm>
            <a:off x="700000" y="2480000"/>
            <a:ext cx="1400000" cy="300000"/>
          </a:xfrm>
          <a:prstGeom prst="rect">
            <a:avLst/>
          </a:prstGeom>
          <a:noFill/>
          <a:ln>
            <a:noFill/>
          </a:ln>
        </p:spPr>
        <p:txBody>
          <a:bodyPr wrap="square" lIns="0" tIns="0" rIns="0" bIns="0" anchor="t">
            <a:normAutofit/>
          </a:bodyPr>
          <a:lstStyle/>
          <a:p>
            <a:pPr algn="l">
              <a:buNone/>
            </a:pPr>
            <a:r>
              <a:rPr lang="en-US" sz="1150" b="1" i="0" dirty="0">
                <a:solidFill>
                  <a:srgbClr val="5C4826"/>
                </a:solidFill>
              </a:rPr>
              <a:t xml:space="preserve">MORE BETTING</a:t>
            </a:r>
          </a:p>
        </p:txBody>
      </p:sp>
      <p:sp>
        <p:nvSpPr>
          <p:cNvPr id="102" name="LessLbl"/>
          <p:cNvSpPr txBox="1"/>
          <p:nvPr/>
        </p:nvSpPr>
        <p:spPr>
          <a:xfrm>
            <a:off x="7100000" y="2480000"/>
            <a:ext cx="1300000" cy="300000"/>
          </a:xfrm>
          <a:prstGeom prst="rect">
            <a:avLst/>
          </a:prstGeom>
          <a:noFill/>
          <a:ln>
            <a:noFill/>
          </a:ln>
        </p:spPr>
        <p:txBody>
          <a:bodyPr wrap="square" lIns="0" tIns="0" rIns="0" bIns="0" anchor="t">
            <a:normAutofit/>
          </a:bodyPr>
          <a:lstStyle/>
          <a:p>
            <a:pPr algn="r">
              <a:buNone/>
            </a:pPr>
            <a:r>
              <a:rPr lang="en-US" sz="1150" b="1" i="0" dirty="0">
                <a:solidFill>
                  <a:srgbClr val="5C4826"/>
                </a:solidFill>
              </a:rPr>
              <a:t xml:space="preserve">LESS BETTING</a:t>
            </a:r>
          </a:p>
        </p:txBody>
      </p:sp>
      <p:sp>
        <p:nvSpPr>
          <p:cNvPr id="103" name="Stop0"/>
          <p:cNvSpPr/>
          <p:nvPr/>
        </p:nvSpPr>
        <p:spPr>
          <a:xfrm>
            <a:off x="1820000" y="2770000"/>
            <a:ext cx="160000" cy="160000"/>
          </a:xfrm>
          <a:prstGeom prst="ellipse">
            <a:avLst/>
          </a:prstGeom>
          <a:solidFill>
            <a:srgbClr val="8E6F3E"/>
          </a:solidFill>
          <a:ln>
            <a:noFill/>
          </a:ln>
        </p:spPr>
        <p:txBody>
          <a:bodyPr wrap="square" lIns="54864" tIns="27432" rIns="54864" bIns="27432" anchor="ctr">
            <a:normAutofit/>
          </a:bodyPr>
          <a:lstStyle/>
          <a:p>
            <a:endParaRPr/>
          </a:p>
        </p:txBody>
      </p:sp>
      <p:sp>
        <p:nvSpPr>
          <p:cNvPr id="104" name="StopLbl0"/>
          <p:cNvSpPr txBox="1"/>
          <p:nvPr/>
        </p:nvSpPr>
        <p:spPr>
          <a:xfrm>
            <a:off x="1050000" y="1900000"/>
            <a:ext cx="1700000" cy="540000"/>
          </a:xfrm>
          <a:prstGeom prst="rect">
            <a:avLst/>
          </a:prstGeom>
          <a:noFill/>
          <a:ln>
            <a:noFill/>
          </a:ln>
        </p:spPr>
        <p:txBody>
          <a:bodyPr wrap="square" lIns="0" tIns="0" rIns="0" bIns="0" anchor="t">
            <a:normAutofit/>
          </a:bodyPr>
          <a:lstStyle/>
          <a:p>
            <a:pPr algn="ctr">
              <a:buNone/>
            </a:pPr>
            <a:r>
              <a:rPr lang="en-US" sz="1150" b="1" i="0" dirty="0">
                <a:solidFill>
                  <a:srgbClr val="8E6F3E"/>
                </a:solidFill>
              </a:rPr>
              <a:t xml:space="preserve">REASONED</a:t>
            </a:r>
          </a:p>
          <a:p>
            <a:pPr algn="ctr">
              <a:spcBef>
                <a:spcPts val="300"/>
              </a:spcBef>
              <a:buNone/>
            </a:pPr>
            <a:r>
              <a:rPr lang="en-US" sz="1150" b="1" i="0" dirty="0">
                <a:solidFill>
                  <a:srgbClr val="8E6F3E"/>
                </a:solidFill>
              </a:rPr>
              <a:t xml:space="preserve">EXPECTATION</a:t>
            </a:r>
          </a:p>
        </p:txBody>
      </p:sp>
      <p:sp>
        <p:nvSpPr>
          <p:cNvPr id="105" name="StopQ0"/>
          <p:cNvSpPr txBox="1"/>
          <p:nvPr/>
        </p:nvSpPr>
        <p:spPr>
          <a:xfrm>
            <a:off x="1050000" y="3150000"/>
            <a:ext cx="1700000" cy="700000"/>
          </a:xfrm>
          <a:prstGeom prst="rect">
            <a:avLst/>
          </a:prstGeom>
          <a:noFill/>
          <a:ln>
            <a:noFill/>
          </a:ln>
        </p:spPr>
        <p:txBody>
          <a:bodyPr wrap="square" lIns="0" tIns="0" rIns="0" bIns="0" anchor="t">
            <a:normAutofit/>
          </a:bodyPr>
          <a:lstStyle/>
          <a:p>
            <a:pPr algn="ctr">
              <a:buNone/>
            </a:pPr>
            <a:r>
              <a:rPr lang="en-US" sz="1050" b="0" i="1" dirty="0">
                <a:solidFill>
                  <a:srgbClr val="555960"/>
                </a:solidFill>
              </a:rPr>
              <a:t xml:space="preserve">“should remain local”</a:t>
            </a:r>
          </a:p>
        </p:txBody>
      </p:sp>
      <p:sp>
        <p:nvSpPr>
          <p:cNvPr id="106" name="Stop1"/>
          <p:cNvSpPr/>
          <p:nvPr/>
        </p:nvSpPr>
        <p:spPr>
          <a:xfrm>
            <a:off x="3520000" y="2770000"/>
            <a:ext cx="160000" cy="160000"/>
          </a:xfrm>
          <a:prstGeom prst="ellipse">
            <a:avLst/>
          </a:prstGeom>
          <a:solidFill>
            <a:srgbClr val="8E6F3E"/>
          </a:solidFill>
          <a:ln>
            <a:noFill/>
          </a:ln>
        </p:spPr>
        <p:txBody>
          <a:bodyPr wrap="square" lIns="54864" tIns="27432" rIns="54864" bIns="27432" anchor="ctr">
            <a:normAutofit/>
          </a:bodyPr>
          <a:lstStyle/>
          <a:p>
            <a:endParaRPr/>
          </a:p>
        </p:txBody>
      </p:sp>
      <p:sp>
        <p:nvSpPr>
          <p:cNvPr id="107" name="StopLbl1"/>
          <p:cNvSpPr txBox="1"/>
          <p:nvPr/>
        </p:nvSpPr>
        <p:spPr>
          <a:xfrm>
            <a:off x="2750000" y="1900000"/>
            <a:ext cx="1700000" cy="540000"/>
          </a:xfrm>
          <a:prstGeom prst="rect">
            <a:avLst/>
          </a:prstGeom>
          <a:noFill/>
          <a:ln>
            <a:noFill/>
          </a:ln>
        </p:spPr>
        <p:txBody>
          <a:bodyPr wrap="square" lIns="0" tIns="0" rIns="0" bIns="0" anchor="t">
            <a:normAutofit/>
          </a:bodyPr>
          <a:lstStyle/>
          <a:p>
            <a:pPr algn="ctr">
              <a:buNone/>
            </a:pPr>
            <a:r>
              <a:rPr lang="en-US" sz="1150" b="1" i="0" dirty="0">
                <a:solidFill>
                  <a:srgbClr val="8E6F3E"/>
                </a:solidFill>
              </a:rPr>
              <a:t xml:space="preserve">STRUCTURAL</a:t>
            </a:r>
          </a:p>
          <a:p>
            <a:pPr algn="ctr">
              <a:spcBef>
                <a:spcPts val="300"/>
              </a:spcBef>
              <a:buNone/>
            </a:pPr>
            <a:r>
              <a:rPr lang="en-US" sz="1150" b="1" i="0" dirty="0">
                <a:solidFill>
                  <a:srgbClr val="8E6F3E"/>
                </a:solidFill>
              </a:rPr>
              <a:t xml:space="preserve">ARGUMENT</a:t>
            </a:r>
          </a:p>
        </p:txBody>
      </p:sp>
      <p:sp>
        <p:nvSpPr>
          <p:cNvPr id="108" name="StopQ1"/>
          <p:cNvSpPr txBox="1"/>
          <p:nvPr/>
        </p:nvSpPr>
        <p:spPr>
          <a:xfrm>
            <a:off x="2750000" y="3150000"/>
            <a:ext cx="1700000" cy="700000"/>
          </a:xfrm>
          <a:prstGeom prst="rect">
            <a:avLst/>
          </a:prstGeom>
          <a:noFill/>
          <a:ln>
            <a:noFill/>
          </a:ln>
        </p:spPr>
        <p:txBody>
          <a:bodyPr wrap="square" lIns="0" tIns="0" rIns="0" bIns="0" anchor="t">
            <a:normAutofit/>
          </a:bodyPr>
          <a:lstStyle/>
          <a:p>
            <a:pPr algn="ctr">
              <a:buNone/>
            </a:pPr>
            <a:r>
              <a:rPr lang="en-US" sz="1050" b="0" i="1" dirty="0">
                <a:solidFill>
                  <a:srgbClr val="555960"/>
                </a:solidFill>
              </a:rPr>
              <a:t xml:space="preserve">“no dependency crosses this boundary”</a:t>
            </a:r>
          </a:p>
        </p:txBody>
      </p:sp>
      <p:sp>
        <p:nvSpPr>
          <p:cNvPr id="109" name="Stop2"/>
          <p:cNvSpPr/>
          <p:nvPr/>
        </p:nvSpPr>
        <p:spPr>
          <a:xfrm>
            <a:off x="5220000" y="2770000"/>
            <a:ext cx="160000" cy="160000"/>
          </a:xfrm>
          <a:prstGeom prst="ellipse">
            <a:avLst/>
          </a:prstGeom>
          <a:solidFill>
            <a:srgbClr val="8E6F3E"/>
          </a:solidFill>
          <a:ln>
            <a:noFill/>
          </a:ln>
        </p:spPr>
        <p:txBody>
          <a:bodyPr wrap="square" lIns="54864" tIns="27432" rIns="54864" bIns="27432" anchor="ctr">
            <a:normAutofit/>
          </a:bodyPr>
          <a:lstStyle/>
          <a:p>
            <a:endParaRPr/>
          </a:p>
        </p:txBody>
      </p:sp>
      <p:sp>
        <p:nvSpPr>
          <p:cNvPr id="110" name="StopLbl2"/>
          <p:cNvSpPr txBox="1"/>
          <p:nvPr/>
        </p:nvSpPr>
        <p:spPr>
          <a:xfrm>
            <a:off x="4450000" y="1900000"/>
            <a:ext cx="1700000" cy="540000"/>
          </a:xfrm>
          <a:prstGeom prst="rect">
            <a:avLst/>
          </a:prstGeom>
          <a:noFill/>
          <a:ln>
            <a:noFill/>
          </a:ln>
        </p:spPr>
        <p:txBody>
          <a:bodyPr wrap="square" lIns="0" tIns="0" rIns="0" bIns="0" anchor="t">
            <a:normAutofit/>
          </a:bodyPr>
          <a:lstStyle/>
          <a:p>
            <a:pPr algn="ctr">
              <a:buNone/>
            </a:pPr>
            <a:r>
              <a:rPr lang="en-US" sz="1150" b="1" i="0" dirty="0">
                <a:solidFill>
                  <a:srgbClr val="8E6F3E"/>
                </a:solidFill>
              </a:rPr>
              <a:t xml:space="preserve">QUANTITATIVE</a:t>
            </a:r>
          </a:p>
          <a:p>
            <a:pPr algn="ctr">
              <a:spcBef>
                <a:spcPts val="300"/>
              </a:spcBef>
              <a:buNone/>
            </a:pPr>
            <a:r>
              <a:rPr lang="en-US" sz="1150" b="1" i="0" dirty="0">
                <a:solidFill>
                  <a:srgbClr val="8E6F3E"/>
                </a:solidFill>
              </a:rPr>
              <a:t xml:space="preserve">PREDICTION</a:t>
            </a:r>
          </a:p>
        </p:txBody>
      </p:sp>
      <p:sp>
        <p:nvSpPr>
          <p:cNvPr id="111" name="StopQ2"/>
          <p:cNvSpPr txBox="1"/>
          <p:nvPr/>
        </p:nvSpPr>
        <p:spPr>
          <a:xfrm>
            <a:off x="4450000" y="3150000"/>
            <a:ext cx="1700000" cy="700000"/>
          </a:xfrm>
          <a:prstGeom prst="rect">
            <a:avLst/>
          </a:prstGeom>
          <a:noFill/>
          <a:ln>
            <a:noFill/>
          </a:ln>
        </p:spPr>
        <p:txBody>
          <a:bodyPr wrap="square" lIns="0" tIns="0" rIns="0" bIns="0" anchor="t">
            <a:normAutofit/>
          </a:bodyPr>
          <a:lstStyle/>
          <a:p>
            <a:pPr algn="ctr">
              <a:buNone/>
            </a:pPr>
            <a:r>
              <a:rPr lang="en-US" sz="1050" b="0" i="1" dirty="0">
                <a:solidFill>
                  <a:srgbClr val="555960"/>
                </a:solidFill>
              </a:rPr>
              <a:t xml:space="preserve">“≈ 11.5 s”</a:t>
            </a:r>
          </a:p>
        </p:txBody>
      </p:sp>
      <p:sp>
        <p:nvSpPr>
          <p:cNvPr id="112" name="Stop3"/>
          <p:cNvSpPr/>
          <p:nvPr/>
        </p:nvSpPr>
        <p:spPr>
          <a:xfrm>
            <a:off x="6920000" y="2770000"/>
            <a:ext cx="160000" cy="160000"/>
          </a:xfrm>
          <a:prstGeom prst="ellipse">
            <a:avLst/>
          </a:prstGeom>
          <a:solidFill>
            <a:srgbClr val="8E6F3E"/>
          </a:solidFill>
          <a:ln>
            <a:noFill/>
          </a:ln>
        </p:spPr>
        <p:txBody>
          <a:bodyPr wrap="square" lIns="54864" tIns="27432" rIns="54864" bIns="27432" anchor="ctr">
            <a:normAutofit/>
          </a:bodyPr>
          <a:lstStyle/>
          <a:p>
            <a:endParaRPr/>
          </a:p>
        </p:txBody>
      </p:sp>
      <p:sp>
        <p:nvSpPr>
          <p:cNvPr id="113" name="StopLbl3"/>
          <p:cNvSpPr txBox="1"/>
          <p:nvPr/>
        </p:nvSpPr>
        <p:spPr>
          <a:xfrm>
            <a:off x="6150000" y="1900000"/>
            <a:ext cx="1700000" cy="540000"/>
          </a:xfrm>
          <a:prstGeom prst="rect">
            <a:avLst/>
          </a:prstGeom>
          <a:noFill/>
          <a:ln>
            <a:noFill/>
          </a:ln>
        </p:spPr>
        <p:txBody>
          <a:bodyPr wrap="square" lIns="0" tIns="0" rIns="0" bIns="0" anchor="t">
            <a:normAutofit/>
          </a:bodyPr>
          <a:lstStyle/>
          <a:p>
            <a:pPr algn="ctr">
              <a:buNone/>
            </a:pPr>
            <a:r>
              <a:rPr lang="en-US" sz="1150" b="1" i="0" dirty="0">
                <a:solidFill>
                  <a:srgbClr val="8E6F3E"/>
                </a:solidFill>
              </a:rPr>
              <a:t xml:space="preserve">OBSERVED</a:t>
            </a:r>
          </a:p>
          <a:p>
            <a:pPr algn="ctr">
              <a:spcBef>
                <a:spcPts val="300"/>
              </a:spcBef>
              <a:buNone/>
            </a:pPr>
            <a:r>
              <a:rPr lang="en-US" sz="1150" b="1" i="0" dirty="0">
                <a:solidFill>
                  <a:srgbClr val="8E6F3E"/>
                </a:solidFill>
              </a:rPr>
              <a:t xml:space="preserve">EVIDENCE</a:t>
            </a:r>
          </a:p>
        </p:txBody>
      </p:sp>
      <p:sp>
        <p:nvSpPr>
          <p:cNvPr id="114" name="StopQ3"/>
          <p:cNvSpPr txBox="1"/>
          <p:nvPr/>
        </p:nvSpPr>
        <p:spPr>
          <a:xfrm>
            <a:off x="6150000" y="3150000"/>
            <a:ext cx="1700000" cy="700000"/>
          </a:xfrm>
          <a:prstGeom prst="rect">
            <a:avLst/>
          </a:prstGeom>
          <a:noFill/>
          <a:ln>
            <a:noFill/>
          </a:ln>
        </p:spPr>
        <p:txBody>
          <a:bodyPr wrap="square" lIns="0" tIns="0" rIns="0" bIns="0" anchor="t">
            <a:normAutofit/>
          </a:bodyPr>
          <a:lstStyle/>
          <a:p>
            <a:pPr algn="ctr">
              <a:buNone/>
            </a:pPr>
            <a:r>
              <a:rPr lang="en-US" sz="1050" b="0" i="1" dirty="0">
                <a:solidFill>
                  <a:srgbClr val="555960"/>
                </a:solidFill>
              </a:rPr>
              <a:t xml:space="preserve">“11.8 s measured”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000000"/>
            <a:ext cx="7772400" cy="500000"/>
          </a:xfrm>
          <a:prstGeom prst="rect">
            <a:avLst/>
          </a:prstGeom>
          <a:noFill/>
          <a:ln>
            <a:noFill/>
          </a:ln>
        </p:spPr>
        <p:txBody>
          <a:bodyPr wrap="square" lIns="0" tIns="0" rIns="0" bIns="0" anchor="t">
            <a:normAutofit/>
          </a:bodyPr>
          <a:lstStyle/>
          <a:p>
            <a:pPr algn="ctr">
              <a:buNone/>
            </a:pPr>
            <a:r>
              <a:rPr lang="en-US" sz="2200" b="0" i="1" dirty="0">
                <a:solidFill>
                  <a:srgbClr val="000000"/>
                </a:solidFill>
              </a:rPr>
              <a:t xml:space="preserve">What claim can the dependency model actually establish?</a:t>
            </a:r>
          </a:p>
        </p:txBody>
      </p:sp>
      <p:sp>
        <p:nvSpPr>
          <p:cNvPr id="100" name="BeforeLbl"/>
          <p:cNvSpPr txBox="1"/>
          <p:nvPr/>
        </p:nvSpPr>
        <p:spPr>
          <a:xfrm>
            <a:off x="685800" y="1300000"/>
            <a:ext cx="1400000" cy="280000"/>
          </a:xfrm>
          <a:prstGeom prst="rect">
            <a:avLst/>
          </a:prstGeom>
          <a:noFill/>
          <a:ln>
            <a:noFill/>
          </a:ln>
        </p:spPr>
        <p:txBody>
          <a:bodyPr wrap="square" lIns="0" tIns="0" rIns="0" bIns="0" anchor="t">
            <a:normAutofit/>
          </a:bodyPr>
          <a:lstStyle/>
          <a:p>
            <a:pPr algn="l">
              <a:buNone/>
            </a:pPr>
            <a:r>
              <a:rPr lang="en-US" sz="1200" b="1" i="0" dirty="0">
                <a:solidFill>
                  <a:srgbClr val="8E6F3E"/>
                </a:solidFill>
              </a:rPr>
              <a:t xml:space="preserve">BEFORE</a:t>
            </a:r>
          </a:p>
        </p:txBody>
      </p:sp>
      <p:sp>
        <p:nvSpPr>
          <p:cNvPr id="101" name="BModel"/>
          <p:cNvSpPr/>
          <p:nvPr/>
        </p:nvSpPr>
        <p:spPr>
          <a:xfrm>
            <a:off x="800000" y="2500000"/>
            <a:ext cx="1550000" cy="7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ILLNESS</a:t>
            </a:r>
          </a:p>
          <a:p>
            <a:pPr algn="ctr">
              <a:spcBef>
                <a:spcPts val="300"/>
              </a:spcBef>
              <a:buNone/>
            </a:pPr>
            <a:r>
              <a:rPr lang="en-US" sz="1250" b="1" i="0" dirty="0">
                <a:solidFill>
                  <a:srgbClr val="5C4826"/>
                </a:solidFill>
              </a:rPr>
              <a:t xml:space="preserve">MODEL</a:t>
            </a:r>
          </a:p>
        </p:txBody>
      </p:sp>
      <p:sp>
        <p:nvSpPr>
          <p:cNvPr id="102" name="BDelta"/>
          <p:cNvSpPr/>
          <p:nvPr/>
        </p:nvSpPr>
        <p:spPr>
          <a:xfrm>
            <a:off x="2160000" y="2360000"/>
            <a:ext cx="300000" cy="300000"/>
          </a:xfrm>
          <a:prstGeom prst="ellipse">
            <a:avLst/>
          </a:prstGeom>
          <a:solidFill>
            <a:srgbClr val="B23B3B"/>
          </a:solidFill>
          <a:ln>
            <a:noFill/>
          </a:ln>
        </p:spPr>
        <p:txBody>
          <a:bodyPr wrap="square" lIns="0" tIns="0" rIns="0" bIns="0" anchor="ctr">
            <a:normAutofit/>
          </a:bodyPr>
          <a:lstStyle/>
          <a:p>
            <a:pPr algn="ctr">
              <a:buNone/>
            </a:pPr>
            <a:r>
              <a:rPr lang="en-US" sz="1100" b="1" i="0" dirty="0">
                <a:solidFill>
                  <a:srgbClr val="FFFFFF"/>
                </a:solidFill>
              </a:rPr>
              <a:t xml:space="preserve">Δ</a:t>
            </a:r>
          </a:p>
        </p:txBody>
      </p:sp>
      <p:sp>
        <p:nvSpPr>
          <p:cNvPr id="103" name="BUI"/>
          <p:cNvSpPr/>
          <p:nvPr/>
        </p:nvSpPr>
        <p:spPr>
          <a:xfrm>
            <a:off x="3150000" y="1650000"/>
            <a:ext cx="115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UI</a:t>
            </a:r>
          </a:p>
        </p:txBody>
      </p:sp>
      <p:cxnSp>
        <p:nvCxnSpPr>
          <p:cNvPr id="104" name="BA0"/>
          <p:cNvCxnSpPr/>
          <p:nvPr/>
        </p:nvCxnSpPr>
        <p:spPr>
          <a:xfrm flipV="1">
            <a:off x="2350000" y="1910000"/>
            <a:ext cx="800000" cy="940000"/>
          </a:xfrm>
          <a:prstGeom prst="line">
            <a:avLst/>
          </a:prstGeom>
          <a:ln w="19050">
            <a:solidFill>
              <a:srgbClr val="B23B3B"/>
            </a:solidFill>
            <a:prstDash val="dash"/>
            <a:tailEnd type="triangle" w="med" len="med"/>
          </a:ln>
        </p:spPr>
      </p:cxnSp>
      <p:sp>
        <p:nvSpPr>
          <p:cNvPr id="105" name="BADVICE"/>
          <p:cNvSpPr/>
          <p:nvPr/>
        </p:nvSpPr>
        <p:spPr>
          <a:xfrm>
            <a:off x="3150000" y="2600000"/>
            <a:ext cx="115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ADVICE</a:t>
            </a:r>
          </a:p>
        </p:txBody>
      </p:sp>
      <p:cxnSp>
        <p:nvCxnSpPr>
          <p:cNvPr id="106" name="BA1"/>
          <p:cNvCxnSpPr/>
          <p:nvPr/>
        </p:nvCxnSpPr>
        <p:spPr>
          <a:xfrm>
            <a:off x="2350000" y="2850000"/>
            <a:ext cx="800000" cy="10000"/>
          </a:xfrm>
          <a:prstGeom prst="line">
            <a:avLst/>
          </a:prstGeom>
          <a:ln w="19050">
            <a:solidFill>
              <a:srgbClr val="B23B3B"/>
            </a:solidFill>
            <a:prstDash val="dash"/>
            <a:tailEnd type="triangle" w="med" len="med"/>
          </a:ln>
        </p:spPr>
      </p:cxnSp>
      <p:sp>
        <p:nvSpPr>
          <p:cNvPr id="107" name="BSTORAGE"/>
          <p:cNvSpPr/>
          <p:nvPr/>
        </p:nvSpPr>
        <p:spPr>
          <a:xfrm>
            <a:off x="3150000" y="3550000"/>
            <a:ext cx="115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STORAGE</a:t>
            </a:r>
          </a:p>
        </p:txBody>
      </p:sp>
      <p:cxnSp>
        <p:nvCxnSpPr>
          <p:cNvPr id="108" name="BA2"/>
          <p:cNvCxnSpPr/>
          <p:nvPr/>
        </p:nvCxnSpPr>
        <p:spPr>
          <a:xfrm>
            <a:off x="2350000" y="2850000"/>
            <a:ext cx="800000" cy="960000"/>
          </a:xfrm>
          <a:prstGeom prst="line">
            <a:avLst/>
          </a:prstGeom>
          <a:ln w="19050">
            <a:solidFill>
              <a:srgbClr val="B23B3B"/>
            </a:solidFill>
            <a:prstDash val="dash"/>
            <a:tailEnd type="triangle" w="med" len="med"/>
          </a:ln>
        </p:spPr>
      </p:cxnSp>
      <p:sp>
        <p:nvSpPr>
          <p:cNvPr id="109" name="BCap"/>
          <p:cNvSpPr txBox="1"/>
          <p:nvPr/>
        </p:nvSpPr>
        <p:spPr>
          <a:xfrm>
            <a:off x="750000" y="4200000"/>
            <a:ext cx="3600000" cy="280000"/>
          </a:xfrm>
          <a:prstGeom prst="rect">
            <a:avLst/>
          </a:prstGeom>
          <a:noFill/>
          <a:ln>
            <a:noFill/>
          </a:ln>
        </p:spPr>
        <p:txBody>
          <a:bodyPr wrap="square" lIns="0" tIns="0" rIns="0" bIns="0" anchor="t">
            <a:normAutofit/>
          </a:bodyPr>
          <a:lstStyle/>
          <a:p>
            <a:pPr algn="l">
              <a:buNone/>
            </a:pPr>
            <a:r>
              <a:rPr lang="en-US" sz="1050" b="0" i="1" dirty="0">
                <a:solidFill>
                  <a:srgbClr val="B23B3B"/>
                </a:solidFill>
              </a:rPr>
              <a:t xml:space="preserve">one expected change touches everything</a:t>
            </a:r>
          </a:p>
        </p:txBody>
      </p:sp>
      <p:cxnSp>
        <p:nvCxnSpPr>
          <p:cNvPr id="110" name="Div"/>
          <p:cNvCxnSpPr/>
          <p:nvPr/>
        </p:nvCxnSpPr>
        <p:spPr>
          <a:xfrm>
            <a:off x="4600000" y="1350000"/>
            <a:ext cx="0" cy="2950000"/>
          </a:xfrm>
          <a:prstGeom prst="line">
            <a:avLst/>
          </a:prstGeom>
          <a:ln w="12700">
            <a:solidFill>
              <a:srgbClr val="C9B991"/>
            </a:solidFill>
            <a:prstDash val="dash"/>
          </a:ln>
        </p:spPr>
      </p:cxnSp>
      <p:sp>
        <p:nvSpPr>
          <p:cNvPr id="111" name="AfterLbl"/>
          <p:cNvSpPr txBox="1"/>
          <p:nvPr/>
        </p:nvSpPr>
        <p:spPr>
          <a:xfrm>
            <a:off x="4900000" y="1300000"/>
            <a:ext cx="1400000" cy="280000"/>
          </a:xfrm>
          <a:prstGeom prst="rect">
            <a:avLst/>
          </a:prstGeom>
          <a:noFill/>
          <a:ln>
            <a:noFill/>
          </a:ln>
        </p:spPr>
        <p:txBody>
          <a:bodyPr wrap="square" lIns="0" tIns="0" rIns="0" bIns="0" anchor="t">
            <a:normAutofit/>
          </a:bodyPr>
          <a:lstStyle/>
          <a:p>
            <a:pPr algn="l">
              <a:buNone/>
            </a:pPr>
            <a:r>
              <a:rPr lang="en-US" sz="1200" b="1" i="0" dirty="0">
                <a:solidFill>
                  <a:srgbClr val="8E6F3E"/>
                </a:solidFill>
              </a:rPr>
              <a:t xml:space="preserve">AFTER</a:t>
            </a:r>
          </a:p>
        </p:txBody>
      </p:sp>
      <p:sp>
        <p:nvSpPr>
          <p:cNvPr id="112" name="AUI"/>
          <p:cNvSpPr/>
          <p:nvPr/>
        </p:nvSpPr>
        <p:spPr>
          <a:xfrm>
            <a:off x="4950000" y="1800000"/>
            <a:ext cx="115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UI</a:t>
            </a:r>
          </a:p>
        </p:txBody>
      </p:sp>
      <p:sp>
        <p:nvSpPr>
          <p:cNvPr id="113" name="AAdvice"/>
          <p:cNvSpPr/>
          <p:nvPr/>
        </p:nvSpPr>
        <p:spPr>
          <a:xfrm>
            <a:off x="4950000" y="2800000"/>
            <a:ext cx="115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ADVICE</a:t>
            </a:r>
          </a:p>
        </p:txBody>
      </p:sp>
      <p:sp>
        <p:nvSpPr>
          <p:cNvPr id="114" name="AIface"/>
          <p:cNvSpPr/>
          <p:nvPr/>
        </p:nvSpPr>
        <p:spPr>
          <a:xfrm>
            <a:off x="6650000" y="1700000"/>
            <a:ext cx="100000" cy="175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550000" y="1380000"/>
            <a:ext cx="3300000" cy="260000"/>
          </a:xfrm>
          <a:prstGeom prst="rect">
            <a:avLst/>
          </a:prstGeom>
          <a:noFill/>
          <a:ln>
            <a:noFill/>
          </a:ln>
        </p:spPr>
        <p:txBody>
          <a:bodyPr wrap="square" lIns="0" tIns="0" rIns="0" bIns="0" anchor="t">
            <a:normAutofit/>
          </a:bodyPr>
          <a:lstStyle/>
          <a:p>
            <a:pPr algn="ctr">
              <a:buNone/>
            </a:pPr>
            <a:r>
              <a:rPr lang="en-US" sz="1000" b="1" i="0" dirty="0">
                <a:solidFill>
                  <a:srgbClr val="8E6F3E"/>
                </a:solidFill>
              </a:rPr>
              <a:t xml:space="preserve">MODEL SERVICE INTERFACE</a:t>
            </a:r>
          </a:p>
        </p:txBody>
      </p:sp>
      <p:sp>
        <p:nvSpPr>
          <p:cNvPr id="116" name="AModel"/>
          <p:cNvSpPr/>
          <p:nvPr/>
        </p:nvSpPr>
        <p:spPr>
          <a:xfrm>
            <a:off x="6900000" y="2250000"/>
            <a:ext cx="16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ILLNESS</a:t>
            </a:r>
          </a:p>
          <a:p>
            <a:pPr algn="ctr">
              <a:spcBef>
                <a:spcPts val="300"/>
              </a:spcBef>
              <a:buNone/>
            </a:pPr>
            <a:r>
              <a:rPr lang="en-US" sz="1250" b="1" i="0" dirty="0">
                <a:solidFill>
                  <a:srgbClr val="5C4826"/>
                </a:solidFill>
              </a:rPr>
              <a:t xml:space="preserve">MODEL</a:t>
            </a:r>
          </a:p>
        </p:txBody>
      </p:sp>
      <p:sp>
        <p:nvSpPr>
          <p:cNvPr id="117" name="ADelta"/>
          <p:cNvSpPr/>
          <p:nvPr/>
        </p:nvSpPr>
        <p:spPr>
          <a:xfrm>
            <a:off x="8250000" y="2110000"/>
            <a:ext cx="300000" cy="300000"/>
          </a:xfrm>
          <a:prstGeom prst="ellipse">
            <a:avLst/>
          </a:prstGeom>
          <a:solidFill>
            <a:srgbClr val="B23B3B"/>
          </a:solidFill>
          <a:ln>
            <a:noFill/>
          </a:ln>
        </p:spPr>
        <p:txBody>
          <a:bodyPr wrap="square" lIns="0" tIns="0" rIns="0" bIns="0" anchor="ctr">
            <a:normAutofit/>
          </a:bodyPr>
          <a:lstStyle/>
          <a:p>
            <a:pPr algn="ctr">
              <a:buNone/>
            </a:pPr>
            <a:r>
              <a:rPr lang="en-US" sz="1100" b="1" i="0" dirty="0">
                <a:solidFill>
                  <a:srgbClr val="FFFFFF"/>
                </a:solidFill>
              </a:rPr>
              <a:t xml:space="preserve">Δ</a:t>
            </a:r>
          </a:p>
        </p:txBody>
      </p:sp>
      <p:cxnSp>
        <p:nvCxnSpPr>
          <p:cNvPr id="118" name="AA1"/>
          <p:cNvCxnSpPr/>
          <p:nvPr/>
        </p:nvCxnSpPr>
        <p:spPr>
          <a:xfrm>
            <a:off x="6100000" y="2060000"/>
            <a:ext cx="550000" cy="290000"/>
          </a:xfrm>
          <a:prstGeom prst="line">
            <a:avLst/>
          </a:prstGeom>
          <a:ln w="19050">
            <a:solidFill>
              <a:srgbClr val="8E6F3E"/>
            </a:solidFill>
            <a:tailEnd type="triangle" w="med" len="med"/>
          </a:ln>
        </p:spPr>
      </p:cxnSp>
      <p:cxnSp>
        <p:nvCxnSpPr>
          <p:cNvPr id="119" name="AA2"/>
          <p:cNvCxnSpPr/>
          <p:nvPr/>
        </p:nvCxnSpPr>
        <p:spPr>
          <a:xfrm flipV="1">
            <a:off x="6100000" y="2900000"/>
            <a:ext cx="550000" cy="160000"/>
          </a:xfrm>
          <a:prstGeom prst="line">
            <a:avLst/>
          </a:prstGeom>
          <a:ln w="19050">
            <a:solidFill>
              <a:srgbClr val="8E6F3E"/>
            </a:solidFill>
            <a:tailEnd type="triangle" w="med" len="med"/>
          </a:ln>
        </p:spPr>
      </p:cxnSp>
      <p:sp>
        <p:nvSpPr>
          <p:cNvPr id="120" name="ACap"/>
          <p:cNvSpPr txBox="1"/>
          <p:nvPr/>
        </p:nvSpPr>
        <p:spPr>
          <a:xfrm>
            <a:off x="4950000" y="4200000"/>
            <a:ext cx="3800000" cy="280000"/>
          </a:xfrm>
          <a:prstGeom prst="rect">
            <a:avLst/>
          </a:prstGeom>
          <a:noFill/>
          <a:ln>
            <a:noFill/>
          </a:ln>
        </p:spPr>
        <p:txBody>
          <a:bodyPr wrap="square" lIns="0" tIns="0" rIns="0" bIns="0" anchor="t">
            <a:normAutofit/>
          </a:bodyPr>
          <a:lstStyle/>
          <a:p>
            <a:pPr algn="l">
              <a:buNone/>
            </a:pPr>
            <a:r>
              <a:rPr lang="en-US" sz="1050" b="0" i="1" dirty="0">
                <a:solidFill>
                  <a:srgbClr val="1F7A4D"/>
                </a:solidFill>
              </a:rPr>
              <a:t xml:space="preserve">the change stays behind the seam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000000"/>
            <a:ext cx="7772400" cy="500000"/>
          </a:xfrm>
          <a:prstGeom prst="rect">
            <a:avLst/>
          </a:prstGeom>
          <a:noFill/>
          <a:ln>
            <a:noFill/>
          </a:ln>
        </p:spPr>
        <p:txBody>
          <a:bodyPr wrap="square" lIns="0" tIns="0" rIns="0" bIns="0" anchor="t">
            <a:normAutofit/>
          </a:bodyPr>
          <a:lstStyle/>
          <a:p>
            <a:pPr algn="ctr">
              <a:buNone/>
            </a:pPr>
            <a:r>
              <a:rPr lang="en-US" sz="2200" b="0" i="1" dirty="0">
                <a:solidFill>
                  <a:srgbClr val="000000"/>
                </a:solidFill>
              </a:rPr>
              <a:t xml:space="preserve">Could decomposition shorten the critical path?</a:t>
            </a:r>
          </a:p>
        </p:txBody>
      </p:sp>
      <p:sp>
        <p:nvSpPr>
          <p:cNvPr id="100" name="NA"/>
          <p:cNvSpPr/>
          <p:nvPr/>
        </p:nvSpPr>
        <p:spPr>
          <a:xfrm>
            <a:off x="800000" y="2000000"/>
            <a:ext cx="650000" cy="450000"/>
          </a:xfrm>
          <a:prstGeom prst="rect">
            <a:avLst/>
          </a:prstGeom>
          <a:solidFill>
            <a:srgbClr val="8E6F3E"/>
          </a:solidFill>
          <a:ln>
            <a:noFill/>
          </a:ln>
        </p:spPr>
        <p:txBody>
          <a:bodyPr wrap="square" lIns="54864" tIns="27432" rIns="54864" bIns="27432" anchor="ctr">
            <a:normAutofit/>
          </a:bodyPr>
          <a:lstStyle/>
          <a:p>
            <a:pPr algn="ctr">
              <a:buNone/>
            </a:pPr>
            <a:r>
              <a:rPr lang="en-US" sz="1400" b="1" i="0" dirty="0">
                <a:solidFill>
                  <a:srgbClr val="FFFFFF"/>
                </a:solidFill>
              </a:rPr>
              <a:t xml:space="preserve">A</a:t>
            </a:r>
          </a:p>
        </p:txBody>
      </p:sp>
      <p:sp>
        <p:nvSpPr>
          <p:cNvPr id="101" name="NB"/>
          <p:cNvSpPr/>
          <p:nvPr/>
        </p:nvSpPr>
        <p:spPr>
          <a:xfrm>
            <a:off x="2600000" y="1400000"/>
            <a:ext cx="950000" cy="550000"/>
          </a:xfrm>
          <a:prstGeom prst="rect">
            <a:avLst/>
          </a:prstGeom>
          <a:solidFill>
            <a:srgbClr val="8E6F3E"/>
          </a:solidFill>
          <a:ln>
            <a:noFill/>
          </a:ln>
        </p:spPr>
        <p:txBody>
          <a:bodyPr wrap="square" lIns="54864" tIns="27432" rIns="54864" bIns="27432" anchor="ctr">
            <a:normAutofit/>
          </a:bodyPr>
          <a:lstStyle/>
          <a:p>
            <a:pPr algn="ctr">
              <a:buNone/>
            </a:pPr>
            <a:r>
              <a:rPr lang="en-US" sz="1500" b="1" i="0" dirty="0">
                <a:solidFill>
                  <a:srgbClr val="FFFFFF"/>
                </a:solidFill>
              </a:rPr>
              <a:t xml:space="preserve">B</a:t>
            </a:r>
          </a:p>
        </p:txBody>
      </p:sp>
      <p:sp>
        <p:nvSpPr>
          <p:cNvPr id="102" name="NC"/>
          <p:cNvSpPr/>
          <p:nvPr/>
        </p:nvSpPr>
        <p:spPr>
          <a:xfrm>
            <a:off x="2850000" y="2850000"/>
            <a:ext cx="650000" cy="4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C</a:t>
            </a:r>
          </a:p>
        </p:txBody>
      </p:sp>
      <p:sp>
        <p:nvSpPr>
          <p:cNvPr id="103" name="NE"/>
          <p:cNvSpPr/>
          <p:nvPr/>
        </p:nvSpPr>
        <p:spPr>
          <a:xfrm>
            <a:off x="4700000" y="2850000"/>
            <a:ext cx="650000" cy="4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E</a:t>
            </a:r>
          </a:p>
        </p:txBody>
      </p:sp>
      <p:sp>
        <p:nvSpPr>
          <p:cNvPr id="104" name="ND"/>
          <p:cNvSpPr/>
          <p:nvPr/>
        </p:nvSpPr>
        <p:spPr>
          <a:xfrm>
            <a:off x="4600000" y="1200000"/>
            <a:ext cx="650000" cy="4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400" b="1" i="0" dirty="0">
                <a:solidFill>
                  <a:srgbClr val="5C4826"/>
                </a:solidFill>
              </a:rPr>
              <a:t xml:space="preserve">D</a:t>
            </a:r>
          </a:p>
        </p:txBody>
      </p:sp>
      <p:sp>
        <p:nvSpPr>
          <p:cNvPr id="105" name="NF"/>
          <p:cNvSpPr/>
          <p:nvPr/>
        </p:nvSpPr>
        <p:spPr>
          <a:xfrm>
            <a:off x="6500000" y="1850000"/>
            <a:ext cx="650000" cy="450000"/>
          </a:xfrm>
          <a:prstGeom prst="rect">
            <a:avLst/>
          </a:prstGeom>
          <a:solidFill>
            <a:srgbClr val="8E6F3E"/>
          </a:solidFill>
          <a:ln>
            <a:noFill/>
          </a:ln>
        </p:spPr>
        <p:txBody>
          <a:bodyPr wrap="square" lIns="54864" tIns="27432" rIns="54864" bIns="27432" anchor="ctr">
            <a:normAutofit/>
          </a:bodyPr>
          <a:lstStyle/>
          <a:p>
            <a:pPr algn="ctr">
              <a:buNone/>
            </a:pPr>
            <a:r>
              <a:rPr lang="en-US" sz="1400" b="1" i="0" dirty="0">
                <a:solidFill>
                  <a:srgbClr val="FFFFFF"/>
                </a:solidFill>
              </a:rPr>
              <a:t xml:space="preserve">F</a:t>
            </a:r>
          </a:p>
        </p:txBody>
      </p:sp>
      <p:cxnSp>
        <p:nvCxnSpPr>
          <p:cNvPr id="106" name="EAB"/>
          <p:cNvCxnSpPr/>
          <p:nvPr/>
        </p:nvCxnSpPr>
        <p:spPr>
          <a:xfrm flipV="1">
            <a:off x="1450000" y="1800000"/>
            <a:ext cx="1150000" cy="350000"/>
          </a:xfrm>
          <a:prstGeom prst="line">
            <a:avLst/>
          </a:prstGeom>
          <a:ln w="38100">
            <a:solidFill>
              <a:srgbClr val="8E6F3E"/>
            </a:solidFill>
            <a:tailEnd type="triangle" w="med" len="med"/>
          </a:ln>
        </p:spPr>
      </p:cxnSp>
      <p:sp>
        <p:nvSpPr>
          <p:cNvPr id="107" name="WAB"/>
          <p:cNvSpPr txBox="1"/>
          <p:nvPr/>
        </p:nvSpPr>
        <p:spPr>
          <a:xfrm>
            <a:off x="1750000" y="1500000"/>
            <a:ext cx="700000" cy="260000"/>
          </a:xfrm>
          <a:prstGeom prst="rect">
            <a:avLst/>
          </a:prstGeom>
          <a:noFill/>
          <a:ln>
            <a:noFill/>
          </a:ln>
        </p:spPr>
        <p:txBody>
          <a:bodyPr wrap="square" lIns="0" tIns="0" rIns="0" bIns="0" anchor="t">
            <a:normAutofit/>
          </a:bodyPr>
          <a:lstStyle/>
          <a:p>
            <a:pPr algn="l">
              <a:buNone/>
            </a:pPr>
            <a:r>
              <a:rPr lang="en-US" sz="1050" b="1" i="1" dirty="0">
                <a:solidFill>
                  <a:srgbClr val="5C4826"/>
                </a:solidFill>
              </a:rPr>
              <a:t xml:space="preserve">80 ms</a:t>
            </a:r>
          </a:p>
        </p:txBody>
      </p:sp>
      <p:cxnSp>
        <p:nvCxnSpPr>
          <p:cNvPr id="108" name="EBF"/>
          <p:cNvCxnSpPr/>
          <p:nvPr/>
        </p:nvCxnSpPr>
        <p:spPr>
          <a:xfrm>
            <a:off x="3550000" y="1675000"/>
            <a:ext cx="2950000" cy="325000"/>
          </a:xfrm>
          <a:prstGeom prst="line">
            <a:avLst/>
          </a:prstGeom>
          <a:ln w="38100">
            <a:solidFill>
              <a:srgbClr val="8E6F3E"/>
            </a:solidFill>
            <a:tailEnd type="triangle" w="med" len="med"/>
          </a:ln>
        </p:spPr>
      </p:cxnSp>
      <p:sp>
        <p:nvSpPr>
          <p:cNvPr id="109" name="WBF"/>
          <p:cNvSpPr txBox="1"/>
          <p:nvPr/>
        </p:nvSpPr>
        <p:spPr>
          <a:xfrm>
            <a:off x="5350000" y="1980000"/>
            <a:ext cx="700000" cy="260000"/>
          </a:xfrm>
          <a:prstGeom prst="rect">
            <a:avLst/>
          </a:prstGeom>
          <a:noFill/>
          <a:ln>
            <a:noFill/>
          </a:ln>
        </p:spPr>
        <p:txBody>
          <a:bodyPr wrap="square" lIns="0" tIns="0" rIns="0" bIns="0" anchor="t">
            <a:normAutofit/>
          </a:bodyPr>
          <a:lstStyle/>
          <a:p>
            <a:pPr algn="l">
              <a:buNone/>
            </a:pPr>
            <a:r>
              <a:rPr lang="en-US" sz="1050" b="1" i="1" dirty="0">
                <a:solidFill>
                  <a:srgbClr val="5C4826"/>
                </a:solidFill>
              </a:rPr>
              <a:t xml:space="preserve">40 ms</a:t>
            </a:r>
          </a:p>
        </p:txBody>
      </p:sp>
      <p:cxnSp>
        <p:nvCxnSpPr>
          <p:cNvPr id="110" name="EAC"/>
          <p:cNvCxnSpPr/>
          <p:nvPr/>
        </p:nvCxnSpPr>
        <p:spPr>
          <a:xfrm>
            <a:off x="1275000" y="2450000"/>
            <a:ext cx="1575000" cy="550000"/>
          </a:xfrm>
          <a:prstGeom prst="line">
            <a:avLst/>
          </a:prstGeom>
          <a:ln w="19050">
            <a:solidFill>
              <a:srgbClr val="C9B991"/>
            </a:solidFill>
            <a:tailEnd type="triangle" w="med" len="med"/>
          </a:ln>
        </p:spPr>
      </p:cxnSp>
      <p:sp>
        <p:nvSpPr>
          <p:cNvPr id="111" name="WAC"/>
          <p:cNvSpPr txBox="1"/>
          <p:nvPr/>
        </p:nvSpPr>
        <p:spPr>
          <a:xfrm>
            <a:off x="1650000" y="2760000"/>
            <a:ext cx="700000" cy="260000"/>
          </a:xfrm>
          <a:prstGeom prst="rect">
            <a:avLst/>
          </a:prstGeom>
          <a:noFill/>
          <a:ln>
            <a:noFill/>
          </a:ln>
        </p:spPr>
        <p:txBody>
          <a:bodyPr wrap="square" lIns="0" tIns="0" rIns="0" bIns="0" anchor="t">
            <a:normAutofit/>
          </a:bodyPr>
          <a:lstStyle/>
          <a:p>
            <a:pPr algn="l">
              <a:buNone/>
            </a:pPr>
            <a:r>
              <a:rPr lang="en-US" sz="950" b="0" i="1" dirty="0">
                <a:solidFill>
                  <a:srgbClr val="555960"/>
                </a:solidFill>
              </a:rPr>
              <a:t xml:space="preserve">10 ms</a:t>
            </a:r>
          </a:p>
        </p:txBody>
      </p:sp>
      <p:cxnSp>
        <p:nvCxnSpPr>
          <p:cNvPr id="112" name="ECE"/>
          <p:cNvCxnSpPr/>
          <p:nvPr/>
        </p:nvCxnSpPr>
        <p:spPr>
          <a:xfrm>
            <a:off x="3500000" y="3075000"/>
            <a:ext cx="1200000" cy="0"/>
          </a:xfrm>
          <a:prstGeom prst="line">
            <a:avLst/>
          </a:prstGeom>
          <a:ln w="19050">
            <a:solidFill>
              <a:srgbClr val="C9B991"/>
            </a:solidFill>
            <a:tailEnd type="triangle" w="med" len="med"/>
          </a:ln>
        </p:spPr>
      </p:cxnSp>
      <p:sp>
        <p:nvSpPr>
          <p:cNvPr id="113" name="WCE"/>
          <p:cNvSpPr txBox="1"/>
          <p:nvPr/>
        </p:nvSpPr>
        <p:spPr>
          <a:xfrm>
            <a:off x="3800000" y="2760000"/>
            <a:ext cx="700000" cy="260000"/>
          </a:xfrm>
          <a:prstGeom prst="rect">
            <a:avLst/>
          </a:prstGeom>
          <a:noFill/>
          <a:ln>
            <a:noFill/>
          </a:ln>
        </p:spPr>
        <p:txBody>
          <a:bodyPr wrap="square" lIns="0" tIns="0" rIns="0" bIns="0" anchor="t">
            <a:normAutofit/>
          </a:bodyPr>
          <a:lstStyle/>
          <a:p>
            <a:pPr algn="l">
              <a:buNone/>
            </a:pPr>
            <a:r>
              <a:rPr lang="en-US" sz="950" b="0" i="1" dirty="0">
                <a:solidFill>
                  <a:srgbClr val="555960"/>
                </a:solidFill>
              </a:rPr>
              <a:t xml:space="preserve">15 ms</a:t>
            </a:r>
          </a:p>
        </p:txBody>
      </p:sp>
      <p:cxnSp>
        <p:nvCxnSpPr>
          <p:cNvPr id="114" name="EDF"/>
          <p:cNvCxnSpPr/>
          <p:nvPr/>
        </p:nvCxnSpPr>
        <p:spPr>
          <a:xfrm>
            <a:off x="5250000" y="1425000"/>
            <a:ext cx="1400000" cy="425000"/>
          </a:xfrm>
          <a:prstGeom prst="line">
            <a:avLst/>
          </a:prstGeom>
          <a:ln w="19050">
            <a:solidFill>
              <a:srgbClr val="C9B991"/>
            </a:solidFill>
            <a:tailEnd type="triangle" w="med" len="med"/>
          </a:ln>
        </p:spPr>
      </p:cxnSp>
      <p:sp>
        <p:nvSpPr>
          <p:cNvPr id="115" name="WDF"/>
          <p:cNvSpPr txBox="1"/>
          <p:nvPr/>
        </p:nvSpPr>
        <p:spPr>
          <a:xfrm>
            <a:off x="5900000" y="1180000"/>
            <a:ext cx="700000" cy="260000"/>
          </a:xfrm>
          <a:prstGeom prst="rect">
            <a:avLst/>
          </a:prstGeom>
          <a:noFill/>
          <a:ln>
            <a:noFill/>
          </a:ln>
        </p:spPr>
        <p:txBody>
          <a:bodyPr wrap="square" lIns="0" tIns="0" rIns="0" bIns="0" anchor="t">
            <a:normAutofit/>
          </a:bodyPr>
          <a:lstStyle/>
          <a:p>
            <a:pPr algn="l">
              <a:buNone/>
            </a:pPr>
            <a:r>
              <a:rPr lang="en-US" sz="950" b="0" i="1" dirty="0">
                <a:solidFill>
                  <a:srgbClr val="555960"/>
                </a:solidFill>
              </a:rPr>
              <a:t xml:space="preserve">20 ms</a:t>
            </a:r>
          </a:p>
        </p:txBody>
      </p:sp>
      <p:sp>
        <p:nvSpPr>
          <p:cNvPr id="116" name="CritLbl"/>
          <p:cNvSpPr txBox="1"/>
          <p:nvPr/>
        </p:nvSpPr>
        <p:spPr>
          <a:xfrm>
            <a:off x="7000000" y="2500000"/>
            <a:ext cx="2000000" cy="560000"/>
          </a:xfrm>
          <a:prstGeom prst="rect">
            <a:avLst/>
          </a:prstGeom>
          <a:noFill/>
          <a:ln>
            <a:noFill/>
          </a:ln>
        </p:spPr>
        <p:txBody>
          <a:bodyPr wrap="square" lIns="0" tIns="0" rIns="0" bIns="0" anchor="t">
            <a:normAutofit/>
          </a:bodyPr>
          <a:lstStyle/>
          <a:p>
            <a:pPr algn="l">
              <a:buNone/>
            </a:pPr>
            <a:r>
              <a:rPr lang="en-US" sz="1150" b="1" i="0" dirty="0">
                <a:solidFill>
                  <a:srgbClr val="8E6F3E"/>
                </a:solidFill>
              </a:rPr>
              <a:t xml:space="preserve">critical path</a:t>
            </a:r>
          </a:p>
          <a:p>
            <a:pPr algn="l">
              <a:spcBef>
                <a:spcPts val="300"/>
              </a:spcBef>
              <a:buNone/>
            </a:pPr>
            <a:r>
              <a:rPr lang="en-US" sz="1150" b="1" i="0" dirty="0">
                <a:solidFill>
                  <a:srgbClr val="8E6F3E"/>
                </a:solidFill>
              </a:rPr>
              <a:t xml:space="preserve">A → B → F  ·  120 ms</a:t>
            </a:r>
          </a:p>
        </p:txBody>
      </p:sp>
      <p:cxnSp>
        <p:nvCxnSpPr>
          <p:cNvPr id="117" name="CandArw"/>
          <p:cNvCxnSpPr/>
          <p:nvPr/>
        </p:nvCxnSpPr>
        <p:spPr>
          <a:xfrm flipH="1">
            <a:off x="2550000" y="1950000"/>
            <a:ext cx="250000" cy="1600000"/>
          </a:xfrm>
          <a:prstGeom prst="line">
            <a:avLst/>
          </a:prstGeom>
          <a:ln w="19050">
            <a:solidFill>
              <a:srgbClr val="8E6F3E"/>
            </a:solidFill>
            <a:prstDash val="dash"/>
            <a:tailEnd type="triangle" w="med" len="med"/>
          </a:ln>
        </p:spPr>
      </p:cxnSp>
      <p:sp>
        <p:nvSpPr>
          <p:cNvPr id="118" name="CandBox"/>
          <p:cNvSpPr/>
          <p:nvPr/>
        </p:nvSpPr>
        <p:spPr>
          <a:xfrm>
            <a:off x="2000000" y="3550000"/>
            <a:ext cx="2700000" cy="85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200000" y="3760000"/>
            <a:ext cx="70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B1</a:t>
            </a:r>
          </a:p>
        </p:txBody>
      </p:sp>
      <p:sp>
        <p:nvSpPr>
          <p:cNvPr id="120" name="CandB2"/>
          <p:cNvSpPr/>
          <p:nvPr/>
        </p:nvSpPr>
        <p:spPr>
          <a:xfrm>
            <a:off x="3000000" y="3760000"/>
            <a:ext cx="70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B2</a:t>
            </a:r>
          </a:p>
        </p:txBody>
      </p:sp>
      <p:sp>
        <p:nvSpPr>
          <p:cNvPr id="121" name="CandB3"/>
          <p:cNvSpPr/>
          <p:nvPr/>
        </p:nvSpPr>
        <p:spPr>
          <a:xfrm>
            <a:off x="3800000" y="3760000"/>
            <a:ext cx="70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B3</a:t>
            </a:r>
          </a:p>
        </p:txBody>
      </p:sp>
      <p:sp>
        <p:nvSpPr>
          <p:cNvPr id="122" name="CandLbl"/>
          <p:cNvSpPr txBox="1"/>
          <p:nvPr/>
        </p:nvSpPr>
        <p:spPr>
          <a:xfrm>
            <a:off x="4900000" y="3900000"/>
            <a:ext cx="2600000" cy="280000"/>
          </a:xfrm>
          <a:prstGeom prst="rect">
            <a:avLst/>
          </a:prstGeom>
          <a:noFill/>
          <a:ln>
            <a:noFill/>
          </a:ln>
        </p:spPr>
        <p:txBody>
          <a:bodyPr wrap="square" lIns="0" tIns="0" rIns="0" bIns="0" anchor="t">
            <a:normAutofit/>
          </a:bodyPr>
          <a:lstStyle/>
          <a:p>
            <a:pPr algn="l">
              <a:buNone/>
            </a:pPr>
            <a:r>
              <a:rPr lang="en-US" sz="1100" b="0" i="1" dirty="0">
                <a:solidFill>
                  <a:srgbClr val="8E6F3E"/>
                </a:solidFill>
              </a:rPr>
              <a:t xml:space="preserve">candidate: decompose B</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 xml:space="preserve">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Enough vocabulary. Make the decision.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50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100" b="1" i="0" dirty="0">
                <a:solidFill>
                  <a:srgbClr val="000000"/>
                </a:solidFill>
              </a:rPr>
              <a:t xml:space="preserve">Sketch the major parts, the boundaries, and the interactions.</a:t>
            </a:r>
          </a:p>
          <a:p>
            <a:pPr algn="l">
              <a:spcBef>
                <a:spcPts val="200"/>
              </a:spcBef>
              <a:buNone/>
            </a:pPr>
            <a:r>
              <a:rPr lang="en-US" sz="2100" b="0" i="0" dirty="0">
                <a:solidFill>
                  <a:srgbClr val="000000"/>
                </a:solidFill>
              </a:rPr>
              <a:t xml:space="preserve">Produce TWO plausible organizations — do not converge on one yet.</a:t>
            </a:r>
          </a:p>
        </p:txBody>
      </p:sp>
      <p:sp>
        <p:nvSpPr>
          <p:cNvPr id="100" name="SysBox"/>
          <p:cNvSpPr/>
          <p:nvPr/>
        </p:nvSpPr>
        <p:spPr>
          <a:xfrm>
            <a:off x="3600000" y="2350000"/>
            <a:ext cx="1950000" cy="95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1600" b="1" i="0" dirty="0">
                <a:solidFill>
                  <a:srgbClr val="8E6F3E"/>
                </a:solidFill>
              </a:rPr>
              <a:t xml:space="preserve">SYSTEM ?</a:t>
            </a:r>
          </a:p>
          <a:p>
            <a:pPr algn="ctr">
              <a:spcBef>
                <a:spcPts val="300"/>
              </a:spcBef>
              <a:buNone/>
            </a:pPr>
            <a:r>
              <a:rPr lang="en-US" sz="900" b="0" i="1" dirty="0">
                <a:solidFill>
                  <a:srgbClr val="8E6F3E"/>
                </a:solidFill>
              </a:rPr>
              <a:t xml:space="preserve">YOUR ARCHITECTURE</a:t>
            </a:r>
          </a:p>
          <a:p>
            <a:pPr algn="ctr">
              <a:spcBef>
                <a:spcPts val="300"/>
              </a:spcBef>
              <a:buNone/>
            </a:pPr>
            <a:r>
              <a:rPr lang="en-US" sz="900" b="0" i="1" dirty="0">
                <a:solidFill>
                  <a:srgbClr val="8E6F3E"/>
                </a:solidFill>
              </a:rPr>
              <a:t xml:space="preserve">GOES HERE</a:t>
            </a:r>
          </a:p>
        </p:txBody>
      </p:sp>
      <p:sp>
        <p:nvSpPr>
          <p:cNvPr id="101" name="Obl0"/>
          <p:cNvSpPr/>
          <p:nvPr/>
        </p:nvSpPr>
        <p:spPr>
          <a:xfrm>
            <a:off x="3775000" y="1300000"/>
            <a:ext cx="16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 2 s latency</a:t>
            </a:r>
          </a:p>
        </p:txBody>
      </p:sp>
      <p:cxnSp>
        <p:nvCxnSpPr>
          <p:cNvPr id="102" name="OblA0"/>
          <p:cNvCxnSpPr/>
          <p:nvPr/>
        </p:nvCxnSpPr>
        <p:spPr>
          <a:xfrm>
            <a:off x="4575000" y="1800000"/>
            <a:ext cx="0" cy="563750"/>
          </a:xfrm>
          <a:prstGeom prst="line">
            <a:avLst/>
          </a:prstGeom>
          <a:ln w="19050">
            <a:solidFill>
              <a:srgbClr val="C9B991"/>
            </a:solidFill>
            <a:tailEnd type="triangle" w="med" len="med"/>
          </a:ln>
        </p:spPr>
      </p:cxnSp>
      <p:sp>
        <p:nvSpPr>
          <p:cNvPr id="103" name="Obl1"/>
          <p:cNvSpPr/>
          <p:nvPr/>
        </p:nvSpPr>
        <p:spPr>
          <a:xfrm>
            <a:off x="1000000" y="1750000"/>
            <a:ext cx="16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privacy</a:t>
            </a:r>
          </a:p>
        </p:txBody>
      </p:sp>
      <p:cxnSp>
        <p:nvCxnSpPr>
          <p:cNvPr id="104" name="OblA1"/>
          <p:cNvCxnSpPr/>
          <p:nvPr/>
        </p:nvCxnSpPr>
        <p:spPr>
          <a:xfrm>
            <a:off x="2600000" y="2000000"/>
            <a:ext cx="1086250" cy="453750"/>
          </a:xfrm>
          <a:prstGeom prst="line">
            <a:avLst/>
          </a:prstGeom>
          <a:ln w="19050">
            <a:solidFill>
              <a:srgbClr val="C9B991"/>
            </a:solidFill>
            <a:tailEnd type="triangle" w="med" len="med"/>
          </a:ln>
        </p:spPr>
      </p:cxnSp>
      <p:sp>
        <p:nvSpPr>
          <p:cNvPr id="105" name="Obl2"/>
          <p:cNvSpPr/>
          <p:nvPr/>
        </p:nvSpPr>
        <p:spPr>
          <a:xfrm>
            <a:off x="6750000" y="1750000"/>
            <a:ext cx="16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expected change</a:t>
            </a:r>
          </a:p>
        </p:txBody>
      </p:sp>
      <p:cxnSp>
        <p:nvCxnSpPr>
          <p:cNvPr id="106" name="OblA2"/>
          <p:cNvCxnSpPr/>
          <p:nvPr/>
        </p:nvCxnSpPr>
        <p:spPr>
          <a:xfrm flipH="1">
            <a:off x="5553750" y="2000000"/>
            <a:ext cx="1196250" cy="453750"/>
          </a:xfrm>
          <a:prstGeom prst="line">
            <a:avLst/>
          </a:prstGeom>
          <a:ln w="19050">
            <a:solidFill>
              <a:srgbClr val="C9B991"/>
            </a:solidFill>
            <a:tailEnd type="triangle" w="med" len="med"/>
          </a:ln>
        </p:spPr>
      </p:cxnSp>
      <p:sp>
        <p:nvSpPr>
          <p:cNvPr id="107" name="Obl3"/>
          <p:cNvSpPr/>
          <p:nvPr/>
        </p:nvSpPr>
        <p:spPr>
          <a:xfrm>
            <a:off x="1400000" y="3500000"/>
            <a:ext cx="16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availability</a:t>
            </a:r>
          </a:p>
        </p:txBody>
      </p:sp>
      <p:cxnSp>
        <p:nvCxnSpPr>
          <p:cNvPr id="108" name="OblA3"/>
          <p:cNvCxnSpPr/>
          <p:nvPr/>
        </p:nvCxnSpPr>
        <p:spPr>
          <a:xfrm flipV="1">
            <a:off x="3000000" y="3241250"/>
            <a:ext cx="866250" cy="508750"/>
          </a:xfrm>
          <a:prstGeom prst="line">
            <a:avLst/>
          </a:prstGeom>
          <a:ln w="19050">
            <a:solidFill>
              <a:srgbClr val="C9B991"/>
            </a:solidFill>
            <a:tailEnd type="triangle" w="med" len="med"/>
          </a:ln>
        </p:spPr>
      </p:cxnSp>
      <p:sp>
        <p:nvSpPr>
          <p:cNvPr id="109" name="Obl4"/>
          <p:cNvSpPr/>
          <p:nvPr/>
        </p:nvSpPr>
        <p:spPr>
          <a:xfrm>
            <a:off x="6350000" y="3500000"/>
            <a:ext cx="1600000" cy="5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consistency</a:t>
            </a:r>
          </a:p>
        </p:txBody>
      </p:sp>
      <p:cxnSp>
        <p:nvCxnSpPr>
          <p:cNvPr id="110" name="OblA4"/>
          <p:cNvCxnSpPr/>
          <p:nvPr/>
        </p:nvCxnSpPr>
        <p:spPr>
          <a:xfrm flipH="1" flipV="1">
            <a:off x="5373750" y="3241250"/>
            <a:ext cx="976250" cy="508750"/>
          </a:xfrm>
          <a:prstGeom prst="line">
            <a:avLst/>
          </a:prstGeom>
          <a:ln w="19050">
            <a:solidFill>
              <a:srgbClr val="C9B991"/>
            </a:solidFill>
            <a:tailEnd type="triangle" w="med" len="med"/>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3900000"/>
            <a:ext cx="8585200" cy="190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8E6F3E"/>
                </a:solidFill>
              </a:rPr>
              <a:t xml:space="preserve">·  </a:t>
            </a:r>
            <a:r>
              <a:rPr lang="en-US" sz="1800" b="0" i="0" dirty="0">
                <a:solidFill>
                  <a:srgbClr val="000000"/>
                </a:solidFill>
              </a:rPr>
              <a:t xml:space="preserve">Which candidates violate specification?</a:t>
            </a:r>
          </a:p>
          <a:p>
            <a:pPr algn="l">
              <a:spcBef>
                <a:spcPts val="150"/>
              </a:spcBef>
              <a:buNone/>
            </a:pPr>
            <a:r>
              <a:rPr lang="en-US" sz="1800" b="1" i="0" dirty="0">
                <a:solidFill>
                  <a:srgbClr val="8E6F3E"/>
                </a:solidFill>
              </a:rPr>
              <a:t xml:space="preserve">·  </a:t>
            </a:r>
            <a:r>
              <a:rPr lang="en-US" sz="1800" b="0" i="0" dirty="0">
                <a:solidFill>
                  <a:srgbClr val="000000"/>
                </a:solidFill>
              </a:rPr>
              <a:t xml:space="preserve">Is anything Pareto-dominated?</a:t>
            </a:r>
          </a:p>
          <a:p>
            <a:pPr algn="l">
              <a:spcBef>
                <a:spcPts val="150"/>
              </a:spcBef>
              <a:buNone/>
            </a:pPr>
            <a:r>
              <a:rPr lang="en-US" sz="1800" b="1" i="0" dirty="0">
                <a:solidFill>
                  <a:srgbClr val="8E6F3E"/>
                </a:solidFill>
              </a:rPr>
              <a:t xml:space="preserve">·  </a:t>
            </a:r>
            <a:r>
              <a:rPr lang="en-US" sz="1800" b="0" i="0" dirty="0">
                <a:solidFill>
                  <a:srgbClr val="000000"/>
                </a:solidFill>
              </a:rPr>
              <a:t xml:space="preserve">What genuine tradeoff remains?</a:t>
            </a:r>
          </a:p>
          <a:p>
            <a:pPr algn="l">
              <a:spcBef>
                <a:spcPts val="150"/>
              </a:spcBef>
              <a:buNone/>
            </a:pPr>
            <a:r>
              <a:rPr lang="en-US" sz="1800" b="1" i="0" dirty="0">
                <a:solidFill>
                  <a:srgbClr val="8E6F3E"/>
                </a:solidFill>
              </a:rPr>
              <a:t xml:space="preserve">·  </a:t>
            </a:r>
            <a:r>
              <a:rPr lang="en-US" sz="1800" b="0" i="0" dirty="0">
                <a:solidFill>
                  <a:srgbClr val="000000"/>
                </a:solidFill>
              </a:rPr>
              <a:t xml:space="preserve">What architectural model would help distinguish the alternatives?</a:t>
            </a:r>
          </a:p>
          <a:p>
            <a:pPr algn="l">
              <a:spcBef>
                <a:spcPts val="150"/>
              </a:spcBef>
              <a:buNone/>
            </a:pPr>
            <a:r>
              <a:rPr lang="en-US" sz="1800" b="1" i="0" dirty="0">
                <a:solidFill>
                  <a:srgbClr val="8E6F3E"/>
                </a:solidFill>
              </a:rPr>
              <a:t xml:space="preserve">·  </a:t>
            </a:r>
            <a:r>
              <a:rPr lang="en-US" sz="1800" b="0" i="0" dirty="0">
                <a:solidFill>
                  <a:srgbClr val="000000"/>
                </a:solidFill>
              </a:rPr>
              <a:t xml:space="preserve">What information would you buy before committing?</a:t>
            </a:r>
          </a:p>
        </p:txBody>
      </p:sp>
      <p:sp>
        <p:nvSpPr>
          <p:cNvPr id="62" name="T62"/>
          <p:cNvSpPr txBox="1"/>
          <p:nvPr/>
        </p:nvSpPr>
        <p:spPr>
          <a:xfrm>
            <a:off x="685800" y="5950000"/>
            <a:ext cx="7772400" cy="400000"/>
          </a:xfrm>
          <a:prstGeom prst="rect">
            <a:avLst/>
          </a:prstGeom>
          <a:noFill/>
          <a:ln>
            <a:noFill/>
          </a:ln>
        </p:spPr>
        <p:txBody>
          <a:bodyPr wrap="square" lIns="0" tIns="0" rIns="0" bIns="0" anchor="t">
            <a:normAutofit/>
          </a:bodyPr>
          <a:lstStyle/>
          <a:p>
            <a:pPr algn="ctr">
              <a:buNone/>
            </a:pPr>
            <a:r>
              <a:rPr lang="en-US" sz="2200" b="0" i="1" dirty="0">
                <a:solidFill>
                  <a:srgbClr val="000000"/>
                </a:solidFill>
              </a:rPr>
              <a:t xml:space="preserve">There need not be one “correct” architecture.</a:t>
            </a:r>
          </a:p>
        </p:txBody>
      </p:sp>
      <p:sp>
        <p:nvSpPr>
          <p:cNvPr id="100" name="CandA"/>
          <p:cNvSpPr/>
          <p:nvPr/>
        </p:nvSpPr>
        <p:spPr>
          <a:xfrm>
            <a:off x="3184500" y="1150000"/>
            <a:ext cx="700000" cy="3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00" b="1" i="0" dirty="0">
                <a:solidFill>
                  <a:srgbClr val="5C4826"/>
                </a:solidFill>
              </a:rPr>
              <a:t xml:space="preserve">A</a:t>
            </a:r>
          </a:p>
        </p:txBody>
      </p:sp>
      <p:sp>
        <p:nvSpPr>
          <p:cNvPr id="101" name="CandB"/>
          <p:cNvSpPr/>
          <p:nvPr/>
        </p:nvSpPr>
        <p:spPr>
          <a:xfrm>
            <a:off x="4109500" y="1150000"/>
            <a:ext cx="700000" cy="3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00" b="1" i="0" dirty="0">
                <a:solidFill>
                  <a:srgbClr val="5C4826"/>
                </a:solidFill>
              </a:rPr>
              <a:t xml:space="preserve">B</a:t>
            </a:r>
          </a:p>
        </p:txBody>
      </p:sp>
      <p:sp>
        <p:nvSpPr>
          <p:cNvPr id="102" name="CandC"/>
          <p:cNvSpPr/>
          <p:nvPr/>
        </p:nvSpPr>
        <p:spPr>
          <a:xfrm>
            <a:off x="5034500" y="1150000"/>
            <a:ext cx="700000" cy="3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00" b="1" i="0" dirty="0">
                <a:solidFill>
                  <a:srgbClr val="5C4826"/>
                </a:solidFill>
              </a:rPr>
              <a:t xml:space="preserve">C</a:t>
            </a:r>
          </a:p>
        </p:txBody>
      </p:sp>
      <p:cxnSp>
        <p:nvCxnSpPr>
          <p:cNvPr id="103" name="FunA0"/>
          <p:cNvCxnSpPr/>
          <p:nvPr/>
        </p:nvCxnSpPr>
        <p:spPr>
          <a:xfrm>
            <a:off x="4459500" y="1490000"/>
            <a:ext cx="0" cy="110000"/>
          </a:xfrm>
          <a:prstGeom prst="line">
            <a:avLst/>
          </a:prstGeom>
          <a:ln w="19050">
            <a:solidFill>
              <a:srgbClr val="8E6F3E"/>
            </a:solidFill>
            <a:tailEnd type="triangle" w="med" len="med"/>
          </a:ln>
        </p:spPr>
      </p:cxnSp>
      <p:cxnSp>
        <p:nvCxnSpPr>
          <p:cNvPr id="300" name="FunAa"/>
          <p:cNvCxnSpPr/>
          <p:nvPr/>
        </p:nvCxnSpPr>
        <p:spPr>
          <a:xfrm>
            <a:off x="3534500" y="1490000"/>
            <a:ext cx="0" cy="110000"/>
          </a:xfrm>
          <a:prstGeom prst="line">
            <a:avLst/>
          </a:prstGeom>
          <a:ln w="19050">
            <a:solidFill>
              <a:srgbClr val="8E6F3E"/>
            </a:solidFill>
            <a:tailEnd type="triangle" w="med" len="med"/>
          </a:ln>
        </p:spPr>
      </p:cxnSp>
      <p:cxnSp>
        <p:nvCxnSpPr>
          <p:cNvPr id="301" name="FunAc"/>
          <p:cNvCxnSpPr/>
          <p:nvPr/>
        </p:nvCxnSpPr>
        <p:spPr>
          <a:xfrm>
            <a:off x="5384500" y="1490000"/>
            <a:ext cx="0" cy="110000"/>
          </a:xfrm>
          <a:prstGeom prst="line">
            <a:avLst/>
          </a:prstGeom>
          <a:ln w="19050">
            <a:solidFill>
              <a:srgbClr val="8E6F3E"/>
            </a:solidFill>
            <a:tailEnd type="triangle" w="med" len="med"/>
          </a:ln>
        </p:spPr>
      </p:cxnSp>
      <p:sp>
        <p:nvSpPr>
          <p:cNvPr id="104" name="FunR0"/>
          <p:cNvSpPr/>
          <p:nvPr/>
        </p:nvSpPr>
        <p:spPr>
          <a:xfrm>
            <a:off x="1572000" y="1600000"/>
            <a:ext cx="6000000" cy="3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SPECIFICATION — eliminate the invalid</a:t>
            </a:r>
          </a:p>
        </p:txBody>
      </p:sp>
      <p:cxnSp>
        <p:nvCxnSpPr>
          <p:cNvPr id="105" name="FunA1"/>
          <p:cNvCxnSpPr/>
          <p:nvPr/>
        </p:nvCxnSpPr>
        <p:spPr>
          <a:xfrm>
            <a:off x="4572000" y="1930000"/>
            <a:ext cx="0" cy="110000"/>
          </a:xfrm>
          <a:prstGeom prst="line">
            <a:avLst/>
          </a:prstGeom>
          <a:ln w="19050">
            <a:solidFill>
              <a:srgbClr val="8E6F3E"/>
            </a:solidFill>
            <a:tailEnd type="triangle" w="med" len="med"/>
          </a:ln>
        </p:spPr>
      </p:cxnSp>
      <p:sp>
        <p:nvSpPr>
          <p:cNvPr id="106" name="FunR1"/>
          <p:cNvSpPr/>
          <p:nvPr/>
        </p:nvSpPr>
        <p:spPr>
          <a:xfrm>
            <a:off x="2172000" y="2040000"/>
            <a:ext cx="4800000" cy="3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DOMINANCE — eliminate the clearly worse</a:t>
            </a:r>
          </a:p>
        </p:txBody>
      </p:sp>
      <p:cxnSp>
        <p:nvCxnSpPr>
          <p:cNvPr id="107" name="FunA2"/>
          <p:cNvCxnSpPr/>
          <p:nvPr/>
        </p:nvCxnSpPr>
        <p:spPr>
          <a:xfrm>
            <a:off x="4572000" y="2370000"/>
            <a:ext cx="0" cy="110000"/>
          </a:xfrm>
          <a:prstGeom prst="line">
            <a:avLst/>
          </a:prstGeom>
          <a:ln w="19050">
            <a:solidFill>
              <a:srgbClr val="8E6F3E"/>
            </a:solidFill>
            <a:tailEnd type="triangle" w="med" len="med"/>
          </a:ln>
        </p:spPr>
      </p:cxnSp>
      <p:sp>
        <p:nvSpPr>
          <p:cNvPr id="108" name="FunR2"/>
          <p:cNvSpPr/>
          <p:nvPr/>
        </p:nvSpPr>
        <p:spPr>
          <a:xfrm>
            <a:off x="2722000" y="2480000"/>
            <a:ext cx="3700000" cy="3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WHAT DON’T WE KNOW?</a:t>
            </a:r>
          </a:p>
        </p:txBody>
      </p:sp>
      <p:cxnSp>
        <p:nvCxnSpPr>
          <p:cNvPr id="109" name="FunA3"/>
          <p:cNvCxnSpPr/>
          <p:nvPr/>
        </p:nvCxnSpPr>
        <p:spPr>
          <a:xfrm>
            <a:off x="4572000" y="2810000"/>
            <a:ext cx="0" cy="110000"/>
          </a:xfrm>
          <a:prstGeom prst="line">
            <a:avLst/>
          </a:prstGeom>
          <a:ln w="19050">
            <a:solidFill>
              <a:srgbClr val="8E6F3E"/>
            </a:solidFill>
            <a:tailEnd type="triangle" w="med" len="med"/>
          </a:ln>
        </p:spPr>
      </p:cxnSp>
      <p:sp>
        <p:nvSpPr>
          <p:cNvPr id="110" name="FunR3"/>
          <p:cNvSpPr/>
          <p:nvPr/>
        </p:nvSpPr>
        <p:spPr>
          <a:xfrm>
            <a:off x="3122000" y="2920000"/>
            <a:ext cx="2900000" cy="3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BUY INFORMATION?</a:t>
            </a:r>
          </a:p>
        </p:txBody>
      </p:sp>
      <p:cxnSp>
        <p:nvCxnSpPr>
          <p:cNvPr id="111" name="FunA4"/>
          <p:cNvCxnSpPr/>
          <p:nvPr/>
        </p:nvCxnSpPr>
        <p:spPr>
          <a:xfrm>
            <a:off x="4572000" y="3250000"/>
            <a:ext cx="0" cy="110000"/>
          </a:xfrm>
          <a:prstGeom prst="line">
            <a:avLst/>
          </a:prstGeom>
          <a:ln w="19050">
            <a:solidFill>
              <a:srgbClr val="8E6F3E"/>
            </a:solidFill>
            <a:tailEnd type="triangle" w="med" len="med"/>
          </a:ln>
        </p:spPr>
      </p:cxnSp>
      <p:sp>
        <p:nvSpPr>
          <p:cNvPr id="112" name="FunR4"/>
          <p:cNvSpPr/>
          <p:nvPr/>
        </p:nvSpPr>
        <p:spPr>
          <a:xfrm>
            <a:off x="3572000" y="3360000"/>
            <a:ext cx="2000000" cy="330000"/>
          </a:xfrm>
          <a:prstGeom prst="rect">
            <a:avLst/>
          </a:prstGeom>
          <a:solidFill>
            <a:srgbClr val="8E6F3E"/>
          </a:solidFill>
          <a:ln>
            <a:noFill/>
          </a:ln>
        </p:spPr>
        <p:txBody>
          <a:bodyPr wrap="square" lIns="54864" tIns="27432" rIns="54864" bIns="27432" anchor="ctr">
            <a:normAutofit/>
          </a:bodyPr>
          <a:lstStyle/>
          <a:p>
            <a:pPr algn="ctr">
              <a:buNone/>
            </a:pPr>
            <a:r>
              <a:rPr lang="en-US" sz="1150" b="1" i="0" dirty="0">
                <a:solidFill>
                  <a:srgbClr val="FFFFFF"/>
                </a:solidFill>
              </a:rPr>
              <a:t xml:space="preserve">DECIDE</a:t>
            </a:r>
          </a:p>
        </p:txBody>
      </p:sp>
      <p:sp>
        <p:nvSpPr>
          <p:cNvPr id="113" name="TradeLbl"/>
          <p:cNvSpPr txBox="1"/>
          <p:nvPr/>
        </p:nvSpPr>
        <p:spPr>
          <a:xfrm>
            <a:off x="7100000" y="2510000"/>
            <a:ext cx="1900000" cy="500000"/>
          </a:xfrm>
          <a:prstGeom prst="rect">
            <a:avLst/>
          </a:prstGeom>
          <a:noFill/>
          <a:ln>
            <a:noFill/>
          </a:ln>
        </p:spPr>
        <p:txBody>
          <a:bodyPr wrap="square" lIns="0" tIns="0" rIns="0" bIns="0" anchor="t">
            <a:normAutofit/>
          </a:bodyPr>
          <a:lstStyle/>
          <a:p>
            <a:pPr algn="l">
              <a:buNone/>
            </a:pPr>
            <a:r>
              <a:rPr lang="en-US" sz="1000" b="0" i="1" dirty="0">
                <a:solidFill>
                  <a:srgbClr val="555960"/>
                </a:solidFill>
              </a:rPr>
              <a:t xml:space="preserve">a genuine tradeoff</a:t>
            </a:r>
          </a:p>
          <a:p>
            <a:pPr algn="l">
              <a:spcBef>
                <a:spcPts val="300"/>
              </a:spcBef>
              <a:buNone/>
            </a:pPr>
            <a:r>
              <a:rPr lang="en-US" sz="1000" b="0" i="1" dirty="0">
                <a:solidFill>
                  <a:srgbClr val="555960"/>
                </a:solidFill>
              </a:rPr>
              <a:t xml:space="preserve">remains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3650000"/>
            <a:ext cx="7772400" cy="800000"/>
          </a:xfrm>
          <a:prstGeom prst="rect">
            <a:avLst/>
          </a:prstGeom>
          <a:noFill/>
          <a:ln>
            <a:noFill/>
          </a:ln>
        </p:spPr>
        <p:txBody>
          <a:bodyPr wrap="square" lIns="0" tIns="0" rIns="0" bIns="0" anchor="t">
            <a:normAutofit/>
          </a:bodyPr>
          <a:lstStyle/>
          <a:p>
            <a:pPr algn="ctr">
              <a:buNone/>
            </a:pPr>
            <a:r>
              <a:rPr lang="en-US" sz="2100" b="0" i="1" dirty="0">
                <a:solidFill>
                  <a:srgbClr val="000000"/>
                </a:solidFill>
              </a:rPr>
              <a:t xml:space="preserve">GenAI doesn’t remove architectural tradeoffs. It can make evidence about those tradeoffs cheaper.</a:t>
            </a:r>
          </a:p>
        </p:txBody>
      </p:sp>
      <p:sp>
        <p:nvSpPr>
          <p:cNvPr id="6" name="MAGE Moment badge"/>
          <p:cNvSpPr txBox="1"/>
          <p:nvPr/>
        </p:nvSpPr>
        <p:spPr>
          <a:xfrm>
            <a:off x="2691524" y="4428182"/>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215582"/>
            <a:ext cx="8341929" cy="1230997"/>
          </a:xfrm>
          <a:prstGeom prst="rect">
            <a:avLst/>
          </a:prstGeom>
          <a:noFill/>
        </p:spPr>
        <p:txBody>
          <a:bodyPr wrap="square" rtlCol="0">
            <a:normAutofit/>
          </a:bodyPr>
          <a:lstStyle/>
          <a:p>
            <a:pPr algn="ctr">
              <a:buNone/>
            </a:pPr>
            <a:r>
              <a:rPr lang="en-US" sz="2200" b="1" dirty="0">
                <a:solidFill>
                  <a:srgbClr val="5C4826"/>
                </a:solidFill>
              </a:rPr>
              <a:t>DON’T ASK THE AGENT TO CHOOSE YOUR ARCHITECTURE.</a:t>
            </a:r>
          </a:p>
          <a:p>
            <a:pPr algn="ctr">
              <a:buNone/>
            </a:pPr>
            <a:r>
              <a:rPr lang="en-US" sz="2200" b="1" dirty="0">
                <a:solidFill>
                  <a:srgbClr val="5C4826"/>
                </a:solidFill>
              </a:rPr>
              <a:t>USE IT TO REDUCE HOW MUCH OF</a:t>
            </a:r>
            <a:br>
              <a:rPr lang="en-US" sz="2200"/>
            </a:br>
            <a:r>
              <a:rPr lang="en-US" sz="2200" b="1" dirty="0">
                <a:solidFill>
                  <a:srgbClr val="5C4826"/>
                </a:solidFill>
              </a:rPr>
              <a:t>YOUR ARCHITECTURE REMAINS A BET.</a:t>
            </a:r>
          </a:p>
        </p:txBody>
      </p:sp>
      <p:sp>
        <p:nvSpPr>
          <p:cNvPr id="100" name="ArchUnc"/>
          <p:cNvSpPr/>
          <p:nvPr/>
        </p:nvSpPr>
        <p:spPr>
          <a:xfrm>
            <a:off x="400000" y="1750000"/>
            <a:ext cx="1600000" cy="7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ARCHITECTURAL</a:t>
            </a:r>
          </a:p>
          <a:p>
            <a:pPr algn="ctr">
              <a:spcBef>
                <a:spcPts val="300"/>
              </a:spcBef>
              <a:buNone/>
            </a:pPr>
            <a:r>
              <a:rPr lang="en-US" sz="1150" b="1" i="0" dirty="0">
                <a:solidFill>
                  <a:srgbClr val="5C4826"/>
                </a:solidFill>
              </a:rPr>
              <a:t xml:space="preserve">UNCERTAINTY</a:t>
            </a:r>
          </a:p>
        </p:txBody>
      </p:sp>
      <p:cxnSp>
        <p:nvCxnSpPr>
          <p:cNvPr id="101" name="A1"/>
          <p:cNvCxnSpPr/>
          <p:nvPr/>
        </p:nvCxnSpPr>
        <p:spPr>
          <a:xfrm>
            <a:off x="2000000" y="2100000"/>
            <a:ext cx="320000" cy="0"/>
          </a:xfrm>
          <a:prstGeom prst="line">
            <a:avLst/>
          </a:prstGeom>
          <a:ln w="19050">
            <a:solidFill>
              <a:srgbClr val="8E6F3E"/>
            </a:solidFill>
            <a:tailEnd type="triangle" w="med" len="med"/>
          </a:ln>
        </p:spPr>
      </p:cxnSp>
      <p:sp>
        <p:nvSpPr>
          <p:cNvPr id="102" name="BuyInfo"/>
          <p:cNvSpPr/>
          <p:nvPr/>
        </p:nvSpPr>
        <p:spPr>
          <a:xfrm>
            <a:off x="2320000" y="1800000"/>
            <a:ext cx="1500000" cy="600000"/>
          </a:xfrm>
          <a:prstGeom prst="rect">
            <a:avLst/>
          </a:prstGeom>
          <a:solidFill>
            <a:srgbClr val="8E6F3E"/>
          </a:solidFill>
          <a:ln>
            <a:noFill/>
          </a:ln>
        </p:spPr>
        <p:txBody>
          <a:bodyPr wrap="square" lIns="54864" tIns="27432" rIns="54864" bIns="27432" anchor="ctr">
            <a:normAutofit/>
          </a:bodyPr>
          <a:lstStyle/>
          <a:p>
            <a:pPr algn="ctr">
              <a:buNone/>
            </a:pPr>
            <a:r>
              <a:rPr lang="en-US" sz="1250" b="1" i="0" dirty="0">
                <a:solidFill>
                  <a:srgbClr val="FFFFFF"/>
                </a:solidFill>
              </a:rPr>
              <a:t xml:space="preserve">BUY</a:t>
            </a:r>
          </a:p>
          <a:p>
            <a:pPr algn="ctr">
              <a:spcBef>
                <a:spcPts val="300"/>
              </a:spcBef>
              <a:buNone/>
            </a:pPr>
            <a:r>
              <a:rPr lang="en-US" sz="1250" b="1" i="0" dirty="0">
                <a:solidFill>
                  <a:srgbClr val="FFFFFF"/>
                </a:solidFill>
              </a:rPr>
              <a:t xml:space="preserve">INFORMATION</a:t>
            </a:r>
          </a:p>
        </p:txBody>
      </p:sp>
      <p:sp>
        <p:nvSpPr>
          <p:cNvPr id="103" name="Kid0"/>
          <p:cNvSpPr/>
          <p:nvPr/>
        </p:nvSpPr>
        <p:spPr>
          <a:xfrm>
            <a:off x="4400000" y="1300000"/>
            <a:ext cx="1350000" cy="46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00" b="1" i="0" dirty="0">
                <a:solidFill>
                  <a:srgbClr val="5C4826"/>
                </a:solidFill>
              </a:rPr>
              <a:t xml:space="preserve">MODEL</a:t>
            </a:r>
          </a:p>
        </p:txBody>
      </p:sp>
      <p:cxnSp>
        <p:nvCxnSpPr>
          <p:cNvPr id="104" name="KA0"/>
          <p:cNvCxnSpPr/>
          <p:nvPr/>
        </p:nvCxnSpPr>
        <p:spPr>
          <a:xfrm flipV="1">
            <a:off x="3820000" y="1530000"/>
            <a:ext cx="580000" cy="570000"/>
          </a:xfrm>
          <a:prstGeom prst="line">
            <a:avLst/>
          </a:prstGeom>
          <a:ln w="19050">
            <a:solidFill>
              <a:srgbClr val="8E6F3E"/>
            </a:solidFill>
            <a:tailEnd type="triangle" w="med" len="med"/>
          </a:ln>
        </p:spPr>
      </p:cxnSp>
      <p:sp>
        <p:nvSpPr>
          <p:cNvPr id="105" name="Kid1"/>
          <p:cNvSpPr/>
          <p:nvPr/>
        </p:nvSpPr>
        <p:spPr>
          <a:xfrm>
            <a:off x="4400000" y="1880000"/>
            <a:ext cx="1350000" cy="46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00" b="1" i="0" dirty="0">
                <a:solidFill>
                  <a:srgbClr val="5C4826"/>
                </a:solidFill>
              </a:rPr>
              <a:t xml:space="preserve">PROTOTYPE</a:t>
            </a:r>
          </a:p>
        </p:txBody>
      </p:sp>
      <p:cxnSp>
        <p:nvCxnSpPr>
          <p:cNvPr id="106" name="KA1"/>
          <p:cNvCxnSpPr/>
          <p:nvPr/>
        </p:nvCxnSpPr>
        <p:spPr>
          <a:xfrm>
            <a:off x="3820000" y="2100000"/>
            <a:ext cx="580000" cy="10000"/>
          </a:xfrm>
          <a:prstGeom prst="line">
            <a:avLst/>
          </a:prstGeom>
          <a:ln w="19050">
            <a:solidFill>
              <a:srgbClr val="8E6F3E"/>
            </a:solidFill>
            <a:tailEnd type="triangle" w="med" len="med"/>
          </a:ln>
        </p:spPr>
      </p:cxnSp>
      <p:sp>
        <p:nvSpPr>
          <p:cNvPr id="107" name="Kid2"/>
          <p:cNvSpPr/>
          <p:nvPr/>
        </p:nvSpPr>
        <p:spPr>
          <a:xfrm>
            <a:off x="4400000" y="2460000"/>
            <a:ext cx="1350000" cy="46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00" b="1" i="0" dirty="0">
                <a:solidFill>
                  <a:srgbClr val="5C4826"/>
                </a:solidFill>
              </a:rPr>
              <a:t xml:space="preserve">EXPERIMENT</a:t>
            </a:r>
          </a:p>
        </p:txBody>
      </p:sp>
      <p:cxnSp>
        <p:nvCxnSpPr>
          <p:cNvPr id="108" name="KA2"/>
          <p:cNvCxnSpPr/>
          <p:nvPr/>
        </p:nvCxnSpPr>
        <p:spPr>
          <a:xfrm>
            <a:off x="3820000" y="2100000"/>
            <a:ext cx="580000" cy="590000"/>
          </a:xfrm>
          <a:prstGeom prst="line">
            <a:avLst/>
          </a:prstGeom>
          <a:ln w="19050">
            <a:solidFill>
              <a:srgbClr val="8E6F3E"/>
            </a:solidFill>
            <a:tailEnd type="triangle" w="med" len="med"/>
          </a:ln>
        </p:spPr>
      </p:cxnSp>
      <p:sp>
        <p:nvSpPr>
          <p:cNvPr id="109" name="CostBox"/>
          <p:cNvSpPr/>
          <p:nvPr/>
        </p:nvSpPr>
        <p:spPr>
          <a:xfrm>
            <a:off x="6450000" y="1830000"/>
            <a:ext cx="1250000" cy="620000"/>
          </a:xfrm>
          <a:prstGeom prst="rect">
            <a:avLst/>
          </a:prstGeom>
          <a:solidFill>
            <a:srgbClr val="FFFFFF"/>
          </a:solidFill>
          <a:ln w="19050">
            <a:solidFill>
              <a:srgbClr val="B23B3B"/>
            </a:solidFill>
          </a:ln>
        </p:spPr>
        <p:txBody>
          <a:bodyPr wrap="square" lIns="54864" tIns="27432" rIns="54864" bIns="27432" anchor="ctr">
            <a:normAutofit/>
          </a:bodyPr>
          <a:lstStyle/>
          <a:p>
            <a:pPr algn="ctr">
              <a:buNone/>
            </a:pPr>
            <a:r>
              <a:rPr lang="en-US" sz="1300" b="1" i="0" dirty="0">
                <a:solidFill>
                  <a:srgbClr val="B23B3B"/>
                </a:solidFill>
              </a:rPr>
              <a:t xml:space="preserve">$$$ · TIME</a:t>
            </a:r>
          </a:p>
        </p:txBody>
      </p:sp>
      <p:cxnSp>
        <p:nvCxnSpPr>
          <p:cNvPr id="110" name="CA0"/>
          <p:cNvCxnSpPr/>
          <p:nvPr/>
        </p:nvCxnSpPr>
        <p:spPr>
          <a:xfrm>
            <a:off x="5750000" y="1530000"/>
            <a:ext cx="700000" cy="610000"/>
          </a:xfrm>
          <a:prstGeom prst="line">
            <a:avLst/>
          </a:prstGeom>
          <a:ln w="19050">
            <a:solidFill>
              <a:srgbClr val="8E6F3E"/>
            </a:solidFill>
            <a:tailEnd type="triangle" w="med" len="med"/>
          </a:ln>
        </p:spPr>
      </p:cxnSp>
      <p:cxnSp>
        <p:nvCxnSpPr>
          <p:cNvPr id="111" name="CA1"/>
          <p:cNvCxnSpPr/>
          <p:nvPr/>
        </p:nvCxnSpPr>
        <p:spPr>
          <a:xfrm>
            <a:off x="5750000" y="2110000"/>
            <a:ext cx="700000" cy="30000"/>
          </a:xfrm>
          <a:prstGeom prst="line">
            <a:avLst/>
          </a:prstGeom>
          <a:ln w="19050">
            <a:solidFill>
              <a:srgbClr val="8E6F3E"/>
            </a:solidFill>
            <a:tailEnd type="triangle" w="med" len="med"/>
          </a:ln>
        </p:spPr>
      </p:cxnSp>
      <p:cxnSp>
        <p:nvCxnSpPr>
          <p:cNvPr id="112" name="CA2"/>
          <p:cNvCxnSpPr/>
          <p:nvPr/>
        </p:nvCxnSpPr>
        <p:spPr>
          <a:xfrm flipV="1">
            <a:off x="5750000" y="2140000"/>
            <a:ext cx="700000" cy="550000"/>
          </a:xfrm>
          <a:prstGeom prst="line">
            <a:avLst/>
          </a:prstGeom>
          <a:ln w="19050">
            <a:solidFill>
              <a:srgbClr val="8E6F3E"/>
            </a:solidFill>
            <a:tailEnd type="triangle" w="med" len="med"/>
          </a:ln>
        </p:spPr>
      </p:cxnSp>
      <p:sp>
        <p:nvSpPr>
          <p:cNvPr id="113" name="CostCap"/>
          <p:cNvSpPr txBox="1"/>
          <p:nvPr/>
        </p:nvSpPr>
        <p:spPr>
          <a:xfrm>
            <a:off x="6100000" y="2550000"/>
            <a:ext cx="2400000" cy="50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 xml:space="preserve">historically limits how</a:t>
            </a:r>
          </a:p>
          <a:p>
            <a:pPr algn="ctr">
              <a:spcBef>
                <a:spcPts val="300"/>
              </a:spcBef>
              <a:buNone/>
            </a:pPr>
            <a:r>
              <a:rPr lang="en-US" sz="1000" b="0" i="1" dirty="0">
                <a:solidFill>
                  <a:srgbClr val="555960"/>
                </a:solidFill>
              </a:rPr>
              <a:t xml:space="preserve">often we can do this</a:t>
            </a:r>
          </a:p>
        </p:txBody>
      </p:sp>
      <p:sp>
        <p:nvSpPr>
          <p:cNvPr id="150" name="GenAI"/>
          <p:cNvSpPr/>
          <p:nvPr/>
        </p:nvSpPr>
        <p:spPr>
          <a:xfrm>
            <a:off x="400000" y="3000000"/>
            <a:ext cx="1100000" cy="480000"/>
          </a:xfrm>
          <a:prstGeom prst="rect">
            <a:avLst/>
          </a:prstGeom>
          <a:solidFill>
            <a:srgbClr val="8E6F3E"/>
          </a:solidFill>
          <a:ln>
            <a:noFill/>
          </a:ln>
        </p:spPr>
        <p:txBody>
          <a:bodyPr wrap="square" lIns="54864" tIns="27432" rIns="54864" bIns="27432" anchor="ctr">
            <a:normAutofit/>
          </a:bodyPr>
          <a:lstStyle/>
          <a:p>
            <a:pPr algn="ctr">
              <a:buNone/>
            </a:pPr>
            <a:r>
              <a:rPr lang="en-US" sz="1300" b="1" i="0" dirty="0">
                <a:solidFill>
                  <a:srgbClr val="FFFFFF"/>
                </a:solidFill>
              </a:rPr>
              <a:t xml:space="preserve">GenAI</a:t>
            </a:r>
          </a:p>
        </p:txBody>
      </p:sp>
      <p:cxnSp>
        <p:nvCxnSpPr>
          <p:cNvPr id="151" name="G1"/>
          <p:cNvCxnSpPr/>
          <p:nvPr/>
        </p:nvCxnSpPr>
        <p:spPr>
          <a:xfrm>
            <a:off x="1500000" y="3240000"/>
            <a:ext cx="350000" cy="0"/>
          </a:xfrm>
          <a:prstGeom prst="line">
            <a:avLst/>
          </a:prstGeom>
          <a:ln w="19050">
            <a:solidFill>
              <a:srgbClr val="8E6F3E"/>
            </a:solidFill>
            <a:tailEnd type="triangle" w="med" len="med"/>
          </a:ln>
        </p:spPr>
      </p:cxnSp>
      <p:sp>
        <p:nvSpPr>
          <p:cNvPr id="152" name="CostDown"/>
          <p:cNvSpPr/>
          <p:nvPr/>
        </p:nvSpPr>
        <p:spPr>
          <a:xfrm>
            <a:off x="1850000" y="3000000"/>
            <a:ext cx="2100000" cy="48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1150" b="1" i="0" dirty="0">
                <a:solidFill>
                  <a:srgbClr val="5C4826"/>
                </a:solidFill>
              </a:rPr>
              <a:t xml:space="preserve">COST OF EVIDENCE ↓</a:t>
            </a:r>
          </a:p>
        </p:txBody>
      </p:sp>
      <p:cxnSp>
        <p:nvCxnSpPr>
          <p:cNvPr id="153" name="G2"/>
          <p:cNvCxnSpPr/>
          <p:nvPr/>
        </p:nvCxnSpPr>
        <p:spPr>
          <a:xfrm>
            <a:off x="3950000" y="3240000"/>
            <a:ext cx="350000" cy="0"/>
          </a:xfrm>
          <a:prstGeom prst="line">
            <a:avLst/>
          </a:prstGeom>
          <a:ln w="19050">
            <a:solidFill>
              <a:srgbClr val="8E6F3E"/>
            </a:solidFill>
            <a:tailEnd type="triangle" w="med" len="med"/>
          </a:ln>
        </p:spPr>
      </p:cxnSp>
      <p:sp>
        <p:nvSpPr>
          <p:cNvPr id="154" name="MoreQ"/>
          <p:cNvSpPr/>
          <p:nvPr/>
        </p:nvSpPr>
        <p:spPr>
          <a:xfrm>
            <a:off x="4300000" y="3000000"/>
            <a:ext cx="4300000" cy="48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150" b="1" i="0" dirty="0">
                <a:solidFill>
                  <a:srgbClr val="5C4826"/>
                </a:solidFill>
              </a:rPr>
              <a:t xml:space="preserve">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221" fill="hold">
                      <p:stCondLst>
                        <p:cond delay="indefinite"/>
                      </p:stCondLst>
                      <p:childTnLst>
                        <p:par>
                          <p:cTn id="222" fill="hold">
                            <p:stCondLst>
                              <p:cond delay="0"/>
                            </p:stCondLst>
                            <p:childTnLst>
                              <p:par>
                                <p:cTn id="201" presetID="10" presetClass="entr" presetSubtype="0" fill="hold" nodeType="clickEffect">
                                  <p:stCondLst>
                                    <p:cond delay="0"/>
                                  </p:stCondLst>
                                  <p:childTnLst>
                                    <p:set>
                                      <p:cBhvr>
                                        <p:cTn id="203" dur="1" fill="hold">
                                          <p:stCondLst>
                                            <p:cond delay="0"/>
                                          </p:stCondLst>
                                        </p:cTn>
                                        <p:tgtEl>
                                          <p:spTgt spid="150"/>
                                        </p:tgtEl>
                                        <p:attrNameLst>
                                          <p:attrName>style.visibility</p:attrName>
                                        </p:attrNameLst>
                                      </p:cBhvr>
                                      <p:to>
                                        <p:strVal val="visible"/>
                                      </p:to>
                                    </p:set>
                                    <p:animEffect transition="in" filter="fade">
                                      <p:cBhvr>
                                        <p:cTn id="204" dur="400"/>
                                        <p:tgtEl>
                                          <p:spTgt spid="150"/>
                                        </p:tgtEl>
                                      </p:cBhvr>
                                    </p:animEffect>
                                  </p:childTnLst>
                                </p:cTn>
                              </p:par>
                              <p:par>
                                <p:cTn id="205" presetID="10" presetClass="entr" presetSubtype="0" fill="hold" nodeType="withEffect">
                                  <p:stCondLst>
                                    <p:cond delay="0"/>
                                  </p:stCondLst>
                                  <p:childTnLst>
                                    <p:set>
                                      <p:cBhvr>
                                        <p:cTn id="207" dur="1" fill="hold">
                                          <p:stCondLst>
                                            <p:cond delay="0"/>
                                          </p:stCondLst>
                                        </p:cTn>
                                        <p:tgtEl>
                                          <p:spTgt spid="151"/>
                                        </p:tgtEl>
                                        <p:attrNameLst>
                                          <p:attrName>style.visibility</p:attrName>
                                        </p:attrNameLst>
                                      </p:cBhvr>
                                      <p:to>
                                        <p:strVal val="visible"/>
                                      </p:to>
                                    </p:set>
                                    <p:animEffect transition="in" filter="fade">
                                      <p:cBhvr>
                                        <p:cTn id="208" dur="400"/>
                                        <p:tgtEl>
                                          <p:spTgt spid="151"/>
                                        </p:tgtEl>
                                      </p:cBhvr>
                                    </p:animEffect>
                                  </p:childTnLst>
                                </p:cTn>
                              </p:par>
                              <p:par>
                                <p:cTn id="209" presetID="10" presetClass="entr" presetSubtype="0" fill="hold" nodeType="withEffect">
                                  <p:stCondLst>
                                    <p:cond delay="0"/>
                                  </p:stCondLst>
                                  <p:childTnLst>
                                    <p:set>
                                      <p:cBhvr>
                                        <p:cTn id="211" dur="1" fill="hold">
                                          <p:stCondLst>
                                            <p:cond delay="0"/>
                                          </p:stCondLst>
                                        </p:cTn>
                                        <p:tgtEl>
                                          <p:spTgt spid="152"/>
                                        </p:tgtEl>
                                        <p:attrNameLst>
                                          <p:attrName>style.visibility</p:attrName>
                                        </p:attrNameLst>
                                      </p:cBhvr>
                                      <p:to>
                                        <p:strVal val="visible"/>
                                      </p:to>
                                    </p:set>
                                    <p:animEffect transition="in" filter="fade">
                                      <p:cBhvr>
                                        <p:cTn id="212" dur="400"/>
                                        <p:tgtEl>
                                          <p:spTgt spid="152"/>
                                        </p:tgtEl>
                                      </p:cBhvr>
                                    </p:animEffect>
                                  </p:childTnLst>
                                </p:cTn>
                              </p:par>
                              <p:par>
                                <p:cTn id="213" presetID="10" presetClass="entr" presetSubtype="0" fill="hold" nodeType="withEffect">
                                  <p:stCondLst>
                                    <p:cond delay="0"/>
                                  </p:stCondLst>
                                  <p:childTnLst>
                                    <p:set>
                                      <p:cBhvr>
                                        <p:cTn id="215" dur="1" fill="hold">
                                          <p:stCondLst>
                                            <p:cond delay="0"/>
                                          </p:stCondLst>
                                        </p:cTn>
                                        <p:tgtEl>
                                          <p:spTgt spid="153"/>
                                        </p:tgtEl>
                                        <p:attrNameLst>
                                          <p:attrName>style.visibility</p:attrName>
                                        </p:attrNameLst>
                                      </p:cBhvr>
                                      <p:to>
                                        <p:strVal val="visible"/>
                                      </p:to>
                                    </p:set>
                                    <p:animEffect transition="in" filter="fade">
                                      <p:cBhvr>
                                        <p:cTn id="216" dur="400"/>
                                        <p:tgtEl>
                                          <p:spTgt spid="153"/>
                                        </p:tgtEl>
                                      </p:cBhvr>
                                    </p:animEffect>
                                  </p:childTnLst>
                                </p:cTn>
                              </p:par>
                              <p:par>
                                <p:cTn id="217" presetID="10" presetClass="entr" presetSubtype="0" fill="hold" nodeType="withEffect">
                                  <p:stCondLst>
                                    <p:cond delay="0"/>
                                  </p:stCondLst>
                                  <p:childTnLst>
                                    <p:set>
                                      <p:cBhvr>
                                        <p:cTn id="219" dur="1" fill="hold">
                                          <p:stCondLst>
                                            <p:cond delay="0"/>
                                          </p:stCondLst>
                                        </p:cTn>
                                        <p:tgtEl>
                                          <p:spTgt spid="154"/>
                                        </p:tgtEl>
                                        <p:attrNameLst>
                                          <p:attrName>style.visibility</p:attrName>
                                        </p:attrNameLst>
                                      </p:cBhvr>
                                      <p:to>
                                        <p:strVal val="visible"/>
                                      </p:to>
                                    </p:set>
                                    <p:animEffect transition="in" filter="fade">
                                      <p:cBhvr>
                                        <p:cTn id="220" dur="400"/>
                                        <p:tgtEl>
                                          <p:spTgt spid="154"/>
                                        </p:tgtEl>
                                      </p:cBhvr>
                                    </p:animEffect>
                                  </p:childTnLst>
                                </p:cTn>
                              </p:par>
                            </p:childTnLst>
                          </p:cTn>
                        </p:par>
                      </p:childTnLst>
                    </p:cTn>
                  </p:par>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6480000" y="3910000"/>
            <a:ext cx="380000" cy="243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960000" y="3900000"/>
            <a:ext cx="2050000" cy="2450000"/>
          </a:xfrm>
          <a:prstGeom prst="rect">
            <a:avLst/>
          </a:prstGeom>
          <a:noFill/>
        </p:spPr>
        <p:txBody>
          <a:bodyPr wrap="square" rtlCol="0" anchor="ctr">
            <a:normAutofit/>
          </a:bodyPr>
          <a:lstStyle/>
          <a:p>
            <a:pPr algn="l">
              <a:buNone/>
            </a:pPr>
            <a:r>
              <a:rPr lang="en-US" sz="1400" b="1" dirty="0">
                <a:solidFill>
                  <a:srgbClr val="8E6F3E"/>
                </a:solidFill>
              </a:rPr>
              <a:t>Specification</a:t>
            </a:r>
            <a:r>
              <a:rPr lang="en-US" sz="1400" dirty="0">
                <a:solidFill>
                  <a:srgbClr val="000000"/>
                </a:solidFill>
              </a:rPr>
              <a:t xml:space="preserve">  constrain what an acceptable system may do.</a:t>
            </a:r>
          </a:p>
          <a:p>
            <a:pPr algn="l">
              <a:spcBef>
                <a:spcPts val="300"/>
              </a:spcBef>
              <a:buNone/>
            </a:pPr>
            <a:r>
              <a:rPr lang="en-US" sz="1400" b="1" dirty="0">
                <a:solidFill>
                  <a:srgbClr val="8E6F3E"/>
                </a:solidFill>
              </a:rPr>
              <a:t>Architecture</a:t>
            </a:r>
            <a:r>
              <a:rPr lang="en-US" sz="1400" dirty="0">
                <a:solidFill>
                  <a:srgbClr val="000000"/>
                </a:solidFill>
              </a:rPr>
              <a:t xml:space="preserve">  choose how the acceptable system is organized and how its parts may interact.</a:t>
            </a:r>
          </a:p>
          <a:p>
            <a:pPr algn="l">
              <a:spcBef>
                <a:spcPts val="300"/>
              </a:spcBef>
              <a:buNone/>
            </a:pPr>
            <a:r>
              <a:rPr lang="en-US" sz="1400" b="1" dirty="0">
                <a:solidFill>
                  <a:srgbClr val="8E6F3E"/>
                </a:solidFill>
              </a:rPr>
              <a:t>Design</a:t>
            </a:r>
            <a:r>
              <a:rPr lang="en-US" sz="1400" dirty="0">
                <a:solidFill>
                  <a:srgbClr val="000000"/>
                </a:solidFill>
              </a:rPr>
              <a:t xml:space="preserve">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1800" b="0" i="1" dirty="0">
                <a:solidFill>
                  <a:srgbClr val="5C4826"/>
                </a:solidFill>
              </a:rPr>
              <a:t>Next time: given one of these parts, how should we engineer it well?</a:t>
            </a:r>
          </a:p>
        </p:txBody>
      </p:sp>
      <p:sp>
        <p:nvSpPr>
          <p:cNvPr id="100" name="Req"/>
          <p:cNvSpPr/>
          <p:nvPr/>
        </p:nvSpPr>
        <p:spPr>
          <a:xfrm>
            <a:off x="2750000" y="1340000"/>
            <a:ext cx="230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REQUIREMENTS</a:t>
            </a:r>
          </a:p>
        </p:txBody>
      </p:sp>
      <p:cxnSp>
        <p:nvCxnSpPr>
          <p:cNvPr id="101" name="Arr1"/>
          <p:cNvCxnSpPr/>
          <p:nvPr/>
        </p:nvCxnSpPr>
        <p:spPr>
          <a:xfrm>
            <a:off x="3900000" y="1860000"/>
            <a:ext cx="0" cy="180000"/>
          </a:xfrm>
          <a:prstGeom prst="line">
            <a:avLst/>
          </a:prstGeom>
          <a:ln w="19050">
            <a:solidFill>
              <a:srgbClr val="8E6F3E"/>
            </a:solidFill>
            <a:tailEnd type="triangle" w="med" len="med"/>
          </a:ln>
        </p:spPr>
      </p:cxnSp>
      <p:sp>
        <p:nvSpPr>
          <p:cNvPr id="102" name="Spec"/>
          <p:cNvSpPr/>
          <p:nvPr/>
        </p:nvSpPr>
        <p:spPr>
          <a:xfrm>
            <a:off x="2750000" y="2040000"/>
            <a:ext cx="2300000" cy="560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 xml:space="preserve">SPECIFICATION</a:t>
            </a:r>
          </a:p>
        </p:txBody>
      </p:sp>
      <p:cxnSp>
        <p:nvCxnSpPr>
          <p:cNvPr id="103" name="Arr2"/>
          <p:cNvCxnSpPr/>
          <p:nvPr/>
        </p:nvCxnSpPr>
        <p:spPr>
          <a:xfrm>
            <a:off x="3900000" y="2600000"/>
            <a:ext cx="0" cy="180000"/>
          </a:xfrm>
          <a:prstGeom prst="line">
            <a:avLst/>
          </a:prstGeom>
          <a:ln w="19050">
            <a:solidFill>
              <a:srgbClr val="8E6F3E"/>
            </a:solidFill>
            <a:tailEnd type="triangle" w="med" len="med"/>
          </a:ln>
        </p:spPr>
      </p:cxnSp>
      <p:sp>
        <p:nvSpPr>
          <p:cNvPr id="104" name="Cont1"/>
          <p:cNvSpPr/>
          <p:nvPr/>
        </p:nvSpPr>
        <p:spPr>
          <a:xfrm>
            <a:off x="1450000" y="2780000"/>
            <a:ext cx="490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500" b="1" i="0" dirty="0">
                <a:solidFill>
                  <a:srgbClr val="8E6F3E"/>
                </a:solidFill>
              </a:rPr>
              <a:t xml:space="preserve">ACCEPTABLE REALIZATIONS</a:t>
            </a:r>
          </a:p>
        </p:txBody>
      </p:sp>
      <p:sp>
        <p:nvSpPr>
          <p:cNvPr id="105" name="RealA"/>
          <p:cNvSpPr/>
          <p:nvPr/>
        </p:nvSpPr>
        <p:spPr>
          <a:xfrm>
            <a:off x="1700000" y="3200000"/>
            <a:ext cx="125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600" b="1" i="0" dirty="0">
                <a:solidFill>
                  <a:srgbClr val="5C4826"/>
                </a:solidFill>
              </a:rPr>
              <a:t xml:space="preserve">A</a:t>
            </a:r>
          </a:p>
        </p:txBody>
      </p:sp>
      <p:sp>
        <p:nvSpPr>
          <p:cNvPr id="106" name="RealB"/>
          <p:cNvSpPr/>
          <p:nvPr/>
        </p:nvSpPr>
        <p:spPr>
          <a:xfrm>
            <a:off x="3300000" y="3200000"/>
            <a:ext cx="125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600" b="1" i="0" dirty="0">
                <a:solidFill>
                  <a:srgbClr val="5C4826"/>
                </a:solidFill>
              </a:rPr>
              <a:t xml:space="preserve">B</a:t>
            </a:r>
          </a:p>
        </p:txBody>
      </p:sp>
      <p:sp>
        <p:nvSpPr>
          <p:cNvPr id="107" name="RealC"/>
          <p:cNvSpPr/>
          <p:nvPr/>
        </p:nvSpPr>
        <p:spPr>
          <a:xfrm>
            <a:off x="4900000" y="3200000"/>
            <a:ext cx="125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600" b="1" i="0" dirty="0">
                <a:solidFill>
                  <a:srgbClr val="5C4826"/>
                </a:solidFill>
              </a:rPr>
              <a:t xml:space="preserve">C</a:t>
            </a:r>
          </a:p>
        </p:txBody>
      </p:sp>
      <p:cxnSp>
        <p:nvCxnSpPr>
          <p:cNvPr id="108" name="Arr3"/>
          <p:cNvCxnSpPr/>
          <p:nvPr/>
        </p:nvCxnSpPr>
        <p:spPr>
          <a:xfrm>
            <a:off x="3900000" y="3730000"/>
            <a:ext cx="0" cy="180000"/>
          </a:xfrm>
          <a:prstGeom prst="line">
            <a:avLst/>
          </a:prstGeom>
          <a:ln w="19050">
            <a:solidFill>
              <a:srgbClr val="8E6F3E"/>
            </a:solidFill>
            <a:tailEnd type="triangle" w="med" len="med"/>
          </a:ln>
        </p:spPr>
      </p:cxnSp>
      <p:sp>
        <p:nvSpPr>
          <p:cNvPr id="109" name="ChooseLbl"/>
          <p:cNvSpPr txBox="1"/>
          <p:nvPr/>
        </p:nvSpPr>
        <p:spPr>
          <a:xfrm>
            <a:off x="4080000" y="3720000"/>
            <a:ext cx="1500000" cy="260000"/>
          </a:xfrm>
          <a:prstGeom prst="rect">
            <a:avLst/>
          </a:prstGeom>
          <a:noFill/>
          <a:ln>
            <a:noFill/>
          </a:ln>
        </p:spPr>
        <p:txBody>
          <a:bodyPr wrap="square" lIns="0" tIns="0" rIns="0" bIns="0" anchor="t">
            <a:normAutofit/>
          </a:bodyPr>
          <a:lstStyle/>
          <a:p>
            <a:pPr algn="l">
              <a:buNone/>
            </a:pPr>
            <a:r>
              <a:rPr lang="en-US" sz="1000" b="0" i="1" dirty="0">
                <a:solidFill>
                  <a:srgbClr val="555960"/>
                </a:solidFill>
              </a:rPr>
              <a:t xml:space="preserve">choose one</a:t>
            </a:r>
          </a:p>
        </p:txBody>
      </p:sp>
      <p:sp>
        <p:nvSpPr>
          <p:cNvPr id="110" name="Arch"/>
          <p:cNvSpPr/>
          <p:nvPr/>
        </p:nvSpPr>
        <p:spPr>
          <a:xfrm>
            <a:off x="2750000" y="3910000"/>
            <a:ext cx="230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000" b="1" i="0" dirty="0">
                <a:solidFill>
                  <a:srgbClr val="5C4826"/>
                </a:solidFill>
              </a:rPr>
              <a:t xml:space="preserve">ARCHITECTURE</a:t>
            </a:r>
          </a:p>
        </p:txBody>
      </p:sp>
      <p:cxnSp>
        <p:nvCxnSpPr>
          <p:cNvPr id="111" name="Arr4"/>
          <p:cNvCxnSpPr/>
          <p:nvPr/>
        </p:nvCxnSpPr>
        <p:spPr>
          <a:xfrm>
            <a:off x="3900000" y="4470000"/>
            <a:ext cx="0" cy="180000"/>
          </a:xfrm>
          <a:prstGeom prst="line">
            <a:avLst/>
          </a:prstGeom>
          <a:ln w="19050">
            <a:solidFill>
              <a:srgbClr val="8E6F3E"/>
            </a:solidFill>
            <a:tailEnd type="triangle" w="med" len="med"/>
          </a:ln>
        </p:spPr>
      </p:cxnSp>
      <p:sp>
        <p:nvSpPr>
          <p:cNvPr id="112" name="Cont2"/>
          <p:cNvSpPr/>
          <p:nvPr/>
        </p:nvSpPr>
        <p:spPr>
          <a:xfrm>
            <a:off x="1450000" y="4650000"/>
            <a:ext cx="490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500" b="1" i="0" dirty="0">
                <a:solidFill>
                  <a:srgbClr val="8E6F3E"/>
                </a:solidFill>
              </a:rPr>
              <a:t xml:space="preserve">PARTS OF THE CHOSEN SYSTEM</a:t>
            </a:r>
          </a:p>
        </p:txBody>
      </p:sp>
      <p:sp>
        <p:nvSpPr>
          <p:cNvPr id="113" name="Part0"/>
          <p:cNvSpPr/>
          <p:nvPr/>
        </p:nvSpPr>
        <p:spPr>
          <a:xfrm>
            <a:off x="1660000" y="5070000"/>
            <a:ext cx="105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PART A</a:t>
            </a:r>
          </a:p>
        </p:txBody>
      </p:sp>
      <p:sp>
        <p:nvSpPr>
          <p:cNvPr id="114" name="Part1"/>
          <p:cNvSpPr/>
          <p:nvPr/>
        </p:nvSpPr>
        <p:spPr>
          <a:xfrm>
            <a:off x="2840000" y="5070000"/>
            <a:ext cx="105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PART B</a:t>
            </a:r>
          </a:p>
        </p:txBody>
      </p:sp>
      <p:sp>
        <p:nvSpPr>
          <p:cNvPr id="115" name="Part2"/>
          <p:cNvSpPr/>
          <p:nvPr/>
        </p:nvSpPr>
        <p:spPr>
          <a:xfrm>
            <a:off x="4020000" y="5070000"/>
            <a:ext cx="105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PART C</a:t>
            </a:r>
          </a:p>
        </p:txBody>
      </p:sp>
      <p:sp>
        <p:nvSpPr>
          <p:cNvPr id="116" name="Part3"/>
          <p:cNvSpPr/>
          <p:nvPr/>
        </p:nvSpPr>
        <p:spPr>
          <a:xfrm>
            <a:off x="5200000" y="5070000"/>
            <a:ext cx="1050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250" b="1" i="0" dirty="0">
                <a:solidFill>
                  <a:srgbClr val="5C4826"/>
                </a:solidFill>
              </a:rPr>
              <a:t xml:space="preserve">PART D</a:t>
            </a:r>
          </a:p>
        </p:txBody>
      </p:sp>
      <p:cxnSp>
        <p:nvCxnSpPr>
          <p:cNvPr id="117" name="Arr5"/>
          <p:cNvCxnSpPr/>
          <p:nvPr/>
        </p:nvCxnSpPr>
        <p:spPr>
          <a:xfrm>
            <a:off x="3900000" y="5600000"/>
            <a:ext cx="0" cy="180000"/>
          </a:xfrm>
          <a:prstGeom prst="line">
            <a:avLst/>
          </a:prstGeom>
          <a:ln w="19050">
            <a:solidFill>
              <a:srgbClr val="8E6F3E"/>
            </a:solidFill>
            <a:tailEnd type="triangle" w="med" len="med"/>
          </a:ln>
        </p:spPr>
      </p:cxnSp>
      <p:sp>
        <p:nvSpPr>
          <p:cNvPr id="118" name="Design"/>
          <p:cNvSpPr/>
          <p:nvPr/>
        </p:nvSpPr>
        <p:spPr>
          <a:xfrm>
            <a:off x="2750000" y="5780000"/>
            <a:ext cx="2300000" cy="560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 xml:space="preserve">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10" presetClass="entr" presetSubtype="0" fill="hold" nodeType="click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400"/>
                                        <p:tgtEl>
                                          <p:spTgt spid="101"/>
                                        </p:tgtEl>
                                      </p:cBhvr>
                                    </p:animEffect>
                                  </p:childTnLst>
                                </p:cTn>
                              </p:par>
                              <p:par>
                                <p:cTn id="7"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33" fill="hold">
                      <p:stCondLst>
                        <p:cond delay="indefinite"/>
                      </p:stCondLst>
                      <p:childTnLst>
                        <p:par>
                          <p:cTn id="34" fill="hold">
                            <p:stCondLst>
                              <p:cond delay="0"/>
                            </p:stCondLst>
                            <p:childTnLst>
                              <p:par>
                                <p:cTn id="13" presetID="10" presetClass="entr" presetSubtype="0" fill="hold" nodeType="click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9" dur="1" fill="hold">
                                          <p:stCondLst>
                                            <p:cond delay="0"/>
                                          </p:stCondLst>
                                        </p:cTn>
                                        <p:tgtEl>
                                          <p:spTgt spid="104"/>
                                        </p:tgtEl>
                                        <p:attrNameLst>
                                          <p:attrName>style.visibility</p:attrName>
                                        </p:attrNameLst>
                                      </p:cBhvr>
                                      <p:to>
                                        <p:strVal val="visible"/>
                                      </p:to>
                                    </p:set>
                                    <p:animEffect transition="in" filter="fade">
                                      <p:cBhvr>
                                        <p:cTn id="20" dur="400"/>
                                        <p:tgtEl>
                                          <p:spTgt spid="104"/>
                                        </p:tgtEl>
                                      </p:cBhvr>
                                    </p:animEffect>
                                  </p:childTnLst>
                                </p:cTn>
                              </p:par>
                              <p:par>
                                <p:cTn id="21"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47" fill="hold">
                      <p:stCondLst>
                        <p:cond delay="indefinite"/>
                      </p:stCondLst>
                      <p:childTnLst>
                        <p:par>
                          <p:cTn id="48" fill="hold">
                            <p:stCondLst>
                              <p:cond delay="0"/>
                            </p:stCondLst>
                            <p:childTnLst>
                              <p:par>
                                <p:cTn id="35" presetID="10" presetClass="entr" presetSubtype="0" fill="hold" nodeType="clickEffect">
                                  <p:stCondLst>
                                    <p:cond delay="0"/>
                                  </p:stCondLst>
                                  <p:childTnLst>
                                    <p:set>
                                      <p:cBhvr>
                                        <p:cTn id="37" dur="1" fill="hold">
                                          <p:stCondLst>
                                            <p:cond delay="0"/>
                                          </p:stCondLst>
                                        </p:cTn>
                                        <p:tgtEl>
                                          <p:spTgt spid="108"/>
                                        </p:tgtEl>
                                        <p:attrNameLst>
                                          <p:attrName>style.visibility</p:attrName>
                                        </p:attrNameLst>
                                      </p:cBhvr>
                                      <p:to>
                                        <p:strVal val="visible"/>
                                      </p:to>
                                    </p:set>
                                    <p:animEffect transition="in" filter="fade">
                                      <p:cBhvr>
                                        <p:cTn id="38" dur="400"/>
                                        <p:tgtEl>
                                          <p:spTgt spid="108"/>
                                        </p:tgtEl>
                                      </p:cBhvr>
                                    </p:animEffect>
                                  </p:childTnLst>
                                </p:cTn>
                              </p:par>
                              <p:par>
                                <p:cTn id="39" presetID="10" presetClass="entr" presetSubtype="0" fill="hold" nodeType="withEffect">
                                  <p:stCondLst>
                                    <p:cond delay="0"/>
                                  </p:stCondLst>
                                  <p:childTnLst>
                                    <p:set>
                                      <p:cBhvr>
                                        <p:cTn id="41" dur="1" fill="hold">
                                          <p:stCondLst>
                                            <p:cond delay="0"/>
                                          </p:stCondLst>
                                        </p:cTn>
                                        <p:tgtEl>
                                          <p:spTgt spid="109"/>
                                        </p:tgtEl>
                                        <p:attrNameLst>
                                          <p:attrName>style.visibility</p:attrName>
                                        </p:attrNameLst>
                                      </p:cBhvr>
                                      <p:to>
                                        <p:strVal val="visible"/>
                                      </p:to>
                                    </p:set>
                                    <p:animEffect transition="in" filter="fade">
                                      <p:cBhvr>
                                        <p:cTn id="42" dur="400"/>
                                        <p:tgtEl>
                                          <p:spTgt spid="109"/>
                                        </p:tgtEl>
                                      </p:cBhvr>
                                    </p:animEffect>
                                  </p:childTnLst>
                                </p:cTn>
                              </p:par>
                              <p:par>
                                <p:cTn id="43"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73" fill="hold">
                      <p:stCondLst>
                        <p:cond delay="indefinite"/>
                      </p:stCondLst>
                      <p:childTnLst>
                        <p:par>
                          <p:cTn id="74" fill="hold">
                            <p:stCondLst>
                              <p:cond delay="0"/>
                            </p:stCondLst>
                            <p:childTnLst>
                              <p:par>
                                <p:cTn id="49" presetID="10" presetClass="entr" presetSubtype="0" fill="hold" nodeType="click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5" dur="1" fill="hold">
                                          <p:stCondLst>
                                            <p:cond delay="0"/>
                                          </p:stCondLst>
                                        </p:cTn>
                                        <p:tgtEl>
                                          <p:spTgt spid="112"/>
                                        </p:tgtEl>
                                        <p:attrNameLst>
                                          <p:attrName>style.visibility</p:attrName>
                                        </p:attrNameLst>
                                      </p:cBhvr>
                                      <p:to>
                                        <p:strVal val="visible"/>
                                      </p:to>
                                    </p:set>
                                    <p:animEffect transition="in" filter="fade">
                                      <p:cBhvr>
                                        <p:cTn id="56" dur="400"/>
                                        <p:tgtEl>
                                          <p:spTgt spid="112"/>
                                        </p:tgtEl>
                                      </p:cBhvr>
                                    </p:animEffect>
                                  </p:childTnLst>
                                </p:cTn>
                              </p:par>
                              <p:par>
                                <p:cTn id="57" presetID="10" presetClass="entr" presetSubtype="0" fill="hold" nodeType="withEffect">
                                  <p:stCondLst>
                                    <p:cond delay="0"/>
                                  </p:stCondLst>
                                  <p:childTnLst>
                                    <p:set>
                                      <p:cBhvr>
                                        <p:cTn id="59" dur="1" fill="hold">
                                          <p:stCondLst>
                                            <p:cond delay="0"/>
                                          </p:stCondLst>
                                        </p:cTn>
                                        <p:tgtEl>
                                          <p:spTgt spid="113"/>
                                        </p:tgtEl>
                                        <p:attrNameLst>
                                          <p:attrName>style.visibility</p:attrName>
                                        </p:attrNameLst>
                                      </p:cBhvr>
                                      <p:to>
                                        <p:strVal val="visible"/>
                                      </p:to>
                                    </p:set>
                                    <p:animEffect transition="in" filter="fade">
                                      <p:cBhvr>
                                        <p:cTn id="60" dur="400"/>
                                        <p:tgtEl>
                                          <p:spTgt spid="113"/>
                                        </p:tgtEl>
                                      </p:cBhvr>
                                    </p:animEffect>
                                  </p:childTnLst>
                                </p:cTn>
                              </p:par>
                              <p:par>
                                <p:cTn id="61" presetID="10" presetClass="entr" presetSubtype="0" fill="hold" nodeType="withEffect">
                                  <p:stCondLst>
                                    <p:cond delay="0"/>
                                  </p:stCondLst>
                                  <p:childTnLst>
                                    <p:set>
                                      <p:cBhvr>
                                        <p:cTn id="63" dur="1" fill="hold">
                                          <p:stCondLst>
                                            <p:cond delay="0"/>
                                          </p:stCondLst>
                                        </p:cTn>
                                        <p:tgtEl>
                                          <p:spTgt spid="114"/>
                                        </p:tgtEl>
                                        <p:attrNameLst>
                                          <p:attrName>style.visibility</p:attrName>
                                        </p:attrNameLst>
                                      </p:cBhvr>
                                      <p:to>
                                        <p:strVal val="visible"/>
                                      </p:to>
                                    </p:set>
                                    <p:animEffect transition="in" filter="fade">
                                      <p:cBhvr>
                                        <p:cTn id="64" dur="400"/>
                                        <p:tgtEl>
                                          <p:spTgt spid="114"/>
                                        </p:tgtEl>
                                      </p:cBhvr>
                                    </p:animEffect>
                                  </p:childTnLst>
                                </p:cTn>
                              </p:par>
                              <p:par>
                                <p:cTn id="65" presetID="10" presetClass="entr" presetSubtype="0" fill="hold" nodeType="withEffect">
                                  <p:stCondLst>
                                    <p:cond delay="0"/>
                                  </p:stCondLst>
                                  <p:childTnLst>
                                    <p:set>
                                      <p:cBhvr>
                                        <p:cTn id="67" dur="1" fill="hold">
                                          <p:stCondLst>
                                            <p:cond delay="0"/>
                                          </p:stCondLst>
                                        </p:cTn>
                                        <p:tgtEl>
                                          <p:spTgt spid="115"/>
                                        </p:tgtEl>
                                        <p:attrNameLst>
                                          <p:attrName>style.visibility</p:attrName>
                                        </p:attrNameLst>
                                      </p:cBhvr>
                                      <p:to>
                                        <p:strVal val="visible"/>
                                      </p:to>
                                    </p:set>
                                    <p:animEffect transition="in" filter="fade">
                                      <p:cBhvr>
                                        <p:cTn id="68" dur="400"/>
                                        <p:tgtEl>
                                          <p:spTgt spid="115"/>
                                        </p:tgtEl>
                                      </p:cBhvr>
                                    </p:animEffect>
                                  </p:childTnLst>
                                </p:cTn>
                              </p:par>
                              <p:par>
                                <p:cTn id="69" presetID="10" presetClass="entr" presetSubtype="0" fill="hold" nodeType="withEffect">
                                  <p:stCondLst>
                                    <p:cond delay="0"/>
                                  </p:stCondLst>
                                  <p:childTnLst>
                                    <p:set>
                                      <p:cBhvr>
                                        <p:cTn id="71" dur="1" fill="hold">
                                          <p:stCondLst>
                                            <p:cond delay="0"/>
                                          </p:stCondLst>
                                        </p:cTn>
                                        <p:tgtEl>
                                          <p:spTgt spid="116"/>
                                        </p:tgtEl>
                                        <p:attrNameLst>
                                          <p:attrName>style.visibility</p:attrName>
                                        </p:attrNameLst>
                                      </p:cBhvr>
                                      <p:to>
                                        <p:strVal val="visible"/>
                                      </p:to>
                                    </p:set>
                                    <p:animEffect transition="in" filter="fade">
                                      <p:cBhvr>
                                        <p:cTn id="72" dur="400"/>
                                        <p:tgtEl>
                                          <p:spTgt spid="116"/>
                                        </p:tgtEl>
                                      </p:cBhvr>
                                    </p:animEffect>
                                  </p:childTnLst>
                                </p:cTn>
                              </p:par>
                            </p:childTnLst>
                          </p:cTn>
                        </p:par>
                      </p:childTnLst>
                    </p:cTn>
                  </p:par>
                  <p:par>
                    <p:cTn id="83" fill="hold">
                      <p:stCondLst>
                        <p:cond delay="indefinite"/>
                      </p:stCondLst>
                      <p:childTnLst>
                        <p:par>
                          <p:cTn id="84" fill="hold">
                            <p:stCondLst>
                              <p:cond delay="0"/>
                            </p:stCondLst>
                            <p:childTnLst>
                              <p:par>
                                <p:cTn id="75" presetID="10" presetClass="entr" presetSubtype="0" fill="hold" nodeType="click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childTnLst>
                          </p:cTn>
                        </p:par>
                      </p:childTnLst>
                    </p:cTn>
                  </p:par>
                  <p:par>
                    <p:cTn id="93" fill="hold">
                      <p:stCondLst>
                        <p:cond delay="indefinite"/>
                      </p:stCondLst>
                      <p:childTnLst>
                        <p:par>
                          <p:cTn id="94" fill="hold">
                            <p:stCondLst>
                              <p:cond delay="0"/>
                            </p:stCondLst>
                            <p:childTnLst>
                              <p:par>
                                <p:cTn id="85" presetID="10" presetClass="entr" presetSubtype="0" fill="hold" nodeType="clickEffect">
                                  <p:stCondLst>
                                    <p:cond delay="0"/>
                                  </p:stCondLst>
                                  <p:childTnLst>
                                    <p:set>
                                      <p:cBhvr>
                                        <p:cTn id="87" dur="1" fill="hold">
                                          <p:stCondLst>
                                            <p:cond delay="0"/>
                                          </p:stCondLst>
                                        </p:cTn>
                                        <p:tgtEl>
                                          <p:spTgt spid="2"/>
                                        </p:tgtEl>
                                        <p:attrNameLst>
                                          <p:attrName>style.visibility</p:attrName>
                                        </p:attrNameLst>
                                      </p:cBhvr>
                                      <p:to>
                                        <p:strVal val="visible"/>
                                      </p:to>
                                    </p:set>
                                    <p:animEffect transition="in" filter="fade">
                                      <p:cBhvr>
                                        <p:cTn id="88" dur="400"/>
                                        <p:tgtEl>
                                          <p:spTgt spid="2"/>
                                        </p:tgtEl>
                                      </p:cBhvr>
                                    </p:animEffect>
                                  </p:childTnLst>
                                </p:cTn>
                              </p:par>
                              <p:par>
                                <p:cTn id="89" presetID="10" presetClass="entr" presetSubtype="0" fill="hold" nodeType="withEffect">
                                  <p:stCondLst>
                                    <p:cond delay="0"/>
                                  </p:stCondLst>
                                  <p:childTnLst>
                                    <p:set>
                                      <p:cBhvr>
                                        <p:cTn id="91" dur="1" fill="hold">
                                          <p:stCondLst>
                                            <p:cond delay="0"/>
                                          </p:stCondLst>
                                        </p:cTn>
                                        <p:tgtEl>
                                          <p:spTgt spid="5"/>
                                        </p:tgtEl>
                                        <p:attrNameLst>
                                          <p:attrName>style.visibility</p:attrName>
                                        </p:attrNameLst>
                                      </p:cBhvr>
                                      <p:to>
                                        <p:strVal val="visible"/>
                                      </p:to>
                                    </p:set>
                                    <p:animEffect transition="in" filter="fade">
                                      <p:cBhvr>
                                        <p:cTn id="92"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75000"/>
          </a:bodyPr>
          <a:lstStyle/>
          <a:p>
            <a:pPr algn="l">
              <a:buNone/>
              <a:defRPr b="0"/>
            </a:pPr>
            <a:r>
              <a:rPr lang="en-US" sz="2400" b="0" i="0" dirty="0">
                <a:solidFill>
                  <a:srgbClr val="000000"/>
                </a:solidFill>
              </a:rPr>
              <a:t>A specification tells us what must be true—but deliberately leaves organization open.</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a:off x="3200400" y="2794000"/>
            <a:ext cx="0" cy="479552"/>
          </a:xfrm>
          <a:prstGeom prst="line">
            <a:avLst/>
          </a:prstGeom>
          <a:ln w="19050">
            <a:solidFill>
              <a:srgbClr val="8E6F3E"/>
            </a:solidFill>
            <a:tailEnd type="triangle" w="med" len="med"/>
          </a:ln>
        </p:spPr>
      </p:cxnSp>
      <p:cxnSp>
        <p:nvCxnSpPr>
          <p:cNvPr id="64" name="L64"/>
          <p:cNvCxnSpPr/>
          <p:nvPr/>
        </p:nvCxnSpPr>
        <p:spPr>
          <a:xfrm>
            <a:off x="5943600" y="2794000"/>
            <a:ext cx="0" cy="479552"/>
          </a:xfrm>
          <a:prstGeom prst="line">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a:off x="3017520" y="4191000"/>
            <a:ext cx="0" cy="243840"/>
          </a:xfrm>
          <a:prstGeom prst="line">
            <a:avLst/>
          </a:prstGeom>
          <a:ln w="19050">
            <a:solidFill>
              <a:srgbClr val="8E6F3E"/>
            </a:solidFill>
            <a:tailEnd type="triangle" w="med" len="med"/>
          </a:ln>
        </p:spPr>
      </p:cxnSp>
      <p:cxnSp>
        <p:nvCxnSpPr>
          <p:cNvPr id="68" name="L68"/>
          <p:cNvCxnSpPr/>
          <p:nvPr/>
        </p:nvCxnSpPr>
        <p:spPr>
          <a:xfrm>
            <a:off x="6126480" y="4191000"/>
            <a:ext cx="0" cy="243840"/>
          </a:xfrm>
          <a:prstGeom prst="line">
            <a:avLst/>
          </a:prstGeom>
          <a:ln w="19050">
            <a:solidFill>
              <a:srgbClr val="8E6F3E"/>
            </a:solidFill>
            <a:tailEnd type="triangle" w="med" len="med"/>
          </a:ln>
        </p:spPr>
      </p:cxnSp>
      <p:sp>
        <p:nvSpPr>
          <p:cNvPr id="69" name="S69"/>
          <p:cNvSpPr/>
          <p:nvPr/>
        </p:nvSpPr>
        <p:spPr>
          <a:xfrm>
            <a:off x="2159000" y="4434840"/>
            <a:ext cx="4826000" cy="1197864"/>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485132"/>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lnSpcReduction="10000"/>
          </a:bodyPr>
          <a:lstStyle/>
          <a:p>
            <a:pPr algn="ctr">
              <a:buNone/>
            </a:pPr>
            <a:r>
              <a:rPr lang="en-US" sz="26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400" b="1" i="0" dirty="0">
                <a:solidFill>
                  <a:srgbClr val="5C4826"/>
                </a:solidFill>
              </a:rPr>
              <a:t>We pick one. But how should this realization be organized?</a:t>
            </a:r>
          </a:p>
        </p:txBody>
      </p:sp>
      <p:sp>
        <p:nvSpPr>
          <p:cNvPr id="100" name="SelectionRing"/>
          <p:cNvSpPr/>
          <p:nvPr/>
        </p:nvSpPr>
        <p:spPr>
          <a:xfrm>
            <a:off x="3835400" y="4851400"/>
            <a:ext cx="1473200" cy="762000"/>
          </a:xfrm>
          <a:prstGeom prst="roundRect">
            <a:avLst/>
          </a:prstGeom>
          <a:noFill/>
          <a:ln w="38100">
            <a:solidFill>
              <a:srgbClr val="5C4826"/>
            </a:solidFill>
          </a:ln>
        </p:spPr>
        <p:txBody>
          <a:bodyPr wrap="square" lIns="0" tIns="0" rIns="0" bIns="0" anchor="ctr">
            <a:normAutofit/>
          </a:bodyPr>
          <a:lstStyle/>
          <a:p>
            <a:endParaRP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0"/>
                                        </p:tgtEl>
                                        <p:attrNameLst>
                                          <p:attrName>style.visibility</p:attrName>
                                        </p:attrNameLst>
                                      </p:cBhvr>
                                      <p:to>
                                        <p:strVal val="visible"/>
                                      </p:to>
                                    </p:set>
                                    <p:animEffect transition="in" filter="fade">
                                      <p:cBhvr>
                                        <p:cTn id="52" dur="400"/>
                                        <p:tgtEl>
                                          <p:spTgt spid="100"/>
                                        </p:tgtEl>
                                      </p:cBhvr>
                                    </p:animEffect>
                                  </p:childTnLst>
                                </p:cTn>
                              </p:par>
                              <p:par>
                                <p:cTn id="53" presetID="10" presetClass="entr" presetSubtype="0" fill="hold" nodeType="withEffect">
                                  <p:stCondLst>
                                    <p:cond delay="0"/>
                                  </p:stCondLst>
                                  <p:childTnLst>
                                    <p:set>
                                      <p:cBhvr>
                                        <p:cTn id="54" dur="1" fill="hold">
                                          <p:stCondLst>
                                            <p:cond delay="0"/>
                                          </p:stCondLst>
                                        </p:cTn>
                                        <p:tgtEl>
                                          <p:spTgt spid="90"/>
                                        </p:tgtEl>
                                        <p:attrNameLst>
                                          <p:attrName>style.visibility</p:attrName>
                                        </p:attrNameLst>
                                      </p:cBhvr>
                                      <p:to>
                                        <p:strVal val="visible"/>
                                      </p:to>
                                    </p:set>
                                    <p:animEffect transition="in" filter="fade">
                                      <p:cBhvr>
                                        <p:cTn id="55" dur="4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8515</TotalTime>
  <Words>8606</Words>
  <Application>Microsoft Macintosh PowerPoint</Application>
  <PresentationFormat>On-screen Show (4:3)</PresentationFormat>
  <Paragraphs>726</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Times</vt:lpstr>
      <vt:lpstr>Arial</vt:lpstr>
      <vt:lpstr>Calibri</vt:lpstr>
      <vt:lpstr>Consolas</vt:lpstr>
      <vt:lpstr>Times New Roman</vt:lpstr>
      <vt:lpstr>Wingdings</vt:lpstr>
      <vt:lpstr>Purdue1</vt:lpstr>
      <vt:lpstr>ECE 30861/46100: Software Engineering</vt:lpstr>
      <vt:lpstr>From requirements to acceptable realizations</vt:lpstr>
      <vt:lpstr>Specification</vt:lpstr>
      <vt:lpstr>Running example: Sleep Advisor</vt:lpstr>
      <vt:lpstr>We have requirements. Now what?</vt:lpstr>
      <vt:lpstr>Requirements ≠ Specification ≠ Machine instr.</vt:lpstr>
      <vt:lpstr>A specification connects the machine to the requirement</vt:lpstr>
      <vt:lpstr>How would you constrain the machine (implementation)?</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allowable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Classify each: Unknown, tacit, or free?</vt:lpstr>
      <vt:lpstr>Tacit requirements and agents (or the intern)</vt:lpstr>
      <vt:lpstr>Learning specifications</vt:lpstr>
      <vt:lpstr>Remember, 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333</cp:revision>
  <dcterms:created xsi:type="dcterms:W3CDTF">2020-02-21T23:00:33Z</dcterms:created>
  <dcterms:modified xsi:type="dcterms:W3CDTF">2026-09-10T14:18:17Z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