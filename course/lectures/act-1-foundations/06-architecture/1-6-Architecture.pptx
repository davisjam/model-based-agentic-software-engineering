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517" r:id="rId2"/>
    <p:sldId id="738" r:id="rId3"/>
    <p:sldId id="762" r:id="rId4"/>
    <p:sldId id="761" r:id="rId5"/>
    <p:sldId id="751" r:id="rId6"/>
    <p:sldId id="744" r:id="rId7"/>
    <p:sldId id="763" r:id="rId8"/>
    <p:sldId id="764" r:id="rId9"/>
    <p:sldId id="651" r:id="rId10"/>
    <p:sldId id="746" r:id="rId11"/>
    <p:sldId id="747" r:id="rId12"/>
    <p:sldId id="748" r:id="rId13"/>
    <p:sldId id="749" r:id="rId14"/>
    <p:sldId id="750" r:id="rId15"/>
    <p:sldId id="701" r:id="rId16"/>
    <p:sldId id="752" r:id="rId17"/>
    <p:sldId id="731" r:id="rId18"/>
    <p:sldId id="712" r:id="rId19"/>
    <p:sldId id="713" r:id="rId20"/>
    <p:sldId id="735" r:id="rId21"/>
    <p:sldId id="753" r:id="rId22"/>
    <p:sldId id="720" r:id="rId23"/>
    <p:sldId id="754" r:id="rId24"/>
    <p:sldId id="755" r:id="rId25"/>
    <p:sldId id="638" r:id="rId26"/>
    <p:sldId id="756" r:id="rId27"/>
    <p:sldId id="740" r:id="rId28"/>
    <p:sldId id="759" r:id="rId29"/>
    <p:sldId id="757" r:id="rId30"/>
    <p:sldId id="739" r:id="rId31"/>
    <p:sldId id="741" r:id="rId32"/>
    <p:sldId id="765"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37" autoAdjust="0"/>
    <p:restoredTop sz="76438"/>
  </p:normalViewPr>
  <p:slideViewPr>
    <p:cSldViewPr snapToGrid="0" snapToObjects="1">
      <p:cViewPr varScale="1">
        <p:scale>
          <a:sx n="91" d="100"/>
          <a:sy n="91" d="100"/>
        </p:scale>
        <p:origin x="2408"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9/15/26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Last week: Specification — which realizations we are willing to accept. This week: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This week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last week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Last week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last week's acceptable-realizations argument and deliver the definition of architecture orally.</a:t>
            </a:r>
          </a:p>
          <a:p>
            <a:endParaRPr lang="en-US" dirty="0"/>
          </a:p>
          <a:p>
            <a:r>
              <a:rPr lang="en-US" dirty="0"/>
              <a:t>- The figure is last week's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last week on purpose.</a:t>
            </a:r>
          </a:p>
          <a:p>
            <a:endParaRPr lang="en-US" dirty="0"/>
          </a:p>
          <a:p>
            <a:r>
              <a:rPr lang="en-US" dirty="0"/>
              <a:t>=====</a:t>
            </a:r>
          </a:p>
          <a:p>
            <a:r>
              <a:rPr lang="en-US" dirty="0"/>
              <a:t>This is last week's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This week we consider one acceptable realization and ask how it should be organized. And the moment we do, last week's question flips: not 'is this system acceptable?' but 'how should this system be organized?'</a:t>
            </a:r>
          </a:p>
          <a:p>
            <a:endParaRPr lang="en-US" dirty="0"/>
          </a:p>
          <a:p>
            <a:r>
              <a:rPr lang="en-US" dirty="0"/>
              <a:t>Here is the definition, and it is the only one you need this week.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this week's map.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this week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last week's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last week.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But there is one consequence of these boundaries we have not considered yet. The header asks whether things should be owned together. Architectural boundaries can become boundaries not just in the software, but in the engineering organization.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Think about a building. The architect need not specify the exact plumbing fittings inside this wall. But the architecture has already made consequential decisions: where the wall goes, how thick it is, which spaces may be penetrated, perhaps where the service chase runs.</a:t>
            </a:r>
          </a:p>
          <a:p>
            <a:endParaRPr dirty="0"/>
          </a:p>
          <a:p>
            <a:r>
              <a:rPr dirty="0"/>
              <a:t>Those choices do not determine the plumbing design. They create the possibilities and constraints within which the plumbing designer works.</a:t>
            </a:r>
          </a:p>
          <a:p>
            <a:endParaRPr dirty="0"/>
          </a:p>
          <a:p>
            <a:r>
              <a:rPr dirty="0"/>
              <a:t>Software architecture does the same thing. A boundary, interface, deployment decision, or interaction rule leaves many implementations possible, but it changes which implementations are easy, difficult, or impossible.</a:t>
            </a:r>
          </a:p>
          <a:p>
            <a:endParaRPr dirty="0"/>
          </a:p>
          <a:p>
            <a:r>
              <a:rPr dirty="0"/>
              <a:t>That is why architecture matters before we open the boxes and design their internals.</a:t>
            </a:r>
          </a:p>
        </p:txBody>
      </p:sp>
    </p:spTree>
    <p:extLst>
      <p:ext uri="{BB962C8B-B14F-4D97-AF65-F5344CB8AC3E}">
        <p14:creationId xmlns:p14="http://schemas.microsoft.com/office/powerpoint/2010/main" val="7146804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There was one test in the header of the previous slide that I did not explain: owned together?</a:t>
            </a:r>
          </a:p>
          <a:p>
            <a:endParaRPr dirty="0"/>
          </a:p>
          <a:p>
            <a:r>
              <a:rPr dirty="0"/>
              <a:t>Architectural boundaries do not only affect the software. They also affect how we can divide the engineering work.</a:t>
            </a:r>
          </a:p>
          <a:p>
            <a:endParaRPr dirty="0"/>
          </a:p>
          <a:p>
            <a:r>
              <a:rPr dirty="0"/>
              <a:t>[ANIMATE] Once we have coarse-grained parts with reasonably clear responsibilities and interfaces, those parts can become units of ownership. One team might own collection, another classification, another sharing. If the boundaries are good, some changes can happen largely inside one team’s part.</a:t>
            </a:r>
          </a:p>
          <a:p>
            <a:endParaRPr dirty="0"/>
          </a:p>
          <a:p>
            <a:r>
              <a:rPr dirty="0"/>
              <a:t>[ANIMATE] Change the architecture, and you change the possible division of labor. If collection and storage are deliberately one architectural unit, perhaps they should be reasoned about and owned together. If a feature routinely cuts across three architectural boundaries, implementing that feature may require coordination among three teams.</a:t>
            </a:r>
          </a:p>
          <a:p>
            <a:endParaRPr dirty="0"/>
          </a:p>
          <a:p>
            <a:r>
              <a:rPr dirty="0"/>
              <a:t>This connection between software structure and organizational structure is old enough to have a name: Conway’s Law.</a:t>
            </a:r>
          </a:p>
          <a:p>
            <a:endParaRPr dirty="0"/>
          </a:p>
          <a:p>
            <a:r>
              <a:rPr dirty="0"/>
              <a:t>[ANIMATE] Mel Conway observed that organizations tend to design systems whose communication structures resemble their own. If two groups must communicate constantly to build something, that relationship tends to appear in the system they produce.</a:t>
            </a:r>
          </a:p>
          <a:p>
            <a:endParaRPr dirty="0"/>
          </a:p>
          <a:p>
            <a:r>
              <a:rPr dirty="0"/>
              <a:t>Do not read this as a law saying that every component needs its own team, or that we should simply draw our org chart as software. The useful engineering point is that the relationship runs both ways for us. The organization we already have can push the architecture toward certain boundaries. And the architecture we choose can make some divisions of engineering work much easier than others.</a:t>
            </a:r>
          </a:p>
          <a:p>
            <a:endParaRPr dirty="0"/>
          </a:p>
          <a:p>
            <a:r>
              <a:rPr dirty="0"/>
              <a:t>[ANIMATE] So extend the principle from the previous slide: architecture allocates coupling in software and coordination among people.</a:t>
            </a:r>
          </a:p>
          <a:p>
            <a:endParaRPr dirty="0"/>
          </a:p>
          <a:p>
            <a:r>
              <a:rPr dirty="0"/>
              <a:t>That gives us one more consequence to consider when choosing among acceptable architectures. Different organizations of the same acceptable system may require very different patterns of human coordination.</a:t>
            </a:r>
          </a:p>
          <a:p>
            <a:endParaRPr dirty="0"/>
          </a:p>
          <a:p>
            <a:r>
              <a:rPr dirty="0"/>
              <a:t>And that brings us to the next question: if several architectures remain acceptable, how do we choose among them?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last week's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Last week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last week's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last week: the specification told the implementor where the world was expected to move. Expected change is specification output — and architecture is where we act on it. In this course the Sleep Advisor's illness model carries that point: our specification named it as the part expected to change independently.</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b="1" dirty="0"/>
              <a:t>2.5-minute guidance</a:t>
            </a:r>
          </a:p>
          <a:p>
            <a:r>
              <a:rPr lang="en-US" dirty="0"/>
              <a:t>Show a quantitative prediction from an architectural model, then use it to expose a deeper point: </a:t>
            </a:r>
            <a:r>
              <a:rPr lang="en-US" b="1" dirty="0"/>
              <a:t>the architecture determines which design moves are available to us.</a:t>
            </a:r>
            <a:endParaRPr lang="en-US" dirty="0"/>
          </a:p>
          <a:p>
            <a:pPr lvl="0"/>
            <a:r>
              <a:rPr lang="en-US" dirty="0"/>
              <a:t>Frame this as an ordinary data-processing pipeline. Components perform stages of processing; edges carry modeled latency.</a:t>
            </a:r>
          </a:p>
          <a:p>
            <a:pPr lvl="0"/>
            <a:r>
              <a:rPr lang="en-US" dirty="0"/>
              <a:t>Walk the arithmetic: </a:t>
            </a:r>
            <a:r>
              <a:rPr lang="en-US" b="1" dirty="0"/>
              <a:t>A → B → F = 80 </a:t>
            </a:r>
            <a:r>
              <a:rPr lang="en-US" b="1" dirty="0" err="1"/>
              <a:t>ms</a:t>
            </a:r>
            <a:r>
              <a:rPr lang="en-US" b="1" dirty="0"/>
              <a:t> + 40 </a:t>
            </a:r>
            <a:r>
              <a:rPr lang="en-US" b="1" dirty="0" err="1"/>
              <a:t>ms</a:t>
            </a:r>
            <a:r>
              <a:rPr lang="en-US" b="1" dirty="0"/>
              <a:t> = 120 </a:t>
            </a:r>
            <a:r>
              <a:rPr lang="en-US" b="1" dirty="0" err="1"/>
              <a:t>ms.</a:t>
            </a:r>
            <a:r>
              <a:rPr lang="en-US" dirty="0"/>
              <a:t> Given this architecture and these assumptions, that path sets the modeled latency floor.</a:t>
            </a:r>
          </a:p>
          <a:p>
            <a:pPr lvl="0"/>
            <a:r>
              <a:rPr lang="en-US" dirty="0"/>
              <a:t>Reveal </a:t>
            </a:r>
            <a:r>
              <a:rPr lang="en-US" b="1" dirty="0"/>
              <a:t>#5</a:t>
            </a:r>
            <a:r>
              <a:rPr lang="en-US" dirty="0"/>
              <a:t>. Ask what we can change. Within this architecture, B is the obvious target: decompose it, parallelize work, reduce its cost, perhaps eliminate work. The model lets us evaluate that design choice before implementation.</a:t>
            </a:r>
          </a:p>
          <a:p>
            <a:pPr lvl="0"/>
            <a:r>
              <a:rPr lang="en-US" dirty="0"/>
              <a:t>Then reveal </a:t>
            </a:r>
            <a:r>
              <a:rPr lang="en-US" b="1" dirty="0"/>
              <a:t>#6</a:t>
            </a:r>
            <a:r>
              <a:rPr lang="en-US" dirty="0"/>
              <a:t>. Challenge the frame itself: </a:t>
            </a:r>
            <a:r>
              <a:rPr lang="en-US" b="1" dirty="0"/>
              <a:t>why are those the design moves we are considering?</a:t>
            </a:r>
            <a:r>
              <a:rPr lang="en-US" dirty="0"/>
              <a:t> Because the pipeline architecture has already constrained the design space. A different architecture might expose entirely different opportunities.</a:t>
            </a:r>
          </a:p>
          <a:p>
            <a:pPr lvl="0"/>
            <a:r>
              <a:rPr lang="en-US" dirty="0"/>
              <a:t>Connect explicitly to the Handbook’s treatment of design: design is choosing among alternatives under constraints. Architecture supplies some of the most consequential constraints on which alternatives are even available.</a:t>
            </a:r>
          </a:p>
          <a:p>
            <a:pPr lvl="0"/>
            <a:r>
              <a:rPr lang="en-US" dirty="0"/>
              <a:t>The lesson is therefore </a:t>
            </a:r>
            <a:r>
              <a:rPr lang="en-US" i="1" dirty="0"/>
              <a:t>not</a:t>
            </a:r>
            <a:r>
              <a:rPr lang="en-US" dirty="0"/>
              <a:t> “decompose B.” It is: </a:t>
            </a:r>
            <a:r>
              <a:rPr lang="en-US" b="1" dirty="0"/>
              <a:t>an architectural model lets us reason about both the consequences of a design move and the space of design moves the architecture permits.</a:t>
            </a:r>
            <a:endParaRPr lang="en-US" dirty="0"/>
          </a:p>
          <a:p>
            <a:endParaRPr lang="en-US" b="1"/>
          </a:p>
          <a:p>
            <a:r>
              <a:rPr lang="en-US" b="1"/>
              <a:t>Speaker </a:t>
            </a:r>
            <a:r>
              <a:rPr lang="en-US" b="1" dirty="0"/>
              <a:t>notes</a:t>
            </a:r>
          </a:p>
          <a:p>
            <a:r>
              <a:rPr lang="en-US" dirty="0"/>
              <a:t>Here is a very ordinary data-processing pipeline. Components perform stages of computation, and the edges represent dependencies with modeled latency.</a:t>
            </a:r>
          </a:p>
          <a:p>
            <a:r>
              <a:rPr lang="en-US" dirty="0"/>
              <a:t>Once we put costs on those edges, the architectural model can make a quantitative prediction. Follow the paths. A to B is eighty milliseconds; B to F is forty. So A to B to F gives us a modeled critical path of </a:t>
            </a:r>
            <a:r>
              <a:rPr lang="en-US" b="1" dirty="0"/>
              <a:t>120 milliseconds</a:t>
            </a:r>
            <a:r>
              <a:rPr lang="en-US" dirty="0"/>
              <a:t>. Given the dependencies and latency assumptions represented here, that is what sets the latency floor.</a:t>
            </a:r>
          </a:p>
          <a:p>
            <a:r>
              <a:rPr lang="en-US" b="1" dirty="0"/>
              <a:t>[Reveal 5]</a:t>
            </a:r>
            <a:endParaRPr lang="en-US" dirty="0"/>
          </a:p>
          <a:p>
            <a:r>
              <a:rPr lang="en-US" dirty="0"/>
              <a:t>Now we have a design problem. What could we change?</a:t>
            </a:r>
          </a:p>
          <a:p>
            <a:r>
              <a:rPr lang="en-US" dirty="0"/>
              <a:t>Looking at </a:t>
            </a:r>
            <a:r>
              <a:rPr lang="en-US" i="1" dirty="0"/>
              <a:t>this architecture</a:t>
            </a:r>
            <a:r>
              <a:rPr lang="en-US" dirty="0"/>
              <a:t>, B immediately attracts our attention. Perhaps we can decompose B into B1, B2, and B3 and execute some of that work in parallel. We can represent that candidate design in the model, estimate its costs, and rerun the arithmetic before implementing anything.</a:t>
            </a:r>
          </a:p>
          <a:p>
            <a:r>
              <a:rPr lang="en-US" dirty="0"/>
              <a:t>This is exactly the kind of choice we have been calling </a:t>
            </a:r>
            <a:r>
              <a:rPr lang="en-US" b="1" dirty="0"/>
              <a:t>design</a:t>
            </a:r>
            <a:r>
              <a:rPr lang="en-US" dirty="0"/>
              <a:t>: choosing among alternatives under constraints. The architecture gives us the constraints within which we are making that choice.</a:t>
            </a:r>
          </a:p>
          <a:p>
            <a:r>
              <a:rPr lang="en-US" b="1" dirty="0"/>
              <a:t>[Reveal 6]</a:t>
            </a:r>
            <a:endParaRPr lang="en-US" dirty="0"/>
          </a:p>
          <a:p>
            <a:r>
              <a:rPr lang="en-US" dirty="0"/>
              <a:t>But that should make you ask a more interesting question: </a:t>
            </a:r>
            <a:r>
              <a:rPr lang="en-US" b="1" dirty="0"/>
              <a:t>why is decomposition the design move that occurred to us?</a:t>
            </a:r>
            <a:endParaRPr lang="en-US" dirty="0"/>
          </a:p>
          <a:p>
            <a:r>
              <a:rPr lang="en-US" dirty="0"/>
              <a:t>Because this architecture has already shaped the design space. We drew the system as a pipeline of dependent processing stages, so the natural moves are things like decomposing stages, parallelizing them, changing dependencies, or reducing their costs.</a:t>
            </a:r>
          </a:p>
          <a:p>
            <a:r>
              <a:rPr lang="en-US" dirty="0"/>
              <a:t>If we chose a different architecture, we might get different design moves. Perhaps work could be event-driven rather than sequential. Perhaps results could be precomputed or cached. Perhaps data could move to the computation instead of computation following the data. Perhaps some work could disappear from the request path entirely.</a:t>
            </a:r>
          </a:p>
          <a:p>
            <a:r>
              <a:rPr lang="en-US" dirty="0"/>
              <a:t>So architecture does more than describe the system. </a:t>
            </a:r>
            <a:r>
              <a:rPr lang="en-US" b="1" dirty="0"/>
              <a:t>It constrains the space in which subsequent design happens.</a:t>
            </a:r>
            <a:r>
              <a:rPr lang="en-US" dirty="0"/>
              <a:t> And an architectural model makes those constraints visible enough that we can ask whether we are optimizing within the right architecture or whether we should change the architecture itself.</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a:t>
            </a:r>
            <a:r>
              <a:rPr lang="en-US" dirty="0"/>
              <a:t>In pairs:</a:t>
            </a:r>
            <a:r>
              <a:rPr dirty="0"/>
              <a:t>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a:t>
            </a:r>
            <a:r>
              <a:rPr lang="en-US" dirty="0"/>
              <a:t>In pairs. s</a:t>
            </a:r>
            <a:r>
              <a:rPr dirty="0"/>
              <a:t>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this week: where does this sit in the arc of the course?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This week's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In specification we separate obligations. 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classify</a:t>
            </a:r>
          </a:p>
        </p:txBody>
      </p:sp>
      <p:sp>
        <p:nvSpPr>
          <p:cNvPr id="75" name="SchHdr"/>
          <p:cNvSpPr/>
          <p:nvPr/>
        </p:nvSpPr>
        <p:spPr>
          <a:xfrm>
            <a:off x="816791" y="5264016"/>
            <a:ext cx="1705000" cy="330000"/>
          </a:xfrm>
          <a:prstGeom prst="rect">
            <a:avLst/>
          </a:prstGeom>
          <a:solidFill>
            <a:srgbClr val="8E6F3E"/>
          </a:solidFill>
          <a:ln w="15875">
            <a:solidFill>
              <a:srgbClr val="8E6F3E"/>
            </a:solidFill>
          </a:ln>
        </p:spPr>
        <p:txBody>
          <a:bodyPr wrap="square" lIns="54864" tIns="27432" rIns="54864" bIns="27432" anchor="ctr">
            <a:noAutofit/>
          </a:bodyPr>
          <a:lstStyle/>
          <a:p>
            <a:pPr algn="ctr">
              <a:buNone/>
            </a:pPr>
            <a:r>
              <a:rPr lang="en-US" sz="1600" b="1" i="0" dirty="0">
                <a:solidFill>
                  <a:srgbClr val="FFFFFF"/>
                </a:solidFill>
              </a:rPr>
              <a:t>NIGHT SUMMARY</a:t>
            </a:r>
          </a:p>
        </p:txBody>
      </p:sp>
      <p:sp>
        <p:nvSpPr>
          <p:cNvPr id="76" name="SchR1"/>
          <p:cNvSpPr/>
          <p:nvPr/>
        </p:nvSpPr>
        <p:spPr>
          <a:xfrm>
            <a:off x="816791" y="5594016"/>
            <a:ext cx="1705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date · score</a:t>
            </a:r>
          </a:p>
        </p:txBody>
      </p:sp>
      <p:sp>
        <p:nvSpPr>
          <p:cNvPr id="77" name="SchR2"/>
          <p:cNvSpPr/>
          <p:nvPr/>
        </p:nvSpPr>
        <p:spPr>
          <a:xfrm>
            <a:off x="816791" y="5924016"/>
            <a:ext cx="1705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lnSpcReduction="10000"/>
          </a:bodyPr>
          <a:lstStyle/>
          <a:p>
            <a:pPr algn="ctr">
              <a:buNone/>
            </a:pPr>
            <a:r>
              <a:rPr lang="en-US"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6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does it mean to say that a</a:t>
            </a:r>
          </a:p>
          <a:p>
            <a:pPr algn="ctr">
              <a:buNone/>
            </a:pPr>
            <a:r>
              <a:rPr lang="en-US" sz="2800" b="0" i="0" dirty="0">
                <a:solidFill>
                  <a:srgbClr val="555960"/>
                </a:solidFill>
              </a:rPr>
              <a:t>software system is “organized”?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p:cNvCxnSpPr>
          <p:nvPr/>
        </p:nvCxnSpPr>
        <p:spPr>
          <a:xfrm flipV="1">
            <a:off x="4559300" y="5737412"/>
            <a:ext cx="0" cy="349624"/>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5998464"/>
            <a:ext cx="7772400" cy="384048"/>
          </a:xfrm>
          <a:prstGeom prst="rect">
            <a:avLst/>
          </a:prstGeom>
          <a:noFill/>
          <a:ln>
            <a:noFill/>
          </a:ln>
        </p:spPr>
        <p:txBody>
          <a:bodyPr wrap="square" lIns="0" tIns="0" rIns="0" bIns="0" anchor="t">
            <a:normAutofit/>
          </a:bodyPr>
          <a:lstStyle/>
          <a:p>
            <a:pPr algn="ctr">
              <a:buNone/>
            </a:pPr>
            <a:r>
              <a:rPr lang="en-US" sz="2400" b="0" i="1" dirty="0">
                <a:solidFill>
                  <a:srgbClr val="000000"/>
                </a:solidFill>
              </a:rPr>
              <a:t>Architecture: organizing one acceptable realization</a:t>
            </a:r>
          </a:p>
        </p:txBody>
      </p:sp>
      <p:sp>
        <p:nvSpPr>
          <p:cNvPr id="9" name="ArchDefStrip"/>
          <p:cNvSpPr/>
          <p:nvPr/>
        </p:nvSpPr>
        <p:spPr>
          <a:xfrm>
            <a:off x="1139868" y="6437376"/>
            <a:ext cx="6989524" cy="297688"/>
          </a:xfrm>
          <a:prstGeom prst="rect">
            <a:avLst/>
          </a:prstGeom>
          <a:solidFill>
            <a:srgbClr val="F5F0E6"/>
          </a:solidFill>
          <a:ln>
            <a:noFill/>
          </a:ln>
        </p:spPr>
        <p:txBody>
          <a:bodyPr wrap="square" lIns="54864" tIns="27432" rIns="54864" bIns="27432" anchor="ctr">
            <a:noAutofit/>
          </a:bodyPr>
          <a:lstStyle/>
          <a:p>
            <a:pPr algn="ctr">
              <a:buNone/>
            </a:pPr>
            <a:r>
              <a:rPr lang="en-US" sz="20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Autofit/>
          </a:bodyPr>
          <a:lstStyle/>
          <a:p>
            <a:pPr algn="ctr">
              <a:buNone/>
            </a:pPr>
            <a:r>
              <a:rPr lang="en-US" sz="16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8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creates possibilities and constraints</a:t>
            </a:r>
          </a:p>
        </p:txBody>
      </p:sp>
      <p:sp>
        <p:nvSpPr>
          <p:cNvPr id="3" name="Slide Number Placeholder 2"/>
          <p:cNvSpPr>
            <a:spLocks noGrp="1"/>
          </p:cNvSpPr>
          <p:nvPr>
            <p:ph type="sldNum" sz="quarter" idx="4"/>
          </p:nvPr>
        </p:nvSpPr>
        <p:spPr/>
        <p:txBody>
          <a:bodyPr/>
          <a:lstStyle/>
          <a:p>
            <a:fld id="{4E1D2A6B-8C3F-4A5D-9E7B-2F6C1D8A9B30}" type="slidenum">
              <a:rPr lang="en-US" smtClean="0"/>
              <a:t>7</a:t>
            </a:fld>
            <a:endParaRPr lang="en-US"/>
          </a:p>
        </p:txBody>
      </p:sp>
      <p:sp>
        <p:nvSpPr>
          <p:cNvPr id="100" name="SketchHeader"/>
          <p:cNvSpPr txBox="1"/>
          <p:nvPr/>
        </p:nvSpPr>
        <p:spPr>
          <a:xfrm>
            <a:off x="258318" y="1150000"/>
            <a:ext cx="4116324" cy="30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BUILDING ARCHITECTURE</a:t>
            </a:r>
          </a:p>
        </p:txBody>
      </p:sp>
      <p:sp>
        <p:nvSpPr>
          <p:cNvPr id="101" name="WallLabel"/>
          <p:cNvSpPr txBox="1"/>
          <p:nvPr/>
        </p:nvSpPr>
        <p:spPr>
          <a:xfrm>
            <a:off x="258318" y="1500000"/>
            <a:ext cx="4116324" cy="28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structural wall</a:t>
            </a:r>
          </a:p>
        </p:txBody>
      </p:sp>
      <p:sp>
        <p:nvSpPr>
          <p:cNvPr id="102" name="WallRect"/>
          <p:cNvSpPr/>
          <p:nvPr/>
        </p:nvSpPr>
        <p:spPr>
          <a:xfrm>
            <a:off x="1366480" y="1850000"/>
            <a:ext cx="1900000" cy="3000000"/>
          </a:xfrm>
          <a:prstGeom prst="rect">
            <a:avLst/>
          </a:prstGeom>
          <a:solidFill>
            <a:srgbClr val="C9B991"/>
          </a:solidFill>
          <a:ln w="19050">
            <a:solidFill>
              <a:srgbClr val="555960"/>
            </a:solidFill>
          </a:ln>
        </p:spPr>
        <p:txBody>
          <a:bodyPr wrap="square" lIns="0" tIns="0" rIns="0" bIns="0" anchor="ctr">
            <a:normAutofit/>
          </a:bodyPr>
          <a:lstStyle/>
          <a:p>
            <a:endParaRPr/>
          </a:p>
        </p:txBody>
      </p:sp>
      <p:sp>
        <p:nvSpPr>
          <p:cNvPr id="103" name="ServiceSpace"/>
          <p:cNvSpPr/>
          <p:nvPr/>
        </p:nvSpPr>
        <p:spPr>
          <a:xfrm>
            <a:off x="1741480" y="2750000"/>
            <a:ext cx="1150000" cy="1200000"/>
          </a:xfrm>
          <a:prstGeom prst="rect">
            <a:avLst/>
          </a:prstGeom>
          <a:solidFill>
            <a:srgbClr val="F5F1E8"/>
          </a:solidFill>
          <a:ln w="12700">
            <a:solidFill>
              <a:srgbClr val="555960"/>
            </a:solidFill>
            <a:prstDash val="dash"/>
          </a:ln>
        </p:spPr>
        <p:txBody>
          <a:bodyPr wrap="square" lIns="27432" tIns="27432" rIns="27432" bIns="27432" anchor="ctr">
            <a:normAutofit/>
          </a:bodyPr>
          <a:lstStyle/>
          <a:p>
            <a:pPr algn="ctr">
              <a:buNone/>
            </a:pPr>
            <a:r>
              <a:rPr lang="en-US" sz="1600" b="0" i="0" dirty="0">
                <a:solidFill>
                  <a:srgbClr val="555960"/>
                </a:solidFill>
              </a:rPr>
              <a:t>service space</a:t>
            </a:r>
          </a:p>
        </p:txBody>
      </p:sp>
      <p:sp>
        <p:nvSpPr>
          <p:cNvPr id="104" name="RoomLeft"/>
          <p:cNvSpPr txBox="1"/>
          <p:nvPr/>
        </p:nvSpPr>
        <p:spPr>
          <a:xfrm>
            <a:off x="258318" y="3175000"/>
            <a:ext cx="1058162" cy="350000"/>
          </a:xfrm>
          <a:prstGeom prst="rect">
            <a:avLst/>
          </a:prstGeom>
          <a:noFill/>
          <a:ln>
            <a:noFill/>
          </a:ln>
        </p:spPr>
        <p:txBody>
          <a:bodyPr wrap="square" lIns="0" tIns="0" rIns="0" bIns="0" anchor="ctr">
            <a:normAutofit/>
          </a:bodyPr>
          <a:lstStyle/>
          <a:p>
            <a:pPr algn="ctr">
              <a:buNone/>
            </a:pPr>
            <a:r>
              <a:rPr lang="en-US" sz="1600" b="0" i="1" dirty="0">
                <a:solidFill>
                  <a:srgbClr val="555960"/>
                </a:solidFill>
              </a:rPr>
              <a:t>room</a:t>
            </a:r>
          </a:p>
        </p:txBody>
      </p:sp>
      <p:sp>
        <p:nvSpPr>
          <p:cNvPr id="105" name="RoomRight"/>
          <p:cNvSpPr txBox="1"/>
          <p:nvPr/>
        </p:nvSpPr>
        <p:spPr>
          <a:xfrm>
            <a:off x="3316480" y="3175000"/>
            <a:ext cx="1058162" cy="350000"/>
          </a:xfrm>
          <a:prstGeom prst="rect">
            <a:avLst/>
          </a:prstGeom>
          <a:noFill/>
          <a:ln>
            <a:noFill/>
          </a:ln>
        </p:spPr>
        <p:txBody>
          <a:bodyPr wrap="square" lIns="0" tIns="0" rIns="0" bIns="0" anchor="ctr">
            <a:normAutofit/>
          </a:bodyPr>
          <a:lstStyle/>
          <a:p>
            <a:pPr algn="ctr">
              <a:buNone/>
            </a:pPr>
            <a:r>
              <a:rPr lang="en-US" sz="1600" b="0" i="1" dirty="0">
                <a:solidFill>
                  <a:srgbClr val="555960"/>
                </a:solidFill>
              </a:rPr>
              <a:t>room</a:t>
            </a:r>
          </a:p>
        </p:txBody>
      </p:sp>
      <p:sp>
        <p:nvSpPr>
          <p:cNvPr id="106" name="SketchCaption"/>
          <p:cNvSpPr txBox="1"/>
          <p:nvPr/>
        </p:nvSpPr>
        <p:spPr>
          <a:xfrm>
            <a:off x="258318" y="5050000"/>
            <a:ext cx="4511040" cy="320000"/>
          </a:xfrm>
          <a:prstGeom prst="rect">
            <a:avLst/>
          </a:prstGeom>
          <a:noFill/>
          <a:ln>
            <a:noFill/>
          </a:ln>
        </p:spPr>
        <p:txBody>
          <a:bodyPr wrap="square" lIns="0" tIns="0" rIns="0" bIns="0" anchor="t">
            <a:normAutofit fontScale="92500"/>
          </a:bodyPr>
          <a:lstStyle/>
          <a:p>
            <a:pPr algn="ctr">
              <a:buNone/>
            </a:pPr>
            <a:r>
              <a:rPr lang="en-US" sz="1600" b="0" i="1" dirty="0">
                <a:solidFill>
                  <a:srgbClr val="555960"/>
                </a:solidFill>
              </a:rPr>
              <a:t>wall location · available depth · permitted penetrations</a:t>
            </a:r>
          </a:p>
        </p:txBody>
      </p:sp>
      <p:sp>
        <p:nvSpPr>
          <p:cNvPr id="107" name="LineCard1"/>
          <p:cNvSpPr/>
          <p:nvPr/>
        </p:nvSpPr>
        <p:spPr>
          <a:xfrm>
            <a:off x="4769358" y="23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The architecture does not specify the plumbing</a:t>
            </a:r>
          </a:p>
        </p:txBody>
      </p:sp>
      <p:sp>
        <p:nvSpPr>
          <p:cNvPr id="108" name="LineCard2"/>
          <p:cNvSpPr/>
          <p:nvPr/>
        </p:nvSpPr>
        <p:spPr>
          <a:xfrm>
            <a:off x="4769358" y="36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It </a:t>
            </a:r>
            <a:r>
              <a:rPr lang="en-US" sz="1800" b="1" i="0" dirty="0">
                <a:solidFill>
                  <a:srgbClr val="8E6F3E"/>
                </a:solidFill>
              </a:rPr>
              <a:t>DOES</a:t>
            </a:r>
            <a:r>
              <a:rPr lang="en-US" sz="1800" b="0" i="0" dirty="0">
                <a:solidFill>
                  <a:srgbClr val="000000"/>
                </a:solidFill>
              </a:rPr>
              <a:t> constrain where the plumbing can go</a:t>
            </a:r>
          </a:p>
        </p:txBody>
      </p:sp>
      <p:sp>
        <p:nvSpPr>
          <p:cNvPr id="109" name="FooterBand"/>
          <p:cNvSpPr/>
          <p:nvPr/>
        </p:nvSpPr>
        <p:spPr>
          <a:xfrm>
            <a:off x="279400" y="5850000"/>
            <a:ext cx="8585200" cy="610000"/>
          </a:xfrm>
          <a:prstGeom prst="rect">
            <a:avLst/>
          </a:prstGeom>
          <a:solidFill>
            <a:srgbClr val="8E6F3E"/>
          </a:solidFill>
          <a:ln>
            <a:noFill/>
          </a:ln>
        </p:spPr>
        <p:txBody>
          <a:bodyPr wrap="square" lIns="109728" tIns="45720" rIns="109728" bIns="45720" anchor="ctr">
            <a:normAutofit/>
          </a:bodyPr>
          <a:lstStyle/>
          <a:p>
            <a:pPr algn="ctr">
              <a:buNone/>
            </a:pPr>
            <a:r>
              <a:rPr lang="en-US" b="1" i="0" dirty="0">
                <a:solidFill>
                  <a:srgbClr val="FFFFFF"/>
                </a:solidFill>
              </a:rPr>
              <a:t>Architecture creates the space within which later design must work.</a:t>
            </a:r>
          </a:p>
        </p:txBody>
      </p:sp>
    </p:spTree>
    <p:extLst>
      <p:ext uri="{BB962C8B-B14F-4D97-AF65-F5344CB8AC3E}">
        <p14:creationId xmlns:p14="http://schemas.microsoft.com/office/powerpoint/2010/main" val="9171610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also affords a division of labor</a:t>
            </a:r>
          </a:p>
        </p:txBody>
      </p:sp>
      <p:sp>
        <p:nvSpPr>
          <p:cNvPr id="3" name="Slide Number Placeholder 2"/>
          <p:cNvSpPr>
            <a:spLocks noGrp="1"/>
          </p:cNvSpPr>
          <p:nvPr>
            <p:ph type="sldNum" sz="quarter" idx="4"/>
          </p:nvPr>
        </p:nvSpPr>
        <p:spPr/>
        <p:txBody>
          <a:bodyPr/>
          <a:lstStyle/>
          <a:p>
            <a:fld id="{7B3E9C4D-2A61-4F8B-A05C-9D1E4B7A2C31}" type="slidenum">
              <a:rPr lang="en-US" smtClean="0"/>
              <a:t>8</a:t>
            </a:fld>
            <a:endParaRPr lang="en-US"/>
          </a:p>
        </p:txBody>
      </p:sp>
      <p:sp>
        <p:nvSpPr>
          <p:cNvPr id="100" name="OrgALbl"/>
          <p:cNvSpPr txBox="1"/>
          <p:nvPr/>
        </p:nvSpPr>
        <p:spPr>
          <a:xfrm>
            <a:off x="700000" y="800000"/>
            <a:ext cx="3600000"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ORGANIZATION A</a:t>
            </a:r>
          </a:p>
        </p:txBody>
      </p:sp>
      <p:sp>
        <p:nvSpPr>
          <p:cNvPr id="101" name="OrgA0"/>
          <p:cNvSpPr/>
          <p:nvPr/>
        </p:nvSpPr>
        <p:spPr>
          <a:xfrm>
            <a:off x="700000" y="13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collect</a:t>
            </a:r>
          </a:p>
        </p:txBody>
      </p:sp>
      <p:sp>
        <p:nvSpPr>
          <p:cNvPr id="102" name="OrgA1"/>
          <p:cNvSpPr/>
          <p:nvPr/>
        </p:nvSpPr>
        <p:spPr>
          <a:xfrm>
            <a:off x="700000" y="19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classify</a:t>
            </a:r>
          </a:p>
        </p:txBody>
      </p:sp>
      <p:sp>
        <p:nvSpPr>
          <p:cNvPr id="103" name="OrgA2"/>
          <p:cNvSpPr/>
          <p:nvPr/>
        </p:nvSpPr>
        <p:spPr>
          <a:xfrm>
            <a:off x="700000" y="25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summarize</a:t>
            </a:r>
          </a:p>
        </p:txBody>
      </p:sp>
      <p:sp>
        <p:nvSpPr>
          <p:cNvPr id="104" name="OrgA3"/>
          <p:cNvSpPr/>
          <p:nvPr/>
        </p:nvSpPr>
        <p:spPr>
          <a:xfrm>
            <a:off x="700000" y="31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advise</a:t>
            </a:r>
          </a:p>
        </p:txBody>
      </p:sp>
      <p:sp>
        <p:nvSpPr>
          <p:cNvPr id="110" name="BraceA1"/>
          <p:cNvSpPr/>
          <p:nvPr/>
        </p:nvSpPr>
        <p:spPr>
          <a:xfrm>
            <a:off x="2960000" y="13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1" name="BraceA2"/>
          <p:cNvSpPr/>
          <p:nvPr/>
        </p:nvSpPr>
        <p:spPr>
          <a:xfrm>
            <a:off x="2960000" y="19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2" name="BraceA3"/>
          <p:cNvSpPr/>
          <p:nvPr/>
        </p:nvSpPr>
        <p:spPr>
          <a:xfrm>
            <a:off x="2960000" y="25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3" name="BraceA4"/>
          <p:cNvSpPr/>
          <p:nvPr/>
        </p:nvSpPr>
        <p:spPr>
          <a:xfrm>
            <a:off x="2960000" y="31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4" name="TeamA1"/>
          <p:cNvSpPr txBox="1"/>
          <p:nvPr/>
        </p:nvSpPr>
        <p:spPr>
          <a:xfrm>
            <a:off x="3220000" y="14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1</a:t>
            </a:r>
          </a:p>
        </p:txBody>
      </p:sp>
      <p:sp>
        <p:nvSpPr>
          <p:cNvPr id="115" name="TeamA2"/>
          <p:cNvSpPr txBox="1"/>
          <p:nvPr/>
        </p:nvSpPr>
        <p:spPr>
          <a:xfrm>
            <a:off x="3220000" y="20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2</a:t>
            </a:r>
          </a:p>
        </p:txBody>
      </p:sp>
      <p:sp>
        <p:nvSpPr>
          <p:cNvPr id="116" name="TeamA3"/>
          <p:cNvSpPr txBox="1"/>
          <p:nvPr/>
        </p:nvSpPr>
        <p:spPr>
          <a:xfrm>
            <a:off x="3220000" y="26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3</a:t>
            </a:r>
          </a:p>
        </p:txBody>
      </p:sp>
      <p:sp>
        <p:nvSpPr>
          <p:cNvPr id="117" name="TeamA4"/>
          <p:cNvSpPr txBox="1"/>
          <p:nvPr/>
        </p:nvSpPr>
        <p:spPr>
          <a:xfrm>
            <a:off x="3220000" y="32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4</a:t>
            </a:r>
          </a:p>
        </p:txBody>
      </p:sp>
      <p:cxnSp>
        <p:nvCxnSpPr>
          <p:cNvPr id="130" name="Div"/>
          <p:cNvCxnSpPr/>
          <p:nvPr/>
        </p:nvCxnSpPr>
        <p:spPr>
          <a:xfrm>
            <a:off x="4780000" y="1300000"/>
            <a:ext cx="0" cy="2400000"/>
          </a:xfrm>
          <a:prstGeom prst="line">
            <a:avLst/>
          </a:prstGeom>
          <a:ln w="12700">
            <a:solidFill>
              <a:srgbClr val="C9B991"/>
            </a:solidFill>
            <a:prstDash val="dash"/>
          </a:ln>
        </p:spPr>
      </p:cxnSp>
      <p:sp>
        <p:nvSpPr>
          <p:cNvPr id="120" name="OrgBLbl"/>
          <p:cNvSpPr txBox="1"/>
          <p:nvPr/>
        </p:nvSpPr>
        <p:spPr>
          <a:xfrm>
            <a:off x="5250000" y="800000"/>
            <a:ext cx="3600000"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ORGANIZATION B</a:t>
            </a:r>
          </a:p>
        </p:txBody>
      </p:sp>
      <p:sp>
        <p:nvSpPr>
          <p:cNvPr id="121" name="OrgB1"/>
          <p:cNvSpPr/>
          <p:nvPr/>
        </p:nvSpPr>
        <p:spPr>
          <a:xfrm>
            <a:off x="5250000" y="13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collect · store</a:t>
            </a:r>
          </a:p>
        </p:txBody>
      </p:sp>
      <p:sp>
        <p:nvSpPr>
          <p:cNvPr id="122" name="OrgB2"/>
          <p:cNvSpPr/>
          <p:nvPr/>
        </p:nvSpPr>
        <p:spPr>
          <a:xfrm>
            <a:off x="5250000" y="19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model · advise</a:t>
            </a:r>
          </a:p>
        </p:txBody>
      </p:sp>
      <p:sp>
        <p:nvSpPr>
          <p:cNvPr id="123" name="OrgB3"/>
          <p:cNvSpPr/>
          <p:nvPr/>
        </p:nvSpPr>
        <p:spPr>
          <a:xfrm>
            <a:off x="5250000" y="2500000"/>
            <a:ext cx="2200000" cy="600000"/>
          </a:xfrm>
          <a:prstGeom prst="rect">
            <a:avLst/>
          </a:prstGeom>
          <a:solidFill>
            <a:srgbClr val="8E6F3E"/>
          </a:solidFill>
          <a:ln w="17526">
            <a:solidFill>
              <a:srgbClr val="8E6F3E"/>
            </a:solidFill>
          </a:ln>
        </p:spPr>
        <p:txBody>
          <a:bodyPr wrap="square" lIns="54864" tIns="27432" rIns="54864" bIns="27432" anchor="ctr">
            <a:normAutofit/>
          </a:bodyPr>
          <a:lstStyle/>
          <a:p>
            <a:pPr algn="ctr">
              <a:buNone/>
            </a:pPr>
            <a:r>
              <a:rPr lang="en-US" sz="2000" b="0" i="0" dirty="0">
                <a:solidFill>
                  <a:srgbClr val="FFFFFF"/>
                </a:solidFill>
              </a:rPr>
              <a:t>sharing</a:t>
            </a:r>
          </a:p>
        </p:txBody>
      </p:sp>
      <p:sp>
        <p:nvSpPr>
          <p:cNvPr id="124" name="BraceB1"/>
          <p:cNvSpPr/>
          <p:nvPr/>
        </p:nvSpPr>
        <p:spPr>
          <a:xfrm>
            <a:off x="7510000" y="13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5" name="BraceB2"/>
          <p:cNvSpPr/>
          <p:nvPr/>
        </p:nvSpPr>
        <p:spPr>
          <a:xfrm>
            <a:off x="7510000" y="19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6" name="BraceB3"/>
          <p:cNvSpPr/>
          <p:nvPr/>
        </p:nvSpPr>
        <p:spPr>
          <a:xfrm>
            <a:off x="7510000" y="25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7" name="TeamB1"/>
          <p:cNvSpPr txBox="1"/>
          <p:nvPr/>
        </p:nvSpPr>
        <p:spPr>
          <a:xfrm>
            <a:off x="7770000" y="14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1</a:t>
            </a:r>
          </a:p>
        </p:txBody>
      </p:sp>
      <p:sp>
        <p:nvSpPr>
          <p:cNvPr id="128" name="TeamB2"/>
          <p:cNvSpPr txBox="1"/>
          <p:nvPr/>
        </p:nvSpPr>
        <p:spPr>
          <a:xfrm>
            <a:off x="7770000" y="20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2</a:t>
            </a:r>
          </a:p>
        </p:txBody>
      </p:sp>
      <p:sp>
        <p:nvSpPr>
          <p:cNvPr id="129" name="TeamB3"/>
          <p:cNvSpPr txBox="1"/>
          <p:nvPr/>
        </p:nvSpPr>
        <p:spPr>
          <a:xfrm>
            <a:off x="7770000" y="26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3</a:t>
            </a:r>
          </a:p>
        </p:txBody>
      </p:sp>
      <p:sp>
        <p:nvSpPr>
          <p:cNvPr id="140" name="Cap"/>
          <p:cNvSpPr txBox="1"/>
          <p:nvPr/>
        </p:nvSpPr>
        <p:spPr>
          <a:xfrm>
            <a:off x="685800" y="4020000"/>
            <a:ext cx="7772400" cy="380000"/>
          </a:xfrm>
          <a:prstGeom prst="rect">
            <a:avLst/>
          </a:prstGeom>
          <a:noFill/>
          <a:ln>
            <a:noFill/>
          </a:ln>
        </p:spPr>
        <p:txBody>
          <a:bodyPr wrap="square" lIns="0" tIns="0" rIns="0" bIns="0" anchor="t">
            <a:normAutofit/>
          </a:bodyPr>
          <a:lstStyle/>
          <a:p>
            <a:pPr algn="ctr">
              <a:buNone/>
            </a:pPr>
            <a:r>
              <a:rPr lang="en-US" sz="1600" b="0" i="1" dirty="0">
                <a:solidFill>
                  <a:srgbClr val="5C4826"/>
                </a:solidFill>
              </a:rPr>
              <a:t>Software boundaries create possible ownership boundaries</a:t>
            </a:r>
          </a:p>
        </p:txBody>
      </p:sp>
      <p:sp>
        <p:nvSpPr>
          <p:cNvPr id="141" name="ConwayBox"/>
          <p:cNvSpPr/>
          <p:nvPr/>
        </p:nvSpPr>
        <p:spPr>
          <a:xfrm>
            <a:off x="1200000" y="4560000"/>
            <a:ext cx="6744000" cy="800000"/>
          </a:xfrm>
          <a:prstGeom prst="rect">
            <a:avLst/>
          </a:prstGeom>
          <a:solidFill>
            <a:srgbClr val="F5F1E8"/>
          </a:solidFill>
          <a:ln w="14097">
            <a:solidFill>
              <a:srgbClr val="C9B991"/>
            </a:solidFill>
          </a:ln>
        </p:spPr>
        <p:txBody>
          <a:bodyPr wrap="square" lIns="137160" tIns="45720" rIns="137160" bIns="45720" anchor="ctr">
            <a:normAutofit/>
          </a:bodyPr>
          <a:lstStyle/>
          <a:p>
            <a:pPr algn="ctr">
              <a:buNone/>
            </a:pPr>
            <a:r>
              <a:rPr lang="en-US" sz="1600" b="1" i="0" dirty="0">
                <a:solidFill>
                  <a:srgbClr val="5C4826"/>
                </a:solidFill>
              </a:rPr>
              <a:t>Conway’s Law</a:t>
            </a:r>
            <a:r>
              <a:rPr lang="en-US" sz="1600" b="0" i="0" dirty="0">
                <a:solidFill>
                  <a:srgbClr val="000000"/>
                </a:solidFill>
              </a:rPr>
              <a:t> — Organizations tend to design systems whose communication structures resemble their own.</a:t>
            </a:r>
          </a:p>
        </p:txBody>
      </p:sp>
      <p:sp>
        <p:nvSpPr>
          <p:cNvPr id="142" name="TakeawayBand"/>
          <p:cNvSpPr/>
          <p:nvPr/>
        </p:nvSpPr>
        <p:spPr>
          <a:xfrm>
            <a:off x="279400" y="5640000"/>
            <a:ext cx="8585200" cy="820000"/>
          </a:xfrm>
          <a:prstGeom prst="rect">
            <a:avLst/>
          </a:prstGeom>
          <a:solidFill>
            <a:srgbClr val="8E6F3E"/>
          </a:solidFill>
          <a:ln>
            <a:noFill/>
          </a:ln>
        </p:spPr>
        <p:txBody>
          <a:bodyPr wrap="square" lIns="109728" tIns="45720" rIns="109728" bIns="45720" anchor="ctr">
            <a:normAutofit/>
          </a:bodyPr>
          <a:lstStyle/>
          <a:p>
            <a:pPr algn="ctr">
              <a:buNone/>
            </a:pPr>
            <a:r>
              <a:rPr lang="en-US" sz="2200" b="1" i="0" dirty="0">
                <a:solidFill>
                  <a:srgbClr val="FFFFFF"/>
                </a:solidFill>
              </a:rPr>
              <a:t>Architecture allocates coupling in software </a:t>
            </a:r>
          </a:p>
          <a:p>
            <a:pPr algn="ctr">
              <a:buNone/>
            </a:pPr>
            <a:r>
              <a:rPr lang="en-US" sz="2200" b="1" i="0" dirty="0">
                <a:solidFill>
                  <a:srgbClr val="FFFFFF"/>
                </a:solidFill>
              </a:rPr>
              <a:t>and coordination among people.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4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4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4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4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400"/>
                                        <p:tgtEl>
                                          <p:spTgt spid="114"/>
                                        </p:tgtEl>
                                      </p:cBhvr>
                                    </p:animEffect>
                                  </p:childTnLst>
                                </p:cTn>
                              </p:par>
                              <p:par>
                                <p:cTn id="20" presetID="10" presetClass="entr" presetSubtype="0" fill="hold"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400"/>
                                        <p:tgtEl>
                                          <p:spTgt spid="115"/>
                                        </p:tgtEl>
                                      </p:cBhvr>
                                    </p:animEffect>
                                  </p:childTnLst>
                                </p:cTn>
                              </p:par>
                              <p:par>
                                <p:cTn id="23" presetID="10" presetClass="entr" presetSubtype="0" fill="hold" nodeType="withEffect">
                                  <p:stCondLst>
                                    <p:cond delay="0"/>
                                  </p:stCondLst>
                                  <p:childTnLst>
                                    <p:set>
                                      <p:cBhvr>
                                        <p:cTn id="24" dur="1" fill="hold">
                                          <p:stCondLst>
                                            <p:cond delay="0"/>
                                          </p:stCondLst>
                                        </p:cTn>
                                        <p:tgtEl>
                                          <p:spTgt spid="116"/>
                                        </p:tgtEl>
                                        <p:attrNameLst>
                                          <p:attrName>style.visibility</p:attrName>
                                        </p:attrNameLst>
                                      </p:cBhvr>
                                      <p:to>
                                        <p:strVal val="visible"/>
                                      </p:to>
                                    </p:set>
                                    <p:animEffect transition="in" filter="fade">
                                      <p:cBhvr>
                                        <p:cTn id="25" dur="400"/>
                                        <p:tgtEl>
                                          <p:spTgt spid="116"/>
                                        </p:tgtEl>
                                      </p:cBhvr>
                                    </p:animEffect>
                                  </p:childTnLst>
                                </p:cTn>
                              </p:par>
                              <p:par>
                                <p:cTn id="26" presetID="10" presetClass="entr" presetSubtype="0" fill="hold" nodeType="withEffect">
                                  <p:stCondLst>
                                    <p:cond delay="0"/>
                                  </p:stCondLst>
                                  <p:childTnLst>
                                    <p:set>
                                      <p:cBhvr>
                                        <p:cTn id="27" dur="1" fill="hold">
                                          <p:stCondLst>
                                            <p:cond delay="0"/>
                                          </p:stCondLst>
                                        </p:cTn>
                                        <p:tgtEl>
                                          <p:spTgt spid="117"/>
                                        </p:tgtEl>
                                        <p:attrNameLst>
                                          <p:attrName>style.visibility</p:attrName>
                                        </p:attrNameLst>
                                      </p:cBhvr>
                                      <p:to>
                                        <p:strVal val="visible"/>
                                      </p:to>
                                    </p:set>
                                    <p:animEffect transition="in" filter="fade">
                                      <p:cBhvr>
                                        <p:cTn id="28" dur="400"/>
                                        <p:tgtEl>
                                          <p:spTgt spid="117"/>
                                        </p:tgtEl>
                                      </p:cBhvr>
                                    </p:animEffect>
                                  </p:childTnLst>
                                </p:cTn>
                              </p:par>
                              <p:par>
                                <p:cTn id="29" presetID="10" presetClass="entr" presetSubtype="0" fill="hold" nodeType="withEffect">
                                  <p:stCondLst>
                                    <p:cond delay="0"/>
                                  </p:stCondLst>
                                  <p:childTnLst>
                                    <p:set>
                                      <p:cBhvr>
                                        <p:cTn id="30" dur="1" fill="hold">
                                          <p:stCondLst>
                                            <p:cond delay="0"/>
                                          </p:stCondLst>
                                        </p:cTn>
                                        <p:tgtEl>
                                          <p:spTgt spid="140"/>
                                        </p:tgtEl>
                                        <p:attrNameLst>
                                          <p:attrName>style.visibility</p:attrName>
                                        </p:attrNameLst>
                                      </p:cBhvr>
                                      <p:to>
                                        <p:strVal val="visible"/>
                                      </p:to>
                                    </p:set>
                                    <p:animEffect transition="in" filter="fade">
                                      <p:cBhvr>
                                        <p:cTn id="31" dur="400"/>
                                        <p:tgtEl>
                                          <p:spTgt spid="14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4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4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21"/>
                                        </p:tgtEl>
                                        <p:attrNameLst>
                                          <p:attrName>style.visibility</p:attrName>
                                        </p:attrNameLst>
                                      </p:cBhvr>
                                      <p:to>
                                        <p:strVal val="visible"/>
                                      </p:to>
                                    </p:set>
                                    <p:animEffect transition="in" filter="fade">
                                      <p:cBhvr>
                                        <p:cTn id="42" dur="400"/>
                                        <p:tgtEl>
                                          <p:spTgt spid="121"/>
                                        </p:tgtEl>
                                      </p:cBhvr>
                                    </p:animEffect>
                                  </p:childTnLst>
                                </p:cTn>
                              </p:par>
                              <p:par>
                                <p:cTn id="43" presetID="10"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animEffect transition="in" filter="fade">
                                      <p:cBhvr>
                                        <p:cTn id="45" dur="400"/>
                                        <p:tgtEl>
                                          <p:spTgt spid="122"/>
                                        </p:tgtEl>
                                      </p:cBhvr>
                                    </p:animEffect>
                                  </p:childTnLst>
                                </p:cTn>
                              </p:par>
                              <p:par>
                                <p:cTn id="46" presetID="10" presetClass="entr" presetSubtype="0" fill="hold" nodeType="withEffect">
                                  <p:stCondLst>
                                    <p:cond delay="0"/>
                                  </p:stCondLst>
                                  <p:childTnLst>
                                    <p:set>
                                      <p:cBhvr>
                                        <p:cTn id="47" dur="1" fill="hold">
                                          <p:stCondLst>
                                            <p:cond delay="0"/>
                                          </p:stCondLst>
                                        </p:cTn>
                                        <p:tgtEl>
                                          <p:spTgt spid="123"/>
                                        </p:tgtEl>
                                        <p:attrNameLst>
                                          <p:attrName>style.visibility</p:attrName>
                                        </p:attrNameLst>
                                      </p:cBhvr>
                                      <p:to>
                                        <p:strVal val="visible"/>
                                      </p:to>
                                    </p:set>
                                    <p:animEffect transition="in" filter="fade">
                                      <p:cBhvr>
                                        <p:cTn id="48" dur="400"/>
                                        <p:tgtEl>
                                          <p:spTgt spid="123"/>
                                        </p:tgtEl>
                                      </p:cBhvr>
                                    </p:animEffect>
                                  </p:childTnLst>
                                </p:cTn>
                              </p:par>
                              <p:par>
                                <p:cTn id="49" presetID="10" presetClass="entr" presetSubtype="0" fill="hold" nodeType="withEffect">
                                  <p:stCondLst>
                                    <p:cond delay="0"/>
                                  </p:stCondLst>
                                  <p:childTnLst>
                                    <p:set>
                                      <p:cBhvr>
                                        <p:cTn id="50" dur="1" fill="hold">
                                          <p:stCondLst>
                                            <p:cond delay="0"/>
                                          </p:stCondLst>
                                        </p:cTn>
                                        <p:tgtEl>
                                          <p:spTgt spid="124"/>
                                        </p:tgtEl>
                                        <p:attrNameLst>
                                          <p:attrName>style.visibility</p:attrName>
                                        </p:attrNameLst>
                                      </p:cBhvr>
                                      <p:to>
                                        <p:strVal val="visible"/>
                                      </p:to>
                                    </p:set>
                                    <p:animEffect transition="in" filter="fade">
                                      <p:cBhvr>
                                        <p:cTn id="51" dur="400"/>
                                        <p:tgtEl>
                                          <p:spTgt spid="124"/>
                                        </p:tgtEl>
                                      </p:cBhvr>
                                    </p:animEffect>
                                  </p:childTnLst>
                                </p:cTn>
                              </p:par>
                              <p:par>
                                <p:cTn id="52" presetID="10" presetClass="entr" presetSubtype="0" fill="hold" nodeType="withEffect">
                                  <p:stCondLst>
                                    <p:cond delay="0"/>
                                  </p:stCondLst>
                                  <p:childTnLst>
                                    <p:set>
                                      <p:cBhvr>
                                        <p:cTn id="53" dur="1" fill="hold">
                                          <p:stCondLst>
                                            <p:cond delay="0"/>
                                          </p:stCondLst>
                                        </p:cTn>
                                        <p:tgtEl>
                                          <p:spTgt spid="125"/>
                                        </p:tgtEl>
                                        <p:attrNameLst>
                                          <p:attrName>style.visibility</p:attrName>
                                        </p:attrNameLst>
                                      </p:cBhvr>
                                      <p:to>
                                        <p:strVal val="visible"/>
                                      </p:to>
                                    </p:set>
                                    <p:animEffect transition="in" filter="fade">
                                      <p:cBhvr>
                                        <p:cTn id="54" dur="400"/>
                                        <p:tgtEl>
                                          <p:spTgt spid="125"/>
                                        </p:tgtEl>
                                      </p:cBhvr>
                                    </p:animEffect>
                                  </p:childTnLst>
                                </p:cTn>
                              </p:par>
                              <p:par>
                                <p:cTn id="55" presetID="10" presetClass="entr" presetSubtype="0" fill="hold" nodeType="withEffect">
                                  <p:stCondLst>
                                    <p:cond delay="0"/>
                                  </p:stCondLst>
                                  <p:childTnLst>
                                    <p:set>
                                      <p:cBhvr>
                                        <p:cTn id="56" dur="1" fill="hold">
                                          <p:stCondLst>
                                            <p:cond delay="0"/>
                                          </p:stCondLst>
                                        </p:cTn>
                                        <p:tgtEl>
                                          <p:spTgt spid="126"/>
                                        </p:tgtEl>
                                        <p:attrNameLst>
                                          <p:attrName>style.visibility</p:attrName>
                                        </p:attrNameLst>
                                      </p:cBhvr>
                                      <p:to>
                                        <p:strVal val="visible"/>
                                      </p:to>
                                    </p:set>
                                    <p:animEffect transition="in" filter="fade">
                                      <p:cBhvr>
                                        <p:cTn id="57" dur="400"/>
                                        <p:tgtEl>
                                          <p:spTgt spid="126"/>
                                        </p:tgtEl>
                                      </p:cBhvr>
                                    </p:animEffect>
                                  </p:childTnLst>
                                </p:cTn>
                              </p:par>
                              <p:par>
                                <p:cTn id="58" presetID="10" presetClass="entr" presetSubtype="0" fill="hold" nodeType="withEffect">
                                  <p:stCondLst>
                                    <p:cond delay="0"/>
                                  </p:stCondLst>
                                  <p:childTnLst>
                                    <p:set>
                                      <p:cBhvr>
                                        <p:cTn id="59" dur="1" fill="hold">
                                          <p:stCondLst>
                                            <p:cond delay="0"/>
                                          </p:stCondLst>
                                        </p:cTn>
                                        <p:tgtEl>
                                          <p:spTgt spid="127"/>
                                        </p:tgtEl>
                                        <p:attrNameLst>
                                          <p:attrName>style.visibility</p:attrName>
                                        </p:attrNameLst>
                                      </p:cBhvr>
                                      <p:to>
                                        <p:strVal val="visible"/>
                                      </p:to>
                                    </p:set>
                                    <p:animEffect transition="in" filter="fade">
                                      <p:cBhvr>
                                        <p:cTn id="60" dur="400"/>
                                        <p:tgtEl>
                                          <p:spTgt spid="127"/>
                                        </p:tgtEl>
                                      </p:cBhvr>
                                    </p:animEffect>
                                  </p:childTnLst>
                                </p:cTn>
                              </p:par>
                              <p:par>
                                <p:cTn id="61" presetID="10" presetClass="entr" presetSubtype="0" fill="hold" nodeType="withEffect">
                                  <p:stCondLst>
                                    <p:cond delay="0"/>
                                  </p:stCondLst>
                                  <p:childTnLst>
                                    <p:set>
                                      <p:cBhvr>
                                        <p:cTn id="62" dur="1" fill="hold">
                                          <p:stCondLst>
                                            <p:cond delay="0"/>
                                          </p:stCondLst>
                                        </p:cTn>
                                        <p:tgtEl>
                                          <p:spTgt spid="128"/>
                                        </p:tgtEl>
                                        <p:attrNameLst>
                                          <p:attrName>style.visibility</p:attrName>
                                        </p:attrNameLst>
                                      </p:cBhvr>
                                      <p:to>
                                        <p:strVal val="visible"/>
                                      </p:to>
                                    </p:set>
                                    <p:animEffect transition="in" filter="fade">
                                      <p:cBhvr>
                                        <p:cTn id="63" dur="400"/>
                                        <p:tgtEl>
                                          <p:spTgt spid="128"/>
                                        </p:tgtEl>
                                      </p:cBhvr>
                                    </p:animEffect>
                                  </p:childTnLst>
                                </p:cTn>
                              </p:par>
                              <p:par>
                                <p:cTn id="64" presetID="10" presetClass="entr" presetSubtype="0" fill="hold" nodeType="withEffect">
                                  <p:stCondLst>
                                    <p:cond delay="0"/>
                                  </p:stCondLst>
                                  <p:childTnLst>
                                    <p:set>
                                      <p:cBhvr>
                                        <p:cTn id="65" dur="1" fill="hold">
                                          <p:stCondLst>
                                            <p:cond delay="0"/>
                                          </p:stCondLst>
                                        </p:cTn>
                                        <p:tgtEl>
                                          <p:spTgt spid="129"/>
                                        </p:tgtEl>
                                        <p:attrNameLst>
                                          <p:attrName>style.visibility</p:attrName>
                                        </p:attrNameLst>
                                      </p:cBhvr>
                                      <p:to>
                                        <p:strVal val="visible"/>
                                      </p:to>
                                    </p:set>
                                    <p:animEffect transition="in" filter="fade">
                                      <p:cBhvr>
                                        <p:cTn id="66" dur="400"/>
                                        <p:tgtEl>
                                          <p:spTgt spid="129"/>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41"/>
                                        </p:tgtEl>
                                        <p:attrNameLst>
                                          <p:attrName>style.visibility</p:attrName>
                                        </p:attrNameLst>
                                      </p:cBhvr>
                                      <p:to>
                                        <p:strVal val="visible"/>
                                      </p:to>
                                    </p:set>
                                    <p:animEffect transition="in" filter="fade">
                                      <p:cBhvr>
                                        <p:cTn id="71" dur="400"/>
                                        <p:tgtEl>
                                          <p:spTgt spid="141"/>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42"/>
                                        </p:tgtEl>
                                        <p:attrNameLst>
                                          <p:attrName>style.visibility</p:attrName>
                                        </p:attrNameLst>
                                      </p:cBhvr>
                                      <p:to>
                                        <p:strVal val="visible"/>
                                      </p:to>
                                    </p:set>
                                    <p:animEffect transition="in" filter="fade">
                                      <p:cBhvr>
                                        <p:cTn id="76" dur="4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architectures?</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among competing priorities.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Weighted sums are not a decision-making approach</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2231112" y="5580349"/>
            <a:ext cx="5328887" cy="900001"/>
          </a:xfrm>
          <a:prstGeom prst="rect">
            <a:avLst/>
          </a:prstGeom>
          <a:noFill/>
          <a:ln>
            <a:noFill/>
          </a:ln>
        </p:spPr>
        <p:txBody>
          <a:bodyPr wrap="square" lIns="0" tIns="0" rIns="0" bIns="0" anchor="t">
            <a:normAutofit/>
          </a:bodyPr>
          <a:lstStyle/>
          <a:p>
            <a:pPr algn="ctr">
              <a:buNone/>
            </a:pPr>
            <a:r>
              <a:rPr lang="en-US" sz="2400" b="0" i="1" dirty="0">
                <a:solidFill>
                  <a:srgbClr val="000000"/>
                </a:solidFill>
              </a:rPr>
              <a:t>A number in a spreadsheet does not mean a valid decision was made.</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6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Autofit/>
          </a:bodyPr>
          <a:lstStyle/>
          <a:p>
            <a:pPr algn="ctr">
              <a:buNone/>
            </a:pPr>
            <a:r>
              <a:rPr lang="en-US" sz="1600" b="1" i="0" dirty="0">
                <a:solidFill>
                  <a:srgbClr val="B23B3B"/>
                </a:solidFill>
              </a:rPr>
              <a:t>WHAT IS</a:t>
            </a:r>
          </a:p>
          <a:p>
            <a:pPr algn="ctr">
              <a:spcBef>
                <a:spcPts val="300"/>
              </a:spcBef>
              <a:buNone/>
            </a:pPr>
            <a:r>
              <a:rPr lang="en-US" sz="16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400" b="1" i="0" dirty="0">
                <a:solidFill>
                  <a:srgbClr val="B23B3B"/>
                </a:solidFill>
              </a:rPr>
              <a:t>WHY MAY COST</a:t>
            </a:r>
          </a:p>
          <a:p>
            <a:pPr algn="ctr">
              <a:spcBef>
                <a:spcPts val="300"/>
              </a:spcBef>
              <a:buNone/>
            </a:pPr>
            <a:r>
              <a:rPr lang="en-US" sz="1400" b="1" i="0" dirty="0">
                <a:solidFill>
                  <a:srgbClr val="B23B3B"/>
                </a:solidFill>
              </a:rPr>
              <a:t>COMPENSATE FOR</a:t>
            </a:r>
          </a:p>
          <a:p>
            <a:pPr algn="ctr">
              <a:spcBef>
                <a:spcPts val="300"/>
              </a:spcBef>
              <a:buNone/>
            </a:pPr>
            <a:r>
              <a:rPr lang="en-US" sz="14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589452" y="1540000"/>
            <a:ext cx="0" cy="2950000"/>
          </a:xfrm>
          <a:prstGeom prst="line">
            <a:avLst/>
          </a:prstGeom>
          <a:ln w="28575">
            <a:solidFill>
              <a:srgbClr val="C9B991"/>
            </a:solidFill>
            <a:prstDash val="dash"/>
          </a:ln>
        </p:spPr>
      </p:cxnSp>
      <p:sp>
        <p:nvSpPr>
          <p:cNvPr id="107" name="S2Lbl"/>
          <p:cNvSpPr txBox="1"/>
          <p:nvPr/>
        </p:nvSpPr>
        <p:spPr>
          <a:xfrm>
            <a:off x="4933202" y="1299552"/>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974352" y="4651250"/>
            <a:ext cx="4062500" cy="0"/>
          </a:xfrm>
          <a:prstGeom prst="line">
            <a:avLst/>
          </a:prstGeom>
          <a:ln w="53577">
            <a:solidFill>
              <a:srgbClr val="8E6F3E"/>
            </a:solidFill>
            <a:tailEnd type="triangle" w="med" len="med"/>
          </a:ln>
        </p:spPr>
      </p:cxnSp>
      <p:cxnSp>
        <p:nvCxnSpPr>
          <p:cNvPr id="109" name="AxY"/>
          <p:cNvCxnSpPr/>
          <p:nvPr/>
        </p:nvCxnSpPr>
        <p:spPr>
          <a:xfrm flipV="1">
            <a:off x="4974352" y="1713750"/>
            <a:ext cx="0" cy="2937500"/>
          </a:xfrm>
          <a:prstGeom prst="line">
            <a:avLst/>
          </a:prstGeom>
          <a:ln w="53577">
            <a:solidFill>
              <a:srgbClr val="8E6F3E"/>
            </a:solidFill>
            <a:tailEnd type="triangle" w="med" len="med"/>
          </a:ln>
        </p:spPr>
      </p:cxnSp>
      <p:sp>
        <p:nvSpPr>
          <p:cNvPr id="110" name="AxXLbl"/>
          <p:cNvSpPr txBox="1"/>
          <p:nvPr/>
        </p:nvSpPr>
        <p:spPr>
          <a:xfrm>
            <a:off x="7671010" y="4729777"/>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114273" y="3076251"/>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974352" y="258875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730602" y="247000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986852" y="222625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730602" y="184500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986852" y="160125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730602" y="353250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730602" y="353250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986852" y="328875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986852" y="328875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155602" y="402625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a:p>
            <a:endParaRPr lang="en-US"/>
          </a:p>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cannot resolve this tradeoff.</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165000" y="2492614"/>
            <a:ext cx="1540000" cy="70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UNCERTAIN CHOICE</a:t>
            </a:r>
          </a:p>
        </p:txBody>
      </p:sp>
      <p:cxnSp>
        <p:nvCxnSpPr>
          <p:cNvPr id="101" name="A1"/>
          <p:cNvCxnSpPr>
            <a:cxnSpLocks/>
            <a:stCxn id="100" idx="3"/>
            <a:endCxn id="102" idx="1"/>
          </p:cNvCxnSpPr>
          <p:nvPr/>
        </p:nvCxnSpPr>
        <p:spPr>
          <a:xfrm>
            <a:off x="1705000" y="2842614"/>
            <a:ext cx="332504" cy="17079"/>
          </a:xfrm>
          <a:prstGeom prst="line">
            <a:avLst/>
          </a:prstGeom>
          <a:ln w="43720">
            <a:solidFill>
              <a:srgbClr val="8E6F3E"/>
            </a:solidFill>
            <a:tailEnd type="triangle" w="med" len="med"/>
          </a:ln>
        </p:spPr>
      </p:cxnSp>
      <p:sp>
        <p:nvSpPr>
          <p:cNvPr id="102" name="Diamond"/>
          <p:cNvSpPr/>
          <p:nvPr/>
        </p:nvSpPr>
        <p:spPr>
          <a:xfrm>
            <a:off x="2037504" y="1609385"/>
            <a:ext cx="2374991" cy="2500615"/>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a:cxnSpLocks/>
            <a:stCxn id="102" idx="2"/>
            <a:endCxn id="105" idx="0"/>
          </p:cNvCxnSpPr>
          <p:nvPr/>
        </p:nvCxnSpPr>
        <p:spPr>
          <a:xfrm flipH="1">
            <a:off x="3224999" y="4110000"/>
            <a:ext cx="1" cy="340000"/>
          </a:xfrm>
          <a:prstGeom prst="line">
            <a:avLst/>
          </a:prstGeom>
          <a:ln w="43720">
            <a:solidFill>
              <a:srgbClr val="8E6F3E"/>
            </a:solidFill>
            <a:tailEnd type="triangle" w="med" len="med"/>
          </a:ln>
        </p:spPr>
      </p:cxnSp>
      <p:sp>
        <p:nvSpPr>
          <p:cNvPr id="104" name="NoLbl"/>
          <p:cNvSpPr txBox="1"/>
          <p:nvPr/>
        </p:nvSpPr>
        <p:spPr>
          <a:xfrm>
            <a:off x="3299999" y="4135833"/>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624999"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a:cxnSpLocks/>
            <a:stCxn id="102" idx="3"/>
            <a:endCxn id="108" idx="1"/>
          </p:cNvCxnSpPr>
          <p:nvPr/>
        </p:nvCxnSpPr>
        <p:spPr>
          <a:xfrm flipV="1">
            <a:off x="4412495" y="2850000"/>
            <a:ext cx="487505" cy="9693"/>
          </a:xfrm>
          <a:prstGeom prst="line">
            <a:avLst/>
          </a:prstGeom>
          <a:ln w="43720">
            <a:solidFill>
              <a:srgbClr val="8E6F3E"/>
            </a:solidFill>
            <a:tailEnd type="triangle" w="med" len="med"/>
          </a:ln>
        </p:spPr>
      </p:cxnSp>
      <p:sp>
        <p:nvSpPr>
          <p:cNvPr id="107" name="YesLbl"/>
          <p:cNvSpPr txBox="1"/>
          <p:nvPr/>
        </p:nvSpPr>
        <p:spPr>
          <a:xfrm>
            <a:off x="4412495" y="250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109302" y="2492614"/>
            <a:ext cx="929000" cy="700000"/>
          </a:xfrm>
          <a:prstGeom prst="rect">
            <a:avLst/>
          </a:prstGeom>
          <a:solidFill>
            <a:srgbClr val="8E6F3E"/>
          </a:solidFill>
          <a:ln>
            <a:noFill/>
          </a:ln>
        </p:spPr>
        <p:txBody>
          <a:bodyPr wrap="square" lIns="54864" tIns="27432" rIns="54864" bIns="27432" anchor="ctr">
            <a:noAutofit/>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a:cxnSpLocks/>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a:cxnSpLocks/>
          </p:cNvCxnSpPr>
          <p:nvPr/>
        </p:nvCxnSpPr>
        <p:spPr>
          <a:xfrm>
            <a:off x="7900000" y="2850000"/>
            <a:ext cx="150000" cy="0"/>
          </a:xfrm>
          <a:prstGeom prst="line">
            <a:avLst/>
          </a:prstGeom>
          <a:ln w="43720">
            <a:solidFill>
              <a:srgbClr val="8E6F3E"/>
            </a:solidFill>
            <a:tailEnd type="triangle" w="med" len="med"/>
          </a:ln>
        </p:spPr>
      </p:cxnSp>
      <p:cxnSp>
        <p:nvCxnSpPr>
          <p:cNvPr id="118" name="CA2"/>
          <p:cNvCxnSpPr>
            <a:cxnSpLocks/>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fontScale="92500" lnSpcReduction="20000"/>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49999"/>
            <a:ext cx="7772400" cy="1589573"/>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information about their consequences from use in other contexts</a:t>
            </a:r>
          </a:p>
          <a:p>
            <a:pPr algn="ctr">
              <a:buNone/>
            </a:pPr>
            <a:endParaRPr lang="en-US" sz="2400" b="0" i="1" dirty="0">
              <a:solidFill>
                <a:srgbClr val="000000"/>
              </a:solidFill>
            </a:endParaRPr>
          </a:p>
          <a:p>
            <a:pPr algn="ctr">
              <a:buNone/>
            </a:pPr>
            <a:r>
              <a:rPr lang="en-US" sz="2400" b="0" i="1" dirty="0">
                <a:solidFill>
                  <a:srgbClr val="000000"/>
                </a:solidFill>
              </a:rPr>
              <a:t>(though not guaranteed in THIS context)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8509043" cy="638175"/>
          </a:xfrm>
        </p:spPr>
        <p:txBody>
          <a:bodyPr>
            <a:normAutofit fontScale="90000"/>
          </a:bodyPr>
          <a:lstStyle/>
          <a:p>
            <a:pPr algn="l">
              <a:buNone/>
              <a:defRPr b="0"/>
            </a:pPr>
            <a:r>
              <a:rPr lang="en-US" sz="2800" b="0" i="0" dirty="0">
                <a:solidFill>
                  <a:srgbClr val="000000"/>
                </a:solidFill>
              </a:rPr>
              <a:t>Shall we layer communication paths? How strictly?</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fontScale="92500"/>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lnSpcReduction="10000"/>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lnSpcReduction="10000"/>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6852" cy="638175"/>
          </a:xfrm>
        </p:spPr>
        <p:txBody>
          <a:bodyPr>
            <a:normAutofit fontScale="90000"/>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none" lIns="0" tIns="0" rIns="0" bIns="0" anchor="t">
            <a:normAutofit/>
          </a:bodyPr>
          <a:lstStyle/>
          <a:p>
            <a:pPr algn="ctr">
              <a:buNone/>
            </a:pPr>
            <a:r>
              <a:rPr lang="en-US" sz="15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none" lIns="0" tIns="0" rIns="0" bIns="0" anchor="t">
            <a:normAutofit/>
          </a:bodyPr>
          <a:lstStyle/>
          <a:p>
            <a:pPr algn="ctr">
              <a:buNone/>
            </a:pPr>
            <a:r>
              <a:rPr lang="en-US" sz="15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lnSpcReduction="10000"/>
          </a:bodyPr>
          <a:lstStyle/>
          <a:p>
            <a:pPr algn="l">
              <a:buNone/>
            </a:pPr>
            <a:r>
              <a:rPr lang="en-US" sz="1700" b="1" i="0" dirty="0">
                <a:solidFill>
                  <a:srgbClr val="5C4826"/>
                </a:solidFill>
              </a:rPr>
              <a:t>buys — </a:t>
            </a:r>
            <a:r>
              <a:rPr lang="en-US" sz="1700" b="0" i="0" dirty="0">
                <a:solidFill>
                  <a:srgbClr val="000000"/>
                </a:solidFill>
              </a:rPr>
              <a:t>explicit flow, local stage dependencies, incremental processing</a:t>
            </a:r>
          </a:p>
          <a:p>
            <a:pPr algn="l">
              <a:spcBef>
                <a:spcPts val="600"/>
              </a:spcBef>
              <a:buNone/>
            </a:pPr>
            <a:r>
              <a:rPr lang="en-US" sz="1700" b="1" i="0" dirty="0">
                <a:solidFill>
                  <a:srgbClr val="555960"/>
                </a:solidFill>
              </a:rPr>
              <a:t>costs — </a:t>
            </a:r>
            <a:r>
              <a:rPr lang="en-US" sz="17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lnSpcReduction="10000"/>
          </a:bodyPr>
          <a:lstStyle/>
          <a:p>
            <a:pPr algn="l">
              <a:buNone/>
            </a:pPr>
            <a:r>
              <a:rPr lang="en-US" sz="1700" b="1" i="0" dirty="0">
                <a:solidFill>
                  <a:srgbClr val="5C4826"/>
                </a:solidFill>
              </a:rPr>
              <a:t>buys — </a:t>
            </a:r>
            <a:r>
              <a:rPr lang="en-US" sz="1700" b="0" i="0" dirty="0">
                <a:solidFill>
                  <a:srgbClr val="000000"/>
                </a:solidFill>
              </a:rPr>
              <a:t>authoritative shared state, integration</a:t>
            </a:r>
          </a:p>
          <a:p>
            <a:pPr algn="l">
              <a:spcBef>
                <a:spcPts val="600"/>
              </a:spcBef>
              <a:buNone/>
            </a:pPr>
            <a:r>
              <a:rPr lang="en-US" sz="1700" b="1" i="0" dirty="0">
                <a:solidFill>
                  <a:srgbClr val="555960"/>
                </a:solidFill>
              </a:rPr>
              <a:t>costs — </a:t>
            </a:r>
            <a:r>
              <a:rPr lang="en-US" sz="17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92500" lnSpcReduction="10000"/>
          </a:bodyPr>
          <a:lstStyle/>
          <a:p>
            <a:pPr algn="r">
              <a:buNone/>
            </a:pPr>
            <a:r>
              <a:rPr lang="en-US" sz="17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1800" b="1" i="0" dirty="0">
                <a:solidFill>
                  <a:srgbClr val="5C4826"/>
                </a:solidFill>
              </a:rPr>
              <a:t>buys — </a:t>
            </a:r>
            <a:r>
              <a:rPr lang="en-US" sz="1800" b="0" i="0" dirty="0">
                <a:solidFill>
                  <a:srgbClr val="000000"/>
                </a:solidFill>
              </a:rPr>
              <a:t>immediate coordination, clear request/response semantics</a:t>
            </a:r>
          </a:p>
          <a:p>
            <a:pPr algn="l">
              <a:spcBef>
                <a:spcPts val="600"/>
              </a:spcBef>
              <a:buNone/>
            </a:pPr>
            <a:r>
              <a:rPr lang="en-US" sz="1800" b="1" i="0" dirty="0">
                <a:solidFill>
                  <a:srgbClr val="555960"/>
                </a:solidFill>
              </a:rPr>
              <a:t>costs — </a:t>
            </a:r>
            <a:r>
              <a:rPr lang="en-US" sz="18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1800" b="1" i="0" dirty="0">
                <a:solidFill>
                  <a:srgbClr val="5C4826"/>
                </a:solidFill>
              </a:rPr>
              <a:t>buys — </a:t>
            </a:r>
            <a:r>
              <a:rPr lang="en-US" sz="1800" b="0" i="0" dirty="0">
                <a:solidFill>
                  <a:srgbClr val="000000"/>
                </a:solidFill>
              </a:rPr>
              <a:t>producer/consumer decoupling; adding consumers is easy</a:t>
            </a:r>
          </a:p>
          <a:p>
            <a:pPr algn="l">
              <a:spcBef>
                <a:spcPts val="600"/>
              </a:spcBef>
              <a:buNone/>
            </a:pPr>
            <a:r>
              <a:rPr lang="en-US" sz="1800" b="1" i="0" dirty="0">
                <a:solidFill>
                  <a:srgbClr val="555960"/>
                </a:solidFill>
              </a:rPr>
              <a:t>costs — </a:t>
            </a:r>
            <a:r>
              <a:rPr lang="en-US" sz="18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17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2852" cy="638175"/>
          </a:xfrm>
        </p:spPr>
        <p:txBody>
          <a:bodyPr>
            <a:normAutofit fontScale="90000"/>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fontScale="92500" lnSpcReduction="10000"/>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17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fontScale="85000" lnSpcReduction="10000"/>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give us expectations, not measurements</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graphicFrame>
        <p:nvGraphicFramePr>
          <p:cNvPr id="150" name="ComparisonTable"/>
          <p:cNvGraphicFramePr>
            <a:graphicFrameLocks noGrp="1"/>
          </p:cNvGraphicFramePr>
          <p:nvPr>
            <p:extLst>
              <p:ext uri="{D42A27DB-BD31-4B8C-83A1-F6EECF244321}">
                <p14:modId xmlns:p14="http://schemas.microsoft.com/office/powerpoint/2010/main" val="2967546854"/>
              </p:ext>
            </p:extLst>
          </p:nvPr>
        </p:nvGraphicFramePr>
        <p:xfrm>
          <a:off x="286992" y="1413301"/>
          <a:ext cx="8570016" cy="3580000"/>
        </p:xfrm>
        <a:graphic>
          <a:graphicData uri="http://schemas.openxmlformats.org/drawingml/2006/table">
            <a:tbl>
              <a:tblPr firstRow="1">
                <a:tableStyleId>{5C22544A-7EE6-4342-B048-85BDC9FD1C3A}</a:tableStyleId>
              </a:tblPr>
              <a:tblGrid>
                <a:gridCol w="2646291">
                  <a:extLst>
                    <a:ext uri="{9D8B030D-6E8A-4147-A177-3AD203B41FA5}">
                      <a16:colId xmlns:a16="http://schemas.microsoft.com/office/drawing/2014/main" val="20000"/>
                    </a:ext>
                  </a:extLst>
                </a:gridCol>
                <a:gridCol w="1819326">
                  <a:extLst>
                    <a:ext uri="{9D8B030D-6E8A-4147-A177-3AD203B41FA5}">
                      <a16:colId xmlns:a16="http://schemas.microsoft.com/office/drawing/2014/main" val="20001"/>
                    </a:ext>
                  </a:extLst>
                </a:gridCol>
                <a:gridCol w="1819326">
                  <a:extLst>
                    <a:ext uri="{9D8B030D-6E8A-4147-A177-3AD203B41FA5}">
                      <a16:colId xmlns:a16="http://schemas.microsoft.com/office/drawing/2014/main" val="20002"/>
                    </a:ext>
                  </a:extLst>
                </a:gridCol>
                <a:gridCol w="2285073">
                  <a:extLst>
                    <a:ext uri="{9D8B030D-6E8A-4147-A177-3AD203B41FA5}">
                      <a16:colId xmlns:a16="http://schemas.microsoft.com/office/drawing/2014/main" val="20003"/>
                    </a:ext>
                  </a:extLst>
                </a:gridCol>
              </a:tblGrid>
              <a:tr h="460000">
                <a:tc>
                  <a:txBody>
                    <a:bodyPr/>
                    <a:lstStyle/>
                    <a:p>
                      <a:pPr algn="l">
                        <a:buNone/>
                      </a:pPr>
                      <a:r>
                        <a:rPr lang="en-US" sz="1600" b="1" i="0" dirty="0">
                          <a:solidFill>
                            <a:srgbClr val="FFFFFF"/>
                          </a:solidFill>
                        </a:rPr>
                        <a:t>RECURRING PROBLEM</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A</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B</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WHAT IS TRADED</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extLst>
                  <a:ext uri="{0D108BD9-81ED-4DB2-BD59-A6C34878D82A}">
                    <a16:rowId xmlns:a16="http://schemas.microsoft.com/office/drawing/2014/main" val="10000"/>
                  </a:ext>
                </a:extLst>
              </a:tr>
              <a:tr h="780000">
                <a:tc>
                  <a:txBody>
                    <a:bodyPr/>
                    <a:lstStyle/>
                    <a:p>
                      <a:pPr algn="l">
                        <a:buNone/>
                      </a:pPr>
                      <a:r>
                        <a:rPr lang="en-US" sz="1800" b="1" i="0" dirty="0">
                          <a:solidFill>
                            <a:srgbClr val="5C4826"/>
                          </a:solidFill>
                        </a:rPr>
                        <a:t>Abstraction boundaries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Strict layering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Deliberate crossing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isolation ↔ capability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1"/>
                  </a:ext>
                </a:extLst>
              </a:tr>
              <a:tr h="780000">
                <a:tc>
                  <a:txBody>
                    <a:bodyPr/>
                    <a:lstStyle/>
                    <a:p>
                      <a:pPr algn="l">
                        <a:buNone/>
                      </a:pPr>
                      <a:r>
                        <a:rPr lang="en-US" sz="1800" b="1" i="0" dirty="0">
                          <a:solidFill>
                            <a:srgbClr val="5C4826"/>
                          </a:solidFill>
                        </a:rPr>
                        <a:t>State organization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Pipeline</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Repository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local flow ↔ shared consistency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2"/>
                  </a:ext>
                </a:extLst>
              </a:tr>
              <a:tr h="780000">
                <a:tc>
                  <a:txBody>
                    <a:bodyPr/>
                    <a:lstStyle/>
                    <a:p>
                      <a:pPr algn="l">
                        <a:buNone/>
                      </a:pPr>
                      <a:r>
                        <a:rPr lang="en-US" sz="1800" b="1" i="0" dirty="0">
                          <a:solidFill>
                            <a:srgbClr val="5C4826"/>
                          </a:solidFill>
                        </a:rPr>
                        <a:t>Communication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RPC</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Event messaging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coordination ↔ decoupling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3"/>
                  </a:ext>
                </a:extLst>
              </a:tr>
              <a:tr h="780000">
                <a:tc>
                  <a:txBody>
                    <a:bodyPr/>
                    <a:lstStyle/>
                    <a:p>
                      <a:pPr algn="l">
                        <a:buNone/>
                      </a:pPr>
                      <a:r>
                        <a:rPr lang="en-US" sz="1800" b="1" i="0" dirty="0">
                          <a:solidFill>
                            <a:srgbClr val="5C4826"/>
                          </a:solidFill>
                        </a:rPr>
                        <a:t>Infrastructure dependencies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Direct dependency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Ports &amp; adapters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directness ↔ infrastructure isolation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We learn wha</a:t>
            </a:r>
            <a:r>
              <a:rPr lang="en-US" sz="2400" i="1" dirty="0">
                <a:solidFill>
                  <a:srgbClr val="000000"/>
                </a:solidFill>
              </a:rPr>
              <a:t>t TENDS to happen…</a:t>
            </a:r>
          </a:p>
          <a:p>
            <a:pPr algn="ctr">
              <a:buNone/>
            </a:pPr>
            <a:r>
              <a:rPr lang="en-US" sz="2400" b="0" i="1" dirty="0">
                <a:solidFill>
                  <a:srgbClr val="000000"/>
                </a:solidFill>
              </a:rPr>
              <a:t>Not what WILL happen in our context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2352" y="2239645"/>
            <a:ext cx="8279296" cy="914400"/>
          </a:xfrm>
        </p:spPr>
        <p:txBody>
          <a:bodyPr>
            <a:normAutofit fontScale="90000"/>
          </a:bodyPr>
          <a:lstStyle/>
          <a:p>
            <a:pPr algn="ctr">
              <a:buNone/>
              <a:defRPr b="0"/>
            </a:pPr>
            <a:r>
              <a:rPr lang="en-US" sz="3600" b="0" i="0" dirty="0">
                <a:solidFill>
                  <a:srgbClr val="000000"/>
                </a:solidFill>
              </a:rPr>
              <a:t>How much can we know before we build?</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09" y="99809"/>
            <a:ext cx="9423441" cy="638175"/>
          </a:xfrm>
        </p:spPr>
        <p:txBody>
          <a:bodyPr>
            <a:normAutofit fontScale="90000"/>
          </a:bodyPr>
          <a:lstStyle/>
          <a:p>
            <a:pPr algn="l">
              <a:buNone/>
              <a:defRPr b="0"/>
            </a:pPr>
            <a:r>
              <a:rPr lang="en-US" sz="2600" b="0" i="0" dirty="0">
                <a:solidFill>
                  <a:srgbClr val="000000"/>
                </a:solidFill>
              </a:rPr>
              <a:t>An architecture model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model</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i="1" dirty="0">
                <a:solidFill>
                  <a:srgbClr val="555960"/>
                </a:solidFill>
              </a:rPr>
              <a:t>f</a:t>
            </a:r>
            <a:r>
              <a:rPr lang="en-US" sz="2000" b="0" i="1" dirty="0">
                <a:solidFill>
                  <a:srgbClr val="555960"/>
                </a:solidFill>
              </a:rPr>
              <a:t>low model</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model</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224661" cy="638175"/>
          </a:xfrm>
        </p:spPr>
        <p:txBody>
          <a:bodyPr>
            <a:normAutofit fontScale="90000"/>
          </a:bodyPr>
          <a:lstStyle/>
          <a:p>
            <a:pPr algn="l">
              <a:buNone/>
              <a:defRPr b="0"/>
            </a:pPr>
            <a:r>
              <a:rPr lang="en-US" sz="2800" b="0" i="0" dirty="0">
                <a:solidFill>
                  <a:srgbClr val="000000"/>
                </a:solidFill>
              </a:rPr>
              <a:t>How strongly can we support an architectural claim?</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a:bodyPr>
          <a:lstStyle/>
          <a:p>
            <a:pPr algn="l">
              <a:buNone/>
            </a:pPr>
            <a:r>
              <a:rPr lang="en-US" sz="2000" b="1" i="0" dirty="0">
                <a:solidFill>
                  <a:srgbClr val="5C4826"/>
                </a:solidFill>
              </a:rPr>
              <a:t>Weaker</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a:bodyPr>
          <a:lstStyle/>
          <a:p>
            <a:pPr algn="r">
              <a:buNone/>
            </a:pPr>
            <a:r>
              <a:rPr lang="en-US" sz="2000" b="1" i="0" dirty="0">
                <a:solidFill>
                  <a:srgbClr val="5C4826"/>
                </a:solidFill>
              </a:rPr>
              <a:t>Stronger</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a:p>
            <a:pPr algn="ctr">
              <a:spcBef>
                <a:spcPts val="262"/>
              </a:spcBef>
              <a:buNone/>
            </a:pPr>
            <a:r>
              <a:rPr lang="en-US" sz="2100" b="1" dirty="0">
                <a:solidFill>
                  <a:srgbClr val="8E6F3E"/>
                </a:solidFill>
              </a:rPr>
              <a:t>(Pattern)</a:t>
            </a:r>
            <a:endParaRPr lang="en-US" sz="2100" b="1" i="0" dirty="0">
              <a:solidFill>
                <a:srgbClr val="8E6F3E"/>
              </a:solidFill>
            </a:endParaRP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a:p>
            <a:pPr algn="ctr">
              <a:spcBef>
                <a:spcPts val="262"/>
              </a:spcBef>
              <a:buNone/>
            </a:pPr>
            <a:r>
              <a:rPr lang="en-US" sz="2100" b="1" dirty="0">
                <a:solidFill>
                  <a:srgbClr val="8E6F3E"/>
                </a:solidFill>
              </a:rPr>
              <a:t>(Analytic model)</a:t>
            </a:r>
            <a:endParaRPr lang="en-US" sz="2100" b="1" i="0" dirty="0">
              <a:solidFill>
                <a:srgbClr val="8E6F3E"/>
              </a:solidFill>
            </a:endParaRP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a:p>
            <a:pPr algn="ctr">
              <a:spcBef>
                <a:spcPts val="262"/>
              </a:spcBef>
              <a:buNone/>
            </a:pPr>
            <a:r>
              <a:rPr lang="en-US" sz="2100" b="1" dirty="0">
                <a:solidFill>
                  <a:srgbClr val="8E6F3E"/>
                </a:solidFill>
              </a:rPr>
              <a:t>(Quant. model)</a:t>
            </a:r>
            <a:endParaRPr lang="en-US" sz="2100" b="1" i="0" dirty="0">
              <a:solidFill>
                <a:srgbClr val="8E6F3E"/>
              </a:solidFill>
            </a:endParaRP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a:p>
            <a:pPr algn="ctr">
              <a:spcBef>
                <a:spcPts val="262"/>
              </a:spcBef>
              <a:buNone/>
            </a:pPr>
            <a:r>
              <a:rPr lang="en-US" sz="2100" b="1" dirty="0">
                <a:solidFill>
                  <a:srgbClr val="8E6F3E"/>
                </a:solidFill>
              </a:rPr>
              <a:t>(Measurement)</a:t>
            </a:r>
            <a:endParaRPr lang="en-US" sz="2100" b="1" i="0" dirty="0">
              <a:solidFill>
                <a:srgbClr val="8E6F3E"/>
              </a:solidFill>
            </a:endParaRP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pic>
        <p:nvPicPr>
          <p:cNvPr id="133" name="Picture 132" descr="sleep-advisor-icon.png"/>
          <p:cNvPicPr>
            <a:picLocks noChangeAspect="1"/>
          </p:cNvPicPr>
          <p:nvPr/>
        </p:nvPicPr>
        <p:blipFill>
          <a:blip r:embed="rId3"/>
          <a:stretch>
            <a:fillRect/>
          </a:stretch>
        </p:blipFill>
        <p:spPr>
          <a:xfrm>
            <a:off x="502920" y="1691640"/>
            <a:ext cx="658368" cy="6583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Data processing: 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change: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
        <p:nvSpPr>
          <p:cNvPr id="4" name="T61">
            <a:extLst>
              <a:ext uri="{FF2B5EF4-FFF2-40B4-BE49-F238E27FC236}">
                <a16:creationId xmlns:a16="http://schemas.microsoft.com/office/drawing/2014/main" id="{9AC8A97C-BA67-4A51-1E88-62342C7B09F7}"/>
              </a:ext>
            </a:extLst>
          </p:cNvPr>
          <p:cNvSpPr txBox="1"/>
          <p:nvPr/>
        </p:nvSpPr>
        <p:spPr>
          <a:xfrm>
            <a:off x="685800" y="60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Would another architecture give us another design move?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61"/>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grpId="0" nodeType="clickEffect">
                                  <p:stCondLst>
                                    <p:cond delay="0"/>
                                  </p:stCondLst>
                                  <p:childTnLst>
                                    <p:set>
                                      <p:cBhvr>
                                        <p:cTn id="93"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913" y="136525"/>
            <a:ext cx="9304174" cy="638175"/>
          </a:xfrm>
        </p:spPr>
        <p:txBody>
          <a:bodyPr>
            <a:normAutofit fontScale="90000"/>
          </a:bodyPr>
          <a:lstStyle/>
          <a:p>
            <a:pPr algn="l">
              <a:buNone/>
              <a:defRPr b="0"/>
            </a:pPr>
            <a:r>
              <a:rPr lang="en-US" sz="2800" b="0" i="0" dirty="0">
                <a:solidFill>
                  <a:srgbClr val="000000"/>
                </a:solidFill>
              </a:rPr>
              <a:t>What happens when architectural evidence gets cheaper?</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28</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29</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return w/in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pic>
        <p:nvPicPr>
          <p:cNvPr id="111" name="Picture 110" descr="sleep-advisor-icon.png"/>
          <p:cNvPicPr>
            <a:picLocks noChangeAspect="1"/>
          </p:cNvPicPr>
          <p:nvPr/>
        </p:nvPicPr>
        <p:blipFill>
          <a:blip r:embed="rId3"/>
          <a:stretch>
            <a:fillRect/>
          </a:stretch>
        </p:blipFill>
        <p:spPr>
          <a:xfrm>
            <a:off x="4242816" y="3822191"/>
            <a:ext cx="658368" cy="6583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xEl>
                                              <p:pRg st="0" end="0"/>
                                            </p:txEl>
                                          </p:spTgt>
                                        </p:tgtEl>
                                        <p:attrNameLst>
                                          <p:attrName>style.visibility</p:attrName>
                                        </p:attrNameLst>
                                      </p:cBhvr>
                                      <p:to>
                                        <p:strVal val="visible"/>
                                      </p:to>
                                    </p:set>
                                    <p:animEffect transition="in" filter="fade">
                                      <p:cBhvr>
                                        <p:cTn id="7" dur="400"/>
                                        <p:tgtEl>
                                          <p:spTgt spid="6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1">
                                            <p:txEl>
                                              <p:pRg st="1" end="1"/>
                                            </p:txEl>
                                          </p:spTgt>
                                        </p:tgtEl>
                                        <p:attrNameLst>
                                          <p:attrName>style.visibility</p:attrName>
                                        </p:attrNameLst>
                                      </p:cBhvr>
                                      <p:to>
                                        <p:strVal val="visible"/>
                                      </p:to>
                                    </p:set>
                                    <p:animEffect transition="in" filter="fade">
                                      <p:cBhvr>
                                        <p:cTn id="10" dur="400"/>
                                        <p:tgtEl>
                                          <p:spTgt spid="61">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1">
                                            <p:txEl>
                                              <p:pRg st="2" end="2"/>
                                            </p:txEl>
                                          </p:spTgt>
                                        </p:tgtEl>
                                        <p:attrNameLst>
                                          <p:attrName>style.visibility</p:attrName>
                                        </p:attrNameLst>
                                      </p:cBhvr>
                                      <p:to>
                                        <p:strVal val="visible"/>
                                      </p:to>
                                    </p:set>
                                    <p:animEffect transition="in" filter="fade">
                                      <p:cBhvr>
                                        <p:cTn id="13" dur="400"/>
                                        <p:tgtEl>
                                          <p:spTgt spid="61">
                                            <p:txEl>
                                              <p:pRg st="2" end="2"/>
                                            </p:txEl>
                                          </p:spTgt>
                                        </p:tgtEl>
                                      </p:cBhvr>
                                    </p:animEffect>
                                  </p:childTnLst>
                                </p:cTn>
                              </p:par>
                              <p:par>
                                <p:cTn id="14" presetID="1" presetClass="entr" presetSubtype="0" fill="hold" grpId="0" nodeType="withEffect">
                                  <p:stCondLst>
                                    <p:cond delay="0"/>
                                  </p:stCondLst>
                                  <p:childTnLst>
                                    <p:set>
                                      <p:cBhvr>
                                        <p:cTn id="15" dur="1" fill="hold">
                                          <p:stCondLst>
                                            <p:cond delay="0"/>
                                          </p:stCondLst>
                                        </p:cTn>
                                        <p:tgtEl>
                                          <p:spTgt spid="61">
                                            <p:bg/>
                                          </p:spTgt>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61">
                                            <p:txEl>
                                              <p:pRg st="0" end="0"/>
                                            </p:txEl>
                                          </p:spTgt>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61">
                                            <p:txEl>
                                              <p:pRg st="1" end="1"/>
                                            </p:txEl>
                                          </p:spTgt>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30</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a:t>
            </a:r>
            <a:r>
              <a:rPr lang="en-US" sz="2200" b="0" i="0" dirty="0">
                <a:solidFill>
                  <a:srgbClr val="000000"/>
                </a:solidFill>
              </a:rPr>
              <a:t>Is any candidate Pareto-dominated?</a:t>
            </a:r>
          </a:p>
          <a:p>
            <a:pPr algn="l">
              <a:spcBef>
                <a:spcPts val="150"/>
              </a:spcBef>
              <a:buNone/>
            </a:pPr>
            <a:r>
              <a:rPr lang="en-US" sz="2200" b="1" i="0" dirty="0">
                <a:solidFill>
                  <a:srgbClr val="8E6F3E"/>
                </a:solidFill>
              </a:rPr>
              <a:t>·  </a:t>
            </a:r>
            <a:r>
              <a:rPr lang="en-US" sz="2200" b="0" i="0" dirty="0">
                <a:solidFill>
                  <a:srgbClr val="000000"/>
                </a:solidFill>
              </a:rPr>
              <a:t>What genuine tradeoff remains?</a:t>
            </a:r>
          </a:p>
          <a:p>
            <a:pPr algn="l">
              <a:spcBef>
                <a:spcPts val="150"/>
              </a:spcBef>
              <a:buNone/>
            </a:pPr>
            <a:r>
              <a:rPr lang="en-US" sz="2200" b="1" i="0" dirty="0">
                <a:solidFill>
                  <a:srgbClr val="8E6F3E"/>
                </a:solidFill>
              </a:rPr>
              <a:t>·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(and rarely is)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a:t>
            </a:r>
            <a:r>
              <a:rPr lang="en-US" sz="2400" b="0" i="1" dirty="0">
                <a:solidFill>
                  <a:srgbClr val="000000"/>
                </a:solidFill>
              </a:rPr>
              <a:t>→ Design’s up next!</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31</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ED0858-1AED-37B3-1F79-CBE5A16B2DA1}"/>
              </a:ext>
            </a:extLst>
          </p:cNvPr>
          <p:cNvSpPr>
            <a:spLocks noGrp="1"/>
          </p:cNvSpPr>
          <p:nvPr>
            <p:ph idx="1"/>
          </p:nvPr>
        </p:nvSpPr>
        <p:spPr/>
        <p:txBody>
          <a:bodyPr/>
          <a:lstStyle/>
          <a:p>
            <a:r>
              <a:rPr lang="en-US" dirty="0"/>
              <a:t>Please fill this out by 4 PM today</a:t>
            </a:r>
          </a:p>
          <a:p>
            <a:r>
              <a:rPr lang="en-US" dirty="0"/>
              <a:t>https://</a:t>
            </a:r>
            <a:r>
              <a:rPr lang="en-US" dirty="0" err="1"/>
              <a:t>docs.google.com</a:t>
            </a:r>
            <a:r>
              <a:rPr lang="en-US" dirty="0"/>
              <a:t>/forms/d/e/1FAIpQLSeP1KI_ooyPF0H7lG6yvj3li6VcINkZ1YczGPrPe__Ew0KjWg/</a:t>
            </a:r>
            <a:r>
              <a:rPr lang="en-US" dirty="0" err="1"/>
              <a:t>viewform?usp</a:t>
            </a:r>
            <a:r>
              <a:rPr lang="en-US" dirty="0"/>
              <a:t>=preview</a:t>
            </a:r>
          </a:p>
        </p:txBody>
      </p:sp>
      <p:sp>
        <p:nvSpPr>
          <p:cNvPr id="3" name="Title 2">
            <a:extLst>
              <a:ext uri="{FF2B5EF4-FFF2-40B4-BE49-F238E27FC236}">
                <a16:creationId xmlns:a16="http://schemas.microsoft.com/office/drawing/2014/main" id="{D83BBFEE-FAA6-E278-5211-3733A6796288}"/>
              </a:ext>
            </a:extLst>
          </p:cNvPr>
          <p:cNvSpPr>
            <a:spLocks noGrp="1"/>
          </p:cNvSpPr>
          <p:nvPr>
            <p:ph type="title"/>
          </p:nvPr>
        </p:nvSpPr>
        <p:spPr/>
        <p:txBody>
          <a:bodyPr>
            <a:normAutofit fontScale="90000"/>
          </a:bodyPr>
          <a:lstStyle/>
          <a:p>
            <a:r>
              <a:rPr lang="en-US" dirty="0"/>
              <a:t>In-class participation survey</a:t>
            </a:r>
          </a:p>
        </p:txBody>
      </p:sp>
      <p:sp>
        <p:nvSpPr>
          <p:cNvPr id="4" name="Slide Number Placeholder 3">
            <a:extLst>
              <a:ext uri="{FF2B5EF4-FFF2-40B4-BE49-F238E27FC236}">
                <a16:creationId xmlns:a16="http://schemas.microsoft.com/office/drawing/2014/main" id="{19B2D29E-4CA7-C936-E483-1B3F5233EE71}"/>
              </a:ext>
            </a:extLst>
          </p:cNvPr>
          <p:cNvSpPr>
            <a:spLocks noGrp="1"/>
          </p:cNvSpPr>
          <p:nvPr>
            <p:ph type="sldNum" sz="quarter" idx="4"/>
          </p:nvPr>
        </p:nvSpPr>
        <p:spPr/>
        <p:txBody>
          <a:bodyPr/>
          <a:lstStyle/>
          <a:p>
            <a:fld id="{B7EB45DA-9A0D-DC49-8E02-F30A5DDC21C3}" type="slidenum">
              <a:rPr lang="en-US" smtClean="0"/>
              <a:t>32</a:t>
            </a:fld>
            <a:endParaRPr lang="en-US"/>
          </a:p>
        </p:txBody>
      </p:sp>
      <p:pic>
        <p:nvPicPr>
          <p:cNvPr id="5" name="Picture 4">
            <a:extLst>
              <a:ext uri="{FF2B5EF4-FFF2-40B4-BE49-F238E27FC236}">
                <a16:creationId xmlns:a16="http://schemas.microsoft.com/office/drawing/2014/main" id="{83BFE7FB-9DD4-CA5D-C169-1D639E9FC423}"/>
              </a:ext>
            </a:extLst>
          </p:cNvPr>
          <p:cNvPicPr>
            <a:picLocks noChangeAspect="1"/>
          </p:cNvPicPr>
          <p:nvPr/>
        </p:nvPicPr>
        <p:blipFill>
          <a:blip r:embed="rId2"/>
          <a:stretch>
            <a:fillRect/>
          </a:stretch>
        </p:blipFill>
        <p:spPr>
          <a:xfrm>
            <a:off x="3206554" y="2956964"/>
            <a:ext cx="2730891" cy="2596032"/>
          </a:xfrm>
          <a:prstGeom prst="rect">
            <a:avLst/>
          </a:prstGeom>
        </p:spPr>
      </p:pic>
    </p:spTree>
    <p:extLst>
      <p:ext uri="{BB962C8B-B14F-4D97-AF65-F5344CB8AC3E}">
        <p14:creationId xmlns:p14="http://schemas.microsoft.com/office/powerpoint/2010/main" val="3007066689"/>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8593</TotalTime>
  <Words>9894</Words>
  <Application>Microsoft Macintosh PowerPoint</Application>
  <PresentationFormat>On-screen Show (4:3)</PresentationFormat>
  <Paragraphs>1052</Paragraphs>
  <Slides>32</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Architecture creates possibilities and constraints</vt:lpstr>
      <vt:lpstr>Architecture also affords a division of labor</vt:lpstr>
      <vt:lpstr>How do we choose among acceptable architectures?</vt:lpstr>
      <vt:lpstr>Two architectures. Which one is better?</vt:lpstr>
      <vt:lpstr>Weighted sums are not a decision-making approach</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Data processing: What sets the latency floor?</vt:lpstr>
      <vt:lpstr>What happens when architectural evidence gets cheaper?</vt:lpstr>
      <vt:lpstr>Architect one system</vt:lpstr>
      <vt:lpstr>Exercise: Here is the specification</vt:lpstr>
      <vt:lpstr>Defend the architectural decision</vt:lpstr>
      <vt:lpstr>Specification → Architecture → Design’s up next!</vt:lpstr>
      <vt:lpstr>In-class participation survey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412</cp:revision>
  <dcterms:created xsi:type="dcterms:W3CDTF">2020-02-21T23:00:33Z</dcterms:created>
  <dcterms:modified xsi:type="dcterms:W3CDTF">2026-09-15T17:20:10Z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