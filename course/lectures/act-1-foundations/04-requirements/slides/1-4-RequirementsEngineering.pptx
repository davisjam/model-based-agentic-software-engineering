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28"/>
  </p:notesMasterIdLst>
  <p:sldIdLst>
    <p:sldId id="1307" r:id="rId2"/>
    <p:sldId id="1308" r:id="rId3"/>
    <p:sldId id="515" r:id="rId4"/>
    <p:sldId id="1319" r:id="rId5"/>
    <p:sldId id="1309" r:id="rId6"/>
    <p:sldId id="1320" r:id="rId7"/>
    <p:sldId id="529" r:id="rId8"/>
    <p:sldId id="1331" r:id="rId9"/>
    <p:sldId id="1321" r:id="rId10"/>
    <p:sldId id="1322" r:id="rId11"/>
    <p:sldId id="1310" r:id="rId12"/>
    <p:sldId id="1323" r:id="rId13"/>
    <p:sldId id="1318" r:id="rId14"/>
    <p:sldId id="1329" r:id="rId15"/>
    <p:sldId id="1324" r:id="rId16"/>
    <p:sldId id="1327" r:id="rId17"/>
    <p:sldId id="1328" r:id="rId18"/>
    <p:sldId id="527" r:id="rId19"/>
    <p:sldId id="1325" r:id="rId20"/>
    <p:sldId id="1311" r:id="rId21"/>
    <p:sldId id="1297" r:id="rId22"/>
    <p:sldId id="1304" r:id="rId23"/>
    <p:sldId id="1326" r:id="rId24"/>
    <p:sldId id="1317" r:id="rId25"/>
    <p:sldId id="1313" r:id="rId26"/>
    <p:sldId id="131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7" autoAdjust="0"/>
    <p:restoredTop sz="68973"/>
  </p:normalViewPr>
  <p:slideViewPr>
    <p:cSldViewPr snapToGrid="0" snapToObjects="1">
      <p:cViewPr varScale="1">
        <p:scale>
          <a:sx n="81" d="100"/>
          <a:sy n="81" d="100"/>
        </p:scale>
        <p:origin x="1304"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1 minute — </a:t>
            </a:r>
            <a:r>
              <a:rPr lang="en-US" i="1" dirty="0"/>
              <a:t>Open on the governing question instead of on definitions.</a:t>
            </a:r>
          </a:p>
          <a:p>
            <a:endParaRPr lang="en-US"/>
          </a:p>
          <a:p>
            <a:r>
              <a:rPr lang="en-US" dirty="0"/>
              <a:t>- Two lectures out of one topic: today is Requirements, Thursday is Specification.</a:t>
            </a:r>
          </a:p>
          <a:p>
            <a:r>
              <a:rPr lang="en-US" dirty="0"/>
              <a:t>- The whole lecture hangs on one question: what should we build, and what do we need to know before promising to build it?</a:t>
            </a:r>
          </a:p>
          <a:p>
            <a:r>
              <a:rPr lang="en-US" dirty="0"/>
              <a:t>- Three movements today: what a requirement is, how we discover candidates, and which candidates we commit to.</a:t>
            </a:r>
          </a:p>
          <a:p>
            <a:endParaRPr lang="en-US"/>
          </a:p>
          <a:p>
            <a:r>
              <a:rPr lang="en-US" dirty="0"/>
              <a:t>=====</a:t>
            </a:r>
          </a:p>
          <a:p>
            <a:endParaRPr lang="en-US"/>
          </a:p>
          <a:p>
            <a:r>
              <a:rPr lang="en-US" dirty="0"/>
              <a:t>We have talked about process: how engineering work is arranged in time. Today we go after the thing the process is arranging work around. Somebody has to decide what the system is supposed to do.</a:t>
            </a:r>
          </a:p>
          <a:p>
            <a:endParaRPr lang="en-US"/>
          </a:p>
          <a:p>
            <a:r>
              <a:rPr lang="en-US" dirty="0"/>
              <a:t>That sounds like a listening exercise. It is not. Requirements engineering discovers what might matter and turns enough of that understanding into commitments we can responsibly make.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a:t>
            </a:r>
            <a:r>
              <a:rPr lang="en-US" i="1" dirty="0"/>
              <a:t>Give students the intellectual shape of the lecture: define the object, learn candidates, decide commitments.</a:t>
            </a:r>
          </a:p>
          <a:p>
            <a:endParaRPr lang="en-US"/>
          </a:p>
          <a:p>
            <a:r>
              <a:rPr lang="en-US" dirty="0"/>
              <a:t>- These three names are the deck’s sections; each returns as a numbered break slide.</a:t>
            </a:r>
          </a:p>
          <a:p>
            <a:r>
              <a:rPr lang="en-US" dirty="0"/>
              <a:t>- Say the progression out loud: define the object, then learn candidate requirements, then decide which candidates become commitments.</a:t>
            </a:r>
          </a:p>
          <a:p>
            <a:r>
              <a:rPr lang="en-US" dirty="0"/>
              <a:t>- Warn them that section 3 is the part most requirements lectures leave out.</a:t>
            </a:r>
          </a:p>
          <a:p>
            <a:endParaRPr lang="en-US"/>
          </a:p>
          <a:p>
            <a:r>
              <a:rPr lang="en-US" dirty="0"/>
              <a:t>=====</a:t>
            </a:r>
          </a:p>
          <a:p>
            <a:endParaRPr lang="en-US"/>
          </a:p>
          <a:p>
            <a:r>
              <a:rPr lang="en-US" dirty="0"/>
              <a:t>Section one is vocabulary and definitions: what kind of thing a requirement is, and where obligations come from. You need that before the rest is intelligible.</a:t>
            </a:r>
          </a:p>
          <a:p>
            <a:endParaRPr lang="en-US"/>
          </a:p>
          <a:p>
            <a:r>
              <a:rPr lang="en-US" dirty="0"/>
              <a:t>Section two is discovery: how engineers actually learn what people need, from asking through to building something cheap and watching the reaction.</a:t>
            </a:r>
          </a:p>
          <a:p>
            <a:endParaRPr lang="en-US"/>
          </a:p>
          <a:p>
            <a:r>
              <a:rPr lang="en-US" dirty="0"/>
              <a:t>Section three is the one to flag. Discovering that something would be valuable does not mean we should promise it. Engineering capacity is finite, so accepting a requirement spends something we cannot spend twice.</a:t>
            </a:r>
          </a:p>
          <a:p>
            <a:endParaRPr lang="en-US"/>
          </a:p>
          <a:p>
            <a:r>
              <a:rPr lang="en-US" dirty="0"/>
              <a:t>Thursday’s lecture is Specification, which is about stating promises precisely. Today is about deciding which promises to make at all.</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a:t>
            </a:r>
            <a:r>
              <a:rPr lang="en-US" i="1" dirty="0"/>
              <a:t>Establish the first problem: what people ask for and what would satisfy them are not the same object.</a:t>
            </a:r>
          </a:p>
          <a:p>
            <a:endParaRPr lang="en-US"/>
          </a:p>
          <a:p>
            <a:r>
              <a:rPr lang="en-US" dirty="0"/>
              <a:t>- Transition in: the cover said interpretation happens between what they say and what we build. Here is why interpretation is unavoidable.</a:t>
            </a:r>
          </a:p>
          <a:p>
            <a:r>
              <a:rPr lang="en-US" dirty="0"/>
              <a:t>- The requirements engineer is not a stenographer. Recording a stated wish is not the same as understanding a need.</a:t>
            </a:r>
          </a:p>
          <a:p>
            <a:r>
              <a:rPr lang="en-US" dirty="0"/>
              <a:t>- Ask the room for a case where a user asked for a feature and the underlying need turned out to be different. Take one or two, 30 seconds.</a:t>
            </a:r>
          </a:p>
          <a:p>
            <a:endParaRPr lang="en-US"/>
          </a:p>
          <a:p>
            <a:r>
              <a:rPr lang="en-US" dirty="0"/>
              <a:t>=====</a:t>
            </a:r>
          </a:p>
          <a:p>
            <a:endParaRPr lang="en-US"/>
          </a:p>
          <a:p>
            <a:r>
              <a:rPr lang="en-US" dirty="0"/>
              <a:t>This is an HCI and product-thinking point before it is a software engineering point. A user reports the solution they can imagine, in the vocabulary they have, about the system they already use. What they are actually telling you is that something is wrong, or that some goal is hard to reach.</a:t>
            </a:r>
          </a:p>
          <a:p>
            <a:endParaRPr lang="en-US"/>
          </a:p>
          <a:p>
            <a:r>
              <a:rPr lang="en-US" dirty="0"/>
              <a:t>Two failure modes, and both are real. Ignore the feedback and you build for yourself. Implement it literally and you ship a faster horse: you satisfy the request and miss the need. Neither is acceptable, so the engineer has to do interpretive work and then be accountable for the interpretation.</a:t>
            </a:r>
          </a:p>
          <a:p>
            <a:endParaRPr lang="en-US"/>
          </a:p>
          <a:p>
            <a:r>
              <a:rPr lang="en-US" dirty="0"/>
              <a:t>Transition forward: if we cannot simply transcribe what people say, then requirements engineering has real intellectual content. It has two parts.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4 minutes — </a:t>
            </a:r>
            <a:r>
              <a:rPr lang="en-US" i="1" dirty="0"/>
              <a:t>Install the lecture's central claim: need and economics are one coupled problem, not two topics.</a:t>
            </a:r>
          </a:p>
          <a:p>
            <a:endParaRPr lang="en-US" dirty="0"/>
          </a:p>
          <a:p>
            <a:r>
              <a:rPr lang="en-US" dirty="0"/>
              <a:t>- Left column is the HCI/problem-understanding half. Right column is the economics half.</a:t>
            </a:r>
          </a:p>
          <a:p>
            <a:r>
              <a:rPr lang="en-US" dirty="0"/>
              <a:t>- The columns are coupled: you cannot prioritize what you do not understand, and you cannot promise what you have not costed.</a:t>
            </a:r>
          </a:p>
          <a:p>
            <a:r>
              <a:rPr lang="en-US" dirty="0"/>
              <a:t>- Tell them explicitly: we will come back to this slide's two columns several times today.</a:t>
            </a:r>
          </a:p>
          <a:p>
            <a:r>
              <a:rPr lang="en-US" dirty="0"/>
              <a:t>- Key line to say out loud: requirements are not discovered facts, they are choices about which obligations are worth scarce resources.</a:t>
            </a:r>
          </a:p>
          <a:p>
            <a:endParaRPr lang="en-US" dirty="0"/>
          </a:p>
          <a:p>
            <a:r>
              <a:rPr lang="en-US" dirty="0"/>
              <a:t>=====</a:t>
            </a:r>
          </a:p>
          <a:p>
            <a:endParaRPr lang="en-US" dirty="0"/>
          </a:p>
          <a:p>
            <a:r>
              <a:rPr lang="en-US" dirty="0"/>
              <a:t>Most textbook treatments give you the left column only: elicit, categorize, write down. That half is genuinely hard, and it is mostly a problem of understanding people and their work.</a:t>
            </a:r>
          </a:p>
          <a:p>
            <a:endParaRPr lang="en-US" dirty="0"/>
          </a:p>
          <a:p>
            <a:r>
              <a:rPr lang="en-US" dirty="0"/>
              <a:t>But no engineering organization can promise everything it understands to be valuable. Engineering capacity is finite. So the moment you write a requirement down and someone agrees to it, you have spent something. That is why negotiation, prioritization, scope, and estimation are not project-management afterthoughts bolted onto requirements engineering; they are inside it.</a:t>
            </a:r>
          </a:p>
          <a:p>
            <a:endParaRPr lang="en-US" dirty="0"/>
          </a:p>
          <a:p>
            <a:r>
              <a:rPr lang="en-US" dirty="0"/>
              <a:t>Transition forward: sections 1 and 2 establish what candidate requirements are and how we discover them. Section 3 asks which candidates we can responsibly accept. So start with the object itself: what counts as a requirement?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20 seconds — </a:t>
            </a:r>
            <a:r>
              <a:rPr lang="en-US" i="1" dirty="0"/>
              <a:t>Mark the move from framing the lecture to defining the object.</a:t>
            </a:r>
          </a:p>
          <a:p>
            <a:endParaRPr lang="en-US"/>
          </a:p>
          <a:p>
            <a:r>
              <a:rPr lang="en-US" dirty="0"/>
              <a:t>- Section 1 of 3. This section is vocabulary: what a requirement is and where obligations come from.</a:t>
            </a:r>
          </a:p>
          <a:p>
            <a:r>
              <a:rPr lang="en-US" dirty="0"/>
              <a:t>- Say the question out loud and move on; do not take answers here.</a:t>
            </a:r>
          </a:p>
          <a:p>
            <a:endParaRPr lang="en-US"/>
          </a:p>
          <a:p>
            <a:r>
              <a:rPr lang="en-US" dirty="0"/>
              <a:t>=====</a:t>
            </a:r>
          </a:p>
          <a:p>
            <a:endParaRPr lang="en-US"/>
          </a:p>
          <a:p>
            <a:r>
              <a:rPr lang="en-US" dirty="0"/>
              <a:t>Before we can talk about discovering requirements or choosing among them, we need to agree on what kind of thing we are looking for. That is this section: definitions, categories, and sources.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Make purpose an engineering necessity rather than a nicety.</a:t>
            </a:r>
          </a:p>
          <a:p>
            <a:endParaRPr lang="en-US"/>
          </a:p>
          <a:p>
            <a:r>
              <a:rPr lang="en-US" dirty="0"/>
              <a:t>- Correctness is relative to intent. A system with no stated purpose cannot be correct or incorrect, only surprising.</a:t>
            </a:r>
          </a:p>
          <a:p>
            <a:r>
              <a:rPr lang="en-US" dirty="0"/>
              <a:t>- Requirements sit between purpose and system: they are where intent becomes checkable.</a:t>
            </a:r>
          </a:p>
          <a:p>
            <a:r>
              <a:rPr lang="en-US" dirty="0"/>
              <a:t>- Ask: why might it be hard to learn the purpose of a system? Prompt for numerous, distributed, conflicting, implicit, and changing stakeholders.</a:t>
            </a:r>
          </a:p>
          <a:p>
            <a:endParaRPr lang="en-US"/>
          </a:p>
          <a:p>
            <a:r>
              <a:rPr lang="en-US" dirty="0"/>
              <a:t>=====</a:t>
            </a:r>
          </a:p>
          <a:p>
            <a:endParaRPr lang="en-US"/>
          </a:p>
          <a:p>
            <a:r>
              <a:rPr lang="en-US" dirty="0"/>
              <a:t>Nuseibeh and Easterbrook make the point that software is built to serve some purpose in the world, and that requirements engineering is the activity that relates the two. Pamela Zave’s formulation is similar: requirements engineering concerns the real-world goals for, functions of, and constraints on software systems.</a:t>
            </a:r>
          </a:p>
          <a:p>
            <a:endParaRPr lang="en-US"/>
          </a:p>
          <a:p>
            <a:r>
              <a:rPr lang="en-US" dirty="0"/>
              <a:t>Why is this hard? The people who hold the purpose are numerous and distributed. They disagree. Much of what they know is implicit and only surfaces when violated. And the purpose moves while you are building. Every technique in the rest of the lecture exists because of that list.</a:t>
            </a:r>
          </a:p>
          <a:p>
            <a:endParaRPr lang="en-US"/>
          </a:p>
          <a:p>
            <a:r>
              <a:rPr lang="en-US" dirty="0"/>
              <a:t>Transition forward: if requirements are what connect purpose to system, we had better be precise about what kind of thing a requirement is.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4 minutes — </a:t>
            </a:r>
            <a:r>
              <a:rPr lang="en-US" i="1" dirty="0"/>
              <a:t>Give the conventional vocabulary without presenting the categories as metaphysical truth.</a:t>
            </a:r>
          </a:p>
          <a:p>
            <a:endParaRPr lang="en-US"/>
          </a:p>
          <a:p>
            <a:r>
              <a:rPr lang="en-US" dirty="0"/>
              <a:t>- Top split is the classical definition: services plus constraints.</a:t>
            </a:r>
          </a:p>
          <a:p>
            <a:r>
              <a:rPr lang="en-US" dirty="0"/>
              <a:t>- Teach the three kinds with the words quality and constraint; give them the term non-functional requirement so they recognise it in industry.</a:t>
            </a:r>
          </a:p>
          <a:p>
            <a:r>
              <a:rPr lang="en-US" dirty="0"/>
              <a:t>- Expect boundary arguments. Welcome them, then use the caveat line: the categories are a checklist for coverage, not a classification test.</a:t>
            </a:r>
          </a:p>
          <a:p>
            <a:r>
              <a:rPr lang="en-US" dirty="0"/>
              <a:t>- Precision of statement is Thursday’s lecture, not today’s.</a:t>
            </a:r>
          </a:p>
          <a:p>
            <a:endParaRPr lang="en-US"/>
          </a:p>
          <a:p>
            <a:r>
              <a:rPr lang="en-US" dirty="0"/>
              <a:t>=====</a:t>
            </a:r>
          </a:p>
          <a:p>
            <a:endParaRPr lang="en-US"/>
          </a:p>
          <a:p>
            <a:r>
              <a:rPr lang="en-US" dirty="0"/>
              <a:t>The oldest useful cut: some requirements say what the system does, and some say what must be true of it or around it. Functional requirements describe behaviour, often usefully as input and output. Quality requirements and constraints bound the engineering: latency, availability, security posture, the platform you must run on, the budget you must fit.</a:t>
            </a:r>
          </a:p>
          <a:p>
            <a:endParaRPr lang="en-US"/>
          </a:p>
          <a:p>
            <a:r>
              <a:rPr lang="en-US" dirty="0"/>
              <a:t>Domain and external obligations are the ones students forget. Nobody in your company asked for them. The law asked, or the standard asked, or the physics of the domain asked.</a:t>
            </a:r>
          </a:p>
          <a:p>
            <a:endParaRPr lang="en-US"/>
          </a:p>
          <a:p>
            <a:r>
              <a:rPr lang="en-US" dirty="0"/>
              <a:t>Somebody will point out that a security requirement can be written functionally. They are right, and that is fine. The categories earn their place by helping you notice what you have not thought about, not by settling arguments about what a requirement really is.</a:t>
            </a:r>
          </a:p>
          <a:p>
            <a:endParaRPr lang="en-US"/>
          </a:p>
          <a:p>
            <a:r>
              <a:rPr lang="en-US" dirty="0"/>
              <a:t>Transition forward: the third column raises an obvious question. Where do requirements come from?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Widen the source model so students stop equating requirements with user wishes.</a:t>
            </a:r>
          </a:p>
          <a:p>
            <a:endParaRPr lang="en-US" dirty="0"/>
          </a:p>
          <a:p>
            <a:r>
              <a:rPr lang="en-US" dirty="0"/>
              <a:t>- The visual is the argument: eight inflows, only one of which is users.</a:t>
            </a:r>
          </a:p>
          <a:p>
            <a:r>
              <a:rPr lang="en-US" dirty="0"/>
              <a:t>- Note the word candidate: these are proposals, not yet commitments. Section 2’s whole point.</a:t>
            </a:r>
          </a:p>
          <a:p>
            <a:r>
              <a:rPr lang="en-US" dirty="0"/>
              <a:t>- Call back to the Bain slide: data, integration, operations, security, support all appear here as sources.</a:t>
            </a:r>
          </a:p>
          <a:p>
            <a:r>
              <a:rPr lang="en-US" dirty="0"/>
              <a:t>- Sets up GDPR on the next slide.</a:t>
            </a:r>
          </a:p>
          <a:p>
            <a:endParaRPr lang="en-US" dirty="0"/>
          </a:p>
          <a:p>
            <a:r>
              <a:rPr lang="en-US" dirty="0"/>
              <a:t>=====</a:t>
            </a:r>
          </a:p>
          <a:p>
            <a:endParaRPr lang="en-US" dirty="0"/>
          </a:p>
          <a:p>
            <a:r>
              <a:rPr lang="en-US" dirty="0"/>
              <a:t>Ask an incident on-call engineer what the system needs and you get an answer no user would give: better logging, a kill switch, a rate limiter. Read the contract and you find obligations nobody in the building remembers agreeing to. Look at the existing system and you inherit data formats, integration points, and behaviour that users now depend on.</a:t>
            </a:r>
          </a:p>
          <a:p>
            <a:endParaRPr lang="en-US" dirty="0"/>
          </a:p>
          <a:p>
            <a:r>
              <a:rPr lang="en-US" dirty="0"/>
              <a:t>Everything arriving at that box is a candidate. Some of it will become a commitment; some of it will not. Deciding which is the economics half of the lecture.</a:t>
            </a:r>
          </a:p>
          <a:p>
            <a:endParaRPr lang="en-US" dirty="0"/>
          </a:p>
          <a:p>
            <a:r>
              <a:rPr lang="en-US" dirty="0"/>
              <a:t>Transition forward: take the source that students least expect to generate software behaviour, and follow it all the way down.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8 minutes — </a:t>
            </a:r>
            <a:r>
              <a:rPr lang="en-US" i="1" dirty="0"/>
              <a:t>Show that an external source can impose a genuine requirement even though considerable engineering interpretation remains.</a:t>
            </a:r>
          </a:p>
          <a:p>
            <a:endParaRPr lang="en-US" dirty="0"/>
          </a:p>
          <a:p>
            <a:r>
              <a:rPr lang="en-US" dirty="0"/>
              <a:t>- Think-pair-share number one. This means we actually stop: two minutes individual, three minutes in pairs, three minutes collecting.</a:t>
            </a:r>
          </a:p>
          <a:p>
            <a:r>
              <a:rPr lang="en-US" dirty="0"/>
              <a:t>- This is the concrete payoff to domain and external requirements from the definitions slide, and to laws and standards on the sources slide. The two gold phrases are the target. Appropriate to whom, judged how, and against what threat model?</a:t>
            </a:r>
          </a:p>
          <a:p>
            <a:r>
              <a:rPr lang="en-US" dirty="0"/>
              <a:t>- Expect: what data is in scope, what counts as a breach, encryption at rest or in transit, key management, retention, logging, who reviews, how often, what evidence satisfies an auditor.</a:t>
            </a:r>
          </a:p>
          <a:p>
            <a:r>
              <a:rPr lang="en-US" dirty="0"/>
              <a:t>- Do not resolve it. Making obligations measurable and testable is Thursday’s lecture. Leave the thread hanging on purpose.</a:t>
            </a:r>
          </a:p>
          <a:p>
            <a:r>
              <a:rPr lang="en-US" dirty="0"/>
              <a:t>- Pedagogical point to say out loud: authoritative requirement is not the same as implementable instruction.</a:t>
            </a:r>
          </a:p>
          <a:p>
            <a:endParaRPr lang="en-US" dirty="0"/>
          </a:p>
          <a:p>
            <a:r>
              <a:rPr lang="en-US" dirty="0"/>
              <a:t>=====</a:t>
            </a:r>
          </a:p>
          <a:p>
            <a:endParaRPr lang="en-US" dirty="0"/>
          </a:p>
          <a:p>
            <a:r>
              <a:rPr lang="en-US" dirty="0"/>
              <a:t>The chain at the top is the point of the first half of the slide. GDPR is a regulation aimed at organisations, not at software. The organisation acquires a duty. Some of that duty can only be discharged by software behaviour: consent capture, deletion, export, access control, logging. So an external document ends up specifying your system.</a:t>
            </a:r>
          </a:p>
          <a:p>
            <a:endParaRPr lang="en-US" dirty="0"/>
          </a:p>
          <a:p>
            <a:r>
              <a:rPr lang="en-US" dirty="0"/>
              <a:t>Then read the clause. You are the engineering team, and someone has told you to implement appropriate measures with security appropriate to the risk. Every one of those words is doing legal work and none of them is doing engineering work.</a:t>
            </a:r>
          </a:p>
          <a:p>
            <a:endParaRPr lang="en-US" dirty="0"/>
          </a:p>
          <a:p>
            <a:r>
              <a:rPr lang="en-US" dirty="0"/>
              <a:t>Run the activity. When collecting, sort answers into two piles as you go: decisions about what the world requires, and decisions about what we will build. That distinction is the bridge to Thursday.</a:t>
            </a:r>
          </a:p>
          <a:p>
            <a:endParaRPr lang="en-US" dirty="0"/>
          </a:p>
          <a:p>
            <a:r>
              <a:rPr lang="en-US" dirty="0"/>
              <a:t>Context if asked: surveys of practitioners report lack of clear requirements as the biggest challenge in achieving compliance, which is exactly this problem at industrial scale.</a:t>
            </a:r>
          </a:p>
          <a:p>
            <a:endParaRPr lang="en-US" dirty="0"/>
          </a:p>
          <a:p>
            <a:r>
              <a:rPr lang="en-US" dirty="0"/>
              <a:t>Transition forward: so an external source can impose a genuine requirement while leaving a great deal of engineering interpretation to us. Before we go looking for requirements, one caution about where in a project this work happens.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90 seconds — </a:t>
            </a:r>
            <a:r>
              <a:rPr lang="en-US" i="1" dirty="0"/>
              <a:t>Prevent students from reading today’s material as step one of a waterfall.</a:t>
            </a:r>
          </a:p>
          <a:p>
            <a:endParaRPr lang="en-US"/>
          </a:p>
          <a:p>
            <a:r>
              <a:rPr lang="en-US" dirty="0"/>
              <a:t>- Callback to the Process lecture, using the same figure they already saw. Do not reteach waterfall or agile.</a:t>
            </a:r>
          </a:p>
          <a:p>
            <a:r>
              <a:rPr lang="en-US" dirty="0"/>
              <a:t>- Point at the requirements annotation in each arrangement: the activity appears in both.</a:t>
            </a:r>
          </a:p>
          <a:p>
            <a:r>
              <a:rPr lang="en-US" dirty="0"/>
              <a:t>- Sequential settles most of it once, up front, in detail. Incremental revisits it every cycle, at coarser grain.</a:t>
            </a:r>
          </a:p>
          <a:p>
            <a:r>
              <a:rPr lang="en-US" dirty="0"/>
              <a:t>- Keep this to about a minute and a half.</a:t>
            </a:r>
          </a:p>
          <a:p>
            <a:endParaRPr lang="en-US"/>
          </a:p>
          <a:p>
            <a:r>
              <a:rPr lang="en-US" dirty="0"/>
              <a:t>=====</a:t>
            </a:r>
          </a:p>
          <a:p>
            <a:endParaRPr lang="en-US"/>
          </a:p>
          <a:p>
            <a:r>
              <a:rPr lang="en-US" dirty="0"/>
              <a:t>You have seen this figure before. Same activities, two arrangements. Notice that requirements work appears in both, and that it is not simply the first box in the second one.</a:t>
            </a:r>
          </a:p>
          <a:p>
            <a:endParaRPr lang="en-US"/>
          </a:p>
          <a:p>
            <a:r>
              <a:rPr lang="en-US" dirty="0"/>
              <a:t>In a sequential arrangement you try to settle the requirements before development, and you pay for being wrong. In an incremental arrangement you settle a little at a time and re-open the question every increment, and you pay in rework and renegotiation instead.</a:t>
            </a:r>
          </a:p>
          <a:p>
            <a:endParaRPr lang="en-US"/>
          </a:p>
          <a:p>
            <a:r>
              <a:rPr lang="en-US" dirty="0"/>
              <a:t>There is no process in which the question of what to build fails to arise. There are only processes that answer it at different times and at different levels of detail.</a:t>
            </a:r>
          </a:p>
          <a:p>
            <a:endParaRPr lang="en-US"/>
          </a:p>
          <a:p>
            <a:r>
              <a:rPr lang="en-US" dirty="0"/>
              <a:t>Transition forward: now we know what kind of thing we are looking for. How do we actually find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20 seconds — </a:t>
            </a:r>
            <a:r>
              <a:rPr lang="en-US" i="1" dirty="0"/>
              <a:t>Turn from what a requirement is to how engineers find out.</a:t>
            </a:r>
          </a:p>
          <a:p>
            <a:endParaRPr lang="en-US"/>
          </a:p>
          <a:p>
            <a:r>
              <a:rPr lang="en-US" dirty="0"/>
              <a:t>- Section 2 of 3.</a:t>
            </a:r>
          </a:p>
          <a:p>
            <a:r>
              <a:rPr lang="en-US" dirty="0"/>
              <a:t>- Order in this section: the toolkit, then two short worked examples, then the loop, then the hard organisational case.</a:t>
            </a:r>
          </a:p>
          <a:p>
            <a:endParaRPr lang="en-US"/>
          </a:p>
          <a:p>
            <a:r>
              <a:rPr lang="en-US" dirty="0"/>
              <a:t>=====</a:t>
            </a:r>
          </a:p>
          <a:p>
            <a:endParaRPr lang="en-US"/>
          </a:p>
          <a:p>
            <a:r>
              <a:rPr lang="en-US" dirty="0"/>
              <a:t>We now know what kind of thing we are looking for, and that obligations arrive from many directions. So how do we actually find them? Everything in this section is a way of buying information about the problem.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7 minutes — </a:t>
            </a:r>
            <a:r>
              <a:rPr lang="en-US" i="1" dirty="0"/>
              <a:t>Give a usable toolkit organised by what it teaches you, not a catalogue of named techniques.</a:t>
            </a:r>
          </a:p>
          <a:p>
            <a:endParaRPr lang="en-US" dirty="0"/>
          </a:p>
          <a:p>
            <a:r>
              <a:rPr lang="en-US" dirty="0"/>
              <a:t>- Stakeholder definition: anyone with a legitimate interest. Producers build, operate and maintain; consumers use it or live with its output; external includes regulators, partners, competitors and the public.</a:t>
            </a:r>
          </a:p>
          <a:p>
            <a:r>
              <a:rPr lang="en-US" dirty="0"/>
              <a:t>- Room question, 30 to 60 seconds. Call back to AFI and to GDPR.</a:t>
            </a:r>
          </a:p>
          <a:p>
            <a:r>
              <a:rPr lang="en-US" dirty="0"/>
              <a:t>- Five standing difficulties to weave in: vision, language, expression, politics, change.</a:t>
            </a:r>
          </a:p>
          <a:p>
            <a:r>
              <a:rPr lang="en-US" dirty="0"/>
              <a:t>- Two worked examples follow, one for Compare and one for Build. Do not give away SafeRTOS here.</a:t>
            </a:r>
          </a:p>
          <a:p>
            <a:endParaRPr lang="en-US" dirty="0"/>
          </a:p>
          <a:p>
            <a:r>
              <a:rPr lang="en-US" dirty="0"/>
              <a:t>=====</a:t>
            </a:r>
          </a:p>
          <a:p>
            <a:endParaRPr lang="en-US" dirty="0"/>
          </a:p>
          <a:p>
            <a:r>
              <a:rPr lang="en-US" dirty="0"/>
              <a:t>Start with the stakeholder map, then the question. Who gains or loses if this system succeeds or fails? Losing matters as much as gaining: the group whose workaround you are about to automate away is a stakeholder, and so is the auditor who will inspect you in two years.</a:t>
            </a:r>
          </a:p>
          <a:p>
            <a:endParaRPr lang="en-US" dirty="0"/>
          </a:p>
          <a:p>
            <a:r>
              <a:rPr lang="en-US" dirty="0"/>
              <a:t>The four quadrants are the whole toolkit. Ask when people can tell you. Observe when they cannot, because expertise becomes invisible to the expert and the workaround never appears in the official process. Compare when somebody has already solved a version of the problem. Build when nobody can judge the idea in the abstract.</a:t>
            </a:r>
          </a:p>
          <a:p>
            <a:endParaRPr lang="en-US" dirty="0"/>
          </a:p>
          <a:p>
            <a:r>
              <a:rPr lang="en-US" dirty="0"/>
              <a:t>Why not just ask? Five reasons, and they are worth naming. Stakeholders may not have a clear vision of what they want. They may speak in domain language you do not share. They may be unable to express what they do know. Political interests distort what they say in public. And what they need changes while you build.</a:t>
            </a:r>
          </a:p>
          <a:p>
            <a:endParaRPr lang="en-US" dirty="0"/>
          </a:p>
          <a:p>
            <a:r>
              <a:rPr lang="en-US" dirty="0"/>
              <a:t>Note that these four are not equally expensive, and their costs have not stayed fixed. Compare is cheap when somebody has already solved a version of the problem. Build used to be the costly one. The next two slides work one example of each.</a:t>
            </a:r>
          </a:p>
          <a:p>
            <a:endParaRPr lang="en-US" dirty="0"/>
          </a:p>
          <a:p>
            <a:r>
              <a:rPr lang="en-US" dirty="0"/>
              <a:t>Transition forward: let us work one of these far enough to see what it actually buys us. Start with Compare.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5 minutes — </a:t>
            </a:r>
            <a:r>
              <a:rPr lang="en-US" i="1" dirty="0"/>
              <a:t>Work one competitive-analysis example far enough that students see which requirements it hands you and which it does not.</a:t>
            </a:r>
          </a:p>
          <a:p>
            <a:endParaRPr lang="en-US"/>
          </a:p>
          <a:p>
            <a:r>
              <a:rPr lang="en-US" dirty="0"/>
              <a:t>- The worked example for the Compare quadrant. Students have just learned functional versus quality in section 1, so this applies that vocabulary rather than introducing it.</a:t>
            </a:r>
          </a:p>
          <a:p>
            <a:r>
              <a:rPr lang="en-US" dirty="0"/>
              <a:t>- Ask the title question before revealing FreeRTOS. Someone will get it.</a:t>
            </a:r>
          </a:p>
          <a:p>
            <a:r>
              <a:rPr lang="en-US" dirty="0"/>
              <a:t>- Then ask the room question and take three or four answers.</a:t>
            </a:r>
          </a:p>
          <a:p>
            <a:r>
              <a:rPr lang="en-US" dirty="0"/>
              <a:t>- Room discussion, 60 seconds. Not a think-pair-share.</a:t>
            </a:r>
          </a:p>
          <a:p>
            <a:r>
              <a:rPr lang="en-US" dirty="0"/>
              <a:t>- Takeaway: in this case comparison supplied much of the functional baseline, while the consequential quality and assurance obligations still had to be established.</a:t>
            </a:r>
          </a:p>
          <a:p>
            <a:endParaRPr lang="en-US"/>
          </a:p>
          <a:p>
            <a:r>
              <a:rPr lang="en-US" dirty="0"/>
              <a:t>=====</a:t>
            </a:r>
          </a:p>
          <a:p>
            <a:endParaRPr lang="en-US"/>
          </a:p>
          <a:p>
            <a:r>
              <a:rPr lang="en-US" dirty="0"/>
              <a:t>SafeRTOS is a real-time operating system kernel for safety-critical systems. Ask where its functional requirements came from. The answer is FreeRTOS: an existing, widely used open-source kernel. They kept the API compatible on purpose, so the behaviour a developer sees is largely inherited.</a:t>
            </a:r>
          </a:p>
          <a:p>
            <a:endParaRPr lang="en-US"/>
          </a:p>
          <a:p>
            <a:r>
              <a:rPr lang="en-US" dirty="0"/>
              <a:t>So what did they actually have to produce? Everything on the right. A design and coding standard they could defend. Analysis showing the failure behaviour. Documented, bounded timing. Test evidence and traceability an assessor will accept. Certification against the relevant standard.</a:t>
            </a:r>
          </a:p>
          <a:p>
            <a:endParaRPr lang="en-US"/>
          </a:p>
          <a:p>
            <a:r>
              <a:rPr lang="en-US" dirty="0"/>
              <a:t>The lesson about Compare is not that it only yields functional requirements; studying a competitor can reveal quality expectations too. It is that comparison tells you what has already been settled, and leaves you to establish the obligations that make your version different. Here those obligations were the entire product.</a:t>
            </a:r>
          </a:p>
          <a:p>
            <a:endParaRPr lang="en-US"/>
          </a:p>
          <a:p>
            <a:r>
              <a:rPr lang="en-US" dirty="0"/>
              <a:t>Connect back to the two problems slide: comparison narrows what we know about the problem. Deciding whether certification is worth the engineering effort belongs to commitment, which is section 3.</a:t>
            </a:r>
          </a:p>
          <a:p>
            <a:endParaRPr lang="en-US"/>
          </a:p>
          <a:p>
            <a:r>
              <a:rPr lang="en-US" dirty="0"/>
              <a:t>Transition forward: Compare can give an enormous head start. What about Build? Building used to be one of the expensive ways to learn. That has changed.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The optimistic MAGE moment: cheap partial realisations make learning-by-building economically attractive.</a:t>
            </a:r>
          </a:p>
          <a:p>
            <a:endParaRPr lang="en-US"/>
          </a:p>
          <a:p>
            <a:r>
              <a:rPr lang="en-US" dirty="0"/>
              <a:t>- MAGE Moment one of four. GenAI changes the economics of learning what to build.</a:t>
            </a:r>
          </a:p>
          <a:p>
            <a:r>
              <a:rPr lang="en-US" dirty="0"/>
              <a:t>- Ask the hook and let them answer it out loud; people are far better at criticising an artefact than at specifying one.</a:t>
            </a:r>
          </a:p>
          <a:p>
            <a:r>
              <a:rPr lang="en-US" dirty="0"/>
              <a:t>- Tie back to the Process lecture: incremental processes are attractive exactly when a partial system can be meaningfully evaluated.</a:t>
            </a:r>
          </a:p>
          <a:p>
            <a:r>
              <a:rPr lang="en-US" dirty="0"/>
              <a:t>- End on the caution. Then transition: that was one user reacting to one prototype. Next we place it in the general loop, and then make the case much harder.</a:t>
            </a:r>
          </a:p>
          <a:p>
            <a:endParaRPr lang="en-US"/>
          </a:p>
          <a:p>
            <a:r>
              <a:rPr lang="en-US" dirty="0"/>
              <a:t>=====</a:t>
            </a:r>
          </a:p>
          <a:p>
            <a:endParaRPr lang="en-US"/>
          </a:p>
          <a:p>
            <a:r>
              <a:rPr lang="en-US" dirty="0"/>
              <a:t>Look at the fourth quadrant again. Building used to be the most expensive way to learn a requirement, so we only did it when the stakes justified it. If a working sketch costs an afternoon, the calculation changes.</a:t>
            </a:r>
          </a:p>
          <a:p>
            <a:endParaRPr lang="en-US"/>
          </a:p>
          <a:p>
            <a:r>
              <a:rPr lang="en-US" dirty="0"/>
              <a:t>The two loops are the argument. In the old loop the prototype was so expensive that you had to get the description right first, which is precisely the thing stakeholders are bad at. In the new loop you put something in front of them early and let them react, and their reactions are the elicitation data.</a:t>
            </a:r>
          </a:p>
          <a:p>
            <a:endParaRPr lang="en-US"/>
          </a:p>
          <a:p>
            <a:r>
              <a:rPr lang="en-US" dirty="0"/>
              <a:t>Two cautions. A prototype that cannot be meaningfully evaluated teaches nothing, so make sure the thing you build exercises the question you have. And a prototype that looks finished invites people to treat it as finished.</a:t>
            </a:r>
          </a:p>
          <a:p>
            <a:endParaRPr lang="en-US"/>
          </a:p>
          <a:p>
            <a:r>
              <a:rPr lang="en-US" dirty="0"/>
              <a:t>Key line to say out loud: when realization becomes cheap, building can become a way of asking questions. Then the caution, said carefully: a prototype can teach us what the requirements are. It is not necessarily the specification, and it is definitely not necessarily the product.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a:t>
            </a:r>
            <a:r>
              <a:rPr lang="en-US" i="1" dirty="0"/>
              <a:t>Give a working model of requirements activity without implying a fixed phase.</a:t>
            </a:r>
          </a:p>
          <a:p>
            <a:endParaRPr lang="en-US"/>
          </a:p>
          <a:p>
            <a:r>
              <a:rPr lang="en-US" dirty="0"/>
              <a:t>- Five verbs, one cycle. The return arrow is the important part of the picture.</a:t>
            </a:r>
          </a:p>
          <a:p>
            <a:r>
              <a:rPr lang="en-US" dirty="0"/>
              <a:t>- Negotiate is where section 3’s economics will live. Flag it and move on.</a:t>
            </a:r>
          </a:p>
          <a:p>
            <a:r>
              <a:rPr lang="en-US" dirty="0"/>
              <a:t>- Say that the prototype we just discussed is one way to buy information inside this loop, as are feasibility studies. Do not detour into the process diagram.</a:t>
            </a:r>
          </a:p>
          <a:p>
            <a:endParaRPr lang="en-US"/>
          </a:p>
          <a:p>
            <a:r>
              <a:rPr lang="en-US" dirty="0"/>
              <a:t>=====</a:t>
            </a:r>
          </a:p>
          <a:p>
            <a:endParaRPr lang="en-US"/>
          </a:p>
          <a:p>
            <a:r>
              <a:rPr lang="en-US" dirty="0"/>
              <a:t>Discover what people need. Organise it into something you can reason about. Negotiate and prioritise, because you cannot have all of it. Record what was decided so nobody has to rediscover it. Then learn something that invalidates part of what you just recorded, and go round again.</a:t>
            </a:r>
          </a:p>
          <a:p>
            <a:endParaRPr lang="en-US"/>
          </a:p>
          <a:p>
            <a:r>
              <a:rPr lang="en-US" dirty="0"/>
              <a:t>A feasibility study or a prototype is a way of buying information inside this loop. Note that you might traverse the whole loop in an afternoon for one feature, or over six months for a procurement. Same activities, different tempo.</a:t>
            </a:r>
          </a:p>
          <a:p>
            <a:endParaRPr lang="en-US"/>
          </a:p>
          <a:p>
            <a:r>
              <a:rPr lang="en-US" dirty="0"/>
              <a:t>Transition forward, and make it explicit: that was the easy case. One user looks at a prototype and tells us what is wrong. Now make it hard. What if the customer is a multinational with thousands of employees, dozens of offices, conflicting objectives and two previous failed implementations, and you have to quote a price?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Show that possessing requirements is not the same as being able to make a responsible commitment.</a:t>
            </a:r>
          </a:p>
          <a:p>
            <a:endParaRPr lang="en-US"/>
          </a:p>
          <a:p>
            <a:r>
              <a:rPr lang="en-US" dirty="0"/>
              <a:t>- The hard case, deliberately placed after students already have the toolkit, stakeholders, candidate requirements and the loop. AFI is a multinational finance company; Nexell is the integrator bidding on a Salesforce CRM integration.</a:t>
            </a:r>
          </a:p>
          <a:p>
            <a:r>
              <a:rPr lang="en-US" dirty="0"/>
              <a:t>- Thousands of employees, roughly 40 locations, and two prior failed CRM attempts.</a:t>
            </a:r>
          </a:p>
          <a:p>
            <a:r>
              <a:rPr lang="en-US" dirty="0"/>
              <a:t>- Question 3 is the one this lecture is about: the vendor has to name a scope and a price.</a:t>
            </a:r>
          </a:p>
          <a:p>
            <a:r>
              <a:rPr lang="en-US" dirty="0"/>
              <a:t>- Connect back to the thesis slide: question 1 is the left column, questions 2 and 3 are the right column, which is section 3.</a:t>
            </a:r>
          </a:p>
          <a:p>
            <a:endParaRPr lang="en-US"/>
          </a:p>
          <a:p>
            <a:r>
              <a:rPr lang="en-US" dirty="0"/>
              <a:t>=====</a:t>
            </a:r>
          </a:p>
          <a:p>
            <a:endParaRPr lang="en-US"/>
          </a:p>
          <a:p>
            <a:r>
              <a:rPr lang="en-US" dirty="0"/>
              <a:t>A prototype will not save you here, and neither will one interview. AFI arrives with a spreadsheet. Every department has submitted what it wants. In one sense they do have requirements: there is a document, and people signed it.</a:t>
            </a:r>
          </a:p>
          <a:p>
            <a:endParaRPr lang="en-US"/>
          </a:p>
          <a:p>
            <a:r>
              <a:rPr lang="en-US" dirty="0"/>
              <a:t>Now put yourself on the vendor side. You are being asked to sign a contract. What is in that spreadsheet is a pile of stated wishes at wildly different levels of detail, from people with different authority, some of whom contradict each other. You cannot cost it, you cannot sequence it, and you cannot tell which items are actually load-bearing.</a:t>
            </a:r>
          </a:p>
          <a:p>
            <a:endParaRPr lang="en-US"/>
          </a:p>
          <a:p>
            <a:r>
              <a:rPr lang="en-US" dirty="0"/>
              <a:t>Two prior CRM attempts had already failed here, which is exactly the kind of history that should make a vendor cautious about promising anything.</a:t>
            </a:r>
          </a:p>
          <a:p>
            <a:endParaRPr lang="en-US"/>
          </a:p>
          <a:p>
            <a:r>
              <a:rPr lang="en-US" dirty="0"/>
              <a:t>Transition forward: so who do you talk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Turn “ask the customer” into a stakeholder problem the students feel.</a:t>
            </a:r>
          </a:p>
          <a:p>
            <a:endParaRPr lang="en-US"/>
          </a:p>
          <a:p>
            <a:r>
              <a:rPr lang="en-US" dirty="0"/>
              <a:t>- Room engagement, not a think-pair-share. Take four or five answers and write them where everyone can see.</a:t>
            </a:r>
          </a:p>
          <a:p>
            <a:r>
              <a:rPr lang="en-US" dirty="0"/>
              <a:t>- Push back gently on “the CEO” and on “the users”: ask what each one would and would not know.</a:t>
            </a:r>
          </a:p>
          <a:p>
            <a:r>
              <a:rPr lang="en-US" dirty="0"/>
              <a:t>- Land the point that no single person on this chart holds the requirements, and call back explicitly to the stakeholder model from the toolkit slide: there is no one customer.</a:t>
            </a:r>
          </a:p>
          <a:p>
            <a:endParaRPr lang="en-US"/>
          </a:p>
          <a:p>
            <a:r>
              <a:rPr lang="en-US" dirty="0"/>
              <a:t>=====</a:t>
            </a:r>
          </a:p>
          <a:p>
            <a:endParaRPr lang="en-US"/>
          </a:p>
          <a:p>
            <a:r>
              <a:rPr lang="en-US" dirty="0"/>
              <a:t>This is AFI. Pick someone on this chart and tell me what you would learn from them, and what you would still be missing.</a:t>
            </a:r>
          </a:p>
          <a:p>
            <a:endParaRPr lang="en-US"/>
          </a:p>
          <a:p>
            <a:r>
              <a:rPr lang="en-US" dirty="0"/>
              <a:t>Expect: executives know strategy and budget but not daily work; regional managers know local exceptions; the sales team knows the workarounds; IT knows the existing systems and the integration constraints. Nobody has the whole picture, and several of them will describe incompatible systems.</a:t>
            </a:r>
          </a:p>
          <a:p>
            <a:endParaRPr lang="en-US"/>
          </a:p>
          <a:p>
            <a:r>
              <a:rPr lang="en-US" dirty="0"/>
              <a:t>Transition forward: Nexell’s answer to this was not one giant meeting. They split the room deliberately.</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Explain why Nexell deliberately separated the management and operational conversations.</a:t>
            </a:r>
          </a:p>
          <a:p>
            <a:endParaRPr lang="en-US"/>
          </a:p>
          <a:p>
            <a:r>
              <a:rPr lang="en-US" dirty="0"/>
              <a:t>- Two workshops, two canvases, two vocabularies. Same system.</a:t>
            </a:r>
          </a:p>
          <a:p>
            <a:r>
              <a:rPr lang="en-US" dirty="0"/>
              <a:t>- One giant meeting is not automatically better: authority silences detail.</a:t>
            </a:r>
          </a:p>
          <a:p>
            <a:r>
              <a:rPr lang="en-US" dirty="0"/>
              <a:t>- Do not teach the canvas tool itself; the structure of the conversation is the lesson.</a:t>
            </a:r>
          </a:p>
          <a:p>
            <a:endParaRPr lang="en-US"/>
          </a:p>
          <a:p>
            <a:r>
              <a:rPr lang="en-US" dirty="0"/>
              <a:t>=====</a:t>
            </a:r>
          </a:p>
          <a:p>
            <a:endParaRPr lang="en-US"/>
          </a:p>
          <a:p>
            <a:r>
              <a:rPr lang="en-US" dirty="0"/>
              <a:t>Nexell ran separate workshops. Management talked about strategy, competitive position, regulatory obligations and what the company was trying to become. Operations talked about what happens on a Tuesday afternoon: which screens they avoid, which spreadsheet they keep on the side, which step they skip when the queue is long.</a:t>
            </a:r>
          </a:p>
          <a:p>
            <a:endParaRPr lang="en-US"/>
          </a:p>
          <a:p>
            <a:r>
              <a:rPr lang="en-US" dirty="0"/>
              <a:t>Why not put everyone in one room? Because in a room containing your director you do not volunteer that you have been working around the official process for two years. And because the two groups disagree about what the system is for, and that disagreement is information you want on the table rather than smoothed over.</a:t>
            </a:r>
          </a:p>
          <a:p>
            <a:endParaRPr lang="en-US"/>
          </a:p>
          <a:p>
            <a:r>
              <a:rPr lang="en-US" dirty="0"/>
              <a:t>Build the left view alone and you get a system that serves the strategy and nobody’s work. Build the right view alone and you automate today’s workarounds.</a:t>
            </a:r>
          </a:p>
          <a:p>
            <a:endParaRPr lang="en-US"/>
          </a:p>
          <a:p>
            <a:r>
              <a:rPr lang="en-US" dirty="0"/>
              <a:t>Transition forward: what did this buy them?</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a:t>
            </a:r>
            <a:r>
              <a:rPr lang="en-US" i="1" dirty="0"/>
              <a:t>End Discovery by linking requirements knowledge to what the vendor could responsibly commit to.</a:t>
            </a:r>
          </a:p>
          <a:p>
            <a:endParaRPr lang="en-US" dirty="0"/>
          </a:p>
          <a:p>
            <a:r>
              <a:rPr lang="en-US" dirty="0"/>
              <a:t>- The lesson is not “have a requirements phase”. That is process-specific and weaker.</a:t>
            </a:r>
          </a:p>
          <a:p>
            <a:r>
              <a:rPr lang="en-US" dirty="0"/>
              <a:t>- The lesson is that problem knowledge is what makes a commitment defensible.</a:t>
            </a:r>
          </a:p>
          <a:p>
            <a:r>
              <a:rPr lang="en-US" dirty="0"/>
              <a:t>- AFI also changed how it thought about its own operation: from buying a product to buying a service.</a:t>
            </a:r>
          </a:p>
          <a:p>
            <a:endParaRPr lang="en-US" dirty="0"/>
          </a:p>
          <a:p>
            <a:r>
              <a:rPr lang="en-US" dirty="0"/>
              <a:t>=====</a:t>
            </a:r>
          </a:p>
          <a:p>
            <a:endParaRPr lang="en-US" dirty="0"/>
          </a:p>
          <a:p>
            <a:r>
              <a:rPr lang="en-US" dirty="0"/>
              <a:t>Before the workshops, the requirement was effectively a product name. After them, Nexell could name components, say which depended on which, sequence the work, plan for training and the organisational change, show each stakeholder group where its concerns landed, and put a number on it.</a:t>
            </a:r>
          </a:p>
          <a:p>
            <a:endParaRPr lang="en-US" dirty="0"/>
          </a:p>
          <a:p>
            <a:r>
              <a:rPr lang="en-US" dirty="0"/>
              <a:t>Notice what kind of gain that is. It is partly a better product. But it is mostly a better decision: they now knew what they were agreeing to and what it would cost. That is the bridge into the second half of the lecture.</a:t>
            </a:r>
          </a:p>
          <a:p>
            <a:endParaRPr lang="en-US" dirty="0"/>
          </a:p>
          <a:p>
            <a:r>
              <a:rPr lang="en-US" dirty="0"/>
              <a:t>Transition forward, and say it explicitly: Nexell did not merely learn more about AFI. Better knowledge let them decide what they could credibly promise, and at what price. That is the turn into our last section.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40 seconds — </a:t>
            </a:r>
            <a:r>
              <a:rPr lang="en-US" i="1" dirty="0"/>
              <a:t>Make the conceptual turn explicit: valuable is not the same as required.</a:t>
            </a:r>
          </a:p>
          <a:p>
            <a:endParaRPr lang="en-US"/>
          </a:p>
          <a:p>
            <a:r>
              <a:rPr lang="en-US" dirty="0"/>
              <a:t>- Section 3 of 3, and the part most requirements lectures omit.</a:t>
            </a:r>
          </a:p>
          <a:p>
            <a:r>
              <a:rPr lang="en-US" dirty="0"/>
              <a:t>- Say it plainly: discovering that something would be valuable does not mean we should make it a requirement. Now we have to choose.</a:t>
            </a:r>
          </a:p>
          <a:p>
            <a:r>
              <a:rPr lang="en-US" dirty="0"/>
              <a:t>- Call back to the right-hand column of the two-problems slide.</a:t>
            </a:r>
          </a:p>
          <a:p>
            <a:endParaRPr lang="en-US"/>
          </a:p>
          <a:p>
            <a:r>
              <a:rPr lang="en-US" dirty="0"/>
              <a:t>=====</a:t>
            </a:r>
          </a:p>
          <a:p>
            <a:endParaRPr lang="en-US"/>
          </a:p>
          <a:p>
            <a:r>
              <a:rPr lang="en-US" dirty="0"/>
              <a:t>Everything so far has produced candidates. Nexell ended up with components, dependencies and a roadmap, and every one of those items is something somebody would like to have.</a:t>
            </a:r>
          </a:p>
          <a:p>
            <a:endParaRPr lang="en-US"/>
          </a:p>
          <a:p>
            <a:r>
              <a:rPr lang="en-US" dirty="0"/>
              <a:t>A requirement is a different thing from a candidate. It is an obligation we have accepted, which means we have agreed to spend scarce engineering capacity on it rather than on something else. This section is about making that choice defensibly.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9 minutes — </a:t>
            </a:r>
            <a:r>
              <a:rPr lang="en-US" i="1" dirty="0"/>
              <a:t>Make the economics experiential: students allocate scarce capacity and discover what they need to know to do it.</a:t>
            </a:r>
          </a:p>
          <a:p>
            <a:endParaRPr lang="en-US" dirty="0"/>
          </a:p>
          <a:p>
            <a:r>
              <a:rPr lang="en-US" dirty="0"/>
              <a:t>- Think-pair-share number two, and the last one. Two minutes alone, three in pairs, four collecting.</a:t>
            </a:r>
          </a:p>
          <a:p>
            <a:r>
              <a:rPr lang="en-US" dirty="0"/>
              <a:t>- The second question is the real one. Their first instinct will be to ask you for information.</a:t>
            </a:r>
          </a:p>
          <a:p>
            <a:r>
              <a:rPr lang="en-US" dirty="0"/>
              <a:t>- Expect: who the users are, whether there is a legal or contractual obligation, what current performance is, what each option costs, expected value, risk.</a:t>
            </a:r>
          </a:p>
          <a:p>
            <a:r>
              <a:rPr lang="en-US" dirty="0"/>
              <a:t>- Land the lesson: prioritisation cannot be separated from elicitation, constraints, and estimation.</a:t>
            </a:r>
          </a:p>
          <a:p>
            <a:r>
              <a:rPr lang="en-US" dirty="0"/>
              <a:t>- Then reveal: choosing requirements means allocating scarce resources; the opportunity cost of A is what you cannot do because you chose A.</a:t>
            </a:r>
          </a:p>
          <a:p>
            <a:endParaRPr lang="en-US" dirty="0"/>
          </a:p>
          <a:p>
            <a:r>
              <a:rPr lang="en-US" dirty="0"/>
              <a:t>=====</a:t>
            </a:r>
          </a:p>
          <a:p>
            <a:endParaRPr lang="en-US" dirty="0"/>
          </a:p>
          <a:p>
            <a:r>
              <a:rPr lang="en-US" dirty="0"/>
              <a:t>Set it up plainly. One team, one semester, four things people want, and you can fund two. Which two do you require? Notice the verb: require. You are not expressing a preference, you are creating an obligation.</a:t>
            </a:r>
          </a:p>
          <a:p>
            <a:endParaRPr lang="en-US" dirty="0"/>
          </a:p>
          <a:p>
            <a:r>
              <a:rPr lang="en-US" dirty="0"/>
              <a:t>Collect answers, but push on the justification rather than the choice. Within a minute somebody will say it depends, and they are right. That is the lesson: you cannot prioritise without knowing who the users are, what the law requires, what the current performance actually is, and what each option would cost.</a:t>
            </a:r>
          </a:p>
          <a:p>
            <a:endParaRPr lang="en-US" dirty="0"/>
          </a:p>
          <a:p>
            <a:r>
              <a:rPr lang="en-US" dirty="0"/>
              <a:t>Now connect it to their own working lives, because the same decision looks different in different settings. At a large company you allocate engineer-weeks and team capacity in quarterly planning. At a startup those same weeks are visibly runway and dollars. In an acquisition or a contract the dollar estimate is written down and signed. When an individual engineer says this is three engineers for a quarter, they are already supplying the input to an economic decision, even if they never see the money.</a:t>
            </a:r>
          </a:p>
          <a:p>
            <a:endParaRPr lang="en-US" dirty="0"/>
          </a:p>
          <a:p>
            <a:r>
              <a:rPr lang="en-US" dirty="0"/>
              <a:t>Transition forward, and use their own words: everybody just asked me how expensive A through D are. But we have not specified them yet. So how am I supposed to tell you?</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Correct the marginal-cost misconception: implementation is one term in the cost, not the whole of it.</a:t>
            </a:r>
          </a:p>
          <a:p>
            <a:endParaRPr lang="en-US"/>
          </a:p>
          <a:p>
            <a:r>
              <a:rPr lang="en-US" dirty="0"/>
              <a:t>- MAGE Moment two of four. It lands immediately after students have felt scarcity for themselves.</a:t>
            </a:r>
          </a:p>
          <a:p>
            <a:r>
              <a:rPr lang="en-US" dirty="0"/>
              <a:t>- Deliver the hook in the product manager’s voice; it is the argument they will actually face.</a:t>
            </a:r>
          </a:p>
          <a:p>
            <a:r>
              <a:rPr lang="en-US" dirty="0"/>
              <a:t>- Say the takeaway verbatim: the marginal cost fell, it did not fall to zero.</a:t>
            </a:r>
          </a:p>
          <a:p>
            <a:r>
              <a:rPr lang="en-US" dirty="0"/>
              <a:t>- Positive MAGE point: explicit models, reusable checks, constraints, architecture, and evidence can reduce the surrounding costs too.</a:t>
            </a:r>
          </a:p>
          <a:p>
            <a:endParaRPr lang="en-US"/>
          </a:p>
          <a:p>
            <a:r>
              <a:rPr lang="en-US" dirty="0"/>
              <a:t>=====</a:t>
            </a:r>
          </a:p>
          <a:p>
            <a:endParaRPr lang="en-US"/>
          </a:p>
          <a:p>
            <a:r>
              <a:rPr lang="en-US" dirty="0"/>
              <a:t>You just told me you needed to know what A through D cost. Here is the argument you will hear when you try to say something costs anything: it is only one more feature, and the model can write it in five minutes.</a:t>
            </a:r>
          </a:p>
          <a:p>
            <a:endParaRPr lang="en-US"/>
          </a:p>
          <a:p>
            <a:r>
              <a:rPr lang="en-US" dirty="0"/>
              <a:t>The claim is half right. Implementation genuinely got cheaper. But look at the right panel: someone still has to decide what the feature means, how it interacts with what exists, how we know it works, what it exposes, who operates it at three in the morning, and what it costs us the next time we want to change the system. None of that was the typing.</a:t>
            </a:r>
          </a:p>
          <a:p>
            <a:endParaRPr lang="en-US"/>
          </a:p>
          <a:p>
            <a:r>
              <a:rPr lang="en-US" dirty="0"/>
              <a:t>MAGE’s claim is not that these costs are immutable. If the system carries explicit models, reusable validators, architectural constraints, and machinery for producing evidence, then several of those surrounding costs can also come down. The point is that cheap implementation exposes them and creates the incentive to engineer them down. Zero is the wrong mental model.</a:t>
            </a:r>
          </a:p>
          <a:p>
            <a:endParaRPr lang="en-US"/>
          </a:p>
          <a:p>
            <a:r>
              <a:rPr lang="en-US" dirty="0"/>
              <a:t>Transition forward: if the cost structure is moving, our estimates are built on assumptions that are also moving.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5 minutes — </a:t>
            </a:r>
            <a:r>
              <a:rPr lang="en-US" i="1" dirty="0"/>
              <a:t>Make estimation part of requirements decision-making, and admit that its historical basis is moving.</a:t>
            </a:r>
          </a:p>
          <a:p>
            <a:endParaRPr lang="en-US" dirty="0"/>
          </a:p>
          <a:p>
            <a:r>
              <a:rPr lang="en-US" dirty="0"/>
              <a:t>- Arrive here on the students’ own question from the previous activity: how much does A cost?</a:t>
            </a:r>
          </a:p>
          <a:p>
            <a:r>
              <a:rPr lang="en-US" dirty="0"/>
              <a:t>- The tension is genuine and does not resolve; we manage it by looping, not by solving it.</a:t>
            </a:r>
          </a:p>
          <a:p>
            <a:r>
              <a:rPr lang="en-US" dirty="0"/>
              <a:t>- Enforce the four-way distinction. Confusing an estimate with a commitment is how projects acquire impossible deadlines.</a:t>
            </a:r>
          </a:p>
          <a:p>
            <a:r>
              <a:rPr lang="en-US" dirty="0"/>
              <a:t>- MAGE Moment three of four. Quick show of hands on the five-times question; do not run a formal activity.</a:t>
            </a:r>
          </a:p>
          <a:p>
            <a:r>
              <a:rPr lang="en-US" dirty="0"/>
              <a:t>- Key line: a better specification may increase the estimate while improving the estimate.</a:t>
            </a:r>
          </a:p>
          <a:p>
            <a:endParaRPr lang="en-US" dirty="0"/>
          </a:p>
          <a:p>
            <a:r>
              <a:rPr lang="en-US" dirty="0"/>
              <a:t>=====</a:t>
            </a:r>
          </a:p>
          <a:p>
            <a:endParaRPr lang="en-US" dirty="0"/>
          </a:p>
          <a:p>
            <a:r>
              <a:rPr lang="en-US" dirty="0"/>
              <a:t>You asked me what the options cost. I cannot tell you, because we have not said precisely what they are. But you cannot tell me which ones to specify precisely until you know roughly what they cost. That is the shape of the problem, and it does not go away.</a:t>
            </a:r>
          </a:p>
          <a:p>
            <a:endParaRPr lang="en-US" dirty="0"/>
          </a:p>
          <a:p>
            <a:r>
              <a:rPr lang="en-US" dirty="0"/>
              <a:t>What we do instead is loop. Early on you estimate by analogy, by expert judgement, by coarse decomposition, and you give ranges rather than points. We are not doing COCOMO today. Keep the four words apart: an estimate is a prediction, a budget is money allocated, a target is what we would like, and a commitment is what we have promised.</a:t>
            </a:r>
          </a:p>
          <a:p>
            <a:endParaRPr lang="en-US" dirty="0"/>
          </a:p>
          <a:p>
            <a:r>
              <a:rPr lang="en-US" dirty="0"/>
              <a:t>Now the MAGE question. Hands up if a five-times faster coder makes the project five times cheaper. It does not, and by now you know why: implementation was one term. But something subtler is happening too. The historical relationships among functionality, implementation effort, staffing, and schedule are moving, so yesterday’s productivity assumptions deserve skepticism. We can still estimate; we should be more careful about what we are extrapolating from.</a:t>
            </a:r>
          </a:p>
          <a:p>
            <a:endParaRPr lang="en-US" dirty="0"/>
          </a:p>
          <a:p>
            <a:r>
              <a:rPr lang="en-US" dirty="0"/>
              <a:t>This is where the MAGE notion of margin fits. Some apparent degrees of freedom turn out to contain tacit obligations, and finding them makes the estimate larger but better. Worked example: a hundred thousand dollars plus or minus eighty thousand, then you discover accessibility, data migration and security obligations, and now it is a hundred and sixty thousand plus or minus twenty. The number went up and the estimate improved. Save the full specification payoff for Thursday.</a:t>
            </a:r>
          </a:p>
          <a:p>
            <a:endParaRPr lang="en-US" dirty="0"/>
          </a:p>
          <a:p>
            <a:r>
              <a:rPr lang="en-US" dirty="0"/>
              <a:t>If it comes up: the Defence Department’s Software Acquisition Pathway makes this explicit in dollars, producing a cost estimate during planning from capability needs before iterative execution begins. Many software organisations express the same thing as staffing and capacity.</a:t>
            </a:r>
          </a:p>
          <a:p>
            <a:endParaRPr lang="en-US" dirty="0"/>
          </a:p>
          <a:p>
            <a:r>
              <a:rPr lang="en-US" dirty="0"/>
              <a:t>Transition forward: if the cost of building is moving, then so is the calculation about what to build at all rather than buy.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4 minutes — </a:t>
            </a:r>
            <a:r>
              <a:rPr lang="en-US" i="1" dirty="0"/>
              <a:t>Show that cheap replication changes what it makes economic sense to buy rather than build.</a:t>
            </a:r>
          </a:p>
          <a:p>
            <a:endParaRPr lang="en-US" dirty="0"/>
          </a:p>
          <a:p>
            <a:r>
              <a:rPr lang="en-US" dirty="0"/>
              <a:t>- MAGE Moment four of four, and the last slide of section 3. GenAI changes the economics of commitment and acquisition.</a:t>
            </a:r>
          </a:p>
          <a:p>
            <a:r>
              <a:rPr lang="en-US" dirty="0"/>
              <a:t>- Ask the room question and collect three or four answers: data, integrations, reliability, security, operations, support, institutional knowledge.</a:t>
            </a:r>
          </a:p>
          <a:p>
            <a:r>
              <a:rPr lang="en-US" dirty="0"/>
              <a:t>- Punchline: everything they just named is also a source of requirements and of cost. They met all of those in sections 1 and 2, and priced them in section 3.</a:t>
            </a:r>
          </a:p>
          <a:p>
            <a:r>
              <a:rPr lang="en-US" dirty="0"/>
              <a:t>- Room discussion only, 30 to 60 seconds. This is not a think-pair-share.</a:t>
            </a:r>
          </a:p>
          <a:p>
            <a:endParaRPr lang="en-US" dirty="0"/>
          </a:p>
          <a:p>
            <a:r>
              <a:rPr lang="en-US" dirty="0"/>
              <a:t>=====</a:t>
            </a:r>
          </a:p>
          <a:p>
            <a:endParaRPr lang="en-US" dirty="0"/>
          </a:p>
          <a:p>
            <a:r>
              <a:rPr lang="en-US" dirty="0"/>
              <a:t>State the provenance carefully. Bain’s Asia-Pacific Private Equity Report 2026 says that in technical diligence buyers may build prototypes that replicate key product features, in order to assess AI risk and refine an investment thesis before committing to a deal. Bain described a concrete version of this in 2024: during diligence on a proprietary AI software target, a team built competing prototypes with GPT-4 and open-source models in days and compared them against the target.</a:t>
            </a:r>
          </a:p>
          <a:p>
            <a:endParaRPr lang="en-US" dirty="0"/>
          </a:p>
          <a:p>
            <a:r>
              <a:rPr lang="en-US" dirty="0"/>
              <a:t>Do not claim that Bain is replacing its own enterprise SaaS with do-it-yourself AI software. The narrower claim is the interesting one: a weekend prototype is now cheap enough to be used as evidence about what a software company’s features are actually worth.</a:t>
            </a:r>
          </a:p>
          <a:p>
            <a:endParaRPr lang="en-US" dirty="0"/>
          </a:p>
          <a:p>
            <a:r>
              <a:rPr lang="en-US" dirty="0"/>
              <a:t>Sources: Bain &amp; Company, Asia-Pacific Private Equity Report 2026 (bain.com/insights/topics/asia-pacific-private-equity-report). Background: Bain &amp; Company, Tech Due Diligence.</a:t>
            </a:r>
          </a:p>
          <a:p>
            <a:endParaRPr lang="en-US" dirty="0"/>
          </a:p>
          <a:p>
            <a:r>
              <a:rPr lang="en-US" dirty="0"/>
              <a:t>Do not spend long here; it is a vivid example, not a case study. Transition forward: that is the last of the four MAGE Moments. Step back and name what we have been doing all lecture.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90 seconds — </a:t>
            </a:r>
            <a:r>
              <a:rPr lang="en-US" i="1" dirty="0"/>
              <a:t>Name what the whole lecture has been doing before summarising it.</a:t>
            </a:r>
          </a:p>
          <a:p>
            <a:endParaRPr lang="en-US"/>
          </a:p>
          <a:p>
            <a:r>
              <a:rPr lang="en-US" dirty="0"/>
              <a:t>- Not a new section. This is the hinge into the summary.</a:t>
            </a:r>
          </a:p>
          <a:p>
            <a:r>
              <a:rPr lang="en-US" dirty="0"/>
              <a:t>- The two arrows are the two halves of the lecture: discovery narrows what might matter; economics decides what we promise.</a:t>
            </a:r>
          </a:p>
          <a:p>
            <a:r>
              <a:rPr lang="en-US" dirty="0"/>
              <a:t>- Stress that uncertainty is reduced, never removed. That is why estimates carry ranges and why the loop keeps running.</a:t>
            </a:r>
          </a:p>
          <a:p>
            <a:endParaRPr lang="en-US"/>
          </a:p>
          <a:p>
            <a:r>
              <a:rPr lang="en-US" dirty="0"/>
              <a:t>=====</a:t>
            </a:r>
          </a:p>
          <a:p>
            <a:endParaRPr lang="en-US"/>
          </a:p>
          <a:p>
            <a:r>
              <a:rPr lang="en-US" dirty="0"/>
              <a:t>Step back and look at the shape of what we did today. We started with an enormous space of things that might matter to somebody. Discovery narrowed that to a set of candidates that appear valuable. Then feasibility, negotiation and economics narrowed it again to the things we are prepared to promise.</a:t>
            </a:r>
          </a:p>
          <a:p>
            <a:endParaRPr lang="en-US"/>
          </a:p>
          <a:p>
            <a:r>
              <a:rPr lang="en-US" dirty="0"/>
              <a:t>Notice that at no point did the uncertainty go to zero. We did not learn everything about AFI. Nexell did not know exactly what the integration would cost. What changed is that the remaining uncertainty became small enough, and understood well enough, that a commitment was defensible. That is the standard to hold yourself to, not certainty.</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Compress the three movements into one reusable model and hand off to Specification.</a:t>
            </a:r>
          </a:p>
          <a:p>
            <a:endParaRPr lang="en-US"/>
          </a:p>
          <a:p>
            <a:r>
              <a:rPr lang="en-US" dirty="0"/>
              <a:t>- Walk down once, naming the section each band came from.</a:t>
            </a:r>
          </a:p>
          <a:p>
            <a:r>
              <a:rPr lang="en-US" dirty="0"/>
              <a:t>- Point at the return arrow: this is not a waterfall. Anything learned at any level sends you back up.</a:t>
            </a:r>
          </a:p>
          <a:p>
            <a:r>
              <a:rPr lang="en-US" dirty="0"/>
              <a:t>- Close on the two sentences below.</a:t>
            </a:r>
          </a:p>
          <a:p>
            <a:endParaRPr lang="en-US"/>
          </a:p>
          <a:p>
            <a:r>
              <a:rPr lang="en-US" dirty="0"/>
              <a:t>=====</a:t>
            </a:r>
          </a:p>
          <a:p>
            <a:endParaRPr lang="en-US"/>
          </a:p>
          <a:p>
            <a:r>
              <a:rPr lang="en-US" dirty="0"/>
              <a:t>At the top is everything that might matter to somebody: purposes, users, laws, contracts, operations. Section one gave us the vocabulary to say what kind of obligation each of those is. Section two gave us the means to find them: stakeholders, and the four ways of learning, run as a loop rather than a phase. Section three is where a candidate becomes a requirement, by surviving value, feasibility, cost and opportunity cost.</a:t>
            </a:r>
          </a:p>
          <a:p>
            <a:endParaRPr lang="en-US"/>
          </a:p>
          <a:p>
            <a:r>
              <a:rPr lang="en-US" dirty="0"/>
              <a:t>The arrow on the left matters as much as the ones going down. Discovering a new obligation changes the definitions you are working with. Estimating changes what you choose to discover next. Nobody traverses this once.</a:t>
            </a:r>
          </a:p>
          <a:p>
            <a:endParaRPr lang="en-US"/>
          </a:p>
          <a:p>
            <a:r>
              <a:rPr lang="en-US" dirty="0"/>
              <a:t>The two sentences to keep. First: requirements are not merely discovered facts, they are choices about which obligations are worth spending scarce resources to satisfy. Second: implementation becoming cheaper changes requirements economics, but it does not abolish requirements economics.</a:t>
            </a:r>
          </a:p>
          <a:p>
            <a:endParaRPr lang="en-US"/>
          </a:p>
          <a:p>
            <a:r>
              <a:rPr lang="en-US" dirty="0"/>
              <a:t>On Thursday we take the bottom box seriously. Once we have decided what to promise, what exactly are we promising, how precisely should we say it, and what makes a promise checkable? That is Specification.</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6.emf"/></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A610390-B9F9-1640-9974-0C21350E01C9}"/>
              </a:ext>
            </a:extLst>
          </p:cNvPr>
          <p:cNvSpPr>
            <a:spLocks noGrp="1"/>
          </p:cNvSpPr>
          <p:nvPr>
            <p:ph type="subTitle" idx="1"/>
          </p:nvPr>
        </p:nvSpPr>
        <p:spPr>
          <a:xfrm>
            <a:off x="224171" y="2488406"/>
            <a:ext cx="8695654" cy="1881188"/>
          </a:xfrm>
        </p:spPr>
        <p:txBody>
          <a:bodyPr>
            <a:normAutofit fontScale="85000" lnSpcReduction="20000"/>
          </a:bodyPr>
          <a:lstStyle/>
          <a:p>
            <a:r>
              <a:rPr lang="en-US" sz="4000" dirty="0"/>
              <a:t>Requirements Engineering</a:t>
            </a:r>
          </a:p>
          <a:p>
            <a:r>
              <a:rPr lang="en-US" sz="2800" i="1" dirty="0">
                <a:solidFill>
                  <a:srgbClr val="8E6F3E"/>
                </a:solidFill>
              </a:rPr>
              <a:t>What should we build?</a:t>
            </a:r>
          </a:p>
          <a:p>
            <a:endParaRPr lang="en-US" sz="1200" dirty="0"/>
          </a:p>
          <a:p>
            <a:r>
              <a:rPr lang="en-US" i="1" dirty="0"/>
              <a:t>Prof. James C. Davis</a:t>
            </a:r>
          </a:p>
          <a:p>
            <a:r>
              <a:rPr lang="en-US" i="1" dirty="0"/>
              <a:t>Prof. Steve France</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Tree>
    <p:extLst>
      <p:ext uri="{BB962C8B-B14F-4D97-AF65-F5344CB8AC3E}">
        <p14:creationId xmlns:p14="http://schemas.microsoft.com/office/powerpoint/2010/main" val="2942567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BD55DE-BB18-77CE-7D30-A43ADA1FFC91}"/>
              </a:ext>
            </a:extLst>
          </p:cNvPr>
          <p:cNvSpPr>
            <a:spLocks noGrp="1"/>
          </p:cNvSpPr>
          <p:nvPr>
            <p:ph type="title"/>
          </p:nvPr>
        </p:nvSpPr>
        <p:spPr/>
        <p:txBody>
          <a:bodyPr>
            <a:normAutofit fontScale="90000"/>
          </a:bodyPr>
          <a:lstStyle/>
          <a:p>
            <a:r>
              <a:rPr lang="en-US" dirty="0"/>
              <a:t>The lecture in three movements</a:t>
            </a:r>
          </a:p>
        </p:txBody>
      </p:sp>
      <p:sp>
        <p:nvSpPr>
          <p:cNvPr id="4" name="Slide Number Placeholder 3">
            <a:extLst>
              <a:ext uri="{FF2B5EF4-FFF2-40B4-BE49-F238E27FC236}">
                <a16:creationId xmlns:a16="http://schemas.microsoft.com/office/drawing/2014/main" id="{02BFB224-0BE0-94E3-FA85-202A6A9FF801}"/>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50" name="Movement 1 number"/>
          <p:cNvSpPr txBox="1"/>
          <p:nvPr/>
        </p:nvSpPr>
        <p:spPr>
          <a:xfrm>
            <a:off x="279400" y="1320800"/>
            <a:ext cx="889000" cy="812800"/>
          </a:xfrm>
          <a:prstGeom prst="rect">
            <a:avLst/>
          </a:prstGeom>
          <a:noFill/>
        </p:spPr>
        <p:txBody>
          <a:bodyPr wrap="square" rtlCol="0" anchor="t">
            <a:noAutofit/>
          </a:bodyPr>
          <a:lstStyle/>
          <a:p>
            <a:pPr algn="r">
              <a:buNone/>
            </a:pPr>
            <a:r>
              <a:rPr lang="en-US" sz="4000" b="1" dirty="0">
                <a:solidFill>
                  <a:srgbClr val="C9B991"/>
                </a:solidFill>
              </a:rPr>
              <a:t>1</a:t>
            </a:r>
          </a:p>
        </p:txBody>
      </p:sp>
      <p:sp>
        <p:nvSpPr>
          <p:cNvPr id="51" name="Movement 1 name"/>
          <p:cNvSpPr txBox="1"/>
          <p:nvPr/>
        </p:nvSpPr>
        <p:spPr>
          <a:xfrm>
            <a:off x="1333500" y="1397000"/>
            <a:ext cx="7493000" cy="508000"/>
          </a:xfrm>
          <a:prstGeom prst="rect">
            <a:avLst/>
          </a:prstGeom>
          <a:noFill/>
        </p:spPr>
        <p:txBody>
          <a:bodyPr wrap="square" rtlCol="0" anchor="t">
            <a:noAutofit/>
          </a:bodyPr>
          <a:lstStyle/>
          <a:p>
            <a:pPr algn="l">
              <a:buNone/>
            </a:pPr>
            <a:r>
              <a:rPr lang="en-US" sz="2800" b="1" dirty="0">
                <a:solidFill>
                  <a:srgbClr val="8E6F3E"/>
                </a:solidFill>
              </a:rPr>
              <a:t>Requirements</a:t>
            </a:r>
          </a:p>
        </p:txBody>
      </p:sp>
      <p:sp>
        <p:nvSpPr>
          <p:cNvPr id="52" name="Movement 1 gloss"/>
          <p:cNvSpPr txBox="1"/>
          <p:nvPr/>
        </p:nvSpPr>
        <p:spPr>
          <a:xfrm>
            <a:off x="1333500" y="1930400"/>
            <a:ext cx="7493000" cy="431800"/>
          </a:xfrm>
          <a:prstGeom prst="rect">
            <a:avLst/>
          </a:prstGeom>
          <a:noFill/>
        </p:spPr>
        <p:txBody>
          <a:bodyPr wrap="square" rtlCol="0" anchor="t">
            <a:noAutofit/>
          </a:bodyPr>
          <a:lstStyle/>
          <a:p>
            <a:pPr algn="l">
              <a:buNone/>
            </a:pPr>
            <a:r>
              <a:rPr lang="en-US" sz="2000" dirty="0"/>
              <a:t>What counts as a requirement?</a:t>
            </a:r>
          </a:p>
        </p:txBody>
      </p:sp>
      <p:sp>
        <p:nvSpPr>
          <p:cNvPr id="53" name="Movement 2 number"/>
          <p:cNvSpPr txBox="1"/>
          <p:nvPr/>
        </p:nvSpPr>
        <p:spPr>
          <a:xfrm>
            <a:off x="279400" y="2641600"/>
            <a:ext cx="889000" cy="812800"/>
          </a:xfrm>
          <a:prstGeom prst="rect">
            <a:avLst/>
          </a:prstGeom>
          <a:noFill/>
        </p:spPr>
        <p:txBody>
          <a:bodyPr wrap="square" rtlCol="0" anchor="t">
            <a:noAutofit/>
          </a:bodyPr>
          <a:lstStyle/>
          <a:p>
            <a:pPr algn="r">
              <a:buNone/>
            </a:pPr>
            <a:r>
              <a:rPr lang="en-US" sz="4000" b="1" dirty="0">
                <a:solidFill>
                  <a:srgbClr val="C9B991"/>
                </a:solidFill>
              </a:rPr>
              <a:t>2</a:t>
            </a:r>
          </a:p>
        </p:txBody>
      </p:sp>
      <p:sp>
        <p:nvSpPr>
          <p:cNvPr id="54" name="Movement 2 name"/>
          <p:cNvSpPr txBox="1"/>
          <p:nvPr/>
        </p:nvSpPr>
        <p:spPr>
          <a:xfrm>
            <a:off x="1333500" y="2717800"/>
            <a:ext cx="7493000" cy="508000"/>
          </a:xfrm>
          <a:prstGeom prst="rect">
            <a:avLst/>
          </a:prstGeom>
          <a:noFill/>
        </p:spPr>
        <p:txBody>
          <a:bodyPr wrap="square" rtlCol="0" anchor="t">
            <a:noAutofit/>
          </a:bodyPr>
          <a:lstStyle/>
          <a:p>
            <a:pPr algn="l">
              <a:buNone/>
            </a:pPr>
            <a:r>
              <a:rPr lang="en-US" sz="2800" b="1" dirty="0">
                <a:solidFill>
                  <a:srgbClr val="8E6F3E"/>
                </a:solidFill>
              </a:rPr>
              <a:t>Discovery</a:t>
            </a:r>
          </a:p>
        </p:txBody>
      </p:sp>
      <p:sp>
        <p:nvSpPr>
          <p:cNvPr id="55" name="Movement 2 gloss"/>
          <p:cNvSpPr txBox="1"/>
          <p:nvPr/>
        </p:nvSpPr>
        <p:spPr>
          <a:xfrm>
            <a:off x="1333500" y="3251200"/>
            <a:ext cx="7493000" cy="431800"/>
          </a:xfrm>
          <a:prstGeom prst="rect">
            <a:avLst/>
          </a:prstGeom>
          <a:noFill/>
        </p:spPr>
        <p:txBody>
          <a:bodyPr wrap="square" rtlCol="0" anchor="t">
            <a:noAutofit/>
          </a:bodyPr>
          <a:lstStyle/>
          <a:p>
            <a:pPr algn="l">
              <a:buNone/>
            </a:pPr>
            <a:r>
              <a:rPr lang="en-US" sz="2000" dirty="0"/>
              <a:t>How do we learn what to build?</a:t>
            </a:r>
          </a:p>
        </p:txBody>
      </p:sp>
      <p:sp>
        <p:nvSpPr>
          <p:cNvPr id="56" name="Movement 3 number"/>
          <p:cNvSpPr txBox="1"/>
          <p:nvPr/>
        </p:nvSpPr>
        <p:spPr>
          <a:xfrm>
            <a:off x="279400" y="3962400"/>
            <a:ext cx="889000" cy="812800"/>
          </a:xfrm>
          <a:prstGeom prst="rect">
            <a:avLst/>
          </a:prstGeom>
          <a:noFill/>
        </p:spPr>
        <p:txBody>
          <a:bodyPr wrap="square" rtlCol="0" anchor="t">
            <a:noAutofit/>
          </a:bodyPr>
          <a:lstStyle/>
          <a:p>
            <a:pPr algn="r">
              <a:buNone/>
            </a:pPr>
            <a:r>
              <a:rPr lang="en-US" sz="4000" b="1" dirty="0">
                <a:solidFill>
                  <a:srgbClr val="C9B991"/>
                </a:solidFill>
              </a:rPr>
              <a:t>3</a:t>
            </a:r>
          </a:p>
        </p:txBody>
      </p:sp>
      <p:sp>
        <p:nvSpPr>
          <p:cNvPr id="57" name="Movement 3 name"/>
          <p:cNvSpPr txBox="1"/>
          <p:nvPr/>
        </p:nvSpPr>
        <p:spPr>
          <a:xfrm>
            <a:off x="1333500" y="4038600"/>
            <a:ext cx="7493000" cy="508000"/>
          </a:xfrm>
          <a:prstGeom prst="rect">
            <a:avLst/>
          </a:prstGeom>
          <a:noFill/>
        </p:spPr>
        <p:txBody>
          <a:bodyPr wrap="square" rtlCol="0" anchor="t">
            <a:noAutofit/>
          </a:bodyPr>
          <a:lstStyle/>
          <a:p>
            <a:pPr algn="l">
              <a:buNone/>
            </a:pPr>
            <a:r>
              <a:rPr lang="en-US" sz="2800" b="1" dirty="0">
                <a:solidFill>
                  <a:srgbClr val="8E6F3E"/>
                </a:solidFill>
              </a:rPr>
              <a:t>Commitment</a:t>
            </a:r>
          </a:p>
        </p:txBody>
      </p:sp>
      <p:sp>
        <p:nvSpPr>
          <p:cNvPr id="58" name="Movement 3 gloss"/>
          <p:cNvSpPr txBox="1"/>
          <p:nvPr/>
        </p:nvSpPr>
        <p:spPr>
          <a:xfrm>
            <a:off x="1333500" y="4572000"/>
            <a:ext cx="7493000" cy="431800"/>
          </a:xfrm>
          <a:prstGeom prst="rect">
            <a:avLst/>
          </a:prstGeom>
          <a:noFill/>
        </p:spPr>
        <p:txBody>
          <a:bodyPr wrap="square" rtlCol="0" anchor="t">
            <a:noAutofit/>
          </a:bodyPr>
          <a:lstStyle/>
          <a:p>
            <a:pPr algn="l">
              <a:buNone/>
            </a:pPr>
            <a:r>
              <a:rPr lang="en-US" sz="2000" dirty="0"/>
              <a:t>What are we willing to promise?</a:t>
            </a:r>
          </a:p>
        </p:txBody>
      </p:sp>
      <p:sp>
        <p:nvSpPr>
          <p:cNvPr id="62" name="Governing question"/>
          <p:cNvSpPr txBox="1"/>
          <p:nvPr/>
        </p:nvSpPr>
        <p:spPr>
          <a:xfrm>
            <a:off x="279400" y="5486400"/>
            <a:ext cx="8382000" cy="838200"/>
          </a:xfrm>
          <a:prstGeom prst="rect">
            <a:avLst/>
          </a:prstGeom>
          <a:noFill/>
        </p:spPr>
        <p:txBody>
          <a:bodyPr wrap="square" rtlCol="0" anchor="t">
            <a:noAutofit/>
          </a:bodyPr>
          <a:lstStyle/>
          <a:p>
            <a:pPr algn="l">
              <a:buNone/>
            </a:pPr>
            <a:r>
              <a:rPr lang="en-US" sz="2400" b="1" dirty="0"/>
              <a:t>Requirements engineering turns uncertainty about what matters into engineering commitments.</a:t>
            </a:r>
          </a:p>
        </p:txBody>
      </p:sp>
    </p:spTree>
    <p:extLst>
      <p:ext uri="{BB962C8B-B14F-4D97-AF65-F5344CB8AC3E}">
        <p14:creationId xmlns:p14="http://schemas.microsoft.com/office/powerpoint/2010/main" val="26551897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811A655-9F21-467D-F4C7-79A8DFC9233F}"/>
              </a:ext>
            </a:extLst>
          </p:cNvPr>
          <p:cNvSpPr>
            <a:spLocks noGrp="1"/>
          </p:cNvSpPr>
          <p:nvPr>
            <p:ph type="title"/>
          </p:nvPr>
        </p:nvSpPr>
        <p:spPr/>
        <p:txBody>
          <a:bodyPr>
            <a:normAutofit fontScale="90000"/>
          </a:bodyPr>
          <a:lstStyle/>
          <a:p>
            <a:r>
              <a:rPr lang="en-US" dirty="0"/>
              <a:t>Is the customer always right?</a:t>
            </a:r>
          </a:p>
        </p:txBody>
      </p:sp>
      <p:sp>
        <p:nvSpPr>
          <p:cNvPr id="4" name="Slide Number Placeholder 3">
            <a:extLst>
              <a:ext uri="{FF2B5EF4-FFF2-40B4-BE49-F238E27FC236}">
                <a16:creationId xmlns:a16="http://schemas.microsoft.com/office/drawing/2014/main" id="{3B349982-3419-F5D3-9129-A6277AFA31BF}"/>
              </a:ext>
            </a:extLst>
          </p:cNvPr>
          <p:cNvSpPr>
            <a:spLocks noGrp="1"/>
          </p:cNvSpPr>
          <p:nvPr>
            <p:ph type="sldNum" sz="quarter" idx="4"/>
          </p:nvPr>
        </p:nvSpPr>
        <p:spPr/>
        <p:txBody>
          <a:bodyPr/>
          <a:lstStyle/>
          <a:p>
            <a:fld id="{B7EB45DA-9A0D-DC49-8E02-F30A5DDC21C3}" type="slidenum">
              <a:rPr lang="en-US" smtClean="0"/>
              <a:t>3</a:t>
            </a:fld>
            <a:endParaRPr lang="en-US"/>
          </a:p>
        </p:txBody>
      </p:sp>
      <p:pic>
        <p:nvPicPr>
          <p:cNvPr id="5" name="Copied Picture 5" descr="Joy of Tech cartoon, 'If Apple was a democracy': Tim Cook unveils a phone built from every feature users asked for, festooned with an antenna, rotary controls, an eight-track player, punchcard reader and film projector. Satirises implementing stated requests literally.">
            <a:extLst>
              <a:ext uri="{FF2B5EF4-FFF2-40B4-BE49-F238E27FC236}">
                <a16:creationId xmlns:a16="http://schemas.microsoft.com/office/drawing/2014/main" id="{89086EC8-4058-ED7F-8062-88D71E4778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000" y="787400"/>
            <a:ext cx="3683000" cy="5588000"/>
          </a:xfrm>
          <a:prstGeom prst="rect">
            <a:avLst/>
          </a:prstGeom>
          <a:noFill/>
          <a:extLst>
            <a:ext uri="{909E8E84-426E-40DD-AFC4-6F175D3DCCD1}">
              <a14:hiddenFill xmlns:a14="http://schemas.microsoft.com/office/drawing/2010/main">
                <a:solidFill>
                  <a:srgbClr val="FFFFFF"/>
                </a:solidFill>
              </a14:hiddenFill>
            </a:ext>
          </a:extLst>
        </p:spPr>
      </p:pic>
      <p:sp>
        <p:nvSpPr>
          <p:cNvPr id="60" name="Claim"/>
          <p:cNvSpPr txBox="1"/>
          <p:nvPr/>
        </p:nvSpPr>
        <p:spPr>
          <a:xfrm>
            <a:off x="4635500" y="2540000"/>
            <a:ext cx="4064000" cy="2540000"/>
          </a:xfrm>
          <a:prstGeom prst="rect">
            <a:avLst/>
          </a:prstGeom>
          <a:noFill/>
        </p:spPr>
        <p:txBody>
          <a:bodyPr wrap="square" rtlCol="0" anchor="t">
            <a:noAutofit/>
          </a:bodyPr>
          <a:lstStyle/>
          <a:p>
            <a:pPr algn="l">
              <a:buNone/>
            </a:pPr>
            <a:r>
              <a:rPr lang="en-US" sz="2800" b="1" dirty="0">
                <a:solidFill>
                  <a:srgbClr val="8E6F3E"/>
                </a:solidFill>
              </a:rPr>
              <a:t>Take user feedback seriously—but not necessarily literally.</a:t>
            </a:r>
          </a:p>
        </p:txBody>
      </p:sp>
    </p:spTree>
    <p:extLst>
      <p:ext uri="{BB962C8B-B14F-4D97-AF65-F5344CB8AC3E}">
        <p14:creationId xmlns:p14="http://schemas.microsoft.com/office/powerpoint/2010/main" val="4136611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533094-773E-01C6-8F66-68411E26295F}"/>
              </a:ext>
            </a:extLst>
          </p:cNvPr>
          <p:cNvSpPr>
            <a:spLocks noGrp="1"/>
          </p:cNvSpPr>
          <p:nvPr>
            <p:ph type="title"/>
          </p:nvPr>
        </p:nvSpPr>
        <p:spPr/>
        <p:txBody>
          <a:bodyPr>
            <a:normAutofit fontScale="90000"/>
          </a:bodyPr>
          <a:lstStyle/>
          <a:p>
            <a:r>
              <a:rPr lang="en-US" dirty="0"/>
              <a:t>Requirements engineering has two problems</a:t>
            </a:r>
          </a:p>
        </p:txBody>
      </p:sp>
      <p:sp>
        <p:nvSpPr>
          <p:cNvPr id="4" name="Slide Number Placeholder 3">
            <a:extLst>
              <a:ext uri="{FF2B5EF4-FFF2-40B4-BE49-F238E27FC236}">
                <a16:creationId xmlns:a16="http://schemas.microsoft.com/office/drawing/2014/main" id="{92E746E6-4718-7191-36A9-BDD0303F04DD}"/>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60" name="Left kicker"/>
          <p:cNvSpPr txBox="1"/>
          <p:nvPr/>
        </p:nvSpPr>
        <p:spPr>
          <a:xfrm>
            <a:off x="279400" y="1066800"/>
            <a:ext cx="4064000" cy="381000"/>
          </a:xfrm>
          <a:prstGeom prst="rect">
            <a:avLst/>
          </a:prstGeom>
          <a:noFill/>
        </p:spPr>
        <p:txBody>
          <a:bodyPr wrap="square" rtlCol="0" anchor="t">
            <a:noAutofit/>
          </a:bodyPr>
          <a:lstStyle/>
          <a:p>
            <a:pPr algn="l">
              <a:buNone/>
            </a:pPr>
            <a:r>
              <a:rPr lang="en-US" sz="2000" b="1" dirty="0">
                <a:solidFill>
                  <a:srgbClr val="555960"/>
                </a:solidFill>
              </a:rPr>
              <a:t>NEED AND VALUE</a:t>
            </a:r>
          </a:p>
        </p:txBody>
      </p:sp>
      <p:sp>
        <p:nvSpPr>
          <p:cNvPr id="61" name="Left header"/>
          <p:cNvSpPr txBox="1"/>
          <p:nvPr/>
        </p:nvSpPr>
        <p:spPr>
          <a:xfrm>
            <a:off x="279400" y="1447800"/>
            <a:ext cx="4064000" cy="1016000"/>
          </a:xfrm>
          <a:prstGeom prst="rect">
            <a:avLst/>
          </a:prstGeom>
          <a:noFill/>
        </p:spPr>
        <p:txBody>
          <a:bodyPr wrap="square" rtlCol="0" anchor="t">
            <a:noAutofit/>
          </a:bodyPr>
          <a:lstStyle/>
          <a:p>
            <a:pPr algn="l">
              <a:buNone/>
            </a:pPr>
            <a:r>
              <a:rPr lang="en-US" sz="2800" b="1" dirty="0">
                <a:solidFill>
                  <a:srgbClr val="8E6F3E"/>
                </a:solidFill>
              </a:rPr>
              <a:t>What would</a:t>
            </a:r>
          </a:p>
          <a:p>
            <a:pPr algn="l">
              <a:buNone/>
            </a:pPr>
            <a:r>
              <a:rPr lang="en-US" sz="2800" b="1" dirty="0">
                <a:solidFill>
                  <a:srgbClr val="8E6F3E"/>
                </a:solidFill>
              </a:rPr>
              <a:t>create value?</a:t>
            </a:r>
          </a:p>
        </p:txBody>
      </p:sp>
      <p:sp>
        <p:nvSpPr>
          <p:cNvPr id="62" name="Left items"/>
          <p:cNvSpPr txBox="1"/>
          <p:nvPr/>
        </p:nvSpPr>
        <p:spPr>
          <a:xfrm>
            <a:off x="279400" y="2603500"/>
            <a:ext cx="4064000" cy="1905000"/>
          </a:xfrm>
          <a:prstGeom prst="rect">
            <a:avLst/>
          </a:prstGeom>
          <a:noFill/>
        </p:spPr>
        <p:txBody>
          <a:bodyPr wrap="square" rtlCol="0" anchor="t">
            <a:noAutofit/>
          </a:bodyPr>
          <a:lstStyle/>
          <a:p>
            <a:pPr marL="228600" indent="-228600" algn="l">
              <a:buFont typeface="Arial"/>
              <a:buChar char="•"/>
            </a:pPr>
            <a:r>
              <a:rPr lang="en-US" sz="2000" dirty="0"/>
              <a:t>What are people trying to accomplish?</a:t>
            </a:r>
          </a:p>
          <a:p>
            <a:pPr marL="228600" indent="-228600" algn="l">
              <a:buFont typeface="Arial"/>
              <a:buChar char="•"/>
            </a:pPr>
            <a:r>
              <a:rPr lang="en-US" sz="2000" dirty="0"/>
              <a:t>What problem actually matters?</a:t>
            </a:r>
          </a:p>
          <a:p>
            <a:pPr marL="228600" indent="-228600" algn="l">
              <a:buFont typeface="Arial"/>
              <a:buChar char="•"/>
            </a:pPr>
            <a:r>
              <a:rPr lang="en-US" sz="2000" dirty="0"/>
              <a:t>What assumptions are we making?</a:t>
            </a:r>
          </a:p>
        </p:txBody>
      </p:sp>
      <p:sp>
        <p:nvSpPr>
          <p:cNvPr id="63" name="Right kicker"/>
          <p:cNvSpPr txBox="1"/>
          <p:nvPr/>
        </p:nvSpPr>
        <p:spPr>
          <a:xfrm>
            <a:off x="4699000" y="1066800"/>
            <a:ext cx="4064000" cy="381000"/>
          </a:xfrm>
          <a:prstGeom prst="rect">
            <a:avLst/>
          </a:prstGeom>
          <a:noFill/>
        </p:spPr>
        <p:txBody>
          <a:bodyPr wrap="square" rtlCol="0" anchor="t">
            <a:noAutofit/>
          </a:bodyPr>
          <a:lstStyle/>
          <a:p>
            <a:pPr algn="l">
              <a:buNone/>
            </a:pPr>
            <a:r>
              <a:rPr lang="en-US" sz="2000" b="1" dirty="0">
                <a:solidFill>
                  <a:srgbClr val="555960"/>
                </a:solidFill>
              </a:rPr>
              <a:t>ECONOMICS AND COMMITMENT</a:t>
            </a:r>
          </a:p>
        </p:txBody>
      </p:sp>
      <p:sp>
        <p:nvSpPr>
          <p:cNvPr id="64" name="Right header"/>
          <p:cNvSpPr txBox="1"/>
          <p:nvPr/>
        </p:nvSpPr>
        <p:spPr>
          <a:xfrm>
            <a:off x="4699000" y="1447800"/>
            <a:ext cx="4064000" cy="1016000"/>
          </a:xfrm>
          <a:prstGeom prst="rect">
            <a:avLst/>
          </a:prstGeom>
          <a:noFill/>
        </p:spPr>
        <p:txBody>
          <a:bodyPr wrap="square" rtlCol="0" anchor="t">
            <a:noAutofit/>
          </a:bodyPr>
          <a:lstStyle/>
          <a:p>
            <a:pPr algn="l">
              <a:buNone/>
            </a:pPr>
            <a:r>
              <a:rPr lang="en-US" sz="2800" b="1" dirty="0">
                <a:solidFill>
                  <a:srgbClr val="8E6F3E"/>
                </a:solidFill>
              </a:rPr>
              <a:t>What can we</a:t>
            </a:r>
          </a:p>
          <a:p>
            <a:pPr algn="l">
              <a:buNone/>
            </a:pPr>
            <a:r>
              <a:rPr lang="en-US" sz="2800" b="1" dirty="0">
                <a:solidFill>
                  <a:srgbClr val="8E6F3E"/>
                </a:solidFill>
              </a:rPr>
              <a:t>responsibly promise?</a:t>
            </a:r>
          </a:p>
        </p:txBody>
      </p:sp>
      <p:sp>
        <p:nvSpPr>
          <p:cNvPr id="65" name="Right items"/>
          <p:cNvSpPr txBox="1"/>
          <p:nvPr/>
        </p:nvSpPr>
        <p:spPr>
          <a:xfrm>
            <a:off x="4699000" y="2603500"/>
            <a:ext cx="4064000" cy="1905000"/>
          </a:xfrm>
          <a:prstGeom prst="rect">
            <a:avLst/>
          </a:prstGeom>
          <a:noFill/>
        </p:spPr>
        <p:txBody>
          <a:bodyPr wrap="square" rtlCol="0" anchor="t">
            <a:noAutofit/>
          </a:bodyPr>
          <a:lstStyle/>
          <a:p>
            <a:pPr marL="228600" indent="-228600" algn="l">
              <a:buFont typeface="Arial"/>
              <a:buChar char="•"/>
            </a:pPr>
            <a:r>
              <a:rPr lang="en-US" sz="2000" dirty="0"/>
              <a:t>Is it feasible?</a:t>
            </a:r>
          </a:p>
          <a:p>
            <a:pPr marL="228600" indent="-228600" algn="l">
              <a:buFont typeface="Arial"/>
              <a:buChar char="•"/>
            </a:pPr>
            <a:r>
              <a:rPr lang="en-US" sz="2000" dirty="0"/>
              <a:t>What will it consume?</a:t>
            </a:r>
          </a:p>
          <a:p>
            <a:pPr marL="228600" indent="-228600" algn="l">
              <a:buFont typeface="Arial"/>
              <a:buChar char="•"/>
            </a:pPr>
            <a:r>
              <a:rPr lang="en-US" sz="2000" dirty="0"/>
              <a:t>What should we prioritize?</a:t>
            </a:r>
          </a:p>
        </p:txBody>
      </p:sp>
      <p:sp>
        <p:nvSpPr>
          <p:cNvPr id="66" name="Divider"/>
          <p:cNvSpPr/>
          <p:nvPr/>
        </p:nvSpPr>
        <p:spPr>
          <a:xfrm>
            <a:off x="279400" y="4800600"/>
            <a:ext cx="8382000" cy="0"/>
          </a:xfrm>
          <a:prstGeom prst="line">
            <a:avLst/>
          </a:prstGeom>
          <a:ln w="19050">
            <a:solidFill>
              <a:srgbClr val="C9B991"/>
            </a:solidFill>
          </a:ln>
        </p:spPr>
        <p:txBody>
          <a:bodyPr/>
          <a:lstStyle/>
          <a:p>
            <a:endParaRPr lang="en-US"/>
          </a:p>
        </p:txBody>
      </p:sp>
      <p:sp>
        <p:nvSpPr>
          <p:cNvPr id="67" name="Synthesis"/>
          <p:cNvSpPr txBox="1"/>
          <p:nvPr/>
        </p:nvSpPr>
        <p:spPr>
          <a:xfrm>
            <a:off x="279400" y="4978400"/>
            <a:ext cx="8382000" cy="1270000"/>
          </a:xfrm>
          <a:prstGeom prst="rect">
            <a:avLst/>
          </a:prstGeom>
          <a:noFill/>
        </p:spPr>
        <p:txBody>
          <a:bodyPr wrap="square" rtlCol="0" anchor="t">
            <a:noAutofit/>
          </a:bodyPr>
          <a:lstStyle/>
          <a:p>
            <a:pPr algn="l">
              <a:buNone/>
            </a:pPr>
            <a:r>
              <a:rPr lang="en-US" sz="2800" b="1" dirty="0"/>
              <a:t>Requirements engineering turns needs, constraints, and uncertainty into engineering commitments.</a:t>
            </a:r>
          </a:p>
        </p:txBody>
      </p:sp>
    </p:spTree>
    <p:extLst>
      <p:ext uri="{BB962C8B-B14F-4D97-AF65-F5344CB8AC3E}">
        <p14:creationId xmlns:p14="http://schemas.microsoft.com/office/powerpoint/2010/main" val="1325876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BCC45-ACE4-37D1-1FDA-DA2E109E3E5A}"/>
              </a:ext>
            </a:extLst>
          </p:cNvPr>
          <p:cNvSpPr>
            <a:spLocks noGrp="1"/>
          </p:cNvSpPr>
          <p:nvPr>
            <p:ph type="title"/>
          </p:nvPr>
        </p:nvSpPr>
        <p:spPr>
          <a:xfrm>
            <a:off x="685800" y="1676400"/>
            <a:ext cx="7772400" cy="2362200"/>
          </a:xfrm>
        </p:spPr>
        <p:txBody>
          <a:bodyPr/>
          <a:lstStyle/>
          <a:p>
            <a:r>
              <a:rPr lang="en-US" sz="8000" dirty="0">
                <a:solidFill>
                  <a:srgbClr val="8E6F3E"/>
                </a:solidFill>
              </a:rPr>
              <a:t>1</a:t>
            </a:r>
            <a:br>
              <a:rPr lang="en-US" dirty="0"/>
            </a:br>
            <a:r>
              <a:rPr lang="en-US" dirty="0"/>
              <a:t>Requirements</a:t>
            </a:r>
          </a:p>
        </p:txBody>
      </p:sp>
      <p:sp>
        <p:nvSpPr>
          <p:cNvPr id="3" name="Slide Number Placeholder 2">
            <a:extLst>
              <a:ext uri="{FF2B5EF4-FFF2-40B4-BE49-F238E27FC236}">
                <a16:creationId xmlns:a16="http://schemas.microsoft.com/office/drawing/2014/main" id="{D5A7E8A6-C92A-B278-4040-4B5276AE8441}"/>
              </a:ext>
            </a:extLst>
          </p:cNvPr>
          <p:cNvSpPr>
            <a:spLocks noGrp="1"/>
          </p:cNvSpPr>
          <p:nvPr>
            <p:ph type="sldNum" sz="quarter" idx="4"/>
          </p:nvPr>
        </p:nvSpPr>
        <p:spPr/>
        <p:txBody>
          <a:bodyPr/>
          <a:lstStyle/>
          <a:p>
            <a:fld id="{B7EB45DA-9A0D-DC49-8E02-F30A5DDC21C3}" type="slidenum">
              <a:rPr lang="en-US" smtClean="0"/>
              <a:t>5</a:t>
            </a:fld>
            <a:endParaRPr lang="en-US"/>
          </a:p>
        </p:txBody>
      </p:sp>
      <p:sp>
        <p:nvSpPr>
          <p:cNvPr id="40" name="Section question"/>
          <p:cNvSpPr txBox="1"/>
          <p:nvPr/>
        </p:nvSpPr>
        <p:spPr>
          <a:xfrm>
            <a:off x="397144" y="4282698"/>
            <a:ext cx="8349712" cy="461665"/>
          </a:xfrm>
          <a:prstGeom prst="rect">
            <a:avLst/>
          </a:prstGeom>
          <a:noFill/>
        </p:spPr>
        <p:txBody>
          <a:bodyPr vertOverflow="overflow" wrap="square" rtlCol="0" anchor="t">
            <a:spAutoFit/>
          </a:bodyPr>
          <a:lstStyle/>
          <a:p>
            <a:pPr algn="ctr">
              <a:buNone/>
            </a:pPr>
            <a:r>
              <a:rPr lang="en-US" sz="2400" i="1" dirty="0"/>
              <a:t>What counts as a requirement?</a:t>
            </a:r>
          </a:p>
        </p:txBody>
      </p:sp>
    </p:spTree>
    <p:extLst>
      <p:ext uri="{BB962C8B-B14F-4D97-AF65-F5344CB8AC3E}">
        <p14:creationId xmlns:p14="http://schemas.microsoft.com/office/powerpoint/2010/main" val="29936618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BD2D1DE-F5D2-A89C-8308-CD397FD8FE63}"/>
              </a:ext>
            </a:extLst>
          </p:cNvPr>
          <p:cNvSpPr>
            <a:spLocks noGrp="1"/>
          </p:cNvSpPr>
          <p:nvPr>
            <p:ph type="title"/>
          </p:nvPr>
        </p:nvSpPr>
        <p:spPr/>
        <p:txBody>
          <a:bodyPr>
            <a:normAutofit fontScale="90000"/>
          </a:bodyPr>
          <a:lstStyle/>
          <a:p>
            <a:r>
              <a:rPr lang="en-US" dirty="0"/>
              <a:t>A system succeeds only relative to its purpose</a:t>
            </a:r>
          </a:p>
        </p:txBody>
      </p:sp>
      <p:sp>
        <p:nvSpPr>
          <p:cNvPr id="4" name="Slide Number Placeholder 3">
            <a:extLst>
              <a:ext uri="{FF2B5EF4-FFF2-40B4-BE49-F238E27FC236}">
                <a16:creationId xmlns:a16="http://schemas.microsoft.com/office/drawing/2014/main" id="{03DA57C0-06DC-898B-87D7-AB01E11D10EA}"/>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60" name="Purpose"/>
          <p:cNvSpPr/>
          <p:nvPr/>
        </p:nvSpPr>
        <p:spPr>
          <a:xfrm>
            <a:off x="279400" y="1905000"/>
            <a:ext cx="2413000" cy="889000"/>
          </a:xfrm>
          <a:prstGeom prst="roundRect">
            <a:avLst/>
          </a:prstGeom>
          <a:solidFill>
            <a:srgbClr val="C9B991"/>
          </a:solidFill>
          <a:ln>
            <a:noFill/>
          </a:ln>
        </p:spPr>
        <p:txBody>
          <a:bodyPr lIns="91440" rIns="91440" anchor="ctr">
            <a:normAutofit/>
          </a:bodyPr>
          <a:lstStyle/>
          <a:p>
            <a:pPr algn="ctr">
              <a:buNone/>
            </a:pPr>
            <a:r>
              <a:rPr lang="en-US" sz="2400" b="1" dirty="0">
                <a:solidFill>
                  <a:srgbClr val="000000"/>
                </a:solidFill>
              </a:rPr>
              <a:t>Purpose</a:t>
            </a:r>
          </a:p>
        </p:txBody>
      </p:sp>
      <p:sp>
        <p:nvSpPr>
          <p:cNvPr id="61" name="Requirements"/>
          <p:cNvSpPr/>
          <p:nvPr/>
        </p:nvSpPr>
        <p:spPr>
          <a:xfrm>
            <a:off x="3365500" y="1905000"/>
            <a:ext cx="2413000" cy="889000"/>
          </a:xfrm>
          <a:prstGeom prst="roundRect">
            <a:avLst/>
          </a:prstGeom>
          <a:solidFill>
            <a:srgbClr val="8E6F3E"/>
          </a:solidFill>
          <a:ln>
            <a:noFill/>
          </a:ln>
        </p:spPr>
        <p:txBody>
          <a:bodyPr lIns="91440" rIns="91440" anchor="ctr">
            <a:normAutofit/>
          </a:bodyPr>
          <a:lstStyle/>
          <a:p>
            <a:pPr algn="ctr">
              <a:buNone/>
            </a:pPr>
            <a:r>
              <a:rPr lang="en-US" sz="2400" b="1" dirty="0">
                <a:solidFill>
                  <a:srgbClr val="FFFFFF"/>
                </a:solidFill>
              </a:rPr>
              <a:t>Requirements</a:t>
            </a:r>
          </a:p>
        </p:txBody>
      </p:sp>
      <p:sp>
        <p:nvSpPr>
          <p:cNvPr id="62" name="System"/>
          <p:cNvSpPr/>
          <p:nvPr/>
        </p:nvSpPr>
        <p:spPr>
          <a:xfrm>
            <a:off x="6451600" y="1905000"/>
            <a:ext cx="2413000" cy="889000"/>
          </a:xfrm>
          <a:prstGeom prst="roundRect">
            <a:avLst/>
          </a:prstGeom>
          <a:solidFill>
            <a:srgbClr val="C9B991"/>
          </a:solidFill>
          <a:ln>
            <a:noFill/>
          </a:ln>
        </p:spPr>
        <p:txBody>
          <a:bodyPr lIns="91440" rIns="91440" anchor="ctr">
            <a:normAutofit/>
          </a:bodyPr>
          <a:lstStyle/>
          <a:p>
            <a:pPr algn="ctr">
              <a:buNone/>
            </a:pPr>
            <a:r>
              <a:rPr lang="en-US" sz="2400" b="1" dirty="0">
                <a:solidFill>
                  <a:srgbClr val="000000"/>
                </a:solidFill>
              </a:rPr>
              <a:t>System</a:t>
            </a:r>
          </a:p>
        </p:txBody>
      </p:sp>
      <p:sp>
        <p:nvSpPr>
          <p:cNvPr id="63" name="Purpose to requirements"/>
          <p:cNvSpPr/>
          <p:nvPr/>
        </p:nvSpPr>
        <p:spPr>
          <a:xfrm>
            <a:off x="2768600" y="2235200"/>
            <a:ext cx="520700" cy="228600"/>
          </a:xfrm>
          <a:prstGeom prst="rightArrow">
            <a:avLst/>
          </a:prstGeom>
          <a:solidFill>
            <a:srgbClr val="8E6F3E"/>
          </a:solidFill>
          <a:ln>
            <a:noFill/>
          </a:ln>
        </p:spPr>
        <p:txBody>
          <a:bodyPr/>
          <a:lstStyle/>
          <a:p>
            <a:endParaRPr lang="en-US"/>
          </a:p>
        </p:txBody>
      </p:sp>
      <p:sp>
        <p:nvSpPr>
          <p:cNvPr id="64" name="Requirements to system"/>
          <p:cNvSpPr/>
          <p:nvPr/>
        </p:nvSpPr>
        <p:spPr>
          <a:xfrm>
            <a:off x="5854700" y="2235200"/>
            <a:ext cx="520700" cy="228600"/>
          </a:xfrm>
          <a:prstGeom prst="rightArrow">
            <a:avLst/>
          </a:prstGeom>
          <a:solidFill>
            <a:srgbClr val="8E6F3E"/>
          </a:solidFill>
          <a:ln>
            <a:noFill/>
          </a:ln>
        </p:spPr>
        <p:txBody>
          <a:bodyPr/>
          <a:lstStyle/>
          <a:p>
            <a:endParaRPr lang="en-US"/>
          </a:p>
        </p:txBody>
      </p:sp>
      <p:sp>
        <p:nvSpPr>
          <p:cNvPr id="65" name="Purpose gloss"/>
          <p:cNvSpPr txBox="1"/>
          <p:nvPr/>
        </p:nvSpPr>
        <p:spPr>
          <a:xfrm>
            <a:off x="279400" y="2895600"/>
            <a:ext cx="2413000" cy="1143000"/>
          </a:xfrm>
          <a:prstGeom prst="rect">
            <a:avLst/>
          </a:prstGeom>
          <a:noFill/>
        </p:spPr>
        <p:txBody>
          <a:bodyPr wrap="square" rtlCol="0" anchor="t">
            <a:noAutofit/>
          </a:bodyPr>
          <a:lstStyle/>
          <a:p>
            <a:pPr algn="ctr">
              <a:buNone/>
            </a:pPr>
            <a:r>
              <a:rPr lang="en-US" sz="2000" dirty="0"/>
              <a:t>What the system is for</a:t>
            </a:r>
          </a:p>
        </p:txBody>
      </p:sp>
      <p:sp>
        <p:nvSpPr>
          <p:cNvPr id="66" name="Requirements gloss"/>
          <p:cNvSpPr txBox="1"/>
          <p:nvPr/>
        </p:nvSpPr>
        <p:spPr>
          <a:xfrm>
            <a:off x="3365500" y="2895600"/>
            <a:ext cx="2413000" cy="1143000"/>
          </a:xfrm>
          <a:prstGeom prst="rect">
            <a:avLst/>
          </a:prstGeom>
          <a:noFill/>
        </p:spPr>
        <p:txBody>
          <a:bodyPr wrap="square" rtlCol="0" anchor="t">
            <a:noAutofit/>
          </a:bodyPr>
          <a:lstStyle/>
          <a:p>
            <a:pPr algn="ctr">
              <a:buNone/>
            </a:pPr>
            <a:r>
              <a:rPr lang="en-US" sz="2000" dirty="0"/>
              <a:t>What we promise it will do</a:t>
            </a:r>
          </a:p>
        </p:txBody>
      </p:sp>
      <p:sp>
        <p:nvSpPr>
          <p:cNvPr id="67" name="System gloss"/>
          <p:cNvSpPr txBox="1"/>
          <p:nvPr/>
        </p:nvSpPr>
        <p:spPr>
          <a:xfrm>
            <a:off x="6451600" y="2895600"/>
            <a:ext cx="2413000" cy="1143000"/>
          </a:xfrm>
          <a:prstGeom prst="rect">
            <a:avLst/>
          </a:prstGeom>
          <a:noFill/>
        </p:spPr>
        <p:txBody>
          <a:bodyPr wrap="square" rtlCol="0" anchor="t">
            <a:noAutofit/>
          </a:bodyPr>
          <a:lstStyle/>
          <a:p>
            <a:pPr algn="ctr">
              <a:buNone/>
            </a:pPr>
            <a:r>
              <a:rPr lang="en-US" sz="2000" dirty="0"/>
              <a:t>What we actually deliver</a:t>
            </a:r>
          </a:p>
        </p:txBody>
      </p:sp>
      <p:sp>
        <p:nvSpPr>
          <p:cNvPr id="68" name="Claim"/>
          <p:cNvSpPr txBox="1"/>
          <p:nvPr/>
        </p:nvSpPr>
        <p:spPr>
          <a:xfrm>
            <a:off x="279400" y="4381500"/>
            <a:ext cx="8382000" cy="1143000"/>
          </a:xfrm>
          <a:prstGeom prst="rect">
            <a:avLst/>
          </a:prstGeom>
          <a:noFill/>
        </p:spPr>
        <p:txBody>
          <a:bodyPr wrap="square" rtlCol="0" anchor="t">
            <a:noAutofit/>
          </a:bodyPr>
          <a:lstStyle/>
          <a:p>
            <a:pPr algn="l">
              <a:buNone/>
            </a:pPr>
            <a:r>
              <a:rPr lang="en-US" sz="2800" b="1" dirty="0"/>
              <a:t>No purpose, no way to tell success from failure.</a:t>
            </a:r>
          </a:p>
        </p:txBody>
      </p:sp>
      <p:sp>
        <p:nvSpPr>
          <p:cNvPr id="69" name="Citation"/>
          <p:cNvSpPr txBox="1"/>
          <p:nvPr/>
        </p:nvSpPr>
        <p:spPr>
          <a:xfrm>
            <a:off x="279400" y="5969000"/>
            <a:ext cx="8382000" cy="381000"/>
          </a:xfrm>
          <a:prstGeom prst="rect">
            <a:avLst/>
          </a:prstGeom>
          <a:noFill/>
        </p:spPr>
        <p:txBody>
          <a:bodyPr wrap="square" rtlCol="0" anchor="t">
            <a:noAutofit/>
          </a:bodyPr>
          <a:lstStyle/>
          <a:p>
            <a:pPr algn="l">
              <a:buNone/>
            </a:pPr>
            <a:r>
              <a:rPr lang="en-US" sz="2000" i="1" dirty="0">
                <a:solidFill>
                  <a:srgbClr val="555960"/>
                </a:solidFill>
              </a:rPr>
              <a:t>Nuseibeh &amp; Easterbrook, “Requirements engineering: a roadmap”, ICSE 2000; Zave, 1997</a:t>
            </a:r>
          </a:p>
        </p:txBody>
      </p:sp>
    </p:spTree>
    <p:extLst>
      <p:ext uri="{BB962C8B-B14F-4D97-AF65-F5344CB8AC3E}">
        <p14:creationId xmlns:p14="http://schemas.microsoft.com/office/powerpoint/2010/main" val="7715012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9310B85-5267-8199-B2E3-C9C4DCBD24F2}"/>
              </a:ext>
            </a:extLst>
          </p:cNvPr>
          <p:cNvSpPr>
            <a:spLocks noGrp="1"/>
          </p:cNvSpPr>
          <p:nvPr>
            <p:ph type="title"/>
          </p:nvPr>
        </p:nvSpPr>
        <p:spPr/>
        <p:txBody>
          <a:bodyPr>
            <a:normAutofit fontScale="90000"/>
          </a:bodyPr>
          <a:lstStyle/>
          <a:p>
            <a:r>
              <a:rPr lang="en-US" dirty="0"/>
              <a:t>Requirements describe services and constraints</a:t>
            </a:r>
          </a:p>
        </p:txBody>
      </p:sp>
      <p:sp>
        <p:nvSpPr>
          <p:cNvPr id="4" name="Slide Number Placeholder 3">
            <a:extLst>
              <a:ext uri="{FF2B5EF4-FFF2-40B4-BE49-F238E27FC236}">
                <a16:creationId xmlns:a16="http://schemas.microsoft.com/office/drawing/2014/main" id="{C8A2E821-E1B5-DBFE-272D-32E6B97B81B6}"/>
              </a:ext>
            </a:extLst>
          </p:cNvPr>
          <p:cNvSpPr>
            <a:spLocks noGrp="1"/>
          </p:cNvSpPr>
          <p:nvPr>
            <p:ph type="sldNum" sz="quarter" idx="4"/>
          </p:nvPr>
        </p:nvSpPr>
        <p:spPr/>
        <p:txBody>
          <a:bodyPr/>
          <a:lstStyle/>
          <a:p>
            <a:fld id="{B7EB45DA-9A0D-DC49-8E02-F30A5DDC21C3}" type="slidenum">
              <a:rPr lang="en-US" smtClean="0"/>
              <a:t>7</a:t>
            </a:fld>
            <a:endParaRPr lang="en-US"/>
          </a:p>
        </p:txBody>
      </p:sp>
      <p:sp>
        <p:nvSpPr>
          <p:cNvPr id="60" name="Services label"/>
          <p:cNvSpPr txBox="1"/>
          <p:nvPr/>
        </p:nvSpPr>
        <p:spPr>
          <a:xfrm>
            <a:off x="279400" y="990600"/>
            <a:ext cx="4064000" cy="457200"/>
          </a:xfrm>
          <a:prstGeom prst="rect">
            <a:avLst/>
          </a:prstGeom>
          <a:noFill/>
        </p:spPr>
        <p:txBody>
          <a:bodyPr wrap="square" rtlCol="0" anchor="t">
            <a:noAutofit/>
          </a:bodyPr>
          <a:lstStyle/>
          <a:p>
            <a:pPr algn="l">
              <a:buNone/>
            </a:pPr>
            <a:r>
              <a:rPr lang="en-US" sz="2800" b="1" dirty="0">
                <a:solidFill>
                  <a:srgbClr val="8E6F3E"/>
                </a:solidFill>
              </a:rPr>
              <a:t>Services</a:t>
            </a:r>
          </a:p>
        </p:txBody>
      </p:sp>
      <p:sp>
        <p:nvSpPr>
          <p:cNvPr id="61" name="Services gloss"/>
          <p:cNvSpPr txBox="1"/>
          <p:nvPr/>
        </p:nvSpPr>
        <p:spPr>
          <a:xfrm>
            <a:off x="279400" y="1473200"/>
            <a:ext cx="4064000" cy="431800"/>
          </a:xfrm>
          <a:prstGeom prst="rect">
            <a:avLst/>
          </a:prstGeom>
          <a:noFill/>
        </p:spPr>
        <p:txBody>
          <a:bodyPr wrap="square" rtlCol="0" anchor="t">
            <a:noAutofit/>
          </a:bodyPr>
          <a:lstStyle/>
          <a:p>
            <a:pPr algn="l">
              <a:buNone/>
            </a:pPr>
            <a:r>
              <a:rPr lang="en-US" sz="2000" dirty="0"/>
              <a:t>What must the system do?</a:t>
            </a:r>
          </a:p>
        </p:txBody>
      </p:sp>
      <p:sp>
        <p:nvSpPr>
          <p:cNvPr id="62" name="Constraints label"/>
          <p:cNvSpPr txBox="1"/>
          <p:nvPr/>
        </p:nvSpPr>
        <p:spPr>
          <a:xfrm>
            <a:off x="4800600" y="990600"/>
            <a:ext cx="4064000" cy="457200"/>
          </a:xfrm>
          <a:prstGeom prst="rect">
            <a:avLst/>
          </a:prstGeom>
          <a:noFill/>
        </p:spPr>
        <p:txBody>
          <a:bodyPr wrap="square" rtlCol="0" anchor="t">
            <a:noAutofit/>
          </a:bodyPr>
          <a:lstStyle/>
          <a:p>
            <a:pPr algn="l">
              <a:buNone/>
            </a:pPr>
            <a:r>
              <a:rPr lang="en-US" sz="2800" b="1" dirty="0">
                <a:solidFill>
                  <a:srgbClr val="8E6F3E"/>
                </a:solidFill>
              </a:rPr>
              <a:t>Constraints</a:t>
            </a:r>
          </a:p>
        </p:txBody>
      </p:sp>
      <p:sp>
        <p:nvSpPr>
          <p:cNvPr id="63" name="Constraints gloss"/>
          <p:cNvSpPr txBox="1"/>
          <p:nvPr/>
        </p:nvSpPr>
        <p:spPr>
          <a:xfrm>
            <a:off x="4800600" y="1473200"/>
            <a:ext cx="4064000" cy="431800"/>
          </a:xfrm>
          <a:prstGeom prst="rect">
            <a:avLst/>
          </a:prstGeom>
          <a:noFill/>
        </p:spPr>
        <p:txBody>
          <a:bodyPr wrap="square" rtlCol="0" anchor="t">
            <a:noAutofit/>
          </a:bodyPr>
          <a:lstStyle/>
          <a:p>
            <a:pPr algn="l">
              <a:buNone/>
            </a:pPr>
            <a:r>
              <a:rPr lang="en-US" sz="2000" dirty="0"/>
              <a:t>What else must be true?</a:t>
            </a:r>
          </a:p>
        </p:txBody>
      </p:sp>
      <p:sp>
        <p:nvSpPr>
          <p:cNvPr id="64" name="Divider"/>
          <p:cNvSpPr/>
          <p:nvPr/>
        </p:nvSpPr>
        <p:spPr>
          <a:xfrm>
            <a:off x="279400" y="2057400"/>
            <a:ext cx="8585200" cy="0"/>
          </a:xfrm>
          <a:prstGeom prst="line">
            <a:avLst/>
          </a:prstGeom>
          <a:ln w="19050">
            <a:solidFill>
              <a:srgbClr val="C9B991"/>
            </a:solidFill>
          </a:ln>
        </p:spPr>
        <p:txBody>
          <a:bodyPr/>
          <a:lstStyle/>
          <a:p>
            <a:endParaRPr lang="en-US"/>
          </a:p>
        </p:txBody>
      </p:sp>
      <p:sp>
        <p:nvSpPr>
          <p:cNvPr id="70" name="Type label 1"/>
          <p:cNvSpPr txBox="1"/>
          <p:nvPr/>
        </p:nvSpPr>
        <p:spPr>
          <a:xfrm>
            <a:off x="279400" y="2286000"/>
            <a:ext cx="2730500" cy="1066800"/>
          </a:xfrm>
          <a:prstGeom prst="rect">
            <a:avLst/>
          </a:prstGeom>
          <a:noFill/>
        </p:spPr>
        <p:txBody>
          <a:bodyPr wrap="square" rtlCol="0" anchor="t">
            <a:noAutofit/>
          </a:bodyPr>
          <a:lstStyle/>
          <a:p>
            <a:pPr algn="l">
              <a:buNone/>
            </a:pPr>
            <a:r>
              <a:rPr lang="en-US" sz="2400" b="1" dirty="0">
                <a:solidFill>
                  <a:srgbClr val="8E6F3E"/>
                </a:solidFill>
              </a:rPr>
              <a:t>Functional</a:t>
            </a:r>
          </a:p>
        </p:txBody>
      </p:sp>
      <p:sp>
        <p:nvSpPr>
          <p:cNvPr id="71" name="Type question 1"/>
          <p:cNvSpPr txBox="1"/>
          <p:nvPr/>
        </p:nvSpPr>
        <p:spPr>
          <a:xfrm>
            <a:off x="279400" y="3454400"/>
            <a:ext cx="2730500" cy="838200"/>
          </a:xfrm>
          <a:prstGeom prst="rect">
            <a:avLst/>
          </a:prstGeom>
          <a:noFill/>
        </p:spPr>
        <p:txBody>
          <a:bodyPr wrap="square" rtlCol="0" anchor="t">
            <a:noAutofit/>
          </a:bodyPr>
          <a:lstStyle/>
          <a:p>
            <a:pPr algn="l">
              <a:buNone/>
            </a:pPr>
            <a:r>
              <a:rPr lang="en-US" sz="2000" dirty="0"/>
              <a:t>What behaviour?</a:t>
            </a:r>
          </a:p>
        </p:txBody>
      </p:sp>
      <p:sp>
        <p:nvSpPr>
          <p:cNvPr id="72" name="Type example 1"/>
          <p:cNvSpPr txBox="1"/>
          <p:nvPr/>
        </p:nvSpPr>
        <p:spPr>
          <a:xfrm>
            <a:off x="279400" y="4419600"/>
            <a:ext cx="2730500" cy="1524000"/>
          </a:xfrm>
          <a:prstGeom prst="rect">
            <a:avLst/>
          </a:prstGeom>
          <a:noFill/>
        </p:spPr>
        <p:txBody>
          <a:bodyPr wrap="square" rtlCol="0" anchor="t">
            <a:noAutofit/>
          </a:bodyPr>
          <a:lstStyle/>
          <a:p>
            <a:pPr algn="l">
              <a:buNone/>
            </a:pPr>
            <a:r>
              <a:rPr lang="en-US" sz="2000" i="1" dirty="0">
                <a:solidFill>
                  <a:srgbClr val="555960"/>
                </a:solidFill>
              </a:rPr>
              <a:t>Email an admin when a project has no moderator.</a:t>
            </a:r>
          </a:p>
        </p:txBody>
      </p:sp>
      <p:sp>
        <p:nvSpPr>
          <p:cNvPr id="73" name="Type label 2"/>
          <p:cNvSpPr txBox="1"/>
          <p:nvPr/>
        </p:nvSpPr>
        <p:spPr>
          <a:xfrm>
            <a:off x="3238500" y="2286000"/>
            <a:ext cx="2730500" cy="1066800"/>
          </a:xfrm>
          <a:prstGeom prst="rect">
            <a:avLst/>
          </a:prstGeom>
          <a:noFill/>
        </p:spPr>
        <p:txBody>
          <a:bodyPr wrap="square" rtlCol="0" anchor="t">
            <a:noAutofit/>
          </a:bodyPr>
          <a:lstStyle/>
          <a:p>
            <a:pPr algn="l">
              <a:buNone/>
            </a:pPr>
            <a:r>
              <a:rPr lang="en-US" sz="2400" b="1" dirty="0">
                <a:solidFill>
                  <a:srgbClr val="8E6F3E"/>
                </a:solidFill>
              </a:rPr>
              <a:t>Quality (NFR)</a:t>
            </a:r>
          </a:p>
        </p:txBody>
      </p:sp>
      <p:sp>
        <p:nvSpPr>
          <p:cNvPr id="74" name="Type question 2"/>
          <p:cNvSpPr txBox="1"/>
          <p:nvPr/>
        </p:nvSpPr>
        <p:spPr>
          <a:xfrm>
            <a:off x="3238500" y="3454400"/>
            <a:ext cx="2730500" cy="838200"/>
          </a:xfrm>
          <a:prstGeom prst="rect">
            <a:avLst/>
          </a:prstGeom>
          <a:noFill/>
        </p:spPr>
        <p:txBody>
          <a:bodyPr wrap="square" rtlCol="0" anchor="t">
            <a:noAutofit/>
          </a:bodyPr>
          <a:lstStyle/>
          <a:p>
            <a:pPr algn="l">
              <a:buNone/>
            </a:pPr>
            <a:r>
              <a:rPr lang="en-US" sz="2000" dirty="0"/>
              <a:t>How well? Within what limits?</a:t>
            </a:r>
          </a:p>
        </p:txBody>
      </p:sp>
      <p:sp>
        <p:nvSpPr>
          <p:cNvPr id="75" name="Type example 2"/>
          <p:cNvSpPr txBox="1"/>
          <p:nvPr/>
        </p:nvSpPr>
        <p:spPr>
          <a:xfrm>
            <a:off x="3238500" y="4419600"/>
            <a:ext cx="2730500" cy="1524000"/>
          </a:xfrm>
          <a:prstGeom prst="rect">
            <a:avLst/>
          </a:prstGeom>
          <a:noFill/>
        </p:spPr>
        <p:txBody>
          <a:bodyPr wrap="square" rtlCol="0" anchor="t">
            <a:noAutofit/>
          </a:bodyPr>
          <a:lstStyle/>
          <a:p>
            <a:pPr algn="l">
              <a:buNone/>
            </a:pPr>
            <a:r>
              <a:rPr lang="en-US" sz="2000" i="1" dirty="0">
                <a:solidFill>
                  <a:srgbClr val="555960"/>
                </a:solidFill>
              </a:rPr>
              <a:t>95% of searches return within one second.</a:t>
            </a:r>
          </a:p>
        </p:txBody>
      </p:sp>
      <p:sp>
        <p:nvSpPr>
          <p:cNvPr id="76" name="Type label 3"/>
          <p:cNvSpPr txBox="1"/>
          <p:nvPr/>
        </p:nvSpPr>
        <p:spPr>
          <a:xfrm>
            <a:off x="6197600" y="2286000"/>
            <a:ext cx="2730500" cy="1066800"/>
          </a:xfrm>
          <a:prstGeom prst="rect">
            <a:avLst/>
          </a:prstGeom>
          <a:noFill/>
        </p:spPr>
        <p:txBody>
          <a:bodyPr wrap="square" rtlCol="0" anchor="t">
            <a:noAutofit/>
          </a:bodyPr>
          <a:lstStyle/>
          <a:p>
            <a:pPr algn="l">
              <a:buNone/>
            </a:pPr>
            <a:r>
              <a:rPr lang="en-US" sz="2400" b="1" dirty="0">
                <a:solidFill>
                  <a:srgbClr val="8E6F3E"/>
                </a:solidFill>
              </a:rPr>
              <a:t>Domain</a:t>
            </a:r>
          </a:p>
        </p:txBody>
      </p:sp>
      <p:sp>
        <p:nvSpPr>
          <p:cNvPr id="77" name="Type question 3"/>
          <p:cNvSpPr txBox="1"/>
          <p:nvPr/>
        </p:nvSpPr>
        <p:spPr>
          <a:xfrm>
            <a:off x="6197600" y="3454400"/>
            <a:ext cx="2730500" cy="838200"/>
          </a:xfrm>
          <a:prstGeom prst="rect">
            <a:avLst/>
          </a:prstGeom>
          <a:noFill/>
        </p:spPr>
        <p:txBody>
          <a:bodyPr wrap="square" rtlCol="0" anchor="t">
            <a:noAutofit/>
          </a:bodyPr>
          <a:lstStyle/>
          <a:p>
            <a:pPr algn="l">
              <a:buNone/>
            </a:pPr>
            <a:r>
              <a:rPr lang="en-US" sz="2000" dirty="0"/>
              <a:t>What does the world outside require?</a:t>
            </a:r>
          </a:p>
        </p:txBody>
      </p:sp>
      <p:sp>
        <p:nvSpPr>
          <p:cNvPr id="78" name="Type example 3"/>
          <p:cNvSpPr txBox="1"/>
          <p:nvPr/>
        </p:nvSpPr>
        <p:spPr>
          <a:xfrm>
            <a:off x="6197600" y="4419600"/>
            <a:ext cx="2730500" cy="1524000"/>
          </a:xfrm>
          <a:prstGeom prst="rect">
            <a:avLst/>
          </a:prstGeom>
          <a:noFill/>
        </p:spPr>
        <p:txBody>
          <a:bodyPr wrap="square" rtlCol="0" anchor="t">
            <a:noAutofit/>
          </a:bodyPr>
          <a:lstStyle/>
          <a:p>
            <a:pPr algn="l">
              <a:buNone/>
            </a:pPr>
            <a:r>
              <a:rPr lang="en-US" sz="2000" i="1" dirty="0">
                <a:solidFill>
                  <a:srgbClr val="555960"/>
                </a:solidFill>
              </a:rPr>
              <a:t>Withdrawing consent is as easy as giving it.</a:t>
            </a:r>
          </a:p>
        </p:txBody>
      </p:sp>
      <p:sp>
        <p:nvSpPr>
          <p:cNvPr id="90" name="Caveat"/>
          <p:cNvSpPr txBox="1"/>
          <p:nvPr/>
        </p:nvSpPr>
        <p:spPr>
          <a:xfrm>
            <a:off x="279400" y="5943600"/>
            <a:ext cx="5969000" cy="381000"/>
          </a:xfrm>
          <a:prstGeom prst="rect">
            <a:avLst/>
          </a:prstGeom>
          <a:noFill/>
        </p:spPr>
        <p:txBody>
          <a:bodyPr wrap="square" rtlCol="0" anchor="t">
            <a:noAutofit/>
          </a:bodyPr>
          <a:lstStyle/>
          <a:p>
            <a:pPr algn="l">
              <a:buNone/>
            </a:pPr>
            <a:r>
              <a:rPr lang="en-US" sz="2000" b="1" dirty="0">
                <a:solidFill>
                  <a:srgbClr val="8E6F3E"/>
                </a:solidFill>
              </a:rPr>
              <a:t>A useful framework, not a set of calipers.</a:t>
            </a:r>
          </a:p>
        </p:txBody>
      </p:sp>
    </p:spTree>
    <p:extLst>
      <p:ext uri="{BB962C8B-B14F-4D97-AF65-F5344CB8AC3E}">
        <p14:creationId xmlns:p14="http://schemas.microsoft.com/office/powerpoint/2010/main" val="19736786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3F5AC2B-8ADF-035E-5D5F-11AE4C65DEEF}"/>
              </a:ext>
            </a:extLst>
          </p:cNvPr>
          <p:cNvSpPr>
            <a:spLocks noGrp="1"/>
          </p:cNvSpPr>
          <p:nvPr>
            <p:ph type="title"/>
          </p:nvPr>
        </p:nvSpPr>
        <p:spPr/>
        <p:txBody>
          <a:bodyPr>
            <a:normAutofit fontScale="90000"/>
          </a:bodyPr>
          <a:lstStyle/>
          <a:p>
            <a:r>
              <a:rPr lang="en-US" dirty="0"/>
              <a:t>Requirements come from more than users</a:t>
            </a:r>
          </a:p>
        </p:txBody>
      </p:sp>
      <p:sp>
        <p:nvSpPr>
          <p:cNvPr id="4" name="Slide Number Placeholder 3">
            <a:extLst>
              <a:ext uri="{FF2B5EF4-FFF2-40B4-BE49-F238E27FC236}">
                <a16:creationId xmlns:a16="http://schemas.microsoft.com/office/drawing/2014/main" id="{DDBC91E9-5559-EEC0-F8DE-E60B447B2B97}"/>
              </a:ext>
            </a:extLst>
          </p:cNvPr>
          <p:cNvSpPr>
            <a:spLocks noGrp="1"/>
          </p:cNvSpPr>
          <p:nvPr>
            <p:ph type="sldNum" sz="quarter" idx="4"/>
          </p:nvPr>
        </p:nvSpPr>
        <p:spPr/>
        <p:txBody>
          <a:bodyPr/>
          <a:lstStyle/>
          <a:p>
            <a:fld id="{B7EB45DA-9A0D-DC49-8E02-F30A5DDC21C3}" type="slidenum">
              <a:rPr lang="en-US" smtClean="0"/>
              <a:t>8</a:t>
            </a:fld>
            <a:endParaRPr lang="en-US"/>
          </a:p>
        </p:txBody>
      </p:sp>
      <p:sp>
        <p:nvSpPr>
          <p:cNvPr id="60" name="Source left 1"/>
          <p:cNvSpPr txBox="1"/>
          <p:nvPr/>
        </p:nvSpPr>
        <p:spPr>
          <a:xfrm>
            <a:off x="76200" y="1219200"/>
            <a:ext cx="2540000" cy="660400"/>
          </a:xfrm>
          <a:prstGeom prst="rect">
            <a:avLst/>
          </a:prstGeom>
          <a:noFill/>
        </p:spPr>
        <p:txBody>
          <a:bodyPr wrap="square" rtlCol="0" anchor="t">
            <a:noAutofit/>
          </a:bodyPr>
          <a:lstStyle/>
          <a:p>
            <a:pPr algn="r">
              <a:buNone/>
            </a:pPr>
            <a:r>
              <a:rPr lang="en-US" sz="2400" dirty="0"/>
              <a:t>Users</a:t>
            </a:r>
          </a:p>
        </p:txBody>
      </p:sp>
      <p:sp>
        <p:nvSpPr>
          <p:cNvPr id="61" name="Source left 2"/>
          <p:cNvSpPr txBox="1"/>
          <p:nvPr/>
        </p:nvSpPr>
        <p:spPr>
          <a:xfrm>
            <a:off x="76200" y="2006600"/>
            <a:ext cx="2540000" cy="660400"/>
          </a:xfrm>
          <a:prstGeom prst="rect">
            <a:avLst/>
          </a:prstGeom>
          <a:noFill/>
        </p:spPr>
        <p:txBody>
          <a:bodyPr wrap="square" rtlCol="0" anchor="t">
            <a:noAutofit/>
          </a:bodyPr>
          <a:lstStyle/>
          <a:p>
            <a:pPr algn="r">
              <a:buNone/>
            </a:pPr>
            <a:r>
              <a:rPr lang="en-US" sz="2400" dirty="0"/>
              <a:t>Customers</a:t>
            </a:r>
          </a:p>
        </p:txBody>
      </p:sp>
      <p:sp>
        <p:nvSpPr>
          <p:cNvPr id="62" name="Source left 3"/>
          <p:cNvSpPr txBox="1"/>
          <p:nvPr/>
        </p:nvSpPr>
        <p:spPr>
          <a:xfrm>
            <a:off x="76200" y="2794000"/>
            <a:ext cx="2540000" cy="660400"/>
          </a:xfrm>
          <a:prstGeom prst="rect">
            <a:avLst/>
          </a:prstGeom>
          <a:noFill/>
        </p:spPr>
        <p:txBody>
          <a:bodyPr wrap="square" rtlCol="0" anchor="t">
            <a:noAutofit/>
          </a:bodyPr>
          <a:lstStyle/>
          <a:p>
            <a:pPr algn="r">
              <a:buNone/>
            </a:pPr>
            <a:r>
              <a:rPr lang="en-US" sz="2400" dirty="0"/>
              <a:t>Existing systems</a:t>
            </a:r>
          </a:p>
        </p:txBody>
      </p:sp>
      <p:sp>
        <p:nvSpPr>
          <p:cNvPr id="63" name="Source left 4"/>
          <p:cNvSpPr txBox="1"/>
          <p:nvPr/>
        </p:nvSpPr>
        <p:spPr>
          <a:xfrm>
            <a:off x="76200" y="3581400"/>
            <a:ext cx="2540000" cy="660400"/>
          </a:xfrm>
          <a:prstGeom prst="rect">
            <a:avLst/>
          </a:prstGeom>
          <a:noFill/>
        </p:spPr>
        <p:txBody>
          <a:bodyPr wrap="square" rtlCol="0" anchor="t">
            <a:noAutofit/>
          </a:bodyPr>
          <a:lstStyle/>
          <a:p>
            <a:pPr algn="r">
              <a:buNone/>
            </a:pPr>
            <a:r>
              <a:rPr lang="en-US" sz="2400" dirty="0"/>
              <a:t>Technology</a:t>
            </a:r>
          </a:p>
        </p:txBody>
      </p:sp>
      <p:sp>
        <p:nvSpPr>
          <p:cNvPr id="70" name="Source right 1"/>
          <p:cNvSpPr txBox="1"/>
          <p:nvPr/>
        </p:nvSpPr>
        <p:spPr>
          <a:xfrm>
            <a:off x="6248400" y="1219200"/>
            <a:ext cx="2616200" cy="660400"/>
          </a:xfrm>
          <a:prstGeom prst="rect">
            <a:avLst/>
          </a:prstGeom>
          <a:noFill/>
        </p:spPr>
        <p:txBody>
          <a:bodyPr wrap="square" rtlCol="0" anchor="t">
            <a:noAutofit/>
          </a:bodyPr>
          <a:lstStyle/>
          <a:p>
            <a:pPr algn="l">
              <a:buNone/>
            </a:pPr>
            <a:r>
              <a:rPr lang="en-US" sz="2400" dirty="0"/>
              <a:t>Laws and standards</a:t>
            </a:r>
          </a:p>
        </p:txBody>
      </p:sp>
      <p:sp>
        <p:nvSpPr>
          <p:cNvPr id="71" name="Source right 2"/>
          <p:cNvSpPr txBox="1"/>
          <p:nvPr/>
        </p:nvSpPr>
        <p:spPr>
          <a:xfrm>
            <a:off x="6248400" y="2006600"/>
            <a:ext cx="2616200" cy="660400"/>
          </a:xfrm>
          <a:prstGeom prst="rect">
            <a:avLst/>
          </a:prstGeom>
          <a:noFill/>
        </p:spPr>
        <p:txBody>
          <a:bodyPr wrap="square" rtlCol="0" anchor="t">
            <a:noAutofit/>
          </a:bodyPr>
          <a:lstStyle/>
          <a:p>
            <a:pPr algn="l">
              <a:buNone/>
            </a:pPr>
            <a:r>
              <a:rPr lang="en-US" sz="2400" dirty="0"/>
              <a:t>Contracts</a:t>
            </a:r>
          </a:p>
        </p:txBody>
      </p:sp>
      <p:sp>
        <p:nvSpPr>
          <p:cNvPr id="72" name="Source right 3"/>
          <p:cNvSpPr txBox="1"/>
          <p:nvPr/>
        </p:nvSpPr>
        <p:spPr>
          <a:xfrm>
            <a:off x="6248400" y="2794000"/>
            <a:ext cx="2616200" cy="660400"/>
          </a:xfrm>
          <a:prstGeom prst="rect">
            <a:avLst/>
          </a:prstGeom>
          <a:noFill/>
        </p:spPr>
        <p:txBody>
          <a:bodyPr wrap="square" rtlCol="0" anchor="t">
            <a:noAutofit/>
          </a:bodyPr>
          <a:lstStyle/>
          <a:p>
            <a:pPr algn="l">
              <a:buNone/>
            </a:pPr>
            <a:r>
              <a:rPr lang="en-US" sz="2400" dirty="0"/>
              <a:t>Competitors</a:t>
            </a:r>
          </a:p>
        </p:txBody>
      </p:sp>
      <p:sp>
        <p:nvSpPr>
          <p:cNvPr id="73" name="Source right 4"/>
          <p:cNvSpPr txBox="1"/>
          <p:nvPr/>
        </p:nvSpPr>
        <p:spPr>
          <a:xfrm>
            <a:off x="6248400" y="3581400"/>
            <a:ext cx="2616200" cy="660400"/>
          </a:xfrm>
          <a:prstGeom prst="rect">
            <a:avLst/>
          </a:prstGeom>
          <a:noFill/>
        </p:spPr>
        <p:txBody>
          <a:bodyPr wrap="square" rtlCol="0" anchor="t">
            <a:noAutofit/>
          </a:bodyPr>
          <a:lstStyle/>
          <a:p>
            <a:pPr algn="l">
              <a:buNone/>
            </a:pPr>
            <a:r>
              <a:rPr lang="en-US" sz="2400" dirty="0"/>
              <a:t>Operations</a:t>
            </a:r>
          </a:p>
        </p:txBody>
      </p:sp>
      <p:sp>
        <p:nvSpPr>
          <p:cNvPr id="80" name="Candidate requirements"/>
          <p:cNvSpPr/>
          <p:nvPr/>
        </p:nvSpPr>
        <p:spPr>
          <a:xfrm>
            <a:off x="3175000" y="1727200"/>
            <a:ext cx="2540000" cy="2540000"/>
          </a:xfrm>
          <a:prstGeom prst="roundRect">
            <a:avLst/>
          </a:prstGeom>
          <a:solidFill>
            <a:srgbClr val="8E6F3E"/>
          </a:solidFill>
          <a:ln>
            <a:noFill/>
          </a:ln>
        </p:spPr>
        <p:txBody>
          <a:bodyPr lIns="72000" rIns="72000" anchor="ctr">
            <a:normAutofit/>
          </a:bodyPr>
          <a:lstStyle/>
          <a:p>
            <a:pPr algn="ctr">
              <a:buNone/>
            </a:pPr>
            <a:r>
              <a:rPr lang="en-US" sz="2800" b="1" dirty="0">
                <a:solidFill>
                  <a:srgbClr val="FFFFFF"/>
                </a:solidFill>
              </a:rPr>
              <a:t>Candidate requirements</a:t>
            </a:r>
          </a:p>
        </p:txBody>
      </p:sp>
      <p:sp>
        <p:nvSpPr>
          <p:cNvPr id="81" name="Inflow from left"/>
          <p:cNvSpPr/>
          <p:nvPr/>
        </p:nvSpPr>
        <p:spPr>
          <a:xfrm>
            <a:off x="2692400" y="2819400"/>
            <a:ext cx="355600" cy="355600"/>
          </a:xfrm>
          <a:prstGeom prst="rightArrow">
            <a:avLst/>
          </a:prstGeom>
          <a:solidFill>
            <a:srgbClr val="C9B991"/>
          </a:solidFill>
          <a:ln>
            <a:noFill/>
          </a:ln>
        </p:spPr>
        <p:txBody>
          <a:bodyPr lIns="72000" rIns="72000" anchor="ctr">
            <a:normAutofit fontScale="32500" lnSpcReduction="20000"/>
          </a:bodyPr>
          <a:lstStyle/>
          <a:p>
            <a:endParaRPr lang="en-US"/>
          </a:p>
        </p:txBody>
      </p:sp>
      <p:sp>
        <p:nvSpPr>
          <p:cNvPr id="82" name="Inflow from right"/>
          <p:cNvSpPr/>
          <p:nvPr/>
        </p:nvSpPr>
        <p:spPr>
          <a:xfrm>
            <a:off x="5816600" y="2819400"/>
            <a:ext cx="355600" cy="355600"/>
          </a:xfrm>
          <a:prstGeom prst="leftArrow">
            <a:avLst/>
          </a:prstGeom>
          <a:solidFill>
            <a:srgbClr val="C9B991"/>
          </a:solidFill>
          <a:ln>
            <a:noFill/>
          </a:ln>
        </p:spPr>
        <p:txBody>
          <a:bodyPr lIns="72000" rIns="72000" anchor="ctr">
            <a:normAutofit fontScale="32500" lnSpcReduction="20000"/>
          </a:bodyPr>
          <a:lstStyle/>
          <a:p>
            <a:endParaRPr lang="en-US"/>
          </a:p>
        </p:txBody>
      </p:sp>
      <p:sp>
        <p:nvSpPr>
          <p:cNvPr id="83" name="Claim"/>
          <p:cNvSpPr txBox="1"/>
          <p:nvPr/>
        </p:nvSpPr>
        <p:spPr>
          <a:xfrm>
            <a:off x="279400" y="4572000"/>
            <a:ext cx="8382000" cy="711200"/>
          </a:xfrm>
          <a:prstGeom prst="rect">
            <a:avLst/>
          </a:prstGeom>
          <a:noFill/>
        </p:spPr>
        <p:txBody>
          <a:bodyPr wrap="square" rtlCol="0" anchor="t">
            <a:noAutofit/>
          </a:bodyPr>
          <a:lstStyle/>
          <a:p>
            <a:pPr algn="l">
              <a:buNone/>
            </a:pPr>
            <a:r>
              <a:rPr lang="en-US" sz="2800" b="1" dirty="0"/>
              <a:t>Asking users is necessary. It is not sufficient.</a:t>
            </a:r>
          </a:p>
        </p:txBody>
      </p:sp>
      <p:sp>
        <p:nvSpPr>
          <p:cNvPr id="84" name="Project note"/>
          <p:cNvSpPr txBox="1"/>
          <p:nvPr/>
        </p:nvSpPr>
        <p:spPr>
          <a:xfrm>
            <a:off x="279400" y="5410200"/>
            <a:ext cx="8585200" cy="635000"/>
          </a:xfrm>
          <a:prstGeom prst="rect">
            <a:avLst/>
          </a:prstGeom>
          <a:noFill/>
        </p:spPr>
        <p:txBody>
          <a:bodyPr wrap="square" rtlCol="0" anchor="t">
            <a:noAutofit/>
          </a:bodyPr>
          <a:lstStyle/>
          <a:p>
            <a:pPr algn="l">
              <a:buNone/>
            </a:pPr>
            <a:r>
              <a:rPr lang="en-US" sz="2400" i="1" dirty="0">
                <a:solidFill>
                  <a:srgbClr val="555960"/>
                </a:solidFill>
              </a:rPr>
              <a:t>In your project, regulation is a deliberate source of obligations.</a:t>
            </a:r>
          </a:p>
        </p:txBody>
      </p:sp>
    </p:spTree>
    <p:extLst>
      <p:ext uri="{BB962C8B-B14F-4D97-AF65-F5344CB8AC3E}">
        <p14:creationId xmlns:p14="http://schemas.microsoft.com/office/powerpoint/2010/main" val="22238770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40347F-CFE2-7031-4E9B-FE90D6DF732C}"/>
              </a:ext>
            </a:extLst>
          </p:cNvPr>
          <p:cNvSpPr>
            <a:spLocks noGrp="1"/>
          </p:cNvSpPr>
          <p:nvPr>
            <p:ph type="title"/>
          </p:nvPr>
        </p:nvSpPr>
        <p:spPr/>
        <p:txBody>
          <a:bodyPr>
            <a:normAutofit fontScale="90000"/>
          </a:bodyPr>
          <a:lstStyle/>
          <a:p>
            <a:r>
              <a:rPr lang="en-US" dirty="0"/>
              <a:t>Authoritative does not mean implementable</a:t>
            </a:r>
          </a:p>
        </p:txBody>
      </p:sp>
      <p:sp>
        <p:nvSpPr>
          <p:cNvPr id="4" name="Slide Number Placeholder 3">
            <a:extLst>
              <a:ext uri="{FF2B5EF4-FFF2-40B4-BE49-F238E27FC236}">
                <a16:creationId xmlns:a16="http://schemas.microsoft.com/office/drawing/2014/main" id="{60887C72-8593-FD57-63AB-C46069221DDA}"/>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60" name="GDPR chip"/>
          <p:cNvSpPr/>
          <p:nvPr/>
        </p:nvSpPr>
        <p:spPr>
          <a:xfrm>
            <a:off x="279400" y="914400"/>
            <a:ext cx="1905000" cy="660400"/>
          </a:xfrm>
          <a:prstGeom prst="roundRect">
            <a:avLst/>
          </a:prstGeom>
          <a:solidFill>
            <a:srgbClr val="8E6F3E"/>
          </a:solidFill>
          <a:ln>
            <a:noFill/>
          </a:ln>
        </p:spPr>
        <p:txBody>
          <a:bodyPr lIns="54000" rIns="54000" anchor="ctr">
            <a:normAutofit/>
          </a:bodyPr>
          <a:lstStyle/>
          <a:p>
            <a:pPr algn="ctr">
              <a:buNone/>
            </a:pPr>
            <a:r>
              <a:rPr lang="en-US" sz="2000" b="1" dirty="0">
                <a:solidFill>
                  <a:srgbClr val="FFFFFF"/>
                </a:solidFill>
              </a:rPr>
              <a:t>GDPR</a:t>
            </a:r>
          </a:p>
        </p:txBody>
      </p:sp>
      <p:sp>
        <p:nvSpPr>
          <p:cNvPr id="61" name="Flow arrow 1"/>
          <p:cNvSpPr/>
          <p:nvPr/>
        </p:nvSpPr>
        <p:spPr>
          <a:xfrm>
            <a:off x="2260600" y="1143000"/>
            <a:ext cx="254000" cy="228600"/>
          </a:xfrm>
          <a:prstGeom prst="rightArrow">
            <a:avLst/>
          </a:prstGeom>
          <a:solidFill>
            <a:srgbClr val="C9B991"/>
          </a:solidFill>
          <a:ln>
            <a:noFill/>
          </a:ln>
        </p:spPr>
        <p:txBody>
          <a:bodyPr lIns="54000" rIns="54000" anchor="ctr">
            <a:normAutofit fontScale="25000" lnSpcReduction="20000"/>
          </a:bodyPr>
          <a:lstStyle/>
          <a:p>
            <a:endParaRPr lang="en-US"/>
          </a:p>
        </p:txBody>
      </p:sp>
      <p:sp>
        <p:nvSpPr>
          <p:cNvPr id="62" name="Obligation chip"/>
          <p:cNvSpPr/>
          <p:nvPr/>
        </p:nvSpPr>
        <p:spPr>
          <a:xfrm>
            <a:off x="2590800" y="914400"/>
            <a:ext cx="2540000" cy="660400"/>
          </a:xfrm>
          <a:prstGeom prst="roundRect">
            <a:avLst/>
          </a:prstGeom>
          <a:solidFill>
            <a:srgbClr val="C9B991"/>
          </a:solidFill>
          <a:ln>
            <a:noFill/>
          </a:ln>
        </p:spPr>
        <p:txBody>
          <a:bodyPr lIns="54000" rIns="54000" anchor="ctr">
            <a:normAutofit/>
          </a:bodyPr>
          <a:lstStyle/>
          <a:p>
            <a:pPr algn="ctr">
              <a:buNone/>
            </a:pPr>
            <a:r>
              <a:rPr lang="en-US" sz="2000" b="1" dirty="0">
                <a:solidFill>
                  <a:srgbClr val="000000"/>
                </a:solidFill>
              </a:rPr>
              <a:t>Organisational duty</a:t>
            </a:r>
          </a:p>
        </p:txBody>
      </p:sp>
      <p:sp>
        <p:nvSpPr>
          <p:cNvPr id="63" name="Flow arrow 2"/>
          <p:cNvSpPr/>
          <p:nvPr/>
        </p:nvSpPr>
        <p:spPr>
          <a:xfrm>
            <a:off x="5207000" y="1143000"/>
            <a:ext cx="254000" cy="228600"/>
          </a:xfrm>
          <a:prstGeom prst="rightArrow">
            <a:avLst/>
          </a:prstGeom>
          <a:solidFill>
            <a:srgbClr val="C9B991"/>
          </a:solidFill>
          <a:ln>
            <a:noFill/>
          </a:ln>
        </p:spPr>
        <p:txBody>
          <a:bodyPr lIns="54000" rIns="54000" anchor="ctr">
            <a:normAutofit fontScale="25000" lnSpcReduction="20000"/>
          </a:bodyPr>
          <a:lstStyle/>
          <a:p>
            <a:endParaRPr lang="en-US"/>
          </a:p>
        </p:txBody>
      </p:sp>
      <p:sp>
        <p:nvSpPr>
          <p:cNvPr id="64" name="Behaviour chip"/>
          <p:cNvSpPr/>
          <p:nvPr/>
        </p:nvSpPr>
        <p:spPr>
          <a:xfrm>
            <a:off x="5537200" y="914400"/>
            <a:ext cx="3048000" cy="660400"/>
          </a:xfrm>
          <a:prstGeom prst="roundRect">
            <a:avLst/>
          </a:prstGeom>
          <a:solidFill>
            <a:srgbClr val="C9B991"/>
          </a:solidFill>
          <a:ln>
            <a:noFill/>
          </a:ln>
        </p:spPr>
        <p:txBody>
          <a:bodyPr lIns="54000" rIns="54000" anchor="ctr">
            <a:normAutofit/>
          </a:bodyPr>
          <a:lstStyle/>
          <a:p>
            <a:pPr algn="ctr">
              <a:buNone/>
            </a:pPr>
            <a:r>
              <a:rPr lang="en-US" sz="2000" b="1" dirty="0">
                <a:solidFill>
                  <a:srgbClr val="000000"/>
                </a:solidFill>
              </a:rPr>
              <a:t>Software behaviour</a:t>
            </a:r>
          </a:p>
        </p:txBody>
      </p:sp>
      <p:sp>
        <p:nvSpPr>
          <p:cNvPr id="65" name="Clause panel"/>
          <p:cNvSpPr/>
          <p:nvPr/>
        </p:nvSpPr>
        <p:spPr>
          <a:xfrm>
            <a:off x="279400" y="1828800"/>
            <a:ext cx="8585200" cy="1422400"/>
          </a:xfrm>
          <a:prstGeom prst="roundRect">
            <a:avLst/>
          </a:prstGeom>
          <a:solidFill>
            <a:srgbClr val="F2EFE9"/>
          </a:solidFill>
          <a:ln>
            <a:noFill/>
          </a:ln>
        </p:spPr>
        <p:txBody>
          <a:bodyPr lIns="54000" rIns="54000" anchor="ctr">
            <a:normAutofit/>
          </a:bodyPr>
          <a:lstStyle/>
          <a:p>
            <a:endParaRPr lang="en-US"/>
          </a:p>
        </p:txBody>
      </p:sp>
      <p:sp>
        <p:nvSpPr>
          <p:cNvPr id="66" name="Clause text"/>
          <p:cNvSpPr txBox="1"/>
          <p:nvPr/>
        </p:nvSpPr>
        <p:spPr>
          <a:xfrm>
            <a:off x="508000" y="1981200"/>
            <a:ext cx="8128000" cy="1143000"/>
          </a:xfrm>
          <a:prstGeom prst="rect">
            <a:avLst/>
          </a:prstGeom>
          <a:noFill/>
        </p:spPr>
        <p:txBody>
          <a:bodyPr wrap="square" rtlCol="0" anchor="t">
            <a:noAutofit/>
          </a:bodyPr>
          <a:lstStyle/>
          <a:p>
            <a:pPr algn="l">
              <a:buNone/>
            </a:pPr>
            <a:r>
              <a:rPr lang="en-US" sz="2400" i="1" dirty="0"/>
              <a:t>“… implement </a:t>
            </a:r>
            <a:r>
              <a:rPr lang="en-US" sz="2400" b="1" i="1" dirty="0">
                <a:solidFill>
                  <a:srgbClr val="8E6F3E"/>
                </a:solidFill>
              </a:rPr>
              <a:t>appropriate technical and organisational measures</a:t>
            </a:r>
            <a:r>
              <a:rPr lang="en-US" sz="2400" i="1" dirty="0"/>
              <a:t> to ensure a level of </a:t>
            </a:r>
            <a:r>
              <a:rPr lang="en-US" sz="2400" b="1" i="1" dirty="0">
                <a:solidFill>
                  <a:srgbClr val="8E6F3E"/>
                </a:solidFill>
              </a:rPr>
              <a:t>security appropriate to the risk</a:t>
            </a:r>
            <a:r>
              <a:rPr lang="en-US" sz="2400" i="1" dirty="0"/>
              <a:t>.”</a:t>
            </a:r>
          </a:p>
        </p:txBody>
      </p:sp>
      <p:sp>
        <p:nvSpPr>
          <p:cNvPr id="67" name="Prompt"/>
          <p:cNvSpPr txBox="1"/>
          <p:nvPr/>
        </p:nvSpPr>
        <p:spPr>
          <a:xfrm>
            <a:off x="279400" y="3327400"/>
            <a:ext cx="8382000" cy="812800"/>
          </a:xfrm>
          <a:prstGeom prst="rect">
            <a:avLst/>
          </a:prstGeom>
          <a:noFill/>
        </p:spPr>
        <p:txBody>
          <a:bodyPr wrap="square" rtlCol="0" anchor="t">
            <a:noAutofit/>
          </a:bodyPr>
          <a:lstStyle/>
          <a:p>
            <a:pPr algn="l">
              <a:buNone/>
            </a:pPr>
            <a:r>
              <a:rPr lang="en-US" sz="2800" b="1" dirty="0"/>
              <a:t>What would you have to decide before anyone could build this?</a:t>
            </a:r>
          </a:p>
        </p:txBody>
      </p:sp>
      <p:sp>
        <p:nvSpPr>
          <p:cNvPr id="68" name="TPS steps"/>
          <p:cNvSpPr txBox="1"/>
          <p:nvPr/>
        </p:nvSpPr>
        <p:spPr>
          <a:xfrm>
            <a:off x="279400" y="4191000"/>
            <a:ext cx="5461000" cy="1320800"/>
          </a:xfrm>
          <a:prstGeom prst="rect">
            <a:avLst/>
          </a:prstGeom>
          <a:noFill/>
        </p:spPr>
        <p:txBody>
          <a:bodyPr wrap="square" rtlCol="0" anchor="t">
            <a:noAutofit/>
          </a:bodyPr>
          <a:lstStyle/>
          <a:p>
            <a:pPr algn="l">
              <a:buNone/>
            </a:pPr>
            <a:r>
              <a:rPr lang="en-US" sz="2000" b="1" dirty="0">
                <a:solidFill>
                  <a:srgbClr val="8E6F3E"/>
                </a:solidFill>
              </a:rPr>
              <a:t>Think.  </a:t>
            </a:r>
            <a:r>
              <a:rPr lang="en-US" sz="2000" dirty="0"/>
              <a:t>Underline the words that leave an engineering decision open.</a:t>
            </a:r>
          </a:p>
          <a:p>
            <a:pPr algn="l">
              <a:buNone/>
            </a:pPr>
            <a:r>
              <a:rPr lang="en-US" sz="2000" b="1" dirty="0">
                <a:solidFill>
                  <a:srgbClr val="8E6F3E"/>
                </a:solidFill>
              </a:rPr>
              <a:t>Pair.  </a:t>
            </a:r>
            <a:r>
              <a:rPr lang="en-US" sz="2000" dirty="0"/>
              <a:t>Agree on two or three decisions your team would have to make.</a:t>
            </a:r>
          </a:p>
          <a:p>
            <a:pPr algn="l">
              <a:buNone/>
            </a:pPr>
            <a:r>
              <a:rPr lang="en-US" sz="2000" b="1" dirty="0">
                <a:solidFill>
                  <a:srgbClr val="8E6F3E"/>
                </a:solidFill>
              </a:rPr>
              <a:t>Share.  </a:t>
            </a:r>
            <a:r>
              <a:rPr lang="en-US" sz="2000" dirty="0"/>
              <a:t>Report one decision to the room.</a:t>
            </a:r>
          </a:p>
        </p:txBody>
      </p:sp>
      <p:sp>
        <p:nvSpPr>
          <p:cNvPr id="70" name="Citation"/>
          <p:cNvSpPr txBox="1"/>
          <p:nvPr/>
        </p:nvSpPr>
        <p:spPr>
          <a:xfrm>
            <a:off x="3810000" y="5740400"/>
            <a:ext cx="5054600" cy="431800"/>
          </a:xfrm>
          <a:prstGeom prst="rect">
            <a:avLst/>
          </a:prstGeom>
          <a:noFill/>
        </p:spPr>
        <p:txBody>
          <a:bodyPr wrap="square" rtlCol="0" anchor="t">
            <a:noAutofit/>
          </a:bodyPr>
          <a:lstStyle/>
          <a:p>
            <a:pPr algn="r">
              <a:buNone/>
            </a:pPr>
            <a:r>
              <a:rPr lang="en-US" sz="2000" i="1" dirty="0">
                <a:solidFill>
                  <a:srgbClr val="555960"/>
                </a:solidFill>
              </a:rPr>
              <a:t>GDPR (EU) 2016/679, Article 32</a:t>
            </a:r>
          </a:p>
        </p:txBody>
      </p:sp>
      <p:pic>
        <p:nvPicPr>
          <p:cNvPr id="2" name="Picture 1">
            <a:extLst>
              <a:ext uri="{FF2B5EF4-FFF2-40B4-BE49-F238E27FC236}">
                <a16:creationId xmlns:a16="http://schemas.microsoft.com/office/drawing/2014/main" id="{D50D31AF-14F0-8056-10F1-94B1C8ADDCF9}"/>
              </a:ext>
            </a:extLst>
          </p:cNvPr>
          <p:cNvPicPr>
            <a:picLocks noChangeAspect="1"/>
          </p:cNvPicPr>
          <p:nvPr/>
        </p:nvPicPr>
        <p:blipFill>
          <a:blip r:embed="rId3"/>
          <a:stretch>
            <a:fillRect/>
          </a:stretch>
        </p:blipFill>
        <p:spPr>
          <a:xfrm>
            <a:off x="5943600" y="4241800"/>
            <a:ext cx="2819400" cy="809045"/>
          </a:xfrm>
          <a:prstGeom prst="rect">
            <a:avLst/>
          </a:prstGeom>
        </p:spPr>
      </p:pic>
    </p:spTree>
    <p:extLst>
      <p:ext uri="{BB962C8B-B14F-4D97-AF65-F5344CB8AC3E}">
        <p14:creationId xmlns:p14="http://schemas.microsoft.com/office/powerpoint/2010/main" val="8982297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2D36616-ADC8-D242-A184-AF02CA243EBA}"/>
              </a:ext>
            </a:extLst>
          </p:cNvPr>
          <p:cNvSpPr>
            <a:spLocks noGrp="1"/>
          </p:cNvSpPr>
          <p:nvPr>
            <p:ph type="title"/>
          </p:nvPr>
        </p:nvSpPr>
        <p:spPr/>
        <p:txBody>
          <a:bodyPr>
            <a:normAutofit fontScale="90000"/>
          </a:bodyPr>
          <a:lstStyle/>
          <a:p>
            <a:r>
              <a:rPr lang="en-US"/>
              <a:t>Requirements happen somewhere in every process</a:t>
            </a:r>
          </a:p>
        </p:txBody>
      </p:sp>
      <p:sp>
        <p:nvSpPr>
          <p:cNvPr id="6" name="Slide Number Placeholder 5">
            <a:extLst>
              <a:ext uri="{FF2B5EF4-FFF2-40B4-BE49-F238E27FC236}">
                <a16:creationId xmlns:a16="http://schemas.microsoft.com/office/drawing/2014/main" id="{30E2B7AA-D8ED-3E44-B72A-194A8BC3C4A4}"/>
              </a:ext>
            </a:extLst>
          </p:cNvPr>
          <p:cNvSpPr>
            <a:spLocks noGrp="1"/>
          </p:cNvSpPr>
          <p:nvPr>
            <p:ph type="sldNum" sz="quarter" idx="4"/>
          </p:nvPr>
        </p:nvSpPr>
        <p:spPr/>
        <p:txBody>
          <a:bodyPr/>
          <a:lstStyle/>
          <a:p>
            <a:fld id="{B7EB45DA-9A0D-DC49-8E02-F30A5DDC21C3}" type="slidenum">
              <a:rPr lang="en-US"/>
              <a:t>10</a:t>
            </a:fld>
            <a:endParaRPr lang="en-US"/>
          </a:p>
        </p:txBody>
      </p:sp>
      <p:pic>
        <p:nvPicPr>
          <p:cNvPr id="7" name="Picture 6" descr="Waterfall process diagram: requirements and specification flow in sequence into development, validation, then release and maintenance.">
            <a:extLst>
              <a:ext uri="{FF2B5EF4-FFF2-40B4-BE49-F238E27FC236}">
                <a16:creationId xmlns:a16="http://schemas.microsoft.com/office/drawing/2014/main" id="{C513316A-5A6D-0047-82E6-65AE235E893C}"/>
              </a:ext>
            </a:extLst>
          </p:cNvPr>
          <p:cNvPicPr>
            <a:picLocks noChangeAspect="1"/>
          </p:cNvPicPr>
          <p:nvPr/>
        </p:nvPicPr>
        <p:blipFill>
          <a:blip r:embed="rId3"/>
          <a:stretch>
            <a:fillRect/>
          </a:stretch>
        </p:blipFill>
        <p:spPr>
          <a:xfrm>
            <a:off x="99057" y="1393325"/>
            <a:ext cx="5057393" cy="2843824"/>
          </a:xfrm>
          <a:prstGeom prst="rect">
            <a:avLst/>
          </a:prstGeom>
        </p:spPr>
      </p:pic>
      <p:pic>
        <p:nvPicPr>
          <p:cNvPr id="9" name="Picture 8" descr="Incremental process diagram: the same activities repeat in short cycles, so requirements are revisited in every increment.">
            <a:extLst>
              <a:ext uri="{FF2B5EF4-FFF2-40B4-BE49-F238E27FC236}">
                <a16:creationId xmlns:a16="http://schemas.microsoft.com/office/drawing/2014/main" id="{90124A4C-9465-534F-9542-D9E64EC4C2EE}"/>
              </a:ext>
            </a:extLst>
          </p:cNvPr>
          <p:cNvPicPr>
            <a:picLocks noChangeAspect="1"/>
          </p:cNvPicPr>
          <p:nvPr/>
        </p:nvPicPr>
        <p:blipFill>
          <a:blip r:embed="rId4"/>
          <a:stretch>
            <a:fillRect/>
          </a:stretch>
        </p:blipFill>
        <p:spPr>
          <a:xfrm>
            <a:off x="4386962" y="3429000"/>
            <a:ext cx="4591098" cy="2474524"/>
          </a:xfrm>
          <a:prstGeom prst="rect">
            <a:avLst/>
          </a:prstGeom>
        </p:spPr>
      </p:pic>
      <p:sp>
        <p:nvSpPr>
          <p:cNvPr id="2" name="TextBox 1">
            <a:extLst>
              <a:ext uri="{FF2B5EF4-FFF2-40B4-BE49-F238E27FC236}">
                <a16:creationId xmlns:a16="http://schemas.microsoft.com/office/drawing/2014/main" id="{5CDD277C-3430-7747-AF18-566E866B06F3}"/>
              </a:ext>
            </a:extLst>
          </p:cNvPr>
          <p:cNvSpPr txBox="1"/>
          <p:nvPr/>
        </p:nvSpPr>
        <p:spPr>
          <a:xfrm>
            <a:off x="377872" y="939041"/>
            <a:ext cx="1292149" cy="369332"/>
          </a:xfrm>
          <a:prstGeom prst="rect">
            <a:avLst/>
          </a:prstGeom>
          <a:noFill/>
        </p:spPr>
        <p:txBody>
          <a:bodyPr wrap="none" rtlCol="0">
            <a:spAutoFit/>
          </a:bodyPr>
          <a:lstStyle/>
          <a:p>
            <a:r>
              <a:rPr lang="en-US" b="1" i="1"/>
              <a:t>“Waterfall”</a:t>
            </a:r>
          </a:p>
        </p:txBody>
      </p:sp>
      <p:sp>
        <p:nvSpPr>
          <p:cNvPr id="10" name="TextBox 9">
            <a:extLst>
              <a:ext uri="{FF2B5EF4-FFF2-40B4-BE49-F238E27FC236}">
                <a16:creationId xmlns:a16="http://schemas.microsoft.com/office/drawing/2014/main" id="{051CCDCC-3760-3646-9510-7D4D0BAF50C7}"/>
              </a:ext>
            </a:extLst>
          </p:cNvPr>
          <p:cNvSpPr txBox="1"/>
          <p:nvPr/>
        </p:nvSpPr>
        <p:spPr>
          <a:xfrm>
            <a:off x="7362164" y="3112215"/>
            <a:ext cx="1331903" cy="369332"/>
          </a:xfrm>
          <a:prstGeom prst="rect">
            <a:avLst/>
          </a:prstGeom>
          <a:noFill/>
        </p:spPr>
        <p:txBody>
          <a:bodyPr wrap="none" rtlCol="0">
            <a:spAutoFit/>
          </a:bodyPr>
          <a:lstStyle/>
          <a:p>
            <a:r>
              <a:rPr lang="en-US" b="1" i="1"/>
              <a:t>Incremental</a:t>
            </a:r>
          </a:p>
        </p:txBody>
      </p:sp>
      <p:sp>
        <p:nvSpPr>
          <p:cNvPr id="12" name="TextBox 11">
            <a:extLst>
              <a:ext uri="{FF2B5EF4-FFF2-40B4-BE49-F238E27FC236}">
                <a16:creationId xmlns:a16="http://schemas.microsoft.com/office/drawing/2014/main" id="{5A083466-2951-D144-B525-34C9317DA1D1}"/>
              </a:ext>
            </a:extLst>
          </p:cNvPr>
          <p:cNvSpPr txBox="1"/>
          <p:nvPr/>
        </p:nvSpPr>
        <p:spPr>
          <a:xfrm>
            <a:off x="2363795" y="895758"/>
            <a:ext cx="2537041" cy="584775"/>
          </a:xfrm>
          <a:prstGeom prst="rect">
            <a:avLst/>
          </a:prstGeom>
          <a:noFill/>
          <a:ln w="57150">
            <a:solidFill>
              <a:srgbClr val="8E6F3E"/>
            </a:solidFill>
          </a:ln>
        </p:spPr>
        <p:txBody>
          <a:bodyPr wrap="none" rtlCol="0">
            <a:spAutoFit/>
          </a:bodyPr>
          <a:lstStyle/>
          <a:p>
            <a:r>
              <a:rPr lang="en-US" sz="3200" b="1">
                <a:solidFill>
                  <a:srgbClr val="8E6F3E"/>
                </a:solidFill>
              </a:rPr>
              <a:t>Reqts/Specify</a:t>
            </a:r>
            <a:endParaRPr lang="en-US" sz="3200"/>
          </a:p>
        </p:txBody>
      </p:sp>
      <p:cxnSp>
        <p:nvCxnSpPr>
          <p:cNvPr id="13" name="Straight Arrow Connector 12">
            <a:extLst>
              <a:ext uri="{FF2B5EF4-FFF2-40B4-BE49-F238E27FC236}">
                <a16:creationId xmlns:a16="http://schemas.microsoft.com/office/drawing/2014/main" id="{FA68DD4F-C8CE-4541-ABB7-3904645435F1}"/>
              </a:ext>
            </a:extLst>
          </p:cNvPr>
          <p:cNvCxnSpPr>
            <a:stCxn id="12" idx="1"/>
          </p:cNvCxnSpPr>
          <p:nvPr/>
        </p:nvCxnSpPr>
        <p:spPr>
          <a:xfrm flipH="1">
            <a:off x="1049687" y="1188146"/>
            <a:ext cx="1314108" cy="2923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184671A-9B07-A146-AB9D-0469ECF5FB2B}"/>
              </a:ext>
            </a:extLst>
          </p:cNvPr>
          <p:cNvCxnSpPr>
            <a:cxnSpLocks/>
            <a:stCxn id="12" idx="3"/>
          </p:cNvCxnSpPr>
          <p:nvPr/>
        </p:nvCxnSpPr>
        <p:spPr>
          <a:xfrm>
            <a:off x="4900836" y="1188146"/>
            <a:ext cx="811003" cy="26451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30280EA7-2032-A540-B57E-647AB5B2DF81}"/>
              </a:ext>
            </a:extLst>
          </p:cNvPr>
          <p:cNvSpPr txBox="1"/>
          <p:nvPr/>
        </p:nvSpPr>
        <p:spPr>
          <a:xfrm>
            <a:off x="4772958" y="1317772"/>
            <a:ext cx="1586332" cy="584775"/>
          </a:xfrm>
          <a:prstGeom prst="rect">
            <a:avLst/>
          </a:prstGeom>
          <a:noFill/>
        </p:spPr>
        <p:txBody>
          <a:bodyPr wrap="none" rtlCol="0">
            <a:spAutoFit/>
          </a:bodyPr>
          <a:lstStyle/>
          <a:p>
            <a:r>
              <a:rPr lang="en-US" sz="3200" b="1"/>
              <a:t>Develop</a:t>
            </a:r>
          </a:p>
        </p:txBody>
      </p:sp>
      <p:cxnSp>
        <p:nvCxnSpPr>
          <p:cNvPr id="18" name="Straight Arrow Connector 17">
            <a:extLst>
              <a:ext uri="{FF2B5EF4-FFF2-40B4-BE49-F238E27FC236}">
                <a16:creationId xmlns:a16="http://schemas.microsoft.com/office/drawing/2014/main" id="{46E5CD9C-DC17-F04B-B91D-6568815BD1B8}"/>
              </a:ext>
            </a:extLst>
          </p:cNvPr>
          <p:cNvCxnSpPr>
            <a:cxnSpLocks/>
            <a:stCxn id="17" idx="1"/>
          </p:cNvCxnSpPr>
          <p:nvPr/>
        </p:nvCxnSpPr>
        <p:spPr>
          <a:xfrm flipH="1">
            <a:off x="2627753" y="1610160"/>
            <a:ext cx="2145205" cy="4700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0CFD459-56D3-204E-9211-474778B899EC}"/>
              </a:ext>
            </a:extLst>
          </p:cNvPr>
          <p:cNvCxnSpPr>
            <a:cxnSpLocks/>
            <a:stCxn id="17" idx="3"/>
          </p:cNvCxnSpPr>
          <p:nvPr/>
        </p:nvCxnSpPr>
        <p:spPr>
          <a:xfrm>
            <a:off x="6359290" y="1610160"/>
            <a:ext cx="323221" cy="30561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58C3540B-065C-AD43-BE01-E3DE7D63F8C4}"/>
              </a:ext>
            </a:extLst>
          </p:cNvPr>
          <p:cNvSpPr txBox="1"/>
          <p:nvPr/>
        </p:nvSpPr>
        <p:spPr>
          <a:xfrm>
            <a:off x="921899" y="4485561"/>
            <a:ext cx="1570302" cy="584775"/>
          </a:xfrm>
          <a:prstGeom prst="rect">
            <a:avLst/>
          </a:prstGeom>
          <a:noFill/>
        </p:spPr>
        <p:txBody>
          <a:bodyPr wrap="none" rtlCol="0">
            <a:spAutoFit/>
          </a:bodyPr>
          <a:lstStyle/>
          <a:p>
            <a:r>
              <a:rPr lang="en-US" sz="3200" b="1"/>
              <a:t>Validate</a:t>
            </a:r>
          </a:p>
        </p:txBody>
      </p:sp>
      <p:cxnSp>
        <p:nvCxnSpPr>
          <p:cNvPr id="25" name="Straight Arrow Connector 24">
            <a:extLst>
              <a:ext uri="{FF2B5EF4-FFF2-40B4-BE49-F238E27FC236}">
                <a16:creationId xmlns:a16="http://schemas.microsoft.com/office/drawing/2014/main" id="{BC7D2975-3185-0840-92DF-F5D9F42CF791}"/>
              </a:ext>
            </a:extLst>
          </p:cNvPr>
          <p:cNvCxnSpPr>
            <a:cxnSpLocks/>
            <a:stCxn id="24" idx="0"/>
          </p:cNvCxnSpPr>
          <p:nvPr/>
        </p:nvCxnSpPr>
        <p:spPr>
          <a:xfrm flipV="1">
            <a:off x="1707050" y="3429000"/>
            <a:ext cx="1074322" cy="10565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BEB8786-A9A4-CF47-8272-BF3499F22048}"/>
              </a:ext>
            </a:extLst>
          </p:cNvPr>
          <p:cNvCxnSpPr>
            <a:cxnSpLocks/>
            <a:stCxn id="24" idx="3"/>
          </p:cNvCxnSpPr>
          <p:nvPr/>
        </p:nvCxnSpPr>
        <p:spPr>
          <a:xfrm>
            <a:off x="2492201" y="4777949"/>
            <a:ext cx="3274862" cy="6867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20F531B1-CE2C-134A-B3FA-E82B1BFD7442}"/>
              </a:ext>
            </a:extLst>
          </p:cNvPr>
          <p:cNvSpPr txBox="1"/>
          <p:nvPr/>
        </p:nvSpPr>
        <p:spPr>
          <a:xfrm>
            <a:off x="1493569" y="5567161"/>
            <a:ext cx="3509872" cy="584775"/>
          </a:xfrm>
          <a:prstGeom prst="rect">
            <a:avLst/>
          </a:prstGeom>
          <a:noFill/>
        </p:spPr>
        <p:txBody>
          <a:bodyPr wrap="none" rtlCol="0">
            <a:spAutoFit/>
          </a:bodyPr>
          <a:lstStyle/>
          <a:p>
            <a:r>
              <a:rPr lang="en-US" sz="3200" b="1"/>
              <a:t>Release &amp; Maintain</a:t>
            </a:r>
          </a:p>
        </p:txBody>
      </p:sp>
      <p:cxnSp>
        <p:nvCxnSpPr>
          <p:cNvPr id="32" name="Straight Arrow Connector 31">
            <a:extLst>
              <a:ext uri="{FF2B5EF4-FFF2-40B4-BE49-F238E27FC236}">
                <a16:creationId xmlns:a16="http://schemas.microsoft.com/office/drawing/2014/main" id="{B8D53F12-FFA3-BE45-A334-D73975BB1CA2}"/>
              </a:ext>
            </a:extLst>
          </p:cNvPr>
          <p:cNvCxnSpPr>
            <a:cxnSpLocks/>
            <a:stCxn id="31" idx="0"/>
          </p:cNvCxnSpPr>
          <p:nvPr/>
        </p:nvCxnSpPr>
        <p:spPr>
          <a:xfrm flipV="1">
            <a:off x="3248505" y="4059489"/>
            <a:ext cx="603631" cy="15076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44F33B17-02F2-DF4C-8592-270B521F28DC}"/>
              </a:ext>
            </a:extLst>
          </p:cNvPr>
          <p:cNvCxnSpPr>
            <a:cxnSpLocks/>
            <a:stCxn id="31" idx="3"/>
          </p:cNvCxnSpPr>
          <p:nvPr/>
        </p:nvCxnSpPr>
        <p:spPr>
          <a:xfrm flipV="1">
            <a:off x="5003441" y="5626571"/>
            <a:ext cx="2735950" cy="2329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51DC06E8-7C4F-4742-8156-38D2B0683261}"/>
              </a:ext>
            </a:extLst>
          </p:cNvPr>
          <p:cNvCxnSpPr>
            <a:cxnSpLocks/>
          </p:cNvCxnSpPr>
          <p:nvPr/>
        </p:nvCxnSpPr>
        <p:spPr>
          <a:xfrm flipV="1">
            <a:off x="5003441" y="5173745"/>
            <a:ext cx="2735950" cy="694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Process choice claim"/>
          <p:cNvSpPr txBox="1"/>
          <p:nvPr/>
        </p:nvSpPr>
        <p:spPr>
          <a:xfrm>
            <a:off x="6705600" y="1905000"/>
            <a:ext cx="2184400" cy="1422400"/>
          </a:xfrm>
          <a:prstGeom prst="rect">
            <a:avLst/>
          </a:prstGeom>
          <a:noFill/>
        </p:spPr>
        <p:txBody>
          <a:bodyPr wrap="square" rtlCol="0" anchor="t">
            <a:noAutofit/>
          </a:bodyPr>
          <a:lstStyle/>
          <a:p>
            <a:pPr algn="l">
              <a:buNone/>
            </a:pPr>
            <a:r>
              <a:rPr lang="en-US" sz="2000" b="1" dirty="0"/>
              <a:t>When and how often is a process choice.</a:t>
            </a:r>
          </a:p>
        </p:txBody>
      </p:sp>
    </p:spTree>
    <p:extLst>
      <p:ext uri="{BB962C8B-B14F-4D97-AF65-F5344CB8AC3E}">
        <p14:creationId xmlns:p14="http://schemas.microsoft.com/office/powerpoint/2010/main" val="39160667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E1F776-F570-B6E4-1B30-E2620884DDCC}"/>
              </a:ext>
            </a:extLst>
          </p:cNvPr>
          <p:cNvSpPr>
            <a:spLocks noGrp="1"/>
          </p:cNvSpPr>
          <p:nvPr>
            <p:ph type="title"/>
          </p:nvPr>
        </p:nvSpPr>
        <p:spPr>
          <a:xfrm>
            <a:off x="685800" y="1676400"/>
            <a:ext cx="7772400" cy="2362200"/>
          </a:xfrm>
        </p:spPr>
        <p:txBody>
          <a:bodyPr/>
          <a:lstStyle/>
          <a:p>
            <a:r>
              <a:rPr lang="en-US" sz="8000" dirty="0">
                <a:solidFill>
                  <a:srgbClr val="8E6F3E"/>
                </a:solidFill>
              </a:rPr>
              <a:t>2</a:t>
            </a:r>
            <a:br>
              <a:rPr lang="en-US" dirty="0"/>
            </a:br>
            <a:r>
              <a:rPr lang="en-US" dirty="0"/>
              <a:t>Discovery</a:t>
            </a:r>
          </a:p>
        </p:txBody>
      </p:sp>
      <p:sp>
        <p:nvSpPr>
          <p:cNvPr id="3" name="Slide Number Placeholder 2">
            <a:extLst>
              <a:ext uri="{FF2B5EF4-FFF2-40B4-BE49-F238E27FC236}">
                <a16:creationId xmlns:a16="http://schemas.microsoft.com/office/drawing/2014/main" id="{58471424-7E62-990B-6D89-6E0ED5AE74C7}"/>
              </a:ext>
            </a:extLst>
          </p:cNvPr>
          <p:cNvSpPr>
            <a:spLocks noGrp="1"/>
          </p:cNvSpPr>
          <p:nvPr>
            <p:ph type="sldNum" sz="quarter" idx="4"/>
          </p:nvPr>
        </p:nvSpPr>
        <p:spPr/>
        <p:txBody>
          <a:bodyPr/>
          <a:lstStyle/>
          <a:p>
            <a:fld id="{B7EB45DA-9A0D-DC49-8E02-F30A5DDC21C3}" type="slidenum">
              <a:rPr lang="en-US" smtClean="0"/>
              <a:t>11</a:t>
            </a:fld>
            <a:endParaRPr lang="en-US"/>
          </a:p>
        </p:txBody>
      </p:sp>
      <p:sp>
        <p:nvSpPr>
          <p:cNvPr id="40" name="Section question"/>
          <p:cNvSpPr txBox="1"/>
          <p:nvPr/>
        </p:nvSpPr>
        <p:spPr>
          <a:xfrm>
            <a:off x="397144" y="4282698"/>
            <a:ext cx="8349712" cy="461665"/>
          </a:xfrm>
          <a:prstGeom prst="rect">
            <a:avLst/>
          </a:prstGeom>
          <a:noFill/>
        </p:spPr>
        <p:txBody>
          <a:bodyPr vertOverflow="overflow" wrap="square" rtlCol="0" anchor="t">
            <a:spAutoFit/>
          </a:bodyPr>
          <a:lstStyle/>
          <a:p>
            <a:pPr algn="ctr">
              <a:buNone/>
            </a:pPr>
            <a:r>
              <a:rPr lang="en-US" sz="2400" i="1" dirty="0"/>
              <a:t>How do we learn what to build?</a:t>
            </a:r>
          </a:p>
        </p:txBody>
      </p:sp>
    </p:spTree>
    <p:extLst>
      <p:ext uri="{BB962C8B-B14F-4D97-AF65-F5344CB8AC3E}">
        <p14:creationId xmlns:p14="http://schemas.microsoft.com/office/powerpoint/2010/main" val="925539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D4E9B28-6170-EFA8-A24E-1164BBF62A3A}"/>
              </a:ext>
            </a:extLst>
          </p:cNvPr>
          <p:cNvSpPr>
            <a:spLocks noGrp="1"/>
          </p:cNvSpPr>
          <p:nvPr>
            <p:ph type="title"/>
          </p:nvPr>
        </p:nvSpPr>
        <p:spPr/>
        <p:txBody>
          <a:bodyPr>
            <a:normAutofit fontScale="90000"/>
          </a:bodyPr>
          <a:lstStyle/>
          <a:p>
            <a:r>
              <a:rPr lang="en-US" dirty="0"/>
              <a:t>Choose whom to ask, then how to learn</a:t>
            </a:r>
          </a:p>
        </p:txBody>
      </p:sp>
      <p:sp>
        <p:nvSpPr>
          <p:cNvPr id="4" name="Slide Number Placeholder 3">
            <a:extLst>
              <a:ext uri="{FF2B5EF4-FFF2-40B4-BE49-F238E27FC236}">
                <a16:creationId xmlns:a16="http://schemas.microsoft.com/office/drawing/2014/main" id="{63038FFC-6178-032A-DAC2-CF2DA355DC7D}"/>
              </a:ext>
            </a:extLst>
          </p:cNvPr>
          <p:cNvSpPr>
            <a:spLocks noGrp="1"/>
          </p:cNvSpPr>
          <p:nvPr>
            <p:ph type="sldNum" sz="quarter" idx="4"/>
          </p:nvPr>
        </p:nvSpPr>
        <p:spPr/>
        <p:txBody>
          <a:bodyPr/>
          <a:lstStyle/>
          <a:p>
            <a:fld id="{B7EB45DA-9A0D-DC49-8E02-F30A5DDC21C3}" type="slidenum">
              <a:rPr lang="en-US" smtClean="0"/>
              <a:t>12</a:t>
            </a:fld>
            <a:endParaRPr lang="en-US"/>
          </a:p>
        </p:txBody>
      </p:sp>
      <p:sp>
        <p:nvSpPr>
          <p:cNvPr id="60" name="Stakeholder kicker"/>
          <p:cNvSpPr txBox="1"/>
          <p:nvPr/>
        </p:nvSpPr>
        <p:spPr>
          <a:xfrm>
            <a:off x="279400" y="863600"/>
            <a:ext cx="8382000" cy="381000"/>
          </a:xfrm>
          <a:prstGeom prst="rect">
            <a:avLst/>
          </a:prstGeom>
          <a:noFill/>
        </p:spPr>
        <p:txBody>
          <a:bodyPr wrap="square" rtlCol="0" anchor="t">
            <a:noAutofit/>
          </a:bodyPr>
          <a:lstStyle/>
          <a:p>
            <a:pPr algn="l">
              <a:buNone/>
            </a:pPr>
            <a:r>
              <a:rPr lang="en-US" sz="2000" b="1" dirty="0">
                <a:solidFill>
                  <a:srgbClr val="8E6F3E"/>
                </a:solidFill>
              </a:rPr>
              <a:t>Stakeholders</a:t>
            </a:r>
          </a:p>
        </p:txBody>
      </p:sp>
      <p:sp>
        <p:nvSpPr>
          <p:cNvPr id="61" name="Producers"/>
          <p:cNvSpPr/>
          <p:nvPr/>
        </p:nvSpPr>
        <p:spPr>
          <a:xfrm>
            <a:off x="279400" y="1270000"/>
            <a:ext cx="2667000" cy="558800"/>
          </a:xfrm>
          <a:prstGeom prst="roundRect">
            <a:avLst/>
          </a:prstGeom>
          <a:solidFill>
            <a:srgbClr val="C9B991"/>
          </a:solidFill>
          <a:ln>
            <a:noFill/>
          </a:ln>
        </p:spPr>
        <p:txBody>
          <a:bodyPr lIns="45720" rIns="45720" anchor="ctr">
            <a:normAutofit/>
          </a:bodyPr>
          <a:lstStyle/>
          <a:p>
            <a:pPr algn="ctr">
              <a:buNone/>
            </a:pPr>
            <a:r>
              <a:rPr lang="en-US" sz="2000" b="1" dirty="0"/>
              <a:t>Producers</a:t>
            </a:r>
          </a:p>
        </p:txBody>
      </p:sp>
      <p:sp>
        <p:nvSpPr>
          <p:cNvPr id="62" name="Consumers"/>
          <p:cNvSpPr/>
          <p:nvPr/>
        </p:nvSpPr>
        <p:spPr>
          <a:xfrm>
            <a:off x="3175000" y="1270000"/>
            <a:ext cx="2667000" cy="558800"/>
          </a:xfrm>
          <a:prstGeom prst="roundRect">
            <a:avLst/>
          </a:prstGeom>
          <a:solidFill>
            <a:srgbClr val="C9B991"/>
          </a:solidFill>
          <a:ln>
            <a:noFill/>
          </a:ln>
        </p:spPr>
        <p:txBody>
          <a:bodyPr lIns="45720" rIns="45720" anchor="ctr">
            <a:normAutofit/>
          </a:bodyPr>
          <a:lstStyle/>
          <a:p>
            <a:pPr algn="ctr">
              <a:buNone/>
            </a:pPr>
            <a:r>
              <a:rPr lang="en-US" sz="2000" b="1" dirty="0"/>
              <a:t>Consumers</a:t>
            </a:r>
          </a:p>
        </p:txBody>
      </p:sp>
      <p:sp>
        <p:nvSpPr>
          <p:cNvPr id="63" name="External"/>
          <p:cNvSpPr/>
          <p:nvPr/>
        </p:nvSpPr>
        <p:spPr>
          <a:xfrm>
            <a:off x="6070600" y="1270000"/>
            <a:ext cx="2794000" cy="558800"/>
          </a:xfrm>
          <a:prstGeom prst="roundRect">
            <a:avLst/>
          </a:prstGeom>
          <a:solidFill>
            <a:srgbClr val="C9B991"/>
          </a:solidFill>
          <a:ln>
            <a:noFill/>
          </a:ln>
        </p:spPr>
        <p:txBody>
          <a:bodyPr lIns="45720" rIns="45720" anchor="ctr">
            <a:normAutofit/>
          </a:bodyPr>
          <a:lstStyle/>
          <a:p>
            <a:pPr algn="ctr">
              <a:buNone/>
            </a:pPr>
            <a:r>
              <a:rPr lang="en-US" sz="2000" b="1" dirty="0"/>
              <a:t>External</a:t>
            </a:r>
          </a:p>
        </p:txBody>
      </p:sp>
      <p:sp>
        <p:nvSpPr>
          <p:cNvPr id="64" name="Room question"/>
          <p:cNvSpPr txBox="1"/>
          <p:nvPr/>
        </p:nvSpPr>
        <p:spPr>
          <a:xfrm>
            <a:off x="279400" y="1955800"/>
            <a:ext cx="8585200" cy="508000"/>
          </a:xfrm>
          <a:prstGeom prst="rect">
            <a:avLst/>
          </a:prstGeom>
          <a:noFill/>
        </p:spPr>
        <p:txBody>
          <a:bodyPr wrap="square" rtlCol="0" anchor="t">
            <a:noAutofit/>
          </a:bodyPr>
          <a:lstStyle/>
          <a:p>
            <a:pPr algn="l">
              <a:buNone/>
            </a:pPr>
            <a:r>
              <a:rPr lang="en-US" sz="2400" b="1" i="1" dirty="0"/>
              <a:t>Who gains or loses if this system succeeds, or fails?</a:t>
            </a:r>
          </a:p>
        </p:txBody>
      </p:sp>
      <p:sp>
        <p:nvSpPr>
          <p:cNvPr id="70" name="Quadrant label 1"/>
          <p:cNvSpPr txBox="1"/>
          <p:nvPr/>
        </p:nvSpPr>
        <p:spPr>
          <a:xfrm>
            <a:off x="279400" y="2590800"/>
            <a:ext cx="4191000" cy="457200"/>
          </a:xfrm>
          <a:prstGeom prst="rect">
            <a:avLst/>
          </a:prstGeom>
          <a:noFill/>
        </p:spPr>
        <p:txBody>
          <a:bodyPr wrap="square" rtlCol="0" anchor="t">
            <a:noAutofit/>
          </a:bodyPr>
          <a:lstStyle/>
          <a:p>
            <a:pPr algn="l">
              <a:buNone/>
            </a:pPr>
            <a:r>
              <a:rPr lang="en-US" sz="2400" b="1" dirty="0">
                <a:solidFill>
                  <a:srgbClr val="8E6F3E"/>
                </a:solidFill>
              </a:rPr>
              <a:t>Ask</a:t>
            </a:r>
          </a:p>
        </p:txBody>
      </p:sp>
      <p:sp>
        <p:nvSpPr>
          <p:cNvPr id="71" name="Quadrant items 1"/>
          <p:cNvSpPr txBox="1"/>
          <p:nvPr/>
        </p:nvSpPr>
        <p:spPr>
          <a:xfrm>
            <a:off x="279400" y="3073400"/>
            <a:ext cx="4191000" cy="838200"/>
          </a:xfrm>
          <a:prstGeom prst="rect">
            <a:avLst/>
          </a:prstGeom>
          <a:noFill/>
        </p:spPr>
        <p:txBody>
          <a:bodyPr wrap="square" rtlCol="0" anchor="t">
            <a:noAutofit/>
          </a:bodyPr>
          <a:lstStyle/>
          <a:p>
            <a:pPr algn="l">
              <a:buNone/>
            </a:pPr>
            <a:r>
              <a:rPr lang="en-US" sz="2000" dirty="0"/>
              <a:t>Interviews · surveys · workshops</a:t>
            </a:r>
          </a:p>
        </p:txBody>
      </p:sp>
      <p:sp>
        <p:nvSpPr>
          <p:cNvPr id="72" name="Quadrant label 2"/>
          <p:cNvSpPr txBox="1"/>
          <p:nvPr/>
        </p:nvSpPr>
        <p:spPr>
          <a:xfrm>
            <a:off x="4673600" y="2590800"/>
            <a:ext cx="4191000" cy="457200"/>
          </a:xfrm>
          <a:prstGeom prst="rect">
            <a:avLst/>
          </a:prstGeom>
          <a:noFill/>
        </p:spPr>
        <p:txBody>
          <a:bodyPr wrap="square" rtlCol="0" anchor="t">
            <a:noAutofit/>
          </a:bodyPr>
          <a:lstStyle/>
          <a:p>
            <a:pPr algn="l">
              <a:buNone/>
            </a:pPr>
            <a:r>
              <a:rPr lang="en-US" sz="2400" b="1" dirty="0">
                <a:solidFill>
                  <a:srgbClr val="8E6F3E"/>
                </a:solidFill>
              </a:rPr>
              <a:t>Observe</a:t>
            </a:r>
          </a:p>
        </p:txBody>
      </p:sp>
      <p:sp>
        <p:nvSpPr>
          <p:cNvPr id="73" name="Quadrant items 2"/>
          <p:cNvSpPr txBox="1"/>
          <p:nvPr/>
        </p:nvSpPr>
        <p:spPr>
          <a:xfrm>
            <a:off x="4673600" y="3073400"/>
            <a:ext cx="4191000" cy="838200"/>
          </a:xfrm>
          <a:prstGeom prst="rect">
            <a:avLst/>
          </a:prstGeom>
          <a:noFill/>
        </p:spPr>
        <p:txBody>
          <a:bodyPr wrap="square" rtlCol="0" anchor="t">
            <a:noAutofit/>
          </a:bodyPr>
          <a:lstStyle/>
          <a:p>
            <a:pPr algn="l">
              <a:buNone/>
            </a:pPr>
            <a:r>
              <a:rPr lang="en-US" sz="2000" dirty="0"/>
              <a:t>Work practice · existing systems · data</a:t>
            </a:r>
          </a:p>
        </p:txBody>
      </p:sp>
      <p:sp>
        <p:nvSpPr>
          <p:cNvPr id="74" name="Quadrant label 3"/>
          <p:cNvSpPr txBox="1"/>
          <p:nvPr/>
        </p:nvSpPr>
        <p:spPr>
          <a:xfrm>
            <a:off x="279400" y="4038600"/>
            <a:ext cx="4191000" cy="457200"/>
          </a:xfrm>
          <a:prstGeom prst="rect">
            <a:avLst/>
          </a:prstGeom>
          <a:noFill/>
        </p:spPr>
        <p:txBody>
          <a:bodyPr wrap="square" rtlCol="0" anchor="t">
            <a:noAutofit/>
          </a:bodyPr>
          <a:lstStyle/>
          <a:p>
            <a:pPr algn="l">
              <a:buNone/>
            </a:pPr>
            <a:r>
              <a:rPr lang="en-US" sz="2400" b="1" dirty="0">
                <a:solidFill>
                  <a:srgbClr val="8E6F3E"/>
                </a:solidFill>
              </a:rPr>
              <a:t>Compare</a:t>
            </a:r>
          </a:p>
        </p:txBody>
      </p:sp>
      <p:sp>
        <p:nvSpPr>
          <p:cNvPr id="75" name="Quadrant items 3"/>
          <p:cNvSpPr txBox="1"/>
          <p:nvPr/>
        </p:nvSpPr>
        <p:spPr>
          <a:xfrm>
            <a:off x="279400" y="4521200"/>
            <a:ext cx="4191000" cy="838200"/>
          </a:xfrm>
          <a:prstGeom prst="rect">
            <a:avLst/>
          </a:prstGeom>
          <a:noFill/>
        </p:spPr>
        <p:txBody>
          <a:bodyPr wrap="square" rtlCol="0" anchor="t">
            <a:noAutofit/>
          </a:bodyPr>
          <a:lstStyle/>
          <a:p>
            <a:pPr algn="l">
              <a:buNone/>
            </a:pPr>
            <a:r>
              <a:rPr lang="en-US" sz="2000" dirty="0"/>
              <a:t>Competitors · substitutes · prior work</a:t>
            </a:r>
          </a:p>
        </p:txBody>
      </p:sp>
      <p:sp>
        <p:nvSpPr>
          <p:cNvPr id="76" name="Quadrant label 4"/>
          <p:cNvSpPr txBox="1"/>
          <p:nvPr/>
        </p:nvSpPr>
        <p:spPr>
          <a:xfrm>
            <a:off x="4673600" y="4038600"/>
            <a:ext cx="4191000" cy="457200"/>
          </a:xfrm>
          <a:prstGeom prst="rect">
            <a:avLst/>
          </a:prstGeom>
          <a:noFill/>
        </p:spPr>
        <p:txBody>
          <a:bodyPr wrap="square" rtlCol="0" anchor="t">
            <a:noAutofit/>
          </a:bodyPr>
          <a:lstStyle/>
          <a:p>
            <a:pPr algn="l">
              <a:buNone/>
            </a:pPr>
            <a:r>
              <a:rPr lang="en-US" sz="2400" b="1" dirty="0">
                <a:solidFill>
                  <a:srgbClr val="8E6F3E"/>
                </a:solidFill>
              </a:rPr>
              <a:t>Build</a:t>
            </a:r>
          </a:p>
        </p:txBody>
      </p:sp>
      <p:sp>
        <p:nvSpPr>
          <p:cNvPr id="77" name="Quadrant items 4"/>
          <p:cNvSpPr txBox="1"/>
          <p:nvPr/>
        </p:nvSpPr>
        <p:spPr>
          <a:xfrm>
            <a:off x="4673600" y="4521200"/>
            <a:ext cx="4191000" cy="838200"/>
          </a:xfrm>
          <a:prstGeom prst="rect">
            <a:avLst/>
          </a:prstGeom>
          <a:noFill/>
        </p:spPr>
        <p:txBody>
          <a:bodyPr wrap="square" rtlCol="0" anchor="t">
            <a:noAutofit/>
          </a:bodyPr>
          <a:lstStyle/>
          <a:p>
            <a:pPr algn="l">
              <a:buNone/>
            </a:pPr>
            <a:r>
              <a:rPr lang="en-US" sz="2000" dirty="0"/>
              <a:t>Mockups · prototypes · experiments</a:t>
            </a:r>
          </a:p>
        </p:txBody>
      </p:sp>
      <p:sp>
        <p:nvSpPr>
          <p:cNvPr id="81" name="Claim"/>
          <p:cNvSpPr txBox="1"/>
          <p:nvPr/>
        </p:nvSpPr>
        <p:spPr>
          <a:xfrm>
            <a:off x="279400" y="5511800"/>
            <a:ext cx="8585200" cy="762000"/>
          </a:xfrm>
          <a:prstGeom prst="rect">
            <a:avLst/>
          </a:prstGeom>
          <a:noFill/>
        </p:spPr>
        <p:txBody>
          <a:bodyPr wrap="square" rtlCol="0" anchor="t">
            <a:noAutofit/>
          </a:bodyPr>
          <a:lstStyle/>
          <a:p>
            <a:pPr algn="l">
              <a:buNone/>
            </a:pPr>
            <a:r>
              <a:rPr lang="en-US" sz="2400" b="1" dirty="0"/>
              <a:t>Choose the technique for what you do not yet know.</a:t>
            </a:r>
          </a:p>
        </p:txBody>
      </p:sp>
    </p:spTree>
    <p:extLst>
      <p:ext uri="{BB962C8B-B14F-4D97-AF65-F5344CB8AC3E}">
        <p14:creationId xmlns:p14="http://schemas.microsoft.com/office/powerpoint/2010/main" val="18868837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107B47-96F7-883A-A8D9-235E1EF4BFF5}"/>
              </a:ext>
            </a:extLst>
          </p:cNvPr>
          <p:cNvSpPr>
            <a:spLocks noGrp="1"/>
          </p:cNvSpPr>
          <p:nvPr>
            <p:ph type="title"/>
          </p:nvPr>
        </p:nvSpPr>
        <p:spPr/>
        <p:txBody>
          <a:bodyPr>
            <a:normAutofit fontScale="90000"/>
          </a:bodyPr>
          <a:lstStyle/>
          <a:p>
            <a:r>
              <a:rPr lang="en-US" dirty="0"/>
              <a:t>Where did SafeRTOS get its requirements?</a:t>
            </a:r>
          </a:p>
        </p:txBody>
      </p:sp>
      <p:sp>
        <p:nvSpPr>
          <p:cNvPr id="4" name="Slide Number Placeholder 3">
            <a:extLst>
              <a:ext uri="{FF2B5EF4-FFF2-40B4-BE49-F238E27FC236}">
                <a16:creationId xmlns:a16="http://schemas.microsoft.com/office/drawing/2014/main" id="{0DC86A04-290D-B1ED-523A-62961081EFF3}"/>
              </a:ext>
            </a:extLst>
          </p:cNvPr>
          <p:cNvSpPr>
            <a:spLocks noGrp="1"/>
          </p:cNvSpPr>
          <p:nvPr>
            <p:ph type="sldNum" sz="quarter" idx="4"/>
          </p:nvPr>
        </p:nvSpPr>
        <p:spPr/>
        <p:txBody>
          <a:bodyPr/>
          <a:lstStyle/>
          <a:p>
            <a:fld id="{B7EB45DA-9A0D-DC49-8E02-F30A5DDC21C3}" type="slidenum">
              <a:rPr lang="en-US" smtClean="0"/>
              <a:t>13</a:t>
            </a:fld>
            <a:endParaRPr lang="en-US"/>
          </a:p>
        </p:txBody>
      </p:sp>
      <p:sp>
        <p:nvSpPr>
          <p:cNvPr id="60" name="FreeRTOS"/>
          <p:cNvSpPr/>
          <p:nvPr/>
        </p:nvSpPr>
        <p:spPr>
          <a:xfrm>
            <a:off x="279400" y="1219200"/>
            <a:ext cx="3048000" cy="889000"/>
          </a:xfrm>
          <a:prstGeom prst="roundRect">
            <a:avLst/>
          </a:prstGeom>
          <a:solidFill>
            <a:srgbClr val="C9B991"/>
          </a:solidFill>
          <a:ln>
            <a:noFill/>
          </a:ln>
        </p:spPr>
        <p:txBody>
          <a:bodyPr lIns="45720" rIns="45720" anchor="ctr">
            <a:noAutofit/>
          </a:bodyPr>
          <a:lstStyle/>
          <a:p>
            <a:pPr algn="ctr">
              <a:buNone/>
            </a:pPr>
            <a:r>
              <a:rPr lang="en-US" sz="2400" b="1" dirty="0">
                <a:solidFill>
                  <a:srgbClr val="000000"/>
                </a:solidFill>
              </a:rPr>
              <a:t>FreeRTOS</a:t>
            </a:r>
          </a:p>
        </p:txBody>
      </p:sp>
      <p:sp>
        <p:nvSpPr>
          <p:cNvPr id="61" name="Inheritance arrow"/>
          <p:cNvSpPr/>
          <p:nvPr/>
        </p:nvSpPr>
        <p:spPr>
          <a:xfrm>
            <a:off x="3556000" y="1524000"/>
            <a:ext cx="1143000" cy="304800"/>
          </a:xfrm>
          <a:prstGeom prst="rightArrow">
            <a:avLst/>
          </a:prstGeom>
          <a:solidFill>
            <a:srgbClr val="8E6F3E"/>
          </a:solidFill>
          <a:ln>
            <a:noFill/>
          </a:ln>
        </p:spPr>
        <p:txBody>
          <a:bodyPr lIns="45720" rIns="45720" anchor="ctr">
            <a:noAutofit/>
          </a:bodyPr>
          <a:lstStyle/>
          <a:p>
            <a:endParaRPr lang="en-US"/>
          </a:p>
        </p:txBody>
      </p:sp>
      <p:sp>
        <p:nvSpPr>
          <p:cNvPr id="62" name="SafeRTOS"/>
          <p:cNvSpPr/>
          <p:nvPr/>
        </p:nvSpPr>
        <p:spPr>
          <a:xfrm>
            <a:off x="4927600" y="1219200"/>
            <a:ext cx="3048000" cy="889000"/>
          </a:xfrm>
          <a:prstGeom prst="roundRect">
            <a:avLst/>
          </a:prstGeom>
          <a:solidFill>
            <a:srgbClr val="8E6F3E"/>
          </a:solidFill>
          <a:ln>
            <a:noFill/>
          </a:ln>
        </p:spPr>
        <p:txBody>
          <a:bodyPr lIns="45720" rIns="45720" anchor="ctr">
            <a:noAutofit/>
          </a:bodyPr>
          <a:lstStyle/>
          <a:p>
            <a:pPr algn="ctr">
              <a:buNone/>
            </a:pPr>
            <a:r>
              <a:rPr lang="en-US" sz="2400" b="1" dirty="0">
                <a:solidFill>
                  <a:srgbClr val="FFFFFF"/>
                </a:solidFill>
              </a:rPr>
              <a:t>SafeRTOS</a:t>
            </a:r>
          </a:p>
        </p:txBody>
      </p:sp>
      <p:sp>
        <p:nvSpPr>
          <p:cNvPr id="63" name="Inherited label"/>
          <p:cNvSpPr txBox="1"/>
          <p:nvPr/>
        </p:nvSpPr>
        <p:spPr>
          <a:xfrm>
            <a:off x="279400" y="2235200"/>
            <a:ext cx="3048000" cy="838200"/>
          </a:xfrm>
          <a:prstGeom prst="rect">
            <a:avLst/>
          </a:prstGeom>
          <a:noFill/>
        </p:spPr>
        <p:txBody>
          <a:bodyPr wrap="square" rtlCol="0" anchor="t">
            <a:noAutofit/>
          </a:bodyPr>
          <a:lstStyle/>
          <a:p>
            <a:pPr algn="l">
              <a:buNone/>
            </a:pPr>
            <a:r>
              <a:rPr lang="en-US" sz="2000" dirty="0"/>
              <a:t>Existing open-source kernel</a:t>
            </a:r>
          </a:p>
        </p:txBody>
      </p:sp>
      <p:sp>
        <p:nvSpPr>
          <p:cNvPr id="64" name="Arrow label"/>
          <p:cNvSpPr txBox="1"/>
          <p:nvPr/>
        </p:nvSpPr>
        <p:spPr>
          <a:xfrm>
            <a:off x="3454400" y="2235200"/>
            <a:ext cx="1346200" cy="838200"/>
          </a:xfrm>
          <a:prstGeom prst="rect">
            <a:avLst/>
          </a:prstGeom>
          <a:noFill/>
        </p:spPr>
        <p:txBody>
          <a:bodyPr wrap="square" rtlCol="0" anchor="t">
            <a:noAutofit/>
          </a:bodyPr>
          <a:lstStyle/>
          <a:p>
            <a:pPr algn="ctr">
              <a:buNone/>
            </a:pPr>
            <a:r>
              <a:rPr lang="en-US" sz="2000" i="1" dirty="0">
                <a:solidFill>
                  <a:srgbClr val="8E6F3E"/>
                </a:solidFill>
              </a:rPr>
              <a:t>same API</a:t>
            </a:r>
          </a:p>
        </p:txBody>
      </p:sp>
      <p:sp>
        <p:nvSpPr>
          <p:cNvPr id="65" name="Differentiated label"/>
          <p:cNvSpPr txBox="1"/>
          <p:nvPr/>
        </p:nvSpPr>
        <p:spPr>
          <a:xfrm>
            <a:off x="4927600" y="2235200"/>
            <a:ext cx="3810000" cy="838200"/>
          </a:xfrm>
          <a:prstGeom prst="rect">
            <a:avLst/>
          </a:prstGeom>
          <a:noFill/>
        </p:spPr>
        <p:txBody>
          <a:bodyPr wrap="square" rtlCol="0" anchor="t">
            <a:noAutofit/>
          </a:bodyPr>
          <a:lstStyle/>
          <a:p>
            <a:pPr algn="l">
              <a:buNone/>
            </a:pPr>
            <a:r>
              <a:rPr lang="en-US" sz="2000" dirty="0"/>
              <a:t>Safety-certified derivative</a:t>
            </a:r>
          </a:p>
        </p:txBody>
      </p:sp>
      <p:sp>
        <p:nvSpPr>
          <p:cNvPr id="66" name="Inherited header"/>
          <p:cNvSpPr txBox="1"/>
          <p:nvPr/>
        </p:nvSpPr>
        <p:spPr>
          <a:xfrm>
            <a:off x="279400" y="3276600"/>
            <a:ext cx="4064000" cy="457200"/>
          </a:xfrm>
          <a:prstGeom prst="rect">
            <a:avLst/>
          </a:prstGeom>
          <a:noFill/>
        </p:spPr>
        <p:txBody>
          <a:bodyPr wrap="square" rtlCol="0" anchor="t">
            <a:noAutofit/>
          </a:bodyPr>
          <a:lstStyle/>
          <a:p>
            <a:pPr algn="l">
              <a:buNone/>
            </a:pPr>
            <a:r>
              <a:rPr lang="en-US" sz="2400" b="1" dirty="0">
                <a:solidFill>
                  <a:srgbClr val="8E6F3E"/>
                </a:solidFill>
              </a:rPr>
              <a:t>Inherited</a:t>
            </a:r>
          </a:p>
        </p:txBody>
      </p:sp>
      <p:sp>
        <p:nvSpPr>
          <p:cNvPr id="67" name="Inherited items"/>
          <p:cNvSpPr txBox="1"/>
          <p:nvPr/>
        </p:nvSpPr>
        <p:spPr>
          <a:xfrm>
            <a:off x="279400" y="3759200"/>
            <a:ext cx="4064000" cy="1397000"/>
          </a:xfrm>
          <a:prstGeom prst="rect">
            <a:avLst/>
          </a:prstGeom>
          <a:noFill/>
        </p:spPr>
        <p:txBody>
          <a:bodyPr wrap="square" rtlCol="0" anchor="t">
            <a:noAutofit/>
          </a:bodyPr>
          <a:lstStyle/>
          <a:p>
            <a:pPr algn="l">
              <a:buNone/>
            </a:pPr>
            <a:r>
              <a:rPr lang="en-US" sz="2000" dirty="0"/>
              <a:t>Functional requirements. What the scheduler does, and the interface it does it through.</a:t>
            </a:r>
          </a:p>
        </p:txBody>
      </p:sp>
      <p:sp>
        <p:nvSpPr>
          <p:cNvPr id="68" name="Differentiated header"/>
          <p:cNvSpPr txBox="1"/>
          <p:nvPr/>
        </p:nvSpPr>
        <p:spPr>
          <a:xfrm>
            <a:off x="4800600" y="3276600"/>
            <a:ext cx="4064000" cy="457200"/>
          </a:xfrm>
          <a:prstGeom prst="rect">
            <a:avLst/>
          </a:prstGeom>
          <a:noFill/>
        </p:spPr>
        <p:txBody>
          <a:bodyPr wrap="square" rtlCol="0" anchor="t">
            <a:noAutofit/>
          </a:bodyPr>
          <a:lstStyle/>
          <a:p>
            <a:pPr algn="l">
              <a:buNone/>
            </a:pPr>
            <a:r>
              <a:rPr lang="en-US" sz="2400" b="1" dirty="0">
                <a:solidFill>
                  <a:srgbClr val="8E6F3E"/>
                </a:solidFill>
              </a:rPr>
              <a:t>Differentiated</a:t>
            </a:r>
          </a:p>
        </p:txBody>
      </p:sp>
      <p:sp>
        <p:nvSpPr>
          <p:cNvPr id="69" name="Differentiated items"/>
          <p:cNvSpPr txBox="1"/>
          <p:nvPr/>
        </p:nvSpPr>
        <p:spPr>
          <a:xfrm>
            <a:off x="4800600" y="3759200"/>
            <a:ext cx="4064000" cy="1397000"/>
          </a:xfrm>
          <a:prstGeom prst="rect">
            <a:avLst/>
          </a:prstGeom>
          <a:noFill/>
        </p:spPr>
        <p:txBody>
          <a:bodyPr wrap="square" rtlCol="0" anchor="t">
            <a:noAutofit/>
          </a:bodyPr>
          <a:lstStyle/>
          <a:p>
            <a:pPr algn="l">
              <a:buNone/>
            </a:pPr>
            <a:r>
              <a:rPr lang="en-US" sz="2000" dirty="0"/>
              <a:t>Qualities and assurance. Certification evidence, analysis, documented behaviour.</a:t>
            </a:r>
          </a:p>
        </p:txBody>
      </p:sp>
      <p:sp>
        <p:nvSpPr>
          <p:cNvPr id="70" name="Room question"/>
          <p:cNvSpPr txBox="1"/>
          <p:nvPr/>
        </p:nvSpPr>
        <p:spPr>
          <a:xfrm>
            <a:off x="279400" y="5257800"/>
            <a:ext cx="8585200" cy="558800"/>
          </a:xfrm>
          <a:prstGeom prst="rect">
            <a:avLst/>
          </a:prstGeom>
          <a:noFill/>
        </p:spPr>
        <p:txBody>
          <a:bodyPr wrap="square" rtlCol="0" anchor="t">
            <a:noAutofit/>
          </a:bodyPr>
          <a:lstStyle/>
          <a:p>
            <a:pPr algn="l">
              <a:buNone/>
            </a:pPr>
            <a:r>
              <a:rPr lang="en-US" sz="2400" b="1" i="1" dirty="0"/>
              <a:t>What did they have to work out for themselves?</a:t>
            </a:r>
          </a:p>
        </p:txBody>
      </p:sp>
      <p:sp>
        <p:nvSpPr>
          <p:cNvPr id="71" name="Citation"/>
          <p:cNvSpPr txBox="1"/>
          <p:nvPr/>
        </p:nvSpPr>
        <p:spPr>
          <a:xfrm>
            <a:off x="279400" y="5943600"/>
            <a:ext cx="5969000" cy="381000"/>
          </a:xfrm>
          <a:prstGeom prst="rect">
            <a:avLst/>
          </a:prstGeom>
          <a:noFill/>
        </p:spPr>
        <p:txBody>
          <a:bodyPr wrap="square" rtlCol="0" anchor="t">
            <a:noAutofit/>
          </a:bodyPr>
          <a:lstStyle/>
          <a:p>
            <a:pPr algn="l">
              <a:buNone/>
            </a:pPr>
            <a:r>
              <a:rPr lang="en-US" sz="2000" i="1" dirty="0">
                <a:solidFill>
                  <a:srgbClr val="555960"/>
                </a:solidFill>
              </a:rPr>
              <a:t>WITTENSTEIN high integrity systems, SafeRTOS</a:t>
            </a:r>
          </a:p>
        </p:txBody>
      </p:sp>
    </p:spTree>
    <p:extLst>
      <p:ext uri="{BB962C8B-B14F-4D97-AF65-F5344CB8AC3E}">
        <p14:creationId xmlns:p14="http://schemas.microsoft.com/office/powerpoint/2010/main" val="38399827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CE72B2-486B-D6A6-B6E5-F091441021BD}"/>
              </a:ext>
            </a:extLst>
          </p:cNvPr>
          <p:cNvSpPr>
            <a:spLocks noGrp="1"/>
          </p:cNvSpPr>
          <p:nvPr>
            <p:ph type="title"/>
          </p:nvPr>
        </p:nvSpPr>
        <p:spPr/>
        <p:txBody>
          <a:bodyPr>
            <a:noAutofit/>
          </a:bodyPr>
          <a:lstStyle/>
          <a:p>
            <a:r>
              <a:rPr lang="en-US" dirty="0"/>
              <a:t>Cheap prototypes are an elicitation tool</a:t>
            </a:r>
          </a:p>
        </p:txBody>
      </p:sp>
      <p:sp>
        <p:nvSpPr>
          <p:cNvPr id="4" name="Slide Number Placeholder 3">
            <a:extLst>
              <a:ext uri="{FF2B5EF4-FFF2-40B4-BE49-F238E27FC236}">
                <a16:creationId xmlns:a16="http://schemas.microsoft.com/office/drawing/2014/main" id="{5655CA05-4A61-C2F8-3C90-B65E41156E1A}"/>
              </a:ext>
            </a:extLst>
          </p:cNvPr>
          <p:cNvSpPr>
            <a:spLocks noGrp="1"/>
          </p:cNvSpPr>
          <p:nvPr>
            <p:ph type="sldNum" sz="quarter" idx="4"/>
          </p:nvPr>
        </p:nvSpPr>
        <p:spPr/>
        <p:txBody>
          <a:bodyPr/>
          <a:lstStyle/>
          <a:p>
            <a:fld id="{B7EB45DA-9A0D-DC49-8E02-F30A5DDC21C3}" type="slidenum">
              <a:rPr lang="en-US" smtClean="0"/>
              <a:t>14</a:t>
            </a:fld>
            <a:endParaRPr lang="en-US"/>
          </a:p>
        </p:txBody>
      </p:sp>
      <p:sp>
        <p:nvSpPr>
          <p:cNvPr id="60" name="MAGE Moment badge"/>
          <p:cNvSpPr txBox="1"/>
          <p:nvPr/>
        </p:nvSpPr>
        <p:spPr>
          <a:xfrm>
            <a:off x="279400" y="762000"/>
            <a:ext cx="5080000" cy="8382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61" name="Proposition"/>
          <p:cNvSpPr txBox="1"/>
          <p:nvPr/>
        </p:nvSpPr>
        <p:spPr>
          <a:xfrm>
            <a:off x="279400" y="1676400"/>
            <a:ext cx="8382000" cy="609600"/>
          </a:xfrm>
          <a:prstGeom prst="rect">
            <a:avLst/>
          </a:prstGeom>
          <a:noFill/>
        </p:spPr>
        <p:txBody>
          <a:bodyPr wrap="square" rtlCol="0" anchor="t">
            <a:noAutofit/>
          </a:bodyPr>
          <a:lstStyle/>
          <a:p>
            <a:pPr algn="l">
              <a:buNone/>
            </a:pPr>
            <a:r>
              <a:rPr lang="en-US" sz="3200" b="1" dirty="0"/>
              <a:t>Building can be a way of asking questions</a:t>
            </a:r>
          </a:p>
        </p:txBody>
      </p:sp>
      <p:sp>
        <p:nvSpPr>
          <p:cNvPr id="62" name="Hook"/>
          <p:cNvSpPr txBox="1"/>
          <p:nvPr/>
        </p:nvSpPr>
        <p:spPr>
          <a:xfrm>
            <a:off x="279400" y="2260600"/>
            <a:ext cx="8382000" cy="762000"/>
          </a:xfrm>
          <a:prstGeom prst="rect">
            <a:avLst/>
          </a:prstGeom>
          <a:noFill/>
        </p:spPr>
        <p:txBody>
          <a:bodyPr wrap="square" rtlCol="0" anchor="t">
            <a:noAutofit/>
          </a:bodyPr>
          <a:lstStyle/>
          <a:p>
            <a:pPr algn="l">
              <a:buNone/>
            </a:pPr>
            <a:r>
              <a:rPr lang="en-US" sz="2400" i="1" dirty="0">
                <a:solidFill>
                  <a:srgbClr val="555960"/>
                </a:solidFill>
              </a:rPr>
              <a:t>Which is easier: tell me everything you want, or tell me what is wrong with this?</a:t>
            </a:r>
          </a:p>
        </p:txBody>
      </p:sp>
      <p:sp>
        <p:nvSpPr>
          <p:cNvPr id="63" name="Old loop kicker"/>
          <p:cNvSpPr txBox="1"/>
          <p:nvPr/>
        </p:nvSpPr>
        <p:spPr>
          <a:xfrm>
            <a:off x="279400" y="3378200"/>
            <a:ext cx="1651000" cy="431800"/>
          </a:xfrm>
          <a:prstGeom prst="rect">
            <a:avLst/>
          </a:prstGeom>
          <a:noFill/>
        </p:spPr>
        <p:txBody>
          <a:bodyPr wrap="square" rtlCol="0" anchor="t">
            <a:noAutofit/>
          </a:bodyPr>
          <a:lstStyle/>
          <a:p>
            <a:pPr algn="l">
              <a:buNone/>
            </a:pPr>
            <a:r>
              <a:rPr lang="en-US" sz="2000" b="1" dirty="0">
                <a:solidFill>
                  <a:srgbClr val="555960"/>
                </a:solidFill>
              </a:rPr>
              <a:t>Costly</a:t>
            </a:r>
          </a:p>
        </p:txBody>
      </p:sp>
      <p:sp>
        <p:nvSpPr>
          <p:cNvPr id="70" name="Old step 1"/>
          <p:cNvSpPr/>
          <p:nvPr/>
        </p:nvSpPr>
        <p:spPr>
          <a:xfrm>
            <a:off x="2006600" y="3200400"/>
            <a:ext cx="1536700" cy="685800"/>
          </a:xfrm>
          <a:prstGeom prst="roundRect">
            <a:avLst/>
          </a:prstGeom>
          <a:solidFill>
            <a:srgbClr val="C9B991"/>
          </a:solidFill>
          <a:ln>
            <a:noFill/>
          </a:ln>
        </p:spPr>
        <p:txBody>
          <a:bodyPr lIns="27000" rIns="27000" anchor="ctr">
            <a:noAutofit/>
          </a:bodyPr>
          <a:lstStyle/>
          <a:p>
            <a:pPr algn="ctr">
              <a:buNone/>
            </a:pPr>
            <a:r>
              <a:rPr lang="en-US" sz="2000" b="1" dirty="0">
                <a:solidFill>
                  <a:srgbClr val="000000"/>
                </a:solidFill>
              </a:rPr>
              <a:t>Idea</a:t>
            </a:r>
          </a:p>
        </p:txBody>
      </p:sp>
      <p:sp>
        <p:nvSpPr>
          <p:cNvPr id="80" name="Old arrow 1"/>
          <p:cNvSpPr/>
          <p:nvPr/>
        </p:nvSpPr>
        <p:spPr>
          <a:xfrm>
            <a:off x="3568700" y="3429000"/>
            <a:ext cx="152400" cy="203200"/>
          </a:xfrm>
          <a:prstGeom prst="rightArrow">
            <a:avLst/>
          </a:prstGeom>
          <a:solidFill>
            <a:srgbClr val="555960"/>
          </a:solidFill>
          <a:ln>
            <a:noFill/>
          </a:ln>
        </p:spPr>
        <p:txBody>
          <a:bodyPr lIns="27000" rIns="27000" anchor="ctr">
            <a:noAutofit/>
          </a:bodyPr>
          <a:lstStyle/>
          <a:p>
            <a:endParaRPr lang="en-US"/>
          </a:p>
        </p:txBody>
      </p:sp>
      <p:sp>
        <p:nvSpPr>
          <p:cNvPr id="71" name="Old step 2"/>
          <p:cNvSpPr/>
          <p:nvPr/>
        </p:nvSpPr>
        <p:spPr>
          <a:xfrm>
            <a:off x="3721100" y="3200400"/>
            <a:ext cx="1536700" cy="685800"/>
          </a:xfrm>
          <a:prstGeom prst="roundRect">
            <a:avLst/>
          </a:prstGeom>
          <a:solidFill>
            <a:srgbClr val="C9B991"/>
          </a:solidFill>
          <a:ln>
            <a:noFill/>
          </a:ln>
        </p:spPr>
        <p:txBody>
          <a:bodyPr lIns="27000" rIns="27000" anchor="ctr">
            <a:noAutofit/>
          </a:bodyPr>
          <a:lstStyle/>
          <a:p>
            <a:pPr algn="ctr">
              <a:buNone/>
            </a:pPr>
            <a:r>
              <a:rPr lang="en-US" sz="2000" b="1" dirty="0">
                <a:solidFill>
                  <a:srgbClr val="000000"/>
                </a:solidFill>
              </a:rPr>
              <a:t>Describe</a:t>
            </a:r>
          </a:p>
        </p:txBody>
      </p:sp>
      <p:sp>
        <p:nvSpPr>
          <p:cNvPr id="81" name="Old arrow 2"/>
          <p:cNvSpPr/>
          <p:nvPr/>
        </p:nvSpPr>
        <p:spPr>
          <a:xfrm>
            <a:off x="5283200" y="3429000"/>
            <a:ext cx="152400" cy="203200"/>
          </a:xfrm>
          <a:prstGeom prst="rightArrow">
            <a:avLst/>
          </a:prstGeom>
          <a:solidFill>
            <a:srgbClr val="555960"/>
          </a:solidFill>
          <a:ln>
            <a:noFill/>
          </a:ln>
        </p:spPr>
        <p:txBody>
          <a:bodyPr lIns="27000" rIns="27000" anchor="ctr">
            <a:noAutofit/>
          </a:bodyPr>
          <a:lstStyle/>
          <a:p>
            <a:endParaRPr lang="en-US"/>
          </a:p>
        </p:txBody>
      </p:sp>
      <p:sp>
        <p:nvSpPr>
          <p:cNvPr id="72" name="Old step 3"/>
          <p:cNvSpPr/>
          <p:nvPr/>
        </p:nvSpPr>
        <p:spPr>
          <a:xfrm>
            <a:off x="5435600" y="3200400"/>
            <a:ext cx="1536700" cy="685800"/>
          </a:xfrm>
          <a:prstGeom prst="roundRect">
            <a:avLst/>
          </a:prstGeom>
          <a:solidFill>
            <a:srgbClr val="C9B991"/>
          </a:solidFill>
          <a:ln>
            <a:noFill/>
          </a:ln>
        </p:spPr>
        <p:txBody>
          <a:bodyPr lIns="27000" rIns="27000" anchor="ctr">
            <a:noAutofit/>
          </a:bodyPr>
          <a:lstStyle/>
          <a:p>
            <a:pPr algn="ctr">
              <a:buNone/>
            </a:pPr>
            <a:r>
              <a:rPr lang="en-US" sz="2000" b="1" dirty="0">
                <a:solidFill>
                  <a:srgbClr val="000000"/>
                </a:solidFill>
              </a:rPr>
              <a:t>Prototype</a:t>
            </a:r>
          </a:p>
        </p:txBody>
      </p:sp>
      <p:sp>
        <p:nvSpPr>
          <p:cNvPr id="82" name="Old arrow 3"/>
          <p:cNvSpPr/>
          <p:nvPr/>
        </p:nvSpPr>
        <p:spPr>
          <a:xfrm>
            <a:off x="6997700" y="3429000"/>
            <a:ext cx="152400" cy="203200"/>
          </a:xfrm>
          <a:prstGeom prst="rightArrow">
            <a:avLst/>
          </a:prstGeom>
          <a:solidFill>
            <a:srgbClr val="555960"/>
          </a:solidFill>
          <a:ln>
            <a:noFill/>
          </a:ln>
        </p:spPr>
        <p:txBody>
          <a:bodyPr lIns="27000" rIns="27000" anchor="ctr">
            <a:noAutofit/>
          </a:bodyPr>
          <a:lstStyle/>
          <a:p>
            <a:endParaRPr lang="en-US"/>
          </a:p>
        </p:txBody>
      </p:sp>
      <p:sp>
        <p:nvSpPr>
          <p:cNvPr id="73" name="Old step 4"/>
          <p:cNvSpPr/>
          <p:nvPr/>
        </p:nvSpPr>
        <p:spPr>
          <a:xfrm>
            <a:off x="7150100" y="3200400"/>
            <a:ext cx="1536700" cy="685800"/>
          </a:xfrm>
          <a:prstGeom prst="roundRect">
            <a:avLst/>
          </a:prstGeom>
          <a:solidFill>
            <a:srgbClr val="C9B991"/>
          </a:solidFill>
          <a:ln>
            <a:noFill/>
          </a:ln>
        </p:spPr>
        <p:txBody>
          <a:bodyPr lIns="27000" rIns="27000" anchor="ctr">
            <a:noAutofit/>
          </a:bodyPr>
          <a:lstStyle/>
          <a:p>
            <a:pPr algn="ctr">
              <a:buNone/>
            </a:pPr>
            <a:r>
              <a:rPr lang="en-US" sz="2000" b="1" dirty="0">
                <a:solidFill>
                  <a:srgbClr val="000000"/>
                </a:solidFill>
              </a:rPr>
              <a:t>Reaction</a:t>
            </a:r>
          </a:p>
        </p:txBody>
      </p:sp>
      <p:sp>
        <p:nvSpPr>
          <p:cNvPr id="64" name="New loop kicker"/>
          <p:cNvSpPr txBox="1"/>
          <p:nvPr/>
        </p:nvSpPr>
        <p:spPr>
          <a:xfrm>
            <a:off x="279400" y="4597400"/>
            <a:ext cx="1651000" cy="431800"/>
          </a:xfrm>
          <a:prstGeom prst="rect">
            <a:avLst/>
          </a:prstGeom>
          <a:noFill/>
        </p:spPr>
        <p:txBody>
          <a:bodyPr wrap="square" rtlCol="0" anchor="t">
            <a:noAutofit/>
          </a:bodyPr>
          <a:lstStyle/>
          <a:p>
            <a:pPr algn="l">
              <a:buNone/>
            </a:pPr>
            <a:r>
              <a:rPr lang="en-US" sz="2000" b="1" dirty="0">
                <a:solidFill>
                  <a:srgbClr val="555960"/>
                </a:solidFill>
              </a:rPr>
              <a:t>Cheap</a:t>
            </a:r>
          </a:p>
        </p:txBody>
      </p:sp>
      <p:sp>
        <p:nvSpPr>
          <p:cNvPr id="90" name="New step 1"/>
          <p:cNvSpPr/>
          <p:nvPr/>
        </p:nvSpPr>
        <p:spPr>
          <a:xfrm>
            <a:off x="2006600" y="4419600"/>
            <a:ext cx="1219200" cy="685800"/>
          </a:xfrm>
          <a:prstGeom prst="roundRect">
            <a:avLst/>
          </a:prstGeom>
          <a:solidFill>
            <a:srgbClr val="8E6F3E"/>
          </a:solidFill>
          <a:ln>
            <a:noFill/>
          </a:ln>
        </p:spPr>
        <p:txBody>
          <a:bodyPr lIns="27000" rIns="27000" anchor="ctr">
            <a:noAutofit/>
          </a:bodyPr>
          <a:lstStyle/>
          <a:p>
            <a:pPr algn="ctr">
              <a:buNone/>
            </a:pPr>
            <a:r>
              <a:rPr lang="en-US" sz="2000" b="1" dirty="0">
                <a:solidFill>
                  <a:srgbClr val="FFFFFF"/>
                </a:solidFill>
              </a:rPr>
              <a:t>Idea</a:t>
            </a:r>
          </a:p>
        </p:txBody>
      </p:sp>
      <p:sp>
        <p:nvSpPr>
          <p:cNvPr id="100" name="New arrow 1"/>
          <p:cNvSpPr/>
          <p:nvPr/>
        </p:nvSpPr>
        <p:spPr>
          <a:xfrm>
            <a:off x="3251200" y="4648200"/>
            <a:ext cx="127000" cy="203200"/>
          </a:xfrm>
          <a:prstGeom prst="rightArrow">
            <a:avLst/>
          </a:prstGeom>
          <a:solidFill>
            <a:srgbClr val="8E6F3E"/>
          </a:solidFill>
          <a:ln>
            <a:noFill/>
          </a:ln>
        </p:spPr>
        <p:txBody>
          <a:bodyPr lIns="27000" rIns="27000" anchor="ctr">
            <a:noAutofit/>
          </a:bodyPr>
          <a:lstStyle/>
          <a:p>
            <a:endParaRPr lang="en-US"/>
          </a:p>
        </p:txBody>
      </p:sp>
      <p:sp>
        <p:nvSpPr>
          <p:cNvPr id="91" name="New step 2"/>
          <p:cNvSpPr/>
          <p:nvPr/>
        </p:nvSpPr>
        <p:spPr>
          <a:xfrm>
            <a:off x="3378200" y="4419600"/>
            <a:ext cx="1219200" cy="685800"/>
          </a:xfrm>
          <a:prstGeom prst="roundRect">
            <a:avLst/>
          </a:prstGeom>
          <a:solidFill>
            <a:srgbClr val="8E6F3E"/>
          </a:solidFill>
          <a:ln>
            <a:noFill/>
          </a:ln>
        </p:spPr>
        <p:txBody>
          <a:bodyPr lIns="27000" rIns="27000" anchor="ctr">
            <a:noAutofit/>
          </a:bodyPr>
          <a:lstStyle/>
          <a:p>
            <a:pPr algn="ctr">
              <a:buNone/>
            </a:pPr>
            <a:r>
              <a:rPr lang="en-US" sz="2000" b="1" dirty="0">
                <a:solidFill>
                  <a:srgbClr val="FFFFFF"/>
                </a:solidFill>
              </a:rPr>
              <a:t>Prototype</a:t>
            </a:r>
          </a:p>
        </p:txBody>
      </p:sp>
      <p:sp>
        <p:nvSpPr>
          <p:cNvPr id="101" name="New arrow 2"/>
          <p:cNvSpPr/>
          <p:nvPr/>
        </p:nvSpPr>
        <p:spPr>
          <a:xfrm>
            <a:off x="4622800" y="4648200"/>
            <a:ext cx="127000" cy="203200"/>
          </a:xfrm>
          <a:prstGeom prst="rightArrow">
            <a:avLst/>
          </a:prstGeom>
          <a:solidFill>
            <a:srgbClr val="8E6F3E"/>
          </a:solidFill>
          <a:ln>
            <a:noFill/>
          </a:ln>
        </p:spPr>
        <p:txBody>
          <a:bodyPr lIns="27000" rIns="27000" anchor="ctr">
            <a:noAutofit/>
          </a:bodyPr>
          <a:lstStyle/>
          <a:p>
            <a:endParaRPr lang="en-US"/>
          </a:p>
        </p:txBody>
      </p:sp>
      <p:sp>
        <p:nvSpPr>
          <p:cNvPr id="92" name="New step 3"/>
          <p:cNvSpPr/>
          <p:nvPr/>
        </p:nvSpPr>
        <p:spPr>
          <a:xfrm>
            <a:off x="4749800" y="4419600"/>
            <a:ext cx="1219200" cy="685800"/>
          </a:xfrm>
          <a:prstGeom prst="roundRect">
            <a:avLst/>
          </a:prstGeom>
          <a:solidFill>
            <a:srgbClr val="8E6F3E"/>
          </a:solidFill>
          <a:ln>
            <a:noFill/>
          </a:ln>
        </p:spPr>
        <p:txBody>
          <a:bodyPr lIns="27000" rIns="27000" anchor="ctr">
            <a:noAutofit/>
          </a:bodyPr>
          <a:lstStyle/>
          <a:p>
            <a:pPr algn="ctr">
              <a:buNone/>
            </a:pPr>
            <a:r>
              <a:rPr lang="en-US" sz="2000" b="1" dirty="0">
                <a:solidFill>
                  <a:srgbClr val="FFFFFF"/>
                </a:solidFill>
              </a:rPr>
              <a:t>Reaction</a:t>
            </a:r>
          </a:p>
        </p:txBody>
      </p:sp>
      <p:sp>
        <p:nvSpPr>
          <p:cNvPr id="102" name="New arrow 3"/>
          <p:cNvSpPr/>
          <p:nvPr/>
        </p:nvSpPr>
        <p:spPr>
          <a:xfrm>
            <a:off x="5994400" y="4648200"/>
            <a:ext cx="127000" cy="203200"/>
          </a:xfrm>
          <a:prstGeom prst="rightArrow">
            <a:avLst/>
          </a:prstGeom>
          <a:solidFill>
            <a:srgbClr val="8E6F3E"/>
          </a:solidFill>
          <a:ln>
            <a:noFill/>
          </a:ln>
        </p:spPr>
        <p:txBody>
          <a:bodyPr lIns="27000" rIns="27000" anchor="ctr">
            <a:noAutofit/>
          </a:bodyPr>
          <a:lstStyle/>
          <a:p>
            <a:endParaRPr lang="en-US"/>
          </a:p>
        </p:txBody>
      </p:sp>
      <p:sp>
        <p:nvSpPr>
          <p:cNvPr id="93" name="New step 4"/>
          <p:cNvSpPr/>
          <p:nvPr/>
        </p:nvSpPr>
        <p:spPr>
          <a:xfrm>
            <a:off x="6121400" y="4419600"/>
            <a:ext cx="1219200" cy="685800"/>
          </a:xfrm>
          <a:prstGeom prst="roundRect">
            <a:avLst/>
          </a:prstGeom>
          <a:solidFill>
            <a:srgbClr val="8E6F3E"/>
          </a:solidFill>
          <a:ln>
            <a:noFill/>
          </a:ln>
        </p:spPr>
        <p:txBody>
          <a:bodyPr lIns="27000" rIns="27000" anchor="ctr">
            <a:noAutofit/>
          </a:bodyPr>
          <a:lstStyle/>
          <a:p>
            <a:pPr algn="ctr">
              <a:buNone/>
            </a:pPr>
            <a:r>
              <a:rPr lang="en-US" sz="2000" b="1" dirty="0">
                <a:solidFill>
                  <a:srgbClr val="FFFFFF"/>
                </a:solidFill>
              </a:rPr>
              <a:t>Revise</a:t>
            </a:r>
          </a:p>
        </p:txBody>
      </p:sp>
      <p:sp>
        <p:nvSpPr>
          <p:cNvPr id="103" name="New arrow 4"/>
          <p:cNvSpPr/>
          <p:nvPr/>
        </p:nvSpPr>
        <p:spPr>
          <a:xfrm>
            <a:off x="7366000" y="4648200"/>
            <a:ext cx="127000" cy="203200"/>
          </a:xfrm>
          <a:prstGeom prst="rightArrow">
            <a:avLst/>
          </a:prstGeom>
          <a:solidFill>
            <a:srgbClr val="8E6F3E"/>
          </a:solidFill>
          <a:ln>
            <a:noFill/>
          </a:ln>
        </p:spPr>
        <p:txBody>
          <a:bodyPr lIns="27000" rIns="27000" anchor="ctr">
            <a:noAutofit/>
          </a:bodyPr>
          <a:lstStyle/>
          <a:p>
            <a:endParaRPr lang="en-US"/>
          </a:p>
        </p:txBody>
      </p:sp>
      <p:sp>
        <p:nvSpPr>
          <p:cNvPr id="94" name="New step 5"/>
          <p:cNvSpPr/>
          <p:nvPr/>
        </p:nvSpPr>
        <p:spPr>
          <a:xfrm>
            <a:off x="7493000" y="4419600"/>
            <a:ext cx="1219200" cy="685800"/>
          </a:xfrm>
          <a:prstGeom prst="roundRect">
            <a:avLst/>
          </a:prstGeom>
          <a:solidFill>
            <a:srgbClr val="8E6F3E"/>
          </a:solidFill>
          <a:ln>
            <a:noFill/>
          </a:ln>
        </p:spPr>
        <p:txBody>
          <a:bodyPr lIns="27000" rIns="27000" anchor="ctr">
            <a:noAutofit/>
          </a:bodyPr>
          <a:lstStyle/>
          <a:p>
            <a:pPr algn="ctr">
              <a:buNone/>
            </a:pPr>
            <a:r>
              <a:rPr lang="en-US" sz="2000" b="1" dirty="0">
                <a:solidFill>
                  <a:srgbClr val="FFFFFF"/>
                </a:solidFill>
              </a:rPr>
              <a:t>Again</a:t>
            </a:r>
          </a:p>
        </p:txBody>
      </p:sp>
      <p:sp>
        <p:nvSpPr>
          <p:cNvPr id="65" name="Bridge"/>
          <p:cNvSpPr txBox="1"/>
          <p:nvPr/>
        </p:nvSpPr>
        <p:spPr>
          <a:xfrm>
            <a:off x="279400" y="5334000"/>
            <a:ext cx="8382000" cy="965200"/>
          </a:xfrm>
          <a:prstGeom prst="rect">
            <a:avLst/>
          </a:prstGeom>
          <a:noFill/>
        </p:spPr>
        <p:txBody>
          <a:bodyPr wrap="square" rtlCol="0" anchor="t">
            <a:noAutofit/>
          </a:bodyPr>
          <a:lstStyle/>
          <a:p>
            <a:pPr algn="l">
              <a:buNone/>
            </a:pPr>
            <a:r>
              <a:rPr lang="en-US" sz="2400" b="1" dirty="0"/>
              <a:t>A prototype can teach us the requirements. It is not the specification, and it is not the product.</a:t>
            </a:r>
          </a:p>
        </p:txBody>
      </p:sp>
    </p:spTree>
    <p:extLst>
      <p:ext uri="{BB962C8B-B14F-4D97-AF65-F5344CB8AC3E}">
        <p14:creationId xmlns:p14="http://schemas.microsoft.com/office/powerpoint/2010/main" val="14846243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9911E14-A5C4-5374-1C9C-453898A33743}"/>
              </a:ext>
            </a:extLst>
          </p:cNvPr>
          <p:cNvSpPr>
            <a:spLocks noGrp="1"/>
          </p:cNvSpPr>
          <p:nvPr>
            <p:ph type="title"/>
          </p:nvPr>
        </p:nvSpPr>
        <p:spPr/>
        <p:txBody>
          <a:bodyPr>
            <a:normAutofit fontScale="90000"/>
          </a:bodyPr>
          <a:lstStyle/>
          <a:p>
            <a:r>
              <a:rPr lang="en-US" dirty="0"/>
              <a:t>Requirements engineering is a loop, not a stage</a:t>
            </a:r>
          </a:p>
        </p:txBody>
      </p:sp>
      <p:sp>
        <p:nvSpPr>
          <p:cNvPr id="4" name="Slide Number Placeholder 3">
            <a:extLst>
              <a:ext uri="{FF2B5EF4-FFF2-40B4-BE49-F238E27FC236}">
                <a16:creationId xmlns:a16="http://schemas.microsoft.com/office/drawing/2014/main" id="{8C636E6C-38D2-7CE7-6E32-61B1758A36D8}"/>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60" name="Loop step 1"/>
          <p:cNvSpPr/>
          <p:nvPr/>
        </p:nvSpPr>
        <p:spPr>
          <a:xfrm>
            <a:off x="279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Discover</a:t>
            </a:r>
          </a:p>
        </p:txBody>
      </p:sp>
      <p:sp>
        <p:nvSpPr>
          <p:cNvPr id="70" name="Loop arrow 1"/>
          <p:cNvSpPr/>
          <p:nvPr/>
        </p:nvSpPr>
        <p:spPr>
          <a:xfrm>
            <a:off x="1803400" y="2235200"/>
            <a:ext cx="254000" cy="228600"/>
          </a:xfrm>
          <a:prstGeom prst="rightArrow">
            <a:avLst/>
          </a:prstGeom>
          <a:solidFill>
            <a:srgbClr val="8E6F3E"/>
          </a:solidFill>
          <a:ln>
            <a:noFill/>
          </a:ln>
        </p:spPr>
        <p:txBody>
          <a:bodyPr lIns="36000" rIns="36000" anchor="ctr">
            <a:normAutofit fontScale="25000" lnSpcReduction="20000"/>
          </a:bodyPr>
          <a:lstStyle/>
          <a:p>
            <a:endParaRPr lang="en-US"/>
          </a:p>
        </p:txBody>
      </p:sp>
      <p:sp>
        <p:nvSpPr>
          <p:cNvPr id="61" name="Loop step 2"/>
          <p:cNvSpPr/>
          <p:nvPr/>
        </p:nvSpPr>
        <p:spPr>
          <a:xfrm>
            <a:off x="2057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Organise</a:t>
            </a:r>
          </a:p>
        </p:txBody>
      </p:sp>
      <p:sp>
        <p:nvSpPr>
          <p:cNvPr id="71" name="Loop arrow 2"/>
          <p:cNvSpPr/>
          <p:nvPr/>
        </p:nvSpPr>
        <p:spPr>
          <a:xfrm>
            <a:off x="3581400" y="2235200"/>
            <a:ext cx="254000" cy="228600"/>
          </a:xfrm>
          <a:prstGeom prst="rightArrow">
            <a:avLst/>
          </a:prstGeom>
          <a:solidFill>
            <a:srgbClr val="8E6F3E"/>
          </a:solidFill>
          <a:ln>
            <a:noFill/>
          </a:ln>
        </p:spPr>
        <p:txBody>
          <a:bodyPr lIns="36000" rIns="36000" anchor="ctr">
            <a:normAutofit fontScale="25000" lnSpcReduction="20000"/>
          </a:bodyPr>
          <a:lstStyle/>
          <a:p>
            <a:endParaRPr lang="en-US"/>
          </a:p>
        </p:txBody>
      </p:sp>
      <p:sp>
        <p:nvSpPr>
          <p:cNvPr id="62" name="Loop step 3"/>
          <p:cNvSpPr/>
          <p:nvPr/>
        </p:nvSpPr>
        <p:spPr>
          <a:xfrm>
            <a:off x="3835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Negotiate</a:t>
            </a:r>
          </a:p>
        </p:txBody>
      </p:sp>
      <p:sp>
        <p:nvSpPr>
          <p:cNvPr id="72" name="Loop arrow 3"/>
          <p:cNvSpPr/>
          <p:nvPr/>
        </p:nvSpPr>
        <p:spPr>
          <a:xfrm>
            <a:off x="5359400" y="2235200"/>
            <a:ext cx="254000" cy="228600"/>
          </a:xfrm>
          <a:prstGeom prst="rightArrow">
            <a:avLst/>
          </a:prstGeom>
          <a:solidFill>
            <a:srgbClr val="8E6F3E"/>
          </a:solidFill>
          <a:ln>
            <a:noFill/>
          </a:ln>
        </p:spPr>
        <p:txBody>
          <a:bodyPr lIns="36000" rIns="36000" anchor="ctr">
            <a:normAutofit fontScale="25000" lnSpcReduction="20000"/>
          </a:bodyPr>
          <a:lstStyle/>
          <a:p>
            <a:endParaRPr lang="en-US"/>
          </a:p>
        </p:txBody>
      </p:sp>
      <p:sp>
        <p:nvSpPr>
          <p:cNvPr id="63" name="Loop step 4"/>
          <p:cNvSpPr/>
          <p:nvPr/>
        </p:nvSpPr>
        <p:spPr>
          <a:xfrm>
            <a:off x="5613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Record</a:t>
            </a:r>
          </a:p>
        </p:txBody>
      </p:sp>
      <p:sp>
        <p:nvSpPr>
          <p:cNvPr id="73" name="Loop arrow 4"/>
          <p:cNvSpPr/>
          <p:nvPr/>
        </p:nvSpPr>
        <p:spPr>
          <a:xfrm>
            <a:off x="7137400" y="2235200"/>
            <a:ext cx="254000" cy="228600"/>
          </a:xfrm>
          <a:prstGeom prst="rightArrow">
            <a:avLst/>
          </a:prstGeom>
          <a:solidFill>
            <a:srgbClr val="8E6F3E"/>
          </a:solidFill>
          <a:ln>
            <a:noFill/>
          </a:ln>
        </p:spPr>
        <p:txBody>
          <a:bodyPr lIns="36000" rIns="36000" anchor="ctr">
            <a:normAutofit fontScale="25000" lnSpcReduction="20000"/>
          </a:bodyPr>
          <a:lstStyle/>
          <a:p>
            <a:endParaRPr lang="en-US"/>
          </a:p>
        </p:txBody>
      </p:sp>
      <p:sp>
        <p:nvSpPr>
          <p:cNvPr id="64" name="Loop step 5"/>
          <p:cNvSpPr/>
          <p:nvPr/>
        </p:nvSpPr>
        <p:spPr>
          <a:xfrm>
            <a:off x="7391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Learn</a:t>
            </a:r>
          </a:p>
        </p:txBody>
      </p:sp>
      <p:sp>
        <p:nvSpPr>
          <p:cNvPr id="80" name="Return arrow"/>
          <p:cNvSpPr/>
          <p:nvPr/>
        </p:nvSpPr>
        <p:spPr>
          <a:xfrm>
            <a:off x="279400" y="3276600"/>
            <a:ext cx="8585200" cy="279400"/>
          </a:xfrm>
          <a:prstGeom prst="leftArrow">
            <a:avLst/>
          </a:prstGeom>
          <a:solidFill>
            <a:srgbClr val="8E6F3E"/>
          </a:solidFill>
          <a:ln>
            <a:noFill/>
          </a:ln>
        </p:spPr>
        <p:txBody>
          <a:bodyPr lIns="36000" rIns="36000" anchor="ctr">
            <a:normAutofit fontScale="25000" lnSpcReduction="20000"/>
          </a:bodyPr>
          <a:lstStyle/>
          <a:p>
            <a:endParaRPr lang="en-US"/>
          </a:p>
        </p:txBody>
      </p:sp>
      <p:sp>
        <p:nvSpPr>
          <p:cNvPr id="81" name="Return label"/>
          <p:cNvSpPr txBox="1"/>
          <p:nvPr/>
        </p:nvSpPr>
        <p:spPr>
          <a:xfrm>
            <a:off x="279400" y="3657600"/>
            <a:ext cx="8585200" cy="457200"/>
          </a:xfrm>
          <a:prstGeom prst="rect">
            <a:avLst/>
          </a:prstGeom>
          <a:noFill/>
        </p:spPr>
        <p:txBody>
          <a:bodyPr wrap="square" rtlCol="0" anchor="t">
            <a:noAutofit/>
          </a:bodyPr>
          <a:lstStyle/>
          <a:p>
            <a:pPr algn="ctr">
              <a:buNone/>
            </a:pPr>
            <a:r>
              <a:rPr lang="en-US" sz="2000" b="1" i="1" dirty="0">
                <a:solidFill>
                  <a:srgbClr val="8E6F3E"/>
                </a:solidFill>
              </a:rPr>
              <a:t>and repeat</a:t>
            </a:r>
          </a:p>
        </p:txBody>
      </p:sp>
      <p:sp>
        <p:nvSpPr>
          <p:cNvPr id="82" name="Claim"/>
          <p:cNvSpPr txBox="1"/>
          <p:nvPr/>
        </p:nvSpPr>
        <p:spPr>
          <a:xfrm>
            <a:off x="279400" y="4419600"/>
            <a:ext cx="8382000" cy="1219200"/>
          </a:xfrm>
          <a:prstGeom prst="rect">
            <a:avLst/>
          </a:prstGeom>
          <a:noFill/>
        </p:spPr>
        <p:txBody>
          <a:bodyPr wrap="square" rtlCol="0" anchor="t">
            <a:noAutofit/>
          </a:bodyPr>
          <a:lstStyle/>
          <a:p>
            <a:pPr algn="l">
              <a:buNone/>
            </a:pPr>
            <a:r>
              <a:rPr lang="en-US" sz="2800" b="1" dirty="0"/>
              <a:t>Each process runs this loop at its own tempo.</a:t>
            </a:r>
          </a:p>
        </p:txBody>
      </p:sp>
    </p:spTree>
    <p:extLst>
      <p:ext uri="{BB962C8B-B14F-4D97-AF65-F5344CB8AC3E}">
        <p14:creationId xmlns:p14="http://schemas.microsoft.com/office/powerpoint/2010/main" val="40389771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1A1F79-B7D8-5E89-95EB-E8013249BC97}"/>
              </a:ext>
            </a:extLst>
          </p:cNvPr>
          <p:cNvSpPr>
            <a:spLocks noGrp="1"/>
          </p:cNvSpPr>
          <p:nvPr>
            <p:ph type="title"/>
          </p:nvPr>
        </p:nvSpPr>
        <p:spPr/>
        <p:txBody>
          <a:bodyPr>
            <a:normAutofit fontScale="90000"/>
          </a:bodyPr>
          <a:lstStyle/>
          <a:p>
            <a:r>
              <a:rPr lang="en-US" dirty="0"/>
              <a:t>“We already have the requirements”</a:t>
            </a:r>
          </a:p>
        </p:txBody>
      </p:sp>
      <p:sp>
        <p:nvSpPr>
          <p:cNvPr id="4" name="Slide Number Placeholder 3">
            <a:extLst>
              <a:ext uri="{FF2B5EF4-FFF2-40B4-BE49-F238E27FC236}">
                <a16:creationId xmlns:a16="http://schemas.microsoft.com/office/drawing/2014/main" id="{79D417EF-A3D7-F400-8F15-72B8FD6801AD}"/>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60" name="AFI label"/>
          <p:cNvSpPr txBox="1"/>
          <p:nvPr/>
        </p:nvSpPr>
        <p:spPr>
          <a:xfrm>
            <a:off x="279400" y="1092200"/>
            <a:ext cx="3683000" cy="508000"/>
          </a:xfrm>
          <a:prstGeom prst="rect">
            <a:avLst/>
          </a:prstGeom>
          <a:noFill/>
        </p:spPr>
        <p:txBody>
          <a:bodyPr wrap="square" rtlCol="0" anchor="t">
            <a:noAutofit/>
          </a:bodyPr>
          <a:lstStyle/>
          <a:p>
            <a:pPr algn="l">
              <a:buNone/>
            </a:pPr>
            <a:r>
              <a:rPr lang="en-US" sz="2800" b="1" dirty="0">
                <a:solidFill>
                  <a:srgbClr val="8E6F3E"/>
                </a:solidFill>
              </a:rPr>
              <a:t>AFI, the customer</a:t>
            </a:r>
          </a:p>
        </p:txBody>
      </p:sp>
      <p:sp>
        <p:nvSpPr>
          <p:cNvPr id="61" name="AFI quote panel"/>
          <p:cNvSpPr/>
          <p:nvPr/>
        </p:nvSpPr>
        <p:spPr>
          <a:xfrm>
            <a:off x="279400" y="1676400"/>
            <a:ext cx="3683000" cy="1905000"/>
          </a:xfrm>
          <a:prstGeom prst="roundRect">
            <a:avLst/>
          </a:prstGeom>
          <a:solidFill>
            <a:srgbClr val="F2EFE9"/>
          </a:solidFill>
          <a:ln>
            <a:noFill/>
          </a:ln>
        </p:spPr>
        <p:txBody>
          <a:bodyPr/>
          <a:lstStyle/>
          <a:p>
            <a:endParaRPr lang="en-US"/>
          </a:p>
        </p:txBody>
      </p:sp>
      <p:sp>
        <p:nvSpPr>
          <p:cNvPr id="62" name="AFI quote"/>
          <p:cNvSpPr txBox="1"/>
          <p:nvPr/>
        </p:nvSpPr>
        <p:spPr>
          <a:xfrm>
            <a:off x="482600" y="1879600"/>
            <a:ext cx="3276600" cy="1524000"/>
          </a:xfrm>
          <a:prstGeom prst="rect">
            <a:avLst/>
          </a:prstGeom>
          <a:noFill/>
        </p:spPr>
        <p:txBody>
          <a:bodyPr wrap="square" rtlCol="0" anchor="t">
            <a:noAutofit/>
          </a:bodyPr>
          <a:lstStyle/>
          <a:p>
            <a:pPr algn="l">
              <a:buNone/>
            </a:pPr>
            <a:r>
              <a:rPr lang="en-US" sz="2400" i="1" dirty="0"/>
              <a:t>“We collected everyone’s requirements in a spreadsheet.”</a:t>
            </a:r>
          </a:p>
        </p:txBody>
      </p:sp>
      <p:sp>
        <p:nvSpPr>
          <p:cNvPr id="63" name="Nexell label"/>
          <p:cNvSpPr txBox="1"/>
          <p:nvPr/>
        </p:nvSpPr>
        <p:spPr>
          <a:xfrm>
            <a:off x="4445000" y="1092200"/>
            <a:ext cx="4318000" cy="508000"/>
          </a:xfrm>
          <a:prstGeom prst="rect">
            <a:avLst/>
          </a:prstGeom>
          <a:noFill/>
        </p:spPr>
        <p:txBody>
          <a:bodyPr wrap="square" rtlCol="0" anchor="t">
            <a:noAutofit/>
          </a:bodyPr>
          <a:lstStyle/>
          <a:p>
            <a:pPr algn="l">
              <a:buNone/>
            </a:pPr>
            <a:r>
              <a:rPr lang="en-US" sz="2800" b="1" dirty="0">
                <a:solidFill>
                  <a:srgbClr val="8E6F3E"/>
                </a:solidFill>
              </a:rPr>
              <a:t>Nexell needs to know</a:t>
            </a:r>
          </a:p>
        </p:txBody>
      </p:sp>
      <p:sp>
        <p:nvSpPr>
          <p:cNvPr id="64" name="Question 1"/>
          <p:cNvSpPr txBox="1"/>
          <p:nvPr/>
        </p:nvSpPr>
        <p:spPr>
          <a:xfrm>
            <a:off x="4445000" y="1727200"/>
            <a:ext cx="4318000" cy="635000"/>
          </a:xfrm>
          <a:prstGeom prst="rect">
            <a:avLst/>
          </a:prstGeom>
          <a:noFill/>
        </p:spPr>
        <p:txBody>
          <a:bodyPr wrap="square" rtlCol="0" anchor="t">
            <a:noAutofit/>
          </a:bodyPr>
          <a:lstStyle/>
          <a:p>
            <a:pPr algn="l">
              <a:buNone/>
            </a:pPr>
            <a:r>
              <a:rPr lang="en-US" sz="2000" dirty="0">
                <a:solidFill>
                  <a:srgbClr val="555960"/>
                </a:solidFill>
              </a:rPr>
              <a:t>1  What does AFI actually need?</a:t>
            </a:r>
          </a:p>
        </p:txBody>
      </p:sp>
      <p:sp>
        <p:nvSpPr>
          <p:cNvPr id="65" name="Question 2"/>
          <p:cNvSpPr txBox="1"/>
          <p:nvPr/>
        </p:nvSpPr>
        <p:spPr>
          <a:xfrm>
            <a:off x="4445000" y="2362200"/>
            <a:ext cx="4318000" cy="635000"/>
          </a:xfrm>
          <a:prstGeom prst="rect">
            <a:avLst/>
          </a:prstGeom>
          <a:noFill/>
        </p:spPr>
        <p:txBody>
          <a:bodyPr wrap="square" rtlCol="0" anchor="t">
            <a:noAutofit/>
          </a:bodyPr>
          <a:lstStyle/>
          <a:p>
            <a:pPr algn="l">
              <a:buNone/>
            </a:pPr>
            <a:r>
              <a:rPr lang="en-US" sz="2000" dirty="0">
                <a:solidFill>
                  <a:srgbClr val="555960"/>
                </a:solidFill>
              </a:rPr>
              <a:t>2  Can we deliver it?</a:t>
            </a:r>
          </a:p>
        </p:txBody>
      </p:sp>
      <p:sp>
        <p:nvSpPr>
          <p:cNvPr id="66" name="Question 3"/>
          <p:cNvSpPr txBox="1"/>
          <p:nvPr/>
        </p:nvSpPr>
        <p:spPr>
          <a:xfrm>
            <a:off x="4445000" y="3048000"/>
            <a:ext cx="4318000" cy="1524000"/>
          </a:xfrm>
          <a:prstGeom prst="rect">
            <a:avLst/>
          </a:prstGeom>
          <a:noFill/>
        </p:spPr>
        <p:txBody>
          <a:bodyPr wrap="square" rtlCol="0" anchor="t">
            <a:noAutofit/>
          </a:bodyPr>
          <a:lstStyle/>
          <a:p>
            <a:pPr algn="l">
              <a:buNone/>
            </a:pPr>
            <a:r>
              <a:rPr lang="en-US" sz="2800" b="1" dirty="0"/>
              <a:t>3  What should we promise, and at what price?</a:t>
            </a:r>
          </a:p>
        </p:txBody>
      </p:sp>
      <p:sp>
        <p:nvSpPr>
          <p:cNvPr id="67" name="Claim"/>
          <p:cNvSpPr txBox="1"/>
          <p:nvPr/>
        </p:nvSpPr>
        <p:spPr>
          <a:xfrm>
            <a:off x="279400" y="4724400"/>
            <a:ext cx="8382000" cy="1016000"/>
          </a:xfrm>
          <a:prstGeom prst="rect">
            <a:avLst/>
          </a:prstGeom>
          <a:noFill/>
        </p:spPr>
        <p:txBody>
          <a:bodyPr wrap="square" rtlCol="0" anchor="t">
            <a:noAutofit/>
          </a:bodyPr>
          <a:lstStyle/>
          <a:p>
            <a:pPr algn="l">
              <a:buNone/>
            </a:pPr>
            <a:r>
              <a:rPr lang="en-US" sz="2400" b="1" dirty="0">
                <a:solidFill>
                  <a:srgbClr val="8E6F3E"/>
                </a:solidFill>
              </a:rPr>
              <a:t>A list of requirements is not the ability to commit.</a:t>
            </a:r>
          </a:p>
        </p:txBody>
      </p:sp>
      <p:sp>
        <p:nvSpPr>
          <p:cNvPr id="68" name="Citation"/>
          <p:cNvSpPr txBox="1"/>
          <p:nvPr/>
        </p:nvSpPr>
        <p:spPr>
          <a:xfrm>
            <a:off x="279400" y="5969000"/>
            <a:ext cx="8382000" cy="381000"/>
          </a:xfrm>
          <a:prstGeom prst="rect">
            <a:avLst/>
          </a:prstGeom>
          <a:noFill/>
        </p:spPr>
        <p:txBody>
          <a:bodyPr wrap="square" rtlCol="0" anchor="t">
            <a:noAutofit/>
          </a:bodyPr>
          <a:lstStyle/>
          <a:p>
            <a:pPr algn="l">
              <a:buNone/>
            </a:pPr>
            <a:r>
              <a:rPr lang="en-US" sz="2000" i="1" dirty="0">
                <a:solidFill>
                  <a:srgbClr val="555960"/>
                </a:solidFill>
              </a:rPr>
              <a:t>Kostova et al., RE 2019</a:t>
            </a:r>
          </a:p>
        </p:txBody>
      </p:sp>
    </p:spTree>
    <p:extLst>
      <p:ext uri="{BB962C8B-B14F-4D97-AF65-F5344CB8AC3E}">
        <p14:creationId xmlns:p14="http://schemas.microsoft.com/office/powerpoint/2010/main" val="32996535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34ECBE6-C7A5-4279-E062-0B95CD50788D}"/>
              </a:ext>
            </a:extLst>
          </p:cNvPr>
          <p:cNvSpPr>
            <a:spLocks noGrp="1"/>
          </p:cNvSpPr>
          <p:nvPr>
            <p:ph type="title"/>
          </p:nvPr>
        </p:nvSpPr>
        <p:spPr/>
        <p:txBody>
          <a:bodyPr>
            <a:normAutofit fontScale="90000"/>
          </a:bodyPr>
          <a:lstStyle/>
          <a:p>
            <a:r>
              <a:rPr lang="en-US" dirty="0"/>
              <a:t>Who actually knows what AFI needs?</a:t>
            </a:r>
          </a:p>
        </p:txBody>
      </p:sp>
      <p:sp>
        <p:nvSpPr>
          <p:cNvPr id="4" name="Slide Number Placeholder 3">
            <a:extLst>
              <a:ext uri="{FF2B5EF4-FFF2-40B4-BE49-F238E27FC236}">
                <a16:creationId xmlns:a16="http://schemas.microsoft.com/office/drawing/2014/main" id="{AA114A1D-DD90-D3CF-252E-85CC69A0D90F}"/>
              </a:ext>
            </a:extLst>
          </p:cNvPr>
          <p:cNvSpPr>
            <a:spLocks noGrp="1"/>
          </p:cNvSpPr>
          <p:nvPr>
            <p:ph type="sldNum" sz="quarter" idx="4"/>
          </p:nvPr>
        </p:nvSpPr>
        <p:spPr/>
        <p:txBody>
          <a:bodyPr/>
          <a:lstStyle/>
          <a:p>
            <a:fld id="{B7EB45DA-9A0D-DC49-8E02-F30A5DDC21C3}" type="slidenum">
              <a:rPr lang="en-US" smtClean="0"/>
              <a:t>17</a:t>
            </a:fld>
            <a:endParaRPr lang="en-US"/>
          </a:p>
        </p:txBody>
      </p:sp>
      <p:pic>
        <p:nvPicPr>
          <p:cNvPr id="5" name="Copied Picture 5" descr="Organisational chart of AFI Finance: an executive layer above regional and functional managers, with sales, service, marketing and IT groups beneath them, showing that knowledge of the CRM problem is spread across many roles.">
            <a:extLst>
              <a:ext uri="{FF2B5EF4-FFF2-40B4-BE49-F238E27FC236}">
                <a16:creationId xmlns:a16="http://schemas.microsoft.com/office/drawing/2014/main" id="{C63C4CB8-0AC0-7245-AE31-BCEB1263CD32}"/>
              </a:ext>
            </a:extLst>
          </p:cNvPr>
          <p:cNvPicPr>
            <a:picLocks noChangeAspect="1"/>
          </p:cNvPicPr>
          <p:nvPr/>
        </p:nvPicPr>
        <p:blipFill>
          <a:blip r:embed="rId3"/>
          <a:stretch>
            <a:fillRect/>
          </a:stretch>
        </p:blipFill>
        <p:spPr>
          <a:xfrm>
            <a:off x="1143000" y="863600"/>
            <a:ext cx="6858000" cy="4826000"/>
          </a:xfrm>
          <a:prstGeom prst="rect">
            <a:avLst/>
          </a:prstGeom>
        </p:spPr>
      </p:pic>
      <p:sp>
        <p:nvSpPr>
          <p:cNvPr id="60" name="Room question"/>
          <p:cNvSpPr txBox="1"/>
          <p:nvPr/>
        </p:nvSpPr>
        <p:spPr>
          <a:xfrm>
            <a:off x="762000" y="5791200"/>
            <a:ext cx="7620000" cy="508000"/>
          </a:xfrm>
          <a:prstGeom prst="rect">
            <a:avLst/>
          </a:prstGeom>
          <a:noFill/>
        </p:spPr>
        <p:txBody>
          <a:bodyPr wrap="square" rtlCol="0" anchor="t">
            <a:noAutofit/>
          </a:bodyPr>
          <a:lstStyle/>
          <a:p>
            <a:pPr algn="ctr">
              <a:buNone/>
            </a:pPr>
            <a:r>
              <a:rPr lang="en-US" sz="2400" b="1" i="1" dirty="0"/>
              <a:t>Who would you talk to?</a:t>
            </a:r>
          </a:p>
        </p:txBody>
      </p:sp>
    </p:spTree>
    <p:extLst>
      <p:ext uri="{BB962C8B-B14F-4D97-AF65-F5344CB8AC3E}">
        <p14:creationId xmlns:p14="http://schemas.microsoft.com/office/powerpoint/2010/main" val="5005692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3CD893E-A436-E95A-5033-51D6B40ACB39}"/>
              </a:ext>
            </a:extLst>
          </p:cNvPr>
          <p:cNvSpPr>
            <a:spLocks noGrp="1"/>
          </p:cNvSpPr>
          <p:nvPr>
            <p:ph type="title"/>
          </p:nvPr>
        </p:nvSpPr>
        <p:spPr/>
        <p:txBody>
          <a:bodyPr>
            <a:normAutofit fontScale="90000"/>
          </a:bodyPr>
          <a:lstStyle/>
          <a:p>
            <a:r>
              <a:rPr lang="en-US" dirty="0"/>
              <a:t>Different stakeholders see different systems</a:t>
            </a:r>
          </a:p>
        </p:txBody>
      </p:sp>
      <p:sp>
        <p:nvSpPr>
          <p:cNvPr id="4" name="Slide Number Placeholder 3">
            <a:extLst>
              <a:ext uri="{FF2B5EF4-FFF2-40B4-BE49-F238E27FC236}">
                <a16:creationId xmlns:a16="http://schemas.microsoft.com/office/drawing/2014/main" id="{E122B8C7-4B79-290F-B561-A07823DEDE36}"/>
              </a:ext>
            </a:extLst>
          </p:cNvPr>
          <p:cNvSpPr>
            <a:spLocks noGrp="1"/>
          </p:cNvSpPr>
          <p:nvPr>
            <p:ph type="sldNum" sz="quarter" idx="4"/>
          </p:nvPr>
        </p:nvSpPr>
        <p:spPr/>
        <p:txBody>
          <a:bodyPr/>
          <a:lstStyle/>
          <a:p>
            <a:fld id="{B7EB45DA-9A0D-DC49-8E02-F30A5DDC21C3}" type="slidenum">
              <a:rPr lang="en-US" smtClean="0"/>
              <a:t>18</a:t>
            </a:fld>
            <a:endParaRPr lang="en-US"/>
          </a:p>
        </p:txBody>
      </p:sp>
      <p:sp>
        <p:nvSpPr>
          <p:cNvPr id="60" name="Management panel"/>
          <p:cNvSpPr/>
          <p:nvPr/>
        </p:nvSpPr>
        <p:spPr>
          <a:xfrm>
            <a:off x="279400" y="1066800"/>
            <a:ext cx="4064000" cy="3810000"/>
          </a:xfrm>
          <a:prstGeom prst="roundRect">
            <a:avLst/>
          </a:prstGeom>
          <a:solidFill>
            <a:srgbClr val="F2EFE9"/>
          </a:solidFill>
          <a:ln>
            <a:noFill/>
          </a:ln>
        </p:spPr>
        <p:txBody>
          <a:bodyPr/>
          <a:lstStyle/>
          <a:p>
            <a:endParaRPr lang="en-US"/>
          </a:p>
        </p:txBody>
      </p:sp>
      <p:sp>
        <p:nvSpPr>
          <p:cNvPr id="61" name="Management header"/>
          <p:cNvSpPr txBox="1"/>
          <p:nvPr/>
        </p:nvSpPr>
        <p:spPr>
          <a:xfrm>
            <a:off x="508000" y="1270000"/>
            <a:ext cx="3606800" cy="558800"/>
          </a:xfrm>
          <a:prstGeom prst="rect">
            <a:avLst/>
          </a:prstGeom>
          <a:noFill/>
        </p:spPr>
        <p:txBody>
          <a:bodyPr wrap="square" rtlCol="0" anchor="t">
            <a:noAutofit/>
          </a:bodyPr>
          <a:lstStyle/>
          <a:p>
            <a:pPr algn="l">
              <a:buNone/>
            </a:pPr>
            <a:r>
              <a:rPr lang="en-US" sz="2800" b="1" dirty="0">
                <a:solidFill>
                  <a:srgbClr val="8E6F3E"/>
                </a:solidFill>
              </a:rPr>
              <a:t>Management</a:t>
            </a:r>
          </a:p>
        </p:txBody>
      </p:sp>
      <p:sp>
        <p:nvSpPr>
          <p:cNvPr id="62" name="Management items"/>
          <p:cNvSpPr txBox="1"/>
          <p:nvPr/>
        </p:nvSpPr>
        <p:spPr>
          <a:xfrm>
            <a:off x="508000" y="1905000"/>
            <a:ext cx="3606800" cy="2794000"/>
          </a:xfrm>
          <a:prstGeom prst="rect">
            <a:avLst/>
          </a:prstGeom>
          <a:noFill/>
        </p:spPr>
        <p:txBody>
          <a:bodyPr wrap="square" rtlCol="0" anchor="t">
            <a:noAutofit/>
          </a:bodyPr>
          <a:lstStyle/>
          <a:p>
            <a:pPr marL="228600" indent="-228600" algn="l">
              <a:buFont typeface="Arial"/>
              <a:buChar char="•"/>
            </a:pPr>
            <a:r>
              <a:rPr lang="en-US" sz="2000" dirty="0"/>
              <a:t>Strategy</a:t>
            </a:r>
          </a:p>
          <a:p>
            <a:pPr marL="228600" indent="-228600" algn="l">
              <a:buFont typeface="Arial"/>
              <a:buChar char="•"/>
            </a:pPr>
            <a:r>
              <a:rPr lang="en-US" sz="2000" dirty="0"/>
              <a:t>Competitors</a:t>
            </a:r>
          </a:p>
          <a:p>
            <a:pPr marL="228600" indent="-228600" algn="l">
              <a:buFont typeface="Arial"/>
              <a:buChar char="•"/>
            </a:pPr>
            <a:r>
              <a:rPr lang="en-US" sz="2000" dirty="0"/>
              <a:t>Regulation</a:t>
            </a:r>
          </a:p>
          <a:p>
            <a:pPr marL="228600" indent="-228600" algn="l">
              <a:buFont typeface="Arial"/>
              <a:buChar char="•"/>
            </a:pPr>
            <a:r>
              <a:rPr lang="en-US" sz="2000" dirty="0"/>
              <a:t>Organisational goals</a:t>
            </a:r>
          </a:p>
        </p:txBody>
      </p:sp>
      <p:sp>
        <p:nvSpPr>
          <p:cNvPr id="63" name="Operations panel"/>
          <p:cNvSpPr/>
          <p:nvPr/>
        </p:nvSpPr>
        <p:spPr>
          <a:xfrm>
            <a:off x="4800600" y="1066800"/>
            <a:ext cx="4064000" cy="3810000"/>
          </a:xfrm>
          <a:prstGeom prst="roundRect">
            <a:avLst/>
          </a:prstGeom>
          <a:solidFill>
            <a:srgbClr val="F2EFE9"/>
          </a:solidFill>
          <a:ln>
            <a:noFill/>
          </a:ln>
        </p:spPr>
        <p:txBody>
          <a:bodyPr/>
          <a:lstStyle/>
          <a:p>
            <a:endParaRPr lang="en-US"/>
          </a:p>
        </p:txBody>
      </p:sp>
      <p:sp>
        <p:nvSpPr>
          <p:cNvPr id="64" name="Operations header"/>
          <p:cNvSpPr txBox="1"/>
          <p:nvPr/>
        </p:nvSpPr>
        <p:spPr>
          <a:xfrm>
            <a:off x="5029200" y="1270000"/>
            <a:ext cx="3606800" cy="558800"/>
          </a:xfrm>
          <a:prstGeom prst="rect">
            <a:avLst/>
          </a:prstGeom>
          <a:noFill/>
        </p:spPr>
        <p:txBody>
          <a:bodyPr wrap="square" rtlCol="0" anchor="t">
            <a:noAutofit/>
          </a:bodyPr>
          <a:lstStyle/>
          <a:p>
            <a:pPr algn="l">
              <a:buNone/>
            </a:pPr>
            <a:r>
              <a:rPr lang="en-US" sz="2800" b="1" dirty="0">
                <a:solidFill>
                  <a:srgbClr val="8E6F3E"/>
                </a:solidFill>
              </a:rPr>
              <a:t>Operations</a:t>
            </a:r>
          </a:p>
        </p:txBody>
      </p:sp>
      <p:sp>
        <p:nvSpPr>
          <p:cNvPr id="65" name="Operations items"/>
          <p:cNvSpPr txBox="1"/>
          <p:nvPr/>
        </p:nvSpPr>
        <p:spPr>
          <a:xfrm>
            <a:off x="5029200" y="1905000"/>
            <a:ext cx="3606800" cy="2794000"/>
          </a:xfrm>
          <a:prstGeom prst="rect">
            <a:avLst/>
          </a:prstGeom>
          <a:noFill/>
        </p:spPr>
        <p:txBody>
          <a:bodyPr wrap="square" rtlCol="0" anchor="t">
            <a:noAutofit/>
          </a:bodyPr>
          <a:lstStyle/>
          <a:p>
            <a:pPr marL="228600" indent="-228600" algn="l">
              <a:buFont typeface="Arial"/>
              <a:buChar char="•"/>
            </a:pPr>
            <a:r>
              <a:rPr lang="en-US" sz="2000" dirty="0"/>
              <a:t>Daily workflow</a:t>
            </a:r>
          </a:p>
          <a:p>
            <a:pPr marL="228600" indent="-228600" algn="l">
              <a:buFont typeface="Arial"/>
              <a:buChar char="•"/>
            </a:pPr>
            <a:r>
              <a:rPr lang="en-US" sz="2000" dirty="0"/>
              <a:t>How the CRM is actually used</a:t>
            </a:r>
          </a:p>
          <a:p>
            <a:pPr marL="228600" indent="-228600" algn="l">
              <a:buFont typeface="Arial"/>
              <a:buChar char="•"/>
            </a:pPr>
            <a:r>
              <a:rPr lang="en-US" sz="2000" dirty="0"/>
              <a:t>Friction and workarounds</a:t>
            </a:r>
          </a:p>
          <a:p>
            <a:pPr marL="228600" indent="-228600" algn="l">
              <a:buFont typeface="Arial"/>
              <a:buChar char="•"/>
            </a:pPr>
            <a:r>
              <a:rPr lang="en-US" sz="2000" dirty="0"/>
              <a:t>Practical constraints</a:t>
            </a:r>
          </a:p>
        </p:txBody>
      </p:sp>
      <p:sp>
        <p:nvSpPr>
          <p:cNvPr id="66" name="Claim"/>
          <p:cNvSpPr txBox="1"/>
          <p:nvPr/>
        </p:nvSpPr>
        <p:spPr>
          <a:xfrm>
            <a:off x="279400" y="5080000"/>
            <a:ext cx="8382000" cy="762000"/>
          </a:xfrm>
          <a:prstGeom prst="rect">
            <a:avLst/>
          </a:prstGeom>
          <a:noFill/>
        </p:spPr>
        <p:txBody>
          <a:bodyPr wrap="square" rtlCol="0" anchor="t">
            <a:noAutofit/>
          </a:bodyPr>
          <a:lstStyle/>
          <a:p>
            <a:pPr algn="l">
              <a:buNone/>
            </a:pPr>
            <a:r>
              <a:rPr lang="en-US" sz="2800" b="1" dirty="0"/>
              <a:t>Two workshops. Neither view is sufficient alone.</a:t>
            </a:r>
          </a:p>
        </p:txBody>
      </p:sp>
      <p:sp>
        <p:nvSpPr>
          <p:cNvPr id="67" name="Citation"/>
          <p:cNvSpPr txBox="1"/>
          <p:nvPr/>
        </p:nvSpPr>
        <p:spPr>
          <a:xfrm>
            <a:off x="279400" y="5969000"/>
            <a:ext cx="8382000" cy="381000"/>
          </a:xfrm>
          <a:prstGeom prst="rect">
            <a:avLst/>
          </a:prstGeom>
          <a:noFill/>
        </p:spPr>
        <p:txBody>
          <a:bodyPr wrap="square" rtlCol="0" anchor="t">
            <a:noAutofit/>
          </a:bodyPr>
          <a:lstStyle/>
          <a:p>
            <a:pPr algn="l">
              <a:buNone/>
            </a:pPr>
            <a:r>
              <a:rPr lang="en-US" sz="2000" i="1" dirty="0">
                <a:solidFill>
                  <a:srgbClr val="555960"/>
                </a:solidFill>
              </a:rPr>
              <a:t>Kostova et al., RE 2019</a:t>
            </a:r>
          </a:p>
        </p:txBody>
      </p:sp>
    </p:spTree>
    <p:extLst>
      <p:ext uri="{BB962C8B-B14F-4D97-AF65-F5344CB8AC3E}">
        <p14:creationId xmlns:p14="http://schemas.microsoft.com/office/powerpoint/2010/main" val="15617237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9A60261-5C59-B231-9CB3-3B3297F5321E}"/>
              </a:ext>
            </a:extLst>
          </p:cNvPr>
          <p:cNvSpPr>
            <a:spLocks noGrp="1"/>
          </p:cNvSpPr>
          <p:nvPr>
            <p:ph type="title"/>
          </p:nvPr>
        </p:nvSpPr>
        <p:spPr/>
        <p:txBody>
          <a:bodyPr>
            <a:normAutofit fontScale="90000"/>
          </a:bodyPr>
          <a:lstStyle/>
          <a:p>
            <a:r>
              <a:rPr lang="en-US" dirty="0"/>
              <a:t>Better requirements, better promises</a:t>
            </a:r>
          </a:p>
        </p:txBody>
      </p:sp>
      <p:sp>
        <p:nvSpPr>
          <p:cNvPr id="4" name="Slide Number Placeholder 3">
            <a:extLst>
              <a:ext uri="{FF2B5EF4-FFF2-40B4-BE49-F238E27FC236}">
                <a16:creationId xmlns:a16="http://schemas.microsoft.com/office/drawing/2014/main" id="{27984864-764E-DF59-AC0A-AC0BC530A7C0}"/>
              </a:ext>
            </a:extLst>
          </p:cNvPr>
          <p:cNvSpPr>
            <a:spLocks noGrp="1"/>
          </p:cNvSpPr>
          <p:nvPr>
            <p:ph type="sldNum" sz="quarter" idx="4"/>
          </p:nvPr>
        </p:nvSpPr>
        <p:spPr/>
        <p:txBody>
          <a:bodyPr/>
          <a:lstStyle/>
          <a:p>
            <a:fld id="{B7EB45DA-9A0D-DC49-8E02-F30A5DDC21C3}" type="slidenum">
              <a:rPr lang="en-US" smtClean="0"/>
              <a:t>19</a:t>
            </a:fld>
            <a:endParaRPr lang="en-US"/>
          </a:p>
        </p:txBody>
      </p:sp>
      <p:sp>
        <p:nvSpPr>
          <p:cNvPr id="60" name="Before kicker"/>
          <p:cNvSpPr txBox="1"/>
          <p:nvPr/>
        </p:nvSpPr>
        <p:spPr>
          <a:xfrm>
            <a:off x="279400" y="1066800"/>
            <a:ext cx="3048000" cy="381000"/>
          </a:xfrm>
          <a:prstGeom prst="rect">
            <a:avLst/>
          </a:prstGeom>
          <a:noFill/>
        </p:spPr>
        <p:txBody>
          <a:bodyPr wrap="square" rtlCol="0" anchor="t">
            <a:noAutofit/>
          </a:bodyPr>
          <a:lstStyle/>
          <a:p>
            <a:pPr algn="l">
              <a:buNone/>
            </a:pPr>
            <a:r>
              <a:rPr lang="en-US" sz="2000" b="1" dirty="0">
                <a:solidFill>
                  <a:srgbClr val="555960"/>
                </a:solidFill>
              </a:rPr>
              <a:t>BEFORE</a:t>
            </a:r>
          </a:p>
        </p:txBody>
      </p:sp>
      <p:sp>
        <p:nvSpPr>
          <p:cNvPr id="61" name="Before quote"/>
          <p:cNvSpPr/>
          <p:nvPr/>
        </p:nvSpPr>
        <p:spPr>
          <a:xfrm>
            <a:off x="279400" y="1524000"/>
            <a:ext cx="3048000" cy="1270000"/>
          </a:xfrm>
          <a:prstGeom prst="roundRect">
            <a:avLst/>
          </a:prstGeom>
          <a:solidFill>
            <a:srgbClr val="C9B991"/>
          </a:solidFill>
          <a:ln>
            <a:noFill/>
          </a:ln>
        </p:spPr>
        <p:txBody>
          <a:bodyPr lIns="91440" rIns="91440" anchor="ctr">
            <a:normAutofit/>
          </a:bodyPr>
          <a:lstStyle/>
          <a:p>
            <a:pPr algn="ctr">
              <a:buNone/>
            </a:pPr>
            <a:r>
              <a:rPr lang="en-US" sz="2400" b="1" i="1" dirty="0">
                <a:solidFill>
                  <a:srgbClr val="000000"/>
                </a:solidFill>
              </a:rPr>
              <a:t>“We need Salesforce.”</a:t>
            </a:r>
          </a:p>
        </p:txBody>
      </p:sp>
      <p:sp>
        <p:nvSpPr>
          <p:cNvPr id="62" name="Arrow label"/>
          <p:cNvSpPr txBox="1"/>
          <p:nvPr/>
        </p:nvSpPr>
        <p:spPr>
          <a:xfrm>
            <a:off x="3454400" y="1524000"/>
            <a:ext cx="1651000" cy="762000"/>
          </a:xfrm>
          <a:prstGeom prst="rect">
            <a:avLst/>
          </a:prstGeom>
          <a:noFill/>
        </p:spPr>
        <p:txBody>
          <a:bodyPr wrap="square" rtlCol="0" anchor="t">
            <a:noAutofit/>
          </a:bodyPr>
          <a:lstStyle/>
          <a:p>
            <a:pPr algn="ctr">
              <a:buNone/>
            </a:pPr>
            <a:r>
              <a:rPr lang="en-US" sz="2000" i="1" dirty="0">
                <a:solidFill>
                  <a:srgbClr val="8E6F3E"/>
                </a:solidFill>
              </a:rPr>
              <a:t>requirements work</a:t>
            </a:r>
          </a:p>
        </p:txBody>
      </p:sp>
      <p:sp>
        <p:nvSpPr>
          <p:cNvPr id="63" name="Transformation arrow"/>
          <p:cNvSpPr/>
          <p:nvPr/>
        </p:nvSpPr>
        <p:spPr>
          <a:xfrm>
            <a:off x="3556000" y="2336800"/>
            <a:ext cx="1422400" cy="355600"/>
          </a:xfrm>
          <a:prstGeom prst="rightArrow">
            <a:avLst/>
          </a:prstGeom>
          <a:solidFill>
            <a:srgbClr val="8E6F3E"/>
          </a:solidFill>
          <a:ln>
            <a:noFill/>
          </a:ln>
        </p:spPr>
        <p:txBody>
          <a:bodyPr/>
          <a:lstStyle/>
          <a:p>
            <a:endParaRPr lang="en-US"/>
          </a:p>
        </p:txBody>
      </p:sp>
      <p:sp>
        <p:nvSpPr>
          <p:cNvPr id="64" name="After kicker"/>
          <p:cNvSpPr txBox="1"/>
          <p:nvPr/>
        </p:nvSpPr>
        <p:spPr>
          <a:xfrm>
            <a:off x="5232400" y="1066800"/>
            <a:ext cx="3556000" cy="381000"/>
          </a:xfrm>
          <a:prstGeom prst="rect">
            <a:avLst/>
          </a:prstGeom>
          <a:noFill/>
        </p:spPr>
        <p:txBody>
          <a:bodyPr wrap="square" rtlCol="0" anchor="t">
            <a:noAutofit/>
          </a:bodyPr>
          <a:lstStyle/>
          <a:p>
            <a:pPr algn="l">
              <a:buNone/>
            </a:pPr>
            <a:r>
              <a:rPr lang="en-US" sz="2000" b="1" dirty="0">
                <a:solidFill>
                  <a:srgbClr val="555960"/>
                </a:solidFill>
              </a:rPr>
              <a:t>AFTER</a:t>
            </a:r>
          </a:p>
        </p:txBody>
      </p:sp>
      <p:sp>
        <p:nvSpPr>
          <p:cNvPr id="65" name="After items"/>
          <p:cNvSpPr txBox="1"/>
          <p:nvPr/>
        </p:nvSpPr>
        <p:spPr>
          <a:xfrm>
            <a:off x="5232400" y="1498600"/>
            <a:ext cx="3556000" cy="3048000"/>
          </a:xfrm>
          <a:prstGeom prst="rect">
            <a:avLst/>
          </a:prstGeom>
          <a:noFill/>
        </p:spPr>
        <p:txBody>
          <a:bodyPr wrap="square" rtlCol="0" anchor="t">
            <a:noAutofit/>
          </a:bodyPr>
          <a:lstStyle/>
          <a:p>
            <a:pPr marL="228600" indent="-228600" algn="l">
              <a:buFont typeface="Arial"/>
              <a:buChar char="•"/>
            </a:pPr>
            <a:r>
              <a:rPr lang="en-US" sz="2000" dirty="0"/>
              <a:t>Components, dependencies</a:t>
            </a:r>
          </a:p>
          <a:p>
            <a:pPr marL="228600" indent="-228600" algn="l">
              <a:buFont typeface="Arial"/>
              <a:buChar char="•"/>
            </a:pPr>
            <a:r>
              <a:rPr lang="en-US" sz="2000" dirty="0"/>
              <a:t>Roadmap and sequencing</a:t>
            </a:r>
          </a:p>
          <a:p>
            <a:pPr marL="228600" indent="-228600" algn="l">
              <a:buFont typeface="Arial"/>
              <a:buChar char="•"/>
            </a:pPr>
            <a:r>
              <a:rPr lang="en-US" sz="2000" dirty="0"/>
              <a:t>Training and change plan</a:t>
            </a:r>
          </a:p>
          <a:p>
            <a:pPr marL="228600" indent="-228600" algn="l">
              <a:buFont typeface="Arial"/>
              <a:buChar char="•"/>
            </a:pPr>
            <a:r>
              <a:rPr lang="en-US" sz="2000" dirty="0"/>
              <a:t>Stakeholder alignment</a:t>
            </a:r>
          </a:p>
          <a:p>
            <a:pPr marL="228600" indent="-228600" algn="l">
              <a:buFont typeface="Arial"/>
              <a:buChar char="•"/>
            </a:pPr>
            <a:r>
              <a:rPr lang="en-US" sz="2000" dirty="0"/>
              <a:t>A credible proposal</a:t>
            </a:r>
          </a:p>
        </p:txBody>
      </p:sp>
      <p:sp>
        <p:nvSpPr>
          <p:cNvPr id="66" name="Claim"/>
          <p:cNvSpPr txBox="1"/>
          <p:nvPr/>
        </p:nvSpPr>
        <p:spPr>
          <a:xfrm>
            <a:off x="279400" y="4826000"/>
            <a:ext cx="8382000" cy="1143000"/>
          </a:xfrm>
          <a:prstGeom prst="rect">
            <a:avLst/>
          </a:prstGeom>
          <a:noFill/>
        </p:spPr>
        <p:txBody>
          <a:bodyPr wrap="square" rtlCol="0" anchor="t">
            <a:noAutofit/>
          </a:bodyPr>
          <a:lstStyle/>
          <a:p>
            <a:pPr algn="l">
              <a:buNone/>
            </a:pPr>
            <a:r>
              <a:rPr lang="en-US" sz="2800" b="1" dirty="0"/>
              <a:t>Better knowledge of the problem enables better engineering and economic decisions.</a:t>
            </a:r>
          </a:p>
        </p:txBody>
      </p:sp>
    </p:spTree>
    <p:extLst>
      <p:ext uri="{BB962C8B-B14F-4D97-AF65-F5344CB8AC3E}">
        <p14:creationId xmlns:p14="http://schemas.microsoft.com/office/powerpoint/2010/main" val="27869004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7B61B-82BB-F98C-25F6-00670679D5D7}"/>
              </a:ext>
            </a:extLst>
          </p:cNvPr>
          <p:cNvSpPr>
            <a:spLocks noGrp="1"/>
          </p:cNvSpPr>
          <p:nvPr>
            <p:ph type="title"/>
          </p:nvPr>
        </p:nvSpPr>
        <p:spPr>
          <a:xfrm>
            <a:off x="685800" y="1676400"/>
            <a:ext cx="7772400" cy="2362200"/>
          </a:xfrm>
        </p:spPr>
        <p:txBody>
          <a:bodyPr/>
          <a:lstStyle/>
          <a:p>
            <a:r>
              <a:rPr lang="en-US" sz="8000" dirty="0">
                <a:solidFill>
                  <a:srgbClr val="8E6F3E"/>
                </a:solidFill>
              </a:rPr>
              <a:t>3</a:t>
            </a:r>
            <a:br>
              <a:rPr lang="en-US" dirty="0"/>
            </a:br>
            <a:r>
              <a:rPr lang="en-US" dirty="0"/>
              <a:t>Commitment</a:t>
            </a:r>
          </a:p>
        </p:txBody>
      </p:sp>
      <p:sp>
        <p:nvSpPr>
          <p:cNvPr id="3" name="Slide Number Placeholder 2">
            <a:extLst>
              <a:ext uri="{FF2B5EF4-FFF2-40B4-BE49-F238E27FC236}">
                <a16:creationId xmlns:a16="http://schemas.microsoft.com/office/drawing/2014/main" id="{2E300253-3B0D-0413-B305-33393E5E6EA9}"/>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40" name="Section question"/>
          <p:cNvSpPr txBox="1"/>
          <p:nvPr/>
        </p:nvSpPr>
        <p:spPr>
          <a:xfrm>
            <a:off x="397144" y="4282698"/>
            <a:ext cx="8349712" cy="461665"/>
          </a:xfrm>
          <a:prstGeom prst="rect">
            <a:avLst/>
          </a:prstGeom>
          <a:noFill/>
        </p:spPr>
        <p:txBody>
          <a:bodyPr vertOverflow="overflow" wrap="square" rtlCol="0" anchor="t">
            <a:spAutoFit/>
          </a:bodyPr>
          <a:lstStyle/>
          <a:p>
            <a:pPr algn="ctr">
              <a:buNone/>
            </a:pPr>
            <a:r>
              <a:rPr lang="en-US" sz="2400" i="1" dirty="0"/>
              <a:t>What are we willing to promise?</a:t>
            </a:r>
          </a:p>
        </p:txBody>
      </p:sp>
    </p:spTree>
    <p:extLst>
      <p:ext uri="{BB962C8B-B14F-4D97-AF65-F5344CB8AC3E}">
        <p14:creationId xmlns:p14="http://schemas.microsoft.com/office/powerpoint/2010/main" val="17376988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78295F7-86F5-D8B0-5EEA-4DEC43D6551F}"/>
              </a:ext>
            </a:extLst>
          </p:cNvPr>
          <p:cNvSpPr>
            <a:spLocks noGrp="1"/>
          </p:cNvSpPr>
          <p:nvPr>
            <p:ph type="title"/>
          </p:nvPr>
        </p:nvSpPr>
        <p:spPr/>
        <p:txBody>
          <a:bodyPr>
            <a:normAutofit fontScale="90000"/>
          </a:bodyPr>
          <a:lstStyle/>
          <a:p>
            <a:r>
              <a:rPr lang="en-US" dirty="0"/>
              <a:t>Requirements consume scarce resources</a:t>
            </a:r>
          </a:p>
        </p:txBody>
      </p:sp>
      <p:sp>
        <p:nvSpPr>
          <p:cNvPr id="4" name="Slide Number Placeholder 3">
            <a:extLst>
              <a:ext uri="{FF2B5EF4-FFF2-40B4-BE49-F238E27FC236}">
                <a16:creationId xmlns:a16="http://schemas.microsoft.com/office/drawing/2014/main" id="{1DCF9641-6B41-9B87-C847-EF4405603BB1}"/>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60" name="Capacity kicker"/>
          <p:cNvSpPr txBox="1"/>
          <p:nvPr/>
        </p:nvSpPr>
        <p:spPr>
          <a:xfrm>
            <a:off x="279400" y="965200"/>
            <a:ext cx="4191000" cy="381000"/>
          </a:xfrm>
          <a:prstGeom prst="rect">
            <a:avLst/>
          </a:prstGeom>
          <a:noFill/>
        </p:spPr>
        <p:txBody>
          <a:bodyPr wrap="square" rtlCol="0" anchor="t">
            <a:noAutofit/>
          </a:bodyPr>
          <a:lstStyle/>
          <a:p>
            <a:pPr algn="l">
              <a:buNone/>
            </a:pPr>
            <a:r>
              <a:rPr lang="en-US" sz="2000" b="1" dirty="0">
                <a:solidFill>
                  <a:srgbClr val="555960"/>
                </a:solidFill>
              </a:rPr>
              <a:t>ONE TEAM, ONE SEMESTER</a:t>
            </a:r>
          </a:p>
        </p:txBody>
      </p:sp>
      <p:sp>
        <p:nvSpPr>
          <p:cNvPr id="61" name="Capacity frame"/>
          <p:cNvSpPr/>
          <p:nvPr/>
        </p:nvSpPr>
        <p:spPr>
          <a:xfrm>
            <a:off x="279400" y="1422400"/>
            <a:ext cx="3937000" cy="660400"/>
          </a:xfrm>
          <a:prstGeom prst="rect">
            <a:avLst/>
          </a:prstGeom>
          <a:noFill/>
          <a:ln w="28575">
            <a:solidFill>
              <a:srgbClr val="555960"/>
            </a:solidFill>
          </a:ln>
        </p:spPr>
        <p:txBody>
          <a:bodyPr lIns="36000" rIns="36000" anchor="ctr">
            <a:normAutofit/>
          </a:bodyPr>
          <a:lstStyle/>
          <a:p>
            <a:endParaRPr lang="en-US"/>
          </a:p>
        </p:txBody>
      </p:sp>
      <p:sp>
        <p:nvSpPr>
          <p:cNvPr id="62" name="Filled A"/>
          <p:cNvSpPr/>
          <p:nvPr/>
        </p:nvSpPr>
        <p:spPr>
          <a:xfrm>
            <a:off x="330200" y="1473200"/>
            <a:ext cx="1905000" cy="558800"/>
          </a:xfrm>
          <a:prstGeom prst="rect">
            <a:avLst/>
          </a:prstGeom>
          <a:solidFill>
            <a:srgbClr val="8E6F3E"/>
          </a:solidFill>
          <a:ln>
            <a:noFill/>
          </a:ln>
        </p:spPr>
        <p:txBody>
          <a:bodyPr lIns="36000" rIns="36000" anchor="ctr">
            <a:normAutofit/>
          </a:bodyPr>
          <a:lstStyle/>
          <a:p>
            <a:pPr algn="ctr">
              <a:buNone/>
            </a:pPr>
            <a:r>
              <a:rPr lang="en-US" sz="2000" b="1" dirty="0">
                <a:solidFill>
                  <a:srgbClr val="FFFFFF"/>
                </a:solidFill>
              </a:rPr>
              <a:t>A</a:t>
            </a:r>
          </a:p>
        </p:txBody>
      </p:sp>
      <p:sp>
        <p:nvSpPr>
          <p:cNvPr id="63" name="Filled B"/>
          <p:cNvSpPr/>
          <p:nvPr/>
        </p:nvSpPr>
        <p:spPr>
          <a:xfrm>
            <a:off x="2286000" y="1473200"/>
            <a:ext cx="1879600" cy="558800"/>
          </a:xfrm>
          <a:prstGeom prst="rect">
            <a:avLst/>
          </a:prstGeom>
          <a:solidFill>
            <a:srgbClr val="8E6F3E"/>
          </a:solidFill>
          <a:ln>
            <a:noFill/>
          </a:ln>
        </p:spPr>
        <p:txBody>
          <a:bodyPr lIns="36000" rIns="36000" anchor="ctr">
            <a:normAutofit/>
          </a:bodyPr>
          <a:lstStyle/>
          <a:p>
            <a:pPr algn="ctr">
              <a:buNone/>
            </a:pPr>
            <a:r>
              <a:rPr lang="en-US" sz="2000" b="1" dirty="0">
                <a:solidFill>
                  <a:srgbClr val="FFFFFF"/>
                </a:solidFill>
              </a:rPr>
              <a:t>B</a:t>
            </a:r>
          </a:p>
        </p:txBody>
      </p:sp>
      <p:sp>
        <p:nvSpPr>
          <p:cNvPr id="64" name="Does not fit"/>
          <p:cNvSpPr txBox="1"/>
          <p:nvPr/>
        </p:nvSpPr>
        <p:spPr>
          <a:xfrm>
            <a:off x="279400" y="2235200"/>
            <a:ext cx="4191000" cy="508000"/>
          </a:xfrm>
          <a:prstGeom prst="rect">
            <a:avLst/>
          </a:prstGeom>
          <a:noFill/>
        </p:spPr>
        <p:txBody>
          <a:bodyPr wrap="square" rtlCol="0" anchor="t">
            <a:noAutofit/>
          </a:bodyPr>
          <a:lstStyle/>
          <a:p>
            <a:pPr algn="l">
              <a:buNone/>
            </a:pPr>
            <a:r>
              <a:rPr lang="en-US" sz="2400" b="1" dirty="0">
                <a:solidFill>
                  <a:srgbClr val="8E6F3E"/>
                </a:solidFill>
              </a:rPr>
              <a:t>C and D do not fit.</a:t>
            </a:r>
          </a:p>
        </p:txBody>
      </p:sp>
      <p:sp>
        <p:nvSpPr>
          <p:cNvPr id="65" name="Opportunity cost"/>
          <p:cNvSpPr txBox="1"/>
          <p:nvPr/>
        </p:nvSpPr>
        <p:spPr>
          <a:xfrm>
            <a:off x="279400" y="2794000"/>
            <a:ext cx="4191000" cy="889000"/>
          </a:xfrm>
          <a:prstGeom prst="rect">
            <a:avLst/>
          </a:prstGeom>
          <a:noFill/>
        </p:spPr>
        <p:txBody>
          <a:bodyPr wrap="square" rtlCol="0" anchor="t">
            <a:noAutofit/>
          </a:bodyPr>
          <a:lstStyle/>
          <a:p>
            <a:pPr algn="l">
              <a:buNone/>
            </a:pPr>
            <a:r>
              <a:rPr lang="en-US" sz="2000" i="1" dirty="0">
                <a:solidFill>
                  <a:srgbClr val="555960"/>
                </a:solidFill>
              </a:rPr>
              <a:t>Opportunity cost: the value of what we do not build.</a:t>
            </a:r>
          </a:p>
        </p:txBody>
      </p:sp>
      <p:sp>
        <p:nvSpPr>
          <p:cNvPr id="66" name="Claim"/>
          <p:cNvSpPr txBox="1"/>
          <p:nvPr/>
        </p:nvSpPr>
        <p:spPr>
          <a:xfrm>
            <a:off x="279400" y="3759200"/>
            <a:ext cx="4191000" cy="1397000"/>
          </a:xfrm>
          <a:prstGeom prst="rect">
            <a:avLst/>
          </a:prstGeom>
          <a:noFill/>
        </p:spPr>
        <p:txBody>
          <a:bodyPr wrap="square" rtlCol="0" anchor="t">
            <a:noAutofit/>
          </a:bodyPr>
          <a:lstStyle/>
          <a:p>
            <a:pPr algn="l">
              <a:buNone/>
            </a:pPr>
            <a:r>
              <a:rPr lang="en-US" sz="2400" b="1" dirty="0"/>
              <a:t>Choosing A and B means giving up C and D.</a:t>
            </a:r>
          </a:p>
        </p:txBody>
      </p:sp>
      <p:sp>
        <p:nvSpPr>
          <p:cNvPr id="67" name="Options header"/>
          <p:cNvSpPr txBox="1"/>
          <p:nvPr/>
        </p:nvSpPr>
        <p:spPr>
          <a:xfrm>
            <a:off x="4724400" y="965200"/>
            <a:ext cx="4140200" cy="431800"/>
          </a:xfrm>
          <a:prstGeom prst="rect">
            <a:avLst/>
          </a:prstGeom>
          <a:noFill/>
        </p:spPr>
        <p:txBody>
          <a:bodyPr wrap="square" rtlCol="0" anchor="t">
            <a:noAutofit/>
          </a:bodyPr>
          <a:lstStyle/>
          <a:p>
            <a:pPr algn="l">
              <a:buNone/>
            </a:pPr>
            <a:r>
              <a:rPr lang="en-US" sz="2000" b="1" dirty="0">
                <a:solidFill>
                  <a:srgbClr val="8E6F3E"/>
                </a:solidFill>
              </a:rPr>
              <a:t>You can afford two:</a:t>
            </a:r>
          </a:p>
        </p:txBody>
      </p:sp>
      <p:sp>
        <p:nvSpPr>
          <p:cNvPr id="70" name="Option 1"/>
          <p:cNvSpPr txBox="1"/>
          <p:nvPr/>
        </p:nvSpPr>
        <p:spPr>
          <a:xfrm>
            <a:off x="4724400" y="1422400"/>
            <a:ext cx="4140200" cy="457200"/>
          </a:xfrm>
          <a:prstGeom prst="rect">
            <a:avLst/>
          </a:prstGeom>
          <a:noFill/>
        </p:spPr>
        <p:txBody>
          <a:bodyPr wrap="square" rtlCol="0" anchor="t">
            <a:noAutofit/>
          </a:bodyPr>
          <a:lstStyle/>
          <a:p>
            <a:pPr algn="l">
              <a:buNone/>
            </a:pPr>
            <a:r>
              <a:rPr lang="en-US" sz="2000" dirty="0"/>
              <a:t>A  Accessibility remediation</a:t>
            </a:r>
          </a:p>
        </p:txBody>
      </p:sp>
      <p:sp>
        <p:nvSpPr>
          <p:cNvPr id="71" name="Option 2"/>
          <p:cNvSpPr txBox="1"/>
          <p:nvPr/>
        </p:nvSpPr>
        <p:spPr>
          <a:xfrm>
            <a:off x="4724400" y="1930400"/>
            <a:ext cx="4140200" cy="457200"/>
          </a:xfrm>
          <a:prstGeom prst="rect">
            <a:avLst/>
          </a:prstGeom>
          <a:noFill/>
        </p:spPr>
        <p:txBody>
          <a:bodyPr wrap="square" rtlCol="0" anchor="t">
            <a:noAutofit/>
          </a:bodyPr>
          <a:lstStyle/>
          <a:p>
            <a:pPr algn="l">
              <a:buNone/>
            </a:pPr>
            <a:r>
              <a:rPr lang="en-US" sz="2000" dirty="0"/>
              <a:t>B  New collaboration feature</a:t>
            </a:r>
          </a:p>
        </p:txBody>
      </p:sp>
      <p:sp>
        <p:nvSpPr>
          <p:cNvPr id="72" name="Option 3"/>
          <p:cNvSpPr txBox="1"/>
          <p:nvPr/>
        </p:nvSpPr>
        <p:spPr>
          <a:xfrm>
            <a:off x="4724400" y="2438400"/>
            <a:ext cx="4140200" cy="457200"/>
          </a:xfrm>
          <a:prstGeom prst="rect">
            <a:avLst/>
          </a:prstGeom>
          <a:noFill/>
        </p:spPr>
        <p:txBody>
          <a:bodyPr wrap="square" rtlCol="0" anchor="t">
            <a:noAutofit/>
          </a:bodyPr>
          <a:lstStyle/>
          <a:p>
            <a:pPr algn="l">
              <a:buNone/>
            </a:pPr>
            <a:r>
              <a:rPr lang="en-US" sz="2000" dirty="0"/>
              <a:t>C  Two-times performance</a:t>
            </a:r>
          </a:p>
        </p:txBody>
      </p:sp>
      <p:sp>
        <p:nvSpPr>
          <p:cNvPr id="73" name="Option 4"/>
          <p:cNvSpPr txBox="1"/>
          <p:nvPr/>
        </p:nvSpPr>
        <p:spPr>
          <a:xfrm>
            <a:off x="4724400" y="2946400"/>
            <a:ext cx="4140200" cy="457200"/>
          </a:xfrm>
          <a:prstGeom prst="rect">
            <a:avLst/>
          </a:prstGeom>
          <a:noFill/>
        </p:spPr>
        <p:txBody>
          <a:bodyPr wrap="square" rtlCol="0" anchor="t">
            <a:noAutofit/>
          </a:bodyPr>
          <a:lstStyle/>
          <a:p>
            <a:pPr algn="l">
              <a:buNone/>
            </a:pPr>
            <a:r>
              <a:rPr lang="en-US" sz="2000" dirty="0"/>
              <a:t>D  Enterprise SSO and audit</a:t>
            </a:r>
          </a:p>
        </p:txBody>
      </p:sp>
      <p:sp>
        <p:nvSpPr>
          <p:cNvPr id="80" name="Prompt one"/>
          <p:cNvSpPr txBox="1"/>
          <p:nvPr/>
        </p:nvSpPr>
        <p:spPr>
          <a:xfrm>
            <a:off x="4724400" y="3606800"/>
            <a:ext cx="4140200" cy="558800"/>
          </a:xfrm>
          <a:prstGeom prst="rect">
            <a:avLst/>
          </a:prstGeom>
          <a:noFill/>
        </p:spPr>
        <p:txBody>
          <a:bodyPr wrap="square" rtlCol="0" anchor="t">
            <a:noAutofit/>
          </a:bodyPr>
          <a:lstStyle/>
          <a:p>
            <a:pPr algn="l">
              <a:buNone/>
            </a:pPr>
            <a:r>
              <a:rPr lang="en-US" sz="2400" b="1" dirty="0"/>
              <a:t>Which two do you require?</a:t>
            </a:r>
          </a:p>
        </p:txBody>
      </p:sp>
      <p:sp>
        <p:nvSpPr>
          <p:cNvPr id="81" name="Prompt two"/>
          <p:cNvSpPr txBox="1"/>
          <p:nvPr/>
        </p:nvSpPr>
        <p:spPr>
          <a:xfrm>
            <a:off x="4724400" y="4216400"/>
            <a:ext cx="4140200" cy="1270000"/>
          </a:xfrm>
          <a:prstGeom prst="rect">
            <a:avLst/>
          </a:prstGeom>
          <a:noFill/>
        </p:spPr>
        <p:txBody>
          <a:bodyPr wrap="square" rtlCol="0" anchor="t">
            <a:noAutofit/>
          </a:bodyPr>
          <a:lstStyle/>
          <a:p>
            <a:pPr algn="l">
              <a:buNone/>
            </a:pPr>
            <a:r>
              <a:rPr lang="en-US" sz="2400" b="1" dirty="0">
                <a:solidFill>
                  <a:srgbClr val="8E6F3E"/>
                </a:solidFill>
              </a:rPr>
              <a:t>What information would change your answer?</a:t>
            </a:r>
          </a:p>
        </p:txBody>
      </p:sp>
      <p:pic>
        <p:nvPicPr>
          <p:cNvPr id="2" name="Picture 1">
            <a:extLst>
              <a:ext uri="{FF2B5EF4-FFF2-40B4-BE49-F238E27FC236}">
                <a16:creationId xmlns:a16="http://schemas.microsoft.com/office/drawing/2014/main" id="{CFF12DD5-23E8-260A-73FF-08362B6731A2}"/>
              </a:ext>
            </a:extLst>
          </p:cNvPr>
          <p:cNvPicPr>
            <a:picLocks noChangeAspect="1"/>
          </p:cNvPicPr>
          <p:nvPr/>
        </p:nvPicPr>
        <p:blipFill>
          <a:blip r:embed="rId3"/>
          <a:stretch>
            <a:fillRect/>
          </a:stretch>
        </p:blipFill>
        <p:spPr>
          <a:xfrm>
            <a:off x="279400" y="5384800"/>
            <a:ext cx="3200400" cy="918375"/>
          </a:xfrm>
          <a:prstGeom prst="rect">
            <a:avLst/>
          </a:prstGeom>
        </p:spPr>
      </p:pic>
    </p:spTree>
    <p:extLst>
      <p:ext uri="{BB962C8B-B14F-4D97-AF65-F5344CB8AC3E}">
        <p14:creationId xmlns:p14="http://schemas.microsoft.com/office/powerpoint/2010/main" val="14728531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0677797-635A-3B7B-B339-2146BB67EA3B}"/>
              </a:ext>
            </a:extLst>
          </p:cNvPr>
          <p:cNvSpPr>
            <a:spLocks noGrp="1"/>
          </p:cNvSpPr>
          <p:nvPr>
            <p:ph type="title"/>
          </p:nvPr>
        </p:nvSpPr>
        <p:spPr/>
        <p:txBody>
          <a:bodyPr>
            <a:normAutofit fontScale="90000"/>
          </a:bodyPr>
          <a:lstStyle/>
          <a:p>
            <a:r>
              <a:rPr lang="en-US" dirty="0"/>
              <a:t>Cheap implementation does not make features free</a:t>
            </a:r>
          </a:p>
        </p:txBody>
      </p:sp>
      <p:sp>
        <p:nvSpPr>
          <p:cNvPr id="4" name="Slide Number Placeholder 3">
            <a:extLst>
              <a:ext uri="{FF2B5EF4-FFF2-40B4-BE49-F238E27FC236}">
                <a16:creationId xmlns:a16="http://schemas.microsoft.com/office/drawing/2014/main" id="{997DBE87-BD54-7B15-28B7-EC929F5AA44C}"/>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60" name="MAGE Moment badge"/>
          <p:cNvSpPr txBox="1"/>
          <p:nvPr/>
        </p:nvSpPr>
        <p:spPr>
          <a:xfrm>
            <a:off x="279400" y="800100"/>
            <a:ext cx="5080000" cy="8382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61" name="Proposition"/>
          <p:cNvSpPr txBox="1"/>
          <p:nvPr/>
        </p:nvSpPr>
        <p:spPr>
          <a:xfrm>
            <a:off x="279400" y="1651000"/>
            <a:ext cx="8382000" cy="635000"/>
          </a:xfrm>
          <a:prstGeom prst="rect">
            <a:avLst/>
          </a:prstGeom>
          <a:noFill/>
        </p:spPr>
        <p:txBody>
          <a:bodyPr wrap="square" rtlCol="0" anchor="t">
            <a:noAutofit/>
          </a:bodyPr>
          <a:lstStyle/>
          <a:p>
            <a:pPr algn="l">
              <a:buNone/>
            </a:pPr>
            <a:r>
              <a:rPr lang="en-US" sz="3200" b="1" dirty="0"/>
              <a:t>“It’s only one more feature.”</a:t>
            </a:r>
          </a:p>
        </p:txBody>
      </p:sp>
      <p:sp>
        <p:nvSpPr>
          <p:cNvPr id="62" name="Hook"/>
          <p:cNvSpPr txBox="1"/>
          <p:nvPr/>
        </p:nvSpPr>
        <p:spPr>
          <a:xfrm>
            <a:off x="279400" y="2336800"/>
            <a:ext cx="8382000" cy="558800"/>
          </a:xfrm>
          <a:prstGeom prst="rect">
            <a:avLst/>
          </a:prstGeom>
          <a:noFill/>
        </p:spPr>
        <p:txBody>
          <a:bodyPr wrap="square" rtlCol="0" anchor="t">
            <a:noAutofit/>
          </a:bodyPr>
          <a:lstStyle/>
          <a:p>
            <a:pPr algn="l">
              <a:buNone/>
            </a:pPr>
            <a:r>
              <a:rPr lang="en-US" sz="2400" i="1" dirty="0">
                <a:solidFill>
                  <a:srgbClr val="555960"/>
                </a:solidFill>
              </a:rPr>
              <a:t>“Codex writes it in five minutes. Why does it cost us?”</a:t>
            </a:r>
          </a:p>
        </p:txBody>
      </p:sp>
      <p:sp>
        <p:nvSpPr>
          <p:cNvPr id="63" name="Cheaper panel"/>
          <p:cNvSpPr/>
          <p:nvPr/>
        </p:nvSpPr>
        <p:spPr>
          <a:xfrm>
            <a:off x="279400" y="2946400"/>
            <a:ext cx="2743200" cy="1600200"/>
          </a:xfrm>
          <a:prstGeom prst="roundRect">
            <a:avLst/>
          </a:prstGeom>
          <a:solidFill>
            <a:srgbClr val="F2EFE9"/>
          </a:solidFill>
          <a:ln>
            <a:noFill/>
          </a:ln>
        </p:spPr>
        <p:txBody>
          <a:bodyPr/>
          <a:lstStyle/>
          <a:p>
            <a:endParaRPr lang="en-US"/>
          </a:p>
        </p:txBody>
      </p:sp>
      <p:sp>
        <p:nvSpPr>
          <p:cNvPr id="64" name="Cheaper label"/>
          <p:cNvSpPr txBox="1"/>
          <p:nvPr/>
        </p:nvSpPr>
        <p:spPr>
          <a:xfrm>
            <a:off x="482600" y="3073400"/>
            <a:ext cx="2336800" cy="457200"/>
          </a:xfrm>
          <a:prstGeom prst="rect">
            <a:avLst/>
          </a:prstGeom>
          <a:noFill/>
        </p:spPr>
        <p:txBody>
          <a:bodyPr wrap="square" rtlCol="0" anchor="t">
            <a:noAutofit/>
          </a:bodyPr>
          <a:lstStyle/>
          <a:p>
            <a:pPr algn="l">
              <a:buNone/>
            </a:pPr>
            <a:r>
              <a:rPr lang="en-US" sz="2400" b="1" dirty="0">
                <a:solidFill>
                  <a:srgbClr val="8E6F3E"/>
                </a:solidFill>
              </a:rPr>
              <a:t>Cheaper ↓</a:t>
            </a:r>
          </a:p>
        </p:txBody>
      </p:sp>
      <p:sp>
        <p:nvSpPr>
          <p:cNvPr id="65" name="Cheaper item"/>
          <p:cNvSpPr txBox="1"/>
          <p:nvPr/>
        </p:nvSpPr>
        <p:spPr>
          <a:xfrm>
            <a:off x="482600" y="3606800"/>
            <a:ext cx="2336800" cy="838200"/>
          </a:xfrm>
          <a:prstGeom prst="rect">
            <a:avLst/>
          </a:prstGeom>
          <a:noFill/>
        </p:spPr>
        <p:txBody>
          <a:bodyPr wrap="square" rtlCol="0" anchor="t">
            <a:noAutofit/>
          </a:bodyPr>
          <a:lstStyle/>
          <a:p>
            <a:pPr algn="l">
              <a:buNone/>
            </a:pPr>
            <a:r>
              <a:rPr lang="en-US" sz="2400" b="1" dirty="0"/>
              <a:t>Implementation</a:t>
            </a:r>
          </a:p>
        </p:txBody>
      </p:sp>
      <p:sp>
        <p:nvSpPr>
          <p:cNvPr id="66" name="Still costs panel"/>
          <p:cNvSpPr/>
          <p:nvPr/>
        </p:nvSpPr>
        <p:spPr>
          <a:xfrm>
            <a:off x="3225800" y="2946400"/>
            <a:ext cx="5638800" cy="1600200"/>
          </a:xfrm>
          <a:prstGeom prst="roundRect">
            <a:avLst/>
          </a:prstGeom>
          <a:solidFill>
            <a:srgbClr val="F2EFE9"/>
          </a:solidFill>
          <a:ln>
            <a:noFill/>
          </a:ln>
        </p:spPr>
        <p:txBody>
          <a:bodyPr/>
          <a:lstStyle/>
          <a:p>
            <a:endParaRPr lang="en-US"/>
          </a:p>
        </p:txBody>
      </p:sp>
      <p:sp>
        <p:nvSpPr>
          <p:cNvPr id="67" name="Still costs label"/>
          <p:cNvSpPr txBox="1"/>
          <p:nvPr/>
        </p:nvSpPr>
        <p:spPr>
          <a:xfrm>
            <a:off x="3454400" y="3073400"/>
            <a:ext cx="5181600" cy="457200"/>
          </a:xfrm>
          <a:prstGeom prst="rect">
            <a:avLst/>
          </a:prstGeom>
          <a:noFill/>
        </p:spPr>
        <p:txBody>
          <a:bodyPr wrap="square" rtlCol="0" anchor="t">
            <a:noAutofit/>
          </a:bodyPr>
          <a:lstStyle/>
          <a:p>
            <a:pPr algn="l">
              <a:buNone/>
            </a:pPr>
            <a:r>
              <a:rPr lang="en-US" sz="2400" b="1" dirty="0">
                <a:solidFill>
                  <a:srgbClr val="8E6F3E"/>
                </a:solidFill>
              </a:rPr>
              <a:t>Still costs</a:t>
            </a:r>
          </a:p>
        </p:txBody>
      </p:sp>
      <p:sp>
        <p:nvSpPr>
          <p:cNvPr id="68" name="Still costs items"/>
          <p:cNvSpPr txBox="1"/>
          <p:nvPr/>
        </p:nvSpPr>
        <p:spPr>
          <a:xfrm>
            <a:off x="3454400" y="3606800"/>
            <a:ext cx="5181600" cy="838200"/>
          </a:xfrm>
          <a:prstGeom prst="rect">
            <a:avLst/>
          </a:prstGeom>
          <a:noFill/>
        </p:spPr>
        <p:txBody>
          <a:bodyPr wrap="square" rtlCol="0" anchor="t">
            <a:noAutofit/>
          </a:bodyPr>
          <a:lstStyle/>
          <a:p>
            <a:pPr algn="l">
              <a:buNone/>
            </a:pPr>
            <a:r>
              <a:rPr lang="en-US" sz="2000" dirty="0"/>
              <a:t>Requirements · design · integration · validation</a:t>
            </a:r>
          </a:p>
          <a:p>
            <a:pPr algn="l">
              <a:buNone/>
            </a:pPr>
            <a:r>
              <a:rPr lang="en-US" sz="2000" dirty="0"/>
              <a:t>Security · operations · maintenance · change</a:t>
            </a:r>
          </a:p>
        </p:txBody>
      </p:sp>
      <p:sp>
        <p:nvSpPr>
          <p:cNvPr id="69" name="Takeaway"/>
          <p:cNvSpPr txBox="1"/>
          <p:nvPr/>
        </p:nvSpPr>
        <p:spPr>
          <a:xfrm>
            <a:off x="279400" y="4953000"/>
            <a:ext cx="8382000" cy="889000"/>
          </a:xfrm>
          <a:prstGeom prst="rect">
            <a:avLst/>
          </a:prstGeom>
          <a:noFill/>
        </p:spPr>
        <p:txBody>
          <a:bodyPr wrap="square" rtlCol="0" anchor="t">
            <a:noAutofit/>
          </a:bodyPr>
          <a:lstStyle/>
          <a:p>
            <a:pPr algn="l">
              <a:buNone/>
            </a:pPr>
            <a:r>
              <a:rPr lang="en-US" sz="2800" b="1" dirty="0"/>
              <a:t>The marginal cost fell. It did not fall to zero.</a:t>
            </a:r>
          </a:p>
        </p:txBody>
      </p:sp>
    </p:spTree>
    <p:extLst>
      <p:ext uri="{BB962C8B-B14F-4D97-AF65-F5344CB8AC3E}">
        <p14:creationId xmlns:p14="http://schemas.microsoft.com/office/powerpoint/2010/main" val="39628516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60383F7-89FA-898B-16A0-199550B2B8EE}"/>
              </a:ext>
            </a:extLst>
          </p:cNvPr>
          <p:cNvSpPr>
            <a:spLocks noGrp="1"/>
          </p:cNvSpPr>
          <p:nvPr>
            <p:ph type="title"/>
          </p:nvPr>
        </p:nvSpPr>
        <p:spPr/>
        <p:txBody>
          <a:bodyPr>
            <a:normAutofit fontScale="90000"/>
          </a:bodyPr>
          <a:lstStyle/>
          <a:p>
            <a:r>
              <a:rPr lang="en-US" dirty="0"/>
              <a:t>Estimating before we know what we are building</a:t>
            </a:r>
          </a:p>
        </p:txBody>
      </p:sp>
      <p:sp>
        <p:nvSpPr>
          <p:cNvPr id="4" name="Slide Number Placeholder 3">
            <a:extLst>
              <a:ext uri="{FF2B5EF4-FFF2-40B4-BE49-F238E27FC236}">
                <a16:creationId xmlns:a16="http://schemas.microsoft.com/office/drawing/2014/main" id="{29EB86A6-6E6E-9E22-307A-C06D599B85DD}"/>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60" name="Tension top"/>
          <p:cNvSpPr/>
          <p:nvPr/>
        </p:nvSpPr>
        <p:spPr>
          <a:xfrm>
            <a:off x="279400" y="939800"/>
            <a:ext cx="4191000" cy="711200"/>
          </a:xfrm>
          <a:prstGeom prst="roundRect">
            <a:avLst/>
          </a:prstGeom>
          <a:solidFill>
            <a:srgbClr val="C9B991"/>
          </a:solidFill>
          <a:ln>
            <a:noFill/>
          </a:ln>
        </p:spPr>
        <p:txBody>
          <a:bodyPr lIns="72000" rIns="72000" anchor="ctr">
            <a:normAutofit/>
          </a:bodyPr>
          <a:lstStyle/>
          <a:p>
            <a:pPr algn="ctr">
              <a:buNone/>
            </a:pPr>
            <a:r>
              <a:rPr lang="en-US" sz="2000" b="1" dirty="0"/>
              <a:t>Need an estimate to choose scope</a:t>
            </a:r>
          </a:p>
        </p:txBody>
      </p:sp>
      <p:sp>
        <p:nvSpPr>
          <p:cNvPr id="61" name="Tension arrow"/>
          <p:cNvSpPr/>
          <p:nvPr/>
        </p:nvSpPr>
        <p:spPr>
          <a:xfrm>
            <a:off x="2197100" y="1727200"/>
            <a:ext cx="355600" cy="558800"/>
          </a:xfrm>
          <a:prstGeom prst="upDownArrow">
            <a:avLst/>
          </a:prstGeom>
          <a:solidFill>
            <a:srgbClr val="8E6F3E"/>
          </a:solidFill>
          <a:ln>
            <a:noFill/>
          </a:ln>
        </p:spPr>
        <p:txBody>
          <a:bodyPr lIns="72000" rIns="72000" anchor="ctr">
            <a:normAutofit/>
          </a:bodyPr>
          <a:lstStyle/>
          <a:p>
            <a:endParaRPr lang="en-US"/>
          </a:p>
        </p:txBody>
      </p:sp>
      <p:sp>
        <p:nvSpPr>
          <p:cNvPr id="62" name="Tension bottom"/>
          <p:cNvSpPr/>
          <p:nvPr/>
        </p:nvSpPr>
        <p:spPr>
          <a:xfrm>
            <a:off x="279400" y="2362200"/>
            <a:ext cx="4191000" cy="711200"/>
          </a:xfrm>
          <a:prstGeom prst="roundRect">
            <a:avLst/>
          </a:prstGeom>
          <a:solidFill>
            <a:srgbClr val="C9B991"/>
          </a:solidFill>
          <a:ln>
            <a:noFill/>
          </a:ln>
        </p:spPr>
        <p:txBody>
          <a:bodyPr lIns="72000" rIns="72000" anchor="ctr">
            <a:normAutofit/>
          </a:bodyPr>
          <a:lstStyle/>
          <a:p>
            <a:pPr algn="ctr">
              <a:buNone/>
            </a:pPr>
            <a:r>
              <a:rPr lang="en-US" sz="2000" b="1" dirty="0"/>
              <a:t>Need scope and detail to estimate</a:t>
            </a:r>
          </a:p>
        </p:txBody>
      </p:sp>
      <p:sp>
        <p:nvSpPr>
          <p:cNvPr id="63" name="Distinctions"/>
          <p:cNvSpPr txBox="1"/>
          <p:nvPr/>
        </p:nvSpPr>
        <p:spPr>
          <a:xfrm>
            <a:off x="279400" y="3124200"/>
            <a:ext cx="4191000" cy="838200"/>
          </a:xfrm>
          <a:prstGeom prst="rect">
            <a:avLst/>
          </a:prstGeom>
          <a:noFill/>
        </p:spPr>
        <p:txBody>
          <a:bodyPr wrap="square" rtlCol="0" anchor="t">
            <a:noAutofit/>
          </a:bodyPr>
          <a:lstStyle/>
          <a:p>
            <a:pPr algn="l">
              <a:buNone/>
            </a:pPr>
            <a:r>
              <a:rPr lang="en-US" sz="2400" b="1" dirty="0"/>
              <a:t>Estimate ≠ budget</a:t>
            </a:r>
          </a:p>
          <a:p>
            <a:pPr algn="l">
              <a:buNone/>
            </a:pPr>
            <a:r>
              <a:rPr lang="en-US" sz="2400" b="1" dirty="0"/>
              <a:t>≠ target ≠ commitment</a:t>
            </a:r>
          </a:p>
        </p:txBody>
      </p:sp>
      <p:sp>
        <p:nvSpPr>
          <p:cNvPr id="64" name="Loop label"/>
          <p:cNvSpPr txBox="1"/>
          <p:nvPr/>
        </p:nvSpPr>
        <p:spPr>
          <a:xfrm>
            <a:off x="4572000" y="939800"/>
            <a:ext cx="4292600" cy="431800"/>
          </a:xfrm>
          <a:prstGeom prst="rect">
            <a:avLst/>
          </a:prstGeom>
          <a:noFill/>
        </p:spPr>
        <p:txBody>
          <a:bodyPr wrap="square" rtlCol="0" anchor="t">
            <a:noAutofit/>
          </a:bodyPr>
          <a:lstStyle/>
          <a:p>
            <a:pPr algn="l">
              <a:buNone/>
            </a:pPr>
            <a:r>
              <a:rPr lang="en-US" sz="2000" b="1" dirty="0">
                <a:solidFill>
                  <a:srgbClr val="8E6F3E"/>
                </a:solidFill>
              </a:rPr>
              <a:t>So we loop</a:t>
            </a:r>
          </a:p>
        </p:txBody>
      </p:sp>
      <p:sp>
        <p:nvSpPr>
          <p:cNvPr id="70" name="Loop step 1"/>
          <p:cNvSpPr txBox="1"/>
          <p:nvPr/>
        </p:nvSpPr>
        <p:spPr>
          <a:xfrm>
            <a:off x="4572000" y="1397000"/>
            <a:ext cx="4292600" cy="431800"/>
          </a:xfrm>
          <a:prstGeom prst="rect">
            <a:avLst/>
          </a:prstGeom>
          <a:noFill/>
        </p:spPr>
        <p:txBody>
          <a:bodyPr wrap="square" rtlCol="0" anchor="t">
            <a:noAutofit/>
          </a:bodyPr>
          <a:lstStyle/>
          <a:p>
            <a:pPr algn="l">
              <a:buNone/>
            </a:pPr>
            <a:r>
              <a:rPr lang="en-US" sz="2000" dirty="0"/>
              <a:t>Candidate requirements</a:t>
            </a:r>
          </a:p>
        </p:txBody>
      </p:sp>
      <p:sp>
        <p:nvSpPr>
          <p:cNvPr id="71" name="Loop step 2"/>
          <p:cNvSpPr txBox="1"/>
          <p:nvPr/>
        </p:nvSpPr>
        <p:spPr>
          <a:xfrm>
            <a:off x="4572000" y="1879600"/>
            <a:ext cx="4292600" cy="431800"/>
          </a:xfrm>
          <a:prstGeom prst="rect">
            <a:avLst/>
          </a:prstGeom>
          <a:noFill/>
        </p:spPr>
        <p:txBody>
          <a:bodyPr wrap="square" rtlCol="0" anchor="t">
            <a:noAutofit/>
          </a:bodyPr>
          <a:lstStyle/>
          <a:p>
            <a:pPr algn="l">
              <a:buNone/>
            </a:pPr>
            <a:r>
              <a:rPr lang="en-US" sz="2000" b="1" dirty="0">
                <a:solidFill>
                  <a:srgbClr val="8E6F3E"/>
                </a:solidFill>
              </a:rPr>
              <a:t>↓  </a:t>
            </a:r>
            <a:r>
              <a:rPr lang="en-US" sz="2000" dirty="0"/>
              <a:t>Estimate</a:t>
            </a:r>
          </a:p>
        </p:txBody>
      </p:sp>
      <p:sp>
        <p:nvSpPr>
          <p:cNvPr id="72" name="Loop step 3"/>
          <p:cNvSpPr txBox="1"/>
          <p:nvPr/>
        </p:nvSpPr>
        <p:spPr>
          <a:xfrm>
            <a:off x="4572000" y="2362200"/>
            <a:ext cx="4292600" cy="431800"/>
          </a:xfrm>
          <a:prstGeom prst="rect">
            <a:avLst/>
          </a:prstGeom>
          <a:noFill/>
        </p:spPr>
        <p:txBody>
          <a:bodyPr wrap="square" rtlCol="0" anchor="t">
            <a:noAutofit/>
          </a:bodyPr>
          <a:lstStyle/>
          <a:p>
            <a:pPr algn="l">
              <a:buNone/>
            </a:pPr>
            <a:r>
              <a:rPr lang="en-US" sz="2000" b="1" dirty="0">
                <a:solidFill>
                  <a:srgbClr val="8E6F3E"/>
                </a:solidFill>
              </a:rPr>
              <a:t>↓  </a:t>
            </a:r>
            <a:r>
              <a:rPr lang="en-US" sz="2000" dirty="0"/>
              <a:t>Prioritise and scope</a:t>
            </a:r>
          </a:p>
        </p:txBody>
      </p:sp>
      <p:sp>
        <p:nvSpPr>
          <p:cNvPr id="73" name="Loop step 4"/>
          <p:cNvSpPr txBox="1"/>
          <p:nvPr/>
        </p:nvSpPr>
        <p:spPr>
          <a:xfrm>
            <a:off x="4572000" y="2844800"/>
            <a:ext cx="4292600" cy="431800"/>
          </a:xfrm>
          <a:prstGeom prst="rect">
            <a:avLst/>
          </a:prstGeom>
          <a:noFill/>
        </p:spPr>
        <p:txBody>
          <a:bodyPr wrap="square" rtlCol="0" anchor="t">
            <a:noAutofit/>
          </a:bodyPr>
          <a:lstStyle/>
          <a:p>
            <a:pPr algn="l">
              <a:buNone/>
            </a:pPr>
            <a:r>
              <a:rPr lang="en-US" sz="2000" b="1" dirty="0">
                <a:solidFill>
                  <a:srgbClr val="8E6F3E"/>
                </a:solidFill>
              </a:rPr>
              <a:t>↓  </a:t>
            </a:r>
            <a:r>
              <a:rPr lang="en-US" sz="2000" dirty="0"/>
              <a:t>Learn more</a:t>
            </a:r>
          </a:p>
        </p:txBody>
      </p:sp>
      <p:sp>
        <p:nvSpPr>
          <p:cNvPr id="74" name="Loop step 5"/>
          <p:cNvSpPr txBox="1"/>
          <p:nvPr/>
        </p:nvSpPr>
        <p:spPr>
          <a:xfrm>
            <a:off x="4572000" y="3327400"/>
            <a:ext cx="4292600" cy="431800"/>
          </a:xfrm>
          <a:prstGeom prst="rect">
            <a:avLst/>
          </a:prstGeom>
          <a:noFill/>
        </p:spPr>
        <p:txBody>
          <a:bodyPr wrap="square" rtlCol="0" anchor="t">
            <a:noAutofit/>
          </a:bodyPr>
          <a:lstStyle/>
          <a:p>
            <a:pPr algn="l">
              <a:buNone/>
            </a:pPr>
            <a:r>
              <a:rPr lang="en-US" sz="2000" b="1" dirty="0">
                <a:solidFill>
                  <a:srgbClr val="8E6F3E"/>
                </a:solidFill>
              </a:rPr>
              <a:t>↓  </a:t>
            </a:r>
            <a:r>
              <a:rPr lang="en-US" sz="2000" dirty="0"/>
              <a:t>Revised estimate</a:t>
            </a:r>
          </a:p>
        </p:txBody>
      </p:sp>
      <p:sp>
        <p:nvSpPr>
          <p:cNvPr id="80" name="MAGE Moment badge"/>
          <p:cNvSpPr txBox="1"/>
          <p:nvPr/>
        </p:nvSpPr>
        <p:spPr>
          <a:xfrm>
            <a:off x="279400" y="4038600"/>
            <a:ext cx="5080000" cy="8382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81" name="Proposition"/>
          <p:cNvSpPr txBox="1"/>
          <p:nvPr/>
        </p:nvSpPr>
        <p:spPr>
          <a:xfrm>
            <a:off x="279400" y="4953000"/>
            <a:ext cx="8382000" cy="558800"/>
          </a:xfrm>
          <a:prstGeom prst="rect">
            <a:avLst/>
          </a:prstGeom>
          <a:noFill/>
        </p:spPr>
        <p:txBody>
          <a:bodyPr wrap="square" rtlCol="0" anchor="t">
            <a:noAutofit/>
          </a:bodyPr>
          <a:lstStyle/>
          <a:p>
            <a:pPr algn="l">
              <a:buNone/>
            </a:pPr>
            <a:r>
              <a:rPr lang="en-US" sz="2800" b="1" dirty="0"/>
              <a:t>Our historical estimates are breaking.</a:t>
            </a:r>
          </a:p>
        </p:txBody>
      </p:sp>
      <p:sp>
        <p:nvSpPr>
          <p:cNvPr id="82" name="Hook"/>
          <p:cNvSpPr txBox="1"/>
          <p:nvPr/>
        </p:nvSpPr>
        <p:spPr>
          <a:xfrm>
            <a:off x="279400" y="5537200"/>
            <a:ext cx="8382000" cy="558800"/>
          </a:xfrm>
          <a:prstGeom prst="rect">
            <a:avLst/>
          </a:prstGeom>
          <a:noFill/>
        </p:spPr>
        <p:txBody>
          <a:bodyPr wrap="square" rtlCol="0" anchor="t">
            <a:noAutofit/>
          </a:bodyPr>
          <a:lstStyle/>
          <a:p>
            <a:pPr algn="l">
              <a:buNone/>
            </a:pPr>
            <a:r>
              <a:rPr lang="en-US" sz="2400" i="1" dirty="0">
                <a:solidFill>
                  <a:srgbClr val="555960"/>
                </a:solidFill>
              </a:rPr>
              <a:t>Five times faster coding. Five times cheaper project?</a:t>
            </a:r>
          </a:p>
        </p:txBody>
      </p:sp>
      <p:sp>
        <p:nvSpPr>
          <p:cNvPr id="120" name="Footer band divider"/>
          <p:cNvSpPr/>
          <p:nvPr/>
        </p:nvSpPr>
        <p:spPr>
          <a:xfrm>
            <a:off x="279400" y="3962400"/>
            <a:ext cx="8585200" cy="0"/>
          </a:xfrm>
          <a:prstGeom prst="line">
            <a:avLst/>
          </a:prstGeom>
          <a:ln w="19050">
            <a:solidFill>
              <a:srgbClr val="C9B991"/>
            </a:solidFill>
          </a:ln>
        </p:spPr>
        <p:txBody>
          <a:bodyPr/>
          <a:lstStyle/>
          <a:p>
            <a:endParaRPr lang="en-US"/>
          </a:p>
        </p:txBody>
      </p:sp>
    </p:spTree>
    <p:extLst>
      <p:ext uri="{BB962C8B-B14F-4D97-AF65-F5344CB8AC3E}">
        <p14:creationId xmlns:p14="http://schemas.microsoft.com/office/powerpoint/2010/main" val="30529442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74A3CB2-B7A2-ECFA-1AFC-57593D4CCA49}"/>
              </a:ext>
            </a:extLst>
          </p:cNvPr>
          <p:cNvSpPr>
            <a:spLocks noGrp="1"/>
          </p:cNvSpPr>
          <p:nvPr>
            <p:ph type="title"/>
          </p:nvPr>
        </p:nvSpPr>
        <p:spPr/>
        <p:txBody>
          <a:bodyPr>
            <a:normAutofit fontScale="90000"/>
          </a:bodyPr>
          <a:lstStyle/>
          <a:p>
            <a:r>
              <a:rPr lang="en-US" dirty="0"/>
              <a:t>AI changes build versus buy</a:t>
            </a:r>
          </a:p>
        </p:txBody>
      </p:sp>
      <p:sp>
        <p:nvSpPr>
          <p:cNvPr id="4" name="Slide Number Placeholder 3">
            <a:extLst>
              <a:ext uri="{FF2B5EF4-FFF2-40B4-BE49-F238E27FC236}">
                <a16:creationId xmlns:a16="http://schemas.microsoft.com/office/drawing/2014/main" id="{94D03E8A-6805-5C6E-A611-8240A4F6784D}"/>
              </a:ext>
            </a:extLst>
          </p:cNvPr>
          <p:cNvSpPr>
            <a:spLocks noGrp="1"/>
          </p:cNvSpPr>
          <p:nvPr>
            <p:ph type="sldNum" sz="quarter" idx="4"/>
          </p:nvPr>
        </p:nvSpPr>
        <p:spPr/>
        <p:txBody>
          <a:bodyPr/>
          <a:lstStyle/>
          <a:p>
            <a:fld id="{B7EB45DA-9A0D-DC49-8E02-F30A5DDC21C3}" type="slidenum">
              <a:rPr lang="en-US" smtClean="0"/>
              <a:t>24</a:t>
            </a:fld>
            <a:endParaRPr lang="en-US"/>
          </a:p>
        </p:txBody>
      </p:sp>
      <p:sp>
        <p:nvSpPr>
          <p:cNvPr id="60" name="MAGE Moment badge"/>
          <p:cNvSpPr txBox="1"/>
          <p:nvPr/>
        </p:nvSpPr>
        <p:spPr>
          <a:xfrm>
            <a:off x="279400" y="762000"/>
            <a:ext cx="5080000" cy="8382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61" name="Proposition"/>
          <p:cNvSpPr txBox="1"/>
          <p:nvPr/>
        </p:nvSpPr>
        <p:spPr>
          <a:xfrm>
            <a:off x="279400" y="1676400"/>
            <a:ext cx="8382000" cy="1066800"/>
          </a:xfrm>
          <a:prstGeom prst="rect">
            <a:avLst/>
          </a:prstGeom>
          <a:noFill/>
        </p:spPr>
        <p:txBody>
          <a:bodyPr wrap="square" rtlCol="0" anchor="t">
            <a:noAutofit/>
          </a:bodyPr>
          <a:lstStyle/>
          <a:p>
            <a:pPr algn="l">
              <a:buNone/>
            </a:pPr>
            <a:r>
              <a:rPr lang="en-US" sz="3200" b="1" dirty="0"/>
              <a:t>If AI can rebuild the features, what exactly are we paying for?</a:t>
            </a:r>
          </a:p>
        </p:txBody>
      </p:sp>
      <p:sp>
        <p:nvSpPr>
          <p:cNvPr id="62" name="Buy option"/>
          <p:cNvSpPr/>
          <p:nvPr/>
        </p:nvSpPr>
        <p:spPr>
          <a:xfrm>
            <a:off x="279400" y="2895600"/>
            <a:ext cx="2413000" cy="812800"/>
          </a:xfrm>
          <a:prstGeom prst="roundRect">
            <a:avLst/>
          </a:prstGeom>
          <a:solidFill>
            <a:srgbClr val="C9B991"/>
          </a:solidFill>
          <a:ln>
            <a:noFill/>
          </a:ln>
        </p:spPr>
        <p:txBody>
          <a:bodyPr lIns="91440" rIns="91440" anchor="ctr">
            <a:normAutofit/>
          </a:bodyPr>
          <a:lstStyle/>
          <a:p>
            <a:pPr algn="ctr">
              <a:buNone/>
            </a:pPr>
            <a:r>
              <a:rPr lang="en-US" sz="2400" b="1" dirty="0">
                <a:solidFill>
                  <a:srgbClr val="000000"/>
                </a:solidFill>
              </a:rPr>
              <a:t>Buy software</a:t>
            </a:r>
          </a:p>
        </p:txBody>
      </p:sp>
      <p:sp>
        <p:nvSpPr>
          <p:cNvPr id="63" name="AI prototype"/>
          <p:cNvSpPr/>
          <p:nvPr/>
        </p:nvSpPr>
        <p:spPr>
          <a:xfrm>
            <a:off x="3238500" y="2895600"/>
            <a:ext cx="2667000" cy="812800"/>
          </a:xfrm>
          <a:prstGeom prst="roundRect">
            <a:avLst/>
          </a:prstGeom>
          <a:solidFill>
            <a:srgbClr val="8E6F3E"/>
          </a:solidFill>
          <a:ln>
            <a:noFill/>
          </a:ln>
        </p:spPr>
        <p:txBody>
          <a:bodyPr lIns="91440" rIns="91440" anchor="ctr">
            <a:normAutofit fontScale="92500"/>
          </a:bodyPr>
          <a:lstStyle/>
          <a:p>
            <a:pPr algn="ctr">
              <a:buNone/>
            </a:pPr>
            <a:r>
              <a:rPr lang="en-US" sz="2400" b="1" dirty="0">
                <a:solidFill>
                  <a:srgbClr val="FFFFFF"/>
                </a:solidFill>
              </a:rPr>
              <a:t>AI prototype in days</a:t>
            </a:r>
          </a:p>
        </p:txBody>
      </p:sp>
      <p:sp>
        <p:nvSpPr>
          <p:cNvPr id="64" name="Build option"/>
          <p:cNvSpPr/>
          <p:nvPr/>
        </p:nvSpPr>
        <p:spPr>
          <a:xfrm>
            <a:off x="6451600" y="2895600"/>
            <a:ext cx="2413000" cy="812800"/>
          </a:xfrm>
          <a:prstGeom prst="roundRect">
            <a:avLst/>
          </a:prstGeom>
          <a:solidFill>
            <a:srgbClr val="C9B991"/>
          </a:solidFill>
          <a:ln>
            <a:noFill/>
          </a:ln>
        </p:spPr>
        <p:txBody>
          <a:bodyPr lIns="91440" rIns="91440" anchor="ctr">
            <a:normAutofit/>
          </a:bodyPr>
          <a:lstStyle/>
          <a:p>
            <a:pPr algn="ctr">
              <a:buNone/>
            </a:pPr>
            <a:r>
              <a:rPr lang="en-US" sz="2400" b="1" dirty="0">
                <a:solidFill>
                  <a:srgbClr val="000000"/>
                </a:solidFill>
              </a:rPr>
              <a:t>Build it</a:t>
            </a:r>
          </a:p>
        </p:txBody>
      </p:sp>
      <p:sp>
        <p:nvSpPr>
          <p:cNvPr id="65" name="Buy to prototype"/>
          <p:cNvSpPr/>
          <p:nvPr/>
        </p:nvSpPr>
        <p:spPr>
          <a:xfrm>
            <a:off x="2743200" y="3187700"/>
            <a:ext cx="457200" cy="228600"/>
          </a:xfrm>
          <a:prstGeom prst="leftRightArrow">
            <a:avLst/>
          </a:prstGeom>
          <a:solidFill>
            <a:srgbClr val="555960"/>
          </a:solidFill>
          <a:ln>
            <a:noFill/>
          </a:ln>
        </p:spPr>
        <p:txBody>
          <a:bodyPr/>
          <a:lstStyle/>
          <a:p>
            <a:endParaRPr lang="en-US"/>
          </a:p>
        </p:txBody>
      </p:sp>
      <p:sp>
        <p:nvSpPr>
          <p:cNvPr id="66" name="Prototype to build"/>
          <p:cNvSpPr/>
          <p:nvPr/>
        </p:nvSpPr>
        <p:spPr>
          <a:xfrm>
            <a:off x="5943600" y="3187700"/>
            <a:ext cx="457200" cy="228600"/>
          </a:xfrm>
          <a:prstGeom prst="leftRightArrow">
            <a:avLst/>
          </a:prstGeom>
          <a:solidFill>
            <a:srgbClr val="555960"/>
          </a:solidFill>
          <a:ln>
            <a:noFill/>
          </a:ln>
        </p:spPr>
        <p:txBody>
          <a:bodyPr/>
          <a:lstStyle/>
          <a:p>
            <a:endParaRPr lang="en-US"/>
          </a:p>
        </p:txBody>
      </p:sp>
      <p:sp>
        <p:nvSpPr>
          <p:cNvPr id="67" name="Room question"/>
          <p:cNvSpPr txBox="1"/>
          <p:nvPr/>
        </p:nvSpPr>
        <p:spPr>
          <a:xfrm>
            <a:off x="279400" y="3962400"/>
            <a:ext cx="8382000" cy="787400"/>
          </a:xfrm>
          <a:prstGeom prst="rect">
            <a:avLst/>
          </a:prstGeom>
          <a:noFill/>
        </p:spPr>
        <p:txBody>
          <a:bodyPr wrap="square" rtlCol="0" anchor="t">
            <a:noAutofit/>
          </a:bodyPr>
          <a:lstStyle/>
          <a:p>
            <a:pPr algn="l">
              <a:buNone/>
            </a:pPr>
            <a:r>
              <a:rPr lang="en-US" sz="2400" i="1" dirty="0">
                <a:solidFill>
                  <a:srgbClr val="555960"/>
                </a:solidFill>
              </a:rPr>
              <a:t>Reproduce Salesforce’s visible features in a weekend, and have you reproduced Salesforce?</a:t>
            </a:r>
          </a:p>
        </p:txBody>
      </p:sp>
      <p:sp>
        <p:nvSpPr>
          <p:cNvPr id="68" name="Takeaway"/>
          <p:cNvSpPr txBox="1"/>
          <p:nvPr/>
        </p:nvSpPr>
        <p:spPr>
          <a:xfrm>
            <a:off x="279400" y="4902200"/>
            <a:ext cx="8382000" cy="1016000"/>
          </a:xfrm>
          <a:prstGeom prst="rect">
            <a:avLst/>
          </a:prstGeom>
          <a:noFill/>
        </p:spPr>
        <p:txBody>
          <a:bodyPr wrap="square" rtlCol="0" anchor="t">
            <a:noAutofit/>
          </a:bodyPr>
          <a:lstStyle/>
          <a:p>
            <a:pPr algn="l">
              <a:buNone/>
            </a:pPr>
            <a:r>
              <a:rPr lang="en-US" sz="2000" dirty="0"/>
              <a:t>Cheap replication challenges the value of implementation.</a:t>
            </a:r>
          </a:p>
          <a:p>
            <a:pPr algn="l">
              <a:buNone/>
            </a:pPr>
            <a:r>
              <a:rPr lang="en-US" sz="2000" dirty="0"/>
              <a:t>It does not reproduce data, integration, operations, or support.</a:t>
            </a:r>
          </a:p>
        </p:txBody>
      </p:sp>
      <p:sp>
        <p:nvSpPr>
          <p:cNvPr id="69" name="Citation"/>
          <p:cNvSpPr txBox="1"/>
          <p:nvPr/>
        </p:nvSpPr>
        <p:spPr>
          <a:xfrm>
            <a:off x="279400" y="5969000"/>
            <a:ext cx="8382000" cy="381000"/>
          </a:xfrm>
          <a:prstGeom prst="rect">
            <a:avLst/>
          </a:prstGeom>
          <a:noFill/>
        </p:spPr>
        <p:txBody>
          <a:bodyPr wrap="square" rtlCol="0" anchor="t">
            <a:noAutofit/>
          </a:bodyPr>
          <a:lstStyle/>
          <a:p>
            <a:pPr algn="l">
              <a:buNone/>
            </a:pPr>
            <a:r>
              <a:rPr lang="en-US" sz="2000" i="1" dirty="0">
                <a:solidFill>
                  <a:srgbClr val="555960"/>
                </a:solidFill>
              </a:rPr>
              <a:t>Bain &amp; Company, Asia-Pacific Private Equity Report 2026</a:t>
            </a:r>
          </a:p>
        </p:txBody>
      </p:sp>
    </p:spTree>
    <p:extLst>
      <p:ext uri="{BB962C8B-B14F-4D97-AF65-F5344CB8AC3E}">
        <p14:creationId xmlns:p14="http://schemas.microsoft.com/office/powerpoint/2010/main" val="10223268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ED541EF-8005-37F0-44A2-D12D509B8254}"/>
              </a:ext>
            </a:extLst>
          </p:cNvPr>
          <p:cNvSpPr>
            <a:spLocks noGrp="1"/>
          </p:cNvSpPr>
          <p:nvPr>
            <p:ph type="title"/>
          </p:nvPr>
        </p:nvSpPr>
        <p:spPr/>
        <p:txBody>
          <a:bodyPr>
            <a:normAutofit fontScale="90000"/>
          </a:bodyPr>
          <a:lstStyle/>
          <a:p>
            <a:r>
              <a:rPr lang="en-US" dirty="0"/>
              <a:t>Requirements are choices under uncertainty</a:t>
            </a:r>
          </a:p>
        </p:txBody>
      </p:sp>
      <p:sp>
        <p:nvSpPr>
          <p:cNvPr id="4" name="Slide Number Placeholder 3">
            <a:extLst>
              <a:ext uri="{FF2B5EF4-FFF2-40B4-BE49-F238E27FC236}">
                <a16:creationId xmlns:a16="http://schemas.microsoft.com/office/drawing/2014/main" id="{AD646C9B-514B-9402-29D8-B6C953B65CCB}"/>
              </a:ext>
            </a:extLst>
          </p:cNvPr>
          <p:cNvSpPr>
            <a:spLocks noGrp="1"/>
          </p:cNvSpPr>
          <p:nvPr>
            <p:ph type="sldNum" sz="quarter" idx="4"/>
          </p:nvPr>
        </p:nvSpPr>
        <p:spPr/>
        <p:txBody>
          <a:bodyPr/>
          <a:lstStyle/>
          <a:p>
            <a:fld id="{B7EB45DA-9A0D-DC49-8E02-F30A5DDC21C3}" type="slidenum">
              <a:rPr lang="en-US" smtClean="0"/>
              <a:t>25</a:t>
            </a:fld>
            <a:endParaRPr lang="en-US"/>
          </a:p>
        </p:txBody>
      </p:sp>
      <p:sp>
        <p:nvSpPr>
          <p:cNvPr id="60" name="What might matter"/>
          <p:cNvSpPr/>
          <p:nvPr/>
        </p:nvSpPr>
        <p:spPr>
          <a:xfrm>
            <a:off x="2413000" y="1016000"/>
            <a:ext cx="4318000" cy="711200"/>
          </a:xfrm>
          <a:prstGeom prst="roundRect">
            <a:avLst/>
          </a:prstGeom>
          <a:solidFill>
            <a:srgbClr val="C9B991"/>
          </a:solidFill>
          <a:ln>
            <a:noFill/>
          </a:ln>
        </p:spPr>
        <p:txBody>
          <a:bodyPr lIns="45720" rIns="45720" anchor="ctr">
            <a:noAutofit/>
          </a:bodyPr>
          <a:lstStyle/>
          <a:p>
            <a:pPr algn="ctr">
              <a:buNone/>
            </a:pPr>
            <a:r>
              <a:rPr lang="en-US" sz="2400" b="1" dirty="0">
                <a:solidFill>
                  <a:srgbClr val="000000"/>
                </a:solidFill>
              </a:rPr>
              <a:t>What might matter</a:t>
            </a:r>
          </a:p>
        </p:txBody>
      </p:sp>
      <p:sp>
        <p:nvSpPr>
          <p:cNvPr id="61" name="Discovery arrow"/>
          <p:cNvSpPr/>
          <p:nvPr/>
        </p:nvSpPr>
        <p:spPr>
          <a:xfrm>
            <a:off x="4419600" y="1854200"/>
            <a:ext cx="304800" cy="355600"/>
          </a:xfrm>
          <a:prstGeom prst="downArrow">
            <a:avLst/>
          </a:prstGeom>
          <a:solidFill>
            <a:srgbClr val="8E6F3E"/>
          </a:solidFill>
          <a:ln>
            <a:noFill/>
          </a:ln>
        </p:spPr>
        <p:txBody>
          <a:bodyPr lIns="45720" rIns="45720" anchor="ctr">
            <a:noAutofit/>
          </a:bodyPr>
          <a:lstStyle/>
          <a:p>
            <a:endParaRPr lang="en-US"/>
          </a:p>
        </p:txBody>
      </p:sp>
      <p:sp>
        <p:nvSpPr>
          <p:cNvPr id="62" name="Discovery label"/>
          <p:cNvSpPr txBox="1"/>
          <p:nvPr/>
        </p:nvSpPr>
        <p:spPr>
          <a:xfrm>
            <a:off x="4826000" y="1854200"/>
            <a:ext cx="3810000" cy="381000"/>
          </a:xfrm>
          <a:prstGeom prst="rect">
            <a:avLst/>
          </a:prstGeom>
          <a:noFill/>
        </p:spPr>
        <p:txBody>
          <a:bodyPr wrap="square" rtlCol="0" anchor="ctr">
            <a:noAutofit/>
          </a:bodyPr>
          <a:lstStyle/>
          <a:p>
            <a:pPr algn="ctr">
              <a:buNone/>
            </a:pPr>
            <a:r>
              <a:rPr lang="en-US" sz="2000" i="1" dirty="0">
                <a:solidFill>
                  <a:srgbClr val="8E6F3E"/>
                </a:solidFill>
              </a:rPr>
              <a:t>discovery</a:t>
            </a:r>
          </a:p>
        </p:txBody>
      </p:sp>
      <p:sp>
        <p:nvSpPr>
          <p:cNvPr id="63" name="What appears valuable"/>
          <p:cNvSpPr/>
          <p:nvPr/>
        </p:nvSpPr>
        <p:spPr>
          <a:xfrm>
            <a:off x="2413000" y="2362200"/>
            <a:ext cx="4318000" cy="711200"/>
          </a:xfrm>
          <a:prstGeom prst="roundRect">
            <a:avLst/>
          </a:prstGeom>
          <a:solidFill>
            <a:srgbClr val="C9B991"/>
          </a:solidFill>
          <a:ln>
            <a:noFill/>
          </a:ln>
        </p:spPr>
        <p:txBody>
          <a:bodyPr lIns="45720" rIns="45720" anchor="ctr">
            <a:noAutofit/>
          </a:bodyPr>
          <a:lstStyle/>
          <a:p>
            <a:pPr algn="ctr">
              <a:buNone/>
            </a:pPr>
            <a:r>
              <a:rPr lang="en-US" sz="2400" b="1" dirty="0">
                <a:solidFill>
                  <a:srgbClr val="000000"/>
                </a:solidFill>
              </a:rPr>
              <a:t>What appears valuable</a:t>
            </a:r>
          </a:p>
        </p:txBody>
      </p:sp>
      <p:sp>
        <p:nvSpPr>
          <p:cNvPr id="64" name="Economics arrow"/>
          <p:cNvSpPr/>
          <p:nvPr/>
        </p:nvSpPr>
        <p:spPr>
          <a:xfrm>
            <a:off x="4419600" y="3200400"/>
            <a:ext cx="304800" cy="355600"/>
          </a:xfrm>
          <a:prstGeom prst="downArrow">
            <a:avLst/>
          </a:prstGeom>
          <a:solidFill>
            <a:srgbClr val="8E6F3E"/>
          </a:solidFill>
          <a:ln>
            <a:noFill/>
          </a:ln>
        </p:spPr>
        <p:txBody>
          <a:bodyPr lIns="45720" rIns="45720" anchor="ctr">
            <a:noAutofit/>
          </a:bodyPr>
          <a:lstStyle/>
          <a:p>
            <a:endParaRPr lang="en-US"/>
          </a:p>
        </p:txBody>
      </p:sp>
      <p:sp>
        <p:nvSpPr>
          <p:cNvPr id="65" name="Economics label"/>
          <p:cNvSpPr txBox="1"/>
          <p:nvPr/>
        </p:nvSpPr>
        <p:spPr>
          <a:xfrm>
            <a:off x="4826000" y="3149600"/>
            <a:ext cx="3937000" cy="508000"/>
          </a:xfrm>
          <a:prstGeom prst="rect">
            <a:avLst/>
          </a:prstGeom>
          <a:noFill/>
        </p:spPr>
        <p:txBody>
          <a:bodyPr wrap="square" rtlCol="0" anchor="ctr">
            <a:noAutofit/>
          </a:bodyPr>
          <a:lstStyle/>
          <a:p>
            <a:pPr algn="ctr">
              <a:buNone/>
            </a:pPr>
            <a:r>
              <a:rPr lang="en-US" sz="2000" i="1" dirty="0">
                <a:solidFill>
                  <a:srgbClr val="8E6F3E"/>
                </a:solidFill>
              </a:rPr>
              <a:t>feasibility, negotiation, economics</a:t>
            </a:r>
          </a:p>
        </p:txBody>
      </p:sp>
      <p:sp>
        <p:nvSpPr>
          <p:cNvPr id="66" name="What we will promise"/>
          <p:cNvSpPr/>
          <p:nvPr/>
        </p:nvSpPr>
        <p:spPr>
          <a:xfrm>
            <a:off x="2413000" y="3708400"/>
            <a:ext cx="4318000" cy="711200"/>
          </a:xfrm>
          <a:prstGeom prst="roundRect">
            <a:avLst/>
          </a:prstGeom>
          <a:solidFill>
            <a:srgbClr val="8E6F3E"/>
          </a:solidFill>
          <a:ln>
            <a:noFill/>
          </a:ln>
        </p:spPr>
        <p:txBody>
          <a:bodyPr lIns="45720" rIns="45720" anchor="ctr">
            <a:noAutofit/>
          </a:bodyPr>
          <a:lstStyle/>
          <a:p>
            <a:pPr algn="ctr">
              <a:buNone/>
            </a:pPr>
            <a:r>
              <a:rPr lang="en-US" sz="2400" b="1" dirty="0">
                <a:solidFill>
                  <a:srgbClr val="FFFFFF"/>
                </a:solidFill>
              </a:rPr>
              <a:t>What we will promise</a:t>
            </a:r>
          </a:p>
        </p:txBody>
      </p:sp>
      <p:sp>
        <p:nvSpPr>
          <p:cNvPr id="67" name="Claim"/>
          <p:cNvSpPr txBox="1"/>
          <p:nvPr/>
        </p:nvSpPr>
        <p:spPr>
          <a:xfrm>
            <a:off x="279400" y="4876800"/>
            <a:ext cx="8585200" cy="1219200"/>
          </a:xfrm>
          <a:prstGeom prst="rect">
            <a:avLst/>
          </a:prstGeom>
          <a:noFill/>
        </p:spPr>
        <p:txBody>
          <a:bodyPr wrap="square" rtlCol="0" anchor="t">
            <a:noAutofit/>
          </a:bodyPr>
          <a:lstStyle/>
          <a:p>
            <a:pPr algn="l">
              <a:buNone/>
            </a:pPr>
            <a:r>
              <a:rPr lang="en-US" sz="2400" b="1" dirty="0"/>
              <a:t>Requirements engineering reduces uncertainty enough to make defensible commitments, not enough to eliminate it.</a:t>
            </a:r>
          </a:p>
        </p:txBody>
      </p:sp>
    </p:spTree>
    <p:extLst>
      <p:ext uri="{BB962C8B-B14F-4D97-AF65-F5344CB8AC3E}">
        <p14:creationId xmlns:p14="http://schemas.microsoft.com/office/powerpoint/2010/main" val="28750460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5CCE8A-3579-9D3F-1BAA-24E9D15BC98C}"/>
              </a:ext>
            </a:extLst>
          </p:cNvPr>
          <p:cNvSpPr>
            <a:spLocks noGrp="1"/>
          </p:cNvSpPr>
          <p:nvPr>
            <p:ph type="title"/>
          </p:nvPr>
        </p:nvSpPr>
        <p:spPr/>
        <p:txBody>
          <a:bodyPr>
            <a:normAutofit fontScale="90000"/>
          </a:bodyPr>
          <a:lstStyle/>
          <a:p>
            <a:r>
              <a:rPr lang="en-US" dirty="0"/>
              <a:t>The whole lecture in one place</a:t>
            </a:r>
          </a:p>
        </p:txBody>
      </p:sp>
      <p:sp>
        <p:nvSpPr>
          <p:cNvPr id="4" name="Slide Number Placeholder 3">
            <a:extLst>
              <a:ext uri="{FF2B5EF4-FFF2-40B4-BE49-F238E27FC236}">
                <a16:creationId xmlns:a16="http://schemas.microsoft.com/office/drawing/2014/main" id="{02B1BB3B-10A3-58D1-ACDA-FEBA6C966468}"/>
              </a:ext>
            </a:extLst>
          </p:cNvPr>
          <p:cNvSpPr>
            <a:spLocks noGrp="1"/>
          </p:cNvSpPr>
          <p:nvPr>
            <p:ph type="sldNum" sz="quarter" idx="4"/>
          </p:nvPr>
        </p:nvSpPr>
        <p:spPr/>
        <p:txBody>
          <a:bodyPr/>
          <a:lstStyle/>
          <a:p>
            <a:fld id="{B7EB45DA-9A0D-DC49-8E02-F30A5DDC21C3}" type="slidenum">
              <a:rPr lang="en-US" smtClean="0"/>
              <a:t>26</a:t>
            </a:fld>
            <a:endParaRPr lang="en-US"/>
          </a:p>
        </p:txBody>
      </p:sp>
      <p:sp>
        <p:nvSpPr>
          <p:cNvPr id="100" name="Stage 1"/>
          <p:cNvSpPr/>
          <p:nvPr/>
        </p:nvSpPr>
        <p:spPr>
          <a:xfrm>
            <a:off x="889000" y="939800"/>
            <a:ext cx="2921000" cy="660400"/>
          </a:xfrm>
          <a:prstGeom prst="roundRect">
            <a:avLst/>
          </a:prstGeom>
          <a:solidFill>
            <a:srgbClr val="C9B991"/>
          </a:solidFill>
          <a:ln>
            <a:noFill/>
          </a:ln>
        </p:spPr>
        <p:txBody>
          <a:bodyPr lIns="36000" rIns="36000" anchor="ctr">
            <a:noAutofit/>
          </a:bodyPr>
          <a:lstStyle/>
          <a:p>
            <a:pPr algn="ctr">
              <a:buNone/>
            </a:pPr>
            <a:r>
              <a:rPr lang="en-US" sz="2000" b="1" dirty="0">
                <a:solidFill>
                  <a:srgbClr val="000000"/>
                </a:solidFill>
              </a:rPr>
              <a:t>What might matter</a:t>
            </a:r>
          </a:p>
        </p:txBody>
      </p:sp>
      <p:sp>
        <p:nvSpPr>
          <p:cNvPr id="110" name="Stage gloss 1"/>
          <p:cNvSpPr txBox="1"/>
          <p:nvPr/>
        </p:nvSpPr>
        <p:spPr>
          <a:xfrm>
            <a:off x="4038600" y="939800"/>
            <a:ext cx="4826000" cy="660400"/>
          </a:xfrm>
          <a:prstGeom prst="rect">
            <a:avLst/>
          </a:prstGeom>
          <a:noFill/>
        </p:spPr>
        <p:txBody>
          <a:bodyPr wrap="square" rtlCol="0" anchor="ctr">
            <a:noAutofit/>
          </a:bodyPr>
          <a:lstStyle/>
          <a:p>
            <a:pPr algn="l">
              <a:buNone/>
            </a:pPr>
            <a:r>
              <a:rPr lang="en-US" sz="2000" dirty="0"/>
              <a:t>Purpose and sources</a:t>
            </a:r>
          </a:p>
        </p:txBody>
      </p:sp>
      <p:sp>
        <p:nvSpPr>
          <p:cNvPr id="120" name="Stage arrow 1"/>
          <p:cNvSpPr/>
          <p:nvPr/>
        </p:nvSpPr>
        <p:spPr>
          <a:xfrm>
            <a:off x="2209800" y="1625600"/>
            <a:ext cx="279400" cy="203200"/>
          </a:xfrm>
          <a:prstGeom prst="downArrow">
            <a:avLst/>
          </a:prstGeom>
          <a:solidFill>
            <a:srgbClr val="555960"/>
          </a:solidFill>
          <a:ln>
            <a:noFill/>
          </a:ln>
        </p:spPr>
        <p:txBody>
          <a:bodyPr lIns="36000" rIns="36000" anchor="ctr">
            <a:noAutofit/>
          </a:bodyPr>
          <a:lstStyle/>
          <a:p>
            <a:endParaRPr lang="en-US"/>
          </a:p>
        </p:txBody>
      </p:sp>
      <p:sp>
        <p:nvSpPr>
          <p:cNvPr id="101" name="Stage 2"/>
          <p:cNvSpPr/>
          <p:nvPr/>
        </p:nvSpPr>
        <p:spPr>
          <a:xfrm>
            <a:off x="889000" y="1854200"/>
            <a:ext cx="2921000" cy="660400"/>
          </a:xfrm>
          <a:prstGeom prst="roundRect">
            <a:avLst/>
          </a:prstGeom>
          <a:solidFill>
            <a:srgbClr val="8E6F3E"/>
          </a:solidFill>
          <a:ln>
            <a:noFill/>
          </a:ln>
        </p:spPr>
        <p:txBody>
          <a:bodyPr lIns="36000" rIns="36000" anchor="ctr">
            <a:noAutofit/>
          </a:bodyPr>
          <a:lstStyle/>
          <a:p>
            <a:pPr algn="ctr">
              <a:buNone/>
            </a:pPr>
            <a:r>
              <a:rPr lang="en-US" sz="2000" b="1" dirty="0">
                <a:solidFill>
                  <a:srgbClr val="FFFFFF"/>
                </a:solidFill>
              </a:rPr>
              <a:t>1  Requirements</a:t>
            </a:r>
          </a:p>
        </p:txBody>
      </p:sp>
      <p:sp>
        <p:nvSpPr>
          <p:cNvPr id="111" name="Stage gloss 2"/>
          <p:cNvSpPr txBox="1"/>
          <p:nvPr/>
        </p:nvSpPr>
        <p:spPr>
          <a:xfrm>
            <a:off x="4038600" y="1854200"/>
            <a:ext cx="4826000" cy="660400"/>
          </a:xfrm>
          <a:prstGeom prst="rect">
            <a:avLst/>
          </a:prstGeom>
          <a:noFill/>
        </p:spPr>
        <p:txBody>
          <a:bodyPr wrap="square" rtlCol="0" anchor="ctr">
            <a:noAutofit/>
          </a:bodyPr>
          <a:lstStyle/>
          <a:p>
            <a:pPr algn="l">
              <a:buNone/>
            </a:pPr>
            <a:r>
              <a:rPr lang="en-US" sz="2000" dirty="0"/>
              <a:t>Services and constraints · functional, quality, domain</a:t>
            </a:r>
          </a:p>
        </p:txBody>
      </p:sp>
      <p:sp>
        <p:nvSpPr>
          <p:cNvPr id="121" name="Stage arrow 2"/>
          <p:cNvSpPr/>
          <p:nvPr/>
        </p:nvSpPr>
        <p:spPr>
          <a:xfrm>
            <a:off x="2209800" y="2540000"/>
            <a:ext cx="279400" cy="203200"/>
          </a:xfrm>
          <a:prstGeom prst="downArrow">
            <a:avLst/>
          </a:prstGeom>
          <a:solidFill>
            <a:srgbClr val="555960"/>
          </a:solidFill>
          <a:ln>
            <a:noFill/>
          </a:ln>
        </p:spPr>
        <p:txBody>
          <a:bodyPr lIns="36000" rIns="36000" anchor="ctr">
            <a:noAutofit/>
          </a:bodyPr>
          <a:lstStyle/>
          <a:p>
            <a:endParaRPr lang="en-US"/>
          </a:p>
        </p:txBody>
      </p:sp>
      <p:sp>
        <p:nvSpPr>
          <p:cNvPr id="102" name="Stage 3"/>
          <p:cNvSpPr/>
          <p:nvPr/>
        </p:nvSpPr>
        <p:spPr>
          <a:xfrm>
            <a:off x="889000" y="2768600"/>
            <a:ext cx="2921000" cy="660400"/>
          </a:xfrm>
          <a:prstGeom prst="roundRect">
            <a:avLst/>
          </a:prstGeom>
          <a:solidFill>
            <a:srgbClr val="8E6F3E"/>
          </a:solidFill>
          <a:ln>
            <a:noFill/>
          </a:ln>
        </p:spPr>
        <p:txBody>
          <a:bodyPr lIns="36000" rIns="36000" anchor="ctr">
            <a:noAutofit/>
          </a:bodyPr>
          <a:lstStyle/>
          <a:p>
            <a:pPr algn="ctr">
              <a:buNone/>
            </a:pPr>
            <a:r>
              <a:rPr lang="en-US" sz="2000" b="1" dirty="0">
                <a:solidFill>
                  <a:srgbClr val="FFFFFF"/>
                </a:solidFill>
              </a:rPr>
              <a:t>2  Discovery</a:t>
            </a:r>
          </a:p>
        </p:txBody>
      </p:sp>
      <p:sp>
        <p:nvSpPr>
          <p:cNvPr id="112" name="Stage gloss 3"/>
          <p:cNvSpPr txBox="1"/>
          <p:nvPr/>
        </p:nvSpPr>
        <p:spPr>
          <a:xfrm>
            <a:off x="4038600" y="2768600"/>
            <a:ext cx="4826000" cy="660400"/>
          </a:xfrm>
          <a:prstGeom prst="rect">
            <a:avLst/>
          </a:prstGeom>
          <a:noFill/>
        </p:spPr>
        <p:txBody>
          <a:bodyPr wrap="square" rtlCol="0" anchor="ctr">
            <a:noAutofit/>
          </a:bodyPr>
          <a:lstStyle/>
          <a:p>
            <a:pPr algn="l">
              <a:buNone/>
            </a:pPr>
            <a:r>
              <a:rPr lang="en-US" sz="2000" dirty="0"/>
              <a:t>Stakeholders · ask, observe, compare, build · iterate</a:t>
            </a:r>
          </a:p>
        </p:txBody>
      </p:sp>
      <p:sp>
        <p:nvSpPr>
          <p:cNvPr id="122" name="Stage arrow 3"/>
          <p:cNvSpPr/>
          <p:nvPr/>
        </p:nvSpPr>
        <p:spPr>
          <a:xfrm>
            <a:off x="2209800" y="3454400"/>
            <a:ext cx="279400" cy="203200"/>
          </a:xfrm>
          <a:prstGeom prst="downArrow">
            <a:avLst/>
          </a:prstGeom>
          <a:solidFill>
            <a:srgbClr val="555960"/>
          </a:solidFill>
          <a:ln>
            <a:noFill/>
          </a:ln>
        </p:spPr>
        <p:txBody>
          <a:bodyPr lIns="36000" rIns="36000" anchor="ctr">
            <a:noAutofit/>
          </a:bodyPr>
          <a:lstStyle/>
          <a:p>
            <a:endParaRPr lang="en-US"/>
          </a:p>
        </p:txBody>
      </p:sp>
      <p:sp>
        <p:nvSpPr>
          <p:cNvPr id="103" name="Stage 4"/>
          <p:cNvSpPr/>
          <p:nvPr/>
        </p:nvSpPr>
        <p:spPr>
          <a:xfrm>
            <a:off x="889000" y="3683000"/>
            <a:ext cx="2921000" cy="660400"/>
          </a:xfrm>
          <a:prstGeom prst="roundRect">
            <a:avLst/>
          </a:prstGeom>
          <a:solidFill>
            <a:srgbClr val="8E6F3E"/>
          </a:solidFill>
          <a:ln>
            <a:noFill/>
          </a:ln>
        </p:spPr>
        <p:txBody>
          <a:bodyPr lIns="36000" rIns="36000" anchor="ctr">
            <a:noAutofit/>
          </a:bodyPr>
          <a:lstStyle/>
          <a:p>
            <a:pPr algn="ctr">
              <a:buNone/>
            </a:pPr>
            <a:r>
              <a:rPr lang="en-US" sz="2000" b="1" dirty="0">
                <a:solidFill>
                  <a:srgbClr val="FFFFFF"/>
                </a:solidFill>
              </a:rPr>
              <a:t>3  Commitment</a:t>
            </a:r>
          </a:p>
        </p:txBody>
      </p:sp>
      <p:sp>
        <p:nvSpPr>
          <p:cNvPr id="113" name="Stage gloss 4"/>
          <p:cNvSpPr txBox="1"/>
          <p:nvPr/>
        </p:nvSpPr>
        <p:spPr>
          <a:xfrm>
            <a:off x="4038600" y="3683000"/>
            <a:ext cx="4826000" cy="660400"/>
          </a:xfrm>
          <a:prstGeom prst="rect">
            <a:avLst/>
          </a:prstGeom>
          <a:noFill/>
        </p:spPr>
        <p:txBody>
          <a:bodyPr wrap="square" rtlCol="0" anchor="ctr">
            <a:noAutofit/>
          </a:bodyPr>
          <a:lstStyle/>
          <a:p>
            <a:pPr algn="l">
              <a:buNone/>
            </a:pPr>
            <a:r>
              <a:rPr lang="en-US" sz="2000" dirty="0"/>
              <a:t>Value, feasibility, cost · opportunity cost · negotiate</a:t>
            </a:r>
          </a:p>
        </p:txBody>
      </p:sp>
      <p:sp>
        <p:nvSpPr>
          <p:cNvPr id="123" name="Stage arrow 4"/>
          <p:cNvSpPr/>
          <p:nvPr/>
        </p:nvSpPr>
        <p:spPr>
          <a:xfrm>
            <a:off x="2209800" y="4368800"/>
            <a:ext cx="279400" cy="203200"/>
          </a:xfrm>
          <a:prstGeom prst="downArrow">
            <a:avLst/>
          </a:prstGeom>
          <a:solidFill>
            <a:srgbClr val="555960"/>
          </a:solidFill>
          <a:ln>
            <a:noFill/>
          </a:ln>
        </p:spPr>
        <p:txBody>
          <a:bodyPr lIns="36000" rIns="36000" anchor="ctr">
            <a:noAutofit/>
          </a:bodyPr>
          <a:lstStyle/>
          <a:p>
            <a:endParaRPr lang="en-US"/>
          </a:p>
        </p:txBody>
      </p:sp>
      <p:sp>
        <p:nvSpPr>
          <p:cNvPr id="104" name="Stage 5"/>
          <p:cNvSpPr/>
          <p:nvPr/>
        </p:nvSpPr>
        <p:spPr>
          <a:xfrm>
            <a:off x="889000" y="4597400"/>
            <a:ext cx="2921000" cy="660400"/>
          </a:xfrm>
          <a:prstGeom prst="roundRect">
            <a:avLst/>
          </a:prstGeom>
          <a:solidFill>
            <a:srgbClr val="C9B991"/>
          </a:solidFill>
          <a:ln>
            <a:noFill/>
          </a:ln>
        </p:spPr>
        <p:txBody>
          <a:bodyPr lIns="36000" rIns="36000" anchor="ctr">
            <a:noAutofit/>
          </a:bodyPr>
          <a:lstStyle/>
          <a:p>
            <a:pPr algn="ctr">
              <a:buNone/>
            </a:pPr>
            <a:r>
              <a:rPr lang="en-US" sz="2000" b="1" dirty="0">
                <a:solidFill>
                  <a:srgbClr val="000000"/>
                </a:solidFill>
              </a:rPr>
              <a:t>What we promise</a:t>
            </a:r>
          </a:p>
        </p:txBody>
      </p:sp>
      <p:sp>
        <p:nvSpPr>
          <p:cNvPr id="114" name="Stage gloss 5"/>
          <p:cNvSpPr txBox="1"/>
          <p:nvPr/>
        </p:nvSpPr>
        <p:spPr>
          <a:xfrm>
            <a:off x="4038600" y="4597400"/>
            <a:ext cx="4826000" cy="660400"/>
          </a:xfrm>
          <a:prstGeom prst="rect">
            <a:avLst/>
          </a:prstGeom>
          <a:noFill/>
        </p:spPr>
        <p:txBody>
          <a:bodyPr wrap="square" rtlCol="0" anchor="ctr">
            <a:noAutofit/>
          </a:bodyPr>
          <a:lstStyle/>
          <a:p>
            <a:pPr algn="l">
              <a:buNone/>
            </a:pPr>
            <a:r>
              <a:rPr lang="en-US" sz="2000" dirty="0"/>
              <a:t>The obligations we accept</a:t>
            </a:r>
          </a:p>
        </p:txBody>
      </p:sp>
      <p:sp>
        <p:nvSpPr>
          <p:cNvPr id="130" name="Learning returns"/>
          <p:cNvSpPr/>
          <p:nvPr/>
        </p:nvSpPr>
        <p:spPr>
          <a:xfrm>
            <a:off x="482600" y="1219200"/>
            <a:ext cx="279400" cy="4013200"/>
          </a:xfrm>
          <a:prstGeom prst="upArrow">
            <a:avLst/>
          </a:prstGeom>
          <a:solidFill>
            <a:srgbClr val="8E6F3E"/>
          </a:solidFill>
          <a:ln>
            <a:noFill/>
          </a:ln>
        </p:spPr>
        <p:txBody>
          <a:bodyPr lIns="36000" rIns="36000" anchor="ctr">
            <a:noAutofit/>
          </a:bodyPr>
          <a:lstStyle/>
          <a:p>
            <a:endParaRPr lang="en-US"/>
          </a:p>
        </p:txBody>
      </p:sp>
      <p:sp>
        <p:nvSpPr>
          <p:cNvPr id="131" name="Return label"/>
          <p:cNvSpPr txBox="1"/>
          <p:nvPr/>
        </p:nvSpPr>
        <p:spPr>
          <a:xfrm>
            <a:off x="177800" y="5334000"/>
            <a:ext cx="3810000" cy="431800"/>
          </a:xfrm>
          <a:prstGeom prst="rect">
            <a:avLst/>
          </a:prstGeom>
          <a:noFill/>
        </p:spPr>
        <p:txBody>
          <a:bodyPr wrap="square" rtlCol="0" anchor="t">
            <a:noAutofit/>
          </a:bodyPr>
          <a:lstStyle/>
          <a:p>
            <a:pPr algn="l">
              <a:buNone/>
            </a:pPr>
            <a:r>
              <a:rPr lang="en-US" sz="2000" i="1" dirty="0">
                <a:solidFill>
                  <a:srgbClr val="8E6F3E"/>
                </a:solidFill>
              </a:rPr>
              <a:t>What we learn sends us back up</a:t>
            </a:r>
          </a:p>
        </p:txBody>
      </p:sp>
      <p:sp>
        <p:nvSpPr>
          <p:cNvPr id="132" name="Next arrow"/>
          <p:cNvSpPr/>
          <p:nvPr/>
        </p:nvSpPr>
        <p:spPr>
          <a:xfrm>
            <a:off x="4191000" y="5486400"/>
            <a:ext cx="1016000" cy="304800"/>
          </a:xfrm>
          <a:prstGeom prst="rightArrow">
            <a:avLst/>
          </a:prstGeom>
          <a:solidFill>
            <a:srgbClr val="8E6F3E"/>
          </a:solidFill>
          <a:ln>
            <a:noFill/>
          </a:ln>
        </p:spPr>
        <p:txBody>
          <a:bodyPr lIns="36000" rIns="36000" anchor="ctr">
            <a:noAutofit/>
          </a:bodyPr>
          <a:lstStyle/>
          <a:p>
            <a:endParaRPr lang="en-US"/>
          </a:p>
        </p:txBody>
      </p:sp>
      <p:sp>
        <p:nvSpPr>
          <p:cNvPr id="133" name="Next label"/>
          <p:cNvSpPr txBox="1"/>
          <p:nvPr/>
        </p:nvSpPr>
        <p:spPr>
          <a:xfrm>
            <a:off x="5359400" y="5334000"/>
            <a:ext cx="3505200" cy="635000"/>
          </a:xfrm>
          <a:prstGeom prst="rect">
            <a:avLst/>
          </a:prstGeom>
          <a:noFill/>
        </p:spPr>
        <p:txBody>
          <a:bodyPr wrap="square" rtlCol="0" anchor="t">
            <a:noAutofit/>
          </a:bodyPr>
          <a:lstStyle/>
          <a:p>
            <a:pPr algn="l">
              <a:buNone/>
            </a:pPr>
            <a:r>
              <a:rPr lang="en-US" sz="2400" b="1" dirty="0">
                <a:solidFill>
                  <a:srgbClr val="8E6F3E"/>
                </a:solidFill>
              </a:rPr>
              <a:t>Next: Specification</a:t>
            </a:r>
          </a:p>
          <a:p>
            <a:pPr algn="l">
              <a:buNone/>
            </a:pPr>
            <a:r>
              <a:rPr lang="en-US" sz="2000" dirty="0"/>
              <a:t>What exactly are we promising?</a:t>
            </a:r>
          </a:p>
        </p:txBody>
      </p:sp>
    </p:spTree>
    <p:extLst>
      <p:ext uri="{BB962C8B-B14F-4D97-AF65-F5344CB8AC3E}">
        <p14:creationId xmlns:p14="http://schemas.microsoft.com/office/powerpoint/2010/main" val="210835714"/>
      </p:ext>
    </p:extLst>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3CAC69B0-400E-8B46-B733-E490B7B1A3FA}">
  <we:reference id="WA200010001" version="1.0.0.1" store="Omex" storeType="OMEX"/>
  <we:alternateReferences>
    <we:reference id="WA200010001" version="1.0.0.1" store="WA200010001" storeType="OMEX"/>
  </we:alternateReferences>
  <we:properties>
    <we:property name="claude.fileId" value="&quot;0273282c-a550-4e88-a3a4-3941e9cfd3e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8262</TotalTime>
  <Words>7852</Words>
  <Application>Microsoft Macintosh PowerPoint</Application>
  <PresentationFormat>On-screen Show (4:3)</PresentationFormat>
  <Paragraphs>651</Paragraphs>
  <Slides>26</Slides>
  <Notes>26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Calibri</vt:lpstr>
      <vt:lpstr>Times</vt:lpstr>
      <vt:lpstr>Purdue1</vt:lpstr>
      <vt:lpstr>PowerPoint Presentation</vt:lpstr>
      <vt:lpstr>The lecture in three movements</vt:lpstr>
      <vt:lpstr>Is the customer always right?</vt:lpstr>
      <vt:lpstr>Requirements engineering has two problems</vt:lpstr>
      <vt:lpstr>1 Requirements</vt:lpstr>
      <vt:lpstr>A system succeeds only relative to its purpose</vt:lpstr>
      <vt:lpstr>Requirements describe services and constraints</vt:lpstr>
      <vt:lpstr>Requirements come from more than users</vt:lpstr>
      <vt:lpstr>Authoritative does not mean implementable</vt:lpstr>
      <vt:lpstr>Requirements happen somewhere in every process</vt:lpstr>
      <vt:lpstr>2 Discovery</vt:lpstr>
      <vt:lpstr>Choose whom to ask, then how to learn</vt:lpstr>
      <vt:lpstr>Where did SafeRTOS get its requirements?</vt:lpstr>
      <vt:lpstr>Cheap prototypes are an elicitation tool</vt:lpstr>
      <vt:lpstr>Requirements engineering is a loop, not a stage</vt:lpstr>
      <vt:lpstr>“We already have the requirements”</vt:lpstr>
      <vt:lpstr>Who actually knows what AFI needs?</vt:lpstr>
      <vt:lpstr>Different stakeholders see different systems</vt:lpstr>
      <vt:lpstr>Better requirements, better promises</vt:lpstr>
      <vt:lpstr>3 Commitment</vt:lpstr>
      <vt:lpstr>Requirements consume scarce resources</vt:lpstr>
      <vt:lpstr>Cheap implementation does not make features free</vt:lpstr>
      <vt:lpstr>Estimating before we know what we are building</vt:lpstr>
      <vt:lpstr>AI changes build versus buy</vt:lpstr>
      <vt:lpstr>Requirements are choices under uncertainty</vt:lpstr>
      <vt:lpstr>The whole lecture in one place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241</cp:revision>
  <dcterms:created xsi:type="dcterms:W3CDTF">2020-02-21T23:00:33Z</dcterms:created>
  <dcterms:modified xsi:type="dcterms:W3CDTF">2026-09-08T02:43:09Z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