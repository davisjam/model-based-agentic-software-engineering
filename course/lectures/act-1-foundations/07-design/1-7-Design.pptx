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601" r:id="rId101"/>
    <p:sldId id="602" r:id="rId102"/>
    <p:sldId id="603" r:id="rId103"/>
    <p:sldId id="604" r:id="rId104"/>
    <p:sldId id="605" r:id="rId105"/>
    <p:sldId id="606" r:id="rId106"/>
    <p:sldId id="607" r:id="rId107"/>
    <p:sldId id="608" r:id="rId108"/>
    <p:sldId id="609" r:id="rId109"/>
    <p:sldId id="610" r:id="rId110"/>
    <p:sldId id="611" r:id="rId111"/>
    <p:sldId id="612" r:id="rId112"/>
    <p:sldId id="613" r:id="rId113"/>
    <p:sldId id="614" r:id="rId114"/>
    <p:sldId id="615" r:id="rId115"/>
    <p:sldId id="616" r:id="rId116"/>
    <p:sldId id="617" r:id="rId117"/>
    <p:sldId id="618" r:id="rId118"/>
    <p:sldId id="619" r:id="rId119"/>
    <p:sldId id="620" r:id="rId120"/>
    <p:sldId id="621" r:id="rId121"/>
    <p:sldId id="622" r:id="rId122"/>
    <p:sldId id="623" r:id="rId123"/>
    <p:sldId id="624" r:id="rId124"/>
    <p:sldId id="625" r:id="rId125"/>
    <p:sldId id="626" r:id="rId126"/>
    <p:sldId id="627" r:id="rId127"/>
    <p:sldId id="628" r:id="rId128"/>
    <p:sldId id="629" r:id="rId129"/>
    <p:sldId id="630" r:id="rId130"/>
    <p:sldId id="631" r:id="rId131"/>
    <p:sldId id="632" r:id="rId132"/>
    <p:sldId id="633" r:id="rId133"/>
    <p:sldId id="634" r:id="rId134"/>
    <p:sldId id="635" r:id="rId135"/>
    <p:sldId id="636" r:id="rId1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theme" Target="theme/theme1.xml"/><Relationship Id="rId33" Type="http://schemas.openxmlformats.org/officeDocument/2006/relationships/viewProps" Target="viewProps.xml"/><Relationship Id="rId1" Type="http://schemas.openxmlformats.org/officeDocument/2006/relationships/slideMaster" Target="slideMasters/slideMaster1.xml"/><Relationship Id="rId32" Type="http://schemas.openxmlformats.org/officeDocument/2006/relationships/presProps" Target="presProps.xml"/><Relationship Id="rId31" Type="http://schemas.openxmlformats.org/officeDocument/2006/relationships/notesMaster" Target="notesMasters/notesMaster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2" Type="http://schemas.openxmlformats.org/officeDocument/2006/relationships/slide" Target="slides/slide12.xml"/><Relationship Id="rId113" Type="http://schemas.openxmlformats.org/officeDocument/2006/relationships/slide" Target="slides/slide13.xml"/><Relationship Id="rId114" Type="http://schemas.openxmlformats.org/officeDocument/2006/relationships/slide" Target="slides/slide14.xml"/><Relationship Id="rId115" Type="http://schemas.openxmlformats.org/officeDocument/2006/relationships/slide" Target="slides/slide15.xml"/><Relationship Id="rId116" Type="http://schemas.openxmlformats.org/officeDocument/2006/relationships/slide" Target="slides/slide16.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4" Type="http://schemas.openxmlformats.org/officeDocument/2006/relationships/slide" Target="slides/slide24.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6" Type="http://schemas.openxmlformats.org/officeDocument/2006/relationships/slide" Target="slides/slide3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 xml:space="preserve">- Callback: the closing Architecture slide — parts, responsibilities, interfaces.</a:t>
            </a:r>
          </a:p>
          <a:p>
            <a:r>
              <a:rPr dirty="0"/>
              <a:t xml:space="preserve">- Land the question: we know WHAT each part must do, not yet HOW.</a:t>
            </a:r>
          </a:p>
          <a:p>
            <a:endParaRPr dirty="0"/>
          </a:p>
          <a:p>
            <a:r>
              <a:rPr dirty="0"/>
              <a:t xml:space="preserve">=====</a:t>
            </a:r>
          </a:p>
          <a:p>
            <a:endParaRPr dirty="0"/>
          </a:p>
          <a:p>
            <a:r>
              <a:rPr dirty="0"/>
              <a:t xml:space="preserve">Last time we chose how one acceptable system should be organized. We ended with major parts, boundaries, responsibilities, interfaces, and rules governing interaction.</a:t>
            </a:r>
          </a:p>
          <a:p>
            <a:endParaRPr dirty="0"/>
          </a:p>
          <a:p>
            <a:r>
              <a:rPr dirty="0"/>
              <a:t xml:space="preserve">But look at one of those parts. We know what responsibility it has. We know how the rest of the system is allowed to interact with it. We still have not said how it actually does its job.</a:t>
            </a:r>
          </a:p>
          <a:p>
            <a:endParaRPr dirty="0"/>
          </a:p>
          <a:p>
            <a:r>
              <a:rPr dirty="0"/>
              <a:t xml:space="preserve">That is today's engineering problem. Given one of the parts produced by Architecture, how should we engineer its internals so that it realizes the responsibility we assigned to it?</a:t>
            </a:r>
          </a:p>
          <a:p>
            <a:endParaRPr dirty="0"/>
          </a:p>
          <a:p>
            <a:r>
              <a:rPr dirty="0"/>
              <a:t xml:space="preserve">That is Design.</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 xml:space="preserve">- Open one box at a time; keep it slightly playful.</a:t>
            </a:r>
          </a:p>
          <a:p>
            <a:r>
              <a:rPr dirty="0"/>
              <a:t xml:space="preserve">- Do not explain where the dividing lines are yet — that is our first problem today.</a:t>
            </a:r>
          </a:p>
          <a:p>
            <a:r>
              <a:rPr dirty="0"/>
              <a:t xml:space="preserve">- Lands directly on Section 1.</a:t>
            </a:r>
          </a:p>
          <a:p>
            <a:endParaRPr dirty="0"/>
          </a:p>
          <a:p>
            <a:r>
              <a:rPr dirty="0"/>
              <a:t xml:space="preserve">=====</a:t>
            </a:r>
          </a:p>
          <a:p>
            <a:endParaRPr dirty="0"/>
          </a:p>
          <a:p>
            <a:r>
              <a:rPr dirty="0"/>
              <a:t xml:space="preserve">There is an immediate problem with saying Design works “inside the box.”</a:t>
            </a:r>
          </a:p>
          <a:p>
            <a:endParaRPr dirty="0"/>
          </a:p>
          <a:p>
            <a:r>
              <a:rPr dirty="0"/>
              <a:t xml:space="preserve">We open the box and discover more boxes.</a:t>
            </a:r>
          </a:p>
          <a:p>
            <a:endParaRPr dirty="0"/>
          </a:p>
          <a:p>
            <a:r>
              <a:rPr dirty="0"/>
              <a:t xml:space="preserve">ANIMATE</a:t>
            </a:r>
          </a:p>
          <a:p>
            <a:endParaRPr dirty="0"/>
          </a:p>
          <a:p>
            <a:r>
              <a:rPr dirty="0"/>
              <a:t xml:space="preserve">And sometimes one of those boxes is still substantial enough that we need to organize it before we can sensibly implement it.</a:t>
            </a:r>
          </a:p>
          <a:p>
            <a:endParaRPr dirty="0"/>
          </a:p>
          <a:p>
            <a:r>
              <a:rPr dirty="0"/>
              <a:t xml:space="preserve">ANIMATE</a:t>
            </a:r>
          </a:p>
          <a:p>
            <a:endParaRPr dirty="0"/>
          </a:p>
          <a:p>
            <a:r>
              <a:rPr dirty="0"/>
              <a:t xml:space="preserve">We can keep doing this.</a:t>
            </a:r>
          </a:p>
          <a:p>
            <a:endParaRPr dirty="0"/>
          </a:p>
          <a:p>
            <a:r>
              <a:rPr dirty="0"/>
              <a:t xml:space="preserve">ANIMATE</a:t>
            </a:r>
          </a:p>
          <a:p>
            <a:endParaRPr dirty="0"/>
          </a:p>
          <a:p>
            <a:r>
              <a:rPr dirty="0"/>
              <a:t xml:space="preserve">But not forever. Eventually we reach objects, functions, data structures, algorithms, or small collaborations that we can reason about directly.</a:t>
            </a:r>
          </a:p>
          <a:p>
            <a:endParaRPr dirty="0"/>
          </a:p>
          <a:p>
            <a:r>
              <a:rPr dirty="0"/>
              <a:t xml:space="preserve">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 xml:space="preserve">- 15–20 seconds only.</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 xml:space="preserve">- Responsibility, interface, and obligations survive the opening; only the internals are new work.</a:t>
            </a:r>
          </a:p>
          <a:p>
            <a:endParaRPr dirty="0"/>
          </a:p>
          <a:p>
            <a:r>
              <a:rPr dirty="0"/>
              <a:t xml:space="preserve">=====</a:t>
            </a:r>
          </a:p>
          <a:p>
            <a:endParaRPr dirty="0"/>
          </a:p>
          <a:p>
            <a:r>
              <a:rPr dirty="0"/>
              <a:t xml:space="preserve">Architecture deliberately let us ignore this component's internals. That compression was useful: we could reason about system-wide structure without simultaneously reasoning about every object and function.</a:t>
            </a:r>
          </a:p>
          <a:p>
            <a:endParaRPr dirty="0"/>
          </a:p>
          <a:p>
            <a:r>
              <a:rPr dirty="0"/>
              <a:t xml:space="preserve">Design removes that abstraction boundary for us.</a:t>
            </a:r>
          </a:p>
          <a:p>
            <a:endParaRPr dirty="0"/>
          </a:p>
          <a:p>
            <a:r>
              <a:rPr dirty="0"/>
              <a:t xml:space="preserve">ANIMATE</a:t>
            </a:r>
          </a:p>
          <a:p>
            <a:endParaRPr dirty="0"/>
          </a:p>
          <a:p>
            <a:r>
              <a:rPr dirty="0"/>
              <a:t xml:space="preserve">The responsibility does not disappear. The interface does not disappear. The obligations that motivated them do not disappear.</a:t>
            </a:r>
          </a:p>
          <a:p>
            <a:endParaRPr dirty="0"/>
          </a:p>
          <a:p>
            <a:r>
              <a:rPr dirty="0"/>
              <a:t xml:space="preserve">What changes is that the inside is now our engineering problem.</a:t>
            </a:r>
          </a:p>
          <a:p>
            <a:endParaRPr dirty="0"/>
          </a:p>
          <a:p>
            <a:r>
              <a:rPr dirty="0"/>
              <a:t xml:space="preserve">ANIMATE</a:t>
            </a:r>
          </a:p>
          <a:p>
            <a:endParaRPr dirty="0"/>
          </a:p>
          <a:p>
            <a:r>
              <a:rPr dirty="0"/>
              <a:t xml:space="preserve">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 xml:space="preserve">- Spend the real time on the engineering environment — the novel third source.</a:t>
            </a:r>
          </a:p>
          <a:p>
            <a:r>
              <a:rPr dirty="0"/>
              <a:t xml:space="preserve">- Examples: repositories, injected dependencies, deadlines on cross-service calls, standard queue with retry and dead-letter.</a:t>
            </a:r>
          </a:p>
          <a:p>
            <a:endParaRPr dirty="0"/>
          </a:p>
          <a:p>
            <a:r>
              <a:rPr dirty="0"/>
              <a:t xml:space="preserve">=====</a:t>
            </a:r>
          </a:p>
          <a:p>
            <a:endParaRPr dirty="0"/>
          </a:p>
          <a:p>
            <a:r>
              <a:rPr dirty="0"/>
              <a:t xml:space="preserve">Two sources should now be familiar.</a:t>
            </a:r>
          </a:p>
          <a:p>
            <a:endParaRPr dirty="0"/>
          </a:p>
          <a:p>
            <a:r>
              <a:rPr dirty="0"/>
              <a:t xml:space="preserve">ANIMATE</a:t>
            </a:r>
          </a:p>
          <a:p>
            <a:endParaRPr dirty="0"/>
          </a:p>
          <a:p>
            <a:r>
              <a:rPr dirty="0"/>
              <a:t xml:space="preserve">The Specification tells us what must remain true.</a:t>
            </a:r>
          </a:p>
          <a:p>
            <a:endParaRPr dirty="0"/>
          </a:p>
          <a:p>
            <a:r>
              <a:rPr dirty="0"/>
              <a:t xml:space="preserve">ANIMATE</a:t>
            </a:r>
          </a:p>
          <a:p>
            <a:endParaRPr dirty="0"/>
          </a:p>
          <a:p>
            <a:r>
              <a:rPr dirty="0"/>
              <a:t xml:space="preserve">Architecture tells us what this part is responsible for and how it fits into the larger strategy.</a:t>
            </a:r>
          </a:p>
          <a:p>
            <a:endParaRPr dirty="0"/>
          </a:p>
          <a:p>
            <a:r>
              <a:rPr dirty="0"/>
              <a:t xml:space="preserve">ANIMATE</a:t>
            </a:r>
          </a:p>
          <a:p>
            <a:endParaRPr dirty="0"/>
          </a:p>
          <a:p>
            <a:r>
              <a:rPr dirty="0"/>
              <a:t xml:space="preserve">But there is a third source engineers often leave implicit: the engineering environment.</a:t>
            </a:r>
          </a:p>
          <a:p>
            <a:endParaRPr dirty="0"/>
          </a:p>
          <a:p>
            <a:r>
              <a:rPr dirty="0"/>
              <a:t xml:space="preserve">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 xml:space="preserve">ANIMATE</a:t>
            </a:r>
          </a:p>
          <a:p>
            <a:endParaRPr dirty="0"/>
          </a:p>
          <a:p>
            <a:r>
              <a:rPr dirty="0"/>
              <a:t xml:space="preserve">Those are not necessarily facts we would put on the architecture diagram. But they mean the designer is not choosing from the entire universe of software mechanisms.</a:t>
            </a:r>
          </a:p>
          <a:p>
            <a:endParaRPr dirty="0"/>
          </a:p>
          <a:p>
            <a:r>
              <a:rPr dirty="0"/>
              <a:t xml:space="preserve">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 xml:space="preserve">- Callback: Degrees of Freedom from Specification.</a:t>
            </a:r>
          </a:p>
          <a:p>
            <a:r>
              <a:rPr dirty="0"/>
              <a:t xml:space="preserve">- Not “what could I possibly implement?” but “which consequential choices are still open?”</a:t>
            </a:r>
          </a:p>
          <a:p>
            <a:endParaRPr dirty="0"/>
          </a:p>
          <a:p>
            <a:r>
              <a:rPr dirty="0"/>
              <a:t xml:space="preserve">=====</a:t>
            </a:r>
          </a:p>
          <a:p>
            <a:endParaRPr dirty="0"/>
          </a:p>
          <a:p>
            <a:r>
              <a:rPr dirty="0"/>
              <a:t xml:space="preserve">Remember Degrees of Freedom from Specification. Every consequential decision removes alternatives from the realization space.</a:t>
            </a:r>
          </a:p>
          <a:p>
            <a:endParaRPr dirty="0"/>
          </a:p>
          <a:p>
            <a:r>
              <a:rPr dirty="0"/>
              <a:t xml:space="preserve">The same idea now applies inside one component.</a:t>
            </a:r>
          </a:p>
          <a:p>
            <a:endParaRPr dirty="0"/>
          </a:p>
          <a:p>
            <a:r>
              <a:rPr dirty="0"/>
              <a:t xml:space="preserve">Specification removes choices inconsistent with our obligations. Architecture removes choices inconsistent with the system strategy. The engineering environment removes choices the organization has already standardized.</a:t>
            </a:r>
          </a:p>
          <a:p>
            <a:endParaRPr dirty="0"/>
          </a:p>
          <a:p>
            <a:r>
              <a:rPr dirty="0"/>
              <a:t xml:space="preserve">What remains is the local Design space.</a:t>
            </a:r>
          </a:p>
          <a:p>
            <a:endParaRPr dirty="0"/>
          </a:p>
          <a:p>
            <a:r>
              <a:rPr dirty="0"/>
              <a:t xml:space="preserve">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 xml:space="preserve">- One example per move: follow (retry mechanism), choose (internal data structure), escalate (sync vs async).</a:t>
            </a:r>
          </a:p>
          <a:p>
            <a:endParaRPr dirty="0"/>
          </a:p>
          <a:p>
            <a:r>
              <a:rPr dirty="0"/>
              <a:t xml:space="preserve">=====</a:t>
            </a:r>
          </a:p>
          <a:p>
            <a:endParaRPr dirty="0"/>
          </a:p>
          <a:p>
            <a:r>
              <a:rPr dirty="0"/>
              <a:t xml:space="preserve">ANIMATE</a:t>
            </a:r>
          </a:p>
          <a:p>
            <a:endParaRPr dirty="0"/>
          </a:p>
          <a:p>
            <a:r>
              <a:rPr dirty="0"/>
              <a:t xml:space="preserve">If the engineering environment already provides the retry mechanism, follow it. Reinventing retries inside this component is not Design creativity.</a:t>
            </a:r>
          </a:p>
          <a:p>
            <a:endParaRPr dirty="0"/>
          </a:p>
          <a:p>
            <a:r>
              <a:rPr dirty="0"/>
              <a:t xml:space="preserve">ANIMATE</a:t>
            </a:r>
          </a:p>
          <a:p>
            <a:endParaRPr dirty="0"/>
          </a:p>
          <a:p>
            <a:r>
              <a:rPr dirty="0"/>
              <a:t xml:space="preserve">If two internal data structures satisfy every inherited property and nothing outside this component cares, choose locally.</a:t>
            </a:r>
          </a:p>
          <a:p>
            <a:endParaRPr dirty="0"/>
          </a:p>
          <a:p>
            <a:r>
              <a:rPr dirty="0"/>
              <a:t xml:space="preserve">ANIMATE</a:t>
            </a:r>
          </a:p>
          <a:p>
            <a:endParaRPr dirty="0"/>
          </a:p>
          <a:p>
            <a:r>
              <a:rPr dirty="0"/>
              <a:t xml:space="preserve">But suppose whether we use synchronous or asynchronous coordination changes a system-wide consistency property. That question may have looked open only because Architecture failed to settle something consequential.</a:t>
            </a:r>
          </a:p>
          <a:p>
            <a:endParaRPr dirty="0"/>
          </a:p>
          <a:p>
            <a:r>
              <a:rPr dirty="0"/>
              <a:t xml:space="preserve">Design therefore has three moves: follow, choose, or escalate.</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 xml:space="preserve">- Not high-level vs low-level — the relationship is recursive.</a:t>
            </a:r>
          </a:p>
          <a:p>
            <a:r>
              <a:rPr dirty="0"/>
              <a:t xml:space="preserve">- Always: what do we take as given, and what do we decide within it?</a:t>
            </a:r>
          </a:p>
          <a:p>
            <a:endParaRPr dirty="0"/>
          </a:p>
          <a:p>
            <a:r>
              <a:rPr dirty="0"/>
              <a:t xml:space="preserve">=====</a:t>
            </a:r>
          </a:p>
          <a:p>
            <a:endParaRPr dirty="0"/>
          </a:p>
          <a:p>
            <a:r>
              <a:rPr dirty="0"/>
              <a:t xml:space="preserve">This gives us the cleanest relationship between the two activities.</a:t>
            </a:r>
          </a:p>
          <a:p>
            <a:endParaRPr dirty="0"/>
          </a:p>
          <a:p>
            <a:r>
              <a:rPr dirty="0"/>
              <a:t xml:space="preserve">Architecture establishes strategy. Design chooses tactics within it.</a:t>
            </a:r>
          </a:p>
          <a:p>
            <a:endParaRPr dirty="0"/>
          </a:p>
          <a:p>
            <a:r>
              <a:rPr dirty="0"/>
              <a:t xml:space="preserve">But do not translate that into “Architecture is always high-level and Design is always low-level.” The relationship is recursive.</a:t>
            </a:r>
          </a:p>
          <a:p>
            <a:endParaRPr dirty="0"/>
          </a:p>
          <a:p>
            <a:r>
              <a:rPr dirty="0"/>
              <a:t xml:space="preserve">A subsystem is tactical relative to the system architecture. But if that subsystem is itself too substantial to reason about directly, we may establish an architecture for it before designing its internal parts.</a:t>
            </a:r>
          </a:p>
          <a:p>
            <a:endParaRPr dirty="0"/>
          </a:p>
          <a:p>
            <a:r>
              <a:rPr dirty="0"/>
              <a:t xml:space="preserve">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 xml:space="preserve">- Stop when the remaining entities are small enough to reason about directly; then Design becomes Implementation.</a:t>
            </a:r>
          </a:p>
          <a:p>
            <a:r>
              <a:rPr dirty="0"/>
              <a:t xml:space="preserve">- Emphasize: “memory” / “object” is intuition, not a literal definition.</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2: the same modeling discipline at a finer scope.</a:t>
            </a:r>
          </a:p>
          <a:p>
            <a:endParaRPr dirty="0"/>
          </a:p>
          <a:p>
            <a:r>
              <a:rPr dirty="0"/>
              <a:t xml:space="preserve">- Call back to Specification and Architecture; do not re-teach the MAGE model taxonomy.</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Answer a behavioral question with a behavioral model of one concrete component.</a:t>
            </a:r>
          </a:p>
          <a:p>
            <a:endParaRPr dirty="0"/>
          </a:p>
          <a:p>
            <a:r>
              <a:rPr dirty="0"/>
              <a:t xml:space="preserve">- Behavioral model of one concrete component; make the property–model connection explicit.</a:t>
            </a:r>
          </a:p>
          <a:p>
            <a:r>
              <a:rPr dirty="0"/>
              <a:t xml:space="preserve">- Question: can a request return advice before validation completes?</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an ownership question forcing a different reduction of the same component.</a:t>
            </a:r>
          </a:p>
          <a:p>
            <a:endParaRPr dirty="0"/>
          </a:p>
          <a:p>
            <a:r>
              <a:rPr dirty="0"/>
              <a:t xml:space="preserve">- Same component, different reduction: ownership and lifetimes.</a:t>
            </a:r>
          </a:p>
          <a:p>
            <a:r>
              <a:rPr dirty="0"/>
              <a:t xml:space="preserve">- Question: can two requests mutate the same working state?</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Answer a change question with a structural model of the same component.</a:t>
            </a:r>
          </a:p>
          <a:p>
            <a:endParaRPr dirty="0"/>
          </a:p>
          <a:p>
            <a:r>
              <a:rPr dirty="0"/>
              <a:t xml:space="preserve">- Structural model: change locality and internal coupling.</a:t>
            </a:r>
          </a:p>
          <a:p>
            <a:r>
              <a:rPr dirty="0"/>
              <a:t xml:space="preserve">- Question: can we replace the advice model without changing validation?</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Answer a quantitative question with a measurement model instead of hand-waving.</a:t>
            </a:r>
          </a:p>
          <a:p>
            <a:endParaRPr dirty="0"/>
          </a:p>
          <a:p>
            <a:r>
              <a:rPr dirty="0"/>
              <a:t xml:space="preserve">- Measurement model: make one bound explicit instead of hand-waving “efficient”.</a:t>
            </a:r>
          </a:p>
          <a:p>
            <a:r>
              <a:rPr dirty="0"/>
              <a:t xml:space="preserve">- Question: can the component meet its 2-second budget?</a:t>
            </a:r>
          </a:p>
          <a:p>
            <a:r>
              <a:rPr dirty="0"/>
              <a:t xml:space="preserve">- Do not cover all six MAGE model classes; four is plenty.</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question determines the reduction; a model earns its place by what it settles.</a:t>
            </a:r>
          </a:p>
          <a:p>
            <a:endParaRPr dirty="0"/>
          </a:p>
          <a:p>
            <a:r>
              <a:rPr dirty="0"/>
              <a:t xml:space="preserve">- Same component, four representations; none of them is “the Design”.</a:t>
            </a:r>
          </a:p>
          <a:p>
            <a:r>
              <a:rPr dirty="0"/>
              <a:t xml:space="preserve">- Scope and purpose, not representation, make something Architecture or Design.</a:t>
            </a:r>
          </a:p>
          <a:p>
            <a:endParaRPr dirty="0"/>
          </a:p>
          <a:p>
            <a:r>
              <a:rPr dirty="0"/>
              <a:t xml:space="preserve">=====</a:t>
            </a:r>
          </a:p>
          <a:p>
            <a:endParaRPr dirty="0"/>
          </a:p>
          <a:p>
            <a:r>
              <a:rPr dirty="0"/>
              <a:t xml:space="preserve">Same component. Four representations.</a:t>
            </a:r>
          </a:p>
          <a:p>
            <a:endParaRPr dirty="0"/>
          </a:p>
          <a:p>
            <a:r>
              <a:rPr dirty="0"/>
              <a:t xml:space="preserve">None is “the Design.”</a:t>
            </a:r>
          </a:p>
          <a:p>
            <a:endParaRPr dirty="0"/>
          </a:p>
          <a:p>
            <a:r>
              <a:rPr dirty="0"/>
              <a:t xml:space="preserve">We deliberately threw information away differently each time because different information was relevant to each engineering question.</a:t>
            </a:r>
          </a:p>
          <a:p>
            <a:endParaRPr dirty="0"/>
          </a:p>
          <a:p>
            <a:r>
              <a:rPr dirty="0"/>
              <a:t xml:space="preserve">The representation is not what makes something Architecture or Design. Scope and purpose do.</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3: recurring questions with alternatives and consequences, not a catalogue.</a:t>
            </a:r>
          </a:p>
          <a:p>
            <a:endParaRPr dirty="0"/>
          </a:p>
          <a:p>
            <a:r>
              <a:rPr dirty="0"/>
              <a:t xml:space="preserve">- Recurring questions with alternatives and consequences — not “best practices”, no catalogue of named patterns.</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 xml:space="preserve">- Distinguish authoritative, derived, cached, replicated state.</a:t>
            </a:r>
          </a:p>
          <a:p>
            <a:r>
              <a:rPr dirty="0"/>
              <a:t xml:space="preserve">- When representations disagree, which one wins?</a:t>
            </a:r>
          </a:p>
          <a:p>
            <a:r>
              <a:rPr dirty="0"/>
              <a:t xml:space="preserve">- Do not drift into consistency yet.</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 xml:space="preserve">- Contrast the two required semantics; replication topology does not determine consistency.</a:t>
            </a:r>
          </a:p>
          <a:p>
            <a:r>
              <a:rPr dirty="0"/>
              <a:t xml:space="preserve">- Work the consequences under concurrency and failure.</a:t>
            </a:r>
          </a:p>
          <a:p>
            <a:r>
              <a:rPr dirty="0"/>
              <a:t xml:space="preserve">- If CAP comes up, keep it subordinate and technically correct.</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 xml:space="preserve">- Tradeoff: immediacy and simple completion vs latency isolation and resilience.</a:t>
            </a:r>
          </a:p>
          <a:p>
            <a:r>
              <a:rPr dirty="0"/>
              <a:t xml:space="preserve">- The deferred side takes on retries, idempotence, and ordering.</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 xml:space="preserve">- Fundamental-theorem territory: what isolation buys, what complexity it costs.</a:t>
            </a:r>
          </a:p>
          <a:p>
            <a:r>
              <a:rPr dirty="0"/>
              <a:t xml:space="preserve">- An additional layer is not automatically sophisticated or better.</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 xml:space="preserve">- Parnas 1972, information hiding: hide the decisions most likely to change behind stable seams.</a:t>
            </a:r>
          </a:p>
          <a:p>
            <a:r>
              <a:rPr dirty="0"/>
              <a:t xml:space="preserve">- Recover modularity verbally — decomposability, understandability, change containment, failure containment; do not enumerate the five Meyer criteria.</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 xml:space="preserve">- Recurring question → plausible alternatives → tradeoff; explicitly reject catalogue thinking.</a:t>
            </a:r>
          </a:p>
          <a:p>
            <a:r>
              <a:rPr dirty="0"/>
              <a:t xml:space="preserve">- Design is choosing which consequences fit the problem, not the “good” side.</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 xml:space="preserve">- Payoff of the Architecture wall slide; two builds — the pipe fits, then a bend does not.</a:t>
            </a:r>
          </a:p>
          <a:p>
            <a:r>
              <a:rPr dirty="0"/>
              <a:t xml:space="preserve">- A misfit is information about the strategy, not just a plumbing failure.</a:t>
            </a:r>
          </a:p>
          <a:p>
            <a:endParaRPr dirty="0"/>
          </a:p>
          <a:p>
            <a:r>
              <a:rPr dirty="0"/>
              <a:t xml:space="preserve">=====</a:t>
            </a:r>
          </a:p>
          <a:p>
            <a:endParaRPr dirty="0"/>
          </a:p>
          <a:p>
            <a:r>
              <a:rPr dirty="0"/>
              <a:t xml:space="preserve">Remember this wall from Architecture. At the time, we deliberately did not draw the plumbing.</a:t>
            </a:r>
          </a:p>
          <a:p>
            <a:endParaRPr dirty="0"/>
          </a:p>
          <a:p>
            <a:r>
              <a:rPr dirty="0"/>
              <a:t xml:space="preserve">Architecture had chosen the wall location, depth, and permitted penetrations. Those choices created a space in which plumbing Design would later occur.</a:t>
            </a:r>
          </a:p>
          <a:p>
            <a:endParaRPr dirty="0"/>
          </a:p>
          <a:p>
            <a:r>
              <a:rPr dirty="0"/>
              <a:t xml:space="preserve">Now we are the plumbing designer.</a:t>
            </a:r>
          </a:p>
          <a:p>
            <a:endParaRPr dirty="0"/>
          </a:p>
          <a:p>
            <a:r>
              <a:rPr dirty="0"/>
              <a:t xml:space="preserve">ANIMATE</a:t>
            </a:r>
          </a:p>
          <a:p>
            <a:endParaRPr dirty="0"/>
          </a:p>
          <a:p>
            <a:r>
              <a:rPr dirty="0"/>
              <a:t xml:space="preserve">Sometimes the required plumbing fits. Good: the strategy afforded a workable tactic.</a:t>
            </a:r>
          </a:p>
          <a:p>
            <a:endParaRPr dirty="0"/>
          </a:p>
          <a:p>
            <a:r>
              <a:rPr dirty="0"/>
              <a:t xml:space="preserve">ANIMATE</a:t>
            </a:r>
          </a:p>
          <a:p>
            <a:endParaRPr dirty="0"/>
          </a:p>
          <a:p>
            <a:r>
              <a:rPr dirty="0"/>
              <a:t xml:space="preserve">Sometimes it does not.</a:t>
            </a:r>
          </a:p>
          <a:p>
            <a:endParaRPr dirty="0"/>
          </a:p>
          <a:p>
            <a:r>
              <a:rPr dirty="0"/>
              <a:t xml:space="preserve">That is not merely a plumbing-design failure. It is information about the strategy we inherited. Perhaps the pipe can be rerouted. Perhaps the wall must move. Perhaps the requirement that created this pipe must change.</a:t>
            </a:r>
          </a:p>
          <a:p>
            <a:endParaRPr dirty="0"/>
          </a:p>
          <a:p>
            <a:r>
              <a:rPr dirty="0"/>
              <a:t xml:space="preserve">Design is therefore not just implementation planning. It is a test of whether Architecture's strategy can actually be realized.</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an apparent local freedom with no satisfactory local answer becoming an architectural question.</a:t>
            </a:r>
          </a:p>
          <a:p>
            <a:endParaRPr dirty="0"/>
          </a:p>
          <a:p>
            <a:r>
              <a:rPr dirty="0"/>
              <a:t xml:space="preserve">- Apparent local freedom, no satisfactory local answer: escalate rather than torture the local design.</a:t>
            </a:r>
          </a:p>
          <a:p>
            <a:endParaRPr dirty="0"/>
          </a:p>
          <a:p>
            <a:r>
              <a:rPr dirty="0"/>
              <a:t xml:space="preserve">=====</a:t>
            </a:r>
          </a:p>
          <a:p>
            <a:endParaRPr dirty="0"/>
          </a:p>
          <a:p>
            <a:r>
              <a:rPr dirty="0"/>
              <a:t xml:space="preserve">Architecture did not specify whether this interaction was synchronous or asynchronous. At first glance, that looks like a legitimate Design freedom.</a:t>
            </a:r>
          </a:p>
          <a:p>
            <a:endParaRPr dirty="0"/>
          </a:p>
          <a:p>
            <a:r>
              <a:rPr dirty="0"/>
              <a:t xml:space="preserve">ANIMATE</a:t>
            </a:r>
          </a:p>
          <a:p>
            <a:endParaRPr dirty="0"/>
          </a:p>
          <a:p>
            <a:r>
              <a:rPr dirty="0"/>
              <a:t xml:space="preserve">We try synchronous. It violates the failure-isolation or latency property Architecture was supposed to support.</a:t>
            </a:r>
          </a:p>
          <a:p>
            <a:endParaRPr dirty="0"/>
          </a:p>
          <a:p>
            <a:r>
              <a:rPr dirty="0"/>
              <a:t xml:space="preserve">ANIMATE</a:t>
            </a:r>
          </a:p>
          <a:p>
            <a:endParaRPr dirty="0"/>
          </a:p>
          <a:p>
            <a:r>
              <a:rPr dirty="0"/>
              <a:t xml:space="preserve">We try asynchronous. Now we cannot satisfy the consistency semantics the Specification requires.</a:t>
            </a:r>
          </a:p>
          <a:p>
            <a:endParaRPr dirty="0"/>
          </a:p>
          <a:p>
            <a:r>
              <a:rPr dirty="0"/>
              <a:t xml:space="preserve">ANIMATE</a:t>
            </a:r>
          </a:p>
          <a:p>
            <a:endParaRPr dirty="0"/>
          </a:p>
          <a:p>
            <a:r>
              <a:rPr dirty="0"/>
              <a:t xml:space="preserve">The important discovery is not that the designer needs a cleverer library. It is that the apparent degree of freedom was consequential.</a:t>
            </a:r>
          </a:p>
          <a:p>
            <a:endParaRPr dirty="0"/>
          </a:p>
          <a:p>
            <a:r>
              <a:rPr dirty="0"/>
              <a:t xml:space="preserve">ANIMATE</a:t>
            </a:r>
          </a:p>
          <a:p>
            <a:endParaRPr dirty="0"/>
          </a:p>
          <a:p>
            <a:r>
              <a:rPr dirty="0"/>
              <a:t xml:space="preserve">Detailed Design has discovered an architectural gap.</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 xml:space="preserve">- The sharp point is epistemic: the model now gives wrong answers.</a:t>
            </a:r>
          </a:p>
          <a:p>
            <a:r>
              <a:rPr dirty="0"/>
              <a:t xml:space="preserve">- Degradation can begin on the first day of implementation.</a:t>
            </a:r>
          </a:p>
          <a:p>
            <a:endParaRPr dirty="0"/>
          </a:p>
          <a:p>
            <a:r>
              <a:rPr dirty="0"/>
              <a:t xml:space="preserve">=====</a:t>
            </a:r>
          </a:p>
          <a:p>
            <a:endParaRPr dirty="0"/>
          </a:p>
          <a:p>
            <a:r>
              <a:rPr dirty="0"/>
              <a:t xml:space="preserve">Here is the tempting alternative to escalation.</a:t>
            </a:r>
          </a:p>
          <a:p>
            <a:endParaRPr dirty="0"/>
          </a:p>
          <a:p>
            <a:r>
              <a:rPr dirty="0"/>
              <a:t xml:space="preserve">The architecture says A reaches B through this port. But the port makes today's feature inconvenient, so somebody reaches around it. Just this once.</a:t>
            </a:r>
          </a:p>
          <a:p>
            <a:endParaRPr dirty="0"/>
          </a:p>
          <a:p>
            <a:r>
              <a:rPr dirty="0"/>
              <a:t xml:space="preserve">ANIMATE</a:t>
            </a:r>
          </a:p>
          <a:p>
            <a:endParaRPr dirty="0"/>
          </a:p>
          <a:p>
            <a:r>
              <a:rPr dirty="0"/>
              <a:t xml:space="preserve">The feature works. Tests pass.</a:t>
            </a:r>
          </a:p>
          <a:p>
            <a:endParaRPr dirty="0"/>
          </a:p>
          <a:p>
            <a:r>
              <a:rPr dirty="0"/>
              <a:t xml:space="preserve">ANIMATE</a:t>
            </a:r>
          </a:p>
          <a:p>
            <a:endParaRPr dirty="0"/>
          </a:p>
          <a:p>
            <a:r>
              <a:rPr dirty="0"/>
              <a:t xml:space="preserve">And the architecture is now false.</a:t>
            </a:r>
          </a:p>
          <a:p>
            <a:endParaRPr dirty="0"/>
          </a:p>
          <a:p>
            <a:r>
              <a:rPr dirty="0"/>
              <a:t xml:space="preserve">That has a local cost: we introduced coupling. But the more interesting cost is epistemic.</a:t>
            </a:r>
          </a:p>
          <a:p>
            <a:endParaRPr dirty="0"/>
          </a:p>
          <a:p>
            <a:r>
              <a:rPr dirty="0"/>
              <a:t xml:space="preserve">Remember the Architecture lecture. We used dependency models to establish claims such as “no dependency crosses this boundary.” Once the implementation silently violates the model, that analysis can produce the wrong answer.</a:t>
            </a:r>
          </a:p>
          <a:p>
            <a:endParaRPr dirty="0"/>
          </a:p>
          <a:p>
            <a:r>
              <a:rPr dirty="0"/>
              <a:t xml:space="preserve">ANIMATE</a:t>
            </a:r>
          </a:p>
          <a:p>
            <a:endParaRPr dirty="0"/>
          </a:p>
          <a:p>
            <a:r>
              <a:rPr dirty="0"/>
              <a:t xml:space="preserve">Ask whether B can be replaced independently. The architecture says yes. The system says no.</a:t>
            </a:r>
          </a:p>
          <a:p>
            <a:endParaRPr dirty="0"/>
          </a:p>
          <a:p>
            <a:r>
              <a:rPr dirty="0"/>
              <a:t xml:space="preserve">Architectural degradation is therefore not merely untidy code or “technical debt.” It destroys the predictive value of the architectural knowledge we use to make engineering decisions.</a:t>
            </a:r>
          </a:p>
          <a:p>
            <a:endParaRPr dirty="0"/>
          </a:p>
          <a:p>
            <a:r>
              <a:rPr dirty="0"/>
              <a:t xml:space="preserve">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 xml:space="preserve">- Route each discovery: local, environment-wide convention, Architecture, or Specification.</a:t>
            </a:r>
          </a:p>
          <a:p>
            <a:r>
              <a:rPr dirty="0"/>
              <a:t xml:space="preserve">- Workarounds: remove, model, or change the rule — never silently ignore.</a:t>
            </a:r>
          </a:p>
          <a:p>
            <a:endParaRPr dirty="0"/>
          </a:p>
          <a:p>
            <a:r>
              <a:rPr dirty="0"/>
              <a:t xml:space="preserve">=====</a:t>
            </a:r>
          </a:p>
          <a:p>
            <a:endParaRPr dirty="0"/>
          </a:p>
          <a:p>
            <a:r>
              <a:rPr dirty="0"/>
              <a:t xml:space="preserve">Design is where many apparently free decisions first encounter reality.</a:t>
            </a:r>
          </a:p>
          <a:p>
            <a:endParaRPr dirty="0"/>
          </a:p>
          <a:p>
            <a:r>
              <a:rPr dirty="0"/>
              <a:t xml:space="preserve">ANIMATE</a:t>
            </a:r>
          </a:p>
          <a:p>
            <a:endParaRPr dirty="0"/>
          </a:p>
          <a:p>
            <a:r>
              <a:rPr dirty="0"/>
              <a:t xml:space="preserve">Sometimes the answer really is local. Fine. Keep it local.</a:t>
            </a:r>
          </a:p>
          <a:p>
            <a:endParaRPr dirty="0"/>
          </a:p>
          <a:p>
            <a:r>
              <a:rPr dirty="0"/>
              <a:t xml:space="preserve">ANIMATE</a:t>
            </a:r>
          </a:p>
          <a:p>
            <a:endParaRPr dirty="0"/>
          </a:p>
          <a:p>
            <a:r>
              <a:rPr dirty="0"/>
              <a:t xml:space="preserve">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 xml:space="preserve">ANIMATE</a:t>
            </a:r>
          </a:p>
          <a:p>
            <a:endParaRPr dirty="0"/>
          </a:p>
          <a:p>
            <a:r>
              <a:rPr dirty="0"/>
              <a:t xml:space="preserve">Sometimes the consequence is structural and belongs in Architecture.</a:t>
            </a:r>
          </a:p>
          <a:p>
            <a:endParaRPr dirty="0"/>
          </a:p>
          <a:p>
            <a:r>
              <a:rPr dirty="0"/>
              <a:t xml:space="preserve">ANIMATE</a:t>
            </a:r>
          </a:p>
          <a:p>
            <a:endParaRPr dirty="0"/>
          </a:p>
          <a:p>
            <a:r>
              <a:rPr dirty="0"/>
              <a:t xml:space="preserve">And sometimes we discover that what must be true was itself incomplete, and the feedback reaches Specification.</a:t>
            </a:r>
          </a:p>
          <a:p>
            <a:endParaRPr dirty="0"/>
          </a:p>
          <a:p>
            <a:r>
              <a:rPr dirty="0"/>
              <a:t xml:space="preserve">This is why a workaround cannot remain invisible. Remove it if it was a mistake. Model it if the architecture genuinely permits the exception. Change the rule if repeated exceptions tell us the rule was wrong.</a:t>
            </a:r>
          </a:p>
          <a:p>
            <a:endParaRPr dirty="0"/>
          </a:p>
          <a:p>
            <a:r>
              <a:rPr dirty="0"/>
              <a:t xml:space="preserve">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 xml:space="preserve">- Callback: Architecture’s “buy information”; implementation joins the menu as cheap evidence.</a:t>
            </a:r>
          </a:p>
          <a:p>
            <a:endParaRPr dirty="0"/>
          </a:p>
          <a:p>
            <a:r>
              <a:rPr dirty="0"/>
              <a:t xml:space="preserve">=====</a:t>
            </a:r>
          </a:p>
          <a:p>
            <a:endParaRPr dirty="0"/>
          </a:p>
          <a:p>
            <a:r>
              <a:rPr dirty="0"/>
              <a:t xml:space="preserve">Architecture gave us a rule: if uncertainty could change the decision, consider buying information.</a:t>
            </a:r>
          </a:p>
          <a:p>
            <a:endParaRPr dirty="0"/>
          </a:p>
          <a:p>
            <a:r>
              <a:rPr dirty="0"/>
              <a:t xml:space="preserve">Traditionally, implementation was often the most expensive possible way to buy that information.</a:t>
            </a:r>
          </a:p>
          <a:p>
            <a:endParaRPr dirty="0"/>
          </a:p>
          <a:p>
            <a:r>
              <a:rPr dirty="0"/>
              <a:t xml:space="preserve">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 xml:space="preserve">- Ground in the MAGE case without overclaiming: dense failures motivated a structural model; not a universal phase transition.</a:t>
            </a:r>
          </a:p>
          <a:p>
            <a:endParaRPr dirty="0"/>
          </a:p>
          <a:p>
            <a:r>
              <a:rPr dirty="0"/>
              <a:t xml:space="preserve">=====</a:t>
            </a:r>
          </a:p>
          <a:p>
            <a:endParaRPr dirty="0"/>
          </a:p>
          <a:p>
            <a:r>
              <a:rPr dirty="0"/>
              <a:t xml:space="preserve">At ordinary implementation speed, three related failures may occur weeks apart. Each one arrives with a local context and gets a local fix.</a:t>
            </a:r>
          </a:p>
          <a:p>
            <a:endParaRPr dirty="0"/>
          </a:p>
          <a:p>
            <a:r>
              <a:rPr dirty="0"/>
              <a:t xml:space="preserve">ANIMATE</a:t>
            </a:r>
          </a:p>
          <a:p>
            <a:endParaRPr dirty="0"/>
          </a:p>
          <a:p>
            <a:r>
              <a:rPr dirty="0"/>
              <a:t xml:space="preserve">At much higher implementation velocity, the same family of failures can arrive in dense succession. Now the engineer can hold them in mind together and ask a different question: why do these keep happening?</a:t>
            </a:r>
          </a:p>
          <a:p>
            <a:endParaRPr dirty="0"/>
          </a:p>
          <a:p>
            <a:r>
              <a:rPr dirty="0"/>
              <a:t xml:space="preserve">That temporal compression can expose a common structural cause.</a:t>
            </a:r>
          </a:p>
          <a:p>
            <a:endParaRPr dirty="0"/>
          </a:p>
          <a:p>
            <a:r>
              <a:rPr dirty="0"/>
              <a:t xml:space="preserve">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Synthesize the economic and epistemic effects: velocity changes Design reasoning, not just speed.</a:t>
            </a:r>
          </a:p>
          <a:p>
            <a:endParaRPr dirty="0"/>
          </a:p>
          <a:p>
            <a:r>
              <a:rPr dirty="0"/>
              <a:t xml:space="preserve">- Build order: economic (right) first, then epistemic (left).</a:t>
            </a:r>
          </a:p>
          <a:p>
            <a:r>
              <a:rPr dirty="0"/>
              <a:t xml:space="preserve">- Neither effect transfers judgment to the agent.</a:t>
            </a:r>
          </a:p>
          <a:p>
            <a:endParaRPr dirty="0"/>
          </a:p>
          <a:p>
            <a:r>
              <a:rPr dirty="0"/>
              <a:t xml:space="preserve">=====</a:t>
            </a:r>
          </a:p>
          <a:p>
            <a:endParaRPr dirty="0"/>
          </a:p>
          <a:p>
            <a:r>
              <a:rPr dirty="0"/>
              <a:t xml:space="preserve">In Architecture, GenAI lowered the cost of evidence about architectural alternatives.</a:t>
            </a:r>
          </a:p>
          <a:p>
            <a:endParaRPr dirty="0"/>
          </a:p>
          <a:p>
            <a:r>
              <a:rPr dirty="0"/>
              <a:t xml:space="preserve">Here the same economic change operates inside Design, but there is another effect.</a:t>
            </a:r>
          </a:p>
          <a:p>
            <a:endParaRPr dirty="0"/>
          </a:p>
          <a:p>
            <a:r>
              <a:rPr dirty="0"/>
              <a:t xml:space="preserve">ANIMATE</a:t>
            </a:r>
          </a:p>
          <a:p>
            <a:endParaRPr dirty="0"/>
          </a:p>
          <a:p>
            <a:r>
              <a:rPr dirty="0"/>
              <a:t xml:space="preserve">On the right, the obvious economic effect: we can afford to implement competing tactics, prototype a data structure, measure a coordination mechanism, or perform a refactoring that previously would have been too expensive merely to learn from.</a:t>
            </a:r>
          </a:p>
          <a:p>
            <a:endParaRPr dirty="0"/>
          </a:p>
          <a:p>
            <a:r>
              <a:rPr dirty="0"/>
              <a:t xml:space="preserve">ANIMATE</a:t>
            </a:r>
          </a:p>
          <a:p>
            <a:endParaRPr dirty="0"/>
          </a:p>
          <a:p>
            <a:r>
              <a:rPr dirty="0"/>
              <a:t xml:space="preserve">On the left is the subtler epistemic effect: velocity changes the temporal distribution of evidence. Related failures can become visible together.</a:t>
            </a:r>
          </a:p>
          <a:p>
            <a:endParaRPr dirty="0"/>
          </a:p>
          <a:p>
            <a:r>
              <a:rPr dirty="0"/>
              <a:t xml:space="preserve">ANIMATE</a:t>
            </a:r>
          </a:p>
          <a:p>
            <a:endParaRPr dirty="0"/>
          </a:p>
          <a:p>
            <a:r>
              <a:rPr dirty="0"/>
              <a:t xml:space="preserve">Neither effect transfers judgment to the agent. It changes what evidence is economically available to the engineer.</a:t>
            </a:r>
          </a:p>
          <a:p>
            <a:endParaRPr dirty="0"/>
          </a:p>
          <a:p>
            <a:r>
              <a:rPr dirty="0"/>
              <a:t xml:space="preserve">ANIMATE</a:t>
            </a:r>
          </a:p>
          <a:p>
            <a:endParaRPr dirty="0"/>
          </a:p>
          <a:p>
            <a:r>
              <a:rPr dirty="0"/>
              <a:t xml:space="preserve">Velocity does not merely let you implement the Design faster. It can let you reason about the Design differently.</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 xml:space="preserve">- Explain the deliverable and immediately move; do not overload.</a:t>
            </a:r>
          </a:p>
          <a:p>
            <a:r>
              <a:rPr dirty="0"/>
              <a:t xml:space="preserve">- One component — the Advice Service — with responsibility, interface, inherited constraints, and 2–3 environment conventions.</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 xml:space="preserve">- Classify remaining freedoms FOLLOW / CHOOSE / ESCALATE before answering any; ~3 minutes.</a:t>
            </a:r>
          </a:p>
          <a:p>
            <a:r>
              <a:rPr dirty="0"/>
              <a:t xml:space="preserve">- Do not prefill examples; reveal them after 2–3 minutes as scaffolding.</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 xml:space="preserve">- Force alternatives before convergence; each design carries one purposeful model; ~7 minutes.</a:t>
            </a:r>
          </a:p>
          <a:p>
            <a:r>
              <a:rPr dirty="0"/>
              <a:t xml:space="preserve">- Require: parts and responsibilities, interactions and state, one model, one expected tradeoff.</a:t>
            </a: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 xml:space="preserve">- Defend against Specification, Architecture, environment; name the genuine tradeoff, what the model establishes, and anything to escalate; ~6 minutes including shares.</a:t>
            </a: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 xml:space="preserve">- Whole-room debrief: sort discoveries into FOLLOW / CHOOSE / ENVIRONMENT / ARCHITECTURE / SPECIFICATION.</a:t>
            </a:r>
          </a:p>
          <a:p>
            <a:r>
              <a:rPr dirty="0"/>
              <a:t xml:space="preserve">- Ask teams for examples to populate verbally.</a:t>
            </a: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 xml:space="preserve">- Constraints flow down; evidence flows up.</a:t>
            </a:r>
          </a:p>
          <a:p>
            <a:r>
              <a:rPr dirty="0"/>
              <a:t xml:space="preserve">- Implementation is the terminal case — no fourth verbose definition.</a:t>
            </a:r>
          </a:p>
          <a:p>
            <a:endParaRPr dirty="0"/>
          </a:p>
          <a:p>
            <a:r>
              <a:rPr dirty="0"/>
              <a:t xml:space="preserve">=====</a:t>
            </a:r>
          </a:p>
          <a:p>
            <a:endParaRPr dirty="0"/>
          </a:p>
          <a:p>
            <a:r>
              <a:rPr dirty="0"/>
              <a:t xml:space="preserve">We now have the complete downward progression.</a:t>
            </a:r>
          </a:p>
          <a:p>
            <a:endParaRPr dirty="0"/>
          </a:p>
          <a:p>
            <a:r>
              <a:rPr dirty="0"/>
              <a:t xml:space="preserve">Specification narrows the space of acceptable systems.</a:t>
            </a:r>
          </a:p>
          <a:p>
            <a:endParaRPr dirty="0"/>
          </a:p>
          <a:p>
            <a:r>
              <a:rPr dirty="0"/>
              <a:t xml:space="preserve">Architecture chooses consequential organization for one of them and deliberately treats its major parts as units.</a:t>
            </a:r>
          </a:p>
          <a:p>
            <a:endParaRPr dirty="0"/>
          </a:p>
          <a:p>
            <a:r>
              <a:rPr dirty="0"/>
              <a:t xml:space="preserve">Design opens those units and chooses how they realize their responsibilities.</a:t>
            </a:r>
          </a:p>
          <a:p>
            <a:endParaRPr dirty="0"/>
          </a:p>
          <a:p>
            <a:r>
              <a:rPr dirty="0"/>
              <a:t xml:space="preserve">If what we open is still too large to reason about directly, the process recurs. We may establish another architecture at that scope and design within it.</a:t>
            </a:r>
          </a:p>
          <a:p>
            <a:endParaRPr dirty="0"/>
          </a:p>
          <a:p>
            <a:r>
              <a:rPr dirty="0"/>
              <a:t xml:space="preserve">Eventually the entities are small enough to reason about directly. Further decomposition no longer buys useful understanding. We implement them.</a:t>
            </a:r>
          </a:p>
          <a:p>
            <a:endParaRPr dirty="0"/>
          </a:p>
          <a:p>
            <a:r>
              <a:rPr dirty="0"/>
              <a:t xml:space="preserve">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 xml:space="preserve">Engineering proceeds downward through constraints and upward through evidence.</a:t>
            </a:r>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45 seconds — </a:t>
            </a:r>
            <a:r>
              <a:rPr i="1" dirty="0"/>
              <a:t>Land the closing sentence and stop.</a:t>
            </a:r>
          </a:p>
          <a:p>
            <a:endParaRPr dirty="0"/>
          </a:p>
          <a:p>
            <a:r>
              <a:rPr dirty="0"/>
              <a:t xml:space="preserve">- Land the two sentences and stop; no third slogan.</a:t>
            </a:r>
          </a:p>
          <a:p>
            <a:endParaRPr dirty="0"/>
          </a:p>
          <a:p>
            <a:r>
              <a:rPr dirty="0"/>
              <a:t xml:space="preserve">=====</a:t>
            </a:r>
          </a:p>
          <a:p>
            <a:endParaRPr dirty="0"/>
          </a:p>
          <a:p>
            <a:r>
              <a:rPr dirty="0"/>
              <a:t xml:space="preserve">Architecture is strategy. Design is tactics.</a:t>
            </a:r>
          </a:p>
          <a:p>
            <a:endParaRPr dirty="0"/>
          </a:p>
          <a:p>
            <a:r>
              <a:rPr dirty="0"/>
              <a:t xml:space="preserve">But that relationship is not one-way. Architecture creates the space within which Design works. Design supplies evidence about whether that space actually permits a satisfactory solution.</a:t>
            </a:r>
          </a:p>
          <a:p>
            <a:endParaRPr dirty="0"/>
          </a:p>
          <a:p>
            <a:r>
              <a:rPr dirty="0"/>
              <a:t xml:space="preserve">That is why good Design is neither unconstrained creativity nor mechanical implementation of somebody else's boxes.</a:t>
            </a:r>
          </a:p>
          <a:p>
            <a:endParaRPr dirty="0"/>
          </a:p>
          <a:p>
            <a:r>
              <a:rPr dirty="0"/>
              <a:t xml:space="preserve">It is engineering within inherited constraints, with enough judgment to recognize when those constraints themselves need to change.</a:t>
            </a:r>
          </a:p>
          <a:p>
            <a:endParaRPr dirty="0"/>
          </a:p>
          <a:p>
            <a:r>
              <a:rPr dirty="0"/>
              <a:t xml:space="preserve">Architecture constrains the available tactics. Design tests whether the strategy is workable.</a:t>
            </a:r>
          </a:p>
          <a:p>
            <a:endParaRPr dirty="0"/>
          </a:p>
          <a:p>
            <a:r>
              <a:rPr dirty="0"/>
              <a:t xml:space="preserve">And stop.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normAutofit/>
          </a:bodyPr>
          <a:lstStyle/>
          <a:p>
            <a:pPr algn="ctr">
              <a:buNone/>
            </a:pPr>
            <a:r>
              <a:rPr lang="en-US" sz="5200" b="0" i="0" dirty="0">
                <a:solidFill>
                  <a:srgbClr val="000000"/>
                </a:solidFill>
              </a:rPr>
              <a:t>Software Design</a:t>
            </a:r>
          </a:p>
          <a:p>
            <a:pPr algn="ctr">
              <a:spcBef>
                <a:spcPts val="600"/>
              </a:spcBef>
              <a:buNone/>
            </a:pPr>
            <a:r>
              <a:rPr lang="en-US" sz="2800" b="0" i="1" dirty="0">
                <a:solidFill>
                  <a:srgbClr val="8E6F3E"/>
                </a:solidFill>
              </a:rPr>
              <a:t>How should each part realize its responsibility?</a:t>
            </a:r>
          </a:p>
          <a:p>
            <a:pPr algn="ctr">
              <a:buNone/>
            </a:pPr>
            <a:endParaRPr lang="en-US" sz="1000"/>
          </a:p>
          <a:p>
            <a:pPr algn="ctr">
              <a:spcBef>
                <a:spcPts val="400"/>
              </a:spcBef>
              <a:buNone/>
            </a:pPr>
            <a:r>
              <a:rPr lang="en-US" sz="1800" b="0" i="1" dirty="0">
                <a:solidFill>
                  <a:srgbClr val="000000"/>
                </a:solidFill>
              </a:rPr>
              <a:t>Prof. James C. Davis</a:t>
            </a:r>
          </a:p>
          <a:p>
            <a:pPr algn="ctr">
              <a:spcBef>
                <a:spcPts val="100"/>
              </a:spcBef>
              <a:buNone/>
            </a:pPr>
            <a:r>
              <a:rPr lang="en-US" sz="1800" b="0" i="1" dirty="0">
                <a:solidFill>
                  <a:srgbClr val="000000"/>
                </a:solidFill>
              </a:rPr>
              <a:t>Prof. Steve France</a:t>
            </a:r>
          </a:p>
        </p:txBody>
      </p:sp>
      <p:sp>
        <p:nvSpPr>
          <p:cNvPr id="100" name="Label"/>
          <p:cNvSpPr txBox="1"/>
          <p:nvPr/>
        </p:nvSpPr>
        <p:spPr>
          <a:xfrm>
            <a:off x="224171" y="3760000"/>
            <a:ext cx="8695654" cy="330000"/>
          </a:xfrm>
          <a:prstGeom prst="rect">
            <a:avLst/>
          </a:prstGeom>
          <a:noFill/>
          <a:ln>
            <a:noFill/>
          </a:ln>
        </p:spPr>
        <p:txBody>
          <a:bodyPr wrap="square" lIns="0" tIns="0" rIns="0" bIns="0" anchor="t">
            <a:normAutofit/>
          </a:bodyPr>
          <a:lstStyle/>
          <a:p>
            <a:pPr algn="ctr">
              <a:buNone/>
            </a:pPr>
            <a:r>
              <a:rPr lang="en-US" sz="1400" b="1" i="0" dirty="0">
                <a:solidFill>
                  <a:srgbClr val="8E6F3E"/>
                </a:solidFill>
              </a:rPr>
              <a:t>ARCHITECTURE HANDED US PARTS</a:t>
            </a:r>
          </a:p>
        </p:txBody>
      </p:sp>
      <p:sp>
        <p:nvSpPr>
          <p:cNvPr id="101" name="S101"/>
          <p:cNvSpPr/>
          <p:nvPr/>
        </p:nvSpPr>
        <p:spPr>
          <a:xfrm>
            <a:off x="112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A</a:t>
            </a:r>
          </a:p>
        </p:txBody>
      </p:sp>
      <p:sp>
        <p:nvSpPr>
          <p:cNvPr id="102" name="S102"/>
          <p:cNvSpPr/>
          <p:nvPr/>
        </p:nvSpPr>
        <p:spPr>
          <a:xfrm>
            <a:off x="2902000" y="4120000"/>
            <a:ext cx="1560000" cy="620000"/>
          </a:xfrm>
          <a:prstGeom prst="rect">
            <a:avLst/>
          </a:prstGeom>
          <a:solidFill>
            <a:srgbClr val="8E6F3E"/>
          </a:solidFill>
          <a:ln w="28575">
            <a:solidFill>
              <a:srgbClr val="5C4826"/>
            </a:solidFill>
          </a:ln>
        </p:spPr>
        <p:txBody>
          <a:bodyPr wrap="square" lIns="91440" tIns="45720" rIns="91440" bIns="45720" anchor="ctr">
            <a:normAutofit/>
          </a:bodyPr>
          <a:lstStyle/>
          <a:p>
            <a:pPr algn="ctr">
              <a:buNone/>
            </a:pPr>
            <a:r>
              <a:rPr lang="en-US" sz="1600" b="1" i="0" dirty="0">
                <a:solidFill>
                  <a:srgbClr val="FFFFFF"/>
                </a:solidFill>
              </a:rPr>
              <a:t>PART B</a:t>
            </a:r>
          </a:p>
        </p:txBody>
      </p:sp>
      <p:sp>
        <p:nvSpPr>
          <p:cNvPr id="103" name="S103"/>
          <p:cNvSpPr/>
          <p:nvPr/>
        </p:nvSpPr>
        <p:spPr>
          <a:xfrm>
            <a:off x="468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C</a:t>
            </a:r>
          </a:p>
        </p:txBody>
      </p:sp>
      <p:sp>
        <p:nvSpPr>
          <p:cNvPr id="104" name="S104"/>
          <p:cNvSpPr/>
          <p:nvPr/>
        </p:nvSpPr>
        <p:spPr>
          <a:xfrm>
            <a:off x="6462000" y="4120000"/>
            <a:ext cx="156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PART D</a:t>
            </a:r>
          </a:p>
        </p:txBody>
      </p:sp>
      <p:sp>
        <p:nvSpPr>
          <p:cNvPr id="105" name="TwoLines"/>
          <p:cNvSpPr txBox="1"/>
          <p:nvPr/>
        </p:nvSpPr>
        <p:spPr>
          <a:xfrm>
            <a:off x="224171" y="4980000"/>
            <a:ext cx="8695654" cy="900000"/>
          </a:xfrm>
          <a:prstGeom prst="rect">
            <a:avLst/>
          </a:prstGeom>
          <a:noFill/>
          <a:ln>
            <a:noFill/>
          </a:ln>
        </p:spPr>
        <p:txBody>
          <a:bodyPr wrap="square" lIns="0" tIns="0" rIns="0" bIns="0" anchor="t">
            <a:normAutofit/>
          </a:bodyPr>
          <a:lstStyle/>
          <a:p>
            <a:pPr algn="ctr">
              <a:buNone/>
            </a:pPr>
            <a:r>
              <a:rPr lang="en-US" sz="1700" b="0" i="0" dirty="0">
                <a:solidFill>
                  <a:srgbClr val="555960"/>
                </a:solidFill>
              </a:rPr>
              <a:t>Architecture gave each part a responsibility and an interface</a:t>
            </a:r>
          </a:p>
          <a:p>
            <a:pPr algn="ctr">
              <a:spcBef>
                <a:spcPts val="140"/>
              </a:spcBef>
              <a:buNone/>
            </a:pPr>
            <a:r>
              <a:rPr lang="en-US" sz="17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Boxes all the way down… until they aren’t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1600000" y="100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SYSTEM</a:t>
            </a:r>
          </a:p>
        </p:txBody>
      </p:sp>
      <p:sp>
        <p:nvSpPr>
          <p:cNvPr id="101" name="R1Comp"/>
          <p:cNvSpPr/>
          <p:nvPr/>
        </p:nvSpPr>
        <p:spPr>
          <a:xfrm>
            <a:off x="4980000" y="1150000"/>
            <a:ext cx="236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COMPONENT</a:t>
            </a:r>
          </a:p>
        </p:txBody>
      </p:sp>
      <p:cxnSp>
        <p:nvCxnSpPr>
          <p:cNvPr id="110" name="Arw1"/>
          <p:cNvCxnSpPr/>
          <p:nvPr/>
        </p:nvCxnSpPr>
        <p:spPr>
          <a:xfrm>
            <a:off x="4572000" y="1900000"/>
            <a:ext cx="0" cy="150000"/>
          </a:xfrm>
          <a:prstGeom prst="straightConnector1">
            <a:avLst/>
          </a:prstGeom>
          <a:ln w="38100">
            <a:solidFill>
              <a:srgbClr val="8E6F3E"/>
            </a:solidFill>
            <a:tailEnd type="triangle" w="med" len="med"/>
          </a:ln>
        </p:spPr>
      </p:cxnSp>
      <p:sp>
        <p:nvSpPr>
          <p:cNvPr id="111" name="Op1"/>
          <p:cNvSpPr/>
          <p:nvPr/>
        </p:nvSpPr>
        <p:spPr>
          <a:xfrm>
            <a:off x="4680000" y="1905000"/>
            <a:ext cx="900000" cy="150000"/>
          </a:xfrm>
          <a:prstGeom prst="rect">
            <a:avLst/>
          </a:prstGeom>
          <a:noFill/>
          <a:ln>
            <a:noFill/>
          </a:ln>
        </p:spPr>
        <p:txBody>
          <a:bodyPr wrap="square" lIns="0" tIns="0" rIns="0" bIns="0" anchor="t">
            <a:normAutofit/>
          </a:bodyPr>
          <a:lstStyle/>
          <a:p>
            <a:pPr algn="l">
              <a:buNone/>
            </a:pPr>
            <a:r>
              <a:rPr lang="en-US" sz="1200" b="0" i="1" dirty="0">
                <a:solidFill>
                  <a:srgbClr val="8E6F3E"/>
                </a:solidFill>
              </a:rPr>
              <a:t>open</a:t>
            </a:r>
          </a:p>
        </p:txBody>
      </p:sp>
      <p:sp>
        <p:nvSpPr>
          <p:cNvPr id="120" name="Frame2"/>
          <p:cNvSpPr/>
          <p:nvPr/>
        </p:nvSpPr>
        <p:spPr>
          <a:xfrm>
            <a:off x="1600000" y="211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COMPONENT</a:t>
            </a:r>
          </a:p>
        </p:txBody>
      </p:sp>
      <p:sp>
        <p:nvSpPr>
          <p:cNvPr id="121" name="R2A"/>
          <p:cNvSpPr/>
          <p:nvPr/>
        </p:nvSpPr>
        <p:spPr>
          <a:xfrm>
            <a:off x="3760000" y="2260000"/>
            <a:ext cx="16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PART A</a:t>
            </a:r>
          </a:p>
        </p:txBody>
      </p:sp>
      <p:sp>
        <p:nvSpPr>
          <p:cNvPr id="122" name="R2B"/>
          <p:cNvSpPr/>
          <p:nvPr/>
        </p:nvSpPr>
        <p:spPr>
          <a:xfrm>
            <a:off x="5620000" y="2260000"/>
            <a:ext cx="16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500" b="1" i="0" dirty="0">
                <a:solidFill>
                  <a:srgbClr val="8E6F3E"/>
                </a:solidFill>
              </a:rPr>
              <a:t>PART B</a:t>
            </a:r>
          </a:p>
        </p:txBody>
      </p:sp>
      <p:cxnSp>
        <p:nvCxnSpPr>
          <p:cNvPr id="130" name="Arw2"/>
          <p:cNvCxnSpPr/>
          <p:nvPr/>
        </p:nvCxnSpPr>
        <p:spPr>
          <a:xfrm>
            <a:off x="4572000" y="3010000"/>
            <a:ext cx="0" cy="150000"/>
          </a:xfrm>
          <a:prstGeom prst="straightConnector1">
            <a:avLst/>
          </a:prstGeom>
          <a:ln w="38100">
            <a:solidFill>
              <a:srgbClr val="8E6F3E"/>
            </a:solidFill>
            <a:tailEnd type="triangle" w="med" len="med"/>
          </a:ln>
        </p:spPr>
      </p:cxnSp>
      <p:sp>
        <p:nvSpPr>
          <p:cNvPr id="131" name="Op2"/>
          <p:cNvSpPr/>
          <p:nvPr/>
        </p:nvSpPr>
        <p:spPr>
          <a:xfrm>
            <a:off x="4680000" y="3015000"/>
            <a:ext cx="900000" cy="150000"/>
          </a:xfrm>
          <a:prstGeom prst="rect">
            <a:avLst/>
          </a:prstGeom>
          <a:noFill/>
          <a:ln>
            <a:noFill/>
          </a:ln>
        </p:spPr>
        <p:txBody>
          <a:bodyPr wrap="square" lIns="0" tIns="0" rIns="0" bIns="0" anchor="t">
            <a:normAutofit/>
          </a:bodyPr>
          <a:lstStyle/>
          <a:p>
            <a:pPr algn="l">
              <a:buNone/>
            </a:pPr>
            <a:r>
              <a:rPr lang="en-US" sz="1200" b="0" i="1" dirty="0">
                <a:solidFill>
                  <a:srgbClr val="8E6F3E"/>
                </a:solidFill>
              </a:rPr>
              <a:t>open</a:t>
            </a:r>
          </a:p>
        </p:txBody>
      </p:sp>
      <p:sp>
        <p:nvSpPr>
          <p:cNvPr id="140" name="Frame3"/>
          <p:cNvSpPr/>
          <p:nvPr/>
        </p:nvSpPr>
        <p:spPr>
          <a:xfrm>
            <a:off x="1600000" y="3220000"/>
            <a:ext cx="5944000" cy="860000"/>
          </a:xfrm>
          <a:prstGeom prst="roundRect">
            <a:avLst/>
          </a:prstGeom>
          <a:solidFill>
            <a:srgbClr val="F5F1E8"/>
          </a:solidFill>
          <a:ln w="15875">
            <a:solidFill>
              <a:srgbClr val="C9B991"/>
            </a:solidFill>
          </a:ln>
        </p:spPr>
        <p:txBody>
          <a:bodyPr wrap="square" lIns="228600" tIns="45720" rIns="228600" bIns="45720" anchor="ctr">
            <a:normAutofit/>
          </a:bodyPr>
          <a:lstStyle/>
          <a:p>
            <a:pPr algn="l">
              <a:buNone/>
            </a:pPr>
            <a:r>
              <a:rPr lang="en-US" sz="1700" b="1" i="0" dirty="0">
                <a:solidFill>
                  <a:srgbClr val="5C4826"/>
                </a:solidFill>
              </a:rPr>
              <a:t>PART B</a:t>
            </a:r>
          </a:p>
        </p:txBody>
      </p:sp>
      <p:sp>
        <p:nvSpPr>
          <p:cNvPr id="141" name="R3a"/>
          <p:cNvSpPr/>
          <p:nvPr/>
        </p:nvSpPr>
        <p:spPr>
          <a:xfrm>
            <a:off x="376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sp>
        <p:nvSpPr>
          <p:cNvPr id="142" name="R3b"/>
          <p:cNvSpPr/>
          <p:nvPr/>
        </p:nvSpPr>
        <p:spPr>
          <a:xfrm>
            <a:off x="4980000" y="3370000"/>
            <a:ext cx="1080000" cy="560000"/>
          </a:xfrm>
          <a:prstGeom prst="rect">
            <a:avLst/>
          </a:prstGeom>
          <a:solidFill>
            <a:srgbClr val="FFF3DF"/>
          </a:solidFill>
          <a:ln w="28575">
            <a:solidFill>
              <a:srgbClr val="8E6F3E"/>
            </a:solidFill>
          </a:ln>
        </p:spPr>
        <p:txBody>
          <a:bodyPr wrap="square" lIns="91440" tIns="45720" rIns="91440" bIns="45720" anchor="ctr">
            <a:normAutofit/>
          </a:bodyPr>
          <a:lstStyle/>
          <a:p>
            <a:pPr algn="ctr">
              <a:buNone/>
            </a:pPr>
            <a:r>
              <a:rPr lang="en-US" sz="1600" b="1" i="0" dirty="0">
                <a:solidFill>
                  <a:srgbClr val="8E6F3E"/>
                </a:solidFill>
              </a:rPr>
              <a:t>?</a:t>
            </a:r>
          </a:p>
        </p:txBody>
      </p:sp>
      <p:sp>
        <p:nvSpPr>
          <p:cNvPr id="143" name="R3c"/>
          <p:cNvSpPr/>
          <p:nvPr/>
        </p:nvSpPr>
        <p:spPr>
          <a:xfrm>
            <a:off x="6200000" y="3370000"/>
            <a:ext cx="1080000" cy="56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a:t>
            </a:r>
          </a:p>
        </p:txBody>
      </p:sp>
      <p:cxnSp>
        <p:nvCxnSpPr>
          <p:cNvPr id="150" name="Arw3"/>
          <p:cNvCxnSpPr/>
          <p:nvPr/>
        </p:nvCxnSpPr>
        <p:spPr>
          <a:xfrm>
            <a:off x="4572000" y="4120000"/>
            <a:ext cx="0" cy="150000"/>
          </a:xfrm>
          <a:prstGeom prst="straightConnector1">
            <a:avLst/>
          </a:prstGeom>
          <a:ln w="38100">
            <a:solidFill>
              <a:srgbClr val="8E6F3E"/>
            </a:solidFill>
            <a:tailEnd type="triangle" w="med" len="med"/>
          </a:ln>
        </p:spPr>
      </p:cxnSp>
      <p:sp>
        <p:nvSpPr>
          <p:cNvPr id="151" name="Op3"/>
          <p:cNvSpPr/>
          <p:nvPr/>
        </p:nvSpPr>
        <p:spPr>
          <a:xfrm>
            <a:off x="4680000" y="4125000"/>
            <a:ext cx="900000" cy="150000"/>
          </a:xfrm>
          <a:prstGeom prst="rect">
            <a:avLst/>
          </a:prstGeom>
          <a:noFill/>
          <a:ln>
            <a:noFill/>
          </a:ln>
        </p:spPr>
        <p:txBody>
          <a:bodyPr wrap="square" lIns="0" tIns="0" rIns="0" bIns="0" anchor="t">
            <a:normAutofit/>
          </a:bodyPr>
          <a:lstStyle/>
          <a:p>
            <a:pPr algn="l">
              <a:buNone/>
            </a:pPr>
            <a:r>
              <a:rPr lang="en-US" sz="1200" b="0" i="1" dirty="0">
                <a:solidFill>
                  <a:srgbClr val="8E6F3E"/>
                </a:solidFill>
              </a:rPr>
              <a:t>open</a:t>
            </a:r>
          </a:p>
        </p:txBody>
      </p:sp>
      <p:sp>
        <p:nvSpPr>
          <p:cNvPr id="159" name="TermLbl"/>
          <p:cNvSpPr/>
          <p:nvPr/>
        </p:nvSpPr>
        <p:spPr>
          <a:xfrm>
            <a:off x="1600000" y="4290000"/>
            <a:ext cx="5944000" cy="30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one of these is small enough to reason about directly</a:t>
            </a:r>
          </a:p>
        </p:txBody>
      </p:sp>
      <p:sp>
        <p:nvSpPr>
          <p:cNvPr id="160" name="Atom1"/>
          <p:cNvSpPr/>
          <p:nvPr/>
        </p:nvSpPr>
        <p:spPr>
          <a:xfrm>
            <a:off x="1600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objects</a:t>
            </a:r>
          </a:p>
        </p:txBody>
      </p:sp>
      <p:sp>
        <p:nvSpPr>
          <p:cNvPr id="161" name="Atom2"/>
          <p:cNvSpPr/>
          <p:nvPr/>
        </p:nvSpPr>
        <p:spPr>
          <a:xfrm>
            <a:off x="3632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functions</a:t>
            </a:r>
          </a:p>
        </p:txBody>
      </p:sp>
      <p:sp>
        <p:nvSpPr>
          <p:cNvPr id="162" name="Atom3"/>
          <p:cNvSpPr/>
          <p:nvPr/>
        </p:nvSpPr>
        <p:spPr>
          <a:xfrm>
            <a:off x="5664000" y="4630000"/>
            <a:ext cx="1880000" cy="560000"/>
          </a:xfrm>
          <a:prstGeom prst="roundRect">
            <a:avLst/>
          </a:prstGeom>
          <a:solidFill>
            <a:srgbClr val="EFE9DC"/>
          </a:solidFill>
          <a:ln w="19050">
            <a:solidFill>
              <a:srgbClr val="8E6F3E"/>
            </a:solidFill>
          </a:ln>
        </p:spPr>
        <p:txBody>
          <a:bodyPr wrap="square" lIns="91440" tIns="45720" rIns="91440" bIns="45720" anchor="ctr">
            <a:normAutofit/>
          </a:bodyPr>
          <a:lstStyle/>
          <a:p>
            <a:pPr algn="ctr">
              <a:buNone/>
            </a:pPr>
            <a:r>
              <a:rPr lang="en-US" sz="1500" b="1" i="0" dirty="0">
                <a:solidFill>
                  <a:srgbClr val="5C4826"/>
                </a:solidFill>
              </a:rPr>
              <a:t>data structures</a:t>
            </a:r>
          </a:p>
        </p:txBody>
      </p:sp>
      <p:sp>
        <p:nvSpPr>
          <p:cNvPr id="170" name="FooterItalic"/>
          <p:cNvSpPr/>
          <p:nvPr/>
        </p:nvSpPr>
        <p:spPr>
          <a:xfrm>
            <a:off x="685800" y="596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Eventually there is nothing useful left to open.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40"/>
                                        </p:tgtEl>
                                        <p:attrNameLst>
                                          <p:attrName>style.visibility</p:attrName>
                                        </p:attrNameLst>
                                      </p:cBhvr>
                                      <p:to>
                                        <p:strVal val="visible"/>
                                      </p:to>
                                    </p:set>
                                    <p:animEffect transition="in" filter="fade">
                                      <p:cBhvr>
                                        <p:cTn id="36" dur="500"/>
                                        <p:tgtEl>
                                          <p:spTgt spid="140"/>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41"/>
                                        </p:tgtEl>
                                        <p:attrNameLst>
                                          <p:attrName>style.visibility</p:attrName>
                                        </p:attrNameLst>
                                      </p:cBhvr>
                                      <p:to>
                                        <p:strVal val="visible"/>
                                      </p:to>
                                    </p:set>
                                    <p:animEffect transition="in" filter="fade">
                                      <p:cBhvr>
                                        <p:cTn id="40" dur="500"/>
                                        <p:tgtEl>
                                          <p:spTgt spid="141"/>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43"/>
                                        </p:tgtEl>
                                        <p:attrNameLst>
                                          <p:attrName>style.visibility</p:attrName>
                                        </p:attrNameLst>
                                      </p:cBhvr>
                                      <p:to>
                                        <p:strVal val="visible"/>
                                      </p:to>
                                    </p:set>
                                    <p:animEffect transition="in" filter="fade">
                                      <p:cBhvr>
                                        <p:cTn id="48" dur="500"/>
                                        <p:tgtEl>
                                          <p:spTgt spid="143"/>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11" nodeType="clickEffect">
                                  <p:stCondLst>
                                    <p:cond delay="0"/>
                                  </p:stCondLst>
                                  <p:childTnLst>
                                    <p:set>
                                      <p:cBhvr>
                                        <p:cTn id="52" dur="1" fill="hold">
                                          <p:stCondLst>
                                            <p:cond delay="0"/>
                                          </p:stCondLst>
                                        </p:cTn>
                                        <p:tgtEl>
                                          <p:spTgt spid="150"/>
                                        </p:tgtEl>
                                        <p:attrNameLst>
                                          <p:attrName>style.visibility</p:attrName>
                                        </p:attrNameLst>
                                      </p:cBhvr>
                                      <p:to>
                                        <p:strVal val="visible"/>
                                      </p:to>
                                    </p:set>
                                    <p:animEffect transition="in" filter="fade">
                                      <p:cBhvr>
                                        <p:cTn id="53" dur="500"/>
                                        <p:tgtEl>
                                          <p:spTgt spid="150"/>
                                        </p:tgtEl>
                                      </p:cBhvr>
                                    </p:animEffect>
                                  </p:childTnLst>
                                </p:cTn>
                              </p:par>
                            </p:childTnLst>
                          </p:cTn>
                        </p:par>
                        <p:par>
                          <p:cTn id="54" fill="hold">
                            <p:stCondLst>
                              <p:cond delay="0"/>
                            </p:stCondLst>
                            <p:childTnLst>
                              <p:par>
                                <p:cTn id="55" presetID="10" presetClass="entr" presetSubtype="0" fill="hold" grpId="12" nodeType="withEffect">
                                  <p:stCondLst>
                                    <p:cond delay="0"/>
                                  </p:stCondLst>
                                  <p:childTnLst>
                                    <p:set>
                                      <p:cBhvr>
                                        <p:cTn id="56" dur="1" fill="hold">
                                          <p:stCondLst>
                                            <p:cond delay="0"/>
                                          </p:stCondLst>
                                        </p:cTn>
                                        <p:tgtEl>
                                          <p:spTgt spid="151"/>
                                        </p:tgtEl>
                                        <p:attrNameLst>
                                          <p:attrName>style.visibility</p:attrName>
                                        </p:attrNameLst>
                                      </p:cBhvr>
                                      <p:to>
                                        <p:strVal val="visible"/>
                                      </p:to>
                                    </p:set>
                                    <p:animEffect transition="in" filter="fade">
                                      <p:cBhvr>
                                        <p:cTn id="57" dur="500"/>
                                        <p:tgtEl>
                                          <p:spTgt spid="151"/>
                                        </p:tgtEl>
                                      </p:cBhvr>
                                    </p:animEffect>
                                  </p:childTnLst>
                                </p:cTn>
                              </p:par>
                            </p:childTnLst>
                          </p:cTn>
                        </p:par>
                        <p:par>
                          <p:cTn id="58" fill="hold">
                            <p:stCondLst>
                              <p:cond delay="0"/>
                            </p:stCondLst>
                            <p:childTnLst>
                              <p:par>
                                <p:cTn id="59" presetID="10" presetClass="entr" presetSubtype="0" fill="hold" grpId="13" nodeType="withEffect">
                                  <p:stCondLst>
                                    <p:cond delay="0"/>
                                  </p:stCondLst>
                                  <p:childTnLst>
                                    <p:set>
                                      <p:cBhvr>
                                        <p:cTn id="60" dur="1" fill="hold">
                                          <p:stCondLst>
                                            <p:cond delay="0"/>
                                          </p:stCondLst>
                                        </p:cTn>
                                        <p:tgtEl>
                                          <p:spTgt spid="159"/>
                                        </p:tgtEl>
                                        <p:attrNameLst>
                                          <p:attrName>style.visibility</p:attrName>
                                        </p:attrNameLst>
                                      </p:cBhvr>
                                      <p:to>
                                        <p:strVal val="visible"/>
                                      </p:to>
                                    </p:set>
                                    <p:animEffect transition="in" filter="fade">
                                      <p:cBhvr>
                                        <p:cTn id="61" dur="500"/>
                                        <p:tgtEl>
                                          <p:spTgt spid="159"/>
                                        </p:tgtEl>
                                      </p:cBhvr>
                                    </p:animEffect>
                                  </p:childTnLst>
                                </p:cTn>
                              </p:par>
                            </p:childTnLst>
                          </p:cTn>
                        </p:par>
                        <p:par>
                          <p:cTn id="62" fill="hold">
                            <p:stCondLst>
                              <p:cond delay="0"/>
                            </p:stCondLst>
                            <p:childTnLst>
                              <p:par>
                                <p:cTn id="63" presetID="10" presetClass="entr" presetSubtype="0" fill="hold" grpId="14" nodeType="withEffect">
                                  <p:stCondLst>
                                    <p:cond delay="0"/>
                                  </p:stCondLst>
                                  <p:childTnLst>
                                    <p:set>
                                      <p:cBhvr>
                                        <p:cTn id="64" dur="1" fill="hold">
                                          <p:stCondLst>
                                            <p:cond delay="0"/>
                                          </p:stCondLst>
                                        </p:cTn>
                                        <p:tgtEl>
                                          <p:spTgt spid="160"/>
                                        </p:tgtEl>
                                        <p:attrNameLst>
                                          <p:attrName>style.visibility</p:attrName>
                                        </p:attrNameLst>
                                      </p:cBhvr>
                                      <p:to>
                                        <p:strVal val="visible"/>
                                      </p:to>
                                    </p:set>
                                    <p:animEffect transition="in" filter="fade">
                                      <p:cBhvr>
                                        <p:cTn id="65" dur="500"/>
                                        <p:tgtEl>
                                          <p:spTgt spid="160"/>
                                        </p:tgtEl>
                                      </p:cBhvr>
                                    </p:animEffect>
                                  </p:childTnLst>
                                </p:cTn>
                              </p:par>
                            </p:childTnLst>
                          </p:cTn>
                        </p:par>
                        <p:par>
                          <p:cTn id="66" fill="hold">
                            <p:stCondLst>
                              <p:cond delay="0"/>
                            </p:stCondLst>
                            <p:childTnLst>
                              <p:par>
                                <p:cTn id="67" presetID="10" presetClass="entr" presetSubtype="0" fill="hold" grpId="15" nodeType="withEffect">
                                  <p:stCondLst>
                                    <p:cond delay="0"/>
                                  </p:stCondLst>
                                  <p:childTnLst>
                                    <p:set>
                                      <p:cBhvr>
                                        <p:cTn id="68" dur="1" fill="hold">
                                          <p:stCondLst>
                                            <p:cond delay="0"/>
                                          </p:stCondLst>
                                        </p:cTn>
                                        <p:tgtEl>
                                          <p:spTgt spid="161"/>
                                        </p:tgtEl>
                                        <p:attrNameLst>
                                          <p:attrName>style.visibility</p:attrName>
                                        </p:attrNameLst>
                                      </p:cBhvr>
                                      <p:to>
                                        <p:strVal val="visible"/>
                                      </p:to>
                                    </p:set>
                                    <p:animEffect transition="in" filter="fade">
                                      <p:cBhvr>
                                        <p:cTn id="69" dur="500"/>
                                        <p:tgtEl>
                                          <p:spTgt spid="161"/>
                                        </p:tgtEl>
                                      </p:cBhvr>
                                    </p:animEffect>
                                  </p:childTnLst>
                                </p:cTn>
                              </p:par>
                            </p:childTnLst>
                          </p:cTn>
                        </p:par>
                        <p:par>
                          <p:cTn id="70" fill="hold">
                            <p:stCondLst>
                              <p:cond delay="0"/>
                            </p:stCondLst>
                            <p:childTnLst>
                              <p:par>
                                <p:cTn id="71" presetID="10" presetClass="entr" presetSubtype="0" fill="hold" grpId="16" nodeType="withEffect">
                                  <p:stCondLst>
                                    <p:cond delay="0"/>
                                  </p:stCondLst>
                                  <p:childTnLst>
                                    <p:set>
                                      <p:cBhvr>
                                        <p:cTn id="72" dur="1" fill="hold">
                                          <p:stCondLst>
                                            <p:cond delay="0"/>
                                          </p:stCondLst>
                                        </p:cTn>
                                        <p:tgtEl>
                                          <p:spTgt spid="162"/>
                                        </p:tgtEl>
                                        <p:attrNameLst>
                                          <p:attrName>style.visibility</p:attrName>
                                        </p:attrNameLst>
                                      </p:cBhvr>
                                      <p:to>
                                        <p:strVal val="visible"/>
                                      </p:to>
                                    </p:set>
                                    <p:animEffect transition="in" filter="fade">
                                      <p:cBhvr>
                                        <p:cTn id="73" dur="500"/>
                                        <p:tgtEl>
                                          <p:spTgt spid="162"/>
                                        </p:tgtEl>
                                      </p:cBhvr>
                                    </p:animEffect>
                                  </p:childTnLst>
                                </p:cTn>
                              </p:par>
                            </p:childTnLst>
                          </p:cTn>
                        </p:par>
                        <p:par>
                          <p:cTn id="74" fill="hold">
                            <p:stCondLst>
                              <p:cond delay="0"/>
                            </p:stCondLst>
                            <p:childTnLst>
                              <p:par>
                                <p:cTn id="75" presetID="10" presetClass="entr" presetSubtype="0" fill="hold" grpId="17" nodeType="withEffect">
                                  <p:stCondLst>
                                    <p:cond delay="0"/>
                                  </p:stCondLst>
                                  <p:childTnLst>
                                    <p:set>
                                      <p:cBhvr>
                                        <p:cTn id="76" dur="1" fill="hold">
                                          <p:stCondLst>
                                            <p:cond delay="0"/>
                                          </p:stCondLst>
                                        </p:cTn>
                                        <p:tgtEl>
                                          <p:spTgt spid="170"/>
                                        </p:tgtEl>
                                        <p:attrNameLst>
                                          <p:attrName>style.visibility</p:attrName>
                                        </p:attrNameLst>
                                      </p:cBhvr>
                                      <p:to>
                                        <p:strVal val="visible"/>
                                      </p:to>
                                    </p:set>
                                    <p:animEffect transition="in" filter="fade">
                                      <p:cBhvr>
                                        <p:cTn id="77" dur="500"/>
                                        <p:tgtEl>
                                          <p:spTgt spid="1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P spid="111" grpId="1"/>
      <p:bldP spid="120" grpId="2"/>
      <p:bldP spid="121" grpId="3"/>
      <p:bldP spid="122" grpId="4"/>
      <p:bldP spid="130" grpId="5"/>
      <p:bldP spid="131" grpId="6"/>
      <p:bldP spid="140" grpId="7"/>
      <p:bldP spid="141" grpId="8"/>
      <p:bldP spid="142" grpId="9"/>
      <p:bldP spid="143" grpId="10"/>
      <p:bldP spid="150" grpId="11"/>
      <p:bldP spid="151" grpId="12"/>
      <p:bldP spid="159" grpId="13"/>
      <p:bldP spid="160" grpId="14"/>
      <p:bldP spid="161" grpId="15"/>
      <p:bldP spid="162" grpId="16"/>
      <p:bldP spid="170" grpId="17"/>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Opening a box does not erase</a:t>
            </a:r>
          </a:p>
          <a:p>
            <a:pPr algn="ctr">
              <a:spcBef>
                <a:spcPts val="120"/>
              </a:spcBef>
              <a:buNone/>
            </a:pPr>
            <a:r>
              <a:rPr lang="en-US" sz="28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changes when we open a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ARCHITECTURAL VIEW</a:t>
            </a:r>
          </a:p>
        </p:txBody>
      </p:sp>
      <p:sp>
        <p:nvSpPr>
          <p:cNvPr id="101" name="Label"/>
          <p:cNvSpPr txBox="1"/>
          <p:nvPr/>
        </p:nvSpPr>
        <p:spPr>
          <a:xfrm>
            <a:off x="5100000" y="1000000"/>
            <a:ext cx="3200000" cy="33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DESIGN VIEW</a:t>
            </a:r>
          </a:p>
        </p:txBody>
      </p:sp>
      <p:sp>
        <p:nvSpPr>
          <p:cNvPr id="102" name="S102"/>
          <p:cNvSpPr/>
          <p:nvPr/>
        </p:nvSpPr>
        <p:spPr>
          <a:xfrm>
            <a:off x="900000" y="1400000"/>
            <a:ext cx="290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ADVICE SERVICE</a:t>
            </a:r>
          </a:p>
          <a:p>
            <a:pPr algn="ctr">
              <a:spcBef>
                <a:spcPts val="200"/>
              </a:spcBef>
              <a:buNone/>
            </a:pPr>
            <a:r>
              <a:rPr lang="en-US" sz="1600" b="0" i="0" dirty="0">
                <a:solidFill>
                  <a:srgbClr val="5C4826"/>
                </a:solidFill>
              </a:rPr>
              <a:t/>
            </a:r>
          </a:p>
          <a:p>
            <a:pPr algn="ctr">
              <a:spcBef>
                <a:spcPts val="200"/>
              </a:spcBef>
              <a:buNone/>
            </a:pPr>
            <a:r>
              <a:rPr lang="en-US" sz="1600" b="0" i="0" dirty="0">
                <a:solidFill>
                  <a:srgbClr val="5C4826"/>
                </a:solidFill>
              </a:rPr>
              <a:t>responsibility</a:t>
            </a:r>
          </a:p>
          <a:p>
            <a:pPr algn="ctr">
              <a:spcBef>
                <a:spcPts val="200"/>
              </a:spcBef>
              <a:buNone/>
            </a:pPr>
            <a:r>
              <a:rPr lang="en-US" sz="1600" b="0" i="0" dirty="0">
                <a:solidFill>
                  <a:srgbClr val="5C4826"/>
                </a:solidFill>
              </a:rPr>
              <a:t>interface</a:t>
            </a:r>
          </a:p>
        </p:txBody>
      </p:sp>
      <p:sp>
        <p:nvSpPr>
          <p:cNvPr id="103" name="S103"/>
          <p:cNvSpPr/>
          <p:nvPr/>
        </p:nvSpPr>
        <p:spPr>
          <a:xfrm>
            <a:off x="5150000" y="1400000"/>
            <a:ext cx="2900000" cy="190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800" b="0" i="0" dirty="0">
                <a:solidFill>
                  <a:srgbClr val="555960"/>
                </a:solidFill>
              </a:rPr>
              <a:t>?   ?   ?</a:t>
            </a:r>
          </a:p>
          <a:p>
            <a:pPr algn="ctr">
              <a:spcBef>
                <a:spcPts val="140"/>
              </a:spcBef>
              <a:buNone/>
            </a:pPr>
            <a:r>
              <a:rPr lang="en-US" sz="1800" b="0" i="0" dirty="0">
                <a:solidFill>
                  <a:srgbClr val="555960"/>
                </a:solidFill>
              </a:rPr>
              <a:t>?</a:t>
            </a:r>
          </a:p>
        </p:txBody>
      </p:sp>
      <p:cxnSp>
        <p:nvCxnSpPr>
          <p:cNvPr id="104" name="L104"/>
          <p:cNvCxnSpPr/>
          <p:nvPr/>
        </p:nvCxnSpPr>
        <p:spPr>
          <a:xfrm>
            <a:off x="3900000" y="2320000"/>
            <a:ext cx="1180000" cy="0"/>
          </a:xfrm>
          <a:prstGeom prst="straightConnector1">
            <a:avLst/>
          </a:prstGeom>
          <a:ln w="44450">
            <a:solidFill>
              <a:srgbClr val="8E6F3E"/>
            </a:solidFill>
            <a:tailEnd type="triangle" w="med" len="med"/>
          </a:ln>
        </p:spPr>
      </p:cxnSp>
      <p:sp>
        <p:nvSpPr>
          <p:cNvPr id="105" name="Label"/>
          <p:cNvSpPr txBox="1"/>
          <p:nvPr/>
        </p:nvSpPr>
        <p:spPr>
          <a:xfrm>
            <a:off x="3860000" y="1980000"/>
            <a:ext cx="1300000" cy="33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OPEN</a:t>
            </a:r>
          </a:p>
        </p:txBody>
      </p:sp>
      <p:sp>
        <p:nvSpPr>
          <p:cNvPr id="106" name="Remains"/>
          <p:cNvSpPr txBox="1"/>
          <p:nvPr/>
        </p:nvSpPr>
        <p:spPr>
          <a:xfrm>
            <a:off x="900000" y="3450000"/>
            <a:ext cx="3000000" cy="900000"/>
          </a:xfrm>
          <a:prstGeom prst="rect">
            <a:avLst/>
          </a:prstGeom>
          <a:noFill/>
          <a:ln>
            <a:noFill/>
          </a:ln>
        </p:spPr>
        <p:txBody>
          <a:bodyPr wrap="square" lIns="0" tIns="0" rIns="0" bIns="0" anchor="t">
            <a:normAutofit/>
          </a:bodyPr>
          <a:lstStyle/>
          <a:p>
            <a:pPr algn="l">
              <a:buNone/>
            </a:pPr>
            <a:r>
              <a:rPr lang="en-US" sz="1500" b="0" i="0" dirty="0">
                <a:solidFill>
                  <a:srgbClr val="000000"/>
                </a:solidFill>
              </a:rPr>
              <a:t>responsibility remains</a:t>
            </a:r>
          </a:p>
          <a:p>
            <a:pPr algn="l">
              <a:spcBef>
                <a:spcPts val="100"/>
              </a:spcBef>
              <a:buNone/>
            </a:pPr>
            <a:r>
              <a:rPr lang="en-US" sz="1500" b="0" i="0" dirty="0">
                <a:solidFill>
                  <a:srgbClr val="000000"/>
                </a:solidFill>
              </a:rPr>
              <a:t>interface remains</a:t>
            </a:r>
          </a:p>
          <a:p>
            <a:pPr algn="l">
              <a:spcBef>
                <a:spcPts val="100"/>
              </a:spcBef>
              <a:buNone/>
            </a:pPr>
            <a:r>
              <a:rPr lang="en-US" sz="1500" b="0" i="0" dirty="0">
                <a:solidFill>
                  <a:srgbClr val="000000"/>
                </a:solidFill>
              </a:rPr>
              <a:t>internals become our problem</a:t>
            </a:r>
          </a:p>
        </p:txBody>
      </p:sp>
      <p:sp>
        <p:nvSpPr>
          <p:cNvPr id="107"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opens an architectural unit without discarding what the unit was required to 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120"/>
              </a:spcBef>
              <a:buNone/>
            </a:pPr>
            <a:r>
              <a:rPr lang="en-US" sz="1400" b="0" i="1" dirty="0">
                <a:solidFill>
                  <a:srgbClr val="FFFFFF"/>
                </a:solidFill>
              </a:rPr>
              <a:t>what must be true</a:t>
            </a:r>
          </a:p>
        </p:txBody>
      </p:sp>
      <p:cxnSp>
        <p:nvCxnSpPr>
          <p:cNvPr id="101" name="L101"/>
          <p:cNvCxnSpPr/>
          <p:nvPr/>
        </p:nvCxnSpPr>
        <p:spPr>
          <a:xfrm>
            <a:off x="1762000" y="2070000"/>
            <a:ext cx="0" cy="380000"/>
          </a:xfrm>
          <a:prstGeom prst="straightConnector1">
            <a:avLst/>
          </a:prstGeom>
          <a:ln w="38100">
            <a:solidFill>
              <a:srgbClr val="8E6F3E"/>
            </a:solidFill>
            <a:tailEnd type="triangle" w="med" len="med"/>
          </a:ln>
        </p:spPr>
      </p:cxnSp>
      <p:sp>
        <p:nvSpPr>
          <p:cNvPr id="102" name="S102"/>
          <p:cNvSpPr/>
          <p:nvPr/>
        </p:nvSpPr>
        <p:spPr>
          <a:xfrm>
            <a:off x="48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latency</a:t>
            </a:r>
          </a:p>
          <a:p>
            <a:pPr algn="ctr">
              <a:spcBef>
                <a:spcPts val="120"/>
              </a:spcBef>
              <a:buNone/>
            </a:pPr>
            <a:r>
              <a:rPr lang="en-US" sz="1500" b="0" i="0" dirty="0">
                <a:solidFill>
                  <a:srgbClr val="000000"/>
                </a:solidFill>
              </a:rPr>
              <a:t>privacy</a:t>
            </a:r>
          </a:p>
          <a:p>
            <a:pPr algn="ctr">
              <a:spcBef>
                <a:spcPts val="120"/>
              </a:spcBef>
              <a:buNone/>
            </a:pPr>
            <a:r>
              <a:rPr lang="en-US" sz="1500" b="0" i="0" dirty="0">
                <a:solidFill>
                  <a:srgbClr val="000000"/>
                </a:solidFill>
              </a:rPr>
              <a:t>correctness</a:t>
            </a:r>
          </a:p>
        </p:txBody>
      </p:sp>
      <p:sp>
        <p:nvSpPr>
          <p:cNvPr id="103" name="S103"/>
          <p:cNvSpPr/>
          <p:nvPr/>
        </p:nvSpPr>
        <p:spPr>
          <a:xfrm>
            <a:off x="329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120"/>
              </a:spcBef>
              <a:buNone/>
            </a:pPr>
            <a:r>
              <a:rPr lang="en-US" sz="1400" b="0" i="1" dirty="0">
                <a:solidFill>
                  <a:srgbClr val="FFFFFF"/>
                </a:solidFill>
              </a:rPr>
              <a:t>strategy</a:t>
            </a:r>
          </a:p>
        </p:txBody>
      </p:sp>
      <p:cxnSp>
        <p:nvCxnSpPr>
          <p:cNvPr id="104" name="L104"/>
          <p:cNvCxnSpPr/>
          <p:nvPr/>
        </p:nvCxnSpPr>
        <p:spPr>
          <a:xfrm>
            <a:off x="4572000" y="2070000"/>
            <a:ext cx="0" cy="380000"/>
          </a:xfrm>
          <a:prstGeom prst="straightConnector1">
            <a:avLst/>
          </a:prstGeom>
          <a:ln w="38100">
            <a:solidFill>
              <a:srgbClr val="8E6F3E"/>
            </a:solidFill>
            <a:tailEnd type="triangle" w="med" len="med"/>
          </a:ln>
        </p:spPr>
      </p:cxnSp>
      <p:sp>
        <p:nvSpPr>
          <p:cNvPr id="105" name="S105"/>
          <p:cNvSpPr/>
          <p:nvPr/>
        </p:nvSpPr>
        <p:spPr>
          <a:xfrm>
            <a:off x="329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responsibility</a:t>
            </a:r>
          </a:p>
          <a:p>
            <a:pPr algn="ctr">
              <a:spcBef>
                <a:spcPts val="120"/>
              </a:spcBef>
              <a:buNone/>
            </a:pPr>
            <a:r>
              <a:rPr lang="en-US" sz="1500" b="0" i="0" dirty="0">
                <a:solidFill>
                  <a:srgbClr val="000000"/>
                </a:solidFill>
              </a:rPr>
              <a:t>interface</a:t>
            </a:r>
          </a:p>
          <a:p>
            <a:pPr algn="ctr">
              <a:spcBef>
                <a:spcPts val="120"/>
              </a:spcBef>
              <a:buNone/>
            </a:pPr>
            <a:r>
              <a:rPr lang="en-US" sz="1500" b="0" i="0" dirty="0">
                <a:solidFill>
                  <a:srgbClr val="000000"/>
                </a:solidFill>
              </a:rPr>
              <a:t>interaction rules</a:t>
            </a:r>
          </a:p>
        </p:txBody>
      </p:sp>
      <p:sp>
        <p:nvSpPr>
          <p:cNvPr id="106" name="S106"/>
          <p:cNvSpPr/>
          <p:nvPr/>
        </p:nvSpPr>
        <p:spPr>
          <a:xfrm>
            <a:off x="6102000" y="1000000"/>
            <a:ext cx="2560000" cy="105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ENGINEERING ENVIRONMENT</a:t>
            </a:r>
          </a:p>
          <a:p>
            <a:pPr algn="ctr">
              <a:spcBef>
                <a:spcPts val="120"/>
              </a:spcBef>
              <a:buNone/>
            </a:pPr>
            <a:r>
              <a:rPr lang="en-US" sz="1400" b="0" i="1" dirty="0">
                <a:solidFill>
                  <a:srgbClr val="FFFFFF"/>
                </a:solidFill>
              </a:rPr>
              <a:t>how we work here</a:t>
            </a:r>
          </a:p>
        </p:txBody>
      </p:sp>
      <p:cxnSp>
        <p:nvCxnSpPr>
          <p:cNvPr id="107" name="L107"/>
          <p:cNvCxnSpPr/>
          <p:nvPr/>
        </p:nvCxnSpPr>
        <p:spPr>
          <a:xfrm>
            <a:off x="7382000" y="2070000"/>
            <a:ext cx="0" cy="380000"/>
          </a:xfrm>
          <a:prstGeom prst="straightConnector1">
            <a:avLst/>
          </a:prstGeom>
          <a:ln w="38100">
            <a:solidFill>
              <a:srgbClr val="8E6F3E"/>
            </a:solidFill>
            <a:tailEnd type="triangle" w="med" len="med"/>
          </a:ln>
        </p:spPr>
      </p:cxnSp>
      <p:sp>
        <p:nvSpPr>
          <p:cNvPr id="108" name="S108"/>
          <p:cNvSpPr/>
          <p:nvPr/>
        </p:nvSpPr>
        <p:spPr>
          <a:xfrm>
            <a:off x="6102000" y="2520000"/>
            <a:ext cx="2560000" cy="13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frameworks</a:t>
            </a:r>
          </a:p>
          <a:p>
            <a:pPr algn="ctr">
              <a:spcBef>
                <a:spcPts val="120"/>
              </a:spcBef>
              <a:buNone/>
            </a:pPr>
            <a:r>
              <a:rPr lang="en-US" sz="1500" b="0" i="0" dirty="0">
                <a:solidFill>
                  <a:srgbClr val="000000"/>
                </a:solidFill>
              </a:rPr>
              <a:t>conventions</a:t>
            </a:r>
          </a:p>
          <a:p>
            <a:pPr algn="ctr">
              <a:spcBef>
                <a:spcPts val="120"/>
              </a:spcBef>
              <a:buNone/>
            </a:pPr>
            <a:r>
              <a:rPr lang="en-US" sz="1500" b="0" i="0" dirty="0">
                <a:solidFill>
                  <a:srgbClr val="000000"/>
                </a:solidFill>
              </a:rPr>
              <a:t>shared mechanisms</a:t>
            </a:r>
          </a:p>
          <a:p>
            <a:pPr algn="ctr">
              <a:spcBef>
                <a:spcPts val="120"/>
              </a:spcBef>
              <a:buNone/>
            </a:pPr>
            <a:r>
              <a:rPr lang="en-US" sz="1500" b="0" i="0" dirty="0">
                <a:solidFill>
                  <a:srgbClr val="000000"/>
                </a:solidFill>
              </a:rPr>
              <a:t>controls</a:t>
            </a:r>
          </a:p>
        </p:txBody>
      </p:sp>
      <p:sp>
        <p:nvSpPr>
          <p:cNvPr id="109" name="S109"/>
          <p:cNvSpPr/>
          <p:nvPr/>
        </p:nvSpPr>
        <p:spPr>
          <a:xfrm>
            <a:off x="2872000" y="4150000"/>
            <a:ext cx="3400000" cy="6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2000" b="1" i="0" dirty="0">
                <a:solidFill>
                  <a:srgbClr val="5C4826"/>
                </a:solidFill>
              </a:rPr>
              <a:t>DESIGN SPACE</a:t>
            </a:r>
          </a:p>
        </p:txBody>
      </p:sp>
      <p:cxnSp>
        <p:nvCxnSpPr>
          <p:cNvPr id="110" name="L110"/>
          <p:cNvCxnSpPr/>
          <p:nvPr/>
        </p:nvCxnSpPr>
        <p:spPr>
          <a:xfrm>
            <a:off x="1762000" y="3880000"/>
            <a:ext cx="2810000" cy="260000"/>
          </a:xfrm>
          <a:prstGeom prst="straightConnector1">
            <a:avLst/>
          </a:prstGeom>
          <a:ln w="38100">
            <a:solidFill>
              <a:srgbClr val="8E6F3E"/>
            </a:solidFill>
            <a:tailEnd type="triangle" w="med" len="med"/>
          </a:ln>
        </p:spPr>
      </p:cxnSp>
      <p:cxnSp>
        <p:nvCxnSpPr>
          <p:cNvPr id="111" name="L111"/>
          <p:cNvCxnSpPr/>
          <p:nvPr/>
        </p:nvCxnSpPr>
        <p:spPr>
          <a:xfrm>
            <a:off x="4572000" y="3880000"/>
            <a:ext cx="0" cy="260000"/>
          </a:xfrm>
          <a:prstGeom prst="straightConnector1">
            <a:avLst/>
          </a:prstGeom>
          <a:ln w="38100">
            <a:solidFill>
              <a:srgbClr val="8E6F3E"/>
            </a:solidFill>
            <a:tailEnd type="triangle" w="med" len="med"/>
          </a:ln>
        </p:spPr>
      </p:cxnSp>
      <p:cxnSp>
        <p:nvCxnSpPr>
          <p:cNvPr id="112" name="L112"/>
          <p:cNvCxnSpPr/>
          <p:nvPr/>
        </p:nvCxnSpPr>
        <p:spPr>
          <a:xfrm flipH="1">
            <a:off x="4572000" y="3880000"/>
            <a:ext cx="2810000" cy="260000"/>
          </a:xfrm>
          <a:prstGeom prst="straightConnector1">
            <a:avLst/>
          </a:prstGeom>
          <a:ln w="38100">
            <a:solidFill>
              <a:srgbClr val="8E6F3E"/>
            </a:solidFill>
            <a:tailEnd type="triangle" w="med" len="med"/>
          </a:ln>
        </p:spPr>
      </p:cxnSp>
      <p:sp>
        <p:nvSpPr>
          <p:cNvPr id="113"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78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000000"/>
                </a:solidFill>
              </a:rPr>
              <a:t>ALL POSSIBLE INTERNAL DESIGNS</a:t>
            </a:r>
          </a:p>
        </p:txBody>
      </p:sp>
      <p:sp>
        <p:nvSpPr>
          <p:cNvPr id="101" name="S101"/>
          <p:cNvSpPr/>
          <p:nvPr/>
        </p:nvSpPr>
        <p:spPr>
          <a:xfrm>
            <a:off x="277148" y="1770000"/>
            <a:ext cx="61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Specification</a:t>
            </a:r>
          </a:p>
        </p:txBody>
      </p:sp>
      <p:sp>
        <p:nvSpPr>
          <p:cNvPr id="102" name="S102"/>
          <p:cNvSpPr/>
          <p:nvPr/>
        </p:nvSpPr>
        <p:spPr>
          <a:xfrm>
            <a:off x="277148" y="2490000"/>
            <a:ext cx="47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Architecture</a:t>
            </a:r>
          </a:p>
        </p:txBody>
      </p:sp>
      <p:sp>
        <p:nvSpPr>
          <p:cNvPr id="103" name="S103"/>
          <p:cNvSpPr/>
          <p:nvPr/>
        </p:nvSpPr>
        <p:spPr>
          <a:xfrm>
            <a:off x="277148" y="3210000"/>
            <a:ext cx="3600000" cy="56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5C4826"/>
                </a:solidFill>
              </a:rPr>
              <a:t>Environment</a:t>
            </a:r>
          </a:p>
        </p:txBody>
      </p:sp>
      <p:sp>
        <p:nvSpPr>
          <p:cNvPr id="104" name="S104"/>
          <p:cNvSpPr/>
          <p:nvPr/>
        </p:nvSpPr>
        <p:spPr>
          <a:xfrm>
            <a:off x="277148" y="3930000"/>
            <a:ext cx="2400000" cy="56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REMAINING DoF</a:t>
            </a:r>
          </a:p>
        </p:txBody>
      </p:sp>
      <p:cxnSp>
        <p:nvCxnSpPr>
          <p:cNvPr id="105" name="L105"/>
          <p:cNvCxnSpPr/>
          <p:nvPr/>
        </p:nvCxnSpPr>
        <p:spPr>
          <a:xfrm flipV="1">
            <a:off x="1477148" y="3770000"/>
            <a:ext cx="0" cy="160000"/>
          </a:xfrm>
          <a:prstGeom prst="straightConnector1">
            <a:avLst/>
          </a:prstGeom>
          <a:ln w="38100">
            <a:solidFill>
              <a:srgbClr val="8E6F3E"/>
            </a:solidFill>
            <a:tailEnd type="triangle" w="med" len="med"/>
          </a:ln>
        </p:spPr>
      </p:cxnSp>
      <p:sp>
        <p:nvSpPr>
          <p:cNvPr id="106" name="Text"/>
          <p:cNvSpPr txBox="1"/>
          <p:nvPr/>
        </p:nvSpPr>
        <p:spPr>
          <a:xfrm>
            <a:off x="277148" y="4570000"/>
            <a:ext cx="8589704" cy="400000"/>
          </a:xfrm>
          <a:prstGeom prst="rect">
            <a:avLst/>
          </a:prstGeom>
          <a:noFill/>
          <a:ln>
            <a:noFill/>
          </a:ln>
        </p:spPr>
        <p:txBody>
          <a:bodyPr wrap="square" lIns="0" tIns="0" rIns="0" bIns="0" anchor="t">
            <a:normAutofit/>
          </a:bodyPr>
          <a:lstStyle/>
          <a:p>
            <a:pPr algn="ctr">
              <a:buNone/>
            </a:pPr>
            <a:r>
              <a:rPr lang="en-US" sz="20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FOLLOW</a:t>
            </a:r>
          </a:p>
        </p:txBody>
      </p:sp>
      <p:sp>
        <p:nvSpPr>
          <p:cNvPr id="101" name="S101"/>
          <p:cNvSpPr/>
          <p:nvPr/>
        </p:nvSpPr>
        <p:spPr>
          <a:xfrm>
            <a:off x="48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Already answered</a:t>
            </a:r>
          </a:p>
          <a:p>
            <a:pPr algn="ctr">
              <a:spcBef>
                <a:spcPts val="140"/>
              </a:spcBef>
              <a:buNone/>
            </a:pPr>
            <a:r>
              <a:rPr lang="en-US" sz="1600" b="0" i="0" dirty="0">
                <a:solidFill>
                  <a:srgbClr val="000000"/>
                </a:solidFill>
              </a:rPr>
              <a:t>Use the established</a:t>
            </a:r>
          </a:p>
          <a:p>
            <a:pPr algn="ctr">
              <a:spcBef>
                <a:spcPts val="140"/>
              </a:spcBef>
              <a:buNone/>
            </a:pPr>
            <a:r>
              <a:rPr lang="en-US" sz="1600" b="0" i="0" dirty="0">
                <a:solidFill>
                  <a:srgbClr val="000000"/>
                </a:solidFill>
              </a:rPr>
              <a:t>mechanism</a:t>
            </a:r>
          </a:p>
        </p:txBody>
      </p:sp>
      <p:sp>
        <p:nvSpPr>
          <p:cNvPr id="102" name="S102"/>
          <p:cNvSpPr/>
          <p:nvPr/>
        </p:nvSpPr>
        <p:spPr>
          <a:xfrm>
            <a:off x="329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CHOOSE</a:t>
            </a:r>
          </a:p>
        </p:txBody>
      </p:sp>
      <p:sp>
        <p:nvSpPr>
          <p:cNvPr id="103" name="S103"/>
          <p:cNvSpPr/>
          <p:nvPr/>
        </p:nvSpPr>
        <p:spPr>
          <a:xfrm>
            <a:off x="329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Genuinely local</a:t>
            </a:r>
          </a:p>
          <a:p>
            <a:pPr algn="ctr">
              <a:spcBef>
                <a:spcPts val="140"/>
              </a:spcBef>
              <a:buNone/>
            </a:pPr>
            <a:r>
              <a:rPr lang="en-US" sz="1600" b="0" i="0" dirty="0">
                <a:solidFill>
                  <a:srgbClr val="000000"/>
                </a:solidFill>
              </a:rPr>
              <a:t>Exercise Design</a:t>
            </a:r>
          </a:p>
          <a:p>
            <a:pPr algn="ctr">
              <a:spcBef>
                <a:spcPts val="140"/>
              </a:spcBef>
              <a:buNone/>
            </a:pPr>
            <a:r>
              <a:rPr lang="en-US" sz="1600" b="0" i="0" dirty="0">
                <a:solidFill>
                  <a:srgbClr val="000000"/>
                </a:solidFill>
              </a:rPr>
              <a:t>judgment</a:t>
            </a:r>
          </a:p>
        </p:txBody>
      </p:sp>
      <p:sp>
        <p:nvSpPr>
          <p:cNvPr id="104" name="S104"/>
          <p:cNvSpPr/>
          <p:nvPr/>
        </p:nvSpPr>
        <p:spPr>
          <a:xfrm>
            <a:off x="6102000" y="1100000"/>
            <a:ext cx="2560000" cy="62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ESCALATE</a:t>
            </a:r>
          </a:p>
        </p:txBody>
      </p:sp>
      <p:sp>
        <p:nvSpPr>
          <p:cNvPr id="105" name="S105"/>
          <p:cNvSpPr/>
          <p:nvPr/>
        </p:nvSpPr>
        <p:spPr>
          <a:xfrm>
            <a:off x="6102000" y="1780000"/>
            <a:ext cx="2560000" cy="1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Consequences escape</a:t>
            </a:r>
          </a:p>
          <a:p>
            <a:pPr algn="ctr">
              <a:spcBef>
                <a:spcPts val="140"/>
              </a:spcBef>
              <a:buNone/>
            </a:pPr>
            <a:r>
              <a:rPr lang="en-US" sz="1600" b="0" i="0" dirty="0">
                <a:solidFill>
                  <a:srgbClr val="000000"/>
                </a:solidFill>
              </a:rPr>
              <a:t>the box</a:t>
            </a:r>
          </a:p>
          <a:p>
            <a:pPr algn="ctr">
              <a:spcBef>
                <a:spcPts val="140"/>
              </a:spcBef>
              <a:buNone/>
            </a:pPr>
            <a:r>
              <a:rPr lang="en-US" sz="1600" b="0" i="0" dirty="0">
                <a:solidFill>
                  <a:srgbClr val="000000"/>
                </a:solidFill>
              </a:rPr>
              <a:t>The decision may</a:t>
            </a:r>
          </a:p>
          <a:p>
            <a:pPr algn="ctr">
              <a:spcBef>
                <a:spcPts val="140"/>
              </a:spcBef>
              <a:buNone/>
            </a:pPr>
            <a:r>
              <a:rPr lang="en-US" sz="1600" b="0" i="0" dirty="0">
                <a:solidFill>
                  <a:srgbClr val="000000"/>
                </a:solidFill>
              </a:rPr>
              <a:t>belong elsewhere</a:t>
            </a:r>
          </a:p>
        </p:txBody>
      </p:sp>
      <p:sp>
        <p:nvSpPr>
          <p:cNvPr id="106"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is strategy. Design is tactics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372000" y="1050000"/>
            <a:ext cx="4400000" cy="1000000"/>
          </a:xfrm>
          <a:prstGeom prst="rect">
            <a:avLst/>
          </a:prstGeom>
          <a:solidFill>
            <a:srgbClr val="8E6F3E"/>
          </a:solidFill>
          <a:ln>
            <a:noFill/>
          </a:ln>
        </p:spPr>
        <p:txBody>
          <a:bodyPr wrap="square" lIns="91440" tIns="45720" rIns="91440" bIns="45720" anchor="ctr">
            <a:normAutofit/>
          </a:bodyPr>
          <a:lstStyle/>
          <a:p>
            <a:pPr algn="ctr">
              <a:buNone/>
            </a:pPr>
            <a:r>
              <a:rPr lang="en-US" sz="2200" b="1" i="0" dirty="0">
                <a:solidFill>
                  <a:srgbClr val="FFFFFF"/>
                </a:solidFill>
              </a:rPr>
              <a:t>ARCHITECTURE</a:t>
            </a:r>
          </a:p>
          <a:p>
            <a:pPr algn="ctr">
              <a:spcBef>
                <a:spcPts val="100"/>
              </a:spcBef>
              <a:buNone/>
            </a:pPr>
            <a:r>
              <a:rPr lang="en-US" sz="1600" b="0" i="1" dirty="0">
                <a:solidFill>
                  <a:srgbClr val="FFFFFF"/>
                </a:solidFill>
              </a:rPr>
              <a:t>strategy</a:t>
            </a:r>
          </a:p>
          <a:p>
            <a:pPr algn="ctr">
              <a:spcBef>
                <a:spcPts val="100"/>
              </a:spcBef>
              <a:buNone/>
            </a:pPr>
            <a:r>
              <a:rPr lang="en-US" sz="1500" b="0" i="0" dirty="0">
                <a:solidFill>
                  <a:srgbClr val="FFFFFF"/>
                </a:solidFill>
              </a:rPr>
              <a:t>affordances · constraints</a:t>
            </a:r>
          </a:p>
        </p:txBody>
      </p:sp>
      <p:cxnSp>
        <p:nvCxnSpPr>
          <p:cNvPr id="101" name="L101"/>
          <p:cNvCxnSpPr/>
          <p:nvPr/>
        </p:nvCxnSpPr>
        <p:spPr>
          <a:xfrm>
            <a:off x="4572000" y="2100000"/>
            <a:ext cx="0" cy="380000"/>
          </a:xfrm>
          <a:prstGeom prst="straightConnector1">
            <a:avLst/>
          </a:prstGeom>
          <a:ln w="38100">
            <a:solidFill>
              <a:srgbClr val="8E6F3E"/>
            </a:solidFill>
            <a:tailEnd type="triangle" w="med" len="med"/>
          </a:ln>
        </p:spPr>
      </p:cxnSp>
      <p:sp>
        <p:nvSpPr>
          <p:cNvPr id="102" name="S102"/>
          <p:cNvSpPr/>
          <p:nvPr/>
        </p:nvSpPr>
        <p:spPr>
          <a:xfrm>
            <a:off x="2372000" y="2560000"/>
            <a:ext cx="4400000" cy="100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2200" b="1" i="0" dirty="0">
                <a:solidFill>
                  <a:srgbClr val="5C4826"/>
                </a:solidFill>
              </a:rPr>
              <a:t>DESIGN</a:t>
            </a:r>
          </a:p>
          <a:p>
            <a:pPr algn="ctr">
              <a:spcBef>
                <a:spcPts val="100"/>
              </a:spcBef>
              <a:buNone/>
            </a:pPr>
            <a:r>
              <a:rPr lang="en-US" sz="1600" b="0" i="1" dirty="0">
                <a:solidFill>
                  <a:srgbClr val="5C4826"/>
                </a:solidFill>
              </a:rPr>
              <a:t>tactics</a:t>
            </a:r>
          </a:p>
          <a:p>
            <a:pPr algn="ctr">
              <a:spcBef>
                <a:spcPts val="100"/>
              </a:spcBef>
              <a:buNone/>
            </a:pPr>
            <a:r>
              <a:rPr lang="en-US" sz="1500" b="0" i="0" dirty="0">
                <a:solidFill>
                  <a:srgbClr val="000000"/>
                </a:solidFill>
              </a:rPr>
              <a:t>mechanisms · internal choices</a:t>
            </a:r>
          </a:p>
        </p:txBody>
      </p:sp>
      <p:sp>
        <p:nvSpPr>
          <p:cNvPr id="103" name="S103"/>
          <p:cNvSpPr/>
          <p:nvPr/>
        </p:nvSpPr>
        <p:spPr>
          <a:xfrm>
            <a:off x="2972000" y="3900000"/>
            <a:ext cx="3200000" cy="620000"/>
          </a:xfrm>
          <a:prstGeom prst="rect">
            <a:avLst/>
          </a:prstGeom>
          <a:solidFill>
            <a:srgbClr val="FBF8F2"/>
          </a:solidFill>
          <a:ln w="12700">
            <a:solidFill>
              <a:srgbClr val="C9B991"/>
            </a:solidFill>
            <a:prstDash val="dash"/>
          </a:ln>
        </p:spPr>
        <p:txBody>
          <a:bodyPr wrap="square" lIns="91440" tIns="45720" rIns="91440" bIns="45720" anchor="ctr">
            <a:normAutofit/>
          </a:bodyPr>
          <a:lstStyle/>
          <a:p>
            <a:pPr algn="ctr">
              <a:buNone/>
            </a:pPr>
            <a:r>
              <a:rPr lang="en-US" sz="1600" b="1" i="0" dirty="0">
                <a:solidFill>
                  <a:srgbClr val="5C4826"/>
                </a:solidFill>
              </a:rPr>
              <a:t>SUBSYSTEM</a:t>
            </a:r>
          </a:p>
          <a:p>
            <a:pPr algn="ctr">
              <a:spcBef>
                <a:spcPts val="80"/>
              </a:spcBef>
              <a:buNone/>
            </a:pPr>
            <a:r>
              <a:rPr lang="en-US" sz="1400" b="0" i="1" dirty="0">
                <a:solidFill>
                  <a:srgbClr val="555960"/>
                </a:solidFill>
              </a:rPr>
              <a:t>strategy → tactics</a:t>
            </a:r>
          </a:p>
        </p:txBody>
      </p:sp>
      <p:sp>
        <p:nvSpPr>
          <p:cNvPr id="104"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The distinction is relative to the scope we are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When does the recursion stop?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502000" y="1100000"/>
            <a:ext cx="1900000" cy="700000"/>
          </a:xfrm>
          <a:prstGeom prst="rect">
            <a:avLst/>
          </a:prstGeom>
          <a:solidFill>
            <a:srgbClr val="F0E6CE"/>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system</a:t>
            </a:r>
          </a:p>
        </p:txBody>
      </p:sp>
      <p:cxnSp>
        <p:nvCxnSpPr>
          <p:cNvPr id="101" name="L101"/>
          <p:cNvCxnSpPr/>
          <p:nvPr/>
        </p:nvCxnSpPr>
        <p:spPr>
          <a:xfrm>
            <a:off x="2402000" y="1450000"/>
            <a:ext cx="180000" cy="0"/>
          </a:xfrm>
          <a:prstGeom prst="straightConnector1">
            <a:avLst/>
          </a:prstGeom>
          <a:ln w="38100">
            <a:solidFill>
              <a:srgbClr val="8E6F3E"/>
            </a:solidFill>
            <a:tailEnd type="triangle" w="med" len="med"/>
          </a:ln>
        </p:spPr>
      </p:cxnSp>
      <p:sp>
        <p:nvSpPr>
          <p:cNvPr id="102" name="S102"/>
          <p:cNvSpPr/>
          <p:nvPr/>
        </p:nvSpPr>
        <p:spPr>
          <a:xfrm>
            <a:off x="2582000" y="1100000"/>
            <a:ext cx="1900000" cy="700000"/>
          </a:xfrm>
          <a:prstGeom prst="rect">
            <a:avLst/>
          </a:prstGeom>
          <a:solidFill>
            <a:srgbClr val="EBDFC2"/>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subsystem</a:t>
            </a:r>
          </a:p>
        </p:txBody>
      </p:sp>
      <p:cxnSp>
        <p:nvCxnSpPr>
          <p:cNvPr id="103" name="L103"/>
          <p:cNvCxnSpPr/>
          <p:nvPr/>
        </p:nvCxnSpPr>
        <p:spPr>
          <a:xfrm>
            <a:off x="4482000" y="1450000"/>
            <a:ext cx="180000" cy="0"/>
          </a:xfrm>
          <a:prstGeom prst="straightConnector1">
            <a:avLst/>
          </a:prstGeom>
          <a:ln w="38100">
            <a:solidFill>
              <a:srgbClr val="8E6F3E"/>
            </a:solidFill>
            <a:tailEnd type="triangle" w="med" len="med"/>
          </a:ln>
        </p:spPr>
      </p:cxnSp>
      <p:sp>
        <p:nvSpPr>
          <p:cNvPr id="104" name="S104"/>
          <p:cNvSpPr/>
          <p:nvPr/>
        </p:nvSpPr>
        <p:spPr>
          <a:xfrm>
            <a:off x="4662000" y="1100000"/>
            <a:ext cx="1900000" cy="700000"/>
          </a:xfrm>
          <a:prstGeom prst="rect">
            <a:avLst/>
          </a:prstGeom>
          <a:solidFill>
            <a:srgbClr val="E4D6B0"/>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component</a:t>
            </a:r>
          </a:p>
        </p:txBody>
      </p:sp>
      <p:cxnSp>
        <p:nvCxnSpPr>
          <p:cNvPr id="105" name="L105"/>
          <p:cNvCxnSpPr/>
          <p:nvPr/>
        </p:nvCxnSpPr>
        <p:spPr>
          <a:xfrm>
            <a:off x="6562000" y="1450000"/>
            <a:ext cx="180000" cy="0"/>
          </a:xfrm>
          <a:prstGeom prst="straightConnector1">
            <a:avLst/>
          </a:prstGeom>
          <a:ln w="38100">
            <a:solidFill>
              <a:srgbClr val="8E6F3E"/>
            </a:solidFill>
            <a:tailEnd type="triangle" w="med" len="med"/>
          </a:ln>
        </p:spPr>
      </p:cxnSp>
      <p:sp>
        <p:nvSpPr>
          <p:cNvPr id="106" name="S106"/>
          <p:cNvSpPr/>
          <p:nvPr/>
        </p:nvSpPr>
        <p:spPr>
          <a:xfrm>
            <a:off x="6742000" y="1100000"/>
            <a:ext cx="1900000" cy="7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1" i="0" dirty="0">
                <a:solidFill>
                  <a:srgbClr val="5C4826"/>
                </a:solidFill>
              </a:rPr>
              <a:t>object / function / data structure</a:t>
            </a:r>
          </a:p>
        </p:txBody>
      </p:sp>
      <p:sp>
        <p:nvSpPr>
          <p:cNvPr id="107" name="S107"/>
          <p:cNvSpPr/>
          <p:nvPr/>
        </p:nvSpPr>
        <p:spPr>
          <a:xfrm>
            <a:off x="972000" y="2250000"/>
            <a:ext cx="7200000" cy="62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STOP when the remaining entities are small enough to reason about directly.</a:t>
            </a:r>
          </a:p>
        </p:txBody>
      </p:sp>
      <p:sp>
        <p:nvSpPr>
          <p:cNvPr id="108" name="Sub"/>
          <p:cNvSpPr txBox="1"/>
          <p:nvPr/>
        </p:nvSpPr>
        <p:spPr>
          <a:xfrm>
            <a:off x="277148" y="3050000"/>
            <a:ext cx="8589704" cy="4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Further decomposition no longer makes the engineering problem easier to understand.</a:t>
            </a:r>
          </a:p>
        </p:txBody>
      </p:sp>
      <p:sp>
        <p:nvSpPr>
          <p:cNvPr id="109" name="S109"/>
          <p:cNvSpPr/>
          <p:nvPr/>
        </p:nvSpPr>
        <p:spPr>
          <a:xfrm>
            <a:off x="2272000" y="3650000"/>
            <a:ext cx="4600000" cy="56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r>
              <a:rPr lang="en-US" sz="1800" b="0" i="0" dirty="0">
                <a:solidFill>
                  <a:srgbClr val="8E6F3E"/>
                </a:solidFill>
              </a:rPr>
              <a:t xml:space="preserve">     →     </a:t>
            </a:r>
            <a:r>
              <a:rPr lang="en-US" sz="1800" b="1" i="0" dirty="0">
                <a:solidFill>
                  <a:srgbClr val="5C4826"/>
                </a:solidFill>
              </a:rPr>
              <a:t>IMPLEMENTATION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reason about the inside?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Same modeling discipline.</a:t>
            </a:r>
          </a:p>
          <a:p>
            <a:pPr algn="ctr">
              <a:spcBef>
                <a:spcPts val="120"/>
              </a:spcBef>
              <a:buNone/>
            </a:pPr>
            <a:r>
              <a:rPr lang="en-US" sz="2800" b="0" i="0" dirty="0">
                <a:solidFill>
                  <a:srgbClr val="555960"/>
                </a:solidFill>
              </a:rPr>
              <a:t>Different scope.</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can happen inside this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t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load</a:t>
            </a:r>
          </a:p>
        </p:txBody>
      </p:sp>
      <p:sp>
        <p:nvSpPr>
          <p:cNvPr id="121" name="St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generate</a:t>
            </a:r>
          </a:p>
        </p:txBody>
      </p:sp>
      <p:sp>
        <p:nvSpPr>
          <p:cNvPr id="122" name="St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validate</a:t>
            </a:r>
          </a:p>
        </p:txBody>
      </p:sp>
      <p:sp>
        <p:nvSpPr>
          <p:cNvPr id="123" name="St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200" b="0" i="1" dirty="0">
                <a:solidFill>
                  <a:srgbClr val="555960"/>
                </a:solidFill>
              </a:rPr>
              <a:t>return</a:t>
            </a:r>
          </a:p>
        </p:txBody>
      </p:sp>
      <p:cxnSp>
        <p:nvCxnSpPr>
          <p:cNvPr id="133" name="RetryDown"/>
          <p:cNvCxnSpPr/>
          <p:nvPr/>
        </p:nvCxnSpPr>
        <p:spPr>
          <a:xfrm>
            <a:off x="5900000" y="2800000"/>
            <a:ext cx="0" cy="300000"/>
          </a:xfrm>
          <a:prstGeom prst="straightConnector1">
            <a:avLst/>
          </a:prstGeom>
          <a:ln w="25400" cap="rnd">
            <a:solidFill>
              <a:srgbClr val="C0392B"/>
            </a:solidFill>
          </a:ln>
        </p:spPr>
      </p:cxnSp>
      <p:cxnSp>
        <p:nvCxnSpPr>
          <p:cNvPr id="134" name="RetryAcross"/>
          <p:cNvCxnSpPr/>
          <p:nvPr/>
        </p:nvCxnSpPr>
        <p:spPr>
          <a:xfrm>
            <a:off x="1440000" y="3100000"/>
            <a:ext cx="4460000" cy="0"/>
          </a:xfrm>
          <a:prstGeom prst="straightConnector1">
            <a:avLst/>
          </a:prstGeom>
          <a:ln w="25400" cap="rnd">
            <a:solidFill>
              <a:srgbClr val="C0392B"/>
            </a:solidFill>
          </a:ln>
        </p:spPr>
      </p:cxnSp>
      <p:cxnSp>
        <p:nvCxnSpPr>
          <p:cNvPr id="130" name="Retry"/>
          <p:cNvCxnSpPr/>
          <p:nvPr/>
        </p:nvCxnSpPr>
        <p:spPr>
          <a:xfrm flipV="1">
            <a:off x="1440000" y="2800000"/>
            <a:ext cx="0" cy="300000"/>
          </a:xfrm>
          <a:prstGeom prst="straightConnector1">
            <a:avLst/>
          </a:prstGeom>
          <a:ln w="25400" cap="rnd">
            <a:solidFill>
              <a:srgbClr val="C0392B"/>
            </a:solidFill>
            <a:tailEnd type="triangle" w="med" len="med"/>
          </a:ln>
        </p:spPr>
      </p:cxnSp>
      <p:sp>
        <p:nvSpPr>
          <p:cNvPr id="131" name="RetryLbl"/>
          <p:cNvSpPr/>
          <p:nvPr/>
        </p:nvSpPr>
        <p:spPr>
          <a:xfrm>
            <a:off x="2470000" y="3150000"/>
            <a:ext cx="2400000" cy="190000"/>
          </a:xfrm>
          <a:prstGeom prst="rect">
            <a:avLst/>
          </a:prstGeom>
          <a:noFill/>
          <a:ln>
            <a:noFill/>
          </a:ln>
        </p:spPr>
        <p:txBody>
          <a:bodyPr wrap="square" lIns="0" tIns="0" rIns="0" bIns="0" anchor="t">
            <a:normAutofit/>
          </a:bodyPr>
          <a:lstStyle/>
          <a:p>
            <a:pPr algn="ctr">
              <a:buNone/>
            </a:pPr>
            <a:r>
              <a:rPr lang="en-US" sz="1200" b="0" i="1" dirty="0">
                <a:solidFill>
                  <a:srgbClr val="C0392B"/>
                </a:solidFill>
              </a:rPr>
              <a:t>on failure → retry</a:t>
            </a:r>
          </a:p>
        </p:txBody>
      </p:sp>
      <p:sp>
        <p:nvSpPr>
          <p:cNvPr id="132" name="Entry"/>
          <p:cNvSpPr/>
          <p:nvPr/>
        </p:nvSpPr>
        <p:spPr>
          <a:xfrm>
            <a:off x="5760720" y="1980000"/>
            <a:ext cx="2423160" cy="260000"/>
          </a:xfrm>
          <a:prstGeom prst="rect">
            <a:avLst/>
          </a:prstGeom>
          <a:noFill/>
          <a:ln>
            <a:noFill/>
          </a:ln>
        </p:spPr>
        <p:txBody>
          <a:bodyPr wrap="square" lIns="0" tIns="0" rIns="0" bIns="0" anchor="t">
            <a:normAutofit/>
          </a:bodyPr>
          <a:lstStyle/>
          <a:p>
            <a:pPr algn="r">
              <a:buNone/>
            </a:pPr>
            <a:r>
              <a:rPr lang="en-US" sz="1100" b="0" i="1" dirty="0">
                <a:solidFill>
                  <a:srgbClr val="555960"/>
                </a:solidFill>
              </a:rPr>
              <a:t>entry: WAITING   ·   exit: RETURN</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a request return advice before validation completes?</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Behavioral question → behavioral model</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what, and for how long?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Life1"/>
          <p:cNvSpPr/>
          <p:nvPr/>
        </p:nvSpPr>
        <p:spPr>
          <a:xfrm>
            <a:off x="1240000" y="2900000"/>
            <a:ext cx="654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5" name="LifeL1"/>
          <p:cNvSpPr/>
          <p:nvPr/>
        </p:nvSpPr>
        <p:spPr>
          <a:xfrm>
            <a:off x="1300000" y="2860000"/>
            <a:ext cx="6420000" cy="160000"/>
          </a:xfrm>
          <a:prstGeom prst="rect">
            <a:avLst/>
          </a:prstGeom>
          <a:noFill/>
          <a:ln>
            <a:noFill/>
          </a:ln>
        </p:spPr>
        <p:txBody>
          <a:bodyPr wrap="square" lIns="0" tIns="0" rIns="0" bIns="0" anchor="ctr">
            <a:normAutofit/>
          </a:bodyPr>
          <a:lstStyle/>
          <a:p>
            <a:pPr algn="l">
              <a:buNone/>
            </a:pPr>
            <a:r>
              <a:rPr lang="en-US" sz="1100" b="0" i="0" dirty="0">
                <a:solidFill>
                  <a:srgbClr val="5C4826"/>
                </a:solidFill>
              </a:rPr>
              <a:t>request</a:t>
            </a:r>
          </a:p>
        </p:txBody>
      </p:sp>
      <p:sp>
        <p:nvSpPr>
          <p:cNvPr id="121" name="Life2"/>
          <p:cNvSpPr/>
          <p:nvPr/>
        </p:nvSpPr>
        <p:spPr>
          <a:xfrm>
            <a:off x="1240000" y="3080000"/>
            <a:ext cx="4860000" cy="140000"/>
          </a:xfrm>
          <a:prstGeom prst="rect">
            <a:avLst/>
          </a:prstGeom>
          <a:solidFill>
            <a:srgbClr val="8E6F3E"/>
          </a:solidFill>
          <a:ln>
            <a:noFill/>
          </a:ln>
        </p:spPr>
        <p:txBody>
          <a:bodyPr wrap="square" lIns="91440" tIns="45720" rIns="91440" bIns="45720" anchor="ctr">
            <a:normAutofit/>
          </a:bodyPr>
          <a:lstStyle/>
          <a:p>
            <a:endParaRPr/>
          </a:p>
        </p:txBody>
      </p:sp>
      <p:sp>
        <p:nvSpPr>
          <p:cNvPr id="126" name="LifeL2"/>
          <p:cNvSpPr/>
          <p:nvPr/>
        </p:nvSpPr>
        <p:spPr>
          <a:xfrm>
            <a:off x="1300000" y="3030000"/>
            <a:ext cx="4740000" cy="160000"/>
          </a:xfrm>
          <a:prstGeom prst="rect">
            <a:avLst/>
          </a:prstGeom>
          <a:noFill/>
          <a:ln>
            <a:noFill/>
          </a:ln>
        </p:spPr>
        <p:txBody>
          <a:bodyPr wrap="square" lIns="0" tIns="0" rIns="0" bIns="0" anchor="ctr">
            <a:normAutofit/>
          </a:bodyPr>
          <a:lstStyle/>
          <a:p>
            <a:pPr algn="l">
              <a:buNone/>
            </a:pPr>
            <a:r>
              <a:rPr lang="en-US" sz="1100" b="1" i="0" dirty="0">
                <a:solidFill>
                  <a:srgbClr val="FFFFFF"/>
                </a:solidFill>
              </a:rPr>
              <a:t>working state</a:t>
            </a:r>
          </a:p>
        </p:txBody>
      </p:sp>
      <p:sp>
        <p:nvSpPr>
          <p:cNvPr id="122" name="Life3"/>
          <p:cNvSpPr/>
          <p:nvPr/>
        </p:nvSpPr>
        <p:spPr>
          <a:xfrm>
            <a:off x="2920000" y="3260000"/>
            <a:ext cx="4860000" cy="140000"/>
          </a:xfrm>
          <a:prstGeom prst="rect">
            <a:avLst/>
          </a:prstGeom>
          <a:solidFill>
            <a:srgbClr val="C9B991"/>
          </a:solidFill>
          <a:ln>
            <a:noFill/>
          </a:ln>
        </p:spPr>
        <p:txBody>
          <a:bodyPr wrap="square" lIns="91440" tIns="45720" rIns="91440" bIns="45720" anchor="ctr">
            <a:normAutofit/>
          </a:bodyPr>
          <a:lstStyle/>
          <a:p>
            <a:endParaRPr/>
          </a:p>
        </p:txBody>
      </p:sp>
      <p:sp>
        <p:nvSpPr>
          <p:cNvPr id="127" name="LifeL3"/>
          <p:cNvSpPr/>
          <p:nvPr/>
        </p:nvSpPr>
        <p:spPr>
          <a:xfrm>
            <a:off x="2980000" y="3200000"/>
            <a:ext cx="4740000" cy="160000"/>
          </a:xfrm>
          <a:prstGeom prst="rect">
            <a:avLst/>
          </a:prstGeom>
          <a:noFill/>
          <a:ln>
            <a:noFill/>
          </a:ln>
        </p:spPr>
        <p:txBody>
          <a:bodyPr wrap="square" lIns="0" tIns="0" rIns="0" bIns="0" anchor="ctr">
            <a:normAutofit/>
          </a:bodyPr>
          <a:lstStyle/>
          <a:p>
            <a:pPr algn="l">
              <a:buNone/>
            </a:pPr>
            <a:r>
              <a:rPr lang="en-US" sz="1100" b="0" i="0" dirty="0">
                <a:solidFill>
                  <a:srgbClr val="5C4826"/>
                </a:solidFill>
              </a:rPr>
              <a:t>model result</a:t>
            </a:r>
          </a:p>
        </p:txBody>
      </p:sp>
      <p:sp>
        <p:nvSpPr>
          <p:cNvPr id="129" name="OwnNote"/>
          <p:cNvSpPr/>
          <p:nvPr/>
        </p:nvSpPr>
        <p:spPr>
          <a:xfrm>
            <a:off x="940000" y="3430000"/>
            <a:ext cx="7264000" cy="240000"/>
          </a:xfrm>
          <a:prstGeom prst="rect">
            <a:avLst/>
          </a:prstGeom>
          <a:noFill/>
          <a:ln>
            <a:noFill/>
          </a:ln>
        </p:spPr>
        <p:txBody>
          <a:bodyPr wrap="square" lIns="0" tIns="0" rIns="0" bIns="0" anchor="t">
            <a:normAutofit/>
          </a:bodyPr>
          <a:lstStyle/>
          <a:p>
            <a:pPr algn="ctr">
              <a:buNone/>
            </a:pPr>
            <a:r>
              <a:rPr lang="en-US" sz="1200" b="0" i="1" dirty="0">
                <a:solidFill>
                  <a:srgbClr val="8E6F3E"/>
                </a:solidFill>
              </a:rPr>
              <a:t>shared lifetime = the concurrency risk</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two requests mutate the same working state?</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Ownership question → ownership model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depends on what inside the component?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Seam"/>
          <p:cNvSpPr/>
          <p:nvPr/>
        </p:nvSpPr>
        <p:spPr>
          <a:xfrm>
            <a:off x="2850000" y="2130000"/>
            <a:ext cx="1640000" cy="740000"/>
          </a:xfrm>
          <a:prstGeom prst="roundRect">
            <a:avLst/>
          </a:prstGeom>
          <a:noFill/>
          <a:ln w="25400">
            <a:solidFill>
              <a:srgbClr val="8E6F3E"/>
            </a:solidFill>
            <a:prstDash val="dash"/>
          </a:ln>
        </p:spPr>
        <p:txBody>
          <a:bodyPr wrap="square" lIns="91440" tIns="45720" rIns="91440" bIns="45720" anchor="ctr">
            <a:normAutofit/>
          </a:bodyPr>
          <a:lstStyle/>
          <a:p>
            <a:endParaRPr/>
          </a:p>
        </p:txBody>
      </p:sp>
      <p:sp>
        <p:nvSpPr>
          <p:cNvPr id="121" name="SeamLbl"/>
          <p:cNvSpPr/>
          <p:nvPr/>
        </p:nvSpPr>
        <p:spPr>
          <a:xfrm>
            <a:off x="2720000" y="2900000"/>
            <a:ext cx="1900000" cy="260000"/>
          </a:xfrm>
          <a:prstGeom prst="rect">
            <a:avLst/>
          </a:prstGeom>
          <a:noFill/>
          <a:ln>
            <a:noFill/>
          </a:ln>
        </p:spPr>
        <p:txBody>
          <a:bodyPr wrap="square" lIns="0" tIns="0" rIns="0" bIns="0" anchor="t">
            <a:normAutofit/>
          </a:bodyPr>
          <a:lstStyle/>
          <a:p>
            <a:pPr algn="ctr">
              <a:buNone/>
            </a:pPr>
            <a:r>
              <a:rPr lang="en-US" sz="1100" b="0" i="1" dirty="0">
                <a:solidFill>
                  <a:srgbClr val="8E6F3E"/>
                </a:solidFill>
              </a:rPr>
              <a:t>replace behind a stable seam</a:t>
            </a:r>
          </a:p>
        </p:txBody>
      </p:sp>
      <p:sp>
        <p:nvSpPr>
          <p:cNvPr id="122" name="DepNote"/>
          <p:cNvSpPr/>
          <p:nvPr/>
        </p:nvSpPr>
        <p:spPr>
          <a:xfrm>
            <a:off x="4400000" y="2900000"/>
            <a:ext cx="2400000" cy="260000"/>
          </a:xfrm>
          <a:prstGeom prst="rect">
            <a:avLst/>
          </a:prstGeom>
          <a:noFill/>
          <a:ln>
            <a:noFill/>
          </a:ln>
        </p:spPr>
        <p:txBody>
          <a:bodyPr wrap="square" lIns="0" tIns="0" rIns="0" bIns="0" anchor="t">
            <a:normAutofit/>
          </a:bodyPr>
          <a:lstStyle/>
          <a:p>
            <a:pPr algn="ctr">
              <a:buNone/>
            </a:pPr>
            <a:r>
              <a:rPr lang="en-US" sz="1100" b="0" i="1" dirty="0">
                <a:solidFill>
                  <a:srgbClr val="555960"/>
                </a:solidFill>
              </a:rPr>
              <a:t>VALIDATOR unchanged</a:t>
            </a:r>
          </a:p>
        </p:txBody>
      </p:sp>
      <p:sp>
        <p:nvSpPr>
          <p:cNvPr id="200" name="Q"/>
          <p:cNvSpPr/>
          <p:nvPr/>
        </p:nvSpPr>
        <p:spPr>
          <a:xfrm>
            <a:off x="1071876" y="3760000"/>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we replace the advice model without changing validation?</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Change question → structural model</a:t>
            </a:r>
          </a:p>
        </p:txBody>
      </p:sp>
    </p:spTree>
  </p:cSld>
  <p:clrMapOvr>
    <a:masterClrMapping/>
  </p:clrMapOvr>
</p:sld>
</file>

<file path=ppt/slides/slide14.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quantities determine whether it works?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ADVICE GENERATOR</a:t>
            </a:r>
            <a:r>
              <a:rPr lang="en-US" sz="1500" b="0" i="1" dirty="0">
                <a:solidFill>
                  <a:srgbClr val="555960"/>
                </a:solidFill>
              </a:rPr>
              <a:t xml:space="preserve">   ·   one component, one question</a:t>
            </a:r>
          </a:p>
        </p:txBody>
      </p:sp>
      <p:sp>
        <p:nvSpPr>
          <p:cNvPr id="110" name="AGFrame"/>
          <p:cNvSpPr/>
          <p:nvPr/>
        </p:nvSpPr>
        <p:spPr>
          <a:xfrm>
            <a:off x="940000" y="1600000"/>
            <a:ext cx="7264000" cy="1800000"/>
          </a:xfrm>
          <a:prstGeom prst="roundRect">
            <a:avLst/>
          </a:prstGeom>
          <a:solidFill>
            <a:srgbClr val="FBFAF5"/>
          </a:solidFill>
          <a:ln w="15875">
            <a:solidFill>
              <a:srgbClr val="C9B991"/>
            </a:solidFill>
          </a:ln>
        </p:spPr>
        <p:txBody>
          <a:bodyPr wrap="square" lIns="137160" tIns="91440" rIns="137160" bIns="91440" anchor="t">
            <a:normAutofit/>
          </a:bodyPr>
          <a:lstStyle/>
          <a:p>
            <a:pPr algn="l">
              <a:buNone/>
            </a:pPr>
            <a:r>
              <a:rPr lang="en-US" sz="1300" b="1" i="0" dirty="0">
                <a:solidFill>
                  <a:srgbClr val="8E6F3E"/>
                </a:solidFill>
              </a:rPr>
              <a:t>Advice Generator</a:t>
            </a:r>
          </a:p>
        </p:txBody>
      </p:sp>
      <p:sp>
        <p:nvSpPr>
          <p:cNvPr id="111" name="Part1"/>
          <p:cNvSpPr/>
          <p:nvPr/>
        </p:nvSpPr>
        <p:spPr>
          <a:xfrm>
            <a:off x="124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LOADER</a:t>
            </a:r>
          </a:p>
        </p:txBody>
      </p:sp>
      <p:sp>
        <p:nvSpPr>
          <p:cNvPr id="112" name="Part2"/>
          <p:cNvSpPr/>
          <p:nvPr/>
        </p:nvSpPr>
        <p:spPr>
          <a:xfrm>
            <a:off x="292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ADVICE MODEL</a:t>
            </a:r>
          </a:p>
        </p:txBody>
      </p:sp>
      <p:sp>
        <p:nvSpPr>
          <p:cNvPr id="113" name="Part3"/>
          <p:cNvSpPr/>
          <p:nvPr/>
        </p:nvSpPr>
        <p:spPr>
          <a:xfrm>
            <a:off x="460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VALIDATOR</a:t>
            </a:r>
          </a:p>
        </p:txBody>
      </p:sp>
      <p:sp>
        <p:nvSpPr>
          <p:cNvPr id="114" name="Part4"/>
          <p:cNvSpPr/>
          <p:nvPr/>
        </p:nvSpPr>
        <p:spPr>
          <a:xfrm>
            <a:off x="6280000" y="2200000"/>
            <a:ext cx="1500000" cy="600000"/>
          </a:xfrm>
          <a:prstGeom prst="round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250" b="1" i="0" dirty="0">
                <a:solidFill>
                  <a:srgbClr val="5C4826"/>
                </a:solidFill>
              </a:rPr>
              <a:t>FORMATTER</a:t>
            </a:r>
          </a:p>
        </p:txBody>
      </p:sp>
      <p:cxnSp>
        <p:nvCxnSpPr>
          <p:cNvPr id="115" name="Flow1"/>
          <p:cNvCxnSpPr/>
          <p:nvPr/>
        </p:nvCxnSpPr>
        <p:spPr>
          <a:xfrm>
            <a:off x="2740000" y="2500000"/>
            <a:ext cx="180000" cy="0"/>
          </a:xfrm>
          <a:prstGeom prst="straightConnector1">
            <a:avLst/>
          </a:prstGeom>
          <a:ln w="25400">
            <a:solidFill>
              <a:srgbClr val="8E6F3E"/>
            </a:solidFill>
            <a:tailEnd type="triangle" w="med" len="med"/>
          </a:ln>
        </p:spPr>
      </p:cxnSp>
      <p:cxnSp>
        <p:nvCxnSpPr>
          <p:cNvPr id="116" name="Flow2"/>
          <p:cNvCxnSpPr/>
          <p:nvPr/>
        </p:nvCxnSpPr>
        <p:spPr>
          <a:xfrm>
            <a:off x="4420000" y="2500000"/>
            <a:ext cx="180000" cy="0"/>
          </a:xfrm>
          <a:prstGeom prst="straightConnector1">
            <a:avLst/>
          </a:prstGeom>
          <a:ln w="25400">
            <a:solidFill>
              <a:srgbClr val="8E6F3E"/>
            </a:solidFill>
            <a:tailEnd type="triangle" w="med" len="med"/>
          </a:ln>
        </p:spPr>
      </p:cxnSp>
      <p:cxnSp>
        <p:nvCxnSpPr>
          <p:cNvPr id="117" name="Flow3"/>
          <p:cNvCxnSpPr/>
          <p:nvPr/>
        </p:nvCxnSpPr>
        <p:spPr>
          <a:xfrm>
            <a:off x="6100000" y="2500000"/>
            <a:ext cx="180000" cy="0"/>
          </a:xfrm>
          <a:prstGeom prst="straightConnector1">
            <a:avLst/>
          </a:prstGeom>
          <a:ln w="25400">
            <a:solidFill>
              <a:srgbClr val="8E6F3E"/>
            </a:solidFill>
            <a:tailEnd type="triangle" w="med" len="med"/>
          </a:ln>
        </p:spPr>
      </p:cxnSp>
      <p:sp>
        <p:nvSpPr>
          <p:cNvPr id="120" name="Ms1"/>
          <p:cNvSpPr/>
          <p:nvPr/>
        </p:nvSpPr>
        <p:spPr>
          <a:xfrm>
            <a:off x="124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300 ms</a:t>
            </a:r>
          </a:p>
        </p:txBody>
      </p:sp>
      <p:sp>
        <p:nvSpPr>
          <p:cNvPr id="121" name="Ms2"/>
          <p:cNvSpPr/>
          <p:nvPr/>
        </p:nvSpPr>
        <p:spPr>
          <a:xfrm>
            <a:off x="292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1200 ms</a:t>
            </a:r>
          </a:p>
        </p:txBody>
      </p:sp>
      <p:sp>
        <p:nvSpPr>
          <p:cNvPr id="122" name="Ms3"/>
          <p:cNvSpPr/>
          <p:nvPr/>
        </p:nvSpPr>
        <p:spPr>
          <a:xfrm>
            <a:off x="460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200 ms</a:t>
            </a:r>
          </a:p>
        </p:txBody>
      </p:sp>
      <p:sp>
        <p:nvSpPr>
          <p:cNvPr id="123" name="Ms4"/>
          <p:cNvSpPr/>
          <p:nvPr/>
        </p:nvSpPr>
        <p:spPr>
          <a:xfrm>
            <a:off x="6280000" y="2880000"/>
            <a:ext cx="1500000" cy="280000"/>
          </a:xfrm>
          <a:prstGeom prst="rect">
            <a:avLst/>
          </a:prstGeom>
          <a:noFill/>
          <a:ln>
            <a:noFill/>
          </a:ln>
        </p:spPr>
        <p:txBody>
          <a:bodyPr wrap="square" lIns="0" tIns="0" rIns="0" bIns="0" anchor="t">
            <a:normAutofit/>
          </a:bodyPr>
          <a:lstStyle/>
          <a:p>
            <a:pPr algn="ctr">
              <a:buNone/>
            </a:pPr>
            <a:r>
              <a:rPr lang="en-US" sz="1200" b="1" i="0" dirty="0">
                <a:solidFill>
                  <a:srgbClr val="5C4826"/>
                </a:solidFill>
              </a:rPr>
              <a:t>~50 ms</a:t>
            </a:r>
          </a:p>
        </p:txBody>
      </p:sp>
      <p:sp>
        <p:nvSpPr>
          <p:cNvPr id="130" name="Budget"/>
          <p:cNvSpPr/>
          <p:nvPr/>
        </p:nvSpPr>
        <p:spPr>
          <a:xfrm>
            <a:off x="1240000" y="3502152"/>
            <a:ext cx="6540000" cy="260000"/>
          </a:xfrm>
          <a:prstGeom prst="roundRect">
            <a:avLst/>
          </a:prstGeom>
          <a:solidFill>
            <a:srgbClr val="EAF3EC"/>
          </a:solidFill>
          <a:ln w="12700">
            <a:solidFill>
              <a:srgbClr val="1E7A46"/>
            </a:solidFill>
          </a:ln>
        </p:spPr>
        <p:txBody>
          <a:bodyPr wrap="square" lIns="91440" tIns="45720" rIns="91440" bIns="45720" anchor="ctr">
            <a:normAutofit/>
          </a:bodyPr>
          <a:lstStyle/>
          <a:p>
            <a:pPr algn="ctr">
              <a:buNone/>
            </a:pPr>
            <a:r>
              <a:rPr lang="en-US" sz="1250" b="1" i="0" dirty="0">
                <a:solidFill>
                  <a:srgbClr val="1E7A46"/>
                </a:solidFill>
              </a:rPr>
              <a:t>300 + 1200 + 200 + 50  =  1750 ms</a:t>
            </a:r>
            <a:r>
              <a:rPr lang="en-US" sz="1250" b="1" i="0" dirty="0">
                <a:solidFill>
                  <a:srgbClr val="1E7A46"/>
                </a:solidFill>
              </a:rPr>
              <a:t xml:space="preserve">    ≤    2000 ms budget  ✓</a:t>
            </a:r>
          </a:p>
        </p:txBody>
      </p:sp>
      <p:sp>
        <p:nvSpPr>
          <p:cNvPr id="200" name="Q"/>
          <p:cNvSpPr/>
          <p:nvPr/>
        </p:nvSpPr>
        <p:spPr>
          <a:xfrm>
            <a:off x="1071876" y="3977639"/>
            <a:ext cx="7000000" cy="560000"/>
          </a:xfrm>
          <a:prstGeom prst="roundRect">
            <a:avLst/>
          </a:prstGeom>
          <a:solidFill>
            <a:srgbClr val="F5F1E8"/>
          </a:solidFill>
          <a:ln w="14097">
            <a:solidFill>
              <a:srgbClr val="8E6F3E"/>
            </a:solidFill>
          </a:ln>
        </p:spPr>
        <p:txBody>
          <a:bodyPr wrap="square" lIns="91440" tIns="45720" rIns="91440" bIns="45720" anchor="ctr">
            <a:normAutofit/>
          </a:bodyPr>
          <a:lstStyle/>
          <a:p>
            <a:pPr algn="ctr">
              <a:buNone/>
            </a:pPr>
            <a:r>
              <a:rPr lang="en-US" sz="1600" b="1" i="0" dirty="0">
                <a:solidFill>
                  <a:srgbClr val="5C4826"/>
                </a:solidFill>
              </a:rPr>
              <a:t>Can the component meet its 2-second budget?</a:t>
            </a:r>
          </a:p>
        </p:txBody>
      </p:sp>
      <p:sp>
        <p:nvSpPr>
          <p:cNvPr id="201" name="FooterBand"/>
          <p:cNvSpPr/>
          <p:nvPr/>
        </p:nvSpPr>
        <p:spPr>
          <a:xfrm>
            <a:off x="279400" y="6120000"/>
            <a:ext cx="8585200" cy="470000"/>
          </a:xfrm>
          <a:prstGeom prst="rect">
            <a:avLst/>
          </a:prstGeom>
          <a:solidFill>
            <a:srgbClr val="8E6F3E"/>
          </a:solidFill>
          <a:ln>
            <a:noFill/>
          </a:ln>
        </p:spPr>
        <p:txBody>
          <a:bodyPr wrap="square" lIns="109728" tIns="45720" rIns="109728" bIns="45720" anchor="ctr">
            <a:normAutofit/>
          </a:bodyPr>
          <a:lstStyle/>
          <a:p>
            <a:pPr algn="ctr">
              <a:buNone/>
            </a:pPr>
            <a:r>
              <a:rPr lang="en-US" sz="1500" b="1" i="0" dirty="0">
                <a:solidFill>
                  <a:srgbClr val="FFFFFF"/>
                </a:solidFill>
              </a:rPr>
              <a:t>Quantitative question → measurement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question determines the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30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Engineering question</a:t>
            </a:r>
          </a:p>
        </p:txBody>
      </p:sp>
      <p:sp>
        <p:nvSpPr>
          <p:cNvPr id="101" name="S101"/>
          <p:cNvSpPr/>
          <p:nvPr/>
        </p:nvSpPr>
        <p:spPr>
          <a:xfrm>
            <a:off x="3277148" y="1050000"/>
            <a:ext cx="2900000"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Useful model</a:t>
            </a:r>
          </a:p>
        </p:txBody>
      </p:sp>
      <p:sp>
        <p:nvSpPr>
          <p:cNvPr id="102" name="S102"/>
          <p:cNvSpPr/>
          <p:nvPr/>
        </p:nvSpPr>
        <p:spPr>
          <a:xfrm>
            <a:off x="6177148" y="1050000"/>
            <a:ext cx="2689704" cy="78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Property</a:t>
            </a:r>
          </a:p>
        </p:txBody>
      </p:sp>
      <p:sp>
        <p:nvSpPr>
          <p:cNvPr id="103" name="S103"/>
          <p:cNvSpPr/>
          <p:nvPr/>
        </p:nvSpPr>
        <p:spPr>
          <a:xfrm>
            <a:off x="277148" y="183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can happen?</a:t>
            </a:r>
          </a:p>
        </p:txBody>
      </p:sp>
      <p:sp>
        <p:nvSpPr>
          <p:cNvPr id="104" name="S104"/>
          <p:cNvSpPr/>
          <p:nvPr/>
        </p:nvSpPr>
        <p:spPr>
          <a:xfrm>
            <a:off x="3277148" y="183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State / behavior</a:t>
            </a:r>
          </a:p>
        </p:txBody>
      </p:sp>
      <p:sp>
        <p:nvSpPr>
          <p:cNvPr id="105" name="S105"/>
          <p:cNvSpPr/>
          <p:nvPr/>
        </p:nvSpPr>
        <p:spPr>
          <a:xfrm>
            <a:off x="6177148" y="183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permitted sequences</a:t>
            </a:r>
          </a:p>
        </p:txBody>
      </p:sp>
      <p:sp>
        <p:nvSpPr>
          <p:cNvPr id="106" name="S106"/>
          <p:cNvSpPr/>
          <p:nvPr/>
        </p:nvSpPr>
        <p:spPr>
          <a:xfrm>
            <a:off x="277148" y="261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this?</a:t>
            </a:r>
          </a:p>
        </p:txBody>
      </p:sp>
      <p:sp>
        <p:nvSpPr>
          <p:cNvPr id="107" name="S107"/>
          <p:cNvSpPr/>
          <p:nvPr/>
        </p:nvSpPr>
        <p:spPr>
          <a:xfrm>
            <a:off x="3277148" y="261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Ownership / lifecycle</a:t>
            </a:r>
          </a:p>
        </p:txBody>
      </p:sp>
      <p:sp>
        <p:nvSpPr>
          <p:cNvPr id="108" name="S108"/>
          <p:cNvSpPr/>
          <p:nvPr/>
        </p:nvSpPr>
        <p:spPr>
          <a:xfrm>
            <a:off x="6177148" y="261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exclusive / shared ownership</a:t>
            </a:r>
          </a:p>
        </p:txBody>
      </p:sp>
      <p:sp>
        <p:nvSpPr>
          <p:cNvPr id="109" name="S109"/>
          <p:cNvSpPr/>
          <p:nvPr/>
        </p:nvSpPr>
        <p:spPr>
          <a:xfrm>
            <a:off x="277148" y="3390000"/>
            <a:ext cx="30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What changes together?</a:t>
            </a:r>
          </a:p>
        </p:txBody>
      </p:sp>
      <p:sp>
        <p:nvSpPr>
          <p:cNvPr id="110" name="S110"/>
          <p:cNvSpPr/>
          <p:nvPr/>
        </p:nvSpPr>
        <p:spPr>
          <a:xfrm>
            <a:off x="3277148" y="3390000"/>
            <a:ext cx="2900000"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Dependency</a:t>
            </a:r>
          </a:p>
        </p:txBody>
      </p:sp>
      <p:sp>
        <p:nvSpPr>
          <p:cNvPr id="111" name="S111"/>
          <p:cNvSpPr/>
          <p:nvPr/>
        </p:nvSpPr>
        <p:spPr>
          <a:xfrm>
            <a:off x="6177148" y="3390000"/>
            <a:ext cx="2689704" cy="78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change locality</a:t>
            </a:r>
          </a:p>
        </p:txBody>
      </p:sp>
      <p:sp>
        <p:nvSpPr>
          <p:cNvPr id="112" name="S112"/>
          <p:cNvSpPr/>
          <p:nvPr/>
        </p:nvSpPr>
        <p:spPr>
          <a:xfrm>
            <a:off x="277148" y="4170000"/>
            <a:ext cx="30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Will it fit?</a:t>
            </a:r>
          </a:p>
        </p:txBody>
      </p:sp>
      <p:sp>
        <p:nvSpPr>
          <p:cNvPr id="113" name="S113"/>
          <p:cNvSpPr/>
          <p:nvPr/>
        </p:nvSpPr>
        <p:spPr>
          <a:xfrm>
            <a:off x="3277148" y="4170000"/>
            <a:ext cx="2900000"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Measurement</a:t>
            </a:r>
          </a:p>
        </p:txBody>
      </p:sp>
      <p:sp>
        <p:nvSpPr>
          <p:cNvPr id="114" name="S114"/>
          <p:cNvSpPr/>
          <p:nvPr/>
        </p:nvSpPr>
        <p:spPr>
          <a:xfrm>
            <a:off x="6177148" y="4170000"/>
            <a:ext cx="2689704" cy="78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quantitative bound</a:t>
            </a:r>
          </a:p>
        </p:txBody>
      </p:sp>
      <p:sp>
        <p:nvSpPr>
          <p:cNvPr id="11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model earns its place by the question it settles.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Which Design choices keep recurring?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1371600" y="3900000"/>
            <a:ext cx="64008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Recurring problem</a:t>
            </a:r>
          </a:p>
          <a:p>
            <a:pPr algn="ctr">
              <a:spcBef>
                <a:spcPts val="120"/>
              </a:spcBef>
              <a:buNone/>
            </a:pPr>
            <a:r>
              <a:rPr lang="en-US" sz="2800" b="0" i="0" dirty="0">
                <a:solidFill>
                  <a:srgbClr val="555960"/>
                </a:solidFill>
              </a:rPr>
              <a:t>→ plausible alternatives</a:t>
            </a:r>
          </a:p>
          <a:p>
            <a:pPr algn="ctr">
              <a:spcBef>
                <a:spcPts val="120"/>
              </a:spcBef>
              <a:buNone/>
            </a:pPr>
            <a:r>
              <a:rPr lang="en-US" sz="2800" b="0" i="0" dirty="0">
                <a:solidFill>
                  <a:srgbClr val="555960"/>
                </a:solidFill>
              </a:rPr>
              <a:t>→ consequences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072000" y="1000000"/>
            <a:ext cx="3000000" cy="6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AUTHORITATIVE STATE</a:t>
            </a:r>
          </a:p>
        </p:txBody>
      </p:sp>
      <p:sp>
        <p:nvSpPr>
          <p:cNvPr id="101" name="S101"/>
          <p:cNvSpPr/>
          <p:nvPr/>
        </p:nvSpPr>
        <p:spPr>
          <a:xfrm>
            <a:off x="2200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CACHE</a:t>
            </a:r>
          </a:p>
        </p:txBody>
      </p:sp>
      <p:sp>
        <p:nvSpPr>
          <p:cNvPr id="102" name="S102"/>
          <p:cNvSpPr/>
          <p:nvPr/>
        </p:nvSpPr>
        <p:spPr>
          <a:xfrm>
            <a:off x="4944000" y="2050000"/>
            <a:ext cx="20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DERIVED VIEW</a:t>
            </a:r>
          </a:p>
        </p:txBody>
      </p:sp>
      <p:cxnSp>
        <p:nvCxnSpPr>
          <p:cNvPr id="103" name="L103"/>
          <p:cNvCxnSpPr/>
          <p:nvPr/>
        </p:nvCxnSpPr>
        <p:spPr>
          <a:xfrm flipH="1">
            <a:off x="3872000" y="1620000"/>
            <a:ext cx="500000" cy="430000"/>
          </a:xfrm>
          <a:prstGeom prst="straightConnector1">
            <a:avLst/>
          </a:prstGeom>
          <a:ln w="38100">
            <a:solidFill>
              <a:srgbClr val="8E6F3E"/>
            </a:solidFill>
            <a:tailEnd type="triangle" w="med" len="med"/>
          </a:ln>
        </p:spPr>
      </p:cxnSp>
      <p:cxnSp>
        <p:nvCxnSpPr>
          <p:cNvPr id="104" name="L104"/>
          <p:cNvCxnSpPr/>
          <p:nvPr/>
        </p:nvCxnSpPr>
        <p:spPr>
          <a:xfrm>
            <a:off x="4772000" y="1620000"/>
            <a:ext cx="500000" cy="430000"/>
          </a:xfrm>
          <a:prstGeom prst="straightConnector1">
            <a:avLst/>
          </a:prstGeom>
          <a:ln w="38100">
            <a:solidFill>
              <a:srgbClr val="8E6F3E"/>
            </a:solidFill>
            <a:tailEnd type="triangle" w="med" len="med"/>
          </a:ln>
        </p:spPr>
      </p:cxnSp>
      <p:sp>
        <p:nvSpPr>
          <p:cNvPr id="105" name="S105"/>
          <p:cNvSpPr/>
          <p:nvPr/>
        </p:nvSpPr>
        <p:spPr>
          <a:xfrm>
            <a:off x="277148" y="2900000"/>
            <a:ext cx="8589704" cy="90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authoritative  ·  derived  ·  cached  ·  replicated</a:t>
            </a:r>
          </a:p>
        </p:txBody>
      </p:sp>
      <p:sp>
        <p:nvSpPr>
          <p:cNvPr id="106" name="FooterItalic"/>
          <p:cNvSpPr txBox="1"/>
          <p:nvPr/>
        </p:nvSpPr>
        <p:spPr>
          <a:xfrm>
            <a:off x="277148" y="40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When representations disagree, which one wins?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A</a:t>
            </a:r>
          </a:p>
        </p:txBody>
      </p:sp>
      <p:sp>
        <p:nvSpPr>
          <p:cNvPr id="101" name="S101"/>
          <p:cNvSpPr/>
          <p:nvPr/>
        </p:nvSpPr>
        <p:spPr>
          <a:xfrm>
            <a:off x="700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must observe the latest completed write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OPTION B</a:t>
            </a:r>
          </a:p>
        </p:txBody>
      </p:sp>
      <p:sp>
        <p:nvSpPr>
          <p:cNvPr id="103" name="S103"/>
          <p:cNvSpPr/>
          <p:nvPr/>
        </p:nvSpPr>
        <p:spPr>
          <a:xfrm>
            <a:off x="4844000" y="1730000"/>
            <a:ext cx="3600000" cy="10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000000"/>
                </a:solidFill>
              </a:rPr>
              <a:t>Readers may temporarily observe an older value</a:t>
            </a:r>
          </a:p>
        </p:txBody>
      </p:sp>
      <p:sp>
        <p:nvSpPr>
          <p:cNvPr id="104" name="Conseq"/>
          <p:cNvSpPr txBox="1"/>
          <p:nvPr/>
        </p:nvSpPr>
        <p:spPr>
          <a:xfrm>
            <a:off x="277148" y="3000000"/>
            <a:ext cx="8589704" cy="70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…then trace the consequences under concurrency and failure.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Replication does not determine consistency. Requirements do.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IMMEDIATE</a:t>
            </a:r>
          </a:p>
        </p:txBody>
      </p:sp>
      <p:sp>
        <p:nvSpPr>
          <p:cNvPr id="101" name="S101"/>
          <p:cNvSpPr/>
          <p:nvPr/>
        </p:nvSpPr>
        <p:spPr>
          <a:xfrm>
            <a:off x="700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work → result</a:t>
            </a:r>
          </a:p>
          <a:p>
            <a:pPr algn="ctr">
              <a:spcBef>
                <a:spcPts val="120"/>
              </a:spcBef>
              <a:buNone/>
            </a:pPr>
            <a:r>
              <a:rPr lang="en-US" sz="1500" b="0" i="0" dirty="0">
                <a:solidFill>
                  <a:srgbClr val="000000"/>
                </a:solidFill>
              </a:rPr>
              <a:t/>
            </a:r>
          </a:p>
          <a:p>
            <a:pPr algn="ctr">
              <a:spcBef>
                <a:spcPts val="120"/>
              </a:spcBef>
              <a:buNone/>
            </a:pPr>
            <a:r>
              <a:rPr lang="en-US" sz="1500" b="0" i="0" dirty="0">
                <a:solidFill>
                  <a:srgbClr val="000000"/>
                </a:solidFill>
              </a:rPr>
              <a:t>↑ caller waits</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DEFERRED</a:t>
            </a:r>
          </a:p>
        </p:txBody>
      </p:sp>
      <p:sp>
        <p:nvSpPr>
          <p:cNvPr id="103" name="S103"/>
          <p:cNvSpPr/>
          <p:nvPr/>
        </p:nvSpPr>
        <p:spPr>
          <a:xfrm>
            <a:off x="4844000" y="1380000"/>
            <a:ext cx="3600000" cy="11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request → queue → ACK</a:t>
            </a:r>
          </a:p>
          <a:p>
            <a:pPr algn="ctr">
              <a:spcBef>
                <a:spcPts val="100"/>
              </a:spcBef>
              <a:buNone/>
            </a:pPr>
            <a:r>
              <a:rPr lang="en-US" sz="1500" b="0" i="0" dirty="0">
                <a:solidFill>
                  <a:srgbClr val="000000"/>
                </a:solidFill>
              </a:rPr>
              <a:t>↓</a:t>
            </a:r>
          </a:p>
          <a:p>
            <a:pPr algn="ctr">
              <a:spcBef>
                <a:spcPts val="100"/>
              </a:spcBef>
              <a:buNone/>
            </a:pPr>
            <a:r>
              <a:rPr lang="en-US" sz="1500" b="0" i="0" dirty="0">
                <a:solidFill>
                  <a:srgbClr val="000000"/>
                </a:solidFill>
              </a:rPr>
              <a:t>worker → result</a:t>
            </a:r>
          </a:p>
        </p:txBody>
      </p:sp>
      <p:sp>
        <p:nvSpPr>
          <p:cNvPr id="104" name="S104"/>
          <p:cNvSpPr/>
          <p:nvPr/>
        </p:nvSpPr>
        <p:spPr>
          <a:xfrm>
            <a:off x="277148" y="2700000"/>
            <a:ext cx="8589704"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 xml:space="preserve">immediacy / simple completion  </a:t>
            </a:r>
            <a:r>
              <a:rPr lang="en-US" sz="1800" b="1" i="0" dirty="0">
                <a:solidFill>
                  <a:srgbClr val="8E6F3E"/>
                </a:solidFill>
              </a:rPr>
              <a:t>↔</a:t>
            </a:r>
            <a:r>
              <a:rPr lang="en-US" sz="1500" b="1" i="0" dirty="0">
                <a:solidFill>
                  <a:srgbClr val="5C4826"/>
                </a:solidFill>
              </a:rPr>
              <a:t xml:space="preserve">  latency isolation / resilience</a:t>
            </a:r>
          </a:p>
        </p:txBody>
      </p:sp>
      <p:sp>
        <p:nvSpPr>
          <p:cNvPr id="105"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On the deferred side, retries, idempotence, and order become design concerns.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directly should parts depend on one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DIRECT</a:t>
            </a:r>
          </a:p>
        </p:txBody>
      </p:sp>
      <p:sp>
        <p:nvSpPr>
          <p:cNvPr id="101" name="S101"/>
          <p:cNvSpPr/>
          <p:nvPr/>
        </p:nvSpPr>
        <p:spPr>
          <a:xfrm>
            <a:off x="2600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2" name="S102"/>
          <p:cNvSpPr/>
          <p:nvPr/>
        </p:nvSpPr>
        <p:spPr>
          <a:xfrm>
            <a:off x="5044000" y="14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3" name="L103"/>
          <p:cNvCxnSpPr/>
          <p:nvPr/>
        </p:nvCxnSpPr>
        <p:spPr>
          <a:xfrm>
            <a:off x="4100000" y="1680000"/>
            <a:ext cx="944000" cy="0"/>
          </a:xfrm>
          <a:prstGeom prst="straightConnector1">
            <a:avLst/>
          </a:prstGeom>
          <a:ln w="44450">
            <a:solidFill>
              <a:srgbClr val="8E6F3E"/>
            </a:solidFill>
            <a:tailEnd type="triangle" w="med" len="med"/>
          </a:ln>
        </p:spPr>
      </p:cxnSp>
      <p:sp>
        <p:nvSpPr>
          <p:cNvPr id="104" name="Label"/>
          <p:cNvSpPr txBox="1"/>
          <p:nvPr/>
        </p:nvSpPr>
        <p:spPr>
          <a:xfrm>
            <a:off x="277148" y="22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INDIRECT</a:t>
            </a:r>
          </a:p>
        </p:txBody>
      </p:sp>
      <p:sp>
        <p:nvSpPr>
          <p:cNvPr id="105" name="S105"/>
          <p:cNvSpPr/>
          <p:nvPr/>
        </p:nvSpPr>
        <p:spPr>
          <a:xfrm>
            <a:off x="1900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A</a:t>
            </a:r>
          </a:p>
        </p:txBody>
      </p:sp>
      <p:sp>
        <p:nvSpPr>
          <p:cNvPr id="106" name="S106"/>
          <p:cNvSpPr/>
          <p:nvPr/>
        </p:nvSpPr>
        <p:spPr>
          <a:xfrm>
            <a:off x="3897000" y="2600000"/>
            <a:ext cx="1350000" cy="56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I</a:t>
            </a:r>
          </a:p>
        </p:txBody>
      </p:sp>
      <p:sp>
        <p:nvSpPr>
          <p:cNvPr id="107" name="S107"/>
          <p:cNvSpPr/>
          <p:nvPr/>
        </p:nvSpPr>
        <p:spPr>
          <a:xfrm>
            <a:off x="5894000" y="2600000"/>
            <a:ext cx="135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800" b="1" i="0" dirty="0">
                <a:solidFill>
                  <a:srgbClr val="5C4826"/>
                </a:solidFill>
              </a:rPr>
              <a:t>B</a:t>
            </a:r>
          </a:p>
        </p:txBody>
      </p:sp>
      <p:cxnSp>
        <p:nvCxnSpPr>
          <p:cNvPr id="108" name="L108"/>
          <p:cNvCxnSpPr/>
          <p:nvPr/>
        </p:nvCxnSpPr>
        <p:spPr>
          <a:xfrm>
            <a:off x="3250000" y="2880000"/>
            <a:ext cx="647000" cy="0"/>
          </a:xfrm>
          <a:prstGeom prst="straightConnector1">
            <a:avLst/>
          </a:prstGeom>
          <a:ln w="38100">
            <a:solidFill>
              <a:srgbClr val="8E6F3E"/>
            </a:solidFill>
            <a:tailEnd type="triangle" w="med" len="med"/>
          </a:ln>
        </p:spPr>
      </p:cxnSp>
      <p:cxnSp>
        <p:nvCxnSpPr>
          <p:cNvPr id="109" name="L109"/>
          <p:cNvCxnSpPr/>
          <p:nvPr/>
        </p:nvCxnSpPr>
        <p:spPr>
          <a:xfrm>
            <a:off x="5247000" y="2880000"/>
            <a:ext cx="647000" cy="0"/>
          </a:xfrm>
          <a:prstGeom prst="straightConnector1">
            <a:avLst/>
          </a:prstGeom>
          <a:ln w="38100">
            <a:solidFill>
              <a:srgbClr val="8E6F3E"/>
            </a:solidFill>
            <a:tailEnd type="triangle" w="med" len="med"/>
          </a:ln>
        </p:spPr>
      </p:cxnSp>
      <p:sp>
        <p:nvSpPr>
          <p:cNvPr id="110" name="Ex"/>
          <p:cNvSpPr txBox="1"/>
          <p:nvPr/>
        </p:nvSpPr>
        <p:spPr>
          <a:xfrm>
            <a:off x="277148" y="3350000"/>
            <a:ext cx="8589704" cy="36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interface · adapter · factory · DI · proxy</a:t>
            </a:r>
          </a:p>
        </p:txBody>
      </p:sp>
      <p:sp>
        <p:nvSpPr>
          <p:cNvPr id="111" name="Q"/>
          <p:cNvSpPr txBox="1"/>
          <p:nvPr/>
        </p:nvSpPr>
        <p:spPr>
          <a:xfrm>
            <a:off x="277148" y="3800000"/>
            <a:ext cx="8589704" cy="360000"/>
          </a:xfrm>
          <a:prstGeom prst="rect">
            <a:avLst/>
          </a:prstGeom>
          <a:noFill/>
          <a:ln>
            <a:noFill/>
          </a:ln>
        </p:spPr>
        <p:txBody>
          <a:bodyPr wrap="square" lIns="0" tIns="0" rIns="0" bIns="0" anchor="t">
            <a:normAutofit/>
          </a:bodyPr>
          <a:lstStyle/>
          <a:p>
            <a:pPr algn="ctr">
              <a:buNone/>
            </a:pPr>
            <a:r>
              <a:rPr lang="en-US" sz="1700" b="0" i="1" dirty="0">
                <a:solidFill>
                  <a:srgbClr val="000000"/>
                </a:solidFill>
              </a:rPr>
              <a:t>What future change are we buying isolation from?</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Indirection buys flexibility by spending complexity.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How should this responsibility be decomposed?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 by processing steps</a:t>
            </a:r>
          </a:p>
        </p:txBody>
      </p:sp>
      <p:sp>
        <p:nvSpPr>
          <p:cNvPr id="101" name="S101"/>
          <p:cNvSpPr/>
          <p:nvPr/>
        </p:nvSpPr>
        <p:spPr>
          <a:xfrm>
            <a:off x="700000" y="1380000"/>
            <a:ext cx="3600000" cy="16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0" i="0" dirty="0">
                <a:solidFill>
                  <a:srgbClr val="5C4826"/>
                </a:solidFill>
              </a:rPr>
              <a:t>STEP 1</a:t>
            </a:r>
          </a:p>
          <a:p>
            <a:pPr algn="ctr">
              <a:spcBef>
                <a:spcPts val="160"/>
              </a:spcBef>
              <a:buNone/>
            </a:pPr>
            <a:r>
              <a:rPr lang="en-US" sz="1600" b="0" i="0" dirty="0">
                <a:solidFill>
                  <a:srgbClr val="5C4826"/>
                </a:solidFill>
              </a:rPr>
              <a:t>STEP 2</a:t>
            </a:r>
          </a:p>
          <a:p>
            <a:pPr algn="ctr">
              <a:spcBef>
                <a:spcPts val="160"/>
              </a:spcBef>
              <a:buNone/>
            </a:pPr>
            <a:r>
              <a:rPr lang="en-US" sz="1600" b="0" i="0" dirty="0">
                <a:solidFill>
                  <a:srgbClr val="5C4826"/>
                </a:solidFill>
              </a:rPr>
              <a:t>STEP 3</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B: around likely change</a:t>
            </a:r>
          </a:p>
        </p:txBody>
      </p:sp>
      <p:sp>
        <p:nvSpPr>
          <p:cNvPr id="103" name="S103"/>
          <p:cNvSpPr/>
          <p:nvPr/>
        </p:nvSpPr>
        <p:spPr>
          <a:xfrm>
            <a:off x="4844000" y="1380000"/>
            <a:ext cx="3600000" cy="160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0" i="0" dirty="0">
                <a:solidFill>
                  <a:srgbClr val="5C4826"/>
                </a:solidFill>
              </a:rPr>
              <a:t>STABLE SEAM</a:t>
            </a:r>
          </a:p>
          <a:p>
            <a:pPr algn="ctr">
              <a:spcBef>
                <a:spcPts val="160"/>
              </a:spcBef>
              <a:buNone/>
            </a:pPr>
            <a:r>
              <a:rPr lang="en-US" sz="1600" b="0" i="0" dirty="0">
                <a:solidFill>
                  <a:srgbClr val="5C4826"/>
                </a:solidFill>
              </a:rPr>
              <a:t>hidden decision</a:t>
            </a:r>
          </a:p>
          <a:p>
            <a:pPr algn="ctr">
              <a:spcBef>
                <a:spcPts val="160"/>
              </a:spcBef>
              <a:buNone/>
            </a:pPr>
            <a:r>
              <a:rPr lang="en-US" sz="1600" b="0" i="0" dirty="0">
                <a:solidFill>
                  <a:srgbClr val="5C4826"/>
                </a:solidFill>
              </a:rPr>
              <a:t>(likely to change)</a:t>
            </a:r>
          </a:p>
        </p:txBody>
      </p:sp>
      <p:sp>
        <p:nvSpPr>
          <p:cNvPr id="104" name="S104"/>
          <p:cNvSpPr/>
          <p:nvPr/>
        </p:nvSpPr>
        <p:spPr>
          <a:xfrm>
            <a:off x="277148" y="3150000"/>
            <a:ext cx="8589704" cy="560000"/>
          </a:xfrm>
          <a:prstGeom prst="rect">
            <a:avLst/>
          </a:prstGeom>
          <a:noFill/>
          <a:ln>
            <a:noFill/>
          </a:ln>
        </p:spPr>
        <p:txBody>
          <a:bodyPr wrap="square" lIns="91440" tIns="45720" rIns="91440" bIns="45720" anchor="ctr">
            <a:normAutofit/>
          </a:bodyPr>
          <a:lstStyle/>
          <a:p>
            <a:pPr algn="ctr">
              <a:buNone/>
            </a:pPr>
            <a:r>
              <a:rPr lang="en-US" sz="1700" b="0" i="1" dirty="0">
                <a:solidFill>
                  <a:srgbClr val="000000"/>
                </a:solidFill>
              </a:rPr>
              <a:t>When X changes, which design contains the change?</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Hide the decisions most likely to change behind stable seams.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Every Design choice trades one problem for another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00000"/>
            <a:ext cx="2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Question</a:t>
            </a:r>
          </a:p>
        </p:txBody>
      </p:sp>
      <p:sp>
        <p:nvSpPr>
          <p:cNvPr id="101" name="S101"/>
          <p:cNvSpPr/>
          <p:nvPr/>
        </p:nvSpPr>
        <p:spPr>
          <a:xfrm>
            <a:off x="22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One answer</a:t>
            </a:r>
          </a:p>
        </p:txBody>
      </p:sp>
      <p:sp>
        <p:nvSpPr>
          <p:cNvPr id="102" name="S102"/>
          <p:cNvSpPr/>
          <p:nvPr/>
        </p:nvSpPr>
        <p:spPr>
          <a:xfrm>
            <a:off x="4377148" y="1000000"/>
            <a:ext cx="21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Another answer</a:t>
            </a:r>
          </a:p>
        </p:txBody>
      </p:sp>
      <p:sp>
        <p:nvSpPr>
          <p:cNvPr id="103" name="S103"/>
          <p:cNvSpPr/>
          <p:nvPr/>
        </p:nvSpPr>
        <p:spPr>
          <a:xfrm>
            <a:off x="6477148" y="1000000"/>
            <a:ext cx="23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Tradeoff</a:t>
            </a:r>
          </a:p>
        </p:txBody>
      </p:sp>
      <p:sp>
        <p:nvSpPr>
          <p:cNvPr id="104" name="S104"/>
          <p:cNvSpPr/>
          <p:nvPr/>
        </p:nvSpPr>
        <p:spPr>
          <a:xfrm>
            <a:off x="277148" y="17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Who owns truth?</a:t>
            </a:r>
          </a:p>
        </p:txBody>
      </p:sp>
      <p:sp>
        <p:nvSpPr>
          <p:cNvPr id="105" name="S105"/>
          <p:cNvSpPr/>
          <p:nvPr/>
        </p:nvSpPr>
        <p:spPr>
          <a:xfrm>
            <a:off x="22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single authority</a:t>
            </a:r>
          </a:p>
        </p:txBody>
      </p:sp>
      <p:sp>
        <p:nvSpPr>
          <p:cNvPr id="106" name="S106"/>
          <p:cNvSpPr/>
          <p:nvPr/>
        </p:nvSpPr>
        <p:spPr>
          <a:xfrm>
            <a:off x="4377148" y="17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distributed authority</a:t>
            </a:r>
          </a:p>
        </p:txBody>
      </p:sp>
      <p:sp>
        <p:nvSpPr>
          <p:cNvPr id="107" name="S107"/>
          <p:cNvSpPr/>
          <p:nvPr/>
        </p:nvSpPr>
        <p:spPr>
          <a:xfrm>
            <a:off x="6477148" y="17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autonomy</a:t>
            </a:r>
          </a:p>
        </p:txBody>
      </p:sp>
      <p:sp>
        <p:nvSpPr>
          <p:cNvPr id="108" name="S108"/>
          <p:cNvSpPr/>
          <p:nvPr/>
        </p:nvSpPr>
        <p:spPr>
          <a:xfrm>
            <a:off x="277148" y="24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Copies?</a:t>
            </a:r>
          </a:p>
        </p:txBody>
      </p:sp>
      <p:sp>
        <p:nvSpPr>
          <p:cNvPr id="109" name="S109"/>
          <p:cNvSpPr/>
          <p:nvPr/>
        </p:nvSpPr>
        <p:spPr>
          <a:xfrm>
            <a:off x="22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tighter consistency</a:t>
            </a:r>
          </a:p>
        </p:txBody>
      </p:sp>
      <p:sp>
        <p:nvSpPr>
          <p:cNvPr id="110" name="S110"/>
          <p:cNvSpPr/>
          <p:nvPr/>
        </p:nvSpPr>
        <p:spPr>
          <a:xfrm>
            <a:off x="4377148" y="24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looser consistency</a:t>
            </a:r>
          </a:p>
        </p:txBody>
      </p:sp>
      <p:sp>
        <p:nvSpPr>
          <p:cNvPr id="111" name="S111"/>
          <p:cNvSpPr/>
          <p:nvPr/>
        </p:nvSpPr>
        <p:spPr>
          <a:xfrm>
            <a:off x="6477148" y="24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coordination / availability-latency</a:t>
            </a:r>
          </a:p>
        </p:txBody>
      </p:sp>
      <p:sp>
        <p:nvSpPr>
          <p:cNvPr id="112" name="S112"/>
          <p:cNvSpPr/>
          <p:nvPr/>
        </p:nvSpPr>
        <p:spPr>
          <a:xfrm>
            <a:off x="277148" y="31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When?</a:t>
            </a:r>
          </a:p>
        </p:txBody>
      </p:sp>
      <p:sp>
        <p:nvSpPr>
          <p:cNvPr id="113" name="S113"/>
          <p:cNvSpPr/>
          <p:nvPr/>
        </p:nvSpPr>
        <p:spPr>
          <a:xfrm>
            <a:off x="22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immediate</a:t>
            </a:r>
          </a:p>
        </p:txBody>
      </p:sp>
      <p:sp>
        <p:nvSpPr>
          <p:cNvPr id="114" name="S114"/>
          <p:cNvSpPr/>
          <p:nvPr/>
        </p:nvSpPr>
        <p:spPr>
          <a:xfrm>
            <a:off x="4377148" y="31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deferred</a:t>
            </a:r>
          </a:p>
        </p:txBody>
      </p:sp>
      <p:sp>
        <p:nvSpPr>
          <p:cNvPr id="115" name="S115"/>
          <p:cNvSpPr/>
          <p:nvPr/>
        </p:nvSpPr>
        <p:spPr>
          <a:xfrm>
            <a:off x="6477148" y="31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immediacy / isolation</a:t>
            </a:r>
          </a:p>
        </p:txBody>
      </p:sp>
      <p:sp>
        <p:nvSpPr>
          <p:cNvPr id="116" name="S116"/>
          <p:cNvSpPr/>
          <p:nvPr/>
        </p:nvSpPr>
        <p:spPr>
          <a:xfrm>
            <a:off x="277148" y="3800000"/>
            <a:ext cx="2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Depend how?</a:t>
            </a:r>
          </a:p>
        </p:txBody>
      </p:sp>
      <p:sp>
        <p:nvSpPr>
          <p:cNvPr id="117" name="S117"/>
          <p:cNvSpPr/>
          <p:nvPr/>
        </p:nvSpPr>
        <p:spPr>
          <a:xfrm>
            <a:off x="22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a:t>
            </a:r>
          </a:p>
        </p:txBody>
      </p:sp>
      <p:sp>
        <p:nvSpPr>
          <p:cNvPr id="118" name="S118"/>
          <p:cNvSpPr/>
          <p:nvPr/>
        </p:nvSpPr>
        <p:spPr>
          <a:xfrm>
            <a:off x="4377148" y="3800000"/>
            <a:ext cx="21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indirect</a:t>
            </a:r>
          </a:p>
        </p:txBody>
      </p:sp>
      <p:sp>
        <p:nvSpPr>
          <p:cNvPr id="119" name="S119"/>
          <p:cNvSpPr/>
          <p:nvPr/>
        </p:nvSpPr>
        <p:spPr>
          <a:xfrm>
            <a:off x="6477148" y="3800000"/>
            <a:ext cx="23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simplicity / change isolation</a:t>
            </a:r>
          </a:p>
        </p:txBody>
      </p:sp>
      <p:sp>
        <p:nvSpPr>
          <p:cNvPr id="120" name="S120"/>
          <p:cNvSpPr/>
          <p:nvPr/>
        </p:nvSpPr>
        <p:spPr>
          <a:xfrm>
            <a:off x="277148" y="4500000"/>
            <a:ext cx="2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Decompose how?</a:t>
            </a:r>
          </a:p>
        </p:txBody>
      </p:sp>
      <p:sp>
        <p:nvSpPr>
          <p:cNvPr id="121" name="S121"/>
          <p:cNvSpPr/>
          <p:nvPr/>
        </p:nvSpPr>
        <p:spPr>
          <a:xfrm>
            <a:off x="22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fewer seams</a:t>
            </a:r>
          </a:p>
        </p:txBody>
      </p:sp>
      <p:sp>
        <p:nvSpPr>
          <p:cNvPr id="122" name="S122"/>
          <p:cNvSpPr/>
          <p:nvPr/>
        </p:nvSpPr>
        <p:spPr>
          <a:xfrm>
            <a:off x="4377148" y="4500000"/>
            <a:ext cx="21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more seams</a:t>
            </a:r>
          </a:p>
        </p:txBody>
      </p:sp>
      <p:sp>
        <p:nvSpPr>
          <p:cNvPr id="123" name="S123"/>
          <p:cNvSpPr/>
          <p:nvPr/>
        </p:nvSpPr>
        <p:spPr>
          <a:xfrm>
            <a:off x="6477148" y="4500000"/>
            <a:ext cx="23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directness / locality</a:t>
            </a:r>
          </a:p>
        </p:txBody>
      </p:sp>
      <p:sp>
        <p:nvSpPr>
          <p:cNvPr id="124" name="FooterBand"/>
          <p:cNvSpPr/>
          <p:nvPr/>
        </p:nvSpPr>
        <p:spPr>
          <a:xfrm>
            <a:off x="685800" y="626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is not choosing the “good” side. It is choosing which consequences fit the problem.</a:t>
            </a:r>
          </a:p>
        </p:txBody>
      </p:sp>
    </p:spTree>
  </p:cSld>
  <p:clrMapOvr>
    <a:masterClrMapping/>
  </p:clrMapOvr>
</p:sld>
</file>

<file path=ppt/slides/slide23.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740000"/>
            <a:ext cx="7772400" cy="700000"/>
          </a:xfrm>
        </p:spPr>
        <p:txBody>
          <a:bodyPr>
            <a:normAutofit fontScale="90000"/>
          </a:bodyPr>
          <a:lstStyle/>
          <a:p>
            <a:pPr algn="ctr">
              <a:buNone/>
              <a:defRPr b="0"/>
            </a:pPr>
            <a:r>
              <a:rPr lang="en-US" sz="3200" b="0" i="0" dirty="0">
                <a:solidFill>
                  <a:srgbClr val="000000"/>
                </a:solidFill>
              </a:rPr>
              <a:t>Design tests whether the strategy is workable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7" name="Section4"/>
          <p:cNvSpPr/>
          <p:nvPr/>
        </p:nvSpPr>
        <p:spPr>
          <a:xfrm>
            <a:off x="685800" y="420000"/>
            <a:ext cx="7772400" cy="32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SECTION 4</a:t>
            </a:r>
          </a:p>
        </p:txBody>
      </p:sp>
      <p:sp>
        <p:nvSpPr>
          <p:cNvPr id="100" name="WallKicker"/>
          <p:cNvSpPr/>
          <p:nvPr/>
        </p:nvSpPr>
        <p:spPr>
          <a:xfrm>
            <a:off x="560000" y="1760000"/>
            <a:ext cx="2900000"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the inherited wall</a:t>
            </a:r>
          </a:p>
        </p:txBody>
      </p:sp>
      <p:sp>
        <p:nvSpPr>
          <p:cNvPr id="101" name="WallLbl"/>
          <p:cNvSpPr/>
          <p:nvPr/>
        </p:nvSpPr>
        <p:spPr>
          <a:xfrm>
            <a:off x="560000" y="2060000"/>
            <a:ext cx="2900000" cy="30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structural wall</a:t>
            </a:r>
          </a:p>
        </p:txBody>
      </p:sp>
      <p:sp>
        <p:nvSpPr>
          <p:cNvPr id="102" name="WallRect"/>
          <p:cNvSpPr/>
          <p:nvPr/>
        </p:nvSpPr>
        <p:spPr>
          <a:xfrm>
            <a:off x="1310000" y="2380000"/>
            <a:ext cx="1500000" cy="2560000"/>
          </a:xfrm>
          <a:prstGeom prst="rect">
            <a:avLst/>
          </a:prstGeom>
          <a:solidFill>
            <a:srgbClr val="C9B991"/>
          </a:solidFill>
          <a:ln w="19050">
            <a:solidFill>
              <a:srgbClr val="555960"/>
            </a:solidFill>
          </a:ln>
        </p:spPr>
        <p:txBody>
          <a:bodyPr wrap="square" lIns="91440" tIns="45720" rIns="91440" bIns="45720" anchor="ctr">
            <a:normAutofit/>
          </a:bodyPr>
          <a:lstStyle/>
          <a:p>
            <a:endParaRPr/>
          </a:p>
        </p:txBody>
      </p:sp>
      <p:sp>
        <p:nvSpPr>
          <p:cNvPr id="103" name="ServiceSpace"/>
          <p:cNvSpPr/>
          <p:nvPr/>
        </p:nvSpPr>
        <p:spPr>
          <a:xfrm>
            <a:off x="1585000" y="3260000"/>
            <a:ext cx="950000" cy="1100000"/>
          </a:xfrm>
          <a:prstGeom prst="rect">
            <a:avLst/>
          </a:prstGeom>
          <a:solidFill>
            <a:srgbClr val="F5F1E8"/>
          </a:solidFill>
          <a:ln w="12700">
            <a:solidFill>
              <a:srgbClr val="555960"/>
            </a:solidFill>
            <a:prstDash val="dash"/>
          </a:ln>
        </p:spPr>
        <p:txBody>
          <a:bodyPr wrap="square" lIns="91440" tIns="45720" rIns="91440" bIns="45720" anchor="ctr">
            <a:normAutofit/>
          </a:bodyPr>
          <a:lstStyle/>
          <a:p>
            <a:pPr algn="ctr">
              <a:buNone/>
            </a:pPr>
            <a:r>
              <a:rPr lang="en-US" sz="1100" b="0" i="0" dirty="0">
                <a:solidFill>
                  <a:srgbClr val="555960"/>
                </a:solidFill>
              </a:rPr>
              <a:t>service space</a:t>
            </a:r>
          </a:p>
        </p:txBody>
      </p:sp>
      <p:sp>
        <p:nvSpPr>
          <p:cNvPr id="105" name="WallCap"/>
          <p:cNvSpPr/>
          <p:nvPr/>
        </p:nvSpPr>
        <p:spPr>
          <a:xfrm>
            <a:off x="274320" y="5080000"/>
            <a:ext cx="3703320" cy="300000"/>
          </a:xfrm>
          <a:prstGeom prst="rect">
            <a:avLst/>
          </a:prstGeom>
          <a:noFill/>
          <a:ln>
            <a:noFill/>
          </a:ln>
        </p:spPr>
        <p:txBody>
          <a:bodyPr wrap="square" lIns="0" tIns="0" rIns="0" bIns="0" anchor="t">
            <a:normAutofit/>
          </a:bodyPr>
          <a:lstStyle/>
          <a:p>
            <a:pPr algn="ctr">
              <a:buNone/>
            </a:pPr>
            <a:r>
              <a:rPr lang="en-US" sz="1100" b="0" i="1" dirty="0">
                <a:solidFill>
                  <a:srgbClr val="555960"/>
                </a:solidFill>
              </a:rPr>
              <a:t>wall location · available depth · permitted penetrations</a:t>
            </a:r>
          </a:p>
        </p:txBody>
      </p:sp>
      <p:sp>
        <p:nvSpPr>
          <p:cNvPr id="120" name="FitCard"/>
          <p:cNvSpPr/>
          <p:nvPr/>
        </p:nvSpPr>
        <p:spPr>
          <a:xfrm>
            <a:off x="3720000" y="1720000"/>
            <a:ext cx="5120000" cy="14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21" name="FitSlot"/>
          <p:cNvSpPr/>
          <p:nvPr/>
        </p:nvSpPr>
        <p:spPr>
          <a:xfrm>
            <a:off x="3940000" y="190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22" name="FitPipe"/>
          <p:cNvSpPr/>
          <p:nvPr/>
        </p:nvSpPr>
        <p:spPr>
          <a:xfrm>
            <a:off x="4090000" y="1990000"/>
            <a:ext cx="260000" cy="880000"/>
          </a:xfrm>
          <a:prstGeom prst="roundRect">
            <a:avLst/>
          </a:prstGeom>
          <a:solidFill>
            <a:srgbClr val="8E6F3E"/>
          </a:solidFill>
          <a:ln w="9525">
            <a:solidFill>
              <a:srgbClr val="5C4826"/>
            </a:solidFill>
          </a:ln>
        </p:spPr>
        <p:txBody>
          <a:bodyPr wrap="square" lIns="91440" tIns="45720" rIns="91440" bIns="45720" anchor="ctr">
            <a:normAutofit/>
          </a:bodyPr>
          <a:lstStyle/>
          <a:p>
            <a:endParaRPr/>
          </a:p>
        </p:txBody>
      </p:sp>
      <p:sp>
        <p:nvSpPr>
          <p:cNvPr id="124" name="FitHdr"/>
          <p:cNvSpPr/>
          <p:nvPr/>
        </p:nvSpPr>
        <p:spPr>
          <a:xfrm>
            <a:off x="4700000" y="1980000"/>
            <a:ext cx="3980000" cy="360000"/>
          </a:xfrm>
          <a:prstGeom prst="rect">
            <a:avLst/>
          </a:prstGeom>
          <a:noFill/>
          <a:ln>
            <a:noFill/>
          </a:ln>
        </p:spPr>
        <p:txBody>
          <a:bodyPr wrap="square" lIns="0" tIns="0" rIns="0" bIns="0" anchor="t">
            <a:normAutofit/>
          </a:bodyPr>
          <a:lstStyle/>
          <a:p>
            <a:pPr algn="l">
              <a:buNone/>
            </a:pPr>
            <a:r>
              <a:rPr lang="en-US" sz="1700" b="1" i="0" dirty="0">
                <a:solidFill>
                  <a:srgbClr val="1E7A46"/>
                </a:solidFill>
              </a:rPr>
              <a:t>The required pipe fits.</a:t>
            </a:r>
          </a:p>
        </p:txBody>
      </p:sp>
      <p:sp>
        <p:nvSpPr>
          <p:cNvPr id="123" name="FitLbl"/>
          <p:cNvSpPr/>
          <p:nvPr/>
        </p:nvSpPr>
        <p:spPr>
          <a:xfrm>
            <a:off x="4700000" y="2360000"/>
            <a:ext cx="3980000" cy="640000"/>
          </a:xfrm>
          <a:prstGeom prst="rect">
            <a:avLst/>
          </a:prstGeom>
          <a:noFill/>
          <a:ln>
            <a:noFill/>
          </a:ln>
        </p:spPr>
        <p:txBody>
          <a:bodyPr wrap="square" lIns="0" tIns="0" rIns="0" bIns="0" anchor="t">
            <a:normAutofit/>
          </a:bodyPr>
          <a:lstStyle/>
          <a:p>
            <a:pPr algn="l">
              <a:buNone/>
            </a:pPr>
            <a:r>
              <a:rPr lang="en-US" sz="1350" b="0" i="1" dirty="0">
                <a:solidFill>
                  <a:srgbClr val="555960"/>
                </a:solidFill>
              </a:rPr>
              <a:t>✓  the strategy afforded a workable tactic</a:t>
            </a:r>
          </a:p>
        </p:txBody>
      </p:sp>
      <p:sp>
        <p:nvSpPr>
          <p:cNvPr id="130" name="NoFitCard"/>
          <p:cNvSpPr/>
          <p:nvPr/>
        </p:nvSpPr>
        <p:spPr>
          <a:xfrm>
            <a:off x="3720000" y="3280000"/>
            <a:ext cx="5120000" cy="1620000"/>
          </a:xfrm>
          <a:prstGeom prst="roundRect">
            <a:avLst/>
          </a:prstGeom>
          <a:solidFill>
            <a:srgbClr val="F5F1E8"/>
          </a:solidFill>
          <a:ln w="14097">
            <a:solidFill>
              <a:srgbClr val="C9B991"/>
            </a:solidFill>
          </a:ln>
        </p:spPr>
        <p:txBody>
          <a:bodyPr wrap="square" lIns="91440" tIns="45720" rIns="91440" bIns="45720" anchor="ctr">
            <a:normAutofit/>
          </a:bodyPr>
          <a:lstStyle/>
          <a:p>
            <a:endParaRPr/>
          </a:p>
        </p:txBody>
      </p:sp>
      <p:sp>
        <p:nvSpPr>
          <p:cNvPr id="131" name="NoFitSlot"/>
          <p:cNvSpPr/>
          <p:nvPr/>
        </p:nvSpPr>
        <p:spPr>
          <a:xfrm>
            <a:off x="3940000" y="3470000"/>
            <a:ext cx="560000" cy="1060000"/>
          </a:xfrm>
          <a:prstGeom prst="rect">
            <a:avLst/>
          </a:prstGeom>
          <a:solidFill>
            <a:srgbClr val="FFFFFF"/>
          </a:solidFill>
          <a:ln w="9525">
            <a:solidFill>
              <a:srgbClr val="555960"/>
            </a:solidFill>
            <a:prstDash val="dash"/>
          </a:ln>
        </p:spPr>
        <p:txBody>
          <a:bodyPr wrap="square" lIns="91440" tIns="45720" rIns="91440" bIns="45720" anchor="ctr">
            <a:normAutofit/>
          </a:bodyPr>
          <a:lstStyle/>
          <a:p>
            <a:endParaRPr/>
          </a:p>
        </p:txBody>
      </p:sp>
      <p:sp>
        <p:nvSpPr>
          <p:cNvPr id="132" name="NoFitPipeV"/>
          <p:cNvSpPr/>
          <p:nvPr/>
        </p:nvSpPr>
        <p:spPr>
          <a:xfrm>
            <a:off x="4090000" y="3560000"/>
            <a:ext cx="260000" cy="64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3" name="NoFitPipeH"/>
          <p:cNvSpPr/>
          <p:nvPr/>
        </p:nvSpPr>
        <p:spPr>
          <a:xfrm>
            <a:off x="4090000" y="4000000"/>
            <a:ext cx="1120000" cy="260000"/>
          </a:xfrm>
          <a:prstGeom prst="roundRect">
            <a:avLst/>
          </a:prstGeom>
          <a:solidFill>
            <a:srgbClr val="C0392B"/>
          </a:solidFill>
          <a:ln w="9525">
            <a:solidFill>
              <a:srgbClr val="7B241C"/>
            </a:solidFill>
          </a:ln>
        </p:spPr>
        <p:txBody>
          <a:bodyPr wrap="square" lIns="91440" tIns="45720" rIns="91440" bIns="45720" anchor="ctr">
            <a:normAutofit/>
          </a:bodyPr>
          <a:lstStyle/>
          <a:p>
            <a:endParaRPr/>
          </a:p>
        </p:txBody>
      </p:sp>
      <p:sp>
        <p:nvSpPr>
          <p:cNvPr id="136" name="NoFitMark"/>
          <p:cNvSpPr/>
          <p:nvPr/>
        </p:nvSpPr>
        <p:spPr>
          <a:xfrm>
            <a:off x="4980000" y="3830000"/>
            <a:ext cx="360000" cy="360000"/>
          </a:xfrm>
          <a:prstGeom prst="ellipse">
            <a:avLst/>
          </a:prstGeom>
          <a:solidFill>
            <a:srgbClr val="FFFFFF"/>
          </a:solidFill>
          <a:ln w="19050">
            <a:solidFill>
              <a:srgbClr val="C0392B"/>
            </a:solidFill>
          </a:ln>
        </p:spPr>
        <p:txBody>
          <a:bodyPr wrap="square" lIns="91440" tIns="45720" rIns="91440" bIns="45720" anchor="ctr">
            <a:normAutofit/>
          </a:bodyPr>
          <a:lstStyle/>
          <a:p>
            <a:pPr algn="ctr">
              <a:buNone/>
            </a:pPr>
            <a:r>
              <a:rPr lang="en-US" sz="1400" b="1" i="0" dirty="0">
                <a:solidFill>
                  <a:srgbClr val="C0392B"/>
                </a:solidFill>
              </a:rPr>
              <a:t>✗</a:t>
            </a:r>
          </a:p>
        </p:txBody>
      </p:sp>
      <p:sp>
        <p:nvSpPr>
          <p:cNvPr id="135" name="NoFitHdr"/>
          <p:cNvSpPr/>
          <p:nvPr/>
        </p:nvSpPr>
        <p:spPr>
          <a:xfrm>
            <a:off x="5560000" y="3540000"/>
            <a:ext cx="3120000" cy="700000"/>
          </a:xfrm>
          <a:prstGeom prst="rect">
            <a:avLst/>
          </a:prstGeom>
          <a:noFill/>
          <a:ln>
            <a:noFill/>
          </a:ln>
        </p:spPr>
        <p:txBody>
          <a:bodyPr wrap="square" lIns="0" tIns="0" rIns="0" bIns="0" anchor="t">
            <a:normAutofit/>
          </a:bodyPr>
          <a:lstStyle/>
          <a:p>
            <a:pPr algn="l">
              <a:buNone/>
            </a:pPr>
            <a:r>
              <a:rPr lang="en-US" sz="1700" b="1" i="0" dirty="0">
                <a:solidFill>
                  <a:srgbClr val="C0392B"/>
                </a:solidFill>
              </a:rPr>
              <a:t>A required bend does not fit.</a:t>
            </a:r>
          </a:p>
        </p:txBody>
      </p:sp>
      <p:sp>
        <p:nvSpPr>
          <p:cNvPr id="134" name="NoFitLbl"/>
          <p:cNvSpPr/>
          <p:nvPr/>
        </p:nvSpPr>
        <p:spPr>
          <a:xfrm>
            <a:off x="5560000" y="4180000"/>
            <a:ext cx="3120000" cy="640000"/>
          </a:xfrm>
          <a:prstGeom prst="rect">
            <a:avLst/>
          </a:prstGeom>
          <a:noFill/>
          <a:ln>
            <a:noFill/>
          </a:ln>
        </p:spPr>
        <p:txBody>
          <a:bodyPr wrap="square" lIns="0" tIns="0" rIns="0" bIns="0" anchor="t">
            <a:normAutofit/>
          </a:bodyPr>
          <a:lstStyle/>
          <a:p>
            <a:pPr algn="l">
              <a:buNone/>
            </a:pPr>
            <a:r>
              <a:rPr lang="en-US" sz="1250" b="0" i="1" dirty="0">
                <a:solidFill>
                  <a:srgbClr val="555960"/>
                </a:solidFill>
              </a:rPr>
              <a:t>information about the strategy, not just a plumbing failure</a:t>
            </a:r>
          </a:p>
        </p:txBody>
      </p:sp>
      <p:sp>
        <p:nvSpPr>
          <p:cNvPr id="106" name="Framing"/>
          <p:cNvSpPr/>
          <p:nvPr/>
        </p:nvSpPr>
        <p:spPr>
          <a:xfrm>
            <a:off x="400000" y="5420000"/>
            <a:ext cx="8340000" cy="340000"/>
          </a:xfrm>
          <a:prstGeom prst="rect">
            <a:avLst/>
          </a:prstGeom>
          <a:noFill/>
          <a:ln>
            <a:noFill/>
          </a:ln>
        </p:spPr>
        <p:txBody>
          <a:bodyPr wrap="square" lIns="0" tIns="0" rIns="0" bIns="0" anchor="t">
            <a:normAutofit/>
          </a:bodyPr>
          <a:lstStyle/>
          <a:p>
            <a:pPr algn="ctr">
              <a:buNone/>
            </a:pPr>
            <a:r>
              <a:rPr lang="en-US" sz="1400" b="0" i="1" dirty="0">
                <a:solidFill>
                  <a:srgbClr val="000000"/>
                </a:solidFill>
              </a:rPr>
              <a:t>Architecture created the space.  Design discovers whether the required tactic fits inside it.</a:t>
            </a:r>
          </a:p>
        </p:txBody>
      </p:sp>
      <p:sp>
        <p:nvSpPr>
          <p:cNvPr id="140" name="FooterBand"/>
          <p:cNvSpPr/>
          <p:nvPr/>
        </p:nvSpPr>
        <p:spPr>
          <a:xfrm>
            <a:off x="279400" y="5900000"/>
            <a:ext cx="8585200" cy="56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Design tests whether the architectural strategy is workable.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21"/>
                                        </p:tgtEl>
                                        <p:attrNameLst>
                                          <p:attrName>style.visibility</p:attrName>
                                        </p:attrNameLst>
                                      </p:cBhvr>
                                      <p:to>
                                        <p:strVal val="visible"/>
                                      </p:to>
                                    </p:set>
                                    <p:animEffect transition="in" filter="fade">
                                      <p:cBhvr>
                                        <p:cTn id="11" dur="500"/>
                                        <p:tgtEl>
                                          <p:spTgt spid="12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500"/>
                                        <p:tgtEl>
                                          <p:spTgt spid="12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24"/>
                                        </p:tgtEl>
                                        <p:attrNameLst>
                                          <p:attrName>style.visibility</p:attrName>
                                        </p:attrNameLst>
                                      </p:cBhvr>
                                      <p:to>
                                        <p:strVal val="visible"/>
                                      </p:to>
                                    </p:set>
                                    <p:animEffect transition="in" filter="fade">
                                      <p:cBhvr>
                                        <p:cTn id="19" dur="500"/>
                                        <p:tgtEl>
                                          <p:spTgt spid="124"/>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5"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par>
                          <p:cTn id="29" fill="hold">
                            <p:stCondLst>
                              <p:cond delay="0"/>
                            </p:stCondLst>
                            <p:childTnLst>
                              <p:par>
                                <p:cTn id="30" presetID="10" presetClass="entr" presetSubtype="0" fill="hold" grpId="6"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par>
                          <p:cTn id="33" fill="hold">
                            <p:stCondLst>
                              <p:cond delay="0"/>
                            </p:stCondLst>
                            <p:childTnLst>
                              <p:par>
                                <p:cTn id="34" presetID="10" presetClass="entr" presetSubtype="0" fill="hold" grpId="7" nodeType="withEffect">
                                  <p:stCondLst>
                                    <p:cond delay="0"/>
                                  </p:stCondLst>
                                  <p:childTnLst>
                                    <p:set>
                                      <p:cBhvr>
                                        <p:cTn id="35" dur="1" fill="hold">
                                          <p:stCondLst>
                                            <p:cond delay="0"/>
                                          </p:stCondLst>
                                        </p:cTn>
                                        <p:tgtEl>
                                          <p:spTgt spid="132"/>
                                        </p:tgtEl>
                                        <p:attrNameLst>
                                          <p:attrName>style.visibility</p:attrName>
                                        </p:attrNameLst>
                                      </p:cBhvr>
                                      <p:to>
                                        <p:strVal val="visible"/>
                                      </p:to>
                                    </p:set>
                                    <p:animEffect transition="in" filter="fade">
                                      <p:cBhvr>
                                        <p:cTn id="36" dur="500"/>
                                        <p:tgtEl>
                                          <p:spTgt spid="132"/>
                                        </p:tgtEl>
                                      </p:cBhvr>
                                    </p:animEffect>
                                  </p:childTnLst>
                                </p:cTn>
                              </p:par>
                            </p:childTnLst>
                          </p:cTn>
                        </p:par>
                        <p:par>
                          <p:cTn id="37" fill="hold">
                            <p:stCondLst>
                              <p:cond delay="0"/>
                            </p:stCondLst>
                            <p:childTnLst>
                              <p:par>
                                <p:cTn id="38" presetID="10" presetClass="entr" presetSubtype="0" fill="hold" grpId="8" nodeType="withEffect">
                                  <p:stCondLst>
                                    <p:cond delay="0"/>
                                  </p:stCondLst>
                                  <p:childTnLst>
                                    <p:set>
                                      <p:cBhvr>
                                        <p:cTn id="39" dur="1" fill="hold">
                                          <p:stCondLst>
                                            <p:cond delay="0"/>
                                          </p:stCondLst>
                                        </p:cTn>
                                        <p:tgtEl>
                                          <p:spTgt spid="133"/>
                                        </p:tgtEl>
                                        <p:attrNameLst>
                                          <p:attrName>style.visibility</p:attrName>
                                        </p:attrNameLst>
                                      </p:cBhvr>
                                      <p:to>
                                        <p:strVal val="visible"/>
                                      </p:to>
                                    </p:set>
                                    <p:animEffect transition="in" filter="fade">
                                      <p:cBhvr>
                                        <p:cTn id="40" dur="500"/>
                                        <p:tgtEl>
                                          <p:spTgt spid="133"/>
                                        </p:tgtEl>
                                      </p:cBhvr>
                                    </p:animEffect>
                                  </p:childTnLst>
                                </p:cTn>
                              </p:par>
                            </p:childTnLst>
                          </p:cTn>
                        </p:par>
                        <p:par>
                          <p:cTn id="41" fill="hold">
                            <p:stCondLst>
                              <p:cond delay="0"/>
                            </p:stCondLst>
                            <p:childTnLst>
                              <p:par>
                                <p:cTn id="42" presetID="10" presetClass="entr" presetSubtype="0" fill="hold" grpId="9" nodeType="withEffect">
                                  <p:stCondLst>
                                    <p:cond delay="0"/>
                                  </p:stCondLst>
                                  <p:childTnLst>
                                    <p:set>
                                      <p:cBhvr>
                                        <p:cTn id="43" dur="1" fill="hold">
                                          <p:stCondLst>
                                            <p:cond delay="0"/>
                                          </p:stCondLst>
                                        </p:cTn>
                                        <p:tgtEl>
                                          <p:spTgt spid="136"/>
                                        </p:tgtEl>
                                        <p:attrNameLst>
                                          <p:attrName>style.visibility</p:attrName>
                                        </p:attrNameLst>
                                      </p:cBhvr>
                                      <p:to>
                                        <p:strVal val="visible"/>
                                      </p:to>
                                    </p:set>
                                    <p:animEffect transition="in" filter="fade">
                                      <p:cBhvr>
                                        <p:cTn id="44" dur="500"/>
                                        <p:tgtEl>
                                          <p:spTgt spid="136"/>
                                        </p:tgtEl>
                                      </p:cBhvr>
                                    </p:animEffect>
                                  </p:childTnLst>
                                </p:cTn>
                              </p:par>
                            </p:childTnLst>
                          </p:cTn>
                        </p:par>
                        <p:par>
                          <p:cTn id="45" fill="hold">
                            <p:stCondLst>
                              <p:cond delay="0"/>
                            </p:stCondLst>
                            <p:childTnLst>
                              <p:par>
                                <p:cTn id="46" presetID="10" presetClass="entr" presetSubtype="0" fill="hold" grpId="10" nodeType="withEffect">
                                  <p:stCondLst>
                                    <p:cond delay="0"/>
                                  </p:stCondLst>
                                  <p:childTnLst>
                                    <p:set>
                                      <p:cBhvr>
                                        <p:cTn id="47" dur="1" fill="hold">
                                          <p:stCondLst>
                                            <p:cond delay="0"/>
                                          </p:stCondLst>
                                        </p:cTn>
                                        <p:tgtEl>
                                          <p:spTgt spid="135"/>
                                        </p:tgtEl>
                                        <p:attrNameLst>
                                          <p:attrName>style.visibility</p:attrName>
                                        </p:attrNameLst>
                                      </p:cBhvr>
                                      <p:to>
                                        <p:strVal val="visible"/>
                                      </p:to>
                                    </p:set>
                                    <p:animEffect transition="in" filter="fade">
                                      <p:cBhvr>
                                        <p:cTn id="48" dur="500"/>
                                        <p:tgtEl>
                                          <p:spTgt spid="135"/>
                                        </p:tgtEl>
                                      </p:cBhvr>
                                    </p:animEffect>
                                  </p:childTnLst>
                                </p:cTn>
                              </p:par>
                            </p:childTnLst>
                          </p:cTn>
                        </p:par>
                        <p:par>
                          <p:cTn id="49" fill="hold">
                            <p:stCondLst>
                              <p:cond delay="0"/>
                            </p:stCondLst>
                            <p:childTnLst>
                              <p:par>
                                <p:cTn id="50" presetID="10" presetClass="entr" presetSubtype="0" fill="hold" grpId="11" nodeType="withEffect">
                                  <p:stCondLst>
                                    <p:cond delay="0"/>
                                  </p:stCondLst>
                                  <p:childTnLst>
                                    <p:set>
                                      <p:cBhvr>
                                        <p:cTn id="51" dur="1" fill="hold">
                                          <p:stCondLst>
                                            <p:cond delay="0"/>
                                          </p:stCondLst>
                                        </p:cTn>
                                        <p:tgtEl>
                                          <p:spTgt spid="134"/>
                                        </p:tgtEl>
                                        <p:attrNameLst>
                                          <p:attrName>style.visibility</p:attrName>
                                        </p:attrNameLst>
                                      </p:cBhvr>
                                      <p:to>
                                        <p:strVal val="visible"/>
                                      </p:to>
                                    </p:set>
                                    <p:animEffect transition="in" filter="fade">
                                      <p:cBhvr>
                                        <p:cTn id="5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p:bldP spid="121" grpId="1"/>
      <p:bldP spid="122" grpId="2"/>
      <p:bldP spid="124" grpId="3"/>
      <p:bldP spid="123" grpId="4"/>
      <p:bldP spid="130" grpId="5"/>
      <p:bldP spid="131" grpId="6"/>
      <p:bldP spid="132" grpId="7"/>
      <p:bldP spid="133" grpId="8"/>
      <p:bldP spid="136" grpId="9"/>
      <p:bldP spid="135" grpId="10"/>
      <p:bldP spid="134" grpId="11"/>
    </p:bldLst>
  </p:timing>
</p:sld>
</file>

<file path=ppt/slides/slide24.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degree of freedom may reveal an architectural gap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600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A</a:t>
            </a:r>
          </a:p>
        </p:txBody>
      </p:sp>
      <p:sp>
        <p:nvSpPr>
          <p:cNvPr id="101" name="S101"/>
          <p:cNvSpPr/>
          <p:nvPr/>
        </p:nvSpPr>
        <p:spPr>
          <a:xfrm>
            <a:off x="5044000" y="1000000"/>
            <a:ext cx="1500000" cy="56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2000" b="1" i="0" dirty="0">
                <a:solidFill>
                  <a:srgbClr val="5C4826"/>
                </a:solidFill>
              </a:rPr>
              <a:t>B</a:t>
            </a:r>
          </a:p>
        </p:txBody>
      </p:sp>
      <p:cxnSp>
        <p:nvCxnSpPr>
          <p:cNvPr id="102" name="L102"/>
          <p:cNvCxnSpPr/>
          <p:nvPr/>
        </p:nvCxnSpPr>
        <p:spPr>
          <a:xfrm>
            <a:off x="4100000" y="1280000"/>
            <a:ext cx="944000" cy="0"/>
          </a:xfrm>
          <a:prstGeom prst="straightConnector1">
            <a:avLst/>
          </a:prstGeom>
          <a:ln w="44450">
            <a:solidFill>
              <a:srgbClr val="8E6F3E"/>
            </a:solidFill>
            <a:tailEnd type="triangle" w="med" len="med"/>
          </a:ln>
        </p:spPr>
      </p:cxnSp>
      <p:sp>
        <p:nvSpPr>
          <p:cNvPr id="103" name="Label"/>
          <p:cNvSpPr txBox="1"/>
          <p:nvPr/>
        </p:nvSpPr>
        <p:spPr>
          <a:xfrm>
            <a:off x="4050000" y="1560000"/>
            <a:ext cx="1044000" cy="330000"/>
          </a:xfrm>
          <a:prstGeom prst="rect">
            <a:avLst/>
          </a:prstGeom>
          <a:noFill/>
          <a:ln>
            <a:noFill/>
          </a:ln>
        </p:spPr>
        <p:txBody>
          <a:bodyPr wrap="square" lIns="0" tIns="0" rIns="0" bIns="0" anchor="t">
            <a:normAutofit/>
          </a:bodyPr>
          <a:lstStyle/>
          <a:p>
            <a:pPr algn="ctr">
              <a:buNone/>
            </a:pPr>
            <a:r>
              <a:rPr lang="en-US" sz="1200" b="1" i="0" dirty="0">
                <a:solidFill>
                  <a:srgbClr val="8E6F3E"/>
                </a:solidFill>
              </a:rPr>
              <a:t>mechanism?</a:t>
            </a:r>
          </a:p>
        </p:txBody>
      </p:sp>
      <p:sp>
        <p:nvSpPr>
          <p:cNvPr id="104" name="S104"/>
          <p:cNvSpPr/>
          <p:nvPr/>
        </p:nvSpPr>
        <p:spPr>
          <a:xfrm>
            <a:off x="900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SYNC</a:t>
            </a:r>
          </a:p>
          <a:p>
            <a:pPr algn="ctr">
              <a:spcBef>
                <a:spcPts val="100"/>
              </a:spcBef>
              <a:buNone/>
            </a:pPr>
            <a:r>
              <a:rPr lang="en-US" sz="1400" b="0" i="0" dirty="0">
                <a:solidFill>
                  <a:srgbClr val="000000"/>
                </a:solidFill>
              </a:rPr>
              <a:t>violates failure isolation / latency</a:t>
            </a:r>
          </a:p>
        </p:txBody>
      </p:sp>
      <p:sp>
        <p:nvSpPr>
          <p:cNvPr id="105" name="S105"/>
          <p:cNvSpPr/>
          <p:nvPr/>
        </p:nvSpPr>
        <p:spPr>
          <a:xfrm>
            <a:off x="4944000" y="2100000"/>
            <a:ext cx="3300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ASYNC</a:t>
            </a:r>
          </a:p>
          <a:p>
            <a:pPr algn="ctr">
              <a:spcBef>
                <a:spcPts val="100"/>
              </a:spcBef>
              <a:buNone/>
            </a:pPr>
            <a:r>
              <a:rPr lang="en-US" sz="1400" b="0" i="0" dirty="0">
                <a:solidFill>
                  <a:srgbClr val="000000"/>
                </a:solidFill>
              </a:rPr>
              <a:t>violates required consistency</a:t>
            </a:r>
          </a:p>
        </p:txBody>
      </p:sp>
      <p:sp>
        <p:nvSpPr>
          <p:cNvPr id="106" name="S106"/>
          <p:cNvSpPr/>
          <p:nvPr/>
        </p:nvSpPr>
        <p:spPr>
          <a:xfrm>
            <a:off x="2572000" y="3200000"/>
            <a:ext cx="4000000" cy="560000"/>
          </a:xfrm>
          <a:prstGeom prst="rect">
            <a:avLst/>
          </a:prstGeom>
          <a:solidFill>
            <a:srgbClr val="8E6F3E"/>
          </a:solidFill>
          <a:ln>
            <a:noFill/>
          </a:ln>
        </p:spPr>
        <p:txBody>
          <a:bodyPr wrap="square" lIns="91440" tIns="45720" rIns="91440" bIns="45720" anchor="ctr">
            <a:normAutofit/>
          </a:bodyPr>
          <a:lstStyle/>
          <a:p>
            <a:pPr algn="ctr">
              <a:buNone/>
            </a:pPr>
            <a:r>
              <a:rPr lang="en-US" sz="1700" b="1" i="0" dirty="0">
                <a:solidFill>
                  <a:srgbClr val="FFFFFF"/>
                </a:solidFill>
              </a:rPr>
              <a:t>No satisfactory local choice</a:t>
            </a:r>
          </a:p>
        </p:txBody>
      </p:sp>
      <p:cxnSp>
        <p:nvCxnSpPr>
          <p:cNvPr id="107" name="L107"/>
          <p:cNvCxnSpPr/>
          <p:nvPr/>
        </p:nvCxnSpPr>
        <p:spPr>
          <a:xfrm>
            <a:off x="4572000" y="3760000"/>
            <a:ext cx="0" cy="370000"/>
          </a:xfrm>
          <a:prstGeom prst="straightConnector1">
            <a:avLst/>
          </a:prstGeom>
          <a:ln w="38100">
            <a:solidFill>
              <a:srgbClr val="8E6F3E"/>
            </a:solidFill>
            <a:tailEnd type="triangle" w="med" len="med"/>
          </a:ln>
        </p:spPr>
      </p:cxnSp>
      <p:sp>
        <p:nvSpPr>
          <p:cNvPr id="108" name="S108"/>
          <p:cNvSpPr/>
          <p:nvPr/>
        </p:nvSpPr>
        <p:spPr>
          <a:xfrm>
            <a:off x="2572000" y="4130000"/>
            <a:ext cx="4000000" cy="56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700" b="1" i="0" dirty="0">
                <a:solidFill>
                  <a:srgbClr val="5C4826"/>
                </a:solidFill>
              </a:rPr>
              <a:t>ARCHITECTURAL QUESTION</a:t>
            </a:r>
          </a:p>
        </p:txBody>
      </p:sp>
      <p:sp>
        <p:nvSpPr>
          <p:cNvPr id="109"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 choice can look local until its consequences escape the box.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6"/>
                                        </p:tgtEl>
                                        <p:attrNameLst>
                                          <p:attrName>style.visibility</p:attrName>
                                        </p:attrNameLst>
                                      </p:cBhvr>
                                      <p:to>
                                        <p:strVal val="visible"/>
                                      </p:to>
                                    </p:set>
                                    <p:animEffect transition="in" filter="fade">
                                      <p:cBhvr>
                                        <p:cTn id="17" dur="500"/>
                                        <p:tgtEl>
                                          <p:spTgt spid="10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childTnLst>
                          </p:cTn>
                        </p:par>
                        <p:par>
                          <p:cTn id="23" fill="hold">
                            <p:stCondLst>
                              <p:cond delay="0"/>
                            </p:stCondLst>
                            <p:childTnLst>
                              <p:par>
                                <p:cTn id="24" presetID="10" presetClass="entr" presetSubtype="0" fill="hold" grpId="4" nodeType="withEffect">
                                  <p:stCondLst>
                                    <p:cond delay="0"/>
                                  </p:stCondLst>
                                  <p:childTnLst>
                                    <p:set>
                                      <p:cBhvr>
                                        <p:cTn id="25" dur="1" fill="hold">
                                          <p:stCondLst>
                                            <p:cond delay="0"/>
                                          </p:stCondLst>
                                        </p:cTn>
                                        <p:tgtEl>
                                          <p:spTgt spid="108"/>
                                        </p:tgtEl>
                                        <p:attrNameLst>
                                          <p:attrName>style.visibility</p:attrName>
                                        </p:attrNameLst>
                                      </p:cBhvr>
                                      <p:to>
                                        <p:strVal val="visible"/>
                                      </p:to>
                                    </p:set>
                                    <p:animEffect transition="in" filter="fade">
                                      <p:cBhvr>
                                        <p:cTn id="26" dur="500"/>
                                        <p:tgtEl>
                                          <p:spTgt spid="108"/>
                                        </p:tgtEl>
                                      </p:cBhvr>
                                    </p:animEffect>
                                  </p:childTnLst>
                                </p:cTn>
                              </p:par>
                            </p:childTnLst>
                          </p:cTn>
                        </p:par>
                        <p:par>
                          <p:cTn id="27" fill="hold">
                            <p:stCondLst>
                              <p:cond delay="0"/>
                            </p:stCondLst>
                            <p:childTnLst>
                              <p:par>
                                <p:cTn id="28" presetID="10" presetClass="entr" presetSubtype="0" fill="hold" grpId="5" nodeType="withEffect">
                                  <p:stCondLst>
                                    <p:cond delay="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1"/>
      <p:bldP spid="106" grpId="2"/>
      <p:bldP spid="107" grpId="3"/>
      <p:bldP spid="108" grpId="4"/>
      <p:bldP spid="109" grpId="5"/>
    </p:bld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700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ARCHITECTURAL MODEL</a:t>
            </a:r>
          </a:p>
        </p:txBody>
      </p:sp>
      <p:sp>
        <p:nvSpPr>
          <p:cNvPr id="101" name="S101"/>
          <p:cNvSpPr/>
          <p:nvPr/>
        </p:nvSpPr>
        <p:spPr>
          <a:xfrm>
            <a:off x="700000" y="1380000"/>
            <a:ext cx="3600000" cy="12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20"/>
              </a:spcBef>
              <a:buNone/>
            </a:pPr>
            <a:r>
              <a:rPr lang="en-US" sz="1400" b="0" i="1" dirty="0">
                <a:solidFill>
                  <a:srgbClr val="555960"/>
                </a:solidFill>
              </a:rPr>
              <a:t>no dependency crosses this seam</a:t>
            </a:r>
          </a:p>
        </p:txBody>
      </p:sp>
      <p:sp>
        <p:nvSpPr>
          <p:cNvPr id="102" name="Label"/>
          <p:cNvSpPr txBox="1"/>
          <p:nvPr/>
        </p:nvSpPr>
        <p:spPr>
          <a:xfrm>
            <a:off x="4844000" y="1000000"/>
            <a:ext cx="3600000" cy="330000"/>
          </a:xfrm>
          <a:prstGeom prst="rect">
            <a:avLst/>
          </a:prstGeom>
          <a:noFill/>
          <a:ln>
            <a:noFill/>
          </a:ln>
        </p:spPr>
        <p:txBody>
          <a:bodyPr wrap="square" lIns="0" tIns="0" rIns="0" bIns="0" anchor="t">
            <a:normAutofit/>
          </a:bodyPr>
          <a:lstStyle/>
          <a:p>
            <a:pPr algn="ctr">
              <a:buNone/>
            </a:pPr>
            <a:r>
              <a:rPr lang="en-US" sz="1500" b="1" i="0" dirty="0">
                <a:solidFill>
                  <a:srgbClr val="8E6F3E"/>
                </a:solidFill>
              </a:rPr>
              <a:t>IMPLEMENTATION</a:t>
            </a:r>
          </a:p>
        </p:txBody>
      </p:sp>
      <p:sp>
        <p:nvSpPr>
          <p:cNvPr id="103" name="S103"/>
          <p:cNvSpPr/>
          <p:nvPr/>
        </p:nvSpPr>
        <p:spPr>
          <a:xfrm>
            <a:off x="4844000" y="1380000"/>
            <a:ext cx="3600000" cy="1250000"/>
          </a:xfrm>
          <a:prstGeom prst="rect">
            <a:avLst/>
          </a:prstGeom>
          <a:solidFill>
            <a:srgbClr val="FBF8F2"/>
          </a:solidFill>
          <a:ln w="12700">
            <a:solidFill>
              <a:srgbClr val="5C4826"/>
            </a:solidFill>
            <a:prstDash val="dash"/>
          </a:ln>
        </p:spPr>
        <p:txBody>
          <a:bodyPr wrap="square" lIns="91440" tIns="45720" rIns="91440" bIns="45720" anchor="ctr">
            <a:normAutofit/>
          </a:bodyPr>
          <a:lstStyle/>
          <a:p>
            <a:pPr algn="ctr">
              <a:buNone/>
            </a:pPr>
            <a:r>
              <a:rPr lang="en-US" sz="1700" b="1" i="0" dirty="0">
                <a:solidFill>
                  <a:srgbClr val="5C4826"/>
                </a:solidFill>
              </a:rPr>
              <a:t>A → PORT → B</a:t>
            </a:r>
          </a:p>
          <a:p>
            <a:pPr algn="ctr">
              <a:spcBef>
                <a:spcPts val="100"/>
              </a:spcBef>
              <a:buNone/>
            </a:pPr>
            <a:r>
              <a:rPr lang="en-US" sz="1500" b="0" i="0" dirty="0">
                <a:solidFill>
                  <a:srgbClr val="B85042"/>
                </a:solidFill>
              </a:rPr>
              <a:t>└──► B internals</a:t>
            </a:r>
          </a:p>
          <a:p>
            <a:pPr algn="ctr">
              <a:spcBef>
                <a:spcPts val="80"/>
              </a:spcBef>
              <a:buNone/>
            </a:pPr>
            <a:r>
              <a:rPr lang="en-US" sz="1400" b="0" i="1" dirty="0">
                <a:solidFill>
                  <a:srgbClr val="555960"/>
                </a:solidFill>
              </a:rPr>
              <a:t>“just this once”</a:t>
            </a:r>
          </a:p>
        </p:txBody>
      </p:sp>
      <p:sp>
        <p:nvSpPr>
          <p:cNvPr id="104" name="S104"/>
          <p:cNvSpPr/>
          <p:nvPr/>
        </p:nvSpPr>
        <p:spPr>
          <a:xfrm>
            <a:off x="277148" y="2820000"/>
            <a:ext cx="8589704" cy="560000"/>
          </a:xfrm>
          <a:prstGeom prst="rect">
            <a:avLst/>
          </a:prstGeom>
          <a:noFill/>
          <a:ln>
            <a:noFill/>
          </a:ln>
        </p:spPr>
        <p:txBody>
          <a:bodyPr wrap="square" lIns="91440" tIns="45720" rIns="91440" bIns="45720" anchor="ctr">
            <a:normAutofit/>
          </a:bodyPr>
          <a:lstStyle/>
          <a:p>
            <a:pPr algn="ctr">
              <a:buNone/>
            </a:pPr>
            <a:r>
              <a:rPr lang="en-US" sz="1600" b="1" i="0" dirty="0">
                <a:solidFill>
                  <a:srgbClr val="5C4826"/>
                </a:solidFill>
              </a:rPr>
              <a:t>feature works ✓    tests pass ✓    architecture remains true ✗</a:t>
            </a:r>
          </a:p>
        </p:txBody>
      </p:sp>
      <p:sp>
        <p:nvSpPr>
          <p:cNvPr id="105" name="S105"/>
          <p:cNvSpPr/>
          <p:nvPr/>
        </p:nvSpPr>
        <p:spPr>
          <a:xfrm>
            <a:off x="1272000" y="3500000"/>
            <a:ext cx="6600000" cy="5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“Can B be replaced without changing A?”   Model: YES   ·   Reality: NO</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Consequential discoveries must become engineering knowledge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0000"/>
            <a:ext cx="3600000" cy="520000"/>
          </a:xfrm>
          <a:prstGeom prst="rect">
            <a:avLst/>
          </a:prstGeom>
          <a:solidFill>
            <a:srgbClr val="8E6F3E"/>
          </a:solidFill>
          <a:ln>
            <a:noFill/>
          </a:ln>
        </p:spPr>
        <p:txBody>
          <a:bodyPr wrap="square" lIns="91440" tIns="45720" rIns="91440" bIns="45720" anchor="ctr">
            <a:normAutofit/>
          </a:bodyPr>
          <a:lstStyle/>
          <a:p>
            <a:pPr algn="ctr">
              <a:buNone/>
            </a:pPr>
            <a:r>
              <a:rPr lang="en-US" sz="1600" b="1" i="0" dirty="0">
                <a:solidFill>
                  <a:srgbClr val="FFFFFF"/>
                </a:solidFill>
              </a:rPr>
              <a:t>DESIGN DISCOVERY</a:t>
            </a:r>
          </a:p>
        </p:txBody>
      </p:sp>
      <p:cxnSp>
        <p:nvCxnSpPr>
          <p:cNvPr id="101" name="L101"/>
          <p:cNvCxnSpPr/>
          <p:nvPr/>
        </p:nvCxnSpPr>
        <p:spPr>
          <a:xfrm>
            <a:off x="4572000" y="1500000"/>
            <a:ext cx="0" cy="200000"/>
          </a:xfrm>
          <a:prstGeom prst="straightConnector1">
            <a:avLst/>
          </a:prstGeom>
          <a:ln w="38100">
            <a:solidFill>
              <a:srgbClr val="8E6F3E"/>
            </a:solidFill>
            <a:tailEnd type="triangle" w="med" len="med"/>
          </a:ln>
        </p:spPr>
      </p:cxnSp>
      <p:sp>
        <p:nvSpPr>
          <p:cNvPr id="102" name="Q"/>
          <p:cNvSpPr txBox="1"/>
          <p:nvPr/>
        </p:nvSpPr>
        <p:spPr>
          <a:xfrm>
            <a:off x="277148" y="1720000"/>
            <a:ext cx="8589704" cy="320000"/>
          </a:xfrm>
          <a:prstGeom prst="rect">
            <a:avLst/>
          </a:prstGeom>
          <a:noFill/>
          <a:ln>
            <a:noFill/>
          </a:ln>
        </p:spPr>
        <p:txBody>
          <a:bodyPr wrap="square" lIns="0" tIns="0" rIns="0" bIns="0" anchor="t">
            <a:normAutofit/>
          </a:bodyPr>
          <a:lstStyle/>
          <a:p>
            <a:pPr algn="ctr">
              <a:buNone/>
            </a:pPr>
            <a:r>
              <a:rPr lang="en-US" sz="1500" b="0" i="1" dirty="0">
                <a:solidFill>
                  <a:srgbClr val="555960"/>
                </a:solidFill>
              </a:rPr>
              <a:t>Where do its consequences live?</a:t>
            </a:r>
          </a:p>
        </p:txBody>
      </p:sp>
      <p:sp>
        <p:nvSpPr>
          <p:cNvPr id="103" name="S103"/>
          <p:cNvSpPr/>
          <p:nvPr/>
        </p:nvSpPr>
        <p:spPr>
          <a:xfrm>
            <a:off x="900000" y="212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LOCAL</a:t>
            </a:r>
          </a:p>
        </p:txBody>
      </p:sp>
      <p:cxnSp>
        <p:nvCxnSpPr>
          <p:cNvPr id="104" name="L104"/>
          <p:cNvCxnSpPr/>
          <p:nvPr/>
        </p:nvCxnSpPr>
        <p:spPr>
          <a:xfrm>
            <a:off x="4200000" y="2380000"/>
            <a:ext cx="640000" cy="0"/>
          </a:xfrm>
          <a:prstGeom prst="straightConnector1">
            <a:avLst/>
          </a:prstGeom>
          <a:ln w="38100">
            <a:solidFill>
              <a:srgbClr val="8E6F3E"/>
            </a:solidFill>
            <a:tailEnd type="triangle" w="med" len="med"/>
          </a:ln>
        </p:spPr>
      </p:cxnSp>
      <p:sp>
        <p:nvSpPr>
          <p:cNvPr id="105" name="S105"/>
          <p:cNvSpPr/>
          <p:nvPr/>
        </p:nvSpPr>
        <p:spPr>
          <a:xfrm>
            <a:off x="4844000" y="212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DESIGN</a:t>
            </a:r>
          </a:p>
        </p:txBody>
      </p:sp>
      <p:sp>
        <p:nvSpPr>
          <p:cNvPr id="106" name="S106"/>
          <p:cNvSpPr/>
          <p:nvPr/>
        </p:nvSpPr>
        <p:spPr>
          <a:xfrm>
            <a:off x="900000" y="276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RECURRING ACROSS PARTS</a:t>
            </a:r>
          </a:p>
        </p:txBody>
      </p:sp>
      <p:cxnSp>
        <p:nvCxnSpPr>
          <p:cNvPr id="107" name="L107"/>
          <p:cNvCxnSpPr/>
          <p:nvPr/>
        </p:nvCxnSpPr>
        <p:spPr>
          <a:xfrm>
            <a:off x="4200000" y="3020000"/>
            <a:ext cx="640000" cy="0"/>
          </a:xfrm>
          <a:prstGeom prst="straightConnector1">
            <a:avLst/>
          </a:prstGeom>
          <a:ln w="38100">
            <a:solidFill>
              <a:srgbClr val="8E6F3E"/>
            </a:solidFill>
            <a:tailEnd type="triangle" w="med" len="med"/>
          </a:ln>
        </p:spPr>
      </p:cxnSp>
      <p:sp>
        <p:nvSpPr>
          <p:cNvPr id="108" name="S108"/>
          <p:cNvSpPr/>
          <p:nvPr/>
        </p:nvSpPr>
        <p:spPr>
          <a:xfrm>
            <a:off x="4844000" y="276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ENGINEERING ENVIRONMENT</a:t>
            </a:r>
          </a:p>
        </p:txBody>
      </p:sp>
      <p:sp>
        <p:nvSpPr>
          <p:cNvPr id="109" name="S109"/>
          <p:cNvSpPr/>
          <p:nvPr/>
        </p:nvSpPr>
        <p:spPr>
          <a:xfrm>
            <a:off x="900000" y="340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SYSTEM STRUCTURE</a:t>
            </a:r>
          </a:p>
        </p:txBody>
      </p:sp>
      <p:cxnSp>
        <p:nvCxnSpPr>
          <p:cNvPr id="110" name="L110"/>
          <p:cNvCxnSpPr/>
          <p:nvPr/>
        </p:nvCxnSpPr>
        <p:spPr>
          <a:xfrm>
            <a:off x="4200000" y="3660000"/>
            <a:ext cx="640000" cy="0"/>
          </a:xfrm>
          <a:prstGeom prst="straightConnector1">
            <a:avLst/>
          </a:prstGeom>
          <a:ln w="38100">
            <a:solidFill>
              <a:srgbClr val="8E6F3E"/>
            </a:solidFill>
            <a:tailEnd type="triangle" w="med" len="med"/>
          </a:ln>
        </p:spPr>
      </p:cxnSp>
      <p:sp>
        <p:nvSpPr>
          <p:cNvPr id="111" name="S111"/>
          <p:cNvSpPr/>
          <p:nvPr/>
        </p:nvSpPr>
        <p:spPr>
          <a:xfrm>
            <a:off x="4844000" y="340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ARCHITECTURE</a:t>
            </a:r>
          </a:p>
        </p:txBody>
      </p:sp>
      <p:sp>
        <p:nvSpPr>
          <p:cNvPr id="112" name="S112"/>
          <p:cNvSpPr/>
          <p:nvPr/>
        </p:nvSpPr>
        <p:spPr>
          <a:xfrm>
            <a:off x="900000" y="4040000"/>
            <a:ext cx="3300000" cy="5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400" b="0" i="0" dirty="0">
                <a:solidFill>
                  <a:srgbClr val="000000"/>
                </a:solidFill>
              </a:rPr>
              <a:t>WHAT MUST BE TRUE</a:t>
            </a:r>
          </a:p>
        </p:txBody>
      </p:sp>
      <p:cxnSp>
        <p:nvCxnSpPr>
          <p:cNvPr id="113" name="L113"/>
          <p:cNvCxnSpPr/>
          <p:nvPr/>
        </p:nvCxnSpPr>
        <p:spPr>
          <a:xfrm>
            <a:off x="4200000" y="4300000"/>
            <a:ext cx="640000" cy="0"/>
          </a:xfrm>
          <a:prstGeom prst="straightConnector1">
            <a:avLst/>
          </a:prstGeom>
          <a:ln w="38100">
            <a:solidFill>
              <a:srgbClr val="8E6F3E"/>
            </a:solidFill>
            <a:tailEnd type="triangle" w="med" len="med"/>
          </a:ln>
        </p:spPr>
      </p:cxnSp>
      <p:sp>
        <p:nvSpPr>
          <p:cNvPr id="114" name="S114"/>
          <p:cNvSpPr/>
          <p:nvPr/>
        </p:nvSpPr>
        <p:spPr>
          <a:xfrm>
            <a:off x="4844000" y="4040000"/>
            <a:ext cx="3300000" cy="5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1" i="0" dirty="0">
                <a:solidFill>
                  <a:srgbClr val="5C4826"/>
                </a:solidFill>
              </a:rPr>
              <a:t>SPECIFICATION</a:t>
            </a:r>
          </a:p>
        </p:txBody>
      </p:sp>
      <p:sp>
        <p:nvSpPr>
          <p:cNvPr id="115" name="S115"/>
          <p:cNvSpPr/>
          <p:nvPr/>
        </p:nvSpPr>
        <p:spPr>
          <a:xfrm>
            <a:off x="277148" y="4720000"/>
            <a:ext cx="8589704" cy="47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normAutofit/>
          </a:bodyP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normAutofit/>
          </a:bodyPr>
          <a:lstStyle/>
          <a:p>
            <a:pPr algn="ctr">
              <a:buNone/>
            </a:pPr>
            <a:r>
              <a:rPr lang="en-US" sz="2800" b="0" i="0" dirty="0">
                <a:solidFill>
                  <a:srgbClr val="555960"/>
                </a:solidFill>
              </a:rPr>
              <a:t>Implementation can become a Design probe.</a:t>
            </a:r>
          </a:p>
        </p:txBody>
      </p:sp>
      <p:sp>
        <p:nvSpPr>
          <p:cNvPr id="200" name="S100"/>
          <p:cNvSpPr/>
          <p:nvPr/>
        </p:nvSpPr>
        <p:spPr>
          <a:xfrm>
            <a:off x="60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UNCERTAINTY</a:t>
            </a:r>
          </a:p>
        </p:txBody>
      </p:sp>
      <p:cxnSp>
        <p:nvCxnSpPr>
          <p:cNvPr id="201" name="L101"/>
          <p:cNvCxnSpPr/>
          <p:nvPr/>
        </p:nvCxnSpPr>
        <p:spPr>
          <a:xfrm>
            <a:off x="2452000" y="5210000"/>
            <a:ext cx="180000" cy="0"/>
          </a:xfrm>
          <a:prstGeom prst="straightConnector1">
            <a:avLst/>
          </a:prstGeom>
          <a:ln w="25400">
            <a:solidFill>
              <a:srgbClr val="8E6F3E"/>
            </a:solidFill>
            <a:tailEnd type="triangle" w="med" len="med"/>
          </a:ln>
        </p:spPr>
      </p:cxnSp>
      <p:sp>
        <p:nvSpPr>
          <p:cNvPr id="202" name="S102"/>
          <p:cNvSpPr/>
          <p:nvPr/>
        </p:nvSpPr>
        <p:spPr>
          <a:xfrm>
            <a:off x="263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BUY INFORMATION</a:t>
            </a:r>
          </a:p>
        </p:txBody>
      </p:sp>
      <p:cxnSp>
        <p:nvCxnSpPr>
          <p:cNvPr id="103" name="L103"/>
          <p:cNvCxnSpPr/>
          <p:nvPr/>
        </p:nvCxnSpPr>
        <p:spPr>
          <a:xfrm>
            <a:off x="4482000" y="5210000"/>
            <a:ext cx="180000" cy="0"/>
          </a:xfrm>
          <a:prstGeom prst="straightConnector1">
            <a:avLst/>
          </a:prstGeom>
          <a:ln w="25400">
            <a:solidFill>
              <a:srgbClr val="8E6F3E"/>
            </a:solidFill>
            <a:tailEnd type="triangle" w="med" len="med"/>
          </a:ln>
        </p:spPr>
      </p:cxnSp>
      <p:sp>
        <p:nvSpPr>
          <p:cNvPr id="104" name="S104"/>
          <p:cNvSpPr/>
          <p:nvPr/>
        </p:nvSpPr>
        <p:spPr>
          <a:xfrm>
            <a:off x="4662000" y="4900000"/>
            <a:ext cx="185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300" b="1" i="0" dirty="0">
                <a:solidFill>
                  <a:srgbClr val="5C4826"/>
                </a:solidFill>
              </a:rPr>
              <a:t>model · prototype · measure</a:t>
            </a:r>
          </a:p>
        </p:txBody>
      </p:sp>
      <p:cxnSp>
        <p:nvCxnSpPr>
          <p:cNvPr id="105" name="L105"/>
          <p:cNvCxnSpPr/>
          <p:nvPr/>
        </p:nvCxnSpPr>
        <p:spPr>
          <a:xfrm>
            <a:off x="6512000" y="5210000"/>
            <a:ext cx="180000" cy="0"/>
          </a:xfrm>
          <a:prstGeom prst="straightConnector1">
            <a:avLst/>
          </a:prstGeom>
          <a:ln w="25400">
            <a:solidFill>
              <a:srgbClr val="8E6F3E"/>
            </a:solidFill>
            <a:tailEnd type="triangle" w="med" len="med"/>
          </a:ln>
        </p:spPr>
      </p:cxnSp>
      <p:sp>
        <p:nvSpPr>
          <p:cNvPr id="106" name="S106"/>
          <p:cNvSpPr/>
          <p:nvPr/>
        </p:nvSpPr>
        <p:spPr>
          <a:xfrm>
            <a:off x="6692000" y="4900000"/>
            <a:ext cx="1850000" cy="620000"/>
          </a:xfrm>
          <a:prstGeom prst="rect">
            <a:avLst/>
          </a:prstGeom>
          <a:solidFill>
            <a:srgbClr val="8E6F3E"/>
          </a:solidFill>
          <a:ln>
            <a:noFill/>
          </a:ln>
        </p:spPr>
        <p:txBody>
          <a:bodyPr wrap="square" lIns="91440" tIns="45720" rIns="91440" bIns="45720" anchor="ctr">
            <a:normAutofit/>
          </a:bodyPr>
          <a:lstStyle/>
          <a:p>
            <a:pPr algn="ctr">
              <a:buNone/>
            </a:pPr>
            <a:r>
              <a:rPr lang="en-US" sz="13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8" y="10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SLOW</a:t>
            </a:r>
          </a:p>
        </p:txBody>
      </p:sp>
      <p:sp>
        <p:nvSpPr>
          <p:cNvPr id="101" name="S101"/>
          <p:cNvSpPr/>
          <p:nvPr/>
        </p:nvSpPr>
        <p:spPr>
          <a:xfrm>
            <a:off x="900000" y="1380000"/>
            <a:ext cx="7344000" cy="90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0" i="0" dirty="0">
                <a:solidFill>
                  <a:srgbClr val="000000"/>
                </a:solidFill>
              </a:rPr>
              <a:t>FAIL A → fix → local        FAIL B → fix → local        FAIL C → fix → local</a:t>
            </a:r>
          </a:p>
          <a:p>
            <a:pPr algn="ctr">
              <a:spcBef>
                <a:spcPts val="120"/>
              </a:spcBef>
              <a:buNone/>
            </a:pPr>
            <a:r>
              <a:rPr lang="en-US" sz="1300" b="0" i="1" dirty="0">
                <a:solidFill>
                  <a:srgbClr val="555960"/>
                </a:solidFill>
              </a:rPr>
              <a:t>weeks apart · each looks like an isolated incident</a:t>
            </a:r>
          </a:p>
        </p:txBody>
      </p:sp>
      <p:sp>
        <p:nvSpPr>
          <p:cNvPr id="102" name="Label"/>
          <p:cNvSpPr txBox="1"/>
          <p:nvPr/>
        </p:nvSpPr>
        <p:spPr>
          <a:xfrm>
            <a:off x="277148" y="2500000"/>
            <a:ext cx="8589704" cy="330000"/>
          </a:xfrm>
          <a:prstGeom prst="rect">
            <a:avLst/>
          </a:prstGeom>
          <a:noFill/>
          <a:ln>
            <a:noFill/>
          </a:ln>
        </p:spPr>
        <p:txBody>
          <a:bodyPr wrap="square" lIns="0" tIns="0" rIns="0" bIns="0" anchor="t">
            <a:normAutofit/>
          </a:bodyPr>
          <a:lstStyle/>
          <a:p>
            <a:pPr algn="ctr">
              <a:buNone/>
            </a:pPr>
            <a:r>
              <a:rPr lang="en-US" sz="1700" b="1" i="0" dirty="0">
                <a:solidFill>
                  <a:srgbClr val="8E6F3E"/>
                </a:solidFill>
              </a:rPr>
              <a:t>DENSE</a:t>
            </a:r>
          </a:p>
        </p:txBody>
      </p:sp>
      <p:sp>
        <p:nvSpPr>
          <p:cNvPr id="103" name="S103"/>
          <p:cNvSpPr/>
          <p:nvPr/>
        </p:nvSpPr>
        <p:spPr>
          <a:xfrm>
            <a:off x="900000" y="2880000"/>
            <a:ext cx="7344000" cy="120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500" b="0" i="0" dirty="0">
                <a:solidFill>
                  <a:srgbClr val="000000"/>
                </a:solidFill>
              </a:rPr>
              <a:t>A   B   C     ·   in dense succession</a:t>
            </a:r>
          </a:p>
          <a:p>
            <a:pPr algn="ctr">
              <a:spcBef>
                <a:spcPts val="120"/>
              </a:spcBef>
              <a:buNone/>
            </a:pPr>
            <a:r>
              <a:rPr lang="en-US" sz="1600" b="1" i="0" dirty="0">
                <a:solidFill>
                  <a:srgbClr val="5C4826"/>
                </a:solidFill>
              </a:rPr>
              <a:t>RELATED?</a:t>
            </a:r>
          </a:p>
          <a:p>
            <a:pPr algn="ctr">
              <a:spcBef>
                <a:spcPts val="100"/>
              </a:spcBef>
              <a:buNone/>
            </a:pPr>
            <a:r>
              <a:rPr lang="en-US" sz="1500" b="1" i="0" dirty="0">
                <a:solidFill>
                  <a:srgbClr val="8E6F3E"/>
                </a:solidFill>
              </a:rPr>
              <a:t>↓  STRUCTURAL CAUSE</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4"/>
                                        </p:tgtEl>
                                        <p:attrNameLst>
                                          <p:attrName>style.visibility</p:attrName>
                                        </p:attrNameLst>
                                      </p:cBhvr>
                                      <p:to>
                                        <p:strVal val="visible"/>
                                      </p:to>
                                    </p:set>
                                    <p:animEffect transition="in" filter="fade">
                                      <p:cBhvr>
                                        <p:cTn id="15"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Lst>
  </p:timing>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MAGE Moment: Velocity changes Design reasoning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EPISTEMIC</a:t>
            </a:r>
          </a:p>
        </p:txBody>
      </p:sp>
      <p:sp>
        <p:nvSpPr>
          <p:cNvPr id="101" name="S101"/>
          <p:cNvSpPr/>
          <p:nvPr/>
        </p:nvSpPr>
        <p:spPr>
          <a:xfrm>
            <a:off x="700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See relationships sooner</a:t>
            </a:r>
          </a:p>
          <a:p>
            <a:pPr algn="ctr">
              <a:spcBef>
                <a:spcPts val="140"/>
              </a:spcBef>
              <a:buNone/>
            </a:pPr>
            <a:r>
              <a:rPr lang="en-US" sz="1400" b="0" i="0" dirty="0">
                <a:solidFill>
                  <a:srgbClr val="000000"/>
                </a:solidFill>
              </a:rPr>
              <a:t>related failures become co-visible</a:t>
            </a:r>
          </a:p>
          <a:p>
            <a:pPr algn="ctr">
              <a:spcBef>
                <a:spcPts val="100"/>
              </a:spcBef>
              <a:buNone/>
            </a:pPr>
            <a:r>
              <a:rPr lang="en-US" sz="1400" b="0" i="0" dirty="0">
                <a:solidFill>
                  <a:srgbClr val="000000"/>
                </a:solidFill>
              </a:rPr>
              <a:t>structural causes easier to recognize</a:t>
            </a:r>
          </a:p>
        </p:txBody>
      </p:sp>
      <p:sp>
        <p:nvSpPr>
          <p:cNvPr id="102" name="S102"/>
          <p:cNvSpPr/>
          <p:nvPr/>
        </p:nvSpPr>
        <p:spPr>
          <a:xfrm>
            <a:off x="4844000" y="1050000"/>
            <a:ext cx="3600000" cy="620000"/>
          </a:xfrm>
          <a:prstGeom prst="rect">
            <a:avLst/>
          </a:prstGeom>
          <a:solidFill>
            <a:srgbClr val="8E6F3E"/>
          </a:solidFill>
          <a:ln>
            <a:noFill/>
          </a:ln>
        </p:spPr>
        <p:txBody>
          <a:bodyPr wrap="square" lIns="91440" tIns="45720" rIns="91440" bIns="45720" anchor="ctr">
            <a:normAutofit/>
          </a:bodyPr>
          <a:lstStyle/>
          <a:p>
            <a:pPr algn="ctr">
              <a:buNone/>
            </a:pPr>
            <a:r>
              <a:rPr lang="en-US" sz="1900" b="1" i="0" dirty="0">
                <a:solidFill>
                  <a:srgbClr val="FFFFFF"/>
                </a:solidFill>
              </a:rPr>
              <a:t>ECONOMIC</a:t>
            </a:r>
          </a:p>
        </p:txBody>
      </p:sp>
      <p:sp>
        <p:nvSpPr>
          <p:cNvPr id="103" name="S103"/>
          <p:cNvSpPr/>
          <p:nvPr/>
        </p:nvSpPr>
        <p:spPr>
          <a:xfrm>
            <a:off x="4844000" y="1730000"/>
            <a:ext cx="3600000" cy="155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600" b="1" i="0" dirty="0">
                <a:solidFill>
                  <a:srgbClr val="5C4826"/>
                </a:solidFill>
              </a:rPr>
              <a:t>Test more alternatives</a:t>
            </a:r>
          </a:p>
          <a:p>
            <a:pPr algn="ctr">
              <a:spcBef>
                <a:spcPts val="140"/>
              </a:spcBef>
              <a:buNone/>
            </a:pPr>
            <a:r>
              <a:rPr lang="en-US" sz="1400" b="0" i="0" dirty="0">
                <a:solidFill>
                  <a:srgbClr val="000000"/>
                </a:solidFill>
              </a:rPr>
              <a:t>prototypes cheaper</a:t>
            </a:r>
          </a:p>
          <a:p>
            <a:pPr algn="ctr">
              <a:spcBef>
                <a:spcPts val="100"/>
              </a:spcBef>
              <a:buNone/>
            </a:pPr>
            <a:r>
              <a:rPr lang="en-US" sz="1400" b="0" i="0" dirty="0">
                <a:solidFill>
                  <a:srgbClr val="000000"/>
                </a:solidFill>
              </a:rPr>
              <a:t>competing implementations cheaper</a:t>
            </a:r>
          </a:p>
          <a:p>
            <a:pPr algn="ctr">
              <a:spcBef>
                <a:spcPts val="100"/>
              </a:spcBef>
              <a:buNone/>
            </a:pPr>
            <a:r>
              <a:rPr lang="en-US" sz="1400" b="0" i="0" dirty="0">
                <a:solidFill>
                  <a:srgbClr val="000000"/>
                </a:solidFill>
              </a:rPr>
              <a:t>refactoring cheaper</a:t>
            </a:r>
          </a:p>
        </p:txBody>
      </p:sp>
      <p:sp>
        <p:nvSpPr>
          <p:cNvPr id="104" name="S104"/>
          <p:cNvSpPr/>
          <p:nvPr/>
        </p:nvSpPr>
        <p:spPr>
          <a:xfrm>
            <a:off x="2672000" y="3450000"/>
            <a:ext cx="3800000" cy="520000"/>
          </a:xfrm>
          <a:prstGeom prst="rect">
            <a:avLst/>
          </a:prstGeom>
          <a:solidFill>
            <a:srgbClr val="FBF8F2"/>
          </a:solidFill>
          <a:ln w="19050">
            <a:solidFill>
              <a:srgbClr val="5C4826"/>
            </a:solidFill>
          </a:ln>
        </p:spPr>
        <p:txBody>
          <a:bodyPr wrap="square" lIns="91440" tIns="45720" rIns="91440" bIns="45720" anchor="ctr">
            <a:normAutofit/>
          </a:bodyPr>
          <a:lstStyle/>
          <a:p>
            <a:pPr algn="ctr">
              <a:buNone/>
            </a:pPr>
            <a:r>
              <a:rPr lang="en-US" sz="1600" b="1" i="0" dirty="0">
                <a:solidFill>
                  <a:srgbClr val="5C4826"/>
                </a:solidFill>
              </a:rPr>
              <a:t>🧙  MORE DESIGN EVIDENCE</a:t>
            </a:r>
          </a:p>
        </p:txBody>
      </p:sp>
      <p:sp>
        <p:nvSpPr>
          <p:cNvPr id="105" name="Close"/>
          <p:cNvSpPr txBox="1"/>
          <p:nvPr/>
        </p:nvSpPr>
        <p:spPr>
          <a:xfrm>
            <a:off x="277148" y="4080000"/>
            <a:ext cx="8589704" cy="900000"/>
          </a:xfrm>
          <a:prstGeom prst="rect">
            <a:avLst/>
          </a:prstGeom>
          <a:noFill/>
          <a:ln>
            <a:noFill/>
          </a:ln>
        </p:spPr>
        <p:txBody>
          <a:bodyPr wrap="square" lIns="0" tIns="0" rIns="0" bIns="0" anchor="t">
            <a:normAutofit/>
          </a:bodyPr>
          <a:lstStyle/>
          <a:p>
            <a:pPr algn="ctr">
              <a:buNone/>
            </a:pPr>
            <a:r>
              <a:rPr lang="en-US" sz="1700" b="1" i="0" dirty="0">
                <a:solidFill>
                  <a:srgbClr val="000000"/>
                </a:solidFill>
              </a:rPr>
              <a:t>Velocity does not merely let you implement the Design faster.</a:t>
            </a:r>
          </a:p>
          <a:p>
            <a:pPr algn="ctr">
              <a:spcBef>
                <a:spcPts val="120"/>
              </a:spcBef>
              <a:buNone/>
            </a:pPr>
            <a:r>
              <a:rPr lang="en-US" sz="1700" b="1" i="0" dirty="0">
                <a:solidFill>
                  <a:srgbClr val="000000"/>
                </a:solidFill>
              </a:rPr>
              <a:t>It can let you reason about the Design differently.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5" nodeType="clickEffect">
                                  <p:stCondLst>
                                    <p:cond delay="0"/>
                                  </p:stCondLst>
                                  <p:childTnLst>
                                    <p:set>
                                      <p:cBhvr>
                                        <p:cTn id="29" dur="1" fill="hold">
                                          <p:stCondLst>
                                            <p:cond delay="0"/>
                                          </p:stCondLst>
                                        </p:cTn>
                                        <p:tgtEl>
                                          <p:spTgt spid="105"/>
                                        </p:tgtEl>
                                        <p:attrNameLst>
                                          <p:attrName>style.visibility</p:attrName>
                                        </p:attrNameLst>
                                      </p:cBhvr>
                                      <p:to>
                                        <p:strVal val="visible"/>
                                      </p:to>
                                    </p:set>
                                    <p:animEffect transition="in" filter="fade">
                                      <p:cBhvr>
                                        <p:cTn id="3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one part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Responsibility</a:t>
            </a:r>
          </a:p>
          <a:p>
            <a:pPr algn="l">
              <a:spcBef>
                <a:spcPts val="100"/>
              </a:spcBef>
              <a:buNone/>
            </a:pPr>
            <a:r>
              <a:rPr lang="en-US" sz="1400" b="0" i="0" dirty="0">
                <a:solidFill>
                  <a:srgbClr val="000000"/>
                </a:solidFill>
              </a:rPr>
              <a:t>Produce advice from the validated nightly summary and illness model.</a:t>
            </a:r>
          </a:p>
        </p:txBody>
      </p:sp>
      <p:sp>
        <p:nvSpPr>
          <p:cNvPr id="101" name="S101"/>
          <p:cNvSpPr/>
          <p:nvPr/>
        </p:nvSpPr>
        <p:spPr>
          <a:xfrm>
            <a:off x="4744000" y="1000000"/>
            <a:ext cx="3700000" cy="115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Interface</a:t>
            </a:r>
          </a:p>
          <a:p>
            <a:pPr algn="l">
              <a:spcBef>
                <a:spcPts val="100"/>
              </a:spcBef>
              <a:buNone/>
            </a:pPr>
            <a:r>
              <a:rPr lang="en-US" sz="1400" b="0" i="0" dirty="0">
                <a:solidFill>
                  <a:srgbClr val="000000"/>
                </a:solidFill>
              </a:rPr>
              <a:t>generateAdvice(summary, modelVersion)</a:t>
            </a:r>
            <a:br/>
            <a:r>
              <a:rPr lang="en-US" sz="1400" b="0" i="0" dirty="0">
                <a:solidFill>
                  <a:srgbClr val="000000"/>
                </a:solidFill>
              </a:rPr>
              <a:t>→ Advice</a:t>
            </a:r>
          </a:p>
        </p:txBody>
      </p:sp>
      <p:sp>
        <p:nvSpPr>
          <p:cNvPr id="102" name="S102"/>
          <p:cNvSpPr/>
          <p:nvPr/>
        </p:nvSpPr>
        <p:spPr>
          <a:xfrm>
            <a:off x="700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Inherited constraints</a:t>
            </a:r>
          </a:p>
          <a:p>
            <a:pPr algn="l">
              <a:spcBef>
                <a:spcPts val="100"/>
              </a:spcBef>
              <a:buNone/>
            </a:pPr>
            <a:r>
              <a:rPr lang="en-US" sz="1300" b="0" i="0" dirty="0">
                <a:solidFill>
                  <a:srgbClr val="000000"/>
                </a:solidFill>
              </a:rPr>
              <a:t>advice returned within 2 seconds</a:t>
            </a:r>
          </a:p>
          <a:p>
            <a:pPr algn="l">
              <a:spcBef>
                <a:spcPts val="80"/>
              </a:spcBef>
              <a:buNone/>
            </a:pPr>
            <a:r>
              <a:rPr lang="en-US" sz="1300" b="0" i="0" dirty="0">
                <a:solidFill>
                  <a:srgbClr val="000000"/>
                </a:solidFill>
              </a:rPr>
              <a:t>illness model expected to change independently</a:t>
            </a:r>
          </a:p>
          <a:p>
            <a:pPr algn="l">
              <a:spcBef>
                <a:spcPts val="80"/>
              </a:spcBef>
              <a:buNone/>
            </a:pPr>
            <a:r>
              <a:rPr lang="en-US" sz="1300" b="0" i="0" dirty="0">
                <a:solidFill>
                  <a:srgbClr val="000000"/>
                </a:solidFill>
              </a:rPr>
              <a:t>raw sleep data must not escape its boundary</a:t>
            </a:r>
          </a:p>
          <a:p>
            <a:pPr algn="l">
              <a:spcBef>
                <a:spcPts val="80"/>
              </a:spcBef>
              <a:buNone/>
            </a:pPr>
            <a:r>
              <a:rPr lang="en-US" sz="1300" b="0" i="0" dirty="0">
                <a:solidFill>
                  <a:srgbClr val="000000"/>
                </a:solidFill>
              </a:rPr>
              <a:t>sharing failure must not block local advice</a:t>
            </a:r>
          </a:p>
        </p:txBody>
      </p:sp>
      <p:sp>
        <p:nvSpPr>
          <p:cNvPr id="103" name="S103"/>
          <p:cNvSpPr/>
          <p:nvPr/>
        </p:nvSpPr>
        <p:spPr>
          <a:xfrm>
            <a:off x="4744000" y="2270000"/>
            <a:ext cx="3700000" cy="175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Engineering environment</a:t>
            </a:r>
          </a:p>
          <a:p>
            <a:pPr algn="l">
              <a:spcBef>
                <a:spcPts val="100"/>
              </a:spcBef>
              <a:buNone/>
            </a:pPr>
            <a:r>
              <a:rPr lang="en-US" sz="1300" b="0" i="0" dirty="0">
                <a:solidFill>
                  <a:srgbClr val="000000"/>
                </a:solidFill>
              </a:rPr>
              <a:t>dependencies supplied through interfaces</a:t>
            </a:r>
          </a:p>
          <a:p>
            <a:pPr algn="l">
              <a:spcBef>
                <a:spcPts val="80"/>
              </a:spcBef>
              <a:buNone/>
            </a:pPr>
            <a:r>
              <a:rPr lang="en-US" sz="1300" b="0" i="0" dirty="0">
                <a:solidFill>
                  <a:srgbClr val="000000"/>
                </a:solidFill>
              </a:rPr>
              <a:t>persistent state uses repository abstraction</a:t>
            </a:r>
          </a:p>
          <a:p>
            <a:pPr algn="l">
              <a:spcBef>
                <a:spcPts val="80"/>
              </a:spcBef>
              <a:buNone/>
            </a:pPr>
            <a:r>
              <a:rPr lang="en-US" sz="1300" b="0" i="0" dirty="0">
                <a:solidFill>
                  <a:srgbClr val="000000"/>
                </a:solidFill>
              </a:rPr>
              <a:t>background work uses standard queue / retry</a:t>
            </a:r>
          </a:p>
        </p:txBody>
      </p:sp>
      <p:sp>
        <p:nvSpPr>
          <p:cNvPr id="104"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undecided?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FOLLOW</a:t>
            </a:r>
          </a:p>
        </p:txBody>
      </p:sp>
      <p:sp>
        <p:nvSpPr>
          <p:cNvPr id="101" name="S101"/>
          <p:cNvSpPr/>
          <p:nvPr/>
        </p:nvSpPr>
        <p:spPr>
          <a:xfrm>
            <a:off x="70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328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CHOOSE</a:t>
            </a:r>
          </a:p>
        </p:txBody>
      </p:sp>
      <p:sp>
        <p:nvSpPr>
          <p:cNvPr id="103" name="S103"/>
          <p:cNvSpPr/>
          <p:nvPr/>
        </p:nvSpPr>
        <p:spPr>
          <a:xfrm>
            <a:off x="328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5860000" y="1050000"/>
            <a:ext cx="2400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ESCALATE</a:t>
            </a:r>
          </a:p>
        </p:txBody>
      </p:sp>
      <p:sp>
        <p:nvSpPr>
          <p:cNvPr id="105" name="S105"/>
          <p:cNvSpPr/>
          <p:nvPr/>
        </p:nvSpPr>
        <p:spPr>
          <a:xfrm>
            <a:off x="5860000" y="1730000"/>
            <a:ext cx="2400000" cy="24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6" name="S106"/>
          <p:cNvSpPr/>
          <p:nvPr/>
        </p:nvSpPr>
        <p:spPr>
          <a:xfrm>
            <a:off x="277148" y="4350000"/>
            <a:ext cx="8589704" cy="620000"/>
          </a:xfrm>
          <a:prstGeom prst="rect">
            <a:avLst/>
          </a:prstGeom>
          <a:solidFill>
            <a:srgbClr val="FBF8F2"/>
          </a:solidFill>
          <a:ln w="12700">
            <a:solidFill>
              <a:srgbClr val="5C4826"/>
            </a:solidFill>
          </a:ln>
        </p:spPr>
        <p:txBody>
          <a:bodyPr wrap="square" lIns="91440" tIns="45720" rIns="91440" bIns="45720" anchor="ctr">
            <a:normAutofit/>
          </a:bodyPr>
          <a:lstStyle/>
          <a:p>
            <a:pPr algn="ctr">
              <a:buNone/>
            </a:pPr>
            <a:r>
              <a:rPr lang="en-US" sz="1600" b="0" i="0" dirty="0">
                <a:solidFill>
                  <a:srgbClr val="000000"/>
                </a:solidFill>
              </a:rPr>
              <a:t>List the open questions inside this component. Classify each before answering it.</a:t>
            </a:r>
          </a:p>
        </p:txBody>
      </p:sp>
      <p:sp>
        <p:nvSpPr>
          <p:cNvPr id="107"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~3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Produce TWO plausible internal Designs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A</a:t>
            </a:r>
          </a:p>
        </p:txBody>
      </p:sp>
      <p:sp>
        <p:nvSpPr>
          <p:cNvPr id="101" name="S101"/>
          <p:cNvSpPr/>
          <p:nvPr/>
        </p:nvSpPr>
        <p:spPr>
          <a:xfrm>
            <a:off x="700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2" name="S102"/>
          <p:cNvSpPr/>
          <p:nvPr/>
        </p:nvSpPr>
        <p:spPr>
          <a:xfrm>
            <a:off x="4622000" y="1050000"/>
            <a:ext cx="3422000" cy="620000"/>
          </a:xfrm>
          <a:prstGeom prst="rect">
            <a:avLst/>
          </a:prstGeom>
          <a:solidFill>
            <a:srgbClr val="8E6F3E"/>
          </a:solidFill>
          <a:ln>
            <a:noFill/>
          </a:ln>
        </p:spPr>
        <p:txBody>
          <a:bodyPr wrap="square" lIns="91440" tIns="45720" rIns="91440" bIns="45720" anchor="ctr">
            <a:normAutofit/>
          </a:bodyPr>
          <a:lstStyle/>
          <a:p>
            <a:pPr algn="ctr">
              <a:buNone/>
            </a:pPr>
            <a:r>
              <a:rPr lang="en-US" sz="2000" b="1" i="0" dirty="0">
                <a:solidFill>
                  <a:srgbClr val="FFFFFF"/>
                </a:solidFill>
              </a:rPr>
              <a:t>DESIGN B</a:t>
            </a:r>
          </a:p>
        </p:txBody>
      </p:sp>
      <p:sp>
        <p:nvSpPr>
          <p:cNvPr id="103" name="S103"/>
          <p:cNvSpPr/>
          <p:nvPr/>
        </p:nvSpPr>
        <p:spPr>
          <a:xfrm>
            <a:off x="4622000" y="1730000"/>
            <a:ext cx="3422000" cy="2200000"/>
          </a:xfrm>
          <a:prstGeom prst="rect">
            <a:avLst/>
          </a:prstGeom>
          <a:solidFill>
            <a:srgbClr val="F5F1E8"/>
          </a:solidFill>
          <a:ln w="12700">
            <a:solidFill>
              <a:srgbClr val="C9B991"/>
            </a:solidFill>
          </a:ln>
        </p:spPr>
        <p:txBody>
          <a:bodyPr wrap="square" lIns="91440" tIns="45720" rIns="91440" bIns="45720" anchor="t">
            <a:normAutofit/>
          </a:bodyPr>
          <a:lstStyle/>
          <a:p>
            <a:endParaRPr/>
          </a:p>
        </p:txBody>
      </p:sp>
      <p:sp>
        <p:nvSpPr>
          <p:cNvPr id="104" name="S104"/>
          <p:cNvSpPr/>
          <p:nvPr/>
        </p:nvSpPr>
        <p:spPr>
          <a:xfrm>
            <a:off x="277148" y="4050000"/>
            <a:ext cx="8589704" cy="100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Require:</a:t>
            </a:r>
          </a:p>
          <a:p>
            <a:pPr algn="l">
              <a:spcBef>
                <a:spcPts val="100"/>
              </a:spcBef>
              <a:buNone/>
            </a:pPr>
            <a:r>
              <a:rPr lang="en-US" sz="1400" b="0" i="0" dirty="0">
                <a:solidFill>
                  <a:srgbClr val="000000"/>
                </a:solidFill>
              </a:rPr>
              <a:t>internal parts / responsibilities  ·  key interactions / state</a:t>
            </a:r>
            <a:br/>
            <a:r>
              <a:rPr lang="en-US" sz="1400" b="0" i="0" dirty="0">
                <a:solidFill>
                  <a:srgbClr val="000000"/>
                </a:solidFill>
              </a:rPr>
              <a:t>one purposeful model  ·  expected consequence / tradeoff</a:t>
            </a:r>
          </a:p>
        </p:txBody>
      </p:sp>
      <p:sp>
        <p:nvSpPr>
          <p:cNvPr id="105"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Two genuinely different tactics. Both must respect what you inherited. Do not converge yet.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Design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900000" y="10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satisfy the relevant Specification?</a:t>
            </a:r>
          </a:p>
        </p:txBody>
      </p:sp>
      <p:sp>
        <p:nvSpPr>
          <p:cNvPr id="101" name="S101"/>
          <p:cNvSpPr/>
          <p:nvPr/>
        </p:nvSpPr>
        <p:spPr>
          <a:xfrm>
            <a:off x="900000" y="181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respect the Architecture?</a:t>
            </a:r>
          </a:p>
        </p:txBody>
      </p:sp>
      <p:sp>
        <p:nvSpPr>
          <p:cNvPr id="102" name="S102"/>
          <p:cNvSpPr/>
          <p:nvPr/>
        </p:nvSpPr>
        <p:spPr>
          <a:xfrm>
            <a:off x="900000" y="257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Does it use the Engineering Environment appropriately?</a:t>
            </a:r>
          </a:p>
        </p:txBody>
      </p:sp>
      <p:sp>
        <p:nvSpPr>
          <p:cNvPr id="103" name="S103"/>
          <p:cNvSpPr/>
          <p:nvPr/>
        </p:nvSpPr>
        <p:spPr>
          <a:xfrm>
            <a:off x="900000" y="333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genuine tradeoff distinguishes the alternatives?</a:t>
            </a:r>
          </a:p>
        </p:txBody>
      </p:sp>
      <p:sp>
        <p:nvSpPr>
          <p:cNvPr id="104" name="S104"/>
          <p:cNvSpPr/>
          <p:nvPr/>
        </p:nvSpPr>
        <p:spPr>
          <a:xfrm>
            <a:off x="900000" y="4090000"/>
            <a:ext cx="7344000" cy="640000"/>
          </a:xfrm>
          <a:prstGeom prst="rect">
            <a:avLst/>
          </a:prstGeom>
          <a:solidFill>
            <a:srgbClr val="FBF8F2"/>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What does your model establish?</a:t>
            </a:r>
          </a:p>
        </p:txBody>
      </p:sp>
      <p:sp>
        <p:nvSpPr>
          <p:cNvPr id="105" name="S105"/>
          <p:cNvSpPr/>
          <p:nvPr/>
        </p:nvSpPr>
        <p:spPr>
          <a:xfrm>
            <a:off x="900000" y="4850000"/>
            <a:ext cx="7344000" cy="640000"/>
          </a:xfrm>
          <a:prstGeom prst="rect">
            <a:avLst/>
          </a:prstGeom>
          <a:solidFill>
            <a:srgbClr val="F5F1E8"/>
          </a:solidFill>
          <a:ln w="12700">
            <a:solidFill>
              <a:srgbClr val="C9B991"/>
            </a:solidFill>
          </a:ln>
        </p:spPr>
        <p:txBody>
          <a:bodyPr wrap="square" lIns="140000" tIns="45720" rIns="140000" bIns="45720" anchor="ctr">
            <a:normAutofit/>
          </a:bodyPr>
          <a:lstStyle/>
          <a:p>
            <a:pPr algn="l">
              <a:buNone/>
            </a:pPr>
            <a:r>
              <a:rPr lang="en-US" sz="1500" b="1" i="0" dirty="0">
                <a:solidFill>
                  <a:srgbClr val="8E6F3E"/>
                </a:solidFill>
              </a:rPr>
              <a:t xml:space="preserve">✓   </a:t>
            </a:r>
            <a:r>
              <a:rPr lang="en-US" sz="1600" b="0" i="0" dirty="0">
                <a:solidFill>
                  <a:srgbClr val="000000"/>
                </a:solidFill>
              </a:rPr>
              <a:t>Did Design reveal anything that should be escalated?</a:t>
            </a:r>
          </a:p>
        </p:txBody>
      </p:sp>
      <p:sp>
        <p:nvSpPr>
          <p:cNvPr id="106" name="FooterItalic"/>
          <p:cNvSpPr txBox="1"/>
          <p:nvPr/>
        </p:nvSpPr>
        <p:spPr>
          <a:xfrm>
            <a:off x="685800" y="6200000"/>
            <a:ext cx="7772400" cy="34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~6 minutes including selected shares.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8" y="1050000"/>
            <a:ext cx="4589704"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Discovery</a:t>
            </a:r>
          </a:p>
        </p:txBody>
      </p:sp>
      <p:sp>
        <p:nvSpPr>
          <p:cNvPr id="101" name="S101"/>
          <p:cNvSpPr/>
          <p:nvPr/>
        </p:nvSpPr>
        <p:spPr>
          <a:xfrm>
            <a:off x="4866852" y="1050000"/>
            <a:ext cx="4000000" cy="700000"/>
          </a:xfrm>
          <a:prstGeom prst="rect">
            <a:avLst/>
          </a:prstGeom>
          <a:solidFill>
            <a:srgbClr val="8E6F3E"/>
          </a:solidFill>
          <a:ln w="9525">
            <a:solidFill>
              <a:srgbClr val="C9B991"/>
            </a:solidFill>
          </a:ln>
        </p:spPr>
        <p:txBody>
          <a:bodyPr wrap="square" lIns="45720" tIns="45720" rIns="45720" bIns="45720" anchor="ctr">
            <a:normAutofit/>
          </a:bodyPr>
          <a:lstStyle/>
          <a:p>
            <a:pPr algn="ctr">
              <a:buNone/>
            </a:pPr>
            <a:r>
              <a:rPr lang="en-US" sz="1400" b="1" i="0" dirty="0">
                <a:solidFill>
                  <a:srgbClr val="FFFFFF"/>
                </a:solidFill>
              </a:rPr>
              <a:t>What happened?</a:t>
            </a:r>
          </a:p>
        </p:txBody>
      </p:sp>
      <p:sp>
        <p:nvSpPr>
          <p:cNvPr id="102" name="S102"/>
          <p:cNvSpPr/>
          <p:nvPr/>
        </p:nvSpPr>
        <p:spPr>
          <a:xfrm>
            <a:off x="277148" y="17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Already governed</a:t>
            </a:r>
          </a:p>
        </p:txBody>
      </p:sp>
      <p:sp>
        <p:nvSpPr>
          <p:cNvPr id="103" name="S103"/>
          <p:cNvSpPr/>
          <p:nvPr/>
        </p:nvSpPr>
        <p:spPr>
          <a:xfrm>
            <a:off x="4866852" y="17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FOLLOW</a:t>
            </a:r>
          </a:p>
        </p:txBody>
      </p:sp>
      <p:sp>
        <p:nvSpPr>
          <p:cNvPr id="104" name="S104"/>
          <p:cNvSpPr/>
          <p:nvPr/>
        </p:nvSpPr>
        <p:spPr>
          <a:xfrm>
            <a:off x="277148" y="24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Genuinely local</a:t>
            </a:r>
          </a:p>
        </p:txBody>
      </p:sp>
      <p:sp>
        <p:nvSpPr>
          <p:cNvPr id="105" name="S105"/>
          <p:cNvSpPr/>
          <p:nvPr/>
        </p:nvSpPr>
        <p:spPr>
          <a:xfrm>
            <a:off x="4866852" y="24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CHOOSE</a:t>
            </a:r>
          </a:p>
        </p:txBody>
      </p:sp>
      <p:sp>
        <p:nvSpPr>
          <p:cNvPr id="106" name="S106"/>
          <p:cNvSpPr/>
          <p:nvPr/>
        </p:nvSpPr>
        <p:spPr>
          <a:xfrm>
            <a:off x="277148" y="31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Recurring across components</a:t>
            </a:r>
          </a:p>
        </p:txBody>
      </p:sp>
      <p:sp>
        <p:nvSpPr>
          <p:cNvPr id="107" name="S107"/>
          <p:cNvSpPr/>
          <p:nvPr/>
        </p:nvSpPr>
        <p:spPr>
          <a:xfrm>
            <a:off x="4866852" y="31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ENVIRONMENT</a:t>
            </a:r>
          </a:p>
        </p:txBody>
      </p:sp>
      <p:sp>
        <p:nvSpPr>
          <p:cNvPr id="108" name="S108"/>
          <p:cNvSpPr/>
          <p:nvPr/>
        </p:nvSpPr>
        <p:spPr>
          <a:xfrm>
            <a:off x="277148" y="3850000"/>
            <a:ext cx="4589704"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Structural consequence</a:t>
            </a:r>
          </a:p>
        </p:txBody>
      </p:sp>
      <p:sp>
        <p:nvSpPr>
          <p:cNvPr id="109" name="S109"/>
          <p:cNvSpPr/>
          <p:nvPr/>
        </p:nvSpPr>
        <p:spPr>
          <a:xfrm>
            <a:off x="4866852" y="3850000"/>
            <a:ext cx="4000000" cy="700000"/>
          </a:xfrm>
          <a:prstGeom prst="rect">
            <a:avLst/>
          </a:prstGeom>
          <a:solidFill>
            <a:srgbClr val="FFFFFF"/>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ARCHITECTURE</a:t>
            </a:r>
          </a:p>
        </p:txBody>
      </p:sp>
      <p:sp>
        <p:nvSpPr>
          <p:cNvPr id="110" name="S110"/>
          <p:cNvSpPr/>
          <p:nvPr/>
        </p:nvSpPr>
        <p:spPr>
          <a:xfrm>
            <a:off x="277148" y="4550000"/>
            <a:ext cx="4589704"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1" i="0" dirty="0">
                <a:solidFill>
                  <a:srgbClr val="000000"/>
                </a:solidFill>
              </a:rPr>
              <a:t>Missing obligation</a:t>
            </a:r>
          </a:p>
        </p:txBody>
      </p:sp>
      <p:sp>
        <p:nvSpPr>
          <p:cNvPr id="111" name="S111"/>
          <p:cNvSpPr/>
          <p:nvPr/>
        </p:nvSpPr>
        <p:spPr>
          <a:xfrm>
            <a:off x="4866852" y="4550000"/>
            <a:ext cx="4000000" cy="700000"/>
          </a:xfrm>
          <a:prstGeom prst="rect">
            <a:avLst/>
          </a:prstGeom>
          <a:solidFill>
            <a:srgbClr val="FBF8F2"/>
          </a:solidFill>
          <a:ln w="9525">
            <a:solidFill>
              <a:srgbClr val="C9B991"/>
            </a:solidFill>
          </a:ln>
        </p:spPr>
        <p:txBody>
          <a:bodyPr wrap="square" lIns="45720" tIns="45720" rIns="45720" bIns="45720" anchor="ctr">
            <a:normAutofit/>
          </a:bodyPr>
          <a:lstStyle/>
          <a:p>
            <a:pPr algn="ctr">
              <a:buNone/>
            </a:pPr>
            <a:r>
              <a:rPr lang="en-US" sz="1400" b="0" i="0" dirty="0">
                <a:solidFill>
                  <a:srgbClr val="000000"/>
                </a:solidFill>
              </a:rPr>
              <a:t>SPECIFICATION</a:t>
            </a:r>
          </a:p>
        </p:txBody>
      </p:sp>
      <p:sp>
        <p:nvSpPr>
          <p:cNvPr id="112" name="FooterBand"/>
          <p:cNvSpPr/>
          <p:nvPr/>
        </p:nvSpPr>
        <p:spPr>
          <a:xfrm>
            <a:off x="685800" y="6170000"/>
            <a:ext cx="7772400" cy="36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Specification → Architecture → Design →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700000" y="920000"/>
            <a:ext cx="4300000" cy="620000"/>
          </a:xfrm>
          <a:prstGeom prst="rect">
            <a:avLst/>
          </a:prstGeom>
          <a:solidFill>
            <a:srgbClr val="F5F1E8"/>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REQUIREMENTS</a:t>
            </a:r>
          </a:p>
        </p:txBody>
      </p:sp>
      <p:cxnSp>
        <p:nvCxnSpPr>
          <p:cNvPr id="101" name="L101"/>
          <p:cNvCxnSpPr/>
          <p:nvPr/>
        </p:nvCxnSpPr>
        <p:spPr>
          <a:xfrm>
            <a:off x="2850000" y="1550000"/>
            <a:ext cx="0" cy="200000"/>
          </a:xfrm>
          <a:prstGeom prst="straightConnector1">
            <a:avLst/>
          </a:prstGeom>
          <a:ln w="38100">
            <a:solidFill>
              <a:srgbClr val="8E6F3E"/>
            </a:solidFill>
            <a:tailEnd type="triangle" w="med" len="med"/>
          </a:ln>
        </p:spPr>
      </p:cxnSp>
      <p:sp>
        <p:nvSpPr>
          <p:cNvPr id="102" name="S102"/>
          <p:cNvSpPr/>
          <p:nvPr/>
        </p:nvSpPr>
        <p:spPr>
          <a:xfrm>
            <a:off x="700000" y="17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SPECIFICATION</a:t>
            </a:r>
          </a:p>
          <a:p>
            <a:pPr algn="ctr">
              <a:spcBef>
                <a:spcPts val="60"/>
              </a:spcBef>
              <a:buNone/>
            </a:pPr>
            <a:r>
              <a:rPr lang="en-US" sz="1200" b="0" i="1" dirty="0">
                <a:solidFill>
                  <a:srgbClr val="FFFFFF"/>
                </a:solidFill>
              </a:rPr>
              <a:t>acceptable realization space</a:t>
            </a:r>
          </a:p>
        </p:txBody>
      </p:sp>
      <p:cxnSp>
        <p:nvCxnSpPr>
          <p:cNvPr id="103" name="L103"/>
          <p:cNvCxnSpPr/>
          <p:nvPr/>
        </p:nvCxnSpPr>
        <p:spPr>
          <a:xfrm>
            <a:off x="2850000" y="2400000"/>
            <a:ext cx="0" cy="200000"/>
          </a:xfrm>
          <a:prstGeom prst="straightConnector1">
            <a:avLst/>
          </a:prstGeom>
          <a:ln w="38100">
            <a:solidFill>
              <a:srgbClr val="8E6F3E"/>
            </a:solidFill>
            <a:tailEnd type="triangle" w="med" len="med"/>
          </a:ln>
        </p:spPr>
      </p:cxnSp>
      <p:sp>
        <p:nvSpPr>
          <p:cNvPr id="104" name="S104"/>
          <p:cNvSpPr/>
          <p:nvPr/>
        </p:nvSpPr>
        <p:spPr>
          <a:xfrm>
            <a:off x="700000" y="262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ARCHITECTURE</a:t>
            </a:r>
          </a:p>
          <a:p>
            <a:pPr algn="ctr">
              <a:spcBef>
                <a:spcPts val="60"/>
              </a:spcBef>
              <a:buNone/>
            </a:pPr>
            <a:r>
              <a:rPr lang="en-US" sz="1200" b="0" i="1" dirty="0">
                <a:solidFill>
                  <a:srgbClr val="FFFFFF"/>
                </a:solidFill>
              </a:rPr>
              <a:t>coarse parts + constraints</a:t>
            </a:r>
          </a:p>
        </p:txBody>
      </p:sp>
      <p:cxnSp>
        <p:nvCxnSpPr>
          <p:cNvPr id="105" name="L105"/>
          <p:cNvCxnSpPr/>
          <p:nvPr/>
        </p:nvCxnSpPr>
        <p:spPr>
          <a:xfrm>
            <a:off x="2850000" y="3250000"/>
            <a:ext cx="0" cy="200000"/>
          </a:xfrm>
          <a:prstGeom prst="straightConnector1">
            <a:avLst/>
          </a:prstGeom>
          <a:ln w="38100">
            <a:solidFill>
              <a:srgbClr val="8E6F3E"/>
            </a:solidFill>
            <a:tailEnd type="triangle" w="med" len="med"/>
          </a:ln>
        </p:spPr>
      </p:cxnSp>
      <p:sp>
        <p:nvSpPr>
          <p:cNvPr id="106" name="S106"/>
          <p:cNvSpPr/>
          <p:nvPr/>
        </p:nvSpPr>
        <p:spPr>
          <a:xfrm>
            <a:off x="700000" y="34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DESIGN</a:t>
            </a:r>
          </a:p>
          <a:p>
            <a:pPr algn="ctr">
              <a:spcBef>
                <a:spcPts val="60"/>
              </a:spcBef>
              <a:buNone/>
            </a:pPr>
            <a:r>
              <a:rPr lang="en-US" sz="1200" b="0" i="1" dirty="0">
                <a:solidFill>
                  <a:srgbClr val="FFFFFF"/>
                </a:solidFill>
              </a:rPr>
              <a:t>smaller parts + mechanisms</a:t>
            </a:r>
          </a:p>
        </p:txBody>
      </p:sp>
      <p:cxnSp>
        <p:nvCxnSpPr>
          <p:cNvPr id="107" name="L107"/>
          <p:cNvCxnSpPr/>
          <p:nvPr/>
        </p:nvCxnSpPr>
        <p:spPr>
          <a:xfrm>
            <a:off x="2850000" y="4100000"/>
            <a:ext cx="0" cy="200000"/>
          </a:xfrm>
          <a:prstGeom prst="straightConnector1">
            <a:avLst/>
          </a:prstGeom>
          <a:ln w="38100">
            <a:solidFill>
              <a:srgbClr val="8E6F3E"/>
            </a:solidFill>
            <a:tailEnd type="triangle" w="med" len="med"/>
          </a:ln>
        </p:spPr>
      </p:cxnSp>
      <p:sp>
        <p:nvSpPr>
          <p:cNvPr id="108" name="S108"/>
          <p:cNvSpPr/>
          <p:nvPr/>
        </p:nvSpPr>
        <p:spPr>
          <a:xfrm>
            <a:off x="700000" y="4320000"/>
            <a:ext cx="4300000" cy="620000"/>
          </a:xfrm>
          <a:prstGeom prst="rect">
            <a:avLst/>
          </a:prstGeom>
          <a:solidFill>
            <a:srgbClr val="FBF8F2"/>
          </a:solidFill>
          <a:ln w="12700">
            <a:solidFill>
              <a:srgbClr val="C9B991"/>
            </a:solidFill>
          </a:ln>
        </p:spPr>
        <p:txBody>
          <a:bodyPr wrap="square" lIns="91440" tIns="45720" rIns="91440" bIns="45720" anchor="ctr">
            <a:normAutofit/>
          </a:bodyPr>
          <a:lstStyle/>
          <a:p>
            <a:pPr algn="ctr">
              <a:buNone/>
            </a:pPr>
            <a:r>
              <a:rPr lang="en-US" sz="1500" b="1" i="0" dirty="0">
                <a:solidFill>
                  <a:srgbClr val="5C4826"/>
                </a:solidFill>
              </a:rPr>
              <a:t>DESIGN / ARCHITECTURE</a:t>
            </a:r>
          </a:p>
          <a:p>
            <a:pPr algn="ctr">
              <a:spcBef>
                <a:spcPts val="60"/>
              </a:spcBef>
              <a:buNone/>
            </a:pPr>
            <a:r>
              <a:rPr lang="en-US" sz="1200" b="0" i="1" dirty="0">
                <a:solidFill>
                  <a:srgbClr val="555960"/>
                </a:solidFill>
              </a:rPr>
              <a:t>recurse</a:t>
            </a:r>
          </a:p>
        </p:txBody>
      </p:sp>
      <p:cxnSp>
        <p:nvCxnSpPr>
          <p:cNvPr id="109" name="L109"/>
          <p:cNvCxnSpPr/>
          <p:nvPr/>
        </p:nvCxnSpPr>
        <p:spPr>
          <a:xfrm>
            <a:off x="2850000" y="4950000"/>
            <a:ext cx="0" cy="200000"/>
          </a:xfrm>
          <a:prstGeom prst="straightConnector1">
            <a:avLst/>
          </a:prstGeom>
          <a:ln w="38100">
            <a:solidFill>
              <a:srgbClr val="8E6F3E"/>
            </a:solidFill>
            <a:tailEnd type="triangle" w="med" len="med"/>
          </a:ln>
        </p:spPr>
      </p:cxnSp>
      <p:sp>
        <p:nvSpPr>
          <p:cNvPr id="110" name="S110"/>
          <p:cNvSpPr/>
          <p:nvPr/>
        </p:nvSpPr>
        <p:spPr>
          <a:xfrm>
            <a:off x="700000" y="5170000"/>
            <a:ext cx="4300000" cy="620000"/>
          </a:xfrm>
          <a:prstGeom prst="rect">
            <a:avLst/>
          </a:prstGeom>
          <a:solidFill>
            <a:srgbClr val="8E6F3E"/>
          </a:solidFill>
          <a:ln>
            <a:noFill/>
          </a:ln>
        </p:spPr>
        <p:txBody>
          <a:bodyPr wrap="square" lIns="91440" tIns="45720" rIns="91440" bIns="45720" anchor="ctr">
            <a:normAutofit/>
          </a:bodyPr>
          <a:lstStyle/>
          <a:p>
            <a:pPr algn="ctr">
              <a:buNone/>
            </a:pPr>
            <a:r>
              <a:rPr lang="en-US" sz="1500" b="1" i="0" dirty="0">
                <a:solidFill>
                  <a:srgbClr val="FFFFFF"/>
                </a:solidFill>
              </a:rPr>
              <a:t>IMPLEMENTATION</a:t>
            </a:r>
          </a:p>
          <a:p>
            <a:pPr algn="ctr">
              <a:spcBef>
                <a:spcPts val="60"/>
              </a:spcBef>
              <a:buNone/>
            </a:pPr>
            <a:r>
              <a:rPr lang="en-US" sz="1200" b="0" i="1" dirty="0">
                <a:solidFill>
                  <a:srgbClr val="FFFFFF"/>
                </a:solidFill>
              </a:rPr>
              <a:t>directly-reasonable entities</a:t>
            </a:r>
          </a:p>
        </p:txBody>
      </p:sp>
      <p:cxnSp>
        <p:nvCxnSpPr>
          <p:cNvPr id="111" name="L111"/>
          <p:cNvCxnSpPr/>
          <p:nvPr/>
        </p:nvCxnSpPr>
        <p:spPr>
          <a:xfrm flipV="1">
            <a:off x="5250000" y="1240000"/>
            <a:ext cx="0" cy="4200000"/>
          </a:xfrm>
          <a:prstGeom prst="straightConnector1">
            <a:avLst/>
          </a:prstGeom>
          <a:ln w="25400">
            <a:solidFill>
              <a:srgbClr val="8E6F3E"/>
            </a:solidFill>
            <a:tailEnd type="triangle" w="med" len="med"/>
          </a:ln>
        </p:spPr>
      </p:cxnSp>
      <p:sp>
        <p:nvSpPr>
          <p:cNvPr id="112" name="Evid"/>
          <p:cNvSpPr txBox="1"/>
          <p:nvPr/>
        </p:nvSpPr>
        <p:spPr>
          <a:xfrm>
            <a:off x="5380000" y="3000000"/>
            <a:ext cx="900000" cy="600000"/>
          </a:xfrm>
          <a:prstGeom prst="rect">
            <a:avLst/>
          </a:prstGeom>
          <a:noFill/>
          <a:ln>
            <a:noFill/>
          </a:ln>
        </p:spPr>
        <p:txBody>
          <a:bodyPr wrap="square" lIns="0" tIns="0" rIns="0" bIns="0" anchor="t">
            <a:normAutofit/>
          </a:bodyPr>
          <a:lstStyle/>
          <a:p>
            <a:pPr algn="l">
              <a:buNone/>
            </a:pPr>
            <a:r>
              <a:rPr lang="en-US" sz="1300" b="1" i="1" dirty="0">
                <a:solidFill>
                  <a:srgbClr val="8E6F3E"/>
                </a:solidFill>
              </a:rPr>
              <a:t>evidence ↑</a:t>
            </a:r>
          </a:p>
        </p:txBody>
      </p:sp>
      <p:sp>
        <p:nvSpPr>
          <p:cNvPr id="113" name="Sum"/>
          <p:cNvSpPr txBox="1"/>
          <p:nvPr/>
        </p:nvSpPr>
        <p:spPr>
          <a:xfrm>
            <a:off x="6420000" y="15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Specification</a:t>
            </a:r>
          </a:p>
          <a:p>
            <a:pPr algn="l">
              <a:spcBef>
                <a:spcPts val="60"/>
              </a:spcBef>
              <a:buNone/>
            </a:pPr>
            <a:r>
              <a:rPr lang="en-US" sz="1300" b="0" i="0" dirty="0">
                <a:solidFill>
                  <a:srgbClr val="000000"/>
                </a:solidFill>
              </a:rPr>
              <a:t>constrain what an acceptable system may do</a:t>
            </a:r>
          </a:p>
        </p:txBody>
      </p:sp>
      <p:sp>
        <p:nvSpPr>
          <p:cNvPr id="114" name="Sum"/>
          <p:cNvSpPr txBox="1"/>
          <p:nvPr/>
        </p:nvSpPr>
        <p:spPr>
          <a:xfrm>
            <a:off x="6420000" y="295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Architecture</a:t>
            </a:r>
          </a:p>
          <a:p>
            <a:pPr algn="l">
              <a:spcBef>
                <a:spcPts val="60"/>
              </a:spcBef>
              <a:buNone/>
            </a:pPr>
            <a:r>
              <a:rPr lang="en-US" sz="1300" b="0" i="0" dirty="0">
                <a:solidFill>
                  <a:srgbClr val="000000"/>
                </a:solidFill>
              </a:rPr>
              <a:t>choose how an acceptable system is organized</a:t>
            </a:r>
          </a:p>
        </p:txBody>
      </p:sp>
      <p:sp>
        <p:nvSpPr>
          <p:cNvPr id="115" name="Sum"/>
          <p:cNvSpPr txBox="1"/>
          <p:nvPr/>
        </p:nvSpPr>
        <p:spPr>
          <a:xfrm>
            <a:off x="6420000" y="4400000"/>
            <a:ext cx="2650000" cy="900000"/>
          </a:xfrm>
          <a:prstGeom prst="rect">
            <a:avLst/>
          </a:prstGeom>
          <a:noFill/>
          <a:ln>
            <a:noFill/>
          </a:ln>
        </p:spPr>
        <p:txBody>
          <a:bodyPr wrap="square" lIns="0" tIns="0" rIns="0" bIns="0" anchor="t">
            <a:normAutofit/>
          </a:bodyPr>
          <a:lstStyle/>
          <a:p>
            <a:pPr algn="l">
              <a:buNone/>
            </a:pPr>
            <a:r>
              <a:rPr lang="en-US" sz="1500" b="1" i="0" dirty="0">
                <a:solidFill>
                  <a:srgbClr val="5C4826"/>
                </a:solidFill>
              </a:rPr>
              <a:t>Design</a:t>
            </a:r>
          </a:p>
          <a:p>
            <a:pPr algn="l">
              <a:spcBef>
                <a:spcPts val="60"/>
              </a:spcBef>
              <a:buNone/>
            </a:pPr>
            <a:r>
              <a:rPr lang="en-US" sz="1300" b="0" i="0" dirty="0">
                <a:solidFill>
                  <a:srgbClr val="000000"/>
                </a:solidFill>
              </a:rPr>
              <a:t>choose how each part realizes its responsibility</a:t>
            </a:r>
          </a:p>
        </p:txBody>
      </p:sp>
    </p:spTree>
  </p:cSld>
  <p:clrMapOvr>
    <a:masterClrMapping/>
  </p:clrMapOvr>
</p:sld>
</file>

<file path=ppt/slides/slide36.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constrains the tactics. Design tests the strategy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1000000"/>
            <a:ext cx="3600000" cy="720000"/>
          </a:xfrm>
          <a:prstGeom prst="rect">
            <a:avLst/>
          </a:prstGeom>
          <a:solidFill>
            <a:srgbClr val="8E6F3E"/>
          </a:solidFill>
          <a:ln>
            <a:noFill/>
          </a:ln>
        </p:spPr>
        <p:txBody>
          <a:bodyPr wrap="square" lIns="91440" tIns="45720" rIns="91440" bIns="45720" anchor="ctr">
            <a:normAutofit/>
          </a:bodyPr>
          <a:lstStyle/>
          <a:p>
            <a:pPr algn="ctr">
              <a:buNone/>
            </a:pPr>
            <a:r>
              <a:rPr lang="en-US" sz="1800" b="1" i="0" dirty="0">
                <a:solidFill>
                  <a:srgbClr val="FFFFFF"/>
                </a:solidFill>
              </a:rPr>
              <a:t>ARCHITECTURE</a:t>
            </a:r>
          </a:p>
          <a:p>
            <a:pPr algn="ctr">
              <a:spcBef>
                <a:spcPts val="60"/>
              </a:spcBef>
              <a:buNone/>
            </a:pPr>
            <a:r>
              <a:rPr lang="en-US" sz="1400" b="0" i="1" dirty="0">
                <a:solidFill>
                  <a:srgbClr val="FFFFFF"/>
                </a:solidFill>
              </a:rPr>
              <a:t>strategy</a:t>
            </a:r>
          </a:p>
        </p:txBody>
      </p:sp>
      <p:cxnSp>
        <p:nvCxnSpPr>
          <p:cNvPr id="101" name="L101"/>
          <p:cNvCxnSpPr/>
          <p:nvPr/>
        </p:nvCxnSpPr>
        <p:spPr>
          <a:xfrm>
            <a:off x="4572000" y="1740000"/>
            <a:ext cx="0" cy="260000"/>
          </a:xfrm>
          <a:prstGeom prst="straightConnector1">
            <a:avLst/>
          </a:prstGeom>
          <a:ln w="38100">
            <a:solidFill>
              <a:srgbClr val="8E6F3E"/>
            </a:solidFill>
            <a:tailEnd type="triangle" w="med" len="med"/>
          </a:ln>
        </p:spPr>
      </p:cxnSp>
      <p:sp>
        <p:nvSpPr>
          <p:cNvPr id="102" name="CA"/>
          <p:cNvSpPr txBox="1"/>
          <p:nvPr/>
        </p:nvSpPr>
        <p:spPr>
          <a:xfrm>
            <a:off x="277148" y="202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constraints · affordances</a:t>
            </a:r>
          </a:p>
        </p:txBody>
      </p:sp>
      <p:cxnSp>
        <p:nvCxnSpPr>
          <p:cNvPr id="103" name="L103"/>
          <p:cNvCxnSpPr/>
          <p:nvPr/>
        </p:nvCxnSpPr>
        <p:spPr>
          <a:xfrm>
            <a:off x="4572000" y="2360000"/>
            <a:ext cx="0" cy="260000"/>
          </a:xfrm>
          <a:prstGeom prst="straightConnector1">
            <a:avLst/>
          </a:prstGeom>
          <a:ln w="38100">
            <a:solidFill>
              <a:srgbClr val="8E6F3E"/>
            </a:solidFill>
            <a:tailEnd type="triangle" w="med" len="med"/>
          </a:ln>
        </p:spPr>
      </p:cxnSp>
      <p:sp>
        <p:nvSpPr>
          <p:cNvPr id="104" name="S104"/>
          <p:cNvSpPr/>
          <p:nvPr/>
        </p:nvSpPr>
        <p:spPr>
          <a:xfrm>
            <a:off x="2772000" y="2640000"/>
            <a:ext cx="3600000" cy="720000"/>
          </a:xfrm>
          <a:prstGeom prst="rect">
            <a:avLst/>
          </a:prstGeom>
          <a:solidFill>
            <a:srgbClr val="F5F1E8"/>
          </a:solidFill>
          <a:ln w="19050">
            <a:solidFill>
              <a:srgbClr val="5C4826"/>
            </a:solidFill>
          </a:ln>
        </p:spPr>
        <p:txBody>
          <a:bodyPr wrap="square" lIns="91440" tIns="45720" rIns="91440" bIns="45720" anchor="ctr">
            <a:normAutofit/>
          </a:bodyPr>
          <a:lstStyle/>
          <a:p>
            <a:pPr algn="ctr">
              <a:buNone/>
            </a:pPr>
            <a:r>
              <a:rPr lang="en-US" sz="1800" b="1" i="0" dirty="0">
                <a:solidFill>
                  <a:srgbClr val="5C4826"/>
                </a:solidFill>
              </a:rPr>
              <a:t>DESIGN</a:t>
            </a:r>
          </a:p>
          <a:p>
            <a:pPr algn="ctr">
              <a:spcBef>
                <a:spcPts val="60"/>
              </a:spcBef>
              <a:buNone/>
            </a:pPr>
            <a:r>
              <a:rPr lang="en-US" sz="1400" b="0" i="1" dirty="0">
                <a:solidFill>
                  <a:srgbClr val="5C4826"/>
                </a:solidFill>
              </a:rPr>
              <a:t>tactics</a:t>
            </a:r>
          </a:p>
        </p:txBody>
      </p:sp>
      <p:cxnSp>
        <p:nvCxnSpPr>
          <p:cNvPr id="105" name="L105"/>
          <p:cNvCxnSpPr/>
          <p:nvPr/>
        </p:nvCxnSpPr>
        <p:spPr>
          <a:xfrm>
            <a:off x="4572000" y="3380000"/>
            <a:ext cx="0" cy="260000"/>
          </a:xfrm>
          <a:prstGeom prst="straightConnector1">
            <a:avLst/>
          </a:prstGeom>
          <a:ln w="38100">
            <a:solidFill>
              <a:srgbClr val="8E6F3E"/>
            </a:solidFill>
            <a:tailEnd type="triangle" w="med" len="med"/>
          </a:ln>
        </p:spPr>
      </p:cxnSp>
      <p:sp>
        <p:nvSpPr>
          <p:cNvPr id="106" name="Ev"/>
          <p:cNvSpPr txBox="1"/>
          <p:nvPr/>
        </p:nvSpPr>
        <p:spPr>
          <a:xfrm>
            <a:off x="277148" y="3660000"/>
            <a:ext cx="8589704" cy="320000"/>
          </a:xfrm>
          <a:prstGeom prst="rect">
            <a:avLst/>
          </a:prstGeom>
          <a:noFill/>
          <a:ln>
            <a:noFill/>
          </a:ln>
        </p:spPr>
        <p:txBody>
          <a:bodyPr wrap="square" lIns="0" tIns="0" rIns="0" bIns="0" anchor="t">
            <a:normAutofit/>
          </a:bodyPr>
          <a:lstStyle/>
          <a:p>
            <a:pPr algn="ctr">
              <a:buNone/>
            </a:pPr>
            <a:r>
              <a:rPr lang="en-US" sz="1400" b="0" i="1" dirty="0">
                <a:solidFill>
                  <a:srgbClr val="8E6F3E"/>
                </a:solidFill>
              </a:rPr>
              <a:t>evidence</a:t>
            </a:r>
          </a:p>
        </p:txBody>
      </p:sp>
      <p:cxnSp>
        <p:nvCxnSpPr>
          <p:cNvPr id="107" name="L107"/>
          <p:cNvCxnSpPr/>
          <p:nvPr/>
        </p:nvCxnSpPr>
        <p:spPr>
          <a:xfrm>
            <a:off x="6372000" y="1360000"/>
            <a:ext cx="228000" cy="2620000"/>
          </a:xfrm>
          <a:prstGeom prst="bentConnector2">
            <a:avLst/>
          </a:prstGeom>
          <a:ln w="25400">
            <a:solidFill>
              <a:srgbClr val="8E6F3E"/>
            </a:solidFill>
            <a:headEnd type="triangle" w="med" len="med"/>
          </a:ln>
        </p:spPr>
      </p:cxnSp>
      <p:sp>
        <p:nvSpPr>
          <p:cNvPr id="108" name="Final"/>
          <p:cNvSpPr txBox="1"/>
          <p:nvPr/>
        </p:nvSpPr>
        <p:spPr>
          <a:xfrm>
            <a:off x="277148" y="4250000"/>
            <a:ext cx="8589704" cy="1000000"/>
          </a:xfrm>
          <a:prstGeom prst="rect">
            <a:avLst/>
          </a:prstGeom>
          <a:noFill/>
          <a:ln>
            <a:noFill/>
          </a:ln>
        </p:spPr>
        <p:txBody>
          <a:bodyPr wrap="square" lIns="0" tIns="0" rIns="0" bIns="0" anchor="t">
            <a:normAutofit/>
          </a:bodyPr>
          <a:lstStyle/>
          <a:p>
            <a:pPr algn="ctr">
              <a:buNone/>
            </a:pPr>
            <a:r>
              <a:rPr lang="en-US" sz="2000" b="1" i="0" dirty="0">
                <a:solidFill>
                  <a:srgbClr val="000000"/>
                </a:solidFill>
              </a:rPr>
              <a:t>Architecture constrains the available tactics.</a:t>
            </a:r>
          </a:p>
          <a:p>
            <a:pPr algn="ctr">
              <a:spcBef>
                <a:spcPts val="140"/>
              </a:spcBef>
              <a:buNone/>
            </a:pPr>
            <a:r>
              <a:rPr lang="en-US" sz="2000" b="1" i="0" dirty="0">
                <a:solidFill>
                  <a:srgbClr val="000000"/>
                </a:solidFill>
              </a:rPr>
              <a:t>Design tests whether the strategy is workable.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