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601" r:id="rId101"/>
    <p:sldId id="602" r:id="rId102"/>
    <p:sldId id="603" r:id="rId103"/>
    <p:sldId id="604" r:id="rId104"/>
    <p:sldId id="605" r:id="rId105"/>
    <p:sldId id="606" r:id="rId106"/>
    <p:sldId id="607" r:id="rId107"/>
    <p:sldId id="608" r:id="rId108"/>
    <p:sldId id="609" r:id="rId109"/>
    <p:sldId id="610" r:id="rId110"/>
    <p:sldId id="611" r:id="rId111"/>
    <p:sldId id="612" r:id="rId112"/>
    <p:sldId id="613" r:id="rId113"/>
    <p:sldId id="614" r:id="rId114"/>
    <p:sldId id="615" r:id="rId115"/>
    <p:sldId id="616" r:id="rId116"/>
    <p:sldId id="617" r:id="rId117"/>
    <p:sldId id="618" r:id="rId118"/>
    <p:sldId id="619" r:id="rId119"/>
    <p:sldId id="620" r:id="rId120"/>
    <p:sldId id="621" r:id="rId121"/>
    <p:sldId id="622" r:id="rId122"/>
    <p:sldId id="623" r:id="rId123"/>
    <p:sldId id="624" r:id="rId124"/>
    <p:sldId id="625" r:id="rId125"/>
    <p:sldId id="626" r:id="rId126"/>
    <p:sldId id="627" r:id="rId127"/>
    <p:sldId id="628" r:id="rId128"/>
    <p:sldId id="629" r:id="rId129"/>
    <p:sldId id="630" r:id="rId130"/>
    <p:sldId id="631" r:id="rId131"/>
    <p:sldId id="632" r:id="rId132"/>
    <p:sldId id="633" r:id="rId133"/>
    <p:sldId id="634" r:id="rId134"/>
    <p:sldId id="635" r:id="rId135"/>
    <p:sldId id="636" r:id="rId1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theme" Target="theme/theme1.xml"/><Relationship Id="rId33" Type="http://schemas.openxmlformats.org/officeDocument/2006/relationships/viewProps" Target="viewProps.xml"/><Relationship Id="rId1" Type="http://schemas.openxmlformats.org/officeDocument/2006/relationships/slideMaster" Target="slideMasters/slideMaster1.xml"/><Relationship Id="rId32" Type="http://schemas.openxmlformats.org/officeDocument/2006/relationships/presProps" Target="presProps.xml"/><Relationship Id="rId31" Type="http://schemas.openxmlformats.org/officeDocument/2006/relationships/notesMaster" Target="notesMasters/notesMaster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6" Type="http://schemas.openxmlformats.org/officeDocument/2006/relationships/slide" Target="slides/slide3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Last time we chose how one acceptable system should be organized. We ended with major parts, boundaries, responsibilities, interfaces, and rules governing interaction.</a:t>
            </a:r>
          </a:p>
          <a:p>
            <a:endParaRPr dirty="0"/>
          </a:p>
          <a:p>
            <a:r>
              <a:rPr dirty="0"/>
              <a:t>But look at one of those parts. We know what responsibility it has. We know how the rest of the system is allowed to interact with it. We still have not said how it actually does its job.</a:t>
            </a:r>
          </a:p>
          <a:p>
            <a:endParaRPr dirty="0"/>
          </a:p>
          <a:p>
            <a:r>
              <a:rPr dirty="0"/>
              <a:t>That is today's engineering problem. Given one of the parts produced by Architecture, how should we engineer its internals so that it realizes the responsibility we assigned to it?</a:t>
            </a:r>
          </a:p>
          <a:p>
            <a:endParaRPr dirty="0"/>
          </a:p>
          <a:p>
            <a:r>
              <a:rPr dirty="0"/>
              <a:t>That is Design.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There is an immediate problem with saying Design works “inside the box.”</a:t>
            </a:r>
          </a:p>
          <a:p>
            <a:endParaRPr dirty="0"/>
          </a:p>
          <a:p>
            <a:r>
              <a:rPr dirty="0"/>
              <a:t>We open the box and discover more boxes.</a:t>
            </a:r>
          </a:p>
          <a:p>
            <a:endParaRPr dirty="0"/>
          </a:p>
          <a:p>
            <a:r>
              <a:rPr dirty="0"/>
              <a:t>ANIMATE</a:t>
            </a:r>
          </a:p>
          <a:p>
            <a:endParaRPr dirty="0"/>
          </a:p>
          <a:p>
            <a:r>
              <a:rPr dirty="0"/>
              <a:t>And sometimes one of those boxes is still substantial enough that we need to organize it before we can sensibly implement it.</a:t>
            </a:r>
          </a:p>
          <a:p>
            <a:endParaRPr dirty="0"/>
          </a:p>
          <a:p>
            <a:r>
              <a:rPr dirty="0"/>
              <a:t>ANIMATE</a:t>
            </a:r>
          </a:p>
          <a:p>
            <a:endParaRPr dirty="0"/>
          </a:p>
          <a:p>
            <a:r>
              <a:rPr dirty="0"/>
              <a:t>We can keep doing this.</a:t>
            </a:r>
          </a:p>
          <a:p>
            <a:endParaRPr dirty="0"/>
          </a:p>
          <a:p>
            <a:r>
              <a:rPr dirty="0"/>
              <a:t>But not forever. Eventually we reach objects, functions, data structures, algorithms, or small collaborations that we can reason about directly.</a:t>
            </a:r>
          </a:p>
          <a:p>
            <a:endParaRPr dirty="0"/>
          </a:p>
          <a:p>
            <a:r>
              <a:rPr dirty="0"/>
              <a:t>I am deliberately not going to explain where the dividing lines are yet. That is our first problem today.</a:t>
            </a:r>
          </a:p>
          <a:p>
            <a:endParaRPr dirty="0"/>
          </a:p>
          <a:p>
            <a:r>
              <a:rPr dirty="0"/>
              <a:t>Excellent transition into Section 1.</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15–20 seconds only.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deliberately let us ignore this component's internals. That compression was useful: we could reason about system-wide structure without simultaneously reasoning about every object and function.</a:t>
            </a:r>
          </a:p>
          <a:p>
            <a:endParaRPr dirty="0"/>
          </a:p>
          <a:p>
            <a:r>
              <a:rPr dirty="0"/>
              <a:t>Design removes that abstraction boundary for us.</a:t>
            </a:r>
          </a:p>
          <a:p>
            <a:endParaRPr dirty="0"/>
          </a:p>
          <a:p>
            <a:r>
              <a:rPr dirty="0"/>
              <a:t>ANIMATE</a:t>
            </a:r>
          </a:p>
          <a:p>
            <a:endParaRPr dirty="0"/>
          </a:p>
          <a:p>
            <a:r>
              <a:rPr dirty="0"/>
              <a:t>The responsibility does not disappear. The interface does not disappear. The obligations that motivated them do not disappear.</a:t>
            </a:r>
          </a:p>
          <a:p>
            <a:endParaRPr dirty="0"/>
          </a:p>
          <a:p>
            <a:r>
              <a:rPr dirty="0"/>
              <a:t>What changes is that the inside is now our engineering problem.</a:t>
            </a:r>
          </a:p>
          <a:p>
            <a:endParaRPr dirty="0"/>
          </a:p>
          <a:p>
            <a:r>
              <a:rPr dirty="0"/>
              <a:t>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Two sources should now be familiar. The Specification tells us what must remain true. Architecture tells us what this part is responsible for and how it fits into the larger strategy.</a:t>
            </a:r>
          </a:p>
          <a:p>
            <a:endParaRPr dirty="0"/>
          </a:p>
          <a:p>
            <a:r>
              <a:rPr dirty="0"/>
              <a:t>But there is a third source engineers often leave implicit: the engineering environment.</a:t>
            </a:r>
          </a:p>
          <a:p>
            <a:endParaRPr dirty="0"/>
          </a:p>
          <a:p>
            <a:r>
              <a:rPr dirty="0"/>
              <a:t>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Those are not necessarily facts we would put on the architecture diagram. But they mean the designer is not choosing from the entire universe of software mechanisms.</a:t>
            </a:r>
          </a:p>
          <a:p>
            <a:endParaRPr dirty="0"/>
          </a:p>
          <a:p>
            <a:r>
              <a:rPr dirty="0"/>
              <a:t>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Remember Degrees of Freedom from Specification. Every consequential decision removes alternatives from the realization space.</a:t>
            </a:r>
          </a:p>
          <a:p>
            <a:endParaRPr dirty="0"/>
          </a:p>
          <a:p>
            <a:r>
              <a:rPr dirty="0"/>
              <a:t>The same idea now applies inside one component.</a:t>
            </a:r>
          </a:p>
          <a:p>
            <a:endParaRPr dirty="0"/>
          </a:p>
          <a:p>
            <a:r>
              <a:rPr dirty="0"/>
              <a:t>Specification removes choices inconsistent with our obligations. Architecture removes choices inconsistent with the system strategy. The engineering environment removes choices the organization has already standardized.</a:t>
            </a:r>
          </a:p>
          <a:p>
            <a:endParaRPr dirty="0"/>
          </a:p>
          <a:p>
            <a:r>
              <a:rPr dirty="0"/>
              <a:t>What remains is the local Design space.</a:t>
            </a:r>
          </a:p>
          <a:p>
            <a:endParaRPr dirty="0"/>
          </a:p>
          <a:p>
            <a:r>
              <a:rPr dirty="0"/>
              <a:t>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If the engineering environment already provides the retry mechanism, follow it. Reinventing retries inside this component is not Design creativity.</a:t>
            </a:r>
          </a:p>
          <a:p>
            <a:endParaRPr dirty="0"/>
          </a:p>
          <a:p>
            <a:r>
              <a:rPr dirty="0"/>
              <a:t>If two internal data structures satisfy every inherited property and nothing outside this component cares, choose locally.</a:t>
            </a:r>
          </a:p>
          <a:p>
            <a:endParaRPr dirty="0"/>
          </a:p>
          <a:p>
            <a:r>
              <a:rPr dirty="0"/>
              <a:t>But suppose whether we use synchronous or asynchronous coordination changes a system-wide consistency property. That question may have looked open only because Architecture failed to settle something consequential.</a:t>
            </a:r>
          </a:p>
          <a:p>
            <a:endParaRPr dirty="0"/>
          </a:p>
          <a:p>
            <a:r>
              <a:rPr dirty="0"/>
              <a:t>Design therefore has three moves: follow, choose, or escalate.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gives us the cleanest relationship between the two activities.</a:t>
            </a:r>
          </a:p>
          <a:p>
            <a:endParaRPr dirty="0"/>
          </a:p>
          <a:p>
            <a:r>
              <a:rPr dirty="0"/>
              <a:t>Architecture establishes strategy. Design chooses tactics within it.</a:t>
            </a:r>
          </a:p>
          <a:p>
            <a:endParaRPr dirty="0"/>
          </a:p>
          <a:p>
            <a:r>
              <a:rPr dirty="0"/>
              <a:t>But do not translate that into “Architecture is always high-level and Design is always low-level.” The relationship is recursive.</a:t>
            </a:r>
          </a:p>
          <a:p>
            <a:endParaRPr dirty="0"/>
          </a:p>
          <a:p>
            <a:r>
              <a:rPr dirty="0"/>
              <a:t>A subsystem is tactical relative to the system architecture. But if that subsystem is itself too substantial to reason about directly, we may establish an architecture for it before designing its internal parts.</a:t>
            </a:r>
          </a:p>
          <a:p>
            <a:endParaRPr dirty="0"/>
          </a:p>
          <a:p>
            <a:r>
              <a:rPr dirty="0"/>
              <a:t>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Stop decomposing when the remaining entities are small enough to reason about directly and further decomposition no longer helps. Then Design becomes Implementation.</a:t>
            </a:r>
          </a:p>
          <a:p>
            <a:endParaRPr dirty="0"/>
          </a:p>
          <a:p>
            <a:r>
              <a:rPr dirty="0"/>
              <a:t>Speaker-note emphasis: “memory”/“object” is intuition, not a literal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Section divider and callback. Specification and Architecture already taught purposeful modeling; Design uses the same discipline at a finer scope.</a:t>
            </a:r>
          </a:p>
          <a:p>
            <a:endParaRPr dirty="0"/>
          </a:p>
          <a:p>
            <a:r>
              <a:rPr dirty="0"/>
              <a:t>Explicitly call back to Specification and Architecture. Do not re-teach the MAGE model taxonomy.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Behavioral model. Use a concrete component and a small state/transition model to answer a real internal question.</a:t>
            </a:r>
          </a:p>
          <a:p>
            <a:endParaRPr dirty="0"/>
          </a:p>
          <a:p>
            <a:r>
              <a:rPr dirty="0"/>
              <a:t>Question: Can a request return advice before validation completes? Make the property/model connection explicit.</a:t>
            </a:r>
          </a:p>
          <a:p>
            <a:endParaRPr dirty="0"/>
          </a:p>
          <a:p>
            <a:r>
              <a:rPr dirty="0"/>
              <a:t>Behavioral question → behavioral model.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Ownership model. Show that lifecycle, concurrency, cleanup, and failure questions require a different reduction of the same component.</a:t>
            </a:r>
          </a:p>
          <a:p>
            <a:endParaRPr dirty="0"/>
          </a:p>
          <a:p>
            <a:r>
              <a:rPr dirty="0"/>
              <a:t>Same Advice Generator, but show request/context/model-result ownership and lifetimes.</a:t>
            </a:r>
          </a:p>
          <a:p>
            <a:endParaRPr dirty="0"/>
          </a:p>
          <a:p>
            <a:r>
              <a:rPr dirty="0"/>
              <a:t>Question: Can two requests mutate the same working state? Ownership question → ownership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Structural model. Make change locality and internal coupling analyzable.</a:t>
            </a:r>
          </a:p>
          <a:p>
            <a:endParaRPr dirty="0"/>
          </a:p>
          <a:p>
            <a:r>
              <a:rPr dirty="0"/>
              <a:t>Same component decomposed into internal collaborators.</a:t>
            </a:r>
          </a:p>
          <a:p>
            <a:endParaRPr dirty="0"/>
          </a:p>
          <a:p>
            <a:r>
              <a:rPr dirty="0"/>
              <a:t>Question: Can we replace the advice model without changing validation? Change question → structural model.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Measurement model. Make one resource/performance bound explicit rather than hand-waving “efficient.”</a:t>
            </a:r>
          </a:p>
          <a:p>
            <a:endParaRPr dirty="0"/>
          </a:p>
          <a:p>
            <a:r>
              <a:rPr dirty="0"/>
              <a:t>Same internals with latency/memory bounds.</a:t>
            </a:r>
          </a:p>
          <a:p>
            <a:endParaRPr dirty="0"/>
          </a:p>
          <a:p>
            <a:r>
              <a:rPr dirty="0"/>
              <a:t>Question: Can the component meet its 2-second budget? Quantitative question → measurement model.</a:t>
            </a:r>
          </a:p>
          <a:p>
            <a:endParaRPr dirty="0"/>
          </a:p>
          <a:p>
            <a:r>
              <a:rPr dirty="0"/>
              <a:t>Do not try to cover all six MAGE model classes. Four is already plenty.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Same component. Four representations.</a:t>
            </a:r>
          </a:p>
          <a:p>
            <a:endParaRPr dirty="0"/>
          </a:p>
          <a:p>
            <a:r>
              <a:rPr dirty="0"/>
              <a:t>None is “the Design.”</a:t>
            </a:r>
          </a:p>
          <a:p>
            <a:endParaRPr dirty="0"/>
          </a:p>
          <a:p>
            <a:r>
              <a:rPr dirty="0"/>
              <a:t>We deliberately threw information away differently each time because different information was relevant to each engineering question.</a:t>
            </a:r>
          </a:p>
          <a:p>
            <a:endParaRPr dirty="0"/>
          </a:p>
          <a:p>
            <a:r>
              <a:rPr dirty="0"/>
              <a:t>The representation is not what makes something Architecture or Design. Scope and purpose do.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Section divider. We are not introducing “best practices”; we are identifying recurring engineering questions with alternative answers and consequences.</a:t>
            </a:r>
          </a:p>
          <a:p>
            <a:endParaRPr dirty="0"/>
          </a:p>
          <a:p>
            <a:r>
              <a:rPr dirty="0"/>
              <a:t>No catalogue of named patterns.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Authority. When representations disagree, which one wins?</a:t>
            </a:r>
          </a:p>
          <a:p>
            <a:endParaRPr dirty="0"/>
          </a:p>
          <a:p>
            <a:r>
              <a:rPr dirty="0"/>
              <a:t>Distinguish canonical (authoritative) state from cached, replicated, and derived representations.</a:t>
            </a:r>
          </a:p>
          <a:p>
            <a:endParaRPr dirty="0"/>
          </a:p>
          <a:p>
            <a:r>
              <a:rPr dirty="0"/>
              <a:t>Key distinctions: authoritative · derived · cached · replicated.</a:t>
            </a:r>
          </a:p>
          <a:p>
            <a:endParaRPr dirty="0"/>
          </a:p>
          <a:p>
            <a:r>
              <a:rPr dirty="0"/>
              <a:t>Do not drift into consistency yet.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Once state exists in multiple places, ask what clients must actually observe.</a:t>
            </a:r>
          </a:p>
          <a:p>
            <a:endParaRPr dirty="0"/>
          </a:p>
          <a:p>
            <a:r>
              <a:rPr dirty="0"/>
              <a:t>Option A: readers must observe the latest completed write. Option B: readers may temporarily observe an older value. Then work the consequences under concurrency and failure.</a:t>
            </a:r>
          </a:p>
          <a:p>
            <a:endParaRPr dirty="0"/>
          </a:p>
          <a:p>
            <a:r>
              <a:rPr dirty="0"/>
              <a:t>Use two contrasting required semantics, not “central vs replicated.” Replication does not determine consistency — requirements do.</a:t>
            </a:r>
          </a:p>
          <a:p>
            <a:endParaRPr dirty="0"/>
          </a:p>
          <a:p>
            <a:r>
              <a:rPr dirty="0"/>
              <a:t>If CAP appears, it should be subordinate and technically correct, not the organizing concept.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Immediate versus deferred work. Expose the consequences for latency, ordering, failure handling, retries, and idempotence.</a:t>
            </a:r>
          </a:p>
          <a:p>
            <a:endParaRPr dirty="0"/>
          </a:p>
          <a:p>
            <a:r>
              <a:rPr dirty="0"/>
              <a:t>Tradeoff: immediacy and simple completion semantics versus latency isolation and resilience.</a:t>
            </a:r>
          </a:p>
          <a:p>
            <a:endParaRPr dirty="0"/>
          </a:p>
          <a:p>
            <a:r>
              <a:rPr dirty="0"/>
              <a:t>Then note that retries, idempotence, and order become design concerns on the deferred side.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Indirection. Fundamental-theorem territory. Direct dependency versus an additional level of indirection; what isolation and substitution buy, and what complexity they cost.</a:t>
            </a:r>
          </a:p>
          <a:p>
            <a:endParaRPr dirty="0"/>
          </a:p>
          <a:p>
            <a:r>
              <a:rPr dirty="0"/>
              <a:t>Examples of I: interface, adapter, factory, dependency injection, proxy.</a:t>
            </a:r>
          </a:p>
          <a:p>
            <a:endParaRPr dirty="0"/>
          </a:p>
          <a:p>
            <a:r>
              <a:rPr dirty="0"/>
              <a:t>Question: What future change are we buying isolation from?</a:t>
            </a:r>
          </a:p>
          <a:p>
            <a:endParaRPr dirty="0"/>
          </a:p>
          <a:p>
            <a:r>
              <a:rPr dirty="0"/>
              <a:t>An additional layer is not automatically sophisticated or better. Indirection buys flexibility by spending complexity.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is where Parnas lands.</a:t>
            </a:r>
          </a:p>
          <a:p>
            <a:endParaRPr dirty="0"/>
          </a:p>
          <a:p>
            <a:r>
              <a:rPr dirty="0"/>
              <a:t>Show two internal decompositions of the same responsibility: A, by processing steps; B, around likely-to-change decisions.</a:t>
            </a:r>
          </a:p>
          <a:p>
            <a:endParaRPr dirty="0"/>
          </a:p>
          <a:p>
            <a:r>
              <a:rPr dirty="0"/>
              <a:t>Ask: When X changes, which design contains the change? Use Parnas 1972 and information hiding — hide the decisions most likely to change behind stable seams.</a:t>
            </a:r>
          </a:p>
          <a:p>
            <a:endParaRPr dirty="0"/>
          </a:p>
          <a:p>
            <a:r>
              <a:rPr dirty="0"/>
              <a:t>Modularity briefly recovers decomposability, understandability, continuity / change containment, and protection / failure containment. Do not make the five Meyer criteria into slide bullets.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Synthesis table. Recurring question → plausible alternatives → property/tradeoff.</a:t>
            </a:r>
          </a:p>
          <a:p>
            <a:endParaRPr dirty="0"/>
          </a:p>
          <a:p>
            <a:r>
              <a:rPr dirty="0"/>
              <a:t>Design is not choosing the “good” side. It is choosing which consequences fit the problem.</a:t>
            </a:r>
          </a:p>
          <a:p>
            <a:endParaRPr dirty="0"/>
          </a:p>
          <a:p>
            <a:r>
              <a:rPr dirty="0"/>
              <a:t>Explicitly reject catalogue thinking.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Remember this wall from Architecture. At the time, we deliberately did not draw the plumbing.</a:t>
            </a:r>
          </a:p>
          <a:p>
            <a:endParaRPr dirty="0"/>
          </a:p>
          <a:p>
            <a:r>
              <a:rPr dirty="0"/>
              <a:t>Architecture had chosen the wall location, depth, and permitted penetrations. Those choices created a space in which plumbing Design would later occur.</a:t>
            </a:r>
          </a:p>
          <a:p>
            <a:endParaRPr dirty="0"/>
          </a:p>
          <a:p>
            <a:r>
              <a:rPr dirty="0"/>
              <a:t>Now we are the plumbing designer.</a:t>
            </a:r>
          </a:p>
          <a:p>
            <a:endParaRPr dirty="0"/>
          </a:p>
          <a:p>
            <a:r>
              <a:rPr dirty="0"/>
              <a:t>ANIMATE</a:t>
            </a:r>
          </a:p>
          <a:p>
            <a:endParaRPr dirty="0"/>
          </a:p>
          <a:p>
            <a:r>
              <a:rPr dirty="0"/>
              <a:t>Sometimes the required plumbing fits. Good: the strategy afforded a workable tactic.</a:t>
            </a:r>
          </a:p>
          <a:p>
            <a:endParaRPr dirty="0"/>
          </a:p>
          <a:p>
            <a:r>
              <a:rPr dirty="0"/>
              <a:t>ANIMATE</a:t>
            </a:r>
          </a:p>
          <a:p>
            <a:endParaRPr dirty="0"/>
          </a:p>
          <a:p>
            <a:r>
              <a:rPr dirty="0"/>
              <a:t>Sometimes it does not.</a:t>
            </a:r>
          </a:p>
          <a:p>
            <a:endParaRPr dirty="0"/>
          </a:p>
          <a:p>
            <a:r>
              <a:rPr dirty="0"/>
              <a:t>That is not merely a plumbing-design failure. It is information about the strategy we inherited. Perhaps the pipe can be rerouted. Perhaps the wall must move. Perhaps the requirement that created this pipe must change.</a:t>
            </a:r>
          </a:p>
          <a:p>
            <a:endParaRPr dirty="0"/>
          </a:p>
          <a:p>
            <a:r>
              <a:rPr dirty="0"/>
              <a:t>Design is therefore not just implementation planning. It is a test of whether Architecture's strategy can actually be realized.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did not specify whether this interaction was synchronous or asynchronous. At first glance, that looks like a legitimate Design freedom.</a:t>
            </a:r>
          </a:p>
          <a:p>
            <a:endParaRPr dirty="0"/>
          </a:p>
          <a:p>
            <a:r>
              <a:rPr dirty="0"/>
              <a:t>We try synchronous. It violates the failure-isolation or latency property Architecture was supposed to support.</a:t>
            </a:r>
          </a:p>
          <a:p>
            <a:endParaRPr dirty="0"/>
          </a:p>
          <a:p>
            <a:r>
              <a:rPr dirty="0"/>
              <a:t>We try asynchronous. Now we cannot satisfy the consistency semantics the Specification requires.</a:t>
            </a:r>
          </a:p>
          <a:p>
            <a:endParaRPr dirty="0"/>
          </a:p>
          <a:p>
            <a:r>
              <a:rPr dirty="0"/>
              <a:t>The important discovery is not that the designer needs a cleverer library. It is that the apparent degree of freedom was consequential.</a:t>
            </a:r>
          </a:p>
          <a:p>
            <a:endParaRPr dirty="0"/>
          </a:p>
          <a:p>
            <a:r>
              <a:rPr dirty="0"/>
              <a:t>Detailed Design has discovered an architectural gap.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Here is the tempting alternative to escalation.</a:t>
            </a:r>
          </a:p>
          <a:p>
            <a:endParaRPr dirty="0"/>
          </a:p>
          <a:p>
            <a:r>
              <a:rPr dirty="0"/>
              <a:t>The architecture says A reaches B through this port. But the port makes today's feature inconvenient, so somebody reaches around it. Just this once.</a:t>
            </a:r>
          </a:p>
          <a:p>
            <a:endParaRPr dirty="0"/>
          </a:p>
          <a:p>
            <a:r>
              <a:rPr dirty="0"/>
              <a:t>ANIMATE</a:t>
            </a:r>
          </a:p>
          <a:p>
            <a:endParaRPr dirty="0"/>
          </a:p>
          <a:p>
            <a:r>
              <a:rPr dirty="0"/>
              <a:t>The feature works. Tests pass.</a:t>
            </a:r>
          </a:p>
          <a:p>
            <a:endParaRPr dirty="0"/>
          </a:p>
          <a:p>
            <a:r>
              <a:rPr dirty="0"/>
              <a:t>And the architecture is now false.</a:t>
            </a:r>
          </a:p>
          <a:p>
            <a:endParaRPr dirty="0"/>
          </a:p>
          <a:p>
            <a:r>
              <a:rPr dirty="0"/>
              <a:t>That has a local cost: we introduced coupling. But the more interesting cost is epistemic.</a:t>
            </a:r>
          </a:p>
          <a:p>
            <a:endParaRPr dirty="0"/>
          </a:p>
          <a:p>
            <a:r>
              <a:rPr dirty="0"/>
              <a:t>Remember the Architecture lecture. We used dependency models to establish claims such as “no dependency crosses this boundary.” Once the implementation silently violates the model, that analysis can produce the wrong answer.</a:t>
            </a:r>
          </a:p>
          <a:p>
            <a:endParaRPr dirty="0"/>
          </a:p>
          <a:p>
            <a:r>
              <a:rPr dirty="0"/>
              <a:t>Ask whether B can be replaced independently. The architecture says yes. The system says no.</a:t>
            </a:r>
          </a:p>
          <a:p>
            <a:endParaRPr dirty="0"/>
          </a:p>
          <a:p>
            <a:r>
              <a:rPr dirty="0"/>
              <a:t>Architectural degradation is therefore not merely untidy code or “technical debt.” It destroys the predictive value of the architectural knowledge we use to make engineering decisions.</a:t>
            </a:r>
          </a:p>
          <a:p>
            <a:endParaRPr dirty="0"/>
          </a:p>
          <a:p>
            <a:r>
              <a:rPr dirty="0"/>
              <a:t>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Design is where many apparently free decisions first encounter reality.</a:t>
            </a:r>
          </a:p>
          <a:p>
            <a:endParaRPr dirty="0"/>
          </a:p>
          <a:p>
            <a:r>
              <a:rPr dirty="0"/>
              <a:t>Sometimes the answer really is local. Fine. Keep it local.</a:t>
            </a:r>
          </a:p>
          <a:p>
            <a:endParaRPr dirty="0"/>
          </a:p>
          <a:p>
            <a:r>
              <a:rPr dirty="0"/>
              <a:t>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Sometimes the consequence is structural and belongs in Architecture.</a:t>
            </a:r>
          </a:p>
          <a:p>
            <a:endParaRPr dirty="0"/>
          </a:p>
          <a:p>
            <a:r>
              <a:rPr dirty="0"/>
              <a:t>And sometimes we discover that what must be true was itself incomplete, and the feedback reaches Specification.</a:t>
            </a:r>
          </a:p>
          <a:p>
            <a:endParaRPr dirty="0"/>
          </a:p>
          <a:p>
            <a:r>
              <a:rPr dirty="0"/>
              <a:t>This is why a workaround cannot remain invisible. Remove it if it was a mistake. Model it if the architecture genuinely permits the exception. Change the rule if repeated exceptions tell us the rule was wrong.</a:t>
            </a:r>
          </a:p>
          <a:p>
            <a:endParaRPr dirty="0"/>
          </a:p>
          <a:p>
            <a:r>
              <a:rPr dirty="0"/>
              <a:t>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gave us a rule: if uncertainty could change the decision, consider buying information.</a:t>
            </a:r>
          </a:p>
          <a:p>
            <a:endParaRPr dirty="0"/>
          </a:p>
          <a:p>
            <a:r>
              <a:rPr dirty="0"/>
              <a:t>Traditionally, implementation was often the most expensive possible way to buy that information.</a:t>
            </a:r>
          </a:p>
          <a:p>
            <a:endParaRPr dirty="0"/>
          </a:p>
          <a:p>
            <a:r>
              <a:rPr dirty="0"/>
              <a:t>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At ordinary implementation speed, three related failures may occur weeks apart. Each one arrives with a local context and gets a local fix.</a:t>
            </a:r>
          </a:p>
          <a:p>
            <a:endParaRPr dirty="0"/>
          </a:p>
          <a:p>
            <a:r>
              <a:rPr dirty="0"/>
              <a:t>At much higher implementation velocity, the same family of failures can arrive in dense succession. Now the engineer can hold them in mind together and ask a different question: why do these keep happening?</a:t>
            </a:r>
          </a:p>
          <a:p>
            <a:endParaRPr dirty="0"/>
          </a:p>
          <a:p>
            <a:r>
              <a:rPr dirty="0"/>
              <a:t>That temporal compression can expose a common structural cause.</a:t>
            </a:r>
          </a:p>
          <a:p>
            <a:endParaRPr dirty="0"/>
          </a:p>
          <a:p>
            <a:r>
              <a:rPr dirty="0"/>
              <a:t>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In Architecture, GenAI lowered the cost of evidence about architectural alternatives.</a:t>
            </a:r>
          </a:p>
          <a:p>
            <a:endParaRPr dirty="0"/>
          </a:p>
          <a:p>
            <a:r>
              <a:rPr dirty="0"/>
              <a:t>Here the same economic change operates inside Design, but there is another effect.</a:t>
            </a:r>
          </a:p>
          <a:p>
            <a:endParaRPr dirty="0"/>
          </a:p>
          <a:p>
            <a:r>
              <a:rPr dirty="0"/>
              <a:t>On the right, the obvious economic effect: we can afford to implement competing tactics, prototype a data structure, measure a coordination mechanism, or perform a refactoring that previously would have been too expensive merely to learn from.</a:t>
            </a:r>
          </a:p>
          <a:p>
            <a:endParaRPr dirty="0"/>
          </a:p>
          <a:p>
            <a:r>
              <a:rPr dirty="0"/>
              <a:t>On the left is the subtler epistemic effect: velocity changes the temporal distribution of evidence. Related failures can become visible together.</a:t>
            </a:r>
          </a:p>
          <a:p>
            <a:endParaRPr dirty="0"/>
          </a:p>
          <a:p>
            <a:r>
              <a:rPr dirty="0"/>
              <a:t>Neither effect transfers judgment to the agent. It changes what evidence is economically available to the engineer.</a:t>
            </a:r>
          </a:p>
          <a:p>
            <a:endParaRPr dirty="0"/>
          </a:p>
          <a:p>
            <a:r>
              <a:rPr dirty="0"/>
              <a:t>Velocity does not merely let you implement the Design faster. It can let you reason about the Design differently.</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Explain the deliverable and immediately move.</a:t>
            </a:r>
          </a:p>
          <a:p>
            <a:endParaRPr dirty="0"/>
          </a:p>
          <a:p>
            <a:r>
              <a:rPr dirty="0"/>
              <a:t>Give them one architectural component — the Advice Service — with its responsibility, interface, inherited constraints, and 2–3 engineering-environment conventions. Do not overload.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Teams identify remaining degrees of freedom and classify them FOLLOW / CHOOSE / ESCALATE. About 3 minutes.</a:t>
            </a:r>
          </a:p>
          <a:p>
            <a:endParaRPr dirty="0"/>
          </a:p>
          <a:p>
            <a:r>
              <a:rPr dirty="0"/>
              <a:t>Prompt: List the open questions inside this component. Classify each before answering it.</a:t>
            </a:r>
          </a:p>
          <a:p>
            <a:endParaRPr dirty="0"/>
          </a:p>
          <a:p>
            <a:r>
              <a:rPr dirty="0"/>
              <a:t>Examples should not be prefilled initially; reveal them after 2–3 minutes as discussion scaffolding.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Force alternatives before convergence. Each needs a purposeful representation/model that supports a relevant claim. About 7 minutes.</a:t>
            </a:r>
          </a:p>
          <a:p>
            <a:endParaRPr dirty="0"/>
          </a:p>
          <a:p>
            <a:r>
              <a:rPr dirty="0"/>
              <a:t>Prompt: Two genuinely different tactics. Both must respect what you inherited.</a:t>
            </a:r>
          </a:p>
          <a:p>
            <a:endParaRPr dirty="0"/>
          </a:p>
          <a:p>
            <a:r>
              <a:rPr dirty="0"/>
              <a:t>Require: internal parts/responsibilities; key interactions/state; one purposeful model; expected consequence/tradeoff.</a:t>
            </a:r>
          </a:p>
          <a:p>
            <a:endParaRPr dirty="0"/>
          </a:p>
          <a:p>
            <a:r>
              <a:rPr dirty="0"/>
              <a:t>Do not converge yet.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Choose and defend: obligations, inherited architecture, environment, genuine tradeoff, evidence/model, anything that should feed upward.</a:t>
            </a:r>
          </a:p>
          <a:p>
            <a:endParaRPr dirty="0"/>
          </a:p>
          <a:p>
            <a:r>
              <a:rPr dirty="0"/>
              <a:t>About 6 minutes including selected shares.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Whole-room debrief. Which freedoms were genuinely local? Which were already answered? Which revealed a shared convention or an architectural/specification question? About 4 minutes.</a:t>
            </a:r>
          </a:p>
          <a:p>
            <a:endParaRPr dirty="0"/>
          </a:p>
          <a:p>
            <a:r>
              <a:rPr dirty="0"/>
              <a:t>Ask teams for examples to populate verbally.</a:t>
            </a:r>
          </a:p>
          <a:p>
            <a:endParaRPr dirty="0"/>
          </a:p>
          <a:p>
            <a:r>
              <a:rPr dirty="0"/>
              <a:t>Design produces an implementation plan and evidence about the decisions above it.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We now have the complete downward progression.</a:t>
            </a:r>
          </a:p>
          <a:p>
            <a:endParaRPr dirty="0"/>
          </a:p>
          <a:p>
            <a:r>
              <a:rPr dirty="0"/>
              <a:t>Specification narrows the space of acceptable systems.</a:t>
            </a:r>
          </a:p>
          <a:p>
            <a:endParaRPr dirty="0"/>
          </a:p>
          <a:p>
            <a:r>
              <a:rPr dirty="0"/>
              <a:t>Architecture chooses consequential organization for one of them and deliberately treats its major parts as units.</a:t>
            </a:r>
          </a:p>
          <a:p>
            <a:endParaRPr dirty="0"/>
          </a:p>
          <a:p>
            <a:r>
              <a:rPr dirty="0"/>
              <a:t>Design opens those units and chooses how they realize their responsibilities.</a:t>
            </a:r>
          </a:p>
          <a:p>
            <a:endParaRPr dirty="0"/>
          </a:p>
          <a:p>
            <a:r>
              <a:rPr dirty="0"/>
              <a:t>If what we open is still too large to reason about directly, the process recurs. We may establish another architecture at that scope and design within it.</a:t>
            </a:r>
          </a:p>
          <a:p>
            <a:endParaRPr dirty="0"/>
          </a:p>
          <a:p>
            <a:r>
              <a:rPr dirty="0"/>
              <a:t>Eventually the entities are small enough to reason about directly. Further decomposition no longer buys useful understanding. We implement them.</a:t>
            </a:r>
          </a:p>
          <a:p>
            <a:endParaRPr dirty="0"/>
          </a:p>
          <a:p>
            <a:r>
              <a:rPr dirty="0"/>
              <a:t>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Engineering proceeds downward through constraints and upward through evidence.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is strategy. Design is tactics.</a:t>
            </a:r>
          </a:p>
          <a:p>
            <a:endParaRPr dirty="0"/>
          </a:p>
          <a:p>
            <a:r>
              <a:rPr dirty="0"/>
              <a:t>But that relationship is not one-way. Architecture creates the space within which Design works. Design supplies evidence about whether that space actually permits a satisfactory solution.</a:t>
            </a:r>
          </a:p>
          <a:p>
            <a:endParaRPr dirty="0"/>
          </a:p>
          <a:p>
            <a:r>
              <a:rPr dirty="0"/>
              <a:t>That is why good Design is neither unconstrained creativity nor mechanical implementation of somebody else's boxes.</a:t>
            </a:r>
          </a:p>
          <a:p>
            <a:endParaRPr dirty="0"/>
          </a:p>
          <a:p>
            <a:r>
              <a:rPr dirty="0"/>
              <a:t>It is engineering within inherited constraints, with enough judgment to recognize when those constraints themselves need to change.</a:t>
            </a:r>
          </a:p>
          <a:p>
            <a:endParaRPr dirty="0"/>
          </a:p>
          <a:p>
            <a:r>
              <a:rPr dirty="0"/>
              <a:t>Architecture constrains the available tactics. Design tests whether the strategy is workable.</a:t>
            </a:r>
          </a:p>
          <a:p>
            <a:endParaRPr dirty="0"/>
          </a:p>
          <a:p>
            <a:r>
              <a:rPr dirty="0"/>
              <a:t>And stop.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normAutofit/>
          </a:bodyPr>
          <a:lstStyle/>
          <a:p>
            <a:pPr algn="ctr">
              <a:buNone/>
            </a:pPr>
            <a:r>
              <a:rPr lang="en-US" sz="5200" b="0" i="0" dirty="0">
                <a:solidFill>
                  <a:srgbClr val="000000"/>
                </a:solidFill>
              </a:rPr>
              <a:t>Software Design</a:t>
            </a:r>
          </a:p>
          <a:p>
            <a:pPr algn="ctr">
              <a:spcBef>
                <a:spcPts val="600"/>
              </a:spcBef>
              <a:buNone/>
            </a:pPr>
            <a:r>
              <a:rPr lang="en-US" sz="2800" b="0" i="1" dirty="0">
                <a:solidFill>
                  <a:srgbClr val="8E6F3E"/>
                </a:solidFill>
              </a:rPr>
              <a:t>How should each part realize its responsibility?</a:t>
            </a:r>
          </a:p>
          <a:p>
            <a:pPr algn="ctr">
              <a:buNone/>
            </a:pPr>
            <a:endParaRPr lang="en-US" sz="1000"/>
          </a:p>
          <a:p>
            <a:pPr algn="ctr">
              <a:spcBef>
                <a:spcPts val="400"/>
              </a:spcBef>
              <a:buNone/>
            </a:pPr>
            <a:r>
              <a:rPr lang="en-US" sz="1800" b="0" i="1" dirty="0">
                <a:solidFill>
                  <a:srgbClr val="000000"/>
                </a:solidFill>
              </a:rPr>
              <a:t>Prof. James C. Davis</a:t>
            </a:r>
          </a:p>
          <a:p>
            <a:pPr algn="ctr">
              <a:spcBef>
                <a:spcPts val="100"/>
              </a:spcBef>
              <a:buNone/>
            </a:pPr>
            <a:r>
              <a:rPr lang="en-US" sz="1800" b="0" i="1" dirty="0">
                <a:solidFill>
                  <a:srgbClr val="000000"/>
                </a:solidFill>
              </a:rPr>
              <a:t>Prof. Steve France</a:t>
            </a:r>
          </a:p>
        </p:txBody>
      </p:sp>
      <p:sp>
        <p:nvSpPr>
          <p:cNvPr id="100" name="Label"/>
          <p:cNvSpPr txBox="1"/>
          <p:nvPr/>
        </p:nvSpPr>
        <p:spPr>
          <a:xfrm>
            <a:off x="224171" y="3760000"/>
            <a:ext cx="8695654" cy="33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ARCHITECTURE HANDED US PARTS</a:t>
            </a:r>
          </a:p>
        </p:txBody>
      </p:sp>
      <p:sp>
        <p:nvSpPr>
          <p:cNvPr id="101" name="S101"/>
          <p:cNvSpPr/>
          <p:nvPr/>
        </p:nvSpPr>
        <p:spPr>
          <a:xfrm>
            <a:off x="112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A</a:t>
            </a:r>
          </a:p>
        </p:txBody>
      </p:sp>
      <p:sp>
        <p:nvSpPr>
          <p:cNvPr id="102" name="S102"/>
          <p:cNvSpPr/>
          <p:nvPr/>
        </p:nvSpPr>
        <p:spPr>
          <a:xfrm>
            <a:off x="2902000" y="4120000"/>
            <a:ext cx="1560000" cy="620000"/>
          </a:xfrm>
          <a:prstGeom prst="rect">
            <a:avLst/>
          </a:prstGeom>
          <a:solidFill>
            <a:srgbClr val="8E6F3E"/>
          </a:solidFill>
          <a:ln w="28575">
            <a:solidFill>
              <a:srgbClr val="5C4826"/>
            </a:solidFill>
          </a:ln>
        </p:spPr>
        <p:txBody>
          <a:bodyPr wrap="square" lIns="91440" tIns="45720" rIns="91440" bIns="45720" anchor="ctr">
            <a:normAutofit/>
          </a:bodyPr>
          <a:lstStyle/>
          <a:p>
            <a:pPr algn="ctr">
              <a:buNone/>
            </a:pPr>
            <a:r>
              <a:rPr lang="en-US" sz="1600" b="1" i="0" dirty="0">
                <a:solidFill>
                  <a:srgbClr val="FFFFFF"/>
                </a:solidFill>
              </a:rPr>
              <a:t>PART B</a:t>
            </a:r>
          </a:p>
        </p:txBody>
      </p:sp>
      <p:sp>
        <p:nvSpPr>
          <p:cNvPr id="103" name="S103"/>
          <p:cNvSpPr/>
          <p:nvPr/>
        </p:nvSpPr>
        <p:spPr>
          <a:xfrm>
            <a:off x="468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C</a:t>
            </a:r>
          </a:p>
        </p:txBody>
      </p:sp>
      <p:sp>
        <p:nvSpPr>
          <p:cNvPr id="104" name="S104"/>
          <p:cNvSpPr/>
          <p:nvPr/>
        </p:nvSpPr>
        <p:spPr>
          <a:xfrm>
            <a:off x="646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D</a:t>
            </a:r>
          </a:p>
        </p:txBody>
      </p:sp>
      <p:sp>
        <p:nvSpPr>
          <p:cNvPr id="105" name="TwoLines"/>
          <p:cNvSpPr txBox="1"/>
          <p:nvPr/>
        </p:nvSpPr>
        <p:spPr>
          <a:xfrm>
            <a:off x="224171" y="4980000"/>
            <a:ext cx="8695654" cy="900000"/>
          </a:xfrm>
          <a:prstGeom prst="rect">
            <a:avLst/>
          </a:prstGeom>
          <a:noFill/>
          <a:ln>
            <a:noFill/>
          </a:ln>
        </p:spPr>
        <p:txBody>
          <a:bodyPr wrap="square" lIns="0" tIns="0" rIns="0" bIns="0" anchor="t">
            <a:normAutofit/>
          </a:bodyPr>
          <a:lstStyle/>
          <a:p>
            <a:pPr algn="ctr">
              <a:buNone/>
            </a:pPr>
            <a:r>
              <a:rPr lang="en-US" sz="1700" b="0" i="0" dirty="0">
                <a:solidFill>
                  <a:srgbClr val="555960"/>
                </a:solidFill>
              </a:rPr>
              <a:t>Architecture gave each part a responsibility and an interface</a:t>
            </a:r>
          </a:p>
          <a:p>
            <a:pPr algn="ctr">
              <a:spcBef>
                <a:spcPts val="140"/>
              </a:spcBef>
              <a:buNone/>
            </a:pPr>
            <a:r>
              <a:rPr lang="en-US" sz="17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Boxes all the way down… until they aren’t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1600000" y="100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SYSTEM</a:t>
            </a:r>
          </a:p>
        </p:txBody>
      </p:sp>
      <p:sp>
        <p:nvSpPr>
          <p:cNvPr id="101" name="R1Comp"/>
          <p:cNvSpPr/>
          <p:nvPr/>
        </p:nvSpPr>
        <p:spPr>
          <a:xfrm>
            <a:off x="4980000" y="1150000"/>
            <a:ext cx="236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500" b="1" i="0" dirty="0">
                <a:solidFill>
                  <a:srgbClr val="8E6F3E"/>
                </a:solidFill>
              </a:rPr>
              <a:t>COMPONENT</a:t>
            </a:r>
          </a:p>
        </p:txBody>
      </p:sp>
      <p:cxnSp>
        <p:nvCxnSpPr>
          <p:cNvPr id="110" name="Arw1"/>
          <p:cNvCxnSpPr/>
          <p:nvPr/>
        </p:nvCxnSpPr>
        <p:spPr>
          <a:xfrm>
            <a:off x="4572000" y="1900000"/>
            <a:ext cx="0" cy="150000"/>
          </a:xfrm>
          <a:prstGeom prst="straightConnector1">
            <a:avLst/>
          </a:prstGeom>
          <a:ln w="38100">
            <a:solidFill>
              <a:srgbClr val="8E6F3E"/>
            </a:solidFill>
            <a:tailEnd type="triangle" w="med" len="med"/>
          </a:ln>
        </p:spPr>
      </p:cxnSp>
      <p:sp>
        <p:nvSpPr>
          <p:cNvPr id="111" name="Op1"/>
          <p:cNvSpPr/>
          <p:nvPr/>
        </p:nvSpPr>
        <p:spPr>
          <a:xfrm>
            <a:off x="4680000" y="1905000"/>
            <a:ext cx="900000" cy="150000"/>
          </a:xfrm>
          <a:prstGeom prst="rect">
            <a:avLst/>
          </a:prstGeom>
          <a:noFill/>
          <a:ln>
            <a:noFill/>
          </a:ln>
        </p:spPr>
        <p:txBody>
          <a:bodyPr wrap="square" lIns="0" tIns="0" rIns="0" bIns="0" anchor="t">
            <a:normAutofit/>
          </a:bodyPr>
          <a:lstStyle/>
          <a:p>
            <a:pPr algn="l">
              <a:buNone/>
            </a:pPr>
            <a:r>
              <a:rPr lang="en-US" sz="1100" b="0" i="1" dirty="0">
                <a:solidFill>
                  <a:srgbClr val="8E6F3E"/>
                </a:solidFill>
              </a:rPr>
              <a:t>open</a:t>
            </a:r>
          </a:p>
        </p:txBody>
      </p:sp>
      <p:sp>
        <p:nvSpPr>
          <p:cNvPr id="120" name="Frame2"/>
          <p:cNvSpPr/>
          <p:nvPr/>
        </p:nvSpPr>
        <p:spPr>
          <a:xfrm>
            <a:off x="1600000" y="211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COMPONENT</a:t>
            </a:r>
          </a:p>
        </p:txBody>
      </p:sp>
      <p:sp>
        <p:nvSpPr>
          <p:cNvPr id="121" name="R2A"/>
          <p:cNvSpPr/>
          <p:nvPr/>
        </p:nvSpPr>
        <p:spPr>
          <a:xfrm>
            <a:off x="3760000" y="2260000"/>
            <a:ext cx="16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PART A</a:t>
            </a:r>
          </a:p>
        </p:txBody>
      </p:sp>
      <p:sp>
        <p:nvSpPr>
          <p:cNvPr id="122" name="R2B"/>
          <p:cNvSpPr/>
          <p:nvPr/>
        </p:nvSpPr>
        <p:spPr>
          <a:xfrm>
            <a:off x="5620000" y="2260000"/>
            <a:ext cx="168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500" b="1" i="0" dirty="0">
                <a:solidFill>
                  <a:srgbClr val="8E6F3E"/>
                </a:solidFill>
              </a:rPr>
              <a:t>PART B</a:t>
            </a:r>
          </a:p>
        </p:txBody>
      </p:sp>
      <p:cxnSp>
        <p:nvCxnSpPr>
          <p:cNvPr id="130" name="Arw2"/>
          <p:cNvCxnSpPr/>
          <p:nvPr/>
        </p:nvCxnSpPr>
        <p:spPr>
          <a:xfrm>
            <a:off x="4572000" y="3010000"/>
            <a:ext cx="0" cy="150000"/>
          </a:xfrm>
          <a:prstGeom prst="straightConnector1">
            <a:avLst/>
          </a:prstGeom>
          <a:ln w="38100">
            <a:solidFill>
              <a:srgbClr val="8E6F3E"/>
            </a:solidFill>
            <a:tailEnd type="triangle" w="med" len="med"/>
          </a:ln>
        </p:spPr>
      </p:cxnSp>
      <p:sp>
        <p:nvSpPr>
          <p:cNvPr id="131" name="Op2"/>
          <p:cNvSpPr/>
          <p:nvPr/>
        </p:nvSpPr>
        <p:spPr>
          <a:xfrm>
            <a:off x="4680000" y="3015000"/>
            <a:ext cx="900000" cy="150000"/>
          </a:xfrm>
          <a:prstGeom prst="rect">
            <a:avLst/>
          </a:prstGeom>
          <a:noFill/>
          <a:ln>
            <a:noFill/>
          </a:ln>
        </p:spPr>
        <p:txBody>
          <a:bodyPr wrap="square" lIns="0" tIns="0" rIns="0" bIns="0" anchor="t">
            <a:normAutofit/>
          </a:bodyPr>
          <a:lstStyle/>
          <a:p>
            <a:pPr algn="l">
              <a:buNone/>
            </a:pPr>
            <a:r>
              <a:rPr lang="en-US" sz="1100" b="0" i="1" dirty="0">
                <a:solidFill>
                  <a:srgbClr val="8E6F3E"/>
                </a:solidFill>
              </a:rPr>
              <a:t>open</a:t>
            </a:r>
          </a:p>
        </p:txBody>
      </p:sp>
      <p:sp>
        <p:nvSpPr>
          <p:cNvPr id="140" name="Frame3"/>
          <p:cNvSpPr/>
          <p:nvPr/>
        </p:nvSpPr>
        <p:spPr>
          <a:xfrm>
            <a:off x="1600000" y="322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PART B</a:t>
            </a:r>
          </a:p>
        </p:txBody>
      </p:sp>
      <p:sp>
        <p:nvSpPr>
          <p:cNvPr id="141" name="R3a"/>
          <p:cNvSpPr/>
          <p:nvPr/>
        </p:nvSpPr>
        <p:spPr>
          <a:xfrm>
            <a:off x="3760000" y="3370000"/>
            <a:ext cx="10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a:t>
            </a:r>
          </a:p>
        </p:txBody>
      </p:sp>
      <p:sp>
        <p:nvSpPr>
          <p:cNvPr id="142" name="R3b"/>
          <p:cNvSpPr/>
          <p:nvPr/>
        </p:nvSpPr>
        <p:spPr>
          <a:xfrm>
            <a:off x="4980000" y="3370000"/>
            <a:ext cx="108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600" b="1" i="0" dirty="0">
                <a:solidFill>
                  <a:srgbClr val="8E6F3E"/>
                </a:solidFill>
              </a:rPr>
              <a:t>?</a:t>
            </a:r>
          </a:p>
        </p:txBody>
      </p:sp>
      <p:sp>
        <p:nvSpPr>
          <p:cNvPr id="143" name="R3c"/>
          <p:cNvSpPr/>
          <p:nvPr/>
        </p:nvSpPr>
        <p:spPr>
          <a:xfrm>
            <a:off x="6200000" y="3370000"/>
            <a:ext cx="10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a:t>
            </a:r>
          </a:p>
        </p:txBody>
      </p:sp>
      <p:cxnSp>
        <p:nvCxnSpPr>
          <p:cNvPr id="150" name="Arw3"/>
          <p:cNvCxnSpPr/>
          <p:nvPr/>
        </p:nvCxnSpPr>
        <p:spPr>
          <a:xfrm>
            <a:off x="4572000" y="4120000"/>
            <a:ext cx="0" cy="150000"/>
          </a:xfrm>
          <a:prstGeom prst="straightConnector1">
            <a:avLst/>
          </a:prstGeom>
          <a:ln w="38100">
            <a:solidFill>
              <a:srgbClr val="8E6F3E"/>
            </a:solidFill>
            <a:tailEnd type="triangle" w="med" len="med"/>
          </a:ln>
        </p:spPr>
      </p:cxnSp>
      <p:sp>
        <p:nvSpPr>
          <p:cNvPr id="151" name="Op3"/>
          <p:cNvSpPr/>
          <p:nvPr/>
        </p:nvSpPr>
        <p:spPr>
          <a:xfrm>
            <a:off x="4680000" y="4125000"/>
            <a:ext cx="900000" cy="150000"/>
          </a:xfrm>
          <a:prstGeom prst="rect">
            <a:avLst/>
          </a:prstGeom>
          <a:noFill/>
          <a:ln>
            <a:noFill/>
          </a:ln>
        </p:spPr>
        <p:txBody>
          <a:bodyPr wrap="square" lIns="0" tIns="0" rIns="0" bIns="0" anchor="t">
            <a:normAutofit/>
          </a:bodyPr>
          <a:lstStyle/>
          <a:p>
            <a:pPr algn="l">
              <a:buNone/>
            </a:pPr>
            <a:r>
              <a:rPr lang="en-US" sz="1100" b="0" i="1" dirty="0">
                <a:solidFill>
                  <a:srgbClr val="8E6F3E"/>
                </a:solidFill>
              </a:rPr>
              <a:t>open</a:t>
            </a:r>
          </a:p>
        </p:txBody>
      </p:sp>
      <p:sp>
        <p:nvSpPr>
          <p:cNvPr id="159" name="TermLbl"/>
          <p:cNvSpPr/>
          <p:nvPr/>
        </p:nvSpPr>
        <p:spPr>
          <a:xfrm>
            <a:off x="1600000" y="4290000"/>
            <a:ext cx="5944000" cy="30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one of these is small enough to reason about directly</a:t>
            </a:r>
          </a:p>
        </p:txBody>
      </p:sp>
      <p:sp>
        <p:nvSpPr>
          <p:cNvPr id="160" name="Atom1"/>
          <p:cNvSpPr/>
          <p:nvPr/>
        </p:nvSpPr>
        <p:spPr>
          <a:xfrm>
            <a:off x="1600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objects</a:t>
            </a:r>
          </a:p>
        </p:txBody>
      </p:sp>
      <p:sp>
        <p:nvSpPr>
          <p:cNvPr id="161" name="Atom2"/>
          <p:cNvSpPr/>
          <p:nvPr/>
        </p:nvSpPr>
        <p:spPr>
          <a:xfrm>
            <a:off x="3632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functions</a:t>
            </a:r>
          </a:p>
        </p:txBody>
      </p:sp>
      <p:sp>
        <p:nvSpPr>
          <p:cNvPr id="162" name="Atom3"/>
          <p:cNvSpPr/>
          <p:nvPr/>
        </p:nvSpPr>
        <p:spPr>
          <a:xfrm>
            <a:off x="5664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data structures</a:t>
            </a:r>
          </a:p>
        </p:txBody>
      </p:sp>
      <p:sp>
        <p:nvSpPr>
          <p:cNvPr id="170" name="FooterItalic"/>
          <p:cNvSpPr/>
          <p:nvPr/>
        </p:nvSpPr>
        <p:spPr>
          <a:xfrm>
            <a:off x="685800" y="596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Eventually there is nothing useful left to open.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5"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par>
                          <p:cTn id="29" fill="hold">
                            <p:stCondLst>
                              <p:cond delay="0"/>
                            </p:stCondLst>
                            <p:childTnLst>
                              <p:par>
                                <p:cTn id="30" presetID="10" presetClass="entr" presetSubtype="0" fill="hold" grpId="6"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par>
                          <p:cTn id="33" fill="hold">
                            <p:stCondLst>
                              <p:cond delay="0"/>
                            </p:stCondLst>
                            <p:childTnLst>
                              <p:par>
                                <p:cTn id="34" presetID="10" presetClass="entr" presetSubtype="0" fill="hold" grpId="7" nodeType="withEffect">
                                  <p:stCondLst>
                                    <p:cond delay="0"/>
                                  </p:stCondLst>
                                  <p:childTnLst>
                                    <p:set>
                                      <p:cBhvr>
                                        <p:cTn id="35" dur="1" fill="hold">
                                          <p:stCondLst>
                                            <p:cond delay="0"/>
                                          </p:stCondLst>
                                        </p:cTn>
                                        <p:tgtEl>
                                          <p:spTgt spid="140"/>
                                        </p:tgtEl>
                                        <p:attrNameLst>
                                          <p:attrName>style.visibility</p:attrName>
                                        </p:attrNameLst>
                                      </p:cBhvr>
                                      <p:to>
                                        <p:strVal val="visible"/>
                                      </p:to>
                                    </p:set>
                                    <p:animEffect transition="in" filter="fade">
                                      <p:cBhvr>
                                        <p:cTn id="36" dur="500"/>
                                        <p:tgtEl>
                                          <p:spTgt spid="140"/>
                                        </p:tgtEl>
                                      </p:cBhvr>
                                    </p:animEffect>
                                  </p:childTnLst>
                                </p:cTn>
                              </p:par>
                            </p:childTnLst>
                          </p:cTn>
                        </p:par>
                        <p:par>
                          <p:cTn id="37" fill="hold">
                            <p:stCondLst>
                              <p:cond delay="0"/>
                            </p:stCondLst>
                            <p:childTnLst>
                              <p:par>
                                <p:cTn id="38" presetID="10" presetClass="entr" presetSubtype="0" fill="hold" grpId="8" nodeType="withEffect">
                                  <p:stCondLst>
                                    <p:cond delay="0"/>
                                  </p:stCondLst>
                                  <p:childTnLst>
                                    <p:set>
                                      <p:cBhvr>
                                        <p:cTn id="39" dur="1" fill="hold">
                                          <p:stCondLst>
                                            <p:cond delay="0"/>
                                          </p:stCondLst>
                                        </p:cTn>
                                        <p:tgtEl>
                                          <p:spTgt spid="141"/>
                                        </p:tgtEl>
                                        <p:attrNameLst>
                                          <p:attrName>style.visibility</p:attrName>
                                        </p:attrNameLst>
                                      </p:cBhvr>
                                      <p:to>
                                        <p:strVal val="visible"/>
                                      </p:to>
                                    </p:set>
                                    <p:animEffect transition="in" filter="fade">
                                      <p:cBhvr>
                                        <p:cTn id="40" dur="500"/>
                                        <p:tgtEl>
                                          <p:spTgt spid="141"/>
                                        </p:tgtEl>
                                      </p:cBhvr>
                                    </p:animEffect>
                                  </p:childTnLst>
                                </p:cTn>
                              </p:par>
                            </p:childTnLst>
                          </p:cTn>
                        </p:par>
                        <p:par>
                          <p:cTn id="41" fill="hold">
                            <p:stCondLst>
                              <p:cond delay="0"/>
                            </p:stCondLst>
                            <p:childTnLst>
                              <p:par>
                                <p:cTn id="42" presetID="10" presetClass="entr" presetSubtype="0" fill="hold" grpId="9"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par>
                          <p:cTn id="45" fill="hold">
                            <p:stCondLst>
                              <p:cond delay="0"/>
                            </p:stCondLst>
                            <p:childTnLst>
                              <p:par>
                                <p:cTn id="46" presetID="10" presetClass="entr" presetSubtype="0" fill="hold" grpId="10" nodeType="withEffect">
                                  <p:stCondLst>
                                    <p:cond delay="0"/>
                                  </p:stCondLst>
                                  <p:childTnLst>
                                    <p:set>
                                      <p:cBhvr>
                                        <p:cTn id="47" dur="1" fill="hold">
                                          <p:stCondLst>
                                            <p:cond delay="0"/>
                                          </p:stCondLst>
                                        </p:cTn>
                                        <p:tgtEl>
                                          <p:spTgt spid="143"/>
                                        </p:tgtEl>
                                        <p:attrNameLst>
                                          <p:attrName>style.visibility</p:attrName>
                                        </p:attrNameLst>
                                      </p:cBhvr>
                                      <p:to>
                                        <p:strVal val="visible"/>
                                      </p:to>
                                    </p:set>
                                    <p:animEffect transition="in" filter="fade">
                                      <p:cBhvr>
                                        <p:cTn id="48" dur="500"/>
                                        <p:tgtEl>
                                          <p:spTgt spid="143"/>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11" nodeType="clickEffect">
                                  <p:stCondLst>
                                    <p:cond delay="0"/>
                                  </p:stCondLst>
                                  <p:childTnLst>
                                    <p:set>
                                      <p:cBhvr>
                                        <p:cTn id="52" dur="1" fill="hold">
                                          <p:stCondLst>
                                            <p:cond delay="0"/>
                                          </p:stCondLst>
                                        </p:cTn>
                                        <p:tgtEl>
                                          <p:spTgt spid="150"/>
                                        </p:tgtEl>
                                        <p:attrNameLst>
                                          <p:attrName>style.visibility</p:attrName>
                                        </p:attrNameLst>
                                      </p:cBhvr>
                                      <p:to>
                                        <p:strVal val="visible"/>
                                      </p:to>
                                    </p:set>
                                    <p:animEffect transition="in" filter="fade">
                                      <p:cBhvr>
                                        <p:cTn id="53" dur="500"/>
                                        <p:tgtEl>
                                          <p:spTgt spid="150"/>
                                        </p:tgtEl>
                                      </p:cBhvr>
                                    </p:animEffect>
                                  </p:childTnLst>
                                </p:cTn>
                              </p:par>
                            </p:childTnLst>
                          </p:cTn>
                        </p:par>
                        <p:par>
                          <p:cTn id="54" fill="hold">
                            <p:stCondLst>
                              <p:cond delay="0"/>
                            </p:stCondLst>
                            <p:childTnLst>
                              <p:par>
                                <p:cTn id="55" presetID="10" presetClass="entr" presetSubtype="0" fill="hold" grpId="12" nodeType="withEffect">
                                  <p:stCondLst>
                                    <p:cond delay="0"/>
                                  </p:stCondLst>
                                  <p:childTnLst>
                                    <p:set>
                                      <p:cBhvr>
                                        <p:cTn id="56" dur="1" fill="hold">
                                          <p:stCondLst>
                                            <p:cond delay="0"/>
                                          </p:stCondLst>
                                        </p:cTn>
                                        <p:tgtEl>
                                          <p:spTgt spid="151"/>
                                        </p:tgtEl>
                                        <p:attrNameLst>
                                          <p:attrName>style.visibility</p:attrName>
                                        </p:attrNameLst>
                                      </p:cBhvr>
                                      <p:to>
                                        <p:strVal val="visible"/>
                                      </p:to>
                                    </p:set>
                                    <p:animEffect transition="in" filter="fade">
                                      <p:cBhvr>
                                        <p:cTn id="57" dur="500"/>
                                        <p:tgtEl>
                                          <p:spTgt spid="151"/>
                                        </p:tgtEl>
                                      </p:cBhvr>
                                    </p:animEffect>
                                  </p:childTnLst>
                                </p:cTn>
                              </p:par>
                            </p:childTnLst>
                          </p:cTn>
                        </p:par>
                        <p:par>
                          <p:cTn id="58" fill="hold">
                            <p:stCondLst>
                              <p:cond delay="0"/>
                            </p:stCondLst>
                            <p:childTnLst>
                              <p:par>
                                <p:cTn id="59" presetID="10" presetClass="entr" presetSubtype="0" fill="hold" grpId="13" nodeType="withEffect">
                                  <p:stCondLst>
                                    <p:cond delay="0"/>
                                  </p:stCondLst>
                                  <p:childTnLst>
                                    <p:set>
                                      <p:cBhvr>
                                        <p:cTn id="60" dur="1" fill="hold">
                                          <p:stCondLst>
                                            <p:cond delay="0"/>
                                          </p:stCondLst>
                                        </p:cTn>
                                        <p:tgtEl>
                                          <p:spTgt spid="159"/>
                                        </p:tgtEl>
                                        <p:attrNameLst>
                                          <p:attrName>style.visibility</p:attrName>
                                        </p:attrNameLst>
                                      </p:cBhvr>
                                      <p:to>
                                        <p:strVal val="visible"/>
                                      </p:to>
                                    </p:set>
                                    <p:animEffect transition="in" filter="fade">
                                      <p:cBhvr>
                                        <p:cTn id="61" dur="500"/>
                                        <p:tgtEl>
                                          <p:spTgt spid="159"/>
                                        </p:tgtEl>
                                      </p:cBhvr>
                                    </p:animEffect>
                                  </p:childTnLst>
                                </p:cTn>
                              </p:par>
                            </p:childTnLst>
                          </p:cTn>
                        </p:par>
                        <p:par>
                          <p:cTn id="62" fill="hold">
                            <p:stCondLst>
                              <p:cond delay="0"/>
                            </p:stCondLst>
                            <p:childTnLst>
                              <p:par>
                                <p:cTn id="63" presetID="10" presetClass="entr" presetSubtype="0" fill="hold" grpId="14" nodeType="withEffect">
                                  <p:stCondLst>
                                    <p:cond delay="0"/>
                                  </p:stCondLst>
                                  <p:childTnLst>
                                    <p:set>
                                      <p:cBhvr>
                                        <p:cTn id="64" dur="1" fill="hold">
                                          <p:stCondLst>
                                            <p:cond delay="0"/>
                                          </p:stCondLst>
                                        </p:cTn>
                                        <p:tgtEl>
                                          <p:spTgt spid="160"/>
                                        </p:tgtEl>
                                        <p:attrNameLst>
                                          <p:attrName>style.visibility</p:attrName>
                                        </p:attrNameLst>
                                      </p:cBhvr>
                                      <p:to>
                                        <p:strVal val="visible"/>
                                      </p:to>
                                    </p:set>
                                    <p:animEffect transition="in" filter="fade">
                                      <p:cBhvr>
                                        <p:cTn id="65" dur="500"/>
                                        <p:tgtEl>
                                          <p:spTgt spid="160"/>
                                        </p:tgtEl>
                                      </p:cBhvr>
                                    </p:animEffect>
                                  </p:childTnLst>
                                </p:cTn>
                              </p:par>
                            </p:childTnLst>
                          </p:cTn>
                        </p:par>
                        <p:par>
                          <p:cTn id="66" fill="hold">
                            <p:stCondLst>
                              <p:cond delay="0"/>
                            </p:stCondLst>
                            <p:childTnLst>
                              <p:par>
                                <p:cTn id="67" presetID="10" presetClass="entr" presetSubtype="0" fill="hold" grpId="15" nodeType="withEffect">
                                  <p:stCondLst>
                                    <p:cond delay="0"/>
                                  </p:stCondLst>
                                  <p:childTnLst>
                                    <p:set>
                                      <p:cBhvr>
                                        <p:cTn id="68" dur="1" fill="hold">
                                          <p:stCondLst>
                                            <p:cond delay="0"/>
                                          </p:stCondLst>
                                        </p:cTn>
                                        <p:tgtEl>
                                          <p:spTgt spid="161"/>
                                        </p:tgtEl>
                                        <p:attrNameLst>
                                          <p:attrName>style.visibility</p:attrName>
                                        </p:attrNameLst>
                                      </p:cBhvr>
                                      <p:to>
                                        <p:strVal val="visible"/>
                                      </p:to>
                                    </p:set>
                                    <p:animEffect transition="in" filter="fade">
                                      <p:cBhvr>
                                        <p:cTn id="69" dur="500"/>
                                        <p:tgtEl>
                                          <p:spTgt spid="161"/>
                                        </p:tgtEl>
                                      </p:cBhvr>
                                    </p:animEffect>
                                  </p:childTnLst>
                                </p:cTn>
                              </p:par>
                            </p:childTnLst>
                          </p:cTn>
                        </p:par>
                        <p:par>
                          <p:cTn id="70" fill="hold">
                            <p:stCondLst>
                              <p:cond delay="0"/>
                            </p:stCondLst>
                            <p:childTnLst>
                              <p:par>
                                <p:cTn id="71" presetID="10" presetClass="entr" presetSubtype="0" fill="hold" grpId="16" nodeType="withEffect">
                                  <p:stCondLst>
                                    <p:cond delay="0"/>
                                  </p:stCondLst>
                                  <p:childTnLst>
                                    <p:set>
                                      <p:cBhvr>
                                        <p:cTn id="72" dur="1" fill="hold">
                                          <p:stCondLst>
                                            <p:cond delay="0"/>
                                          </p:stCondLst>
                                        </p:cTn>
                                        <p:tgtEl>
                                          <p:spTgt spid="162"/>
                                        </p:tgtEl>
                                        <p:attrNameLst>
                                          <p:attrName>style.visibility</p:attrName>
                                        </p:attrNameLst>
                                      </p:cBhvr>
                                      <p:to>
                                        <p:strVal val="visible"/>
                                      </p:to>
                                    </p:set>
                                    <p:animEffect transition="in" filter="fade">
                                      <p:cBhvr>
                                        <p:cTn id="73" dur="500"/>
                                        <p:tgtEl>
                                          <p:spTgt spid="162"/>
                                        </p:tgtEl>
                                      </p:cBhvr>
                                    </p:animEffect>
                                  </p:childTnLst>
                                </p:cTn>
                              </p:par>
                            </p:childTnLst>
                          </p:cTn>
                        </p:par>
                        <p:par>
                          <p:cTn id="74" fill="hold">
                            <p:stCondLst>
                              <p:cond delay="0"/>
                            </p:stCondLst>
                            <p:childTnLst>
                              <p:par>
                                <p:cTn id="75" presetID="10" presetClass="entr" presetSubtype="0" fill="hold" grpId="17" nodeType="withEffect">
                                  <p:stCondLst>
                                    <p:cond delay="0"/>
                                  </p:stCondLst>
                                  <p:childTnLst>
                                    <p:set>
                                      <p:cBhvr>
                                        <p:cTn id="76" dur="1" fill="hold">
                                          <p:stCondLst>
                                            <p:cond delay="0"/>
                                          </p:stCondLst>
                                        </p:cTn>
                                        <p:tgtEl>
                                          <p:spTgt spid="170"/>
                                        </p:tgtEl>
                                        <p:attrNameLst>
                                          <p:attrName>style.visibility</p:attrName>
                                        </p:attrNameLst>
                                      </p:cBhvr>
                                      <p:to>
                                        <p:strVal val="visible"/>
                                      </p:to>
                                    </p:set>
                                    <p:animEffect transition="in" filter="fade">
                                      <p:cBhvr>
                                        <p:cTn id="77" dur="500"/>
                                        <p:tgtEl>
                                          <p:spTgt spid="1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p:bldP spid="111" grpId="1"/>
      <p:bldP spid="120" grpId="2"/>
      <p:bldP spid="121" grpId="3"/>
      <p:bldP spid="122" grpId="4"/>
      <p:bldP spid="130" grpId="5"/>
      <p:bldP spid="131" grpId="6"/>
      <p:bldP spid="140" grpId="7"/>
      <p:bldP spid="141" grpId="8"/>
      <p:bldP spid="142" grpId="9"/>
      <p:bldP spid="143" grpId="10"/>
      <p:bldP spid="150" grpId="11"/>
      <p:bldP spid="151" grpId="12"/>
      <p:bldP spid="159" grpId="13"/>
      <p:bldP spid="160" grpId="14"/>
      <p:bldP spid="161" grpId="15"/>
      <p:bldP spid="162" grpId="16"/>
      <p:bldP spid="170" grpId="17"/>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Opening a box does not erase</a:t>
            </a:r>
          </a:p>
          <a:p>
            <a:pPr algn="ctr">
              <a:spcBef>
                <a:spcPts val="120"/>
              </a:spcBef>
              <a:buNone/>
            </a:pPr>
            <a:r>
              <a:rPr lang="en-US" sz="28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changes when we open a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ARCHITECTURAL VIEW</a:t>
            </a:r>
          </a:p>
        </p:txBody>
      </p:sp>
      <p:sp>
        <p:nvSpPr>
          <p:cNvPr id="101" name="Label"/>
          <p:cNvSpPr txBox="1"/>
          <p:nvPr/>
        </p:nvSpPr>
        <p:spPr>
          <a:xfrm>
            <a:off x="51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DESIGN VIEW</a:t>
            </a:r>
          </a:p>
        </p:txBody>
      </p:sp>
      <p:sp>
        <p:nvSpPr>
          <p:cNvPr id="102" name="S102"/>
          <p:cNvSpPr/>
          <p:nvPr/>
        </p:nvSpPr>
        <p:spPr>
          <a:xfrm>
            <a:off x="900000" y="1400000"/>
            <a:ext cx="290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ADVICE SERVICE</a:t>
            </a:r>
          </a:p>
          <a:p>
            <a:pPr algn="ctr">
              <a:spcBef>
                <a:spcPts val="200"/>
              </a:spcBef>
              <a:buNone/>
            </a:pPr>
            <a:r>
              <a:rPr lang="en-US" sz="1600" b="0" i="0" dirty="0">
                <a:solidFill>
                  <a:srgbClr val="5C4826"/>
                </a:solidFill>
              </a:rPr>
              <a:t/>
            </a:r>
          </a:p>
          <a:p>
            <a:pPr algn="ctr">
              <a:spcBef>
                <a:spcPts val="200"/>
              </a:spcBef>
              <a:buNone/>
            </a:pPr>
            <a:r>
              <a:rPr lang="en-US" sz="1600" b="0" i="0" dirty="0">
                <a:solidFill>
                  <a:srgbClr val="5C4826"/>
                </a:solidFill>
              </a:rPr>
              <a:t>responsibility</a:t>
            </a:r>
          </a:p>
          <a:p>
            <a:pPr algn="ctr">
              <a:spcBef>
                <a:spcPts val="200"/>
              </a:spcBef>
              <a:buNone/>
            </a:pPr>
            <a:r>
              <a:rPr lang="en-US" sz="1600" b="0" i="0" dirty="0">
                <a:solidFill>
                  <a:srgbClr val="5C4826"/>
                </a:solidFill>
              </a:rPr>
              <a:t>interface</a:t>
            </a:r>
          </a:p>
        </p:txBody>
      </p:sp>
      <p:sp>
        <p:nvSpPr>
          <p:cNvPr id="103" name="S103"/>
          <p:cNvSpPr/>
          <p:nvPr/>
        </p:nvSpPr>
        <p:spPr>
          <a:xfrm>
            <a:off x="5150000" y="1400000"/>
            <a:ext cx="2900000" cy="190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800" b="0" i="0" dirty="0">
                <a:solidFill>
                  <a:srgbClr val="555960"/>
                </a:solidFill>
              </a:rPr>
              <a:t>?   ?   ?</a:t>
            </a:r>
          </a:p>
          <a:p>
            <a:pPr algn="ctr">
              <a:spcBef>
                <a:spcPts val="140"/>
              </a:spcBef>
              <a:buNone/>
            </a:pPr>
            <a:r>
              <a:rPr lang="en-US" sz="1800" b="0" i="0" dirty="0">
                <a:solidFill>
                  <a:srgbClr val="555960"/>
                </a:solidFill>
              </a:rPr>
              <a:t>\  |  /</a:t>
            </a:r>
          </a:p>
          <a:p>
            <a:pPr algn="ctr">
              <a:spcBef>
                <a:spcPts val="140"/>
              </a:spcBef>
              <a:buNone/>
            </a:pPr>
            <a:r>
              <a:rPr lang="en-US" sz="1800" b="0" i="0" dirty="0">
                <a:solidFill>
                  <a:srgbClr val="555960"/>
                </a:solidFill>
              </a:rPr>
              <a:t>?</a:t>
            </a:r>
          </a:p>
        </p:txBody>
      </p:sp>
      <p:cxnSp>
        <p:nvCxnSpPr>
          <p:cNvPr id="104" name="L104"/>
          <p:cNvCxnSpPr/>
          <p:nvPr/>
        </p:nvCxnSpPr>
        <p:spPr>
          <a:xfrm>
            <a:off x="3900000" y="2320000"/>
            <a:ext cx="1180000" cy="0"/>
          </a:xfrm>
          <a:prstGeom prst="straightConnector1">
            <a:avLst/>
          </a:prstGeom>
          <a:ln w="44450">
            <a:solidFill>
              <a:srgbClr val="8E6F3E"/>
            </a:solidFill>
            <a:tailEnd type="triangle" w="med" len="med"/>
          </a:ln>
        </p:spPr>
      </p:cxnSp>
      <p:sp>
        <p:nvSpPr>
          <p:cNvPr id="105" name="Label"/>
          <p:cNvSpPr txBox="1"/>
          <p:nvPr/>
        </p:nvSpPr>
        <p:spPr>
          <a:xfrm>
            <a:off x="3860000" y="1980000"/>
            <a:ext cx="1300000" cy="33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OPEN</a:t>
            </a:r>
          </a:p>
        </p:txBody>
      </p:sp>
      <p:sp>
        <p:nvSpPr>
          <p:cNvPr id="106" name="Remains"/>
          <p:cNvSpPr txBox="1"/>
          <p:nvPr/>
        </p:nvSpPr>
        <p:spPr>
          <a:xfrm>
            <a:off x="900000" y="3450000"/>
            <a:ext cx="3000000" cy="900000"/>
          </a:xfrm>
          <a:prstGeom prst="rect">
            <a:avLst/>
          </a:prstGeom>
          <a:noFill/>
          <a:ln>
            <a:noFill/>
          </a:ln>
        </p:spPr>
        <p:txBody>
          <a:bodyPr wrap="square" lIns="0" tIns="0" rIns="0" bIns="0" anchor="t">
            <a:normAutofit/>
          </a:bodyPr>
          <a:lstStyle/>
          <a:p>
            <a:pPr algn="l">
              <a:buNone/>
            </a:pPr>
            <a:r>
              <a:rPr lang="en-US" sz="1500" b="0" i="0" dirty="0">
                <a:solidFill>
                  <a:srgbClr val="000000"/>
                </a:solidFill>
              </a:rPr>
              <a:t>responsibility remains</a:t>
            </a:r>
          </a:p>
          <a:p>
            <a:pPr algn="l">
              <a:spcBef>
                <a:spcPts val="100"/>
              </a:spcBef>
              <a:buNone/>
            </a:pPr>
            <a:r>
              <a:rPr lang="en-US" sz="1500" b="0" i="0" dirty="0">
                <a:solidFill>
                  <a:srgbClr val="000000"/>
                </a:solidFill>
              </a:rPr>
              <a:t>interface remains</a:t>
            </a:r>
          </a:p>
          <a:p>
            <a:pPr algn="l">
              <a:spcBef>
                <a:spcPts val="100"/>
              </a:spcBef>
              <a:buNone/>
            </a:pPr>
            <a:r>
              <a:rPr lang="en-US" sz="1500" b="0" i="0" dirty="0">
                <a:solidFill>
                  <a:srgbClr val="000000"/>
                </a:solidFill>
              </a:rPr>
              <a:t>internals become our problem</a:t>
            </a:r>
          </a:p>
        </p:txBody>
      </p:sp>
      <p:sp>
        <p:nvSpPr>
          <p:cNvPr id="107"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opens an architectural unit without discarding what the unit was required to be.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120"/>
              </a:spcBef>
              <a:buNone/>
            </a:pPr>
            <a:r>
              <a:rPr lang="en-US" sz="1400" b="0" i="1" dirty="0">
                <a:solidFill>
                  <a:srgbClr val="FFFFFF"/>
                </a:solidFill>
              </a:rPr>
              <a:t>what must be true</a:t>
            </a:r>
          </a:p>
        </p:txBody>
      </p:sp>
      <p:cxnSp>
        <p:nvCxnSpPr>
          <p:cNvPr id="101" name="L101"/>
          <p:cNvCxnSpPr/>
          <p:nvPr/>
        </p:nvCxnSpPr>
        <p:spPr>
          <a:xfrm>
            <a:off x="1762000" y="2070000"/>
            <a:ext cx="0" cy="380000"/>
          </a:xfrm>
          <a:prstGeom prst="straightConnector1">
            <a:avLst/>
          </a:prstGeom>
          <a:ln w="38100">
            <a:solidFill>
              <a:srgbClr val="8E6F3E"/>
            </a:solidFill>
            <a:tailEnd type="triangle" w="med" len="med"/>
          </a:ln>
        </p:spPr>
      </p:cxnSp>
      <p:sp>
        <p:nvSpPr>
          <p:cNvPr id="102" name="S102"/>
          <p:cNvSpPr/>
          <p:nvPr/>
        </p:nvSpPr>
        <p:spPr>
          <a:xfrm>
            <a:off x="48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latency</a:t>
            </a:r>
          </a:p>
          <a:p>
            <a:pPr algn="ctr">
              <a:spcBef>
                <a:spcPts val="120"/>
              </a:spcBef>
              <a:buNone/>
            </a:pPr>
            <a:r>
              <a:rPr lang="en-US" sz="1500" b="0" i="0" dirty="0">
                <a:solidFill>
                  <a:srgbClr val="000000"/>
                </a:solidFill>
              </a:rPr>
              <a:t>privacy</a:t>
            </a:r>
          </a:p>
          <a:p>
            <a:pPr algn="ctr">
              <a:spcBef>
                <a:spcPts val="120"/>
              </a:spcBef>
              <a:buNone/>
            </a:pPr>
            <a:r>
              <a:rPr lang="en-US" sz="1500" b="0" i="0" dirty="0">
                <a:solidFill>
                  <a:srgbClr val="000000"/>
                </a:solidFill>
              </a:rPr>
              <a:t>correctness</a:t>
            </a:r>
          </a:p>
        </p:txBody>
      </p:sp>
      <p:sp>
        <p:nvSpPr>
          <p:cNvPr id="103" name="S103"/>
          <p:cNvSpPr/>
          <p:nvPr/>
        </p:nvSpPr>
        <p:spPr>
          <a:xfrm>
            <a:off x="329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120"/>
              </a:spcBef>
              <a:buNone/>
            </a:pPr>
            <a:r>
              <a:rPr lang="en-US" sz="1400" b="0" i="1" dirty="0">
                <a:solidFill>
                  <a:srgbClr val="FFFFFF"/>
                </a:solidFill>
              </a:rPr>
              <a:t>strategy</a:t>
            </a:r>
          </a:p>
        </p:txBody>
      </p:sp>
      <p:cxnSp>
        <p:nvCxnSpPr>
          <p:cNvPr id="104" name="L104"/>
          <p:cNvCxnSpPr/>
          <p:nvPr/>
        </p:nvCxnSpPr>
        <p:spPr>
          <a:xfrm>
            <a:off x="4572000" y="2070000"/>
            <a:ext cx="0" cy="380000"/>
          </a:xfrm>
          <a:prstGeom prst="straightConnector1">
            <a:avLst/>
          </a:prstGeom>
          <a:ln w="38100">
            <a:solidFill>
              <a:srgbClr val="8E6F3E"/>
            </a:solidFill>
            <a:tailEnd type="triangle" w="med" len="med"/>
          </a:ln>
        </p:spPr>
      </p:cxnSp>
      <p:sp>
        <p:nvSpPr>
          <p:cNvPr id="105" name="S105"/>
          <p:cNvSpPr/>
          <p:nvPr/>
        </p:nvSpPr>
        <p:spPr>
          <a:xfrm>
            <a:off x="329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responsibility</a:t>
            </a:r>
          </a:p>
          <a:p>
            <a:pPr algn="ctr">
              <a:spcBef>
                <a:spcPts val="120"/>
              </a:spcBef>
              <a:buNone/>
            </a:pPr>
            <a:r>
              <a:rPr lang="en-US" sz="1500" b="0" i="0" dirty="0">
                <a:solidFill>
                  <a:srgbClr val="000000"/>
                </a:solidFill>
              </a:rPr>
              <a:t>interface</a:t>
            </a:r>
          </a:p>
          <a:p>
            <a:pPr algn="ctr">
              <a:spcBef>
                <a:spcPts val="120"/>
              </a:spcBef>
              <a:buNone/>
            </a:pPr>
            <a:r>
              <a:rPr lang="en-US" sz="1500" b="0" i="0" dirty="0">
                <a:solidFill>
                  <a:srgbClr val="000000"/>
                </a:solidFill>
              </a:rPr>
              <a:t>interaction rules</a:t>
            </a:r>
          </a:p>
        </p:txBody>
      </p:sp>
      <p:sp>
        <p:nvSpPr>
          <p:cNvPr id="106" name="S106"/>
          <p:cNvSpPr/>
          <p:nvPr/>
        </p:nvSpPr>
        <p:spPr>
          <a:xfrm>
            <a:off x="610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ENGINEERING ENVIRONMENT</a:t>
            </a:r>
          </a:p>
          <a:p>
            <a:pPr algn="ctr">
              <a:spcBef>
                <a:spcPts val="120"/>
              </a:spcBef>
              <a:buNone/>
            </a:pPr>
            <a:r>
              <a:rPr lang="en-US" sz="1400" b="0" i="1" dirty="0">
                <a:solidFill>
                  <a:srgbClr val="FFFFFF"/>
                </a:solidFill>
              </a:rPr>
              <a:t>how we work here</a:t>
            </a:r>
          </a:p>
        </p:txBody>
      </p:sp>
      <p:cxnSp>
        <p:nvCxnSpPr>
          <p:cNvPr id="107" name="L107"/>
          <p:cNvCxnSpPr/>
          <p:nvPr/>
        </p:nvCxnSpPr>
        <p:spPr>
          <a:xfrm>
            <a:off x="7382000" y="2070000"/>
            <a:ext cx="0" cy="380000"/>
          </a:xfrm>
          <a:prstGeom prst="straightConnector1">
            <a:avLst/>
          </a:prstGeom>
          <a:ln w="38100">
            <a:solidFill>
              <a:srgbClr val="8E6F3E"/>
            </a:solidFill>
            <a:tailEnd type="triangle" w="med" len="med"/>
          </a:ln>
        </p:spPr>
      </p:cxnSp>
      <p:sp>
        <p:nvSpPr>
          <p:cNvPr id="108" name="S108"/>
          <p:cNvSpPr/>
          <p:nvPr/>
        </p:nvSpPr>
        <p:spPr>
          <a:xfrm>
            <a:off x="610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frameworks</a:t>
            </a:r>
          </a:p>
          <a:p>
            <a:pPr algn="ctr">
              <a:spcBef>
                <a:spcPts val="120"/>
              </a:spcBef>
              <a:buNone/>
            </a:pPr>
            <a:r>
              <a:rPr lang="en-US" sz="1500" b="0" i="0" dirty="0">
                <a:solidFill>
                  <a:srgbClr val="000000"/>
                </a:solidFill>
              </a:rPr>
              <a:t>conventions</a:t>
            </a:r>
          </a:p>
          <a:p>
            <a:pPr algn="ctr">
              <a:spcBef>
                <a:spcPts val="120"/>
              </a:spcBef>
              <a:buNone/>
            </a:pPr>
            <a:r>
              <a:rPr lang="en-US" sz="1500" b="0" i="0" dirty="0">
                <a:solidFill>
                  <a:srgbClr val="000000"/>
                </a:solidFill>
              </a:rPr>
              <a:t>shared mechanisms</a:t>
            </a:r>
          </a:p>
          <a:p>
            <a:pPr algn="ctr">
              <a:spcBef>
                <a:spcPts val="120"/>
              </a:spcBef>
              <a:buNone/>
            </a:pPr>
            <a:r>
              <a:rPr lang="en-US" sz="1500" b="0" i="0" dirty="0">
                <a:solidFill>
                  <a:srgbClr val="000000"/>
                </a:solidFill>
              </a:rPr>
              <a:t>controls</a:t>
            </a:r>
          </a:p>
        </p:txBody>
      </p:sp>
      <p:sp>
        <p:nvSpPr>
          <p:cNvPr id="109" name="S109"/>
          <p:cNvSpPr/>
          <p:nvPr/>
        </p:nvSpPr>
        <p:spPr>
          <a:xfrm>
            <a:off x="2872000" y="4150000"/>
            <a:ext cx="34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2000" b="1" i="0" dirty="0">
                <a:solidFill>
                  <a:srgbClr val="5C4826"/>
                </a:solidFill>
              </a:rPr>
              <a:t>DESIGN SPACE</a:t>
            </a:r>
          </a:p>
        </p:txBody>
      </p:sp>
      <p:cxnSp>
        <p:nvCxnSpPr>
          <p:cNvPr id="110" name="L110"/>
          <p:cNvCxnSpPr/>
          <p:nvPr/>
        </p:nvCxnSpPr>
        <p:spPr>
          <a:xfrm>
            <a:off x="1762000" y="3880000"/>
            <a:ext cx="2810000" cy="260000"/>
          </a:xfrm>
          <a:prstGeom prst="straightConnector1">
            <a:avLst/>
          </a:prstGeom>
          <a:ln w="38100">
            <a:solidFill>
              <a:srgbClr val="8E6F3E"/>
            </a:solidFill>
            <a:tailEnd type="triangle" w="med" len="med"/>
          </a:ln>
        </p:spPr>
      </p:cxnSp>
      <p:cxnSp>
        <p:nvCxnSpPr>
          <p:cNvPr id="111" name="L111"/>
          <p:cNvCxnSpPr/>
          <p:nvPr/>
        </p:nvCxnSpPr>
        <p:spPr>
          <a:xfrm>
            <a:off x="4572000" y="3880000"/>
            <a:ext cx="0" cy="260000"/>
          </a:xfrm>
          <a:prstGeom prst="straightConnector1">
            <a:avLst/>
          </a:prstGeom>
          <a:ln w="38100">
            <a:solidFill>
              <a:srgbClr val="8E6F3E"/>
            </a:solidFill>
            <a:tailEnd type="triangle" w="med" len="med"/>
          </a:ln>
        </p:spPr>
      </p:cxnSp>
      <p:cxnSp>
        <p:nvCxnSpPr>
          <p:cNvPr id="112" name="L112"/>
          <p:cNvCxnSpPr/>
          <p:nvPr/>
        </p:nvCxnSpPr>
        <p:spPr>
          <a:xfrm flipH="1">
            <a:off x="4572000" y="3880000"/>
            <a:ext cx="2810000" cy="260000"/>
          </a:xfrm>
          <a:prstGeom prst="straightConnector1">
            <a:avLst/>
          </a:prstGeom>
          <a:ln w="38100">
            <a:solidFill>
              <a:srgbClr val="8E6F3E"/>
            </a:solidFill>
            <a:tailEnd type="triangle" w="med" len="med"/>
          </a:ln>
        </p:spPr>
      </p:cxnSp>
      <p:sp>
        <p:nvSpPr>
          <p:cNvPr id="11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78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000000"/>
                </a:solidFill>
              </a:rPr>
              <a:t>ALL POSSIBLE INTERNAL DESIGNS</a:t>
            </a:r>
          </a:p>
        </p:txBody>
      </p:sp>
      <p:sp>
        <p:nvSpPr>
          <p:cNvPr id="101" name="S101"/>
          <p:cNvSpPr/>
          <p:nvPr/>
        </p:nvSpPr>
        <p:spPr>
          <a:xfrm>
            <a:off x="277148" y="1770000"/>
            <a:ext cx="61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Specification</a:t>
            </a:r>
          </a:p>
        </p:txBody>
      </p:sp>
      <p:sp>
        <p:nvSpPr>
          <p:cNvPr id="102" name="S102"/>
          <p:cNvSpPr/>
          <p:nvPr/>
        </p:nvSpPr>
        <p:spPr>
          <a:xfrm>
            <a:off x="277148" y="2490000"/>
            <a:ext cx="47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Architecture</a:t>
            </a:r>
          </a:p>
        </p:txBody>
      </p:sp>
      <p:sp>
        <p:nvSpPr>
          <p:cNvPr id="103" name="S103"/>
          <p:cNvSpPr/>
          <p:nvPr/>
        </p:nvSpPr>
        <p:spPr>
          <a:xfrm>
            <a:off x="277148" y="3210000"/>
            <a:ext cx="36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Environment</a:t>
            </a:r>
          </a:p>
        </p:txBody>
      </p:sp>
      <p:sp>
        <p:nvSpPr>
          <p:cNvPr id="104" name="S104"/>
          <p:cNvSpPr/>
          <p:nvPr/>
        </p:nvSpPr>
        <p:spPr>
          <a:xfrm>
            <a:off x="277148" y="3930000"/>
            <a:ext cx="2400000" cy="56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REMAINING DoF</a:t>
            </a:r>
          </a:p>
        </p:txBody>
      </p:sp>
      <p:cxnSp>
        <p:nvCxnSpPr>
          <p:cNvPr id="105" name="L105"/>
          <p:cNvCxnSpPr/>
          <p:nvPr/>
        </p:nvCxnSpPr>
        <p:spPr>
          <a:xfrm flipV="1">
            <a:off x="1477148" y="3770000"/>
            <a:ext cx="0" cy="160000"/>
          </a:xfrm>
          <a:prstGeom prst="straightConnector1">
            <a:avLst/>
          </a:prstGeom>
          <a:ln w="38100">
            <a:solidFill>
              <a:srgbClr val="8E6F3E"/>
            </a:solidFill>
            <a:tailEnd type="triangle" w="med" len="med"/>
          </a:ln>
        </p:spPr>
      </p:cxnSp>
      <p:sp>
        <p:nvSpPr>
          <p:cNvPr id="106" name="Text"/>
          <p:cNvSpPr txBox="1"/>
          <p:nvPr/>
        </p:nvSpPr>
        <p:spPr>
          <a:xfrm>
            <a:off x="277148" y="4570000"/>
            <a:ext cx="8589704" cy="400000"/>
          </a:xfrm>
          <a:prstGeom prst="rect">
            <a:avLst/>
          </a:prstGeom>
          <a:noFill/>
          <a:ln>
            <a:noFill/>
          </a:ln>
        </p:spPr>
        <p:txBody>
          <a:bodyPr wrap="square" lIns="0" tIns="0" rIns="0" bIns="0" anchor="t">
            <a:normAutofit/>
          </a:bodyPr>
          <a:lstStyle/>
          <a:p>
            <a:pPr algn="ctr">
              <a:buNone/>
            </a:pPr>
            <a:r>
              <a:rPr lang="en-US" sz="20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invent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FOLLOW</a:t>
            </a:r>
          </a:p>
        </p:txBody>
      </p:sp>
      <p:sp>
        <p:nvSpPr>
          <p:cNvPr id="101" name="S101"/>
          <p:cNvSpPr/>
          <p:nvPr/>
        </p:nvSpPr>
        <p:spPr>
          <a:xfrm>
            <a:off x="48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Already answered</a:t>
            </a:r>
          </a:p>
          <a:p>
            <a:pPr algn="ctr">
              <a:spcBef>
                <a:spcPts val="140"/>
              </a:spcBef>
              <a:buNone/>
            </a:pPr>
            <a:r>
              <a:rPr lang="en-US" sz="1600" b="0" i="0" dirty="0">
                <a:solidFill>
                  <a:srgbClr val="000000"/>
                </a:solidFill>
              </a:rPr>
              <a:t>Use the established</a:t>
            </a:r>
          </a:p>
          <a:p>
            <a:pPr algn="ctr">
              <a:spcBef>
                <a:spcPts val="140"/>
              </a:spcBef>
              <a:buNone/>
            </a:pPr>
            <a:r>
              <a:rPr lang="en-US" sz="1600" b="0" i="0" dirty="0">
                <a:solidFill>
                  <a:srgbClr val="000000"/>
                </a:solidFill>
              </a:rPr>
              <a:t>mechanism</a:t>
            </a:r>
          </a:p>
        </p:txBody>
      </p:sp>
      <p:sp>
        <p:nvSpPr>
          <p:cNvPr id="102" name="S102"/>
          <p:cNvSpPr/>
          <p:nvPr/>
        </p:nvSpPr>
        <p:spPr>
          <a:xfrm>
            <a:off x="329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CHOOSE</a:t>
            </a:r>
          </a:p>
        </p:txBody>
      </p:sp>
      <p:sp>
        <p:nvSpPr>
          <p:cNvPr id="103" name="S103"/>
          <p:cNvSpPr/>
          <p:nvPr/>
        </p:nvSpPr>
        <p:spPr>
          <a:xfrm>
            <a:off x="329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Genuinely local</a:t>
            </a:r>
          </a:p>
          <a:p>
            <a:pPr algn="ctr">
              <a:spcBef>
                <a:spcPts val="140"/>
              </a:spcBef>
              <a:buNone/>
            </a:pPr>
            <a:r>
              <a:rPr lang="en-US" sz="1600" b="0" i="0" dirty="0">
                <a:solidFill>
                  <a:srgbClr val="000000"/>
                </a:solidFill>
              </a:rPr>
              <a:t>Exercise Design</a:t>
            </a:r>
          </a:p>
          <a:p>
            <a:pPr algn="ctr">
              <a:spcBef>
                <a:spcPts val="140"/>
              </a:spcBef>
              <a:buNone/>
            </a:pPr>
            <a:r>
              <a:rPr lang="en-US" sz="1600" b="0" i="0" dirty="0">
                <a:solidFill>
                  <a:srgbClr val="000000"/>
                </a:solidFill>
              </a:rPr>
              <a:t>judgment</a:t>
            </a:r>
          </a:p>
        </p:txBody>
      </p:sp>
      <p:sp>
        <p:nvSpPr>
          <p:cNvPr id="104" name="S104"/>
          <p:cNvSpPr/>
          <p:nvPr/>
        </p:nvSpPr>
        <p:spPr>
          <a:xfrm>
            <a:off x="610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ESCALATE</a:t>
            </a:r>
          </a:p>
        </p:txBody>
      </p:sp>
      <p:sp>
        <p:nvSpPr>
          <p:cNvPr id="105" name="S105"/>
          <p:cNvSpPr/>
          <p:nvPr/>
        </p:nvSpPr>
        <p:spPr>
          <a:xfrm>
            <a:off x="610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Consequences escape</a:t>
            </a:r>
          </a:p>
          <a:p>
            <a:pPr algn="ctr">
              <a:spcBef>
                <a:spcPts val="140"/>
              </a:spcBef>
              <a:buNone/>
            </a:pPr>
            <a:r>
              <a:rPr lang="en-US" sz="1600" b="0" i="0" dirty="0">
                <a:solidFill>
                  <a:srgbClr val="000000"/>
                </a:solidFill>
              </a:rPr>
              <a:t>the box</a:t>
            </a:r>
          </a:p>
          <a:p>
            <a:pPr algn="ctr">
              <a:spcBef>
                <a:spcPts val="140"/>
              </a:spcBef>
              <a:buNone/>
            </a:pPr>
            <a:r>
              <a:rPr lang="en-US" sz="1600" b="0" i="0" dirty="0">
                <a:solidFill>
                  <a:srgbClr val="000000"/>
                </a:solidFill>
              </a:rPr>
              <a:t>The decision may</a:t>
            </a:r>
          </a:p>
          <a:p>
            <a:pPr algn="ctr">
              <a:spcBef>
                <a:spcPts val="140"/>
              </a:spcBef>
              <a:buNone/>
            </a:pPr>
            <a:r>
              <a:rPr lang="en-US" sz="1600" b="0" i="0" dirty="0">
                <a:solidFill>
                  <a:srgbClr val="000000"/>
                </a:solidFill>
              </a:rPr>
              <a:t>belong elsewhere</a:t>
            </a:r>
          </a:p>
        </p:txBody>
      </p:sp>
      <p:sp>
        <p:nvSpPr>
          <p:cNvPr id="106"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is strategy. Design is tactics.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372000" y="1050000"/>
            <a:ext cx="4400000" cy="100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ARCHITECTURE</a:t>
            </a:r>
          </a:p>
          <a:p>
            <a:pPr algn="ctr">
              <a:spcBef>
                <a:spcPts val="100"/>
              </a:spcBef>
              <a:buNone/>
            </a:pPr>
            <a:r>
              <a:rPr lang="en-US" sz="1600" b="0" i="1" dirty="0">
                <a:solidFill>
                  <a:srgbClr val="FFFFFF"/>
                </a:solidFill>
              </a:rPr>
              <a:t>strategy</a:t>
            </a:r>
          </a:p>
          <a:p>
            <a:pPr algn="ctr">
              <a:spcBef>
                <a:spcPts val="100"/>
              </a:spcBef>
              <a:buNone/>
            </a:pPr>
            <a:r>
              <a:rPr lang="en-US" sz="1500" b="0" i="0" dirty="0">
                <a:solidFill>
                  <a:srgbClr val="FFFFFF"/>
                </a:solidFill>
              </a:rPr>
              <a:t>affordances · constraints</a:t>
            </a:r>
          </a:p>
        </p:txBody>
      </p:sp>
      <p:cxnSp>
        <p:nvCxnSpPr>
          <p:cNvPr id="101" name="L101"/>
          <p:cNvCxnSpPr/>
          <p:nvPr/>
        </p:nvCxnSpPr>
        <p:spPr>
          <a:xfrm>
            <a:off x="4572000" y="2100000"/>
            <a:ext cx="0" cy="380000"/>
          </a:xfrm>
          <a:prstGeom prst="straightConnector1">
            <a:avLst/>
          </a:prstGeom>
          <a:ln w="38100">
            <a:solidFill>
              <a:srgbClr val="8E6F3E"/>
            </a:solidFill>
            <a:tailEnd type="triangle" w="med" len="med"/>
          </a:ln>
        </p:spPr>
      </p:cxnSp>
      <p:sp>
        <p:nvSpPr>
          <p:cNvPr id="102" name="S102"/>
          <p:cNvSpPr/>
          <p:nvPr/>
        </p:nvSpPr>
        <p:spPr>
          <a:xfrm>
            <a:off x="2372000" y="2560000"/>
            <a:ext cx="4400000" cy="100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2200" b="1" i="0" dirty="0">
                <a:solidFill>
                  <a:srgbClr val="5C4826"/>
                </a:solidFill>
              </a:rPr>
              <a:t>DESIGN</a:t>
            </a:r>
          </a:p>
          <a:p>
            <a:pPr algn="ctr">
              <a:spcBef>
                <a:spcPts val="100"/>
              </a:spcBef>
              <a:buNone/>
            </a:pPr>
            <a:r>
              <a:rPr lang="en-US" sz="1600" b="0" i="1" dirty="0">
                <a:solidFill>
                  <a:srgbClr val="5C4826"/>
                </a:solidFill>
              </a:rPr>
              <a:t>tactics</a:t>
            </a:r>
          </a:p>
          <a:p>
            <a:pPr algn="ctr">
              <a:spcBef>
                <a:spcPts val="100"/>
              </a:spcBef>
              <a:buNone/>
            </a:pPr>
            <a:r>
              <a:rPr lang="en-US" sz="1500" b="0" i="0" dirty="0">
                <a:solidFill>
                  <a:srgbClr val="000000"/>
                </a:solidFill>
              </a:rPr>
              <a:t>mechanisms · internal choices</a:t>
            </a:r>
          </a:p>
        </p:txBody>
      </p:sp>
      <p:sp>
        <p:nvSpPr>
          <p:cNvPr id="103" name="S103"/>
          <p:cNvSpPr/>
          <p:nvPr/>
        </p:nvSpPr>
        <p:spPr>
          <a:xfrm>
            <a:off x="2972000" y="3900000"/>
            <a:ext cx="3200000" cy="62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600" b="1" i="0" dirty="0">
                <a:solidFill>
                  <a:srgbClr val="5C4826"/>
                </a:solidFill>
              </a:rPr>
              <a:t>SUBSYSTEM</a:t>
            </a:r>
          </a:p>
          <a:p>
            <a:pPr algn="ctr">
              <a:spcBef>
                <a:spcPts val="80"/>
              </a:spcBef>
              <a:buNone/>
            </a:pPr>
            <a:r>
              <a:rPr lang="en-US" sz="1400" b="0" i="1" dirty="0">
                <a:solidFill>
                  <a:srgbClr val="555960"/>
                </a:solidFill>
              </a:rPr>
              <a:t>strategy → tactics</a:t>
            </a:r>
          </a:p>
        </p:txBody>
      </p:sp>
      <p:sp>
        <p:nvSpPr>
          <p:cNvPr id="104"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The distinction is relative to the scope we are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does the recursion stop?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502000" y="1100000"/>
            <a:ext cx="1900000" cy="700000"/>
          </a:xfrm>
          <a:prstGeom prst="rect">
            <a:avLst/>
          </a:prstGeom>
          <a:solidFill>
            <a:srgbClr val="F0E6CE"/>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system</a:t>
            </a:r>
          </a:p>
        </p:txBody>
      </p:sp>
      <p:cxnSp>
        <p:nvCxnSpPr>
          <p:cNvPr id="101" name="L101"/>
          <p:cNvCxnSpPr/>
          <p:nvPr/>
        </p:nvCxnSpPr>
        <p:spPr>
          <a:xfrm>
            <a:off x="2402000" y="1450000"/>
            <a:ext cx="180000" cy="0"/>
          </a:xfrm>
          <a:prstGeom prst="straightConnector1">
            <a:avLst/>
          </a:prstGeom>
          <a:ln w="38100">
            <a:solidFill>
              <a:srgbClr val="8E6F3E"/>
            </a:solidFill>
            <a:tailEnd type="triangle" w="med" len="med"/>
          </a:ln>
        </p:spPr>
      </p:cxnSp>
      <p:sp>
        <p:nvSpPr>
          <p:cNvPr id="102" name="S102"/>
          <p:cNvSpPr/>
          <p:nvPr/>
        </p:nvSpPr>
        <p:spPr>
          <a:xfrm>
            <a:off x="2582000" y="1100000"/>
            <a:ext cx="1900000" cy="700000"/>
          </a:xfrm>
          <a:prstGeom prst="rect">
            <a:avLst/>
          </a:prstGeom>
          <a:solidFill>
            <a:srgbClr val="EBDFC2"/>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subsystem</a:t>
            </a:r>
          </a:p>
        </p:txBody>
      </p:sp>
      <p:cxnSp>
        <p:nvCxnSpPr>
          <p:cNvPr id="103" name="L103"/>
          <p:cNvCxnSpPr/>
          <p:nvPr/>
        </p:nvCxnSpPr>
        <p:spPr>
          <a:xfrm>
            <a:off x="4482000" y="1450000"/>
            <a:ext cx="180000" cy="0"/>
          </a:xfrm>
          <a:prstGeom prst="straightConnector1">
            <a:avLst/>
          </a:prstGeom>
          <a:ln w="38100">
            <a:solidFill>
              <a:srgbClr val="8E6F3E"/>
            </a:solidFill>
            <a:tailEnd type="triangle" w="med" len="med"/>
          </a:ln>
        </p:spPr>
      </p:cxnSp>
      <p:sp>
        <p:nvSpPr>
          <p:cNvPr id="104" name="S104"/>
          <p:cNvSpPr/>
          <p:nvPr/>
        </p:nvSpPr>
        <p:spPr>
          <a:xfrm>
            <a:off x="4662000" y="1100000"/>
            <a:ext cx="1900000" cy="700000"/>
          </a:xfrm>
          <a:prstGeom prst="rect">
            <a:avLst/>
          </a:prstGeom>
          <a:solidFill>
            <a:srgbClr val="E4D6B0"/>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component</a:t>
            </a:r>
          </a:p>
        </p:txBody>
      </p:sp>
      <p:cxnSp>
        <p:nvCxnSpPr>
          <p:cNvPr id="105" name="L105"/>
          <p:cNvCxnSpPr/>
          <p:nvPr/>
        </p:nvCxnSpPr>
        <p:spPr>
          <a:xfrm>
            <a:off x="6562000" y="1450000"/>
            <a:ext cx="180000" cy="0"/>
          </a:xfrm>
          <a:prstGeom prst="straightConnector1">
            <a:avLst/>
          </a:prstGeom>
          <a:ln w="38100">
            <a:solidFill>
              <a:srgbClr val="8E6F3E"/>
            </a:solidFill>
            <a:tailEnd type="triangle" w="med" len="med"/>
          </a:ln>
        </p:spPr>
      </p:cxnSp>
      <p:sp>
        <p:nvSpPr>
          <p:cNvPr id="106" name="S106"/>
          <p:cNvSpPr/>
          <p:nvPr/>
        </p:nvSpPr>
        <p:spPr>
          <a:xfrm>
            <a:off x="6742000" y="1100000"/>
            <a:ext cx="1900000" cy="7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object / function / data structure</a:t>
            </a:r>
          </a:p>
        </p:txBody>
      </p:sp>
      <p:sp>
        <p:nvSpPr>
          <p:cNvPr id="107" name="S107"/>
          <p:cNvSpPr/>
          <p:nvPr/>
        </p:nvSpPr>
        <p:spPr>
          <a:xfrm>
            <a:off x="972000" y="2250000"/>
            <a:ext cx="7200000" cy="62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STOP when the remaining entities are small enough to reason about directly.</a:t>
            </a:r>
          </a:p>
        </p:txBody>
      </p:sp>
      <p:sp>
        <p:nvSpPr>
          <p:cNvPr id="108" name="Sub"/>
          <p:cNvSpPr txBox="1"/>
          <p:nvPr/>
        </p:nvSpPr>
        <p:spPr>
          <a:xfrm>
            <a:off x="277148" y="3050000"/>
            <a:ext cx="8589704" cy="4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Further decomposition no longer makes the engineering problem easier to understand.</a:t>
            </a:r>
          </a:p>
        </p:txBody>
      </p:sp>
      <p:sp>
        <p:nvSpPr>
          <p:cNvPr id="109" name="S109"/>
          <p:cNvSpPr/>
          <p:nvPr/>
        </p:nvSpPr>
        <p:spPr>
          <a:xfrm>
            <a:off x="2272000" y="3650000"/>
            <a:ext cx="4600000" cy="56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r>
              <a:rPr lang="en-US" sz="1800" b="0" i="0" dirty="0">
                <a:solidFill>
                  <a:srgbClr val="8E6F3E"/>
                </a:solidFill>
              </a:rPr>
              <a:t xml:space="preserve">     →     </a:t>
            </a:r>
            <a:r>
              <a:rPr lang="en-US" sz="1800" b="1" i="0" dirty="0">
                <a:solidFill>
                  <a:srgbClr val="5C4826"/>
                </a:solidFill>
              </a:rPr>
              <a:t>IMPLEMENTATION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reason about the inside?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Same modeling discipline.</a:t>
            </a:r>
          </a:p>
          <a:p>
            <a:pPr algn="ctr">
              <a:spcBef>
                <a:spcPts val="120"/>
              </a:spcBef>
              <a:buNone/>
            </a:pPr>
            <a:r>
              <a:rPr lang="en-US" sz="2800" b="0" i="0" dirty="0">
                <a:solidFill>
                  <a:srgbClr val="555960"/>
                </a:solidFill>
              </a:rPr>
              <a:t>Different scope.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can happen inside this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St1"/>
          <p:cNvSpPr/>
          <p:nvPr/>
        </p:nvSpPr>
        <p:spPr>
          <a:xfrm>
            <a:off x="124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load</a:t>
            </a:r>
          </a:p>
        </p:txBody>
      </p:sp>
      <p:sp>
        <p:nvSpPr>
          <p:cNvPr id="121" name="St2"/>
          <p:cNvSpPr/>
          <p:nvPr/>
        </p:nvSpPr>
        <p:spPr>
          <a:xfrm>
            <a:off x="292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generate</a:t>
            </a:r>
          </a:p>
        </p:txBody>
      </p:sp>
      <p:sp>
        <p:nvSpPr>
          <p:cNvPr id="122" name="St3"/>
          <p:cNvSpPr/>
          <p:nvPr/>
        </p:nvSpPr>
        <p:spPr>
          <a:xfrm>
            <a:off x="460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validate</a:t>
            </a:r>
          </a:p>
        </p:txBody>
      </p:sp>
      <p:sp>
        <p:nvSpPr>
          <p:cNvPr id="123" name="St4"/>
          <p:cNvSpPr/>
          <p:nvPr/>
        </p:nvSpPr>
        <p:spPr>
          <a:xfrm>
            <a:off x="6280000" y="2880000"/>
            <a:ext cx="1500000" cy="280000"/>
          </a:xfrm>
          <a:prstGeom prst="rect">
            <a:avLst/>
          </a:prstGeom>
          <a:noFill/>
          <a:ln>
            <a:noFill/>
          </a:ln>
        </p:spPr>
        <p:txBody>
          <a:bodyPr wrap="square" lIns="0" tIns="0" rIns="0" bIns="0" anchor="t">
            <a:normAutofit/>
          </a:bodyPr>
          <a:lstStyle/>
          <a:p>
            <a:pPr algn="ctr">
              <a:buNone/>
            </a:pPr>
            <a:r>
              <a:rPr lang="en-US" sz="1150" b="0" i="1" dirty="0">
                <a:solidFill>
                  <a:srgbClr val="555960"/>
                </a:solidFill>
              </a:rPr>
              <a:t>return</a:t>
            </a:r>
          </a:p>
        </p:txBody>
      </p:sp>
      <p:cxnSp>
        <p:nvCxnSpPr>
          <p:cNvPr id="130" name="Retry"/>
          <p:cNvCxnSpPr/>
          <p:nvPr/>
        </p:nvCxnSpPr>
        <p:spPr>
          <a:xfrm flipH="1">
            <a:off x="1990000" y="3320000"/>
            <a:ext cx="3360000" cy="0"/>
          </a:xfrm>
          <a:prstGeom prst="straightConnector1">
            <a:avLst/>
          </a:prstGeom>
          <a:ln w="19050">
            <a:solidFill>
              <a:srgbClr val="C0392B"/>
            </a:solidFill>
            <a:tailEnd type="triangle" w="med" len="med"/>
          </a:ln>
        </p:spPr>
      </p:cxnSp>
      <p:sp>
        <p:nvSpPr>
          <p:cNvPr id="131" name="RetryLbl"/>
          <p:cNvSpPr/>
          <p:nvPr/>
        </p:nvSpPr>
        <p:spPr>
          <a:xfrm>
            <a:off x="1240000" y="3340000"/>
            <a:ext cx="4200000" cy="260000"/>
          </a:xfrm>
          <a:prstGeom prst="rect">
            <a:avLst/>
          </a:prstGeom>
          <a:noFill/>
          <a:ln>
            <a:noFill/>
          </a:ln>
        </p:spPr>
        <p:txBody>
          <a:bodyPr wrap="square" lIns="0" tIns="0" rIns="0" bIns="0" anchor="t">
            <a:normAutofit/>
          </a:bodyPr>
          <a:lstStyle/>
          <a:p>
            <a:pPr algn="l">
              <a:buNone/>
            </a:pPr>
            <a:r>
              <a:rPr lang="en-US" sz="1100" b="0" i="1" dirty="0">
                <a:solidFill>
                  <a:srgbClr val="C0392B"/>
                </a:solidFill>
              </a:rPr>
              <a:t>on failure → retry</a:t>
            </a:r>
          </a:p>
        </p:txBody>
      </p:sp>
      <p:sp>
        <p:nvSpPr>
          <p:cNvPr id="132" name="Entry"/>
          <p:cNvSpPr/>
          <p:nvPr/>
        </p:nvSpPr>
        <p:spPr>
          <a:xfrm>
            <a:off x="6080000" y="1980000"/>
            <a:ext cx="2100000" cy="260000"/>
          </a:xfrm>
          <a:prstGeom prst="rect">
            <a:avLst/>
          </a:prstGeom>
          <a:noFill/>
          <a:ln>
            <a:noFill/>
          </a:ln>
        </p:spPr>
        <p:txBody>
          <a:bodyPr wrap="square" lIns="0" tIns="0" rIns="0" bIns="0" anchor="t">
            <a:normAutofit/>
          </a:bodyPr>
          <a:lstStyle/>
          <a:p>
            <a:pPr algn="r">
              <a:buNone/>
            </a:pPr>
            <a:r>
              <a:rPr lang="en-US" sz="1050" b="0" i="1" dirty="0">
                <a:solidFill>
                  <a:srgbClr val="555960"/>
                </a:solidFill>
              </a:rPr>
              <a:t>entry: WAITING   ·   exit: RETURN</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a request return advice before validation completes?</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Behavioral question → behavioral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what, and for how long?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Life1"/>
          <p:cNvSpPr/>
          <p:nvPr/>
        </p:nvSpPr>
        <p:spPr>
          <a:xfrm>
            <a:off x="1240000" y="2900000"/>
            <a:ext cx="6540000" cy="140000"/>
          </a:xfrm>
          <a:prstGeom prst="rect">
            <a:avLst/>
          </a:prstGeom>
          <a:solidFill>
            <a:srgbClr val="C9B991"/>
          </a:solidFill>
          <a:ln>
            <a:noFill/>
          </a:ln>
        </p:spPr>
        <p:txBody>
          <a:bodyPr wrap="square" lIns="91440" tIns="45720" rIns="91440" bIns="45720" anchor="ctr">
            <a:normAutofit/>
          </a:bodyPr>
          <a:lstStyle/>
          <a:p>
            <a:endParaRPr/>
          </a:p>
        </p:txBody>
      </p:sp>
      <p:sp>
        <p:nvSpPr>
          <p:cNvPr id="125" name="LifeL1"/>
          <p:cNvSpPr/>
          <p:nvPr/>
        </p:nvSpPr>
        <p:spPr>
          <a:xfrm>
            <a:off x="1300000" y="2892000"/>
            <a:ext cx="6420000" cy="160000"/>
          </a:xfrm>
          <a:prstGeom prst="rect">
            <a:avLst/>
          </a:prstGeom>
          <a:noFill/>
          <a:ln>
            <a:noFill/>
          </a:ln>
        </p:spPr>
        <p:txBody>
          <a:bodyPr wrap="square" lIns="0" tIns="0" rIns="0" bIns="0" anchor="ctr">
            <a:normAutofit/>
          </a:bodyPr>
          <a:lstStyle/>
          <a:p>
            <a:pPr algn="l">
              <a:buNone/>
            </a:pPr>
            <a:r>
              <a:rPr lang="en-US" sz="950" b="0" i="0" dirty="0">
                <a:solidFill>
                  <a:srgbClr val="5C4826"/>
                </a:solidFill>
              </a:rPr>
              <a:t>request</a:t>
            </a:r>
          </a:p>
        </p:txBody>
      </p:sp>
      <p:sp>
        <p:nvSpPr>
          <p:cNvPr id="121" name="Life2"/>
          <p:cNvSpPr/>
          <p:nvPr/>
        </p:nvSpPr>
        <p:spPr>
          <a:xfrm>
            <a:off x="1240000" y="3080000"/>
            <a:ext cx="4860000" cy="140000"/>
          </a:xfrm>
          <a:prstGeom prst="rect">
            <a:avLst/>
          </a:prstGeom>
          <a:solidFill>
            <a:srgbClr val="8E6F3E"/>
          </a:solidFill>
          <a:ln>
            <a:noFill/>
          </a:ln>
        </p:spPr>
        <p:txBody>
          <a:bodyPr wrap="square" lIns="91440" tIns="45720" rIns="91440" bIns="45720" anchor="ctr">
            <a:normAutofit/>
          </a:bodyPr>
          <a:lstStyle/>
          <a:p>
            <a:endParaRPr/>
          </a:p>
        </p:txBody>
      </p:sp>
      <p:sp>
        <p:nvSpPr>
          <p:cNvPr id="126" name="LifeL2"/>
          <p:cNvSpPr/>
          <p:nvPr/>
        </p:nvSpPr>
        <p:spPr>
          <a:xfrm>
            <a:off x="1300000" y="3072000"/>
            <a:ext cx="4740000" cy="160000"/>
          </a:xfrm>
          <a:prstGeom prst="rect">
            <a:avLst/>
          </a:prstGeom>
          <a:noFill/>
          <a:ln>
            <a:noFill/>
          </a:ln>
        </p:spPr>
        <p:txBody>
          <a:bodyPr wrap="square" lIns="0" tIns="0" rIns="0" bIns="0" anchor="ctr">
            <a:normAutofit/>
          </a:bodyPr>
          <a:lstStyle/>
          <a:p>
            <a:pPr algn="l">
              <a:buNone/>
            </a:pPr>
            <a:r>
              <a:rPr lang="en-US" sz="950" b="1" i="0" dirty="0">
                <a:solidFill>
                  <a:srgbClr val="FFFFFF"/>
                </a:solidFill>
              </a:rPr>
              <a:t>working state</a:t>
            </a:r>
          </a:p>
        </p:txBody>
      </p:sp>
      <p:sp>
        <p:nvSpPr>
          <p:cNvPr id="122" name="Life3"/>
          <p:cNvSpPr/>
          <p:nvPr/>
        </p:nvSpPr>
        <p:spPr>
          <a:xfrm>
            <a:off x="2920000" y="3260000"/>
            <a:ext cx="4860000" cy="140000"/>
          </a:xfrm>
          <a:prstGeom prst="rect">
            <a:avLst/>
          </a:prstGeom>
          <a:solidFill>
            <a:srgbClr val="C9B991"/>
          </a:solidFill>
          <a:ln>
            <a:noFill/>
          </a:ln>
        </p:spPr>
        <p:txBody>
          <a:bodyPr wrap="square" lIns="91440" tIns="45720" rIns="91440" bIns="45720" anchor="ctr">
            <a:normAutofit/>
          </a:bodyPr>
          <a:lstStyle/>
          <a:p>
            <a:endParaRPr/>
          </a:p>
        </p:txBody>
      </p:sp>
      <p:sp>
        <p:nvSpPr>
          <p:cNvPr id="127" name="LifeL3"/>
          <p:cNvSpPr/>
          <p:nvPr/>
        </p:nvSpPr>
        <p:spPr>
          <a:xfrm>
            <a:off x="2980000" y="3252000"/>
            <a:ext cx="4740000" cy="160000"/>
          </a:xfrm>
          <a:prstGeom prst="rect">
            <a:avLst/>
          </a:prstGeom>
          <a:noFill/>
          <a:ln>
            <a:noFill/>
          </a:ln>
        </p:spPr>
        <p:txBody>
          <a:bodyPr wrap="square" lIns="0" tIns="0" rIns="0" bIns="0" anchor="ctr">
            <a:normAutofit/>
          </a:bodyPr>
          <a:lstStyle/>
          <a:p>
            <a:pPr algn="l">
              <a:buNone/>
            </a:pPr>
            <a:r>
              <a:rPr lang="en-US" sz="950" b="0" i="0" dirty="0">
                <a:solidFill>
                  <a:srgbClr val="5C4826"/>
                </a:solidFill>
              </a:rPr>
              <a:t>model result</a:t>
            </a:r>
          </a:p>
        </p:txBody>
      </p:sp>
      <p:sp>
        <p:nvSpPr>
          <p:cNvPr id="129" name="OwnNote"/>
          <p:cNvSpPr/>
          <p:nvPr/>
        </p:nvSpPr>
        <p:spPr>
          <a:xfrm>
            <a:off x="940000" y="3430000"/>
            <a:ext cx="7264000" cy="240000"/>
          </a:xfrm>
          <a:prstGeom prst="rect">
            <a:avLst/>
          </a:prstGeom>
          <a:noFill/>
          <a:ln>
            <a:noFill/>
          </a:ln>
        </p:spPr>
        <p:txBody>
          <a:bodyPr wrap="square" lIns="0" tIns="0" rIns="0" bIns="0" anchor="t">
            <a:normAutofit/>
          </a:bodyPr>
          <a:lstStyle/>
          <a:p>
            <a:pPr algn="ctr">
              <a:buNone/>
            </a:pPr>
            <a:r>
              <a:rPr lang="en-US" sz="1050" b="0" i="1" dirty="0">
                <a:solidFill>
                  <a:srgbClr val="8E6F3E"/>
                </a:solidFill>
              </a:rPr>
              <a:t>shared lifetime = the concurrency risk</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two requests mutate the same working state?</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Ownership question → ownership model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depends on what inside the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Seam"/>
          <p:cNvSpPr/>
          <p:nvPr/>
        </p:nvSpPr>
        <p:spPr>
          <a:xfrm>
            <a:off x="2850000" y="2130000"/>
            <a:ext cx="1640000" cy="740000"/>
          </a:xfrm>
          <a:prstGeom prst="roundRect">
            <a:avLst/>
          </a:prstGeom>
          <a:noFill/>
          <a:ln w="25400">
            <a:solidFill>
              <a:srgbClr val="8E6F3E"/>
            </a:solidFill>
            <a:prstDash val="dash"/>
          </a:ln>
        </p:spPr>
        <p:txBody>
          <a:bodyPr wrap="square" lIns="91440" tIns="45720" rIns="91440" bIns="45720" anchor="ctr">
            <a:normAutofit/>
          </a:bodyPr>
          <a:lstStyle/>
          <a:p>
            <a:endParaRPr/>
          </a:p>
        </p:txBody>
      </p:sp>
      <p:sp>
        <p:nvSpPr>
          <p:cNvPr id="121" name="SeamLbl"/>
          <p:cNvSpPr/>
          <p:nvPr/>
        </p:nvSpPr>
        <p:spPr>
          <a:xfrm>
            <a:off x="2720000" y="2900000"/>
            <a:ext cx="1900000" cy="260000"/>
          </a:xfrm>
          <a:prstGeom prst="rect">
            <a:avLst/>
          </a:prstGeom>
          <a:noFill/>
          <a:ln>
            <a:noFill/>
          </a:ln>
        </p:spPr>
        <p:txBody>
          <a:bodyPr wrap="square" lIns="0" tIns="0" rIns="0" bIns="0" anchor="t">
            <a:normAutofit/>
          </a:bodyPr>
          <a:lstStyle/>
          <a:p>
            <a:pPr algn="ctr">
              <a:buNone/>
            </a:pPr>
            <a:r>
              <a:rPr lang="en-US" sz="1100" b="0" i="1" dirty="0">
                <a:solidFill>
                  <a:srgbClr val="8E6F3E"/>
                </a:solidFill>
              </a:rPr>
              <a:t>replace behind a stable seam</a:t>
            </a:r>
          </a:p>
        </p:txBody>
      </p:sp>
      <p:sp>
        <p:nvSpPr>
          <p:cNvPr id="122" name="DepNote"/>
          <p:cNvSpPr/>
          <p:nvPr/>
        </p:nvSpPr>
        <p:spPr>
          <a:xfrm>
            <a:off x="4400000" y="2900000"/>
            <a:ext cx="2400000" cy="260000"/>
          </a:xfrm>
          <a:prstGeom prst="rect">
            <a:avLst/>
          </a:prstGeom>
          <a:noFill/>
          <a:ln>
            <a:noFill/>
          </a:ln>
        </p:spPr>
        <p:txBody>
          <a:bodyPr wrap="square" lIns="0" tIns="0" rIns="0" bIns="0" anchor="t">
            <a:normAutofit/>
          </a:bodyPr>
          <a:lstStyle/>
          <a:p>
            <a:pPr algn="ctr">
              <a:buNone/>
            </a:pPr>
            <a:r>
              <a:rPr lang="en-US" sz="1100" b="0" i="1" dirty="0">
                <a:solidFill>
                  <a:srgbClr val="555960"/>
                </a:solidFill>
              </a:rPr>
              <a:t>VALIDATOR unchanged</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we replace the advice model without changing validation?</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Change question → structural model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quantities determine whether it works?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Ms1"/>
          <p:cNvSpPr/>
          <p:nvPr/>
        </p:nvSpPr>
        <p:spPr>
          <a:xfrm>
            <a:off x="124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300 ms</a:t>
            </a:r>
          </a:p>
        </p:txBody>
      </p:sp>
      <p:sp>
        <p:nvSpPr>
          <p:cNvPr id="121" name="Ms2"/>
          <p:cNvSpPr/>
          <p:nvPr/>
        </p:nvSpPr>
        <p:spPr>
          <a:xfrm>
            <a:off x="292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1200 ms</a:t>
            </a:r>
          </a:p>
        </p:txBody>
      </p:sp>
      <p:sp>
        <p:nvSpPr>
          <p:cNvPr id="122" name="Ms3"/>
          <p:cNvSpPr/>
          <p:nvPr/>
        </p:nvSpPr>
        <p:spPr>
          <a:xfrm>
            <a:off x="460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200 ms</a:t>
            </a:r>
          </a:p>
        </p:txBody>
      </p:sp>
      <p:sp>
        <p:nvSpPr>
          <p:cNvPr id="123" name="Ms4"/>
          <p:cNvSpPr/>
          <p:nvPr/>
        </p:nvSpPr>
        <p:spPr>
          <a:xfrm>
            <a:off x="628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~50 ms</a:t>
            </a:r>
          </a:p>
        </p:txBody>
      </p:sp>
      <p:sp>
        <p:nvSpPr>
          <p:cNvPr id="130" name="Budget"/>
          <p:cNvSpPr/>
          <p:nvPr/>
        </p:nvSpPr>
        <p:spPr>
          <a:xfrm>
            <a:off x="1240000" y="3280000"/>
            <a:ext cx="6540000" cy="380000"/>
          </a:xfrm>
          <a:prstGeom prst="roundRect">
            <a:avLst/>
          </a:prstGeom>
          <a:solidFill>
            <a:srgbClr val="EAF3EC"/>
          </a:solidFill>
          <a:ln w="12700">
            <a:solidFill>
              <a:srgbClr val="1E7A46"/>
            </a:solidFill>
          </a:ln>
        </p:spPr>
        <p:txBody>
          <a:bodyPr wrap="square" lIns="91440" tIns="45720" rIns="91440" bIns="45720" anchor="ctr">
            <a:normAutofit/>
          </a:bodyPr>
          <a:lstStyle/>
          <a:p>
            <a:pPr algn="ctr">
              <a:buNone/>
            </a:pPr>
            <a:r>
              <a:rPr lang="en-US" sz="1250" b="1" i="0" dirty="0">
                <a:solidFill>
                  <a:srgbClr val="1E7A46"/>
                </a:solidFill>
              </a:rPr>
              <a:t>300 + 1200 + 200 + 50  =  1750 ms</a:t>
            </a:r>
            <a:r>
              <a:rPr lang="en-US" sz="1250" b="1" i="0" dirty="0">
                <a:solidFill>
                  <a:srgbClr val="1E7A46"/>
                </a:solidFill>
              </a:rPr>
              <a:t xml:space="preserve">    ≤    2000 ms budget  ✓</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the component meet its 2-second budget?</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Quantitative question → measurement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question determines the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30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Engineering question</a:t>
            </a:r>
          </a:p>
        </p:txBody>
      </p:sp>
      <p:sp>
        <p:nvSpPr>
          <p:cNvPr id="101" name="S101"/>
          <p:cNvSpPr/>
          <p:nvPr/>
        </p:nvSpPr>
        <p:spPr>
          <a:xfrm>
            <a:off x="3277148" y="1050000"/>
            <a:ext cx="29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Useful model</a:t>
            </a:r>
          </a:p>
        </p:txBody>
      </p:sp>
      <p:sp>
        <p:nvSpPr>
          <p:cNvPr id="102" name="S102"/>
          <p:cNvSpPr/>
          <p:nvPr/>
        </p:nvSpPr>
        <p:spPr>
          <a:xfrm>
            <a:off x="6177148" y="1050000"/>
            <a:ext cx="2689704"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Property</a:t>
            </a:r>
          </a:p>
        </p:txBody>
      </p:sp>
      <p:sp>
        <p:nvSpPr>
          <p:cNvPr id="103" name="S103"/>
          <p:cNvSpPr/>
          <p:nvPr/>
        </p:nvSpPr>
        <p:spPr>
          <a:xfrm>
            <a:off x="277148" y="183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can happen?</a:t>
            </a:r>
          </a:p>
        </p:txBody>
      </p:sp>
      <p:sp>
        <p:nvSpPr>
          <p:cNvPr id="104" name="S104"/>
          <p:cNvSpPr/>
          <p:nvPr/>
        </p:nvSpPr>
        <p:spPr>
          <a:xfrm>
            <a:off x="3277148" y="183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State / behavior</a:t>
            </a:r>
          </a:p>
        </p:txBody>
      </p:sp>
      <p:sp>
        <p:nvSpPr>
          <p:cNvPr id="105" name="S105"/>
          <p:cNvSpPr/>
          <p:nvPr/>
        </p:nvSpPr>
        <p:spPr>
          <a:xfrm>
            <a:off x="6177148" y="183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permitted sequences</a:t>
            </a:r>
          </a:p>
        </p:txBody>
      </p:sp>
      <p:sp>
        <p:nvSpPr>
          <p:cNvPr id="106" name="S106"/>
          <p:cNvSpPr/>
          <p:nvPr/>
        </p:nvSpPr>
        <p:spPr>
          <a:xfrm>
            <a:off x="277148" y="261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this?</a:t>
            </a:r>
          </a:p>
        </p:txBody>
      </p:sp>
      <p:sp>
        <p:nvSpPr>
          <p:cNvPr id="107" name="S107"/>
          <p:cNvSpPr/>
          <p:nvPr/>
        </p:nvSpPr>
        <p:spPr>
          <a:xfrm>
            <a:off x="3277148" y="261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Ownership / lifecycle</a:t>
            </a:r>
          </a:p>
        </p:txBody>
      </p:sp>
      <p:sp>
        <p:nvSpPr>
          <p:cNvPr id="108" name="S108"/>
          <p:cNvSpPr/>
          <p:nvPr/>
        </p:nvSpPr>
        <p:spPr>
          <a:xfrm>
            <a:off x="6177148" y="261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exclusive / shared ownership</a:t>
            </a:r>
          </a:p>
        </p:txBody>
      </p:sp>
      <p:sp>
        <p:nvSpPr>
          <p:cNvPr id="109" name="S109"/>
          <p:cNvSpPr/>
          <p:nvPr/>
        </p:nvSpPr>
        <p:spPr>
          <a:xfrm>
            <a:off x="277148" y="339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changes together?</a:t>
            </a:r>
          </a:p>
        </p:txBody>
      </p:sp>
      <p:sp>
        <p:nvSpPr>
          <p:cNvPr id="110" name="S110"/>
          <p:cNvSpPr/>
          <p:nvPr/>
        </p:nvSpPr>
        <p:spPr>
          <a:xfrm>
            <a:off x="3277148" y="339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Dependency</a:t>
            </a:r>
          </a:p>
        </p:txBody>
      </p:sp>
      <p:sp>
        <p:nvSpPr>
          <p:cNvPr id="111" name="S111"/>
          <p:cNvSpPr/>
          <p:nvPr/>
        </p:nvSpPr>
        <p:spPr>
          <a:xfrm>
            <a:off x="6177148" y="339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change locality</a:t>
            </a:r>
          </a:p>
        </p:txBody>
      </p:sp>
      <p:sp>
        <p:nvSpPr>
          <p:cNvPr id="112" name="S112"/>
          <p:cNvSpPr/>
          <p:nvPr/>
        </p:nvSpPr>
        <p:spPr>
          <a:xfrm>
            <a:off x="277148" y="417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Will it fit?</a:t>
            </a:r>
          </a:p>
        </p:txBody>
      </p:sp>
      <p:sp>
        <p:nvSpPr>
          <p:cNvPr id="113" name="S113"/>
          <p:cNvSpPr/>
          <p:nvPr/>
        </p:nvSpPr>
        <p:spPr>
          <a:xfrm>
            <a:off x="3277148" y="417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Measurement</a:t>
            </a:r>
          </a:p>
        </p:txBody>
      </p:sp>
      <p:sp>
        <p:nvSpPr>
          <p:cNvPr id="114" name="S114"/>
          <p:cNvSpPr/>
          <p:nvPr/>
        </p:nvSpPr>
        <p:spPr>
          <a:xfrm>
            <a:off x="6177148" y="417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quantitative bound</a:t>
            </a:r>
          </a:p>
        </p:txBody>
      </p:sp>
      <p:sp>
        <p:nvSpPr>
          <p:cNvPr id="11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model earns its place by the question it settles.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Which Design choices keep recurring?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Recurring problem →</a:t>
            </a:r>
          </a:p>
          <a:p>
            <a:pPr algn="ctr">
              <a:spcBef>
                <a:spcPts val="120"/>
              </a:spcBef>
              <a:buNone/>
            </a:pPr>
            <a:r>
              <a:rPr lang="en-US" sz="2800" b="0" i="0" dirty="0">
                <a:solidFill>
                  <a:srgbClr val="555960"/>
                </a:solidFill>
              </a:rPr>
              <a:t>plausible alternatives → consequences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072000" y="1000000"/>
            <a:ext cx="3000000" cy="6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AUTHORITATIVE STATE</a:t>
            </a:r>
          </a:p>
        </p:txBody>
      </p:sp>
      <p:sp>
        <p:nvSpPr>
          <p:cNvPr id="101" name="S101"/>
          <p:cNvSpPr/>
          <p:nvPr/>
        </p:nvSpPr>
        <p:spPr>
          <a:xfrm>
            <a:off x="2200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CACHE</a:t>
            </a:r>
          </a:p>
        </p:txBody>
      </p:sp>
      <p:sp>
        <p:nvSpPr>
          <p:cNvPr id="102" name="S102"/>
          <p:cNvSpPr/>
          <p:nvPr/>
        </p:nvSpPr>
        <p:spPr>
          <a:xfrm>
            <a:off x="4944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DERIVED VIEW</a:t>
            </a:r>
          </a:p>
        </p:txBody>
      </p:sp>
      <p:cxnSp>
        <p:nvCxnSpPr>
          <p:cNvPr id="103" name="L103"/>
          <p:cNvCxnSpPr/>
          <p:nvPr/>
        </p:nvCxnSpPr>
        <p:spPr>
          <a:xfrm flipH="1">
            <a:off x="3872000" y="1620000"/>
            <a:ext cx="500000" cy="430000"/>
          </a:xfrm>
          <a:prstGeom prst="straightConnector1">
            <a:avLst/>
          </a:prstGeom>
          <a:ln w="38100">
            <a:solidFill>
              <a:srgbClr val="8E6F3E"/>
            </a:solidFill>
            <a:tailEnd type="triangle" w="med" len="med"/>
          </a:ln>
        </p:spPr>
      </p:cxnSp>
      <p:cxnSp>
        <p:nvCxnSpPr>
          <p:cNvPr id="104" name="L104"/>
          <p:cNvCxnSpPr/>
          <p:nvPr/>
        </p:nvCxnSpPr>
        <p:spPr>
          <a:xfrm>
            <a:off x="4772000" y="1620000"/>
            <a:ext cx="500000" cy="430000"/>
          </a:xfrm>
          <a:prstGeom prst="straightConnector1">
            <a:avLst/>
          </a:prstGeom>
          <a:ln w="38100">
            <a:solidFill>
              <a:srgbClr val="8E6F3E"/>
            </a:solidFill>
            <a:tailEnd type="triangle" w="med" len="med"/>
          </a:ln>
        </p:spPr>
      </p:cxnSp>
      <p:sp>
        <p:nvSpPr>
          <p:cNvPr id="105" name="S105"/>
          <p:cNvSpPr/>
          <p:nvPr/>
        </p:nvSpPr>
        <p:spPr>
          <a:xfrm>
            <a:off x="277148" y="2900000"/>
            <a:ext cx="8589704" cy="90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authoritative  ·  derived  ·  cached  ·  replicated</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When representations disagree, which one wins?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A</a:t>
            </a:r>
          </a:p>
        </p:txBody>
      </p:sp>
      <p:sp>
        <p:nvSpPr>
          <p:cNvPr id="101" name="S101"/>
          <p:cNvSpPr/>
          <p:nvPr/>
        </p:nvSpPr>
        <p:spPr>
          <a:xfrm>
            <a:off x="700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must observe the latest completed write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B</a:t>
            </a:r>
          </a:p>
        </p:txBody>
      </p:sp>
      <p:sp>
        <p:nvSpPr>
          <p:cNvPr id="103" name="S103"/>
          <p:cNvSpPr/>
          <p:nvPr/>
        </p:nvSpPr>
        <p:spPr>
          <a:xfrm>
            <a:off x="4844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may temporarily observe an older value</a:t>
            </a:r>
          </a:p>
        </p:txBody>
      </p:sp>
      <p:sp>
        <p:nvSpPr>
          <p:cNvPr id="104" name="Conseq"/>
          <p:cNvSpPr txBox="1"/>
          <p:nvPr/>
        </p:nvSpPr>
        <p:spPr>
          <a:xfrm>
            <a:off x="277148" y="3000000"/>
            <a:ext cx="8589704" cy="7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…then trace the consequences under concurrency and failure.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Replication does not determine consistency. Requirements do.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IMMEDIATE</a:t>
            </a:r>
          </a:p>
        </p:txBody>
      </p:sp>
      <p:sp>
        <p:nvSpPr>
          <p:cNvPr id="101" name="S101"/>
          <p:cNvSpPr/>
          <p:nvPr/>
        </p:nvSpPr>
        <p:spPr>
          <a:xfrm>
            <a:off x="700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work → result</a:t>
            </a:r>
          </a:p>
          <a:p>
            <a:pPr algn="ctr">
              <a:spcBef>
                <a:spcPts val="120"/>
              </a:spcBef>
              <a:buNone/>
            </a:pPr>
            <a:r>
              <a:rPr lang="en-US" sz="1500" b="0" i="0" dirty="0">
                <a:solidFill>
                  <a:srgbClr val="000000"/>
                </a:solidFill>
              </a:rPr>
              <a:t/>
            </a:r>
          </a:p>
          <a:p>
            <a:pPr algn="ctr">
              <a:spcBef>
                <a:spcPts val="120"/>
              </a:spcBef>
              <a:buNone/>
            </a:pPr>
            <a:r>
              <a:rPr lang="en-US" sz="1500" b="0" i="0" dirty="0">
                <a:solidFill>
                  <a:srgbClr val="000000"/>
                </a:solidFill>
              </a:rPr>
              <a:t>↑ caller waits</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DEFERRED</a:t>
            </a:r>
          </a:p>
        </p:txBody>
      </p:sp>
      <p:sp>
        <p:nvSpPr>
          <p:cNvPr id="103" name="S103"/>
          <p:cNvSpPr/>
          <p:nvPr/>
        </p:nvSpPr>
        <p:spPr>
          <a:xfrm>
            <a:off x="4844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queue → ACK</a:t>
            </a:r>
          </a:p>
          <a:p>
            <a:pPr algn="ctr">
              <a:spcBef>
                <a:spcPts val="100"/>
              </a:spcBef>
              <a:buNone/>
            </a:pPr>
            <a:r>
              <a:rPr lang="en-US" sz="1500" b="0" i="0" dirty="0">
                <a:solidFill>
                  <a:srgbClr val="000000"/>
                </a:solidFill>
              </a:rPr>
              <a:t>↓</a:t>
            </a:r>
          </a:p>
          <a:p>
            <a:pPr algn="ctr">
              <a:spcBef>
                <a:spcPts val="100"/>
              </a:spcBef>
              <a:buNone/>
            </a:pPr>
            <a:r>
              <a:rPr lang="en-US" sz="1500" b="0" i="0" dirty="0">
                <a:solidFill>
                  <a:srgbClr val="000000"/>
                </a:solidFill>
              </a:rPr>
              <a:t>worker → result</a:t>
            </a:r>
          </a:p>
        </p:txBody>
      </p:sp>
      <p:sp>
        <p:nvSpPr>
          <p:cNvPr id="104" name="S104"/>
          <p:cNvSpPr/>
          <p:nvPr/>
        </p:nvSpPr>
        <p:spPr>
          <a:xfrm>
            <a:off x="277148" y="2700000"/>
            <a:ext cx="8589704"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 xml:space="preserve">immediacy / simple completion  </a:t>
            </a:r>
            <a:r>
              <a:rPr lang="en-US" sz="1800" b="1" i="0" dirty="0">
                <a:solidFill>
                  <a:srgbClr val="8E6F3E"/>
                </a:solidFill>
              </a:rPr>
              <a:t>↔</a:t>
            </a:r>
            <a:r>
              <a:rPr lang="en-US" sz="1500" b="1" i="0" dirty="0">
                <a:solidFill>
                  <a:srgbClr val="5C4826"/>
                </a:solidFill>
              </a:rPr>
              <a:t xml:space="preserve">  latency isolation / resilience</a:t>
            </a:r>
          </a:p>
        </p:txBody>
      </p:sp>
      <p:sp>
        <p:nvSpPr>
          <p:cNvPr id="105"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On the deferred side, retries, idempotence, and order become design concerns.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directly should parts depend on one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DIRECT</a:t>
            </a:r>
          </a:p>
        </p:txBody>
      </p:sp>
      <p:sp>
        <p:nvSpPr>
          <p:cNvPr id="101" name="S101"/>
          <p:cNvSpPr/>
          <p:nvPr/>
        </p:nvSpPr>
        <p:spPr>
          <a:xfrm>
            <a:off x="2600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2" name="S102"/>
          <p:cNvSpPr/>
          <p:nvPr/>
        </p:nvSpPr>
        <p:spPr>
          <a:xfrm>
            <a:off x="5044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3" name="L103"/>
          <p:cNvCxnSpPr/>
          <p:nvPr/>
        </p:nvCxnSpPr>
        <p:spPr>
          <a:xfrm>
            <a:off x="4100000" y="1680000"/>
            <a:ext cx="944000" cy="0"/>
          </a:xfrm>
          <a:prstGeom prst="straightConnector1">
            <a:avLst/>
          </a:prstGeom>
          <a:ln w="44450">
            <a:solidFill>
              <a:srgbClr val="8E6F3E"/>
            </a:solidFill>
            <a:tailEnd type="triangle" w="med" len="med"/>
          </a:ln>
        </p:spPr>
      </p:cxnSp>
      <p:sp>
        <p:nvSpPr>
          <p:cNvPr id="104" name="Label"/>
          <p:cNvSpPr txBox="1"/>
          <p:nvPr/>
        </p:nvSpPr>
        <p:spPr>
          <a:xfrm>
            <a:off x="277148" y="22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INDIRECT</a:t>
            </a:r>
          </a:p>
        </p:txBody>
      </p:sp>
      <p:sp>
        <p:nvSpPr>
          <p:cNvPr id="105" name="S105"/>
          <p:cNvSpPr/>
          <p:nvPr/>
        </p:nvSpPr>
        <p:spPr>
          <a:xfrm>
            <a:off x="1900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a:t>
            </a:r>
          </a:p>
        </p:txBody>
      </p:sp>
      <p:sp>
        <p:nvSpPr>
          <p:cNvPr id="106" name="S106"/>
          <p:cNvSpPr/>
          <p:nvPr/>
        </p:nvSpPr>
        <p:spPr>
          <a:xfrm>
            <a:off x="3897000" y="2600000"/>
            <a:ext cx="1350000" cy="56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I</a:t>
            </a:r>
          </a:p>
        </p:txBody>
      </p:sp>
      <p:sp>
        <p:nvSpPr>
          <p:cNvPr id="107" name="S107"/>
          <p:cNvSpPr/>
          <p:nvPr/>
        </p:nvSpPr>
        <p:spPr>
          <a:xfrm>
            <a:off x="5894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B</a:t>
            </a:r>
          </a:p>
        </p:txBody>
      </p:sp>
      <p:cxnSp>
        <p:nvCxnSpPr>
          <p:cNvPr id="108" name="L108"/>
          <p:cNvCxnSpPr/>
          <p:nvPr/>
        </p:nvCxnSpPr>
        <p:spPr>
          <a:xfrm>
            <a:off x="3250000" y="2880000"/>
            <a:ext cx="647000" cy="0"/>
          </a:xfrm>
          <a:prstGeom prst="straightConnector1">
            <a:avLst/>
          </a:prstGeom>
          <a:ln w="38100">
            <a:solidFill>
              <a:srgbClr val="8E6F3E"/>
            </a:solidFill>
            <a:tailEnd type="triangle" w="med" len="med"/>
          </a:ln>
        </p:spPr>
      </p:cxnSp>
      <p:cxnSp>
        <p:nvCxnSpPr>
          <p:cNvPr id="109" name="L109"/>
          <p:cNvCxnSpPr/>
          <p:nvPr/>
        </p:nvCxnSpPr>
        <p:spPr>
          <a:xfrm>
            <a:off x="5247000" y="2880000"/>
            <a:ext cx="647000" cy="0"/>
          </a:xfrm>
          <a:prstGeom prst="straightConnector1">
            <a:avLst/>
          </a:prstGeom>
          <a:ln w="38100">
            <a:solidFill>
              <a:srgbClr val="8E6F3E"/>
            </a:solidFill>
            <a:tailEnd type="triangle" w="med" len="med"/>
          </a:ln>
        </p:spPr>
      </p:cxnSp>
      <p:sp>
        <p:nvSpPr>
          <p:cNvPr id="110" name="Ex"/>
          <p:cNvSpPr txBox="1"/>
          <p:nvPr/>
        </p:nvSpPr>
        <p:spPr>
          <a:xfrm>
            <a:off x="277148" y="3350000"/>
            <a:ext cx="8589704" cy="36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interface · adapter · factory · DI · proxy</a:t>
            </a:r>
          </a:p>
        </p:txBody>
      </p:sp>
      <p:sp>
        <p:nvSpPr>
          <p:cNvPr id="111" name="Q"/>
          <p:cNvSpPr txBox="1"/>
          <p:nvPr/>
        </p:nvSpPr>
        <p:spPr>
          <a:xfrm>
            <a:off x="277148" y="3800000"/>
            <a:ext cx="8589704" cy="360000"/>
          </a:xfrm>
          <a:prstGeom prst="rect">
            <a:avLst/>
          </a:prstGeom>
          <a:noFill/>
          <a:ln>
            <a:noFill/>
          </a:ln>
        </p:spPr>
        <p:txBody>
          <a:bodyPr wrap="square" lIns="0" tIns="0" rIns="0" bIns="0" anchor="t">
            <a:normAutofit/>
          </a:bodyPr>
          <a:lstStyle/>
          <a:p>
            <a:pPr algn="ctr">
              <a:buNone/>
            </a:pPr>
            <a:r>
              <a:rPr lang="en-US" sz="1700" b="0" i="1" dirty="0">
                <a:solidFill>
                  <a:srgbClr val="000000"/>
                </a:solidFill>
              </a:rPr>
              <a:t>What future change are we buying isolation from?</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Indirection buys flexibility by spending complexity.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should this responsibility be decomposed?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 — by processing steps</a:t>
            </a:r>
          </a:p>
        </p:txBody>
      </p:sp>
      <p:sp>
        <p:nvSpPr>
          <p:cNvPr id="101" name="S101"/>
          <p:cNvSpPr/>
          <p:nvPr/>
        </p:nvSpPr>
        <p:spPr>
          <a:xfrm>
            <a:off x="700000" y="1380000"/>
            <a:ext cx="3600000" cy="16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STEP 1</a:t>
            </a:r>
          </a:p>
          <a:p>
            <a:pPr algn="ctr">
              <a:spcBef>
                <a:spcPts val="160"/>
              </a:spcBef>
              <a:buNone/>
            </a:pPr>
            <a:r>
              <a:rPr lang="en-US" sz="1600" b="0" i="0" dirty="0">
                <a:solidFill>
                  <a:srgbClr val="5C4826"/>
                </a:solidFill>
              </a:rPr>
              <a:t>STEP 2</a:t>
            </a:r>
          </a:p>
          <a:p>
            <a:pPr algn="ctr">
              <a:spcBef>
                <a:spcPts val="160"/>
              </a:spcBef>
              <a:buNone/>
            </a:pPr>
            <a:r>
              <a:rPr lang="en-US" sz="1600" b="0" i="0" dirty="0">
                <a:solidFill>
                  <a:srgbClr val="5C4826"/>
                </a:solidFill>
              </a:rPr>
              <a:t>STEP 3</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B — around likely change</a:t>
            </a:r>
          </a:p>
        </p:txBody>
      </p:sp>
      <p:sp>
        <p:nvSpPr>
          <p:cNvPr id="103" name="S103"/>
          <p:cNvSpPr/>
          <p:nvPr/>
        </p:nvSpPr>
        <p:spPr>
          <a:xfrm>
            <a:off x="4844000" y="1380000"/>
            <a:ext cx="3600000" cy="160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0" i="0" dirty="0">
                <a:solidFill>
                  <a:srgbClr val="5C4826"/>
                </a:solidFill>
              </a:rPr>
              <a:t>STABLE SEAM</a:t>
            </a:r>
          </a:p>
          <a:p>
            <a:pPr algn="ctr">
              <a:spcBef>
                <a:spcPts val="160"/>
              </a:spcBef>
              <a:buNone/>
            </a:pPr>
            <a:r>
              <a:rPr lang="en-US" sz="1600" b="0" i="0" dirty="0">
                <a:solidFill>
                  <a:srgbClr val="5C4826"/>
                </a:solidFill>
              </a:rPr>
              <a:t>hidden decision</a:t>
            </a:r>
          </a:p>
          <a:p>
            <a:pPr algn="ctr">
              <a:spcBef>
                <a:spcPts val="160"/>
              </a:spcBef>
              <a:buNone/>
            </a:pPr>
            <a:r>
              <a:rPr lang="en-US" sz="1600" b="0" i="0" dirty="0">
                <a:solidFill>
                  <a:srgbClr val="5C4826"/>
                </a:solidFill>
              </a:rPr>
              <a:t>(likely to change)</a:t>
            </a:r>
          </a:p>
        </p:txBody>
      </p:sp>
      <p:sp>
        <p:nvSpPr>
          <p:cNvPr id="104" name="S104"/>
          <p:cNvSpPr/>
          <p:nvPr/>
        </p:nvSpPr>
        <p:spPr>
          <a:xfrm>
            <a:off x="277148" y="3150000"/>
            <a:ext cx="8589704" cy="560000"/>
          </a:xfrm>
          <a:prstGeom prst="rect">
            <a:avLst/>
          </a:prstGeom>
          <a:noFill/>
          <a:ln>
            <a:noFill/>
          </a:ln>
        </p:spPr>
        <p:txBody>
          <a:bodyPr wrap="square" lIns="91440" tIns="45720" rIns="91440" bIns="45720" anchor="ctr">
            <a:normAutofit/>
          </a:bodyPr>
          <a:lstStyle/>
          <a:p>
            <a:pPr algn="ctr">
              <a:buNone/>
            </a:pPr>
            <a:r>
              <a:rPr lang="en-US" sz="1700" b="0" i="1" dirty="0">
                <a:solidFill>
                  <a:srgbClr val="000000"/>
                </a:solidFill>
              </a:rPr>
              <a:t>When X changes, which design contains the change?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Hide the decisions most likely to change behind stable seams.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Every Design choice trades one problem for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00000"/>
            <a:ext cx="2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Question</a:t>
            </a:r>
          </a:p>
        </p:txBody>
      </p:sp>
      <p:sp>
        <p:nvSpPr>
          <p:cNvPr id="101" name="S101"/>
          <p:cNvSpPr/>
          <p:nvPr/>
        </p:nvSpPr>
        <p:spPr>
          <a:xfrm>
            <a:off x="22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One answer</a:t>
            </a:r>
          </a:p>
        </p:txBody>
      </p:sp>
      <p:sp>
        <p:nvSpPr>
          <p:cNvPr id="102" name="S102"/>
          <p:cNvSpPr/>
          <p:nvPr/>
        </p:nvSpPr>
        <p:spPr>
          <a:xfrm>
            <a:off x="43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Another answer</a:t>
            </a:r>
          </a:p>
        </p:txBody>
      </p:sp>
      <p:sp>
        <p:nvSpPr>
          <p:cNvPr id="103" name="S103"/>
          <p:cNvSpPr/>
          <p:nvPr/>
        </p:nvSpPr>
        <p:spPr>
          <a:xfrm>
            <a:off x="6477148" y="1000000"/>
            <a:ext cx="23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Tradeoff</a:t>
            </a:r>
          </a:p>
        </p:txBody>
      </p:sp>
      <p:sp>
        <p:nvSpPr>
          <p:cNvPr id="104" name="S104"/>
          <p:cNvSpPr/>
          <p:nvPr/>
        </p:nvSpPr>
        <p:spPr>
          <a:xfrm>
            <a:off x="277148" y="17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truth?</a:t>
            </a:r>
          </a:p>
        </p:txBody>
      </p:sp>
      <p:sp>
        <p:nvSpPr>
          <p:cNvPr id="105" name="S105"/>
          <p:cNvSpPr/>
          <p:nvPr/>
        </p:nvSpPr>
        <p:spPr>
          <a:xfrm>
            <a:off x="22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single authority</a:t>
            </a:r>
          </a:p>
        </p:txBody>
      </p:sp>
      <p:sp>
        <p:nvSpPr>
          <p:cNvPr id="106" name="S106"/>
          <p:cNvSpPr/>
          <p:nvPr/>
        </p:nvSpPr>
        <p:spPr>
          <a:xfrm>
            <a:off x="43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distributed authority</a:t>
            </a:r>
          </a:p>
        </p:txBody>
      </p:sp>
      <p:sp>
        <p:nvSpPr>
          <p:cNvPr id="107" name="S107"/>
          <p:cNvSpPr/>
          <p:nvPr/>
        </p:nvSpPr>
        <p:spPr>
          <a:xfrm>
            <a:off x="6477148" y="17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autonomy</a:t>
            </a:r>
          </a:p>
        </p:txBody>
      </p:sp>
      <p:sp>
        <p:nvSpPr>
          <p:cNvPr id="108" name="S108"/>
          <p:cNvSpPr/>
          <p:nvPr/>
        </p:nvSpPr>
        <p:spPr>
          <a:xfrm>
            <a:off x="277148" y="24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Copies?</a:t>
            </a:r>
          </a:p>
        </p:txBody>
      </p:sp>
      <p:sp>
        <p:nvSpPr>
          <p:cNvPr id="109" name="S109"/>
          <p:cNvSpPr/>
          <p:nvPr/>
        </p:nvSpPr>
        <p:spPr>
          <a:xfrm>
            <a:off x="22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tighter consistency</a:t>
            </a:r>
          </a:p>
        </p:txBody>
      </p:sp>
      <p:sp>
        <p:nvSpPr>
          <p:cNvPr id="110" name="S110"/>
          <p:cNvSpPr/>
          <p:nvPr/>
        </p:nvSpPr>
        <p:spPr>
          <a:xfrm>
            <a:off x="43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looser consistency</a:t>
            </a:r>
          </a:p>
        </p:txBody>
      </p:sp>
      <p:sp>
        <p:nvSpPr>
          <p:cNvPr id="111" name="S111"/>
          <p:cNvSpPr/>
          <p:nvPr/>
        </p:nvSpPr>
        <p:spPr>
          <a:xfrm>
            <a:off x="6477148" y="24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avail.-latency</a:t>
            </a:r>
          </a:p>
        </p:txBody>
      </p:sp>
      <p:sp>
        <p:nvSpPr>
          <p:cNvPr id="112" name="S112"/>
          <p:cNvSpPr/>
          <p:nvPr/>
        </p:nvSpPr>
        <p:spPr>
          <a:xfrm>
            <a:off x="277148" y="31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When?</a:t>
            </a:r>
          </a:p>
        </p:txBody>
      </p:sp>
      <p:sp>
        <p:nvSpPr>
          <p:cNvPr id="113" name="S113"/>
          <p:cNvSpPr/>
          <p:nvPr/>
        </p:nvSpPr>
        <p:spPr>
          <a:xfrm>
            <a:off x="22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immediate</a:t>
            </a:r>
          </a:p>
        </p:txBody>
      </p:sp>
      <p:sp>
        <p:nvSpPr>
          <p:cNvPr id="114" name="S114"/>
          <p:cNvSpPr/>
          <p:nvPr/>
        </p:nvSpPr>
        <p:spPr>
          <a:xfrm>
            <a:off x="43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deferred</a:t>
            </a:r>
          </a:p>
        </p:txBody>
      </p:sp>
      <p:sp>
        <p:nvSpPr>
          <p:cNvPr id="115" name="S115"/>
          <p:cNvSpPr/>
          <p:nvPr/>
        </p:nvSpPr>
        <p:spPr>
          <a:xfrm>
            <a:off x="6477148" y="31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immediacy / isolation</a:t>
            </a:r>
          </a:p>
        </p:txBody>
      </p:sp>
      <p:sp>
        <p:nvSpPr>
          <p:cNvPr id="116" name="S116"/>
          <p:cNvSpPr/>
          <p:nvPr/>
        </p:nvSpPr>
        <p:spPr>
          <a:xfrm>
            <a:off x="277148" y="38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Depend how?</a:t>
            </a:r>
          </a:p>
        </p:txBody>
      </p:sp>
      <p:sp>
        <p:nvSpPr>
          <p:cNvPr id="117" name="S117"/>
          <p:cNvSpPr/>
          <p:nvPr/>
        </p:nvSpPr>
        <p:spPr>
          <a:xfrm>
            <a:off x="22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a:t>
            </a:r>
          </a:p>
        </p:txBody>
      </p:sp>
      <p:sp>
        <p:nvSpPr>
          <p:cNvPr id="118" name="S118"/>
          <p:cNvSpPr/>
          <p:nvPr/>
        </p:nvSpPr>
        <p:spPr>
          <a:xfrm>
            <a:off x="43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indirect</a:t>
            </a:r>
          </a:p>
        </p:txBody>
      </p:sp>
      <p:sp>
        <p:nvSpPr>
          <p:cNvPr id="119" name="S119"/>
          <p:cNvSpPr/>
          <p:nvPr/>
        </p:nvSpPr>
        <p:spPr>
          <a:xfrm>
            <a:off x="6477148" y="38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simplicity / change isolation</a:t>
            </a:r>
          </a:p>
        </p:txBody>
      </p:sp>
      <p:sp>
        <p:nvSpPr>
          <p:cNvPr id="120" name="S120"/>
          <p:cNvSpPr/>
          <p:nvPr/>
        </p:nvSpPr>
        <p:spPr>
          <a:xfrm>
            <a:off x="277148" y="45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Decompose how?</a:t>
            </a:r>
          </a:p>
        </p:txBody>
      </p:sp>
      <p:sp>
        <p:nvSpPr>
          <p:cNvPr id="121" name="S121"/>
          <p:cNvSpPr/>
          <p:nvPr/>
        </p:nvSpPr>
        <p:spPr>
          <a:xfrm>
            <a:off x="22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fewer seams</a:t>
            </a:r>
          </a:p>
        </p:txBody>
      </p:sp>
      <p:sp>
        <p:nvSpPr>
          <p:cNvPr id="122" name="S122"/>
          <p:cNvSpPr/>
          <p:nvPr/>
        </p:nvSpPr>
        <p:spPr>
          <a:xfrm>
            <a:off x="43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more seams</a:t>
            </a:r>
          </a:p>
        </p:txBody>
      </p:sp>
      <p:sp>
        <p:nvSpPr>
          <p:cNvPr id="123" name="S123"/>
          <p:cNvSpPr/>
          <p:nvPr/>
        </p:nvSpPr>
        <p:spPr>
          <a:xfrm>
            <a:off x="6477148" y="45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directness / locality</a:t>
            </a:r>
          </a:p>
        </p:txBody>
      </p:sp>
      <p:sp>
        <p:nvSpPr>
          <p:cNvPr id="124" name="FooterBand"/>
          <p:cNvSpPr/>
          <p:nvPr/>
        </p:nvSpPr>
        <p:spPr>
          <a:xfrm>
            <a:off x="685800" y="626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is not choosing the “good” side. It is choosing which consequences fit the problem.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740000"/>
            <a:ext cx="7772400" cy="700000"/>
          </a:xfrm>
        </p:spPr>
        <p:txBody>
          <a:bodyPr>
            <a:normAutofit fontScale="90000"/>
          </a:bodyPr>
          <a:lstStyle/>
          <a:p>
            <a:pPr algn="ctr">
              <a:buNone/>
              <a:defRPr b="0"/>
            </a:pPr>
            <a:r>
              <a:rPr lang="en-US" sz="3200" b="0" i="0" dirty="0">
                <a:solidFill>
                  <a:srgbClr val="000000"/>
                </a:solidFill>
              </a:rPr>
              <a:t>Design tests whether the strategy is workable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7" name="Section4"/>
          <p:cNvSpPr/>
          <p:nvPr/>
        </p:nvSpPr>
        <p:spPr>
          <a:xfrm>
            <a:off x="685800" y="420000"/>
            <a:ext cx="7772400" cy="32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SECTION 4</a:t>
            </a:r>
          </a:p>
        </p:txBody>
      </p:sp>
      <p:sp>
        <p:nvSpPr>
          <p:cNvPr id="100" name="WallKicker"/>
          <p:cNvSpPr/>
          <p:nvPr/>
        </p:nvSpPr>
        <p:spPr>
          <a:xfrm>
            <a:off x="560000" y="1760000"/>
            <a:ext cx="2900000"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the inherited wall</a:t>
            </a:r>
          </a:p>
        </p:txBody>
      </p:sp>
      <p:sp>
        <p:nvSpPr>
          <p:cNvPr id="101" name="WallLbl"/>
          <p:cNvSpPr/>
          <p:nvPr/>
        </p:nvSpPr>
        <p:spPr>
          <a:xfrm>
            <a:off x="560000" y="2060000"/>
            <a:ext cx="2900000" cy="30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structural wall</a:t>
            </a:r>
          </a:p>
        </p:txBody>
      </p:sp>
      <p:sp>
        <p:nvSpPr>
          <p:cNvPr id="102" name="WallRect"/>
          <p:cNvSpPr/>
          <p:nvPr/>
        </p:nvSpPr>
        <p:spPr>
          <a:xfrm>
            <a:off x="1310000" y="2380000"/>
            <a:ext cx="1500000" cy="2560000"/>
          </a:xfrm>
          <a:prstGeom prst="rect">
            <a:avLst/>
          </a:prstGeom>
          <a:solidFill>
            <a:srgbClr val="C9B991"/>
          </a:solidFill>
          <a:ln w="19050">
            <a:solidFill>
              <a:srgbClr val="555960"/>
            </a:solidFill>
          </a:ln>
        </p:spPr>
        <p:txBody>
          <a:bodyPr wrap="square" lIns="91440" tIns="45720" rIns="91440" bIns="45720" anchor="ctr">
            <a:normAutofit/>
          </a:bodyPr>
          <a:lstStyle/>
          <a:p>
            <a:endParaRPr/>
          </a:p>
        </p:txBody>
      </p:sp>
      <p:sp>
        <p:nvSpPr>
          <p:cNvPr id="103" name="ServiceSpace"/>
          <p:cNvSpPr/>
          <p:nvPr/>
        </p:nvSpPr>
        <p:spPr>
          <a:xfrm>
            <a:off x="1585000" y="3260000"/>
            <a:ext cx="950000" cy="1100000"/>
          </a:xfrm>
          <a:prstGeom prst="rect">
            <a:avLst/>
          </a:prstGeom>
          <a:solidFill>
            <a:srgbClr val="F5F1E8"/>
          </a:solidFill>
          <a:ln w="12700">
            <a:solidFill>
              <a:srgbClr val="555960"/>
            </a:solidFill>
            <a:prstDash val="dash"/>
          </a:ln>
        </p:spPr>
        <p:txBody>
          <a:bodyPr wrap="square" lIns="91440" tIns="45720" rIns="91440" bIns="45720" anchor="ctr">
            <a:normAutofit/>
          </a:bodyPr>
          <a:lstStyle/>
          <a:p>
            <a:pPr algn="ctr">
              <a:buNone/>
            </a:pPr>
            <a:r>
              <a:rPr lang="en-US" sz="1100" b="0" i="0" dirty="0">
                <a:solidFill>
                  <a:srgbClr val="555960"/>
                </a:solidFill>
              </a:rPr>
              <a:t>service space</a:t>
            </a:r>
          </a:p>
        </p:txBody>
      </p:sp>
      <p:sp>
        <p:nvSpPr>
          <p:cNvPr id="105" name="WallCap"/>
          <p:cNvSpPr/>
          <p:nvPr/>
        </p:nvSpPr>
        <p:spPr>
          <a:xfrm>
            <a:off x="400000" y="5080000"/>
            <a:ext cx="3300000" cy="300000"/>
          </a:xfrm>
          <a:prstGeom prst="rect">
            <a:avLst/>
          </a:prstGeom>
          <a:noFill/>
          <a:ln>
            <a:noFill/>
          </a:ln>
        </p:spPr>
        <p:txBody>
          <a:bodyPr wrap="square" lIns="0" tIns="0" rIns="0" bIns="0" anchor="t">
            <a:normAutofit/>
          </a:bodyPr>
          <a:lstStyle/>
          <a:p>
            <a:pPr algn="ctr">
              <a:buNone/>
            </a:pPr>
            <a:r>
              <a:rPr lang="en-US" sz="1050" b="0" i="1" dirty="0">
                <a:solidFill>
                  <a:srgbClr val="555960"/>
                </a:solidFill>
              </a:rPr>
              <a:t>wall location · available depth · permitted penetrations</a:t>
            </a:r>
          </a:p>
        </p:txBody>
      </p:sp>
      <p:sp>
        <p:nvSpPr>
          <p:cNvPr id="120" name="FitCard"/>
          <p:cNvSpPr/>
          <p:nvPr/>
        </p:nvSpPr>
        <p:spPr>
          <a:xfrm>
            <a:off x="3720000" y="1720000"/>
            <a:ext cx="5120000" cy="1420000"/>
          </a:xfrm>
          <a:prstGeom prst="roundRect">
            <a:avLst/>
          </a:prstGeom>
          <a:solidFill>
            <a:srgbClr val="F5F1E8"/>
          </a:solidFill>
          <a:ln w="14097">
            <a:solidFill>
              <a:srgbClr val="C9B991"/>
            </a:solidFill>
          </a:ln>
        </p:spPr>
        <p:txBody>
          <a:bodyPr wrap="square" lIns="91440" tIns="45720" rIns="91440" bIns="45720" anchor="ctr">
            <a:normAutofit/>
          </a:bodyPr>
          <a:lstStyle/>
          <a:p>
            <a:endParaRPr/>
          </a:p>
        </p:txBody>
      </p:sp>
      <p:sp>
        <p:nvSpPr>
          <p:cNvPr id="121" name="FitSlot"/>
          <p:cNvSpPr/>
          <p:nvPr/>
        </p:nvSpPr>
        <p:spPr>
          <a:xfrm>
            <a:off x="3940000" y="1900000"/>
            <a:ext cx="560000" cy="1060000"/>
          </a:xfrm>
          <a:prstGeom prst="rect">
            <a:avLst/>
          </a:prstGeom>
          <a:solidFill>
            <a:srgbClr val="FFFFFF"/>
          </a:solidFill>
          <a:ln w="9525">
            <a:solidFill>
              <a:srgbClr val="555960"/>
            </a:solidFill>
            <a:prstDash val="dash"/>
          </a:ln>
        </p:spPr>
        <p:txBody>
          <a:bodyPr wrap="square" lIns="91440" tIns="45720" rIns="91440" bIns="45720" anchor="ctr">
            <a:normAutofit/>
          </a:bodyPr>
          <a:lstStyle/>
          <a:p>
            <a:endParaRPr/>
          </a:p>
        </p:txBody>
      </p:sp>
      <p:sp>
        <p:nvSpPr>
          <p:cNvPr id="122" name="FitPipe"/>
          <p:cNvSpPr/>
          <p:nvPr/>
        </p:nvSpPr>
        <p:spPr>
          <a:xfrm>
            <a:off x="4090000" y="1990000"/>
            <a:ext cx="260000" cy="880000"/>
          </a:xfrm>
          <a:prstGeom prst="roundRect">
            <a:avLst/>
          </a:prstGeom>
          <a:solidFill>
            <a:srgbClr val="8E6F3E"/>
          </a:solidFill>
          <a:ln w="9525">
            <a:solidFill>
              <a:srgbClr val="5C4826"/>
            </a:solidFill>
          </a:ln>
        </p:spPr>
        <p:txBody>
          <a:bodyPr wrap="square" lIns="91440" tIns="45720" rIns="91440" bIns="45720" anchor="ctr">
            <a:normAutofit/>
          </a:bodyPr>
          <a:lstStyle/>
          <a:p>
            <a:endParaRPr/>
          </a:p>
        </p:txBody>
      </p:sp>
      <p:sp>
        <p:nvSpPr>
          <p:cNvPr id="124" name="FitHdr"/>
          <p:cNvSpPr/>
          <p:nvPr/>
        </p:nvSpPr>
        <p:spPr>
          <a:xfrm>
            <a:off x="4700000" y="1980000"/>
            <a:ext cx="3980000" cy="360000"/>
          </a:xfrm>
          <a:prstGeom prst="rect">
            <a:avLst/>
          </a:prstGeom>
          <a:noFill/>
          <a:ln>
            <a:noFill/>
          </a:ln>
        </p:spPr>
        <p:txBody>
          <a:bodyPr wrap="square" lIns="0" tIns="0" rIns="0" bIns="0" anchor="t">
            <a:normAutofit/>
          </a:bodyPr>
          <a:lstStyle/>
          <a:p>
            <a:pPr algn="l">
              <a:buNone/>
            </a:pPr>
            <a:r>
              <a:rPr lang="en-US" sz="1700" b="1" i="0" dirty="0">
                <a:solidFill>
                  <a:srgbClr val="1E7A46"/>
                </a:solidFill>
              </a:rPr>
              <a:t>The required pipe fits.</a:t>
            </a:r>
          </a:p>
        </p:txBody>
      </p:sp>
      <p:sp>
        <p:nvSpPr>
          <p:cNvPr id="123" name="FitLbl"/>
          <p:cNvSpPr/>
          <p:nvPr/>
        </p:nvSpPr>
        <p:spPr>
          <a:xfrm>
            <a:off x="4700000" y="2360000"/>
            <a:ext cx="3980000" cy="640000"/>
          </a:xfrm>
          <a:prstGeom prst="rect">
            <a:avLst/>
          </a:prstGeom>
          <a:noFill/>
          <a:ln>
            <a:noFill/>
          </a:ln>
        </p:spPr>
        <p:txBody>
          <a:bodyPr wrap="square" lIns="0" tIns="0" rIns="0" bIns="0" anchor="t">
            <a:normAutofit/>
          </a:bodyPr>
          <a:lstStyle/>
          <a:p>
            <a:pPr algn="l">
              <a:buNone/>
            </a:pPr>
            <a:r>
              <a:rPr lang="en-US" sz="1350" b="0" i="1" dirty="0">
                <a:solidFill>
                  <a:srgbClr val="555960"/>
                </a:solidFill>
              </a:rPr>
              <a:t>✓  the strategy afforded a workable tactic</a:t>
            </a:r>
          </a:p>
        </p:txBody>
      </p:sp>
      <p:sp>
        <p:nvSpPr>
          <p:cNvPr id="130" name="NoFitCard"/>
          <p:cNvSpPr/>
          <p:nvPr/>
        </p:nvSpPr>
        <p:spPr>
          <a:xfrm>
            <a:off x="3720000" y="3280000"/>
            <a:ext cx="5120000" cy="1620000"/>
          </a:xfrm>
          <a:prstGeom prst="roundRect">
            <a:avLst/>
          </a:prstGeom>
          <a:solidFill>
            <a:srgbClr val="F5F1E8"/>
          </a:solidFill>
          <a:ln w="14097">
            <a:solidFill>
              <a:srgbClr val="C9B991"/>
            </a:solidFill>
          </a:ln>
        </p:spPr>
        <p:txBody>
          <a:bodyPr wrap="square" lIns="91440" tIns="45720" rIns="91440" bIns="45720" anchor="ctr">
            <a:normAutofit/>
          </a:bodyPr>
          <a:lstStyle/>
          <a:p>
            <a:endParaRPr/>
          </a:p>
        </p:txBody>
      </p:sp>
      <p:sp>
        <p:nvSpPr>
          <p:cNvPr id="131" name="NoFitSlot"/>
          <p:cNvSpPr/>
          <p:nvPr/>
        </p:nvSpPr>
        <p:spPr>
          <a:xfrm>
            <a:off x="3940000" y="3470000"/>
            <a:ext cx="560000" cy="1060000"/>
          </a:xfrm>
          <a:prstGeom prst="rect">
            <a:avLst/>
          </a:prstGeom>
          <a:solidFill>
            <a:srgbClr val="FFFFFF"/>
          </a:solidFill>
          <a:ln w="9525">
            <a:solidFill>
              <a:srgbClr val="555960"/>
            </a:solidFill>
            <a:prstDash val="dash"/>
          </a:ln>
        </p:spPr>
        <p:txBody>
          <a:bodyPr wrap="square" lIns="91440" tIns="45720" rIns="91440" bIns="45720" anchor="ctr">
            <a:normAutofit/>
          </a:bodyPr>
          <a:lstStyle/>
          <a:p>
            <a:endParaRPr/>
          </a:p>
        </p:txBody>
      </p:sp>
      <p:sp>
        <p:nvSpPr>
          <p:cNvPr id="132" name="NoFitPipeV"/>
          <p:cNvSpPr/>
          <p:nvPr/>
        </p:nvSpPr>
        <p:spPr>
          <a:xfrm>
            <a:off x="4090000" y="3560000"/>
            <a:ext cx="260000" cy="640000"/>
          </a:xfrm>
          <a:prstGeom prst="roundRect">
            <a:avLst/>
          </a:prstGeom>
          <a:solidFill>
            <a:srgbClr val="C0392B"/>
          </a:solidFill>
          <a:ln w="9525">
            <a:solidFill>
              <a:srgbClr val="7B241C"/>
            </a:solidFill>
          </a:ln>
        </p:spPr>
        <p:txBody>
          <a:bodyPr wrap="square" lIns="91440" tIns="45720" rIns="91440" bIns="45720" anchor="ctr">
            <a:normAutofit/>
          </a:bodyPr>
          <a:lstStyle/>
          <a:p>
            <a:endParaRPr/>
          </a:p>
        </p:txBody>
      </p:sp>
      <p:sp>
        <p:nvSpPr>
          <p:cNvPr id="133" name="NoFitPipeH"/>
          <p:cNvSpPr/>
          <p:nvPr/>
        </p:nvSpPr>
        <p:spPr>
          <a:xfrm>
            <a:off x="4090000" y="4000000"/>
            <a:ext cx="1120000" cy="260000"/>
          </a:xfrm>
          <a:prstGeom prst="roundRect">
            <a:avLst/>
          </a:prstGeom>
          <a:solidFill>
            <a:srgbClr val="C0392B"/>
          </a:solidFill>
          <a:ln w="9525">
            <a:solidFill>
              <a:srgbClr val="7B241C"/>
            </a:solidFill>
          </a:ln>
        </p:spPr>
        <p:txBody>
          <a:bodyPr wrap="square" lIns="91440" tIns="45720" rIns="91440" bIns="45720" anchor="ctr">
            <a:normAutofit/>
          </a:bodyPr>
          <a:lstStyle/>
          <a:p>
            <a:endParaRPr/>
          </a:p>
        </p:txBody>
      </p:sp>
      <p:sp>
        <p:nvSpPr>
          <p:cNvPr id="136" name="NoFitMark"/>
          <p:cNvSpPr/>
          <p:nvPr/>
        </p:nvSpPr>
        <p:spPr>
          <a:xfrm>
            <a:off x="4980000" y="3830000"/>
            <a:ext cx="360000" cy="360000"/>
          </a:xfrm>
          <a:prstGeom prst="ellipse">
            <a:avLst/>
          </a:prstGeom>
          <a:solidFill>
            <a:srgbClr val="FFFFFF"/>
          </a:solidFill>
          <a:ln w="19050">
            <a:solidFill>
              <a:srgbClr val="C0392B"/>
            </a:solidFill>
          </a:ln>
        </p:spPr>
        <p:txBody>
          <a:bodyPr wrap="square" lIns="91440" tIns="45720" rIns="91440" bIns="45720" anchor="ctr">
            <a:normAutofit/>
          </a:bodyPr>
          <a:lstStyle/>
          <a:p>
            <a:pPr algn="ctr">
              <a:buNone/>
            </a:pPr>
            <a:r>
              <a:rPr lang="en-US" sz="1400" b="1" i="0" dirty="0">
                <a:solidFill>
                  <a:srgbClr val="C0392B"/>
                </a:solidFill>
              </a:rPr>
              <a:t>✗</a:t>
            </a:r>
          </a:p>
        </p:txBody>
      </p:sp>
      <p:sp>
        <p:nvSpPr>
          <p:cNvPr id="135" name="NoFitHdr"/>
          <p:cNvSpPr/>
          <p:nvPr/>
        </p:nvSpPr>
        <p:spPr>
          <a:xfrm>
            <a:off x="5560000" y="3540000"/>
            <a:ext cx="3120000" cy="700000"/>
          </a:xfrm>
          <a:prstGeom prst="rect">
            <a:avLst/>
          </a:prstGeom>
          <a:noFill/>
          <a:ln>
            <a:noFill/>
          </a:ln>
        </p:spPr>
        <p:txBody>
          <a:bodyPr wrap="square" lIns="0" tIns="0" rIns="0" bIns="0" anchor="t">
            <a:normAutofit/>
          </a:bodyPr>
          <a:lstStyle/>
          <a:p>
            <a:pPr algn="l">
              <a:buNone/>
            </a:pPr>
            <a:r>
              <a:rPr lang="en-US" sz="1700" b="1" i="0" dirty="0">
                <a:solidFill>
                  <a:srgbClr val="C0392B"/>
                </a:solidFill>
              </a:rPr>
              <a:t>A required bend does not fit.</a:t>
            </a:r>
          </a:p>
        </p:txBody>
      </p:sp>
      <p:sp>
        <p:nvSpPr>
          <p:cNvPr id="134" name="NoFitLbl"/>
          <p:cNvSpPr/>
          <p:nvPr/>
        </p:nvSpPr>
        <p:spPr>
          <a:xfrm>
            <a:off x="5560000" y="4180000"/>
            <a:ext cx="3120000" cy="640000"/>
          </a:xfrm>
          <a:prstGeom prst="rect">
            <a:avLst/>
          </a:prstGeom>
          <a:noFill/>
          <a:ln>
            <a:noFill/>
          </a:ln>
        </p:spPr>
        <p:txBody>
          <a:bodyPr wrap="square" lIns="0" tIns="0" rIns="0" bIns="0" anchor="t">
            <a:normAutofit/>
          </a:bodyPr>
          <a:lstStyle/>
          <a:p>
            <a:pPr algn="l">
              <a:buNone/>
            </a:pPr>
            <a:r>
              <a:rPr lang="en-US" sz="1250" b="0" i="1" dirty="0">
                <a:solidFill>
                  <a:srgbClr val="555960"/>
                </a:solidFill>
              </a:rPr>
              <a:t>information about the strategy — not just a plumbing failure</a:t>
            </a:r>
          </a:p>
        </p:txBody>
      </p:sp>
      <p:sp>
        <p:nvSpPr>
          <p:cNvPr id="106" name="Framing"/>
          <p:cNvSpPr/>
          <p:nvPr/>
        </p:nvSpPr>
        <p:spPr>
          <a:xfrm>
            <a:off x="400000" y="5420000"/>
            <a:ext cx="8340000" cy="340000"/>
          </a:xfrm>
          <a:prstGeom prst="rect">
            <a:avLst/>
          </a:prstGeom>
          <a:noFill/>
          <a:ln>
            <a:noFill/>
          </a:ln>
        </p:spPr>
        <p:txBody>
          <a:bodyPr wrap="square" lIns="0" tIns="0" rIns="0" bIns="0" anchor="t">
            <a:normAutofit/>
          </a:bodyPr>
          <a:lstStyle/>
          <a:p>
            <a:pPr algn="ctr">
              <a:buNone/>
            </a:pPr>
            <a:r>
              <a:rPr lang="en-US" sz="1400" b="0" i="1" dirty="0">
                <a:solidFill>
                  <a:srgbClr val="000000"/>
                </a:solidFill>
              </a:rPr>
              <a:t>Architecture created the space.  Design discovers whether the required tactic fits inside it.</a:t>
            </a:r>
          </a:p>
        </p:txBody>
      </p:sp>
      <p:sp>
        <p:nvSpPr>
          <p:cNvPr id="140" name="FooterBand"/>
          <p:cNvSpPr/>
          <p:nvPr/>
        </p:nvSpPr>
        <p:spPr>
          <a:xfrm>
            <a:off x="279400" y="5900000"/>
            <a:ext cx="8585200" cy="560000"/>
          </a:xfrm>
          <a:prstGeom prst="rect">
            <a:avLst/>
          </a:prstGeom>
          <a:solidFill>
            <a:srgbClr val="8E6F3E"/>
          </a:solidFill>
          <a:ln>
            <a:noFill/>
          </a:ln>
        </p:spPr>
        <p:txBody>
          <a:bodyPr wrap="square" lIns="109728" tIns="45720" rIns="109728" bIns="45720" anchor="ctr">
            <a:normAutofit/>
          </a:bodyPr>
          <a:lstStyle/>
          <a:p>
            <a:pPr algn="ctr">
              <a:buNone/>
            </a:pPr>
            <a:r>
              <a:rPr lang="en-US" sz="1600" b="1" i="0" dirty="0">
                <a:solidFill>
                  <a:srgbClr val="FFFFFF"/>
                </a:solidFill>
              </a:rPr>
              <a:t>Design tests whether the architectural strategy is workable.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21"/>
                                        </p:tgtEl>
                                        <p:attrNameLst>
                                          <p:attrName>style.visibility</p:attrName>
                                        </p:attrNameLst>
                                      </p:cBhvr>
                                      <p:to>
                                        <p:strVal val="visible"/>
                                      </p:to>
                                    </p:set>
                                    <p:animEffect transition="in" filter="fade">
                                      <p:cBhvr>
                                        <p:cTn id="11" dur="500"/>
                                        <p:tgtEl>
                                          <p:spTgt spid="12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22"/>
                                        </p:tgtEl>
                                        <p:attrNameLst>
                                          <p:attrName>style.visibility</p:attrName>
                                        </p:attrNameLst>
                                      </p:cBhvr>
                                      <p:to>
                                        <p:strVal val="visible"/>
                                      </p:to>
                                    </p:set>
                                    <p:animEffect transition="in" filter="fade">
                                      <p:cBhvr>
                                        <p:cTn id="15" dur="500"/>
                                        <p:tgtEl>
                                          <p:spTgt spid="12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24"/>
                                        </p:tgtEl>
                                        <p:attrNameLst>
                                          <p:attrName>style.visibility</p:attrName>
                                        </p:attrNameLst>
                                      </p:cBhvr>
                                      <p:to>
                                        <p:strVal val="visible"/>
                                      </p:to>
                                    </p:set>
                                    <p:animEffect transition="in" filter="fade">
                                      <p:cBhvr>
                                        <p:cTn id="19" dur="500"/>
                                        <p:tgtEl>
                                          <p:spTgt spid="124"/>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5"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par>
                          <p:cTn id="29" fill="hold">
                            <p:stCondLst>
                              <p:cond delay="0"/>
                            </p:stCondLst>
                            <p:childTnLst>
                              <p:par>
                                <p:cTn id="30" presetID="10" presetClass="entr" presetSubtype="0" fill="hold" grpId="6"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par>
                          <p:cTn id="33" fill="hold">
                            <p:stCondLst>
                              <p:cond delay="0"/>
                            </p:stCondLst>
                            <p:childTnLst>
                              <p:par>
                                <p:cTn id="34" presetID="10" presetClass="entr" presetSubtype="0" fill="hold" grpId="7" nodeType="withEffect">
                                  <p:stCondLst>
                                    <p:cond delay="0"/>
                                  </p:stCondLst>
                                  <p:childTnLst>
                                    <p:set>
                                      <p:cBhvr>
                                        <p:cTn id="35" dur="1" fill="hold">
                                          <p:stCondLst>
                                            <p:cond delay="0"/>
                                          </p:stCondLst>
                                        </p:cTn>
                                        <p:tgtEl>
                                          <p:spTgt spid="132"/>
                                        </p:tgtEl>
                                        <p:attrNameLst>
                                          <p:attrName>style.visibility</p:attrName>
                                        </p:attrNameLst>
                                      </p:cBhvr>
                                      <p:to>
                                        <p:strVal val="visible"/>
                                      </p:to>
                                    </p:set>
                                    <p:animEffect transition="in" filter="fade">
                                      <p:cBhvr>
                                        <p:cTn id="36" dur="500"/>
                                        <p:tgtEl>
                                          <p:spTgt spid="132"/>
                                        </p:tgtEl>
                                      </p:cBhvr>
                                    </p:animEffect>
                                  </p:childTnLst>
                                </p:cTn>
                              </p:par>
                            </p:childTnLst>
                          </p:cTn>
                        </p:par>
                        <p:par>
                          <p:cTn id="37" fill="hold">
                            <p:stCondLst>
                              <p:cond delay="0"/>
                            </p:stCondLst>
                            <p:childTnLst>
                              <p:par>
                                <p:cTn id="38" presetID="10" presetClass="entr" presetSubtype="0" fill="hold" grpId="8" nodeType="withEffect">
                                  <p:stCondLst>
                                    <p:cond delay="0"/>
                                  </p:stCondLst>
                                  <p:childTnLst>
                                    <p:set>
                                      <p:cBhvr>
                                        <p:cTn id="39" dur="1" fill="hold">
                                          <p:stCondLst>
                                            <p:cond delay="0"/>
                                          </p:stCondLst>
                                        </p:cTn>
                                        <p:tgtEl>
                                          <p:spTgt spid="133"/>
                                        </p:tgtEl>
                                        <p:attrNameLst>
                                          <p:attrName>style.visibility</p:attrName>
                                        </p:attrNameLst>
                                      </p:cBhvr>
                                      <p:to>
                                        <p:strVal val="visible"/>
                                      </p:to>
                                    </p:set>
                                    <p:animEffect transition="in" filter="fade">
                                      <p:cBhvr>
                                        <p:cTn id="40" dur="500"/>
                                        <p:tgtEl>
                                          <p:spTgt spid="133"/>
                                        </p:tgtEl>
                                      </p:cBhvr>
                                    </p:animEffect>
                                  </p:childTnLst>
                                </p:cTn>
                              </p:par>
                            </p:childTnLst>
                          </p:cTn>
                        </p:par>
                        <p:par>
                          <p:cTn id="41" fill="hold">
                            <p:stCondLst>
                              <p:cond delay="0"/>
                            </p:stCondLst>
                            <p:childTnLst>
                              <p:par>
                                <p:cTn id="42" presetID="10" presetClass="entr" presetSubtype="0" fill="hold" grpId="9" nodeType="withEffect">
                                  <p:stCondLst>
                                    <p:cond delay="0"/>
                                  </p:stCondLst>
                                  <p:childTnLst>
                                    <p:set>
                                      <p:cBhvr>
                                        <p:cTn id="43" dur="1" fill="hold">
                                          <p:stCondLst>
                                            <p:cond delay="0"/>
                                          </p:stCondLst>
                                        </p:cTn>
                                        <p:tgtEl>
                                          <p:spTgt spid="136"/>
                                        </p:tgtEl>
                                        <p:attrNameLst>
                                          <p:attrName>style.visibility</p:attrName>
                                        </p:attrNameLst>
                                      </p:cBhvr>
                                      <p:to>
                                        <p:strVal val="visible"/>
                                      </p:to>
                                    </p:set>
                                    <p:animEffect transition="in" filter="fade">
                                      <p:cBhvr>
                                        <p:cTn id="44" dur="500"/>
                                        <p:tgtEl>
                                          <p:spTgt spid="136"/>
                                        </p:tgtEl>
                                      </p:cBhvr>
                                    </p:animEffect>
                                  </p:childTnLst>
                                </p:cTn>
                              </p:par>
                            </p:childTnLst>
                          </p:cTn>
                        </p:par>
                        <p:par>
                          <p:cTn id="45" fill="hold">
                            <p:stCondLst>
                              <p:cond delay="0"/>
                            </p:stCondLst>
                            <p:childTnLst>
                              <p:par>
                                <p:cTn id="46" presetID="10" presetClass="entr" presetSubtype="0" fill="hold" grpId="10" nodeType="withEffect">
                                  <p:stCondLst>
                                    <p:cond delay="0"/>
                                  </p:stCondLst>
                                  <p:childTnLst>
                                    <p:set>
                                      <p:cBhvr>
                                        <p:cTn id="47" dur="1" fill="hold">
                                          <p:stCondLst>
                                            <p:cond delay="0"/>
                                          </p:stCondLst>
                                        </p:cTn>
                                        <p:tgtEl>
                                          <p:spTgt spid="135"/>
                                        </p:tgtEl>
                                        <p:attrNameLst>
                                          <p:attrName>style.visibility</p:attrName>
                                        </p:attrNameLst>
                                      </p:cBhvr>
                                      <p:to>
                                        <p:strVal val="visible"/>
                                      </p:to>
                                    </p:set>
                                    <p:animEffect transition="in" filter="fade">
                                      <p:cBhvr>
                                        <p:cTn id="48" dur="500"/>
                                        <p:tgtEl>
                                          <p:spTgt spid="135"/>
                                        </p:tgtEl>
                                      </p:cBhvr>
                                    </p:animEffect>
                                  </p:childTnLst>
                                </p:cTn>
                              </p:par>
                            </p:childTnLst>
                          </p:cTn>
                        </p:par>
                        <p:par>
                          <p:cTn id="49" fill="hold">
                            <p:stCondLst>
                              <p:cond delay="0"/>
                            </p:stCondLst>
                            <p:childTnLst>
                              <p:par>
                                <p:cTn id="50" presetID="10" presetClass="entr" presetSubtype="0" fill="hold" grpId="11" nodeType="withEffect">
                                  <p:stCondLst>
                                    <p:cond delay="0"/>
                                  </p:stCondLst>
                                  <p:childTnLst>
                                    <p:set>
                                      <p:cBhvr>
                                        <p:cTn id="51" dur="1" fill="hold">
                                          <p:stCondLst>
                                            <p:cond delay="0"/>
                                          </p:stCondLst>
                                        </p:cTn>
                                        <p:tgtEl>
                                          <p:spTgt spid="134"/>
                                        </p:tgtEl>
                                        <p:attrNameLst>
                                          <p:attrName>style.visibility</p:attrName>
                                        </p:attrNameLst>
                                      </p:cBhvr>
                                      <p:to>
                                        <p:strVal val="visible"/>
                                      </p:to>
                                    </p:set>
                                    <p:animEffect transition="in" filter="fade">
                                      <p:cBhvr>
                                        <p:cTn id="5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p:bldP spid="121" grpId="1"/>
      <p:bldP spid="122" grpId="2"/>
      <p:bldP spid="124" grpId="3"/>
      <p:bldP spid="123" grpId="4"/>
      <p:bldP spid="130" grpId="5"/>
      <p:bldP spid="131" grpId="6"/>
      <p:bldP spid="132" grpId="7"/>
      <p:bldP spid="133" grpId="8"/>
      <p:bldP spid="136" grpId="9"/>
      <p:bldP spid="135" grpId="10"/>
      <p:bldP spid="134" grpId="1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degree of freedom may reveal an architectural gap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600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1" name="S101"/>
          <p:cNvSpPr/>
          <p:nvPr/>
        </p:nvSpPr>
        <p:spPr>
          <a:xfrm>
            <a:off x="5044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2" name="L102"/>
          <p:cNvCxnSpPr/>
          <p:nvPr/>
        </p:nvCxnSpPr>
        <p:spPr>
          <a:xfrm>
            <a:off x="4100000" y="1280000"/>
            <a:ext cx="944000" cy="0"/>
          </a:xfrm>
          <a:prstGeom prst="straightConnector1">
            <a:avLst/>
          </a:prstGeom>
          <a:ln w="44450">
            <a:solidFill>
              <a:srgbClr val="8E6F3E"/>
            </a:solidFill>
            <a:tailEnd type="triangle" w="med" len="med"/>
          </a:ln>
        </p:spPr>
      </p:cxnSp>
      <p:sp>
        <p:nvSpPr>
          <p:cNvPr id="103" name="Label"/>
          <p:cNvSpPr txBox="1"/>
          <p:nvPr/>
        </p:nvSpPr>
        <p:spPr>
          <a:xfrm>
            <a:off x="4050000" y="1560000"/>
            <a:ext cx="1044000" cy="330000"/>
          </a:xfrm>
          <a:prstGeom prst="rect">
            <a:avLst/>
          </a:prstGeom>
          <a:noFill/>
          <a:ln>
            <a:noFill/>
          </a:ln>
        </p:spPr>
        <p:txBody>
          <a:bodyPr wrap="square" lIns="0" tIns="0" rIns="0" bIns="0" anchor="t">
            <a:normAutofit/>
          </a:bodyPr>
          <a:lstStyle/>
          <a:p>
            <a:pPr algn="ctr">
              <a:buNone/>
            </a:pPr>
            <a:r>
              <a:rPr lang="en-US" sz="1200" b="1" i="0" dirty="0">
                <a:solidFill>
                  <a:srgbClr val="8E6F3E"/>
                </a:solidFill>
              </a:rPr>
              <a:t>mechanism?</a:t>
            </a:r>
          </a:p>
        </p:txBody>
      </p:sp>
      <p:sp>
        <p:nvSpPr>
          <p:cNvPr id="104" name="S104"/>
          <p:cNvSpPr/>
          <p:nvPr/>
        </p:nvSpPr>
        <p:spPr>
          <a:xfrm>
            <a:off x="900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SYNC</a:t>
            </a:r>
          </a:p>
          <a:p>
            <a:pPr algn="ctr">
              <a:spcBef>
                <a:spcPts val="100"/>
              </a:spcBef>
              <a:buNone/>
            </a:pPr>
            <a:r>
              <a:rPr lang="en-US" sz="1400" b="0" i="0" dirty="0">
                <a:solidFill>
                  <a:srgbClr val="000000"/>
                </a:solidFill>
              </a:rPr>
              <a:t>violates failure isolation / latency</a:t>
            </a:r>
          </a:p>
        </p:txBody>
      </p:sp>
      <p:sp>
        <p:nvSpPr>
          <p:cNvPr id="105" name="S105"/>
          <p:cNvSpPr/>
          <p:nvPr/>
        </p:nvSpPr>
        <p:spPr>
          <a:xfrm>
            <a:off x="4944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ASYNC</a:t>
            </a:r>
          </a:p>
          <a:p>
            <a:pPr algn="ctr">
              <a:spcBef>
                <a:spcPts val="100"/>
              </a:spcBef>
              <a:buNone/>
            </a:pPr>
            <a:r>
              <a:rPr lang="en-US" sz="1400" b="0" i="0" dirty="0">
                <a:solidFill>
                  <a:srgbClr val="000000"/>
                </a:solidFill>
              </a:rPr>
              <a:t>violates required consistency</a:t>
            </a:r>
          </a:p>
        </p:txBody>
      </p:sp>
      <p:sp>
        <p:nvSpPr>
          <p:cNvPr id="106" name="S106"/>
          <p:cNvSpPr/>
          <p:nvPr/>
        </p:nvSpPr>
        <p:spPr>
          <a:xfrm>
            <a:off x="2572000" y="3200000"/>
            <a:ext cx="4000000" cy="56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No satisfactory local choice</a:t>
            </a:r>
          </a:p>
        </p:txBody>
      </p:sp>
      <p:cxnSp>
        <p:nvCxnSpPr>
          <p:cNvPr id="107" name="L107"/>
          <p:cNvCxnSpPr/>
          <p:nvPr/>
        </p:nvCxnSpPr>
        <p:spPr>
          <a:xfrm flipV="1">
            <a:off x="4572000" y="3780000"/>
            <a:ext cx="0" cy="300000"/>
          </a:xfrm>
          <a:prstGeom prst="straightConnector1">
            <a:avLst/>
          </a:prstGeom>
          <a:ln w="38100">
            <a:solidFill>
              <a:srgbClr val="8E6F3E"/>
            </a:solidFill>
            <a:tailEnd type="triangle" w="med" len="med"/>
          </a:ln>
        </p:spPr>
      </p:cxnSp>
      <p:sp>
        <p:nvSpPr>
          <p:cNvPr id="108" name="S108"/>
          <p:cNvSpPr/>
          <p:nvPr/>
        </p:nvSpPr>
        <p:spPr>
          <a:xfrm>
            <a:off x="2572000" y="4130000"/>
            <a:ext cx="4000000" cy="56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700" b="1" i="0" dirty="0">
                <a:solidFill>
                  <a:srgbClr val="5C4826"/>
                </a:solidFill>
              </a:rPr>
              <a:t>ARCHITECTURAL QUESTION</a:t>
            </a:r>
          </a:p>
        </p:txBody>
      </p:sp>
      <p:sp>
        <p:nvSpPr>
          <p:cNvPr id="109"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choice can look local until its consequences escape the box.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6"/>
                                        </p:tgtEl>
                                        <p:attrNameLst>
                                          <p:attrName>style.visibility</p:attrName>
                                        </p:attrNameLst>
                                      </p:cBhvr>
                                      <p:to>
                                        <p:strVal val="visible"/>
                                      </p:to>
                                    </p:set>
                                    <p:animEffect transition="in" filter="fade">
                                      <p:cBhvr>
                                        <p:cTn id="17" dur="500"/>
                                        <p:tgtEl>
                                          <p:spTgt spid="10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childTnLst>
                          </p:cTn>
                        </p:par>
                        <p:par>
                          <p:cTn id="23" fill="hold">
                            <p:stCondLst>
                              <p:cond delay="0"/>
                            </p:stCondLst>
                            <p:childTnLst>
                              <p:par>
                                <p:cTn id="24" presetID="10" presetClass="entr" presetSubtype="0" fill="hold" grpId="4" nodeType="withEffect">
                                  <p:stCondLst>
                                    <p:cond delay="0"/>
                                  </p:stCondLst>
                                  <p:childTnLst>
                                    <p:set>
                                      <p:cBhvr>
                                        <p:cTn id="25" dur="1" fill="hold">
                                          <p:stCondLst>
                                            <p:cond delay="0"/>
                                          </p:stCondLst>
                                        </p:cTn>
                                        <p:tgtEl>
                                          <p:spTgt spid="108"/>
                                        </p:tgtEl>
                                        <p:attrNameLst>
                                          <p:attrName>style.visibility</p:attrName>
                                        </p:attrNameLst>
                                      </p:cBhvr>
                                      <p:to>
                                        <p:strVal val="visible"/>
                                      </p:to>
                                    </p:set>
                                    <p:animEffect transition="in" filter="fade">
                                      <p:cBhvr>
                                        <p:cTn id="26" dur="500"/>
                                        <p:tgtEl>
                                          <p:spTgt spid="1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1"/>
      <p:bldP spid="106" grpId="2"/>
      <p:bldP spid="107" grpId="3"/>
      <p:bldP spid="108" grpId="4"/>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ARCHITECTURAL MODEL</a:t>
            </a:r>
          </a:p>
        </p:txBody>
      </p:sp>
      <p:sp>
        <p:nvSpPr>
          <p:cNvPr id="101" name="S101"/>
          <p:cNvSpPr/>
          <p:nvPr/>
        </p:nvSpPr>
        <p:spPr>
          <a:xfrm>
            <a:off x="700000" y="1380000"/>
            <a:ext cx="3600000" cy="12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20"/>
              </a:spcBef>
              <a:buNone/>
            </a:pPr>
            <a:r>
              <a:rPr lang="en-US" sz="1400" b="0" i="1" dirty="0">
                <a:solidFill>
                  <a:srgbClr val="555960"/>
                </a:solidFill>
              </a:rPr>
              <a:t>no dependency crosses this seam</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IMPLEMENTATION</a:t>
            </a:r>
          </a:p>
        </p:txBody>
      </p:sp>
      <p:sp>
        <p:nvSpPr>
          <p:cNvPr id="103" name="S103"/>
          <p:cNvSpPr/>
          <p:nvPr/>
        </p:nvSpPr>
        <p:spPr>
          <a:xfrm>
            <a:off x="4844000" y="1380000"/>
            <a:ext cx="3600000" cy="1250000"/>
          </a:xfrm>
          <a:prstGeom prst="rect">
            <a:avLst/>
          </a:prstGeom>
          <a:solidFill>
            <a:srgbClr val="FBF8F2"/>
          </a:solidFill>
          <a:ln w="12700">
            <a:solidFill>
              <a:srgbClr val="5C4826"/>
            </a:solidFill>
            <a:prstDash val="dash"/>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00"/>
              </a:spcBef>
              <a:buNone/>
            </a:pPr>
            <a:r>
              <a:rPr lang="en-US" sz="1500" b="0" i="0" dirty="0">
                <a:solidFill>
                  <a:srgbClr val="B85042"/>
                </a:solidFill>
              </a:rPr>
              <a:t>└──► B internals</a:t>
            </a:r>
          </a:p>
          <a:p>
            <a:pPr algn="ctr">
              <a:spcBef>
                <a:spcPts val="80"/>
              </a:spcBef>
              <a:buNone/>
            </a:pPr>
            <a:r>
              <a:rPr lang="en-US" sz="1400" b="0" i="1" dirty="0">
                <a:solidFill>
                  <a:srgbClr val="555960"/>
                </a:solidFill>
              </a:rPr>
              <a:t>“just this once”</a:t>
            </a:r>
          </a:p>
        </p:txBody>
      </p:sp>
      <p:sp>
        <p:nvSpPr>
          <p:cNvPr id="104" name="S104"/>
          <p:cNvSpPr/>
          <p:nvPr/>
        </p:nvSpPr>
        <p:spPr>
          <a:xfrm>
            <a:off x="277148" y="2820000"/>
            <a:ext cx="8589704" cy="560000"/>
          </a:xfrm>
          <a:prstGeom prst="rect">
            <a:avLst/>
          </a:prstGeom>
          <a:noFill/>
          <a:ln>
            <a:noFill/>
          </a:ln>
        </p:spPr>
        <p:txBody>
          <a:bodyPr wrap="square" lIns="91440" tIns="45720" rIns="91440" bIns="45720" anchor="ctr">
            <a:normAutofit/>
          </a:bodyPr>
          <a:lstStyle/>
          <a:p>
            <a:pPr algn="ctr">
              <a:buNone/>
            </a:pPr>
            <a:r>
              <a:rPr lang="en-US" sz="1600" b="1" i="0" dirty="0">
                <a:solidFill>
                  <a:srgbClr val="5C4826"/>
                </a:solidFill>
              </a:rPr>
              <a:t>feature works ✓    tests pass ✓    architecture remains true ✗</a:t>
            </a:r>
          </a:p>
        </p:txBody>
      </p:sp>
      <p:sp>
        <p:nvSpPr>
          <p:cNvPr id="105" name="S105"/>
          <p:cNvSpPr/>
          <p:nvPr/>
        </p:nvSpPr>
        <p:spPr>
          <a:xfrm>
            <a:off x="1272000" y="3500000"/>
            <a:ext cx="6600000" cy="5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“Can B be replaced without changing A?”   Model: YES   ·   Reality: NO</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Consequential discoveries must become engineering knowledge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0000"/>
            <a:ext cx="3600000" cy="5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DESIGN DISCOVERY</a:t>
            </a:r>
          </a:p>
        </p:txBody>
      </p:sp>
      <p:cxnSp>
        <p:nvCxnSpPr>
          <p:cNvPr id="101" name="L101"/>
          <p:cNvCxnSpPr/>
          <p:nvPr/>
        </p:nvCxnSpPr>
        <p:spPr>
          <a:xfrm>
            <a:off x="4572000" y="1500000"/>
            <a:ext cx="0" cy="200000"/>
          </a:xfrm>
          <a:prstGeom prst="straightConnector1">
            <a:avLst/>
          </a:prstGeom>
          <a:ln w="38100">
            <a:solidFill>
              <a:srgbClr val="8E6F3E"/>
            </a:solidFill>
            <a:tailEnd type="triangle" w="med" len="med"/>
          </a:ln>
        </p:spPr>
      </p:cxnSp>
      <p:sp>
        <p:nvSpPr>
          <p:cNvPr id="102" name="Q"/>
          <p:cNvSpPr txBox="1"/>
          <p:nvPr/>
        </p:nvSpPr>
        <p:spPr>
          <a:xfrm>
            <a:off x="277148" y="1720000"/>
            <a:ext cx="8589704" cy="32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Where do its consequences live?</a:t>
            </a:r>
          </a:p>
        </p:txBody>
      </p:sp>
      <p:sp>
        <p:nvSpPr>
          <p:cNvPr id="103" name="S103"/>
          <p:cNvSpPr/>
          <p:nvPr/>
        </p:nvSpPr>
        <p:spPr>
          <a:xfrm>
            <a:off x="900000" y="212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LOCAL</a:t>
            </a:r>
          </a:p>
        </p:txBody>
      </p:sp>
      <p:cxnSp>
        <p:nvCxnSpPr>
          <p:cNvPr id="104" name="L104"/>
          <p:cNvCxnSpPr/>
          <p:nvPr/>
        </p:nvCxnSpPr>
        <p:spPr>
          <a:xfrm>
            <a:off x="4200000" y="2380000"/>
            <a:ext cx="640000" cy="0"/>
          </a:xfrm>
          <a:prstGeom prst="straightConnector1">
            <a:avLst/>
          </a:prstGeom>
          <a:ln w="38100">
            <a:solidFill>
              <a:srgbClr val="8E6F3E"/>
            </a:solidFill>
            <a:tailEnd type="triangle" w="med" len="med"/>
          </a:ln>
        </p:spPr>
      </p:cxnSp>
      <p:sp>
        <p:nvSpPr>
          <p:cNvPr id="105" name="S105"/>
          <p:cNvSpPr/>
          <p:nvPr/>
        </p:nvSpPr>
        <p:spPr>
          <a:xfrm>
            <a:off x="4844000" y="212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DESIGN</a:t>
            </a:r>
          </a:p>
        </p:txBody>
      </p:sp>
      <p:sp>
        <p:nvSpPr>
          <p:cNvPr id="106" name="S106"/>
          <p:cNvSpPr/>
          <p:nvPr/>
        </p:nvSpPr>
        <p:spPr>
          <a:xfrm>
            <a:off x="900000" y="276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RECURRING ACROSS PARTS</a:t>
            </a:r>
          </a:p>
        </p:txBody>
      </p:sp>
      <p:cxnSp>
        <p:nvCxnSpPr>
          <p:cNvPr id="107" name="L107"/>
          <p:cNvCxnSpPr/>
          <p:nvPr/>
        </p:nvCxnSpPr>
        <p:spPr>
          <a:xfrm>
            <a:off x="4200000" y="3020000"/>
            <a:ext cx="640000" cy="0"/>
          </a:xfrm>
          <a:prstGeom prst="straightConnector1">
            <a:avLst/>
          </a:prstGeom>
          <a:ln w="38100">
            <a:solidFill>
              <a:srgbClr val="8E6F3E"/>
            </a:solidFill>
            <a:tailEnd type="triangle" w="med" len="med"/>
          </a:ln>
        </p:spPr>
      </p:cxnSp>
      <p:sp>
        <p:nvSpPr>
          <p:cNvPr id="108" name="S108"/>
          <p:cNvSpPr/>
          <p:nvPr/>
        </p:nvSpPr>
        <p:spPr>
          <a:xfrm>
            <a:off x="4844000" y="276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ENGINEERING ENVIRONMENT</a:t>
            </a:r>
          </a:p>
        </p:txBody>
      </p:sp>
      <p:sp>
        <p:nvSpPr>
          <p:cNvPr id="109" name="S109"/>
          <p:cNvSpPr/>
          <p:nvPr/>
        </p:nvSpPr>
        <p:spPr>
          <a:xfrm>
            <a:off x="900000" y="340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SYSTEM STRUCTURE</a:t>
            </a:r>
          </a:p>
        </p:txBody>
      </p:sp>
      <p:cxnSp>
        <p:nvCxnSpPr>
          <p:cNvPr id="110" name="L110"/>
          <p:cNvCxnSpPr/>
          <p:nvPr/>
        </p:nvCxnSpPr>
        <p:spPr>
          <a:xfrm>
            <a:off x="4200000" y="3660000"/>
            <a:ext cx="640000" cy="0"/>
          </a:xfrm>
          <a:prstGeom prst="straightConnector1">
            <a:avLst/>
          </a:prstGeom>
          <a:ln w="38100">
            <a:solidFill>
              <a:srgbClr val="8E6F3E"/>
            </a:solidFill>
            <a:tailEnd type="triangle" w="med" len="med"/>
          </a:ln>
        </p:spPr>
      </p:cxnSp>
      <p:sp>
        <p:nvSpPr>
          <p:cNvPr id="111" name="S111"/>
          <p:cNvSpPr/>
          <p:nvPr/>
        </p:nvSpPr>
        <p:spPr>
          <a:xfrm>
            <a:off x="4844000" y="340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ARCHITECTURE</a:t>
            </a:r>
          </a:p>
        </p:txBody>
      </p:sp>
      <p:sp>
        <p:nvSpPr>
          <p:cNvPr id="112" name="S112"/>
          <p:cNvSpPr/>
          <p:nvPr/>
        </p:nvSpPr>
        <p:spPr>
          <a:xfrm>
            <a:off x="900000" y="404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WHAT MUST BE TRUE</a:t>
            </a:r>
          </a:p>
        </p:txBody>
      </p:sp>
      <p:cxnSp>
        <p:nvCxnSpPr>
          <p:cNvPr id="113" name="L113"/>
          <p:cNvCxnSpPr/>
          <p:nvPr/>
        </p:nvCxnSpPr>
        <p:spPr>
          <a:xfrm>
            <a:off x="4200000" y="4300000"/>
            <a:ext cx="640000" cy="0"/>
          </a:xfrm>
          <a:prstGeom prst="straightConnector1">
            <a:avLst/>
          </a:prstGeom>
          <a:ln w="38100">
            <a:solidFill>
              <a:srgbClr val="8E6F3E"/>
            </a:solidFill>
            <a:tailEnd type="triangle" w="med" len="med"/>
          </a:ln>
        </p:spPr>
      </p:cxnSp>
      <p:sp>
        <p:nvSpPr>
          <p:cNvPr id="114" name="S114"/>
          <p:cNvSpPr/>
          <p:nvPr/>
        </p:nvSpPr>
        <p:spPr>
          <a:xfrm>
            <a:off x="4844000" y="404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SPECIFICATION</a:t>
            </a:r>
          </a:p>
        </p:txBody>
      </p:sp>
      <p:sp>
        <p:nvSpPr>
          <p:cNvPr id="115" name="S115"/>
          <p:cNvSpPr/>
          <p:nvPr/>
        </p:nvSpPr>
        <p:spPr>
          <a:xfrm>
            <a:off x="277148" y="4720000"/>
            <a:ext cx="8589704" cy="47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REMOVE IT  ·  MODEL IT  ·  CHANGE THE RULE   —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Implementation can become a Design probe.</a:t>
            </a:r>
          </a:p>
        </p:txBody>
      </p:sp>
      <p:sp>
        <p:nvSpPr>
          <p:cNvPr id="200" name="S100"/>
          <p:cNvSpPr/>
          <p:nvPr/>
        </p:nvSpPr>
        <p:spPr>
          <a:xfrm>
            <a:off x="60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UNCERTAINTY</a:t>
            </a:r>
          </a:p>
        </p:txBody>
      </p:sp>
      <p:cxnSp>
        <p:nvCxnSpPr>
          <p:cNvPr id="201" name="L101"/>
          <p:cNvCxnSpPr/>
          <p:nvPr/>
        </p:nvCxnSpPr>
        <p:spPr>
          <a:xfrm>
            <a:off x="2452000" y="5210000"/>
            <a:ext cx="180000" cy="0"/>
          </a:xfrm>
          <a:prstGeom prst="straightConnector1">
            <a:avLst/>
          </a:prstGeom>
          <a:ln w="25400">
            <a:solidFill>
              <a:srgbClr val="8E6F3E"/>
            </a:solidFill>
            <a:tailEnd type="triangle" w="med" len="med"/>
          </a:ln>
        </p:spPr>
      </p:cxnSp>
      <p:sp>
        <p:nvSpPr>
          <p:cNvPr id="202" name="S102"/>
          <p:cNvSpPr/>
          <p:nvPr/>
        </p:nvSpPr>
        <p:spPr>
          <a:xfrm>
            <a:off x="263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BUY INFORMATION</a:t>
            </a:r>
          </a:p>
        </p:txBody>
      </p:sp>
      <p:cxnSp>
        <p:nvCxnSpPr>
          <p:cNvPr id="103" name="L103"/>
          <p:cNvCxnSpPr/>
          <p:nvPr/>
        </p:nvCxnSpPr>
        <p:spPr>
          <a:xfrm>
            <a:off x="4482000" y="5210000"/>
            <a:ext cx="180000" cy="0"/>
          </a:xfrm>
          <a:prstGeom prst="straightConnector1">
            <a:avLst/>
          </a:prstGeom>
          <a:ln w="25400">
            <a:solidFill>
              <a:srgbClr val="8E6F3E"/>
            </a:solidFill>
            <a:tailEnd type="triangle" w="med" len="med"/>
          </a:ln>
        </p:spPr>
      </p:cxnSp>
      <p:sp>
        <p:nvSpPr>
          <p:cNvPr id="104" name="S104"/>
          <p:cNvSpPr/>
          <p:nvPr/>
        </p:nvSpPr>
        <p:spPr>
          <a:xfrm>
            <a:off x="466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model · prototype · measure</a:t>
            </a:r>
          </a:p>
        </p:txBody>
      </p:sp>
      <p:cxnSp>
        <p:nvCxnSpPr>
          <p:cNvPr id="105" name="L105"/>
          <p:cNvCxnSpPr/>
          <p:nvPr/>
        </p:nvCxnSpPr>
        <p:spPr>
          <a:xfrm>
            <a:off x="6512000" y="5210000"/>
            <a:ext cx="180000" cy="0"/>
          </a:xfrm>
          <a:prstGeom prst="straightConnector1">
            <a:avLst/>
          </a:prstGeom>
          <a:ln w="25400">
            <a:solidFill>
              <a:srgbClr val="8E6F3E"/>
            </a:solidFill>
            <a:tailEnd type="triangle" w="med" len="med"/>
          </a:ln>
        </p:spPr>
      </p:cxnSp>
      <p:sp>
        <p:nvSpPr>
          <p:cNvPr id="106" name="S106"/>
          <p:cNvSpPr/>
          <p:nvPr/>
        </p:nvSpPr>
        <p:spPr>
          <a:xfrm>
            <a:off x="6692000" y="4900000"/>
            <a:ext cx="1850000" cy="620000"/>
          </a:xfrm>
          <a:prstGeom prst="rect">
            <a:avLst/>
          </a:prstGeom>
          <a:solidFill>
            <a:srgbClr val="8E6F3E"/>
          </a:solidFill>
          <a:ln>
            <a:noFill/>
          </a:ln>
        </p:spPr>
        <p:txBody>
          <a:bodyPr wrap="square" lIns="91440" tIns="45720" rIns="91440" bIns="45720" anchor="ctr">
            <a:normAutofit/>
          </a:bodyPr>
          <a:lstStyle/>
          <a:p>
            <a:pPr algn="ctr">
              <a:buNone/>
            </a:pPr>
            <a:r>
              <a:rPr lang="en-US" sz="1300" b="1" i="0" dirty="0">
                <a:solidFill>
                  <a:srgbClr val="FFFFFF"/>
                </a:solidFill>
              </a:rPr>
              <a:t>IMPLEMENT?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SLOW</a:t>
            </a:r>
          </a:p>
        </p:txBody>
      </p:sp>
      <p:sp>
        <p:nvSpPr>
          <p:cNvPr id="101" name="S101"/>
          <p:cNvSpPr/>
          <p:nvPr/>
        </p:nvSpPr>
        <p:spPr>
          <a:xfrm>
            <a:off x="900000" y="1380000"/>
            <a:ext cx="7344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FAIL A — fix — local        FAIL B — fix — local        FAIL C — fix — local</a:t>
            </a:r>
          </a:p>
          <a:p>
            <a:pPr algn="ctr">
              <a:spcBef>
                <a:spcPts val="120"/>
              </a:spcBef>
              <a:buNone/>
            </a:pPr>
            <a:r>
              <a:rPr lang="en-US" sz="1300" b="0" i="1" dirty="0">
                <a:solidFill>
                  <a:srgbClr val="555960"/>
                </a:solidFill>
              </a:rPr>
              <a:t>weeks apart · each looks like an isolated incident</a:t>
            </a:r>
          </a:p>
        </p:txBody>
      </p:sp>
      <p:sp>
        <p:nvSpPr>
          <p:cNvPr id="102" name="Label"/>
          <p:cNvSpPr txBox="1"/>
          <p:nvPr/>
        </p:nvSpPr>
        <p:spPr>
          <a:xfrm>
            <a:off x="277148" y="25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DENSE</a:t>
            </a:r>
          </a:p>
        </p:txBody>
      </p:sp>
      <p:sp>
        <p:nvSpPr>
          <p:cNvPr id="103" name="S103"/>
          <p:cNvSpPr/>
          <p:nvPr/>
        </p:nvSpPr>
        <p:spPr>
          <a:xfrm>
            <a:off x="900000" y="2880000"/>
            <a:ext cx="7344000" cy="120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0" i="0" dirty="0">
                <a:solidFill>
                  <a:srgbClr val="000000"/>
                </a:solidFill>
              </a:rPr>
              <a:t>A   B   C     — in dense succession</a:t>
            </a:r>
          </a:p>
          <a:p>
            <a:pPr algn="ctr">
              <a:spcBef>
                <a:spcPts val="120"/>
              </a:spcBef>
              <a:buNone/>
            </a:pPr>
            <a:r>
              <a:rPr lang="en-US" sz="1600" b="1" i="0" dirty="0">
                <a:solidFill>
                  <a:srgbClr val="5C4826"/>
                </a:solidFill>
              </a:rPr>
              <a:t>RELATED?</a:t>
            </a:r>
          </a:p>
          <a:p>
            <a:pPr algn="ctr">
              <a:spcBef>
                <a:spcPts val="100"/>
              </a:spcBef>
              <a:buNone/>
            </a:pPr>
            <a:r>
              <a:rPr lang="en-US" sz="1500" b="1" i="0" dirty="0">
                <a:solidFill>
                  <a:srgbClr val="8E6F3E"/>
                </a:solidFill>
              </a:rPr>
              <a:t>↓  STRUCTURAL CAUSE</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Temporal compression can turn incidents into evidence of structure.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MAGE Moment — Velocity changes Design reasoning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EPISTEMIC</a:t>
            </a:r>
          </a:p>
        </p:txBody>
      </p:sp>
      <p:sp>
        <p:nvSpPr>
          <p:cNvPr id="101" name="S101"/>
          <p:cNvSpPr/>
          <p:nvPr/>
        </p:nvSpPr>
        <p:spPr>
          <a:xfrm>
            <a:off x="700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See relationships sooner</a:t>
            </a:r>
          </a:p>
          <a:p>
            <a:pPr algn="ctr">
              <a:spcBef>
                <a:spcPts val="140"/>
              </a:spcBef>
              <a:buNone/>
            </a:pPr>
            <a:r>
              <a:rPr lang="en-US" sz="1400" b="0" i="0" dirty="0">
                <a:solidFill>
                  <a:srgbClr val="000000"/>
                </a:solidFill>
              </a:rPr>
              <a:t>related failures become co-visible</a:t>
            </a:r>
          </a:p>
          <a:p>
            <a:pPr algn="ctr">
              <a:spcBef>
                <a:spcPts val="100"/>
              </a:spcBef>
              <a:buNone/>
            </a:pPr>
            <a:r>
              <a:rPr lang="en-US" sz="1400" b="0" i="0" dirty="0">
                <a:solidFill>
                  <a:srgbClr val="000000"/>
                </a:solidFill>
              </a:rPr>
              <a:t>structural causes easier to recognize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ECONOMIC</a:t>
            </a:r>
          </a:p>
        </p:txBody>
      </p:sp>
      <p:sp>
        <p:nvSpPr>
          <p:cNvPr id="103" name="S103"/>
          <p:cNvSpPr/>
          <p:nvPr/>
        </p:nvSpPr>
        <p:spPr>
          <a:xfrm>
            <a:off x="4844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Test more alternatives</a:t>
            </a:r>
          </a:p>
          <a:p>
            <a:pPr algn="ctr">
              <a:spcBef>
                <a:spcPts val="140"/>
              </a:spcBef>
              <a:buNone/>
            </a:pPr>
            <a:r>
              <a:rPr lang="en-US" sz="1400" b="0" i="0" dirty="0">
                <a:solidFill>
                  <a:srgbClr val="000000"/>
                </a:solidFill>
              </a:rPr>
              <a:t>prototypes cheaper</a:t>
            </a:r>
          </a:p>
          <a:p>
            <a:pPr algn="ctr">
              <a:spcBef>
                <a:spcPts val="100"/>
              </a:spcBef>
              <a:buNone/>
            </a:pPr>
            <a:r>
              <a:rPr lang="en-US" sz="1400" b="0" i="0" dirty="0">
                <a:solidFill>
                  <a:srgbClr val="000000"/>
                </a:solidFill>
              </a:rPr>
              <a:t>competing implementations cheaper</a:t>
            </a:r>
          </a:p>
          <a:p>
            <a:pPr algn="ctr">
              <a:spcBef>
                <a:spcPts val="100"/>
              </a:spcBef>
              <a:buNone/>
            </a:pPr>
            <a:r>
              <a:rPr lang="en-US" sz="1400" b="0" i="0" dirty="0">
                <a:solidFill>
                  <a:srgbClr val="000000"/>
                </a:solidFill>
              </a:rPr>
              <a:t>refactoring cheaper</a:t>
            </a:r>
          </a:p>
        </p:txBody>
      </p:sp>
      <p:sp>
        <p:nvSpPr>
          <p:cNvPr id="104" name="S104"/>
          <p:cNvSpPr/>
          <p:nvPr/>
        </p:nvSpPr>
        <p:spPr>
          <a:xfrm>
            <a:off x="2672000" y="3450000"/>
            <a:ext cx="3800000" cy="5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1" i="0" dirty="0">
                <a:solidFill>
                  <a:srgbClr val="5C4826"/>
                </a:solidFill>
              </a:rPr>
              <a:t>🧙  MORE DESIGN EVIDENCE</a:t>
            </a:r>
          </a:p>
        </p:txBody>
      </p:sp>
      <p:sp>
        <p:nvSpPr>
          <p:cNvPr id="105" name="Close"/>
          <p:cNvSpPr txBox="1"/>
          <p:nvPr/>
        </p:nvSpPr>
        <p:spPr>
          <a:xfrm>
            <a:off x="277148" y="4080000"/>
            <a:ext cx="8589704" cy="900000"/>
          </a:xfrm>
          <a:prstGeom prst="rect">
            <a:avLst/>
          </a:prstGeom>
          <a:noFill/>
          <a:ln>
            <a:noFill/>
          </a:ln>
        </p:spPr>
        <p:txBody>
          <a:bodyPr wrap="square" lIns="0" tIns="0" rIns="0" bIns="0" anchor="t">
            <a:normAutofit/>
          </a:bodyPr>
          <a:lstStyle/>
          <a:p>
            <a:pPr algn="ctr">
              <a:buNone/>
            </a:pPr>
            <a:r>
              <a:rPr lang="en-US" sz="1700" b="1" i="0" dirty="0">
                <a:solidFill>
                  <a:srgbClr val="000000"/>
                </a:solidFill>
              </a:rPr>
              <a:t>Velocity does not merely let you implement the Design faster.</a:t>
            </a:r>
          </a:p>
          <a:p>
            <a:pPr algn="ctr">
              <a:spcBef>
                <a:spcPts val="120"/>
              </a:spcBef>
              <a:buNone/>
            </a:pPr>
            <a:r>
              <a:rPr lang="en-US" sz="1700" b="1" i="0" dirty="0">
                <a:solidFill>
                  <a:srgbClr val="000000"/>
                </a:solidFill>
              </a:rPr>
              <a:t>It can let you reason about the Design differently.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5" nodeType="clickEffect">
                                  <p:stCondLst>
                                    <p:cond delay="0"/>
                                  </p:stCondLst>
                                  <p:childTnLst>
                                    <p:set>
                                      <p:cBhvr>
                                        <p:cTn id="29" dur="1" fill="hold">
                                          <p:stCondLst>
                                            <p:cond delay="0"/>
                                          </p:stCondLst>
                                        </p:cTn>
                                        <p:tgtEl>
                                          <p:spTgt spid="105"/>
                                        </p:tgtEl>
                                        <p:attrNameLst>
                                          <p:attrName>style.visibility</p:attrName>
                                        </p:attrNameLst>
                                      </p:cBhvr>
                                      <p:to>
                                        <p:strVal val="visible"/>
                                      </p:to>
                                    </p:set>
                                    <p:animEffect transition="in" filter="fade">
                                      <p:cBhvr>
                                        <p:cTn id="3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one part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Responsibility</a:t>
            </a:r>
          </a:p>
          <a:p>
            <a:pPr algn="l">
              <a:spcBef>
                <a:spcPts val="100"/>
              </a:spcBef>
              <a:buNone/>
            </a:pPr>
            <a:r>
              <a:rPr lang="en-US" sz="1400" b="0" i="0" dirty="0">
                <a:solidFill>
                  <a:srgbClr val="000000"/>
                </a:solidFill>
              </a:rPr>
              <a:t>Produce advice from the validated nightly summary and illness model.</a:t>
            </a:r>
          </a:p>
        </p:txBody>
      </p:sp>
      <p:sp>
        <p:nvSpPr>
          <p:cNvPr id="101" name="S101"/>
          <p:cNvSpPr/>
          <p:nvPr/>
        </p:nvSpPr>
        <p:spPr>
          <a:xfrm>
            <a:off x="4744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Interface</a:t>
            </a:r>
          </a:p>
          <a:p>
            <a:pPr algn="l">
              <a:spcBef>
                <a:spcPts val="100"/>
              </a:spcBef>
              <a:buNone/>
            </a:pPr>
            <a:r>
              <a:rPr lang="en-US" sz="1400" b="0" i="0" dirty="0">
                <a:solidFill>
                  <a:srgbClr val="000000"/>
                </a:solidFill>
              </a:rPr>
              <a:t>generateAdvice(summary, modelVersion) → Advice</a:t>
            </a:r>
          </a:p>
        </p:txBody>
      </p:sp>
      <p:sp>
        <p:nvSpPr>
          <p:cNvPr id="102" name="S102"/>
          <p:cNvSpPr/>
          <p:nvPr/>
        </p:nvSpPr>
        <p:spPr>
          <a:xfrm>
            <a:off x="700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Inherited constraints</a:t>
            </a:r>
          </a:p>
          <a:p>
            <a:pPr algn="l">
              <a:spcBef>
                <a:spcPts val="100"/>
              </a:spcBef>
              <a:buNone/>
            </a:pPr>
            <a:r>
              <a:rPr lang="en-US" sz="1300" b="0" i="0" dirty="0">
                <a:solidFill>
                  <a:srgbClr val="000000"/>
                </a:solidFill>
              </a:rPr>
              <a:t>advice returned within 2 seconds</a:t>
            </a:r>
          </a:p>
          <a:p>
            <a:pPr algn="l">
              <a:spcBef>
                <a:spcPts val="80"/>
              </a:spcBef>
              <a:buNone/>
            </a:pPr>
            <a:r>
              <a:rPr lang="en-US" sz="1300" b="0" i="0" dirty="0">
                <a:solidFill>
                  <a:srgbClr val="000000"/>
                </a:solidFill>
              </a:rPr>
              <a:t>illness model expected to change independently</a:t>
            </a:r>
          </a:p>
          <a:p>
            <a:pPr algn="l">
              <a:spcBef>
                <a:spcPts val="80"/>
              </a:spcBef>
              <a:buNone/>
            </a:pPr>
            <a:r>
              <a:rPr lang="en-US" sz="1300" b="0" i="0" dirty="0">
                <a:solidFill>
                  <a:srgbClr val="000000"/>
                </a:solidFill>
              </a:rPr>
              <a:t>raw sleep data must not escape its boundary</a:t>
            </a:r>
          </a:p>
          <a:p>
            <a:pPr algn="l">
              <a:spcBef>
                <a:spcPts val="80"/>
              </a:spcBef>
              <a:buNone/>
            </a:pPr>
            <a:r>
              <a:rPr lang="en-US" sz="1300" b="0" i="0" dirty="0">
                <a:solidFill>
                  <a:srgbClr val="000000"/>
                </a:solidFill>
              </a:rPr>
              <a:t>sharing failure must not block local advice</a:t>
            </a:r>
          </a:p>
        </p:txBody>
      </p:sp>
      <p:sp>
        <p:nvSpPr>
          <p:cNvPr id="103" name="S103"/>
          <p:cNvSpPr/>
          <p:nvPr/>
        </p:nvSpPr>
        <p:spPr>
          <a:xfrm>
            <a:off x="4744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Engineering environment</a:t>
            </a:r>
          </a:p>
          <a:p>
            <a:pPr algn="l">
              <a:spcBef>
                <a:spcPts val="100"/>
              </a:spcBef>
              <a:buNone/>
            </a:pPr>
            <a:r>
              <a:rPr lang="en-US" sz="1300" b="0" i="0" dirty="0">
                <a:solidFill>
                  <a:srgbClr val="000000"/>
                </a:solidFill>
              </a:rPr>
              <a:t>dependencies supplied through interfaces</a:t>
            </a:r>
          </a:p>
          <a:p>
            <a:pPr algn="l">
              <a:spcBef>
                <a:spcPts val="80"/>
              </a:spcBef>
              <a:buNone/>
            </a:pPr>
            <a:r>
              <a:rPr lang="en-US" sz="1300" b="0" i="0" dirty="0">
                <a:solidFill>
                  <a:srgbClr val="000000"/>
                </a:solidFill>
              </a:rPr>
              <a:t>persistent state uses repository abstraction</a:t>
            </a:r>
          </a:p>
          <a:p>
            <a:pPr algn="l">
              <a:spcBef>
                <a:spcPts val="80"/>
              </a:spcBef>
              <a:buNone/>
            </a:pPr>
            <a:r>
              <a:rPr lang="en-US" sz="1300" b="0" i="0" dirty="0">
                <a:solidFill>
                  <a:srgbClr val="000000"/>
                </a:solidFill>
              </a:rPr>
              <a:t>background work uses standard queue / retry</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undecided?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FOLLOW</a:t>
            </a:r>
          </a:p>
        </p:txBody>
      </p:sp>
      <p:sp>
        <p:nvSpPr>
          <p:cNvPr id="101" name="S101"/>
          <p:cNvSpPr/>
          <p:nvPr/>
        </p:nvSpPr>
        <p:spPr>
          <a:xfrm>
            <a:off x="70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328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CHOOSE</a:t>
            </a:r>
          </a:p>
        </p:txBody>
      </p:sp>
      <p:sp>
        <p:nvSpPr>
          <p:cNvPr id="103" name="S103"/>
          <p:cNvSpPr/>
          <p:nvPr/>
        </p:nvSpPr>
        <p:spPr>
          <a:xfrm>
            <a:off x="328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586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ESCALATE</a:t>
            </a:r>
          </a:p>
        </p:txBody>
      </p:sp>
      <p:sp>
        <p:nvSpPr>
          <p:cNvPr id="105" name="S105"/>
          <p:cNvSpPr/>
          <p:nvPr/>
        </p:nvSpPr>
        <p:spPr>
          <a:xfrm>
            <a:off x="586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6" name="S106"/>
          <p:cNvSpPr/>
          <p:nvPr/>
        </p:nvSpPr>
        <p:spPr>
          <a:xfrm>
            <a:off x="277148" y="4350000"/>
            <a:ext cx="8589704" cy="6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600" b="0" i="0" dirty="0">
                <a:solidFill>
                  <a:srgbClr val="000000"/>
                </a:solidFill>
              </a:rPr>
              <a:t>List the open questions inside this component. Classify each before answering it.</a:t>
            </a:r>
          </a:p>
        </p:txBody>
      </p:sp>
      <p:sp>
        <p:nvSpPr>
          <p:cNvPr id="107"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~3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Produce TWO plausible internal Designs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A</a:t>
            </a:r>
          </a:p>
        </p:txBody>
      </p:sp>
      <p:sp>
        <p:nvSpPr>
          <p:cNvPr id="101" name="S101"/>
          <p:cNvSpPr/>
          <p:nvPr/>
        </p:nvSpPr>
        <p:spPr>
          <a:xfrm>
            <a:off x="700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4622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B</a:t>
            </a:r>
          </a:p>
        </p:txBody>
      </p:sp>
      <p:sp>
        <p:nvSpPr>
          <p:cNvPr id="103" name="S103"/>
          <p:cNvSpPr/>
          <p:nvPr/>
        </p:nvSpPr>
        <p:spPr>
          <a:xfrm>
            <a:off x="4622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277148" y="4050000"/>
            <a:ext cx="8589704" cy="100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Require:</a:t>
            </a:r>
          </a:p>
          <a:p>
            <a:pPr algn="l">
              <a:spcBef>
                <a:spcPts val="100"/>
              </a:spcBef>
              <a:buNone/>
            </a:pPr>
            <a:r>
              <a:rPr lang="en-US" sz="1400" b="0" i="0" dirty="0">
                <a:solidFill>
                  <a:srgbClr val="000000"/>
                </a:solidFill>
              </a:rPr>
              <a:t>internal parts / responsibilities  ·  key interactions / state  ·  one purposeful model  ·  expected consequence / tradeoff</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Two genuinely different tactics. Both must respect what you inherited. Do not converge yet.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900000" y="10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satisfy the relevant Specification?</a:t>
            </a:r>
          </a:p>
        </p:txBody>
      </p:sp>
      <p:sp>
        <p:nvSpPr>
          <p:cNvPr id="101" name="S101"/>
          <p:cNvSpPr/>
          <p:nvPr/>
        </p:nvSpPr>
        <p:spPr>
          <a:xfrm>
            <a:off x="900000" y="181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respect the Architecture?</a:t>
            </a:r>
          </a:p>
        </p:txBody>
      </p:sp>
      <p:sp>
        <p:nvSpPr>
          <p:cNvPr id="102" name="S102"/>
          <p:cNvSpPr/>
          <p:nvPr/>
        </p:nvSpPr>
        <p:spPr>
          <a:xfrm>
            <a:off x="900000" y="257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use the Engineering Environment appropriately?</a:t>
            </a:r>
          </a:p>
        </p:txBody>
      </p:sp>
      <p:sp>
        <p:nvSpPr>
          <p:cNvPr id="103" name="S103"/>
          <p:cNvSpPr/>
          <p:nvPr/>
        </p:nvSpPr>
        <p:spPr>
          <a:xfrm>
            <a:off x="900000" y="333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genuine tradeoff distinguishes the alternatives?</a:t>
            </a:r>
          </a:p>
        </p:txBody>
      </p:sp>
      <p:sp>
        <p:nvSpPr>
          <p:cNvPr id="104" name="S104"/>
          <p:cNvSpPr/>
          <p:nvPr/>
        </p:nvSpPr>
        <p:spPr>
          <a:xfrm>
            <a:off x="900000" y="409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does your model establish?</a:t>
            </a:r>
          </a:p>
        </p:txBody>
      </p:sp>
      <p:sp>
        <p:nvSpPr>
          <p:cNvPr id="105" name="S105"/>
          <p:cNvSpPr/>
          <p:nvPr/>
        </p:nvSpPr>
        <p:spPr>
          <a:xfrm>
            <a:off x="900000" y="48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Did Design reveal anything that should be escalated?</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~6 minutes including selected shares.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45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Discovery</a:t>
            </a:r>
          </a:p>
        </p:txBody>
      </p:sp>
      <p:sp>
        <p:nvSpPr>
          <p:cNvPr id="101" name="S101"/>
          <p:cNvSpPr/>
          <p:nvPr/>
        </p:nvSpPr>
        <p:spPr>
          <a:xfrm>
            <a:off x="4866852" y="1050000"/>
            <a:ext cx="4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What happened?</a:t>
            </a:r>
          </a:p>
        </p:txBody>
      </p:sp>
      <p:sp>
        <p:nvSpPr>
          <p:cNvPr id="102" name="S102"/>
          <p:cNvSpPr/>
          <p:nvPr/>
        </p:nvSpPr>
        <p:spPr>
          <a:xfrm>
            <a:off x="277148" y="17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Already governed</a:t>
            </a:r>
          </a:p>
        </p:txBody>
      </p:sp>
      <p:sp>
        <p:nvSpPr>
          <p:cNvPr id="103" name="S103"/>
          <p:cNvSpPr/>
          <p:nvPr/>
        </p:nvSpPr>
        <p:spPr>
          <a:xfrm>
            <a:off x="4866852" y="17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FOLLOW</a:t>
            </a:r>
          </a:p>
        </p:txBody>
      </p:sp>
      <p:sp>
        <p:nvSpPr>
          <p:cNvPr id="104" name="S104"/>
          <p:cNvSpPr/>
          <p:nvPr/>
        </p:nvSpPr>
        <p:spPr>
          <a:xfrm>
            <a:off x="277148" y="24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Genuinely local</a:t>
            </a:r>
          </a:p>
        </p:txBody>
      </p:sp>
      <p:sp>
        <p:nvSpPr>
          <p:cNvPr id="105" name="S105"/>
          <p:cNvSpPr/>
          <p:nvPr/>
        </p:nvSpPr>
        <p:spPr>
          <a:xfrm>
            <a:off x="4866852" y="24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CHOOSE</a:t>
            </a:r>
          </a:p>
        </p:txBody>
      </p:sp>
      <p:sp>
        <p:nvSpPr>
          <p:cNvPr id="106" name="S106"/>
          <p:cNvSpPr/>
          <p:nvPr/>
        </p:nvSpPr>
        <p:spPr>
          <a:xfrm>
            <a:off x="277148" y="31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Recurring across components</a:t>
            </a:r>
          </a:p>
        </p:txBody>
      </p:sp>
      <p:sp>
        <p:nvSpPr>
          <p:cNvPr id="107" name="S107"/>
          <p:cNvSpPr/>
          <p:nvPr/>
        </p:nvSpPr>
        <p:spPr>
          <a:xfrm>
            <a:off x="4866852" y="31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ENVIRONMENT</a:t>
            </a:r>
          </a:p>
        </p:txBody>
      </p:sp>
      <p:sp>
        <p:nvSpPr>
          <p:cNvPr id="108" name="S108"/>
          <p:cNvSpPr/>
          <p:nvPr/>
        </p:nvSpPr>
        <p:spPr>
          <a:xfrm>
            <a:off x="277148" y="38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Structural consequence</a:t>
            </a:r>
          </a:p>
        </p:txBody>
      </p:sp>
      <p:sp>
        <p:nvSpPr>
          <p:cNvPr id="109" name="S109"/>
          <p:cNvSpPr/>
          <p:nvPr/>
        </p:nvSpPr>
        <p:spPr>
          <a:xfrm>
            <a:off x="4866852" y="38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ARCHITECTURE</a:t>
            </a:r>
          </a:p>
        </p:txBody>
      </p:sp>
      <p:sp>
        <p:nvSpPr>
          <p:cNvPr id="110" name="S110"/>
          <p:cNvSpPr/>
          <p:nvPr/>
        </p:nvSpPr>
        <p:spPr>
          <a:xfrm>
            <a:off x="277148" y="45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Missing obligation</a:t>
            </a:r>
          </a:p>
        </p:txBody>
      </p:sp>
      <p:sp>
        <p:nvSpPr>
          <p:cNvPr id="111" name="S111"/>
          <p:cNvSpPr/>
          <p:nvPr/>
        </p:nvSpPr>
        <p:spPr>
          <a:xfrm>
            <a:off x="4866852" y="45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SPECIFICATION</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Specification → Architecture → Design →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920000"/>
            <a:ext cx="430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REQUIREMENTS</a:t>
            </a:r>
          </a:p>
        </p:txBody>
      </p:sp>
      <p:cxnSp>
        <p:nvCxnSpPr>
          <p:cNvPr id="101" name="L101"/>
          <p:cNvCxnSpPr/>
          <p:nvPr/>
        </p:nvCxnSpPr>
        <p:spPr>
          <a:xfrm>
            <a:off x="2850000" y="1550000"/>
            <a:ext cx="0" cy="200000"/>
          </a:xfrm>
          <a:prstGeom prst="straightConnector1">
            <a:avLst/>
          </a:prstGeom>
          <a:ln w="38100">
            <a:solidFill>
              <a:srgbClr val="8E6F3E"/>
            </a:solidFill>
            <a:tailEnd type="triangle" w="med" len="med"/>
          </a:ln>
        </p:spPr>
      </p:cxnSp>
      <p:sp>
        <p:nvSpPr>
          <p:cNvPr id="102" name="S102"/>
          <p:cNvSpPr/>
          <p:nvPr/>
        </p:nvSpPr>
        <p:spPr>
          <a:xfrm>
            <a:off x="700000" y="17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60"/>
              </a:spcBef>
              <a:buNone/>
            </a:pPr>
            <a:r>
              <a:rPr lang="en-US" sz="1200" b="0" i="1" dirty="0">
                <a:solidFill>
                  <a:srgbClr val="FFFFFF"/>
                </a:solidFill>
              </a:rPr>
              <a:t>acceptable realization space</a:t>
            </a:r>
          </a:p>
        </p:txBody>
      </p:sp>
      <p:cxnSp>
        <p:nvCxnSpPr>
          <p:cNvPr id="103" name="L103"/>
          <p:cNvCxnSpPr/>
          <p:nvPr/>
        </p:nvCxnSpPr>
        <p:spPr>
          <a:xfrm>
            <a:off x="2850000" y="2400000"/>
            <a:ext cx="0" cy="200000"/>
          </a:xfrm>
          <a:prstGeom prst="straightConnector1">
            <a:avLst/>
          </a:prstGeom>
          <a:ln w="38100">
            <a:solidFill>
              <a:srgbClr val="8E6F3E"/>
            </a:solidFill>
            <a:tailEnd type="triangle" w="med" len="med"/>
          </a:ln>
        </p:spPr>
      </p:cxnSp>
      <p:sp>
        <p:nvSpPr>
          <p:cNvPr id="104" name="S104"/>
          <p:cNvSpPr/>
          <p:nvPr/>
        </p:nvSpPr>
        <p:spPr>
          <a:xfrm>
            <a:off x="700000" y="262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60"/>
              </a:spcBef>
              <a:buNone/>
            </a:pPr>
            <a:r>
              <a:rPr lang="en-US" sz="1200" b="0" i="1" dirty="0">
                <a:solidFill>
                  <a:srgbClr val="FFFFFF"/>
                </a:solidFill>
              </a:rPr>
              <a:t>coarse parts + constraints</a:t>
            </a:r>
          </a:p>
        </p:txBody>
      </p:sp>
      <p:cxnSp>
        <p:nvCxnSpPr>
          <p:cNvPr id="105" name="L105"/>
          <p:cNvCxnSpPr/>
          <p:nvPr/>
        </p:nvCxnSpPr>
        <p:spPr>
          <a:xfrm>
            <a:off x="2850000" y="3250000"/>
            <a:ext cx="0" cy="200000"/>
          </a:xfrm>
          <a:prstGeom prst="straightConnector1">
            <a:avLst/>
          </a:prstGeom>
          <a:ln w="38100">
            <a:solidFill>
              <a:srgbClr val="8E6F3E"/>
            </a:solidFill>
            <a:tailEnd type="triangle" w="med" len="med"/>
          </a:ln>
        </p:spPr>
      </p:cxnSp>
      <p:sp>
        <p:nvSpPr>
          <p:cNvPr id="106" name="S106"/>
          <p:cNvSpPr/>
          <p:nvPr/>
        </p:nvSpPr>
        <p:spPr>
          <a:xfrm>
            <a:off x="700000" y="34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a:t>
            </a:r>
          </a:p>
          <a:p>
            <a:pPr algn="ctr">
              <a:spcBef>
                <a:spcPts val="60"/>
              </a:spcBef>
              <a:buNone/>
            </a:pPr>
            <a:r>
              <a:rPr lang="en-US" sz="1200" b="0" i="1" dirty="0">
                <a:solidFill>
                  <a:srgbClr val="FFFFFF"/>
                </a:solidFill>
              </a:rPr>
              <a:t>smaller parts + mechanisms</a:t>
            </a:r>
          </a:p>
        </p:txBody>
      </p:sp>
      <p:cxnSp>
        <p:nvCxnSpPr>
          <p:cNvPr id="107" name="L107"/>
          <p:cNvCxnSpPr/>
          <p:nvPr/>
        </p:nvCxnSpPr>
        <p:spPr>
          <a:xfrm>
            <a:off x="2850000" y="4100000"/>
            <a:ext cx="0" cy="200000"/>
          </a:xfrm>
          <a:prstGeom prst="straightConnector1">
            <a:avLst/>
          </a:prstGeom>
          <a:ln w="38100">
            <a:solidFill>
              <a:srgbClr val="8E6F3E"/>
            </a:solidFill>
            <a:tailEnd type="triangle" w="med" len="med"/>
          </a:ln>
        </p:spPr>
      </p:cxnSp>
      <p:sp>
        <p:nvSpPr>
          <p:cNvPr id="108" name="S108"/>
          <p:cNvSpPr/>
          <p:nvPr/>
        </p:nvSpPr>
        <p:spPr>
          <a:xfrm>
            <a:off x="700000" y="4320000"/>
            <a:ext cx="4300000"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DESIGN / ARCHITECTURE</a:t>
            </a:r>
          </a:p>
          <a:p>
            <a:pPr algn="ctr">
              <a:spcBef>
                <a:spcPts val="60"/>
              </a:spcBef>
              <a:buNone/>
            </a:pPr>
            <a:r>
              <a:rPr lang="en-US" sz="1200" b="0" i="1" dirty="0">
                <a:solidFill>
                  <a:srgbClr val="555960"/>
                </a:solidFill>
              </a:rPr>
              <a:t>recurse</a:t>
            </a:r>
          </a:p>
        </p:txBody>
      </p:sp>
      <p:cxnSp>
        <p:nvCxnSpPr>
          <p:cNvPr id="109" name="L109"/>
          <p:cNvCxnSpPr/>
          <p:nvPr/>
        </p:nvCxnSpPr>
        <p:spPr>
          <a:xfrm>
            <a:off x="2850000" y="4950000"/>
            <a:ext cx="0" cy="200000"/>
          </a:xfrm>
          <a:prstGeom prst="straightConnector1">
            <a:avLst/>
          </a:prstGeom>
          <a:ln w="38100">
            <a:solidFill>
              <a:srgbClr val="8E6F3E"/>
            </a:solidFill>
            <a:tailEnd type="triangle" w="med" len="med"/>
          </a:ln>
        </p:spPr>
      </p:cxnSp>
      <p:sp>
        <p:nvSpPr>
          <p:cNvPr id="110" name="S110"/>
          <p:cNvSpPr/>
          <p:nvPr/>
        </p:nvSpPr>
        <p:spPr>
          <a:xfrm>
            <a:off x="700000" y="51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a:t>
            </a:r>
          </a:p>
          <a:p>
            <a:pPr algn="ctr">
              <a:spcBef>
                <a:spcPts val="60"/>
              </a:spcBef>
              <a:buNone/>
            </a:pPr>
            <a:r>
              <a:rPr lang="en-US" sz="1200" b="0" i="1" dirty="0">
                <a:solidFill>
                  <a:srgbClr val="FFFFFF"/>
                </a:solidFill>
              </a:rPr>
              <a:t>directly-reasonable entities</a:t>
            </a:r>
          </a:p>
        </p:txBody>
      </p:sp>
      <p:cxnSp>
        <p:nvCxnSpPr>
          <p:cNvPr id="111" name="L111"/>
          <p:cNvCxnSpPr/>
          <p:nvPr/>
        </p:nvCxnSpPr>
        <p:spPr>
          <a:xfrm flipV="1">
            <a:off x="5250000" y="1240000"/>
            <a:ext cx="0" cy="4200000"/>
          </a:xfrm>
          <a:prstGeom prst="straightConnector1">
            <a:avLst/>
          </a:prstGeom>
          <a:ln w="25400">
            <a:solidFill>
              <a:srgbClr val="8E6F3E"/>
            </a:solidFill>
            <a:tailEnd type="triangle" w="med" len="med"/>
          </a:ln>
        </p:spPr>
      </p:cxnSp>
      <p:sp>
        <p:nvSpPr>
          <p:cNvPr id="112" name="Evid"/>
          <p:cNvSpPr txBox="1"/>
          <p:nvPr/>
        </p:nvSpPr>
        <p:spPr>
          <a:xfrm>
            <a:off x="5380000" y="3000000"/>
            <a:ext cx="900000" cy="600000"/>
          </a:xfrm>
          <a:prstGeom prst="rect">
            <a:avLst/>
          </a:prstGeom>
          <a:noFill/>
          <a:ln>
            <a:noFill/>
          </a:ln>
        </p:spPr>
        <p:txBody>
          <a:bodyPr wrap="square" lIns="0" tIns="0" rIns="0" bIns="0" anchor="t">
            <a:normAutofit/>
          </a:bodyPr>
          <a:lstStyle/>
          <a:p>
            <a:pPr algn="l">
              <a:buNone/>
            </a:pPr>
            <a:r>
              <a:rPr lang="en-US" sz="1300" b="1" i="1" dirty="0">
                <a:solidFill>
                  <a:srgbClr val="8E6F3E"/>
                </a:solidFill>
              </a:rPr>
              <a:t>evidence ↑</a:t>
            </a:r>
          </a:p>
        </p:txBody>
      </p:sp>
      <p:sp>
        <p:nvSpPr>
          <p:cNvPr id="113" name="Sum"/>
          <p:cNvSpPr txBox="1"/>
          <p:nvPr/>
        </p:nvSpPr>
        <p:spPr>
          <a:xfrm>
            <a:off x="6420000" y="150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Specification</a:t>
            </a:r>
          </a:p>
          <a:p>
            <a:pPr algn="l">
              <a:spcBef>
                <a:spcPts val="60"/>
              </a:spcBef>
              <a:buNone/>
            </a:pPr>
            <a:r>
              <a:rPr lang="en-US" sz="1300" b="0" i="0" dirty="0">
                <a:solidFill>
                  <a:srgbClr val="000000"/>
                </a:solidFill>
              </a:rPr>
              <a:t>constrain what an acceptable system may do</a:t>
            </a:r>
          </a:p>
        </p:txBody>
      </p:sp>
      <p:sp>
        <p:nvSpPr>
          <p:cNvPr id="114" name="Sum"/>
          <p:cNvSpPr txBox="1"/>
          <p:nvPr/>
        </p:nvSpPr>
        <p:spPr>
          <a:xfrm>
            <a:off x="6420000" y="295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Architecture</a:t>
            </a:r>
          </a:p>
          <a:p>
            <a:pPr algn="l">
              <a:spcBef>
                <a:spcPts val="60"/>
              </a:spcBef>
              <a:buNone/>
            </a:pPr>
            <a:r>
              <a:rPr lang="en-US" sz="1300" b="0" i="0" dirty="0">
                <a:solidFill>
                  <a:srgbClr val="000000"/>
                </a:solidFill>
              </a:rPr>
              <a:t>choose how an acceptable system is organized</a:t>
            </a:r>
          </a:p>
        </p:txBody>
      </p:sp>
      <p:sp>
        <p:nvSpPr>
          <p:cNvPr id="115" name="Sum"/>
          <p:cNvSpPr txBox="1"/>
          <p:nvPr/>
        </p:nvSpPr>
        <p:spPr>
          <a:xfrm>
            <a:off x="6420000" y="440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Design</a:t>
            </a:r>
          </a:p>
          <a:p>
            <a:pPr algn="l">
              <a:spcBef>
                <a:spcPts val="60"/>
              </a:spcBef>
              <a:buNone/>
            </a:pPr>
            <a:r>
              <a:rPr lang="en-US" sz="1300" b="0" i="0" dirty="0">
                <a:solidFill>
                  <a:srgbClr val="000000"/>
                </a:solidFill>
              </a:rPr>
              <a:t>choose how each part realizes its responsibility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constrains the tactics. Design tests the strategy.</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1000000"/>
            <a:ext cx="3600000" cy="7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ARCHITECTURE</a:t>
            </a:r>
          </a:p>
          <a:p>
            <a:pPr algn="ctr">
              <a:spcBef>
                <a:spcPts val="60"/>
              </a:spcBef>
              <a:buNone/>
            </a:pPr>
            <a:r>
              <a:rPr lang="en-US" sz="1400" b="0" i="1" dirty="0">
                <a:solidFill>
                  <a:srgbClr val="FFFFFF"/>
                </a:solidFill>
              </a:rPr>
              <a:t>strategy</a:t>
            </a:r>
          </a:p>
        </p:txBody>
      </p:sp>
      <p:cxnSp>
        <p:nvCxnSpPr>
          <p:cNvPr id="101" name="L101"/>
          <p:cNvCxnSpPr/>
          <p:nvPr/>
        </p:nvCxnSpPr>
        <p:spPr>
          <a:xfrm>
            <a:off x="4572000" y="1740000"/>
            <a:ext cx="0" cy="260000"/>
          </a:xfrm>
          <a:prstGeom prst="straightConnector1">
            <a:avLst/>
          </a:prstGeom>
          <a:ln w="38100">
            <a:solidFill>
              <a:srgbClr val="8E6F3E"/>
            </a:solidFill>
            <a:tailEnd type="triangle" w="med" len="med"/>
          </a:ln>
        </p:spPr>
      </p:cxnSp>
      <p:sp>
        <p:nvSpPr>
          <p:cNvPr id="102" name="CA"/>
          <p:cNvSpPr txBox="1"/>
          <p:nvPr/>
        </p:nvSpPr>
        <p:spPr>
          <a:xfrm>
            <a:off x="277148" y="202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constraints · affordances</a:t>
            </a:r>
          </a:p>
        </p:txBody>
      </p:sp>
      <p:cxnSp>
        <p:nvCxnSpPr>
          <p:cNvPr id="103" name="L103"/>
          <p:cNvCxnSpPr/>
          <p:nvPr/>
        </p:nvCxnSpPr>
        <p:spPr>
          <a:xfrm>
            <a:off x="4572000" y="2360000"/>
            <a:ext cx="0" cy="260000"/>
          </a:xfrm>
          <a:prstGeom prst="straightConnector1">
            <a:avLst/>
          </a:prstGeom>
          <a:ln w="38100">
            <a:solidFill>
              <a:srgbClr val="8E6F3E"/>
            </a:solidFill>
            <a:tailEnd type="triangle" w="med" len="med"/>
          </a:ln>
        </p:spPr>
      </p:cxnSp>
      <p:sp>
        <p:nvSpPr>
          <p:cNvPr id="104" name="S104"/>
          <p:cNvSpPr/>
          <p:nvPr/>
        </p:nvSpPr>
        <p:spPr>
          <a:xfrm>
            <a:off x="2772000" y="2640000"/>
            <a:ext cx="3600000" cy="72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p>
          <a:p>
            <a:pPr algn="ctr">
              <a:spcBef>
                <a:spcPts val="60"/>
              </a:spcBef>
              <a:buNone/>
            </a:pPr>
            <a:r>
              <a:rPr lang="en-US" sz="1400" b="0" i="1" dirty="0">
                <a:solidFill>
                  <a:srgbClr val="5C4826"/>
                </a:solidFill>
              </a:rPr>
              <a:t>tactics</a:t>
            </a:r>
          </a:p>
        </p:txBody>
      </p:sp>
      <p:cxnSp>
        <p:nvCxnSpPr>
          <p:cNvPr id="105" name="L105"/>
          <p:cNvCxnSpPr/>
          <p:nvPr/>
        </p:nvCxnSpPr>
        <p:spPr>
          <a:xfrm>
            <a:off x="4572000" y="3380000"/>
            <a:ext cx="0" cy="260000"/>
          </a:xfrm>
          <a:prstGeom prst="straightConnector1">
            <a:avLst/>
          </a:prstGeom>
          <a:ln w="38100">
            <a:solidFill>
              <a:srgbClr val="8E6F3E"/>
            </a:solidFill>
            <a:tailEnd type="triangle" w="med" len="med"/>
          </a:ln>
        </p:spPr>
      </p:cxnSp>
      <p:sp>
        <p:nvSpPr>
          <p:cNvPr id="106" name="Ev"/>
          <p:cNvSpPr txBox="1"/>
          <p:nvPr/>
        </p:nvSpPr>
        <p:spPr>
          <a:xfrm>
            <a:off x="277148" y="366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8E6F3E"/>
                </a:solidFill>
              </a:rPr>
              <a:t>evidence</a:t>
            </a:r>
          </a:p>
        </p:txBody>
      </p:sp>
      <p:cxnSp>
        <p:nvCxnSpPr>
          <p:cNvPr id="107" name="L107"/>
          <p:cNvCxnSpPr/>
          <p:nvPr/>
        </p:nvCxnSpPr>
        <p:spPr>
          <a:xfrm flipV="1">
            <a:off x="6422000" y="2000000"/>
            <a:ext cx="0" cy="1980000"/>
          </a:xfrm>
          <a:prstGeom prst="straightConnector1">
            <a:avLst/>
          </a:prstGeom>
          <a:ln w="25400">
            <a:solidFill>
              <a:srgbClr val="8E6F3E"/>
            </a:solidFill>
            <a:tailEnd type="triangle" w="med" len="med"/>
          </a:ln>
        </p:spPr>
      </p:cxnSp>
      <p:sp>
        <p:nvSpPr>
          <p:cNvPr id="108" name="Final"/>
          <p:cNvSpPr txBox="1"/>
          <p:nvPr/>
        </p:nvSpPr>
        <p:spPr>
          <a:xfrm>
            <a:off x="277148" y="4250000"/>
            <a:ext cx="8589704" cy="1000000"/>
          </a:xfrm>
          <a:prstGeom prst="rect">
            <a:avLst/>
          </a:prstGeom>
          <a:noFill/>
          <a:ln>
            <a:noFill/>
          </a:ln>
        </p:spPr>
        <p:txBody>
          <a:bodyPr wrap="square" lIns="0" tIns="0" rIns="0" bIns="0" anchor="t">
            <a:normAutofit/>
          </a:bodyPr>
          <a:lstStyle/>
          <a:p>
            <a:pPr algn="ctr">
              <a:buNone/>
            </a:pPr>
            <a:r>
              <a:rPr lang="en-US" sz="2000" b="1" i="0" dirty="0">
                <a:solidFill>
                  <a:srgbClr val="000000"/>
                </a:solidFill>
              </a:rPr>
              <a:t>Architecture constrains the available tactics.</a:t>
            </a:r>
          </a:p>
          <a:p>
            <a:pPr algn="ctr">
              <a:spcBef>
                <a:spcPts val="140"/>
              </a:spcBef>
              <a:buNone/>
            </a:pPr>
            <a:r>
              <a:rPr lang="en-US" sz="2000" b="1" i="0" dirty="0">
                <a:solidFill>
                  <a:srgbClr val="000000"/>
                </a:solidFill>
              </a:rPr>
              <a:t>Design tests whether the strategy is workable.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