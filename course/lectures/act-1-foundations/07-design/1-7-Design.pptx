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101"/>
    <p:sldId id="702" r:id="rId102"/>
    <p:sldId id="703" r:id="rId104"/>
    <p:sldId id="704" r:id="rId103"/>
    <p:sldId id="705" r:id="rId137"/>
    <p:sldId id="706" r:id="rId105"/>
    <p:sldId id="707" r:id="rId106"/>
    <p:sldId id="708" r:id="rId107"/>
    <p:sldId id="709" r:id="rId108"/>
    <p:sldId id="710" r:id="rId109"/>
    <p:sldId id="711" r:id="rId138"/>
    <p:sldId id="712" r:id="rId140"/>
    <p:sldId id="713" r:id="rId141"/>
    <p:sldId id="714" r:id="rId142"/>
    <p:sldId id="715" r:id="rId117"/>
    <p:sldId id="716" r:id="rId118"/>
    <p:sldId id="717" r:id="rId119"/>
    <p:sldId id="718" r:id="rId120"/>
    <p:sldId id="719" r:id="rId121"/>
    <p:sldId id="720" r:id="rId143"/>
    <p:sldId id="721" r:id="rId122"/>
    <p:sldId id="722" r:id="rId139"/>
    <p:sldId id="723" r:id="rId144"/>
    <p:sldId id="724" r:id="rId145"/>
    <p:sldId id="725" r:id="rId123"/>
    <p:sldId id="726" r:id="rId125"/>
    <p:sldId id="727" r:id="rId126"/>
    <p:sldId id="728" r:id="rId127"/>
    <p:sldId id="729" r:id="rId128"/>
    <p:sldId id="730" r:id="rId129"/>
    <p:sldId id="731" r:id="rId130"/>
    <p:sldId id="732" r:id="rId131"/>
    <p:sldId id="733" r:id="rId132"/>
    <p:sldId id="734" r:id="rId133"/>
    <p:sldId id="735" r:id="rId134"/>
    <p:sldId id="736" r:id="rId1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7" Type="http://schemas.openxmlformats.org/officeDocument/2006/relationships/slide" Target="slides/slide37.xml"/><Relationship Id="rId138" Type="http://schemas.openxmlformats.org/officeDocument/2006/relationships/slide" Target="slides/slide38.xml"/><Relationship Id="rId139" Type="http://schemas.openxmlformats.org/officeDocument/2006/relationships/slide" Target="slides/slide39.xml"/><Relationship Id="rId140" Type="http://schemas.openxmlformats.org/officeDocument/2006/relationships/slide" Target="slides/slide40.xml"/><Relationship Id="rId141" Type="http://schemas.openxmlformats.org/officeDocument/2006/relationships/slide" Target="slides/slide41.xml"/><Relationship Id="rId142" Type="http://schemas.openxmlformats.org/officeDocument/2006/relationships/slide" Target="slides/slide42.xml"/><Relationship Id="rId143" Type="http://schemas.openxmlformats.org/officeDocument/2006/relationships/slide" Target="slides/slide43.xml"/><Relationship Id="rId144" Type="http://schemas.openxmlformats.org/officeDocument/2006/relationships/slide" Target="slides/slide44.xml"/><Relationship Id="rId145" Type="http://schemas.openxmlformats.org/officeDocument/2006/relationships/slide" Target="slides/slide45.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Make the handoff: Architecture assigned each part a responsibility; today we ask how a part realizes it.</a:t>
            </a:r>
          </a:p>
          <a:p>
            <a:endParaRPr dirty="0"/>
          </a:p>
          <a:p>
            <a:r>
              <a:rPr dirty="0"/>
              <a:t xml:space="preserve">- Callback: the closing Architecture slide — parts, responsibilities, interfaces.</a:t>
            </a:r>
          </a:p>
          <a:p>
            <a:r>
              <a:rPr dirty="0"/>
              <a:t xml:space="preserve">- Land the question: we know WHAT each part must do, not yet HOW.</a:t>
            </a:r>
          </a:p>
          <a:p>
            <a:endParaRPr dirty="0"/>
          </a:p>
          <a:p>
            <a:r>
              <a:rPr dirty="0"/>
              <a:t xml:space="preserve">=====</a:t>
            </a:r>
          </a:p>
          <a:p>
            <a:endParaRPr dirty="0"/>
          </a:p>
          <a:p>
            <a:r>
              <a:rPr dirty="0"/>
              <a:t xml:space="preserve">Last time we chose how one acceptable system should be organized. We ended with major parts, boundaries, responsibilities, interfaces, and rules governing interaction.</a:t>
            </a:r>
          </a:p>
          <a:p>
            <a:endParaRPr dirty="0"/>
          </a:p>
          <a:p>
            <a:r>
              <a:rPr dirty="0"/>
              <a:t xml:space="preserve">But look at one of those parts. We know what responsibility it has. We know how the rest of the system is allowed to interact with it. We still have not said how it actually does its job.</a:t>
            </a:r>
          </a:p>
          <a:p>
            <a:endParaRPr dirty="0"/>
          </a:p>
          <a:p>
            <a:r>
              <a:rPr dirty="0"/>
              <a:t xml:space="preserve">That is today's engineering problem. Given one of the parts produced by Architecture, how should we engineer its internals so that it realizes the responsibility we assigned to it?</a:t>
            </a:r>
          </a:p>
          <a:p>
            <a:endParaRPr dirty="0"/>
          </a:p>
          <a:p>
            <a:r>
              <a:rPr dirty="0"/>
              <a:t xml:space="preserve">That is Design.</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Pose the recursive puzzle: opening boxes reveals more boxes, until the entities are small enough to reason about directly.</a:t>
            </a:r>
          </a:p>
          <a:p>
            <a:endParaRPr dirty="0"/>
          </a:p>
          <a:p>
            <a:r>
              <a:rPr dirty="0"/>
              <a:t xml:space="preserve">- Open one box at a time; keep it slightly playful.</a:t>
            </a:r>
          </a:p>
          <a:p>
            <a:r>
              <a:rPr dirty="0"/>
              <a:t xml:space="preserve">- Do not explain where the dividing lines are yet — that is our first problem today.</a:t>
            </a:r>
          </a:p>
          <a:p>
            <a:r>
              <a:rPr dirty="0"/>
              <a:t xml:space="preserve">- Lands directly on Section 1.</a:t>
            </a:r>
          </a:p>
          <a:p>
            <a:endParaRPr dirty="0"/>
          </a:p>
          <a:p>
            <a:r>
              <a:rPr dirty="0"/>
              <a:t xml:space="preserve">=====</a:t>
            </a:r>
          </a:p>
          <a:p>
            <a:endParaRPr dirty="0"/>
          </a:p>
          <a:p>
            <a:r>
              <a:rPr dirty="0"/>
              <a:t xml:space="preserve">There is an immediate problem with saying Design works “inside the box.”</a:t>
            </a:r>
          </a:p>
          <a:p>
            <a:endParaRPr dirty="0"/>
          </a:p>
          <a:p>
            <a:r>
              <a:rPr dirty="0"/>
              <a:t xml:space="preserve">We open the box and discover more boxes.</a:t>
            </a:r>
          </a:p>
          <a:p>
            <a:endParaRPr dirty="0"/>
          </a:p>
          <a:p>
            <a:r>
              <a:rPr dirty="0"/>
              <a:t xml:space="preserve">ANIMATE</a:t>
            </a:r>
          </a:p>
          <a:p>
            <a:endParaRPr dirty="0"/>
          </a:p>
          <a:p>
            <a:r>
              <a:rPr dirty="0"/>
              <a:t xml:space="preserve">And sometimes one of those boxes is still substantial enough that we need to organize it before we can sensibly implement it.</a:t>
            </a:r>
          </a:p>
          <a:p>
            <a:endParaRPr dirty="0"/>
          </a:p>
          <a:p>
            <a:r>
              <a:rPr dirty="0"/>
              <a:t xml:space="preserve">ANIMATE</a:t>
            </a:r>
          </a:p>
          <a:p>
            <a:endParaRPr dirty="0"/>
          </a:p>
          <a:p>
            <a:r>
              <a:rPr dirty="0"/>
              <a:t xml:space="preserve">We can keep doing this.</a:t>
            </a:r>
          </a:p>
          <a:p>
            <a:endParaRPr dirty="0"/>
          </a:p>
          <a:p>
            <a:r>
              <a:rPr dirty="0"/>
              <a:t xml:space="preserve">ANIMATE</a:t>
            </a:r>
          </a:p>
          <a:p>
            <a:endParaRPr dirty="0"/>
          </a:p>
          <a:p>
            <a:r>
              <a:rPr dirty="0"/>
              <a:t xml:space="preserve">But not forever. Eventually we reach objects, functions, data structures, algorithms, or small collaborations that we can reason about directly.</a:t>
            </a:r>
          </a:p>
          <a:p>
            <a:endParaRPr dirty="0"/>
          </a:p>
          <a:p>
            <a:r>
              <a:rPr dirty="0"/>
              <a:t xml:space="preserve">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1: Design does not begin from a blank page.</a:t>
            </a:r>
          </a:p>
          <a:p>
            <a:endParaRPr dirty="0"/>
          </a:p>
          <a:p>
            <a:r>
              <a:rPr dirty="0"/>
              <a:t xml:space="preserve">- 15–20 seconds only.</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that opening a box keeps its responsibility, interface, and obligations; only the internals become our problem.</a:t>
            </a:r>
          </a:p>
          <a:p>
            <a:endParaRPr dirty="0"/>
          </a:p>
          <a:p>
            <a:r>
              <a:rPr dirty="0"/>
              <a:t xml:space="preserve">- Responsibility, interface, and obligations survive the opening; only the internals are new work.</a:t>
            </a:r>
          </a:p>
          <a:p>
            <a:endParaRPr dirty="0"/>
          </a:p>
          <a:p>
            <a:r>
              <a:rPr dirty="0"/>
              <a:t xml:space="preserve">=====</a:t>
            </a:r>
          </a:p>
          <a:p>
            <a:endParaRPr dirty="0"/>
          </a:p>
          <a:p>
            <a:r>
              <a:rPr dirty="0"/>
              <a:t xml:space="preserve">Architecture deliberately let us ignore this component's internals. That compression was useful: we could reason about system-wide structure without simultaneously reasoning about every object and function.</a:t>
            </a:r>
          </a:p>
          <a:p>
            <a:endParaRPr dirty="0"/>
          </a:p>
          <a:p>
            <a:r>
              <a:rPr dirty="0"/>
              <a:t xml:space="preserve">Design removes that abstraction boundary for us.</a:t>
            </a:r>
          </a:p>
          <a:p>
            <a:endParaRPr dirty="0"/>
          </a:p>
          <a:p>
            <a:r>
              <a:rPr dirty="0"/>
              <a:t xml:space="preserve">ANIMATE</a:t>
            </a:r>
          </a:p>
          <a:p>
            <a:endParaRPr dirty="0"/>
          </a:p>
          <a:p>
            <a:r>
              <a:rPr dirty="0"/>
              <a:t xml:space="preserve">The responsibility does not disappear. The interface does not disappear. The obligations that motivated them do not disappear.</a:t>
            </a:r>
          </a:p>
          <a:p>
            <a:endParaRPr dirty="0"/>
          </a:p>
          <a:p>
            <a:r>
              <a:rPr dirty="0"/>
              <a:t xml:space="preserve">What changes is that the inside is now our engineering problem.</a:t>
            </a:r>
          </a:p>
          <a:p>
            <a:endParaRPr dirty="0"/>
          </a:p>
          <a:p>
            <a:r>
              <a:rPr dirty="0"/>
              <a:t xml:space="preserve">ANIMATE</a:t>
            </a:r>
          </a:p>
          <a:p>
            <a:endParaRPr dirty="0"/>
          </a:p>
          <a:p>
            <a:r>
              <a:rPr dirty="0"/>
              <a:t xml:space="preserve">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the three inherited sources of constraint, especially the engineering environment.</a:t>
            </a:r>
          </a:p>
          <a:p>
            <a:endParaRPr dirty="0"/>
          </a:p>
          <a:p>
            <a:r>
              <a:rPr dirty="0"/>
              <a:t xml:space="preserve">- Spend the real time on the engineering environment — the novel third source.</a:t>
            </a:r>
          </a:p>
          <a:p>
            <a:r>
              <a:rPr dirty="0"/>
              <a:t xml:space="preserve">- Examples: repositories, injected dependencies, deadlines on cross-service calls, standard queue with retry and dead-letter.</a:t>
            </a:r>
          </a:p>
          <a:p>
            <a:endParaRPr dirty="0"/>
          </a:p>
          <a:p>
            <a:r>
              <a:rPr dirty="0"/>
              <a:t xml:space="preserve">=====</a:t>
            </a:r>
          </a:p>
          <a:p>
            <a:endParaRPr dirty="0"/>
          </a:p>
          <a:p>
            <a:r>
              <a:rPr dirty="0"/>
              <a:t xml:space="preserve">Two sources should now be familiar.</a:t>
            </a:r>
          </a:p>
          <a:p>
            <a:endParaRPr dirty="0"/>
          </a:p>
          <a:p>
            <a:r>
              <a:rPr dirty="0"/>
              <a:t xml:space="preserve">ANIMATE</a:t>
            </a:r>
          </a:p>
          <a:p>
            <a:endParaRPr dirty="0"/>
          </a:p>
          <a:p>
            <a:r>
              <a:rPr dirty="0"/>
              <a:t xml:space="preserve">The Specification tells us what must remain true.</a:t>
            </a:r>
          </a:p>
          <a:p>
            <a:endParaRPr dirty="0"/>
          </a:p>
          <a:p>
            <a:r>
              <a:rPr dirty="0"/>
              <a:t xml:space="preserve">ANIMATE</a:t>
            </a:r>
          </a:p>
          <a:p>
            <a:endParaRPr dirty="0"/>
          </a:p>
          <a:p>
            <a:r>
              <a:rPr dirty="0"/>
              <a:t xml:space="preserve">Architecture tells us what this part is responsible for and how it fits into the larger strategy.</a:t>
            </a:r>
          </a:p>
          <a:p>
            <a:endParaRPr dirty="0"/>
          </a:p>
          <a:p>
            <a:r>
              <a:rPr dirty="0"/>
              <a:t xml:space="preserve">ANIMATE</a:t>
            </a:r>
          </a:p>
          <a:p>
            <a:endParaRPr dirty="0"/>
          </a:p>
          <a:p>
            <a:r>
              <a:rPr dirty="0"/>
              <a:t xml:space="preserve">But there is a third source engineers often leave implicit: the engineering environment.</a:t>
            </a:r>
          </a:p>
          <a:p>
            <a:endParaRPr dirty="0"/>
          </a:p>
          <a:p>
            <a:r>
              <a:rPr dirty="0"/>
              <a:t xml:space="preserve">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 xml:space="preserve">ANIMATE</a:t>
            </a:r>
          </a:p>
          <a:p>
            <a:endParaRPr dirty="0"/>
          </a:p>
          <a:p>
            <a:r>
              <a:rPr dirty="0"/>
              <a:t xml:space="preserve">Those are not necessarily facts we would put on the architecture diagram. But they mean the designer is not choosing from the entire universe of software mechanisms.</a:t>
            </a:r>
          </a:p>
          <a:p>
            <a:endParaRPr dirty="0"/>
          </a:p>
          <a:p>
            <a:r>
              <a:rPr dirty="0"/>
              <a:t xml:space="preserve">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Recast Design as the degrees of freedom remaining after inherited decisions constrain the space.</a:t>
            </a:r>
          </a:p>
          <a:p>
            <a:endParaRPr dirty="0"/>
          </a:p>
          <a:p>
            <a:r>
              <a:rPr dirty="0"/>
              <a:t xml:space="preserve">- Callback: Degrees of Freedom from Specification.</a:t>
            </a:r>
          </a:p>
          <a:p>
            <a:r>
              <a:rPr dirty="0"/>
              <a:t xml:space="preserve">- Not “what could I possibly implement?” but “which consequential choices are still open?”</a:t>
            </a:r>
          </a:p>
          <a:p>
            <a:endParaRPr dirty="0"/>
          </a:p>
          <a:p>
            <a:r>
              <a:rPr dirty="0"/>
              <a:t xml:space="preserve">=====</a:t>
            </a:r>
          </a:p>
          <a:p>
            <a:endParaRPr dirty="0"/>
          </a:p>
          <a:p>
            <a:r>
              <a:rPr dirty="0"/>
              <a:t xml:space="preserve">Remember Degrees of Freedom from Specification. Every consequential decision removes alternatives from the realization space.</a:t>
            </a:r>
          </a:p>
          <a:p>
            <a:endParaRPr dirty="0"/>
          </a:p>
          <a:p>
            <a:r>
              <a:rPr dirty="0"/>
              <a:t xml:space="preserve">The same idea now applies inside one component.</a:t>
            </a:r>
          </a:p>
          <a:p>
            <a:endParaRPr dirty="0"/>
          </a:p>
          <a:p>
            <a:r>
              <a:rPr dirty="0"/>
              <a:t xml:space="preserve">Specification removes choices inconsistent with our obligations. Architecture removes choices inconsistent with the system strategy. The engineering environment removes choices the organization has already standardized.</a:t>
            </a:r>
          </a:p>
          <a:p>
            <a:endParaRPr dirty="0"/>
          </a:p>
          <a:p>
            <a:r>
              <a:rPr dirty="0"/>
              <a:t xml:space="preserve">What remains is the local Design space.</a:t>
            </a:r>
          </a:p>
          <a:p>
            <a:endParaRPr dirty="0"/>
          </a:p>
          <a:p>
            <a:r>
              <a:rPr dirty="0"/>
              <a:t xml:space="preserve">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Give Design its three moves: follow, choose, or escalate.</a:t>
            </a:r>
          </a:p>
          <a:p>
            <a:endParaRPr dirty="0"/>
          </a:p>
          <a:p>
            <a:r>
              <a:rPr dirty="0"/>
              <a:t xml:space="preserve">- One example per move: follow (retry mechanism), choose (internal data structure), escalate (sync vs async).</a:t>
            </a:r>
          </a:p>
          <a:p>
            <a:endParaRPr dirty="0"/>
          </a:p>
          <a:p>
            <a:r>
              <a:rPr dirty="0"/>
              <a:t xml:space="preserve">=====</a:t>
            </a:r>
          </a:p>
          <a:p>
            <a:endParaRPr dirty="0"/>
          </a:p>
          <a:p>
            <a:r>
              <a:rPr dirty="0"/>
              <a:t xml:space="preserve">ANIMATE</a:t>
            </a:r>
          </a:p>
          <a:p>
            <a:endParaRPr dirty="0"/>
          </a:p>
          <a:p>
            <a:r>
              <a:rPr dirty="0"/>
              <a:t xml:space="preserve">If the engineering environment already provides the retry mechanism, follow it. Reinventing retries inside this component is not Design creativity.</a:t>
            </a:r>
          </a:p>
          <a:p>
            <a:endParaRPr dirty="0"/>
          </a:p>
          <a:p>
            <a:r>
              <a:rPr dirty="0"/>
              <a:t xml:space="preserve">ANIMATE</a:t>
            </a:r>
          </a:p>
          <a:p>
            <a:endParaRPr dirty="0"/>
          </a:p>
          <a:p>
            <a:r>
              <a:rPr dirty="0"/>
              <a:t xml:space="preserve">If two internal data structures satisfy every inherited property and nothing outside this component cares, choose locally.</a:t>
            </a:r>
          </a:p>
          <a:p>
            <a:endParaRPr dirty="0"/>
          </a:p>
          <a:p>
            <a:r>
              <a:rPr dirty="0"/>
              <a:t xml:space="preserve">ANIMATE</a:t>
            </a:r>
          </a:p>
          <a:p>
            <a:endParaRPr dirty="0"/>
          </a:p>
          <a:p>
            <a:r>
              <a:rPr dirty="0"/>
              <a:t xml:space="preserve">But suppose whether we use synchronous or asynchronous coordination changes a system-wide consistency property. That question may have looked open only because Architecture failed to settle something consequential.</a:t>
            </a:r>
          </a:p>
          <a:p>
            <a:endParaRPr dirty="0"/>
          </a:p>
          <a:p>
            <a:r>
              <a:rPr dirty="0"/>
              <a:t xml:space="preserve">Design therefore has three moves: follow, choose, or escalate.</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Formalize strategy versus tactics, and make the distinction recursive rather than layered.</a:t>
            </a:r>
          </a:p>
          <a:p>
            <a:endParaRPr dirty="0"/>
          </a:p>
          <a:p>
            <a:r>
              <a:rPr dirty="0"/>
              <a:t xml:space="preserve">- Not high-level vs low-level — the relationship is recursive.</a:t>
            </a:r>
          </a:p>
          <a:p>
            <a:r>
              <a:rPr dirty="0"/>
              <a:t xml:space="preserve">- Always: what do we take as given, and what do we decide within it?</a:t>
            </a:r>
          </a:p>
          <a:p>
            <a:endParaRPr dirty="0"/>
          </a:p>
          <a:p>
            <a:r>
              <a:rPr dirty="0"/>
              <a:t xml:space="preserve">=====</a:t>
            </a:r>
          </a:p>
          <a:p>
            <a:endParaRPr dirty="0"/>
          </a:p>
          <a:p>
            <a:r>
              <a:rPr dirty="0"/>
              <a:t xml:space="preserve">This gives us the cleanest relationship between the two activities.</a:t>
            </a:r>
          </a:p>
          <a:p>
            <a:endParaRPr dirty="0"/>
          </a:p>
          <a:p>
            <a:r>
              <a:rPr dirty="0"/>
              <a:t xml:space="preserve">Architecture establishes strategy. Design chooses tactics within it.</a:t>
            </a:r>
          </a:p>
          <a:p>
            <a:endParaRPr dirty="0"/>
          </a:p>
          <a:p>
            <a:r>
              <a:rPr dirty="0"/>
              <a:t xml:space="preserve">But do not translate that into “Architecture is always high-level and Design is always low-level.” The relationship is recursive.</a:t>
            </a:r>
          </a:p>
          <a:p>
            <a:endParaRPr dirty="0"/>
          </a:p>
          <a:p>
            <a:r>
              <a:rPr dirty="0"/>
              <a:t xml:space="preserve">A subsystem is tactical relative to the system architecture. But if that subsystem is itself too substantial to reason about directly, we may establish an architecture for it before designing its internal parts.</a:t>
            </a:r>
          </a:p>
          <a:p>
            <a:endParaRPr dirty="0"/>
          </a:p>
          <a:p>
            <a:r>
              <a:rPr dirty="0"/>
              <a:t xml:space="preserve">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Resolve the recursion: stop when entities are directly reasonable; Design passes into Implementation.</a:t>
            </a:r>
          </a:p>
          <a:p>
            <a:endParaRPr dirty="0"/>
          </a:p>
          <a:p>
            <a:r>
              <a:rPr dirty="0"/>
              <a:t xml:space="preserve">- Stop when the remaining entities are small enough to reason about directly; then Design becomes Implementation.</a:t>
            </a:r>
          </a:p>
          <a:p>
            <a:r>
              <a:rPr dirty="0"/>
              <a:t xml:space="preserve">- Emphasize: “memory” / “object” is intuition, not a literal definition.</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authority: when representations disagree, exactly one must win.</a:t>
            </a:r>
          </a:p>
          <a:p>
            <a:endParaRPr dirty="0"/>
          </a:p>
          <a:p>
            <a:r>
              <a:rPr dirty="0"/>
              <a:t xml:space="preserve">- Distinguish authoritative, derived, cached, replicated state.</a:t>
            </a:r>
          </a:p>
          <a:p>
            <a:r>
              <a:rPr dirty="0"/>
              <a:t xml:space="preserve">- When representations disagree, which one wins?</a:t>
            </a:r>
          </a:p>
          <a:p>
            <a:r>
              <a:rPr dirty="0"/>
              <a:t xml:space="preserve">- Do not drift into consistency yet.</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that required observation semantics, not replication topology, determine consistency.</a:t>
            </a:r>
          </a:p>
          <a:p>
            <a:endParaRPr dirty="0"/>
          </a:p>
          <a:p>
            <a:r>
              <a:rPr dirty="0"/>
              <a:t xml:space="preserve">- Contrast the two required semantics; replication topology does not determine consistency.</a:t>
            </a:r>
          </a:p>
          <a:p>
            <a:r>
              <a:rPr dirty="0"/>
              <a:t xml:space="preserve">- Work the consequences under concurrency and failure.</a:t>
            </a:r>
          </a:p>
          <a:p>
            <a:r>
              <a:rPr dirty="0"/>
              <a:t xml:space="preserve">- If CAP comes up, keep it subordinate and technically correct.</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Contrast immediate and deferred work and the concerns each side takes on.</a:t>
            </a:r>
          </a:p>
          <a:p>
            <a:endParaRPr dirty="0"/>
          </a:p>
          <a:p>
            <a:r>
              <a:rPr dirty="0"/>
              <a:t xml:space="preserve">- Tradeoff: immediacy and simple completion vs latency isolation and resilience.</a:t>
            </a:r>
          </a:p>
          <a:p>
            <a:r>
              <a:rPr dirty="0"/>
              <a:t xml:space="preserve">- The deferred side takes on retries, idempotence, and ordering.</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Show what indirection buys and the complexity it spends.</a:t>
            </a:r>
          </a:p>
          <a:p>
            <a:endParaRPr dirty="0"/>
          </a:p>
          <a:p>
            <a:r>
              <a:rPr dirty="0"/>
              <a:t xml:space="preserve">- Fundamental-theorem territory: what isolation buys, what complexity it costs.</a:t>
            </a:r>
          </a:p>
          <a:p>
            <a:r>
              <a:rPr dirty="0"/>
              <a:t xml:space="preserve">- An additional layer is not automatically sophisticated or better.</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Land information hiding: decompose around the decisions most likely to change.</a:t>
            </a:r>
          </a:p>
          <a:p>
            <a:endParaRPr dirty="0"/>
          </a:p>
          <a:p>
            <a:r>
              <a:rPr dirty="0"/>
              <a:t xml:space="preserve">- Parnas 1972, information hiding: hide the decisions most likely to change behind stable seams.</a:t>
            </a:r>
          </a:p>
          <a:p>
            <a:r>
              <a:rPr dirty="0"/>
              <a:t xml:space="preserve">- Recover modularity verbally — decomposability, understandability, change containment, failure containment; do not enumerate the five Meyer criteria.</a:t>
            </a:r>
          </a:p>
          <a:p>
            <a:r>
              <a:rPr dirty="0"/>
              <a:t xml:space="preserve">- Acknowledge the boundary: if a decomposition creates consequential responsibilities and boundaries, Architecture has recurred at this scope (the slide-9 funnel). Not all decomposition is Design — do not let the example imply that it is.</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recurring choices as tradeoffs, not good-versus-bad answers.</a:t>
            </a:r>
          </a:p>
          <a:p>
            <a:endParaRPr dirty="0"/>
          </a:p>
          <a:p>
            <a:r>
              <a:rPr dirty="0"/>
              <a:t xml:space="preserve">- Recurring question → plausible alternatives → tradeoff; explicitly reject catalogue thinking.</a:t>
            </a:r>
          </a:p>
          <a:p>
            <a:r>
              <a:rPr dirty="0"/>
              <a:t xml:space="preserve">- Design is choosing which consequences fit the problem, not the “good” side.</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Pay off the wall: Design tests whether the architectural strategy is workable.</a:t>
            </a:r>
          </a:p>
          <a:p>
            <a:endParaRPr dirty="0"/>
          </a:p>
          <a:p>
            <a:r>
              <a:rPr dirty="0"/>
              <a:t xml:space="preserve">- Payoff of the Architecture wall slide; two builds — the pipe fits, then a bend does not.</a:t>
            </a:r>
          </a:p>
          <a:p>
            <a:r>
              <a:rPr dirty="0"/>
              <a:t xml:space="preserve">- A misfit is information about the strategy, not just a plumbing failure.</a:t>
            </a:r>
          </a:p>
          <a:p>
            <a:endParaRPr dirty="0"/>
          </a:p>
          <a:p>
            <a:r>
              <a:rPr dirty="0"/>
              <a:t xml:space="preserve">=====</a:t>
            </a:r>
          </a:p>
          <a:p>
            <a:endParaRPr dirty="0"/>
          </a:p>
          <a:p>
            <a:r>
              <a:rPr dirty="0"/>
              <a:t xml:space="preserve">Remember this wall from Architecture. At the time, we deliberately did not draw the plumbing.</a:t>
            </a:r>
          </a:p>
          <a:p>
            <a:endParaRPr dirty="0"/>
          </a:p>
          <a:p>
            <a:r>
              <a:rPr dirty="0"/>
              <a:t xml:space="preserve">Architecture had chosen the wall location, depth, and permitted penetrations. Those choices created a space in which plumbing Design would later occur.</a:t>
            </a:r>
          </a:p>
          <a:p>
            <a:endParaRPr dirty="0"/>
          </a:p>
          <a:p>
            <a:r>
              <a:rPr dirty="0"/>
              <a:t xml:space="preserve">Now we are the plumbing designer.</a:t>
            </a:r>
          </a:p>
          <a:p>
            <a:endParaRPr dirty="0"/>
          </a:p>
          <a:p>
            <a:r>
              <a:rPr dirty="0"/>
              <a:t xml:space="preserve">ANIMATE</a:t>
            </a:r>
          </a:p>
          <a:p>
            <a:endParaRPr dirty="0"/>
          </a:p>
          <a:p>
            <a:r>
              <a:rPr dirty="0"/>
              <a:t xml:space="preserve">Sometimes the required plumbing fits. Good: the strategy afforded a workable tactic.</a:t>
            </a:r>
          </a:p>
          <a:p>
            <a:endParaRPr dirty="0"/>
          </a:p>
          <a:p>
            <a:r>
              <a:rPr dirty="0"/>
              <a:t xml:space="preserve">ANIMATE</a:t>
            </a:r>
          </a:p>
          <a:p>
            <a:endParaRPr dirty="0"/>
          </a:p>
          <a:p>
            <a:r>
              <a:rPr dirty="0"/>
              <a:t xml:space="preserve">Sometimes it does not.</a:t>
            </a:r>
          </a:p>
          <a:p>
            <a:endParaRPr dirty="0"/>
          </a:p>
          <a:p>
            <a:r>
              <a:rPr dirty="0"/>
              <a:t xml:space="preserve">That is not merely a plumbing-design failure. It is information about the strategy we inherited. Perhaps the pipe can be rerouted. Perhaps the wall must move. Perhaps the requirement that created this pipe must change.</a:t>
            </a:r>
          </a:p>
          <a:p>
            <a:endParaRPr dirty="0"/>
          </a:p>
          <a:p>
            <a:r>
              <a:rPr dirty="0"/>
              <a:t xml:space="preserve">Design is therefore not just implementation planning. It is a test of whether Architecture's strategy can actually be realized.</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 local workaround making the architectural model false and its predictions wrong.</a:t>
            </a:r>
          </a:p>
          <a:p>
            <a:endParaRPr dirty="0"/>
          </a:p>
          <a:p>
            <a:r>
              <a:rPr dirty="0"/>
              <a:t xml:space="preserve">- The sharp point is epistemic: the model now gives wrong answers.</a:t>
            </a:r>
          </a:p>
          <a:p>
            <a:r>
              <a:rPr dirty="0"/>
              <a:t xml:space="preserve">- Degradation can begin on the first day of implementation.</a:t>
            </a:r>
          </a:p>
          <a:p>
            <a:endParaRPr dirty="0"/>
          </a:p>
          <a:p>
            <a:r>
              <a:rPr dirty="0"/>
              <a:t xml:space="preserve">=====</a:t>
            </a:r>
          </a:p>
          <a:p>
            <a:endParaRPr dirty="0"/>
          </a:p>
          <a:p>
            <a:r>
              <a:rPr dirty="0"/>
              <a:t xml:space="preserve">Here is the tempting alternative to escalation.</a:t>
            </a:r>
          </a:p>
          <a:p>
            <a:endParaRPr dirty="0"/>
          </a:p>
          <a:p>
            <a:r>
              <a:rPr dirty="0"/>
              <a:t xml:space="preserve">The architecture says A reaches B through this port. But the port makes today's feature inconvenient, so somebody reaches around it. Just this once.</a:t>
            </a:r>
          </a:p>
          <a:p>
            <a:endParaRPr dirty="0"/>
          </a:p>
          <a:p>
            <a:r>
              <a:rPr dirty="0"/>
              <a:t xml:space="preserve">ANIMATE</a:t>
            </a:r>
          </a:p>
          <a:p>
            <a:endParaRPr dirty="0"/>
          </a:p>
          <a:p>
            <a:r>
              <a:rPr dirty="0"/>
              <a:t xml:space="preserve">The feature works. Tests pass.</a:t>
            </a:r>
          </a:p>
          <a:p>
            <a:endParaRPr dirty="0"/>
          </a:p>
          <a:p>
            <a:r>
              <a:rPr dirty="0"/>
              <a:t xml:space="preserve">ANIMATE</a:t>
            </a:r>
          </a:p>
          <a:p>
            <a:endParaRPr dirty="0"/>
          </a:p>
          <a:p>
            <a:r>
              <a:rPr dirty="0"/>
              <a:t xml:space="preserve">And the architecture is now false.</a:t>
            </a:r>
          </a:p>
          <a:p>
            <a:endParaRPr dirty="0"/>
          </a:p>
          <a:p>
            <a:r>
              <a:rPr dirty="0"/>
              <a:t xml:space="preserve">That has a local cost: we introduced coupling. But the more interesting cost is epistemic.</a:t>
            </a:r>
          </a:p>
          <a:p>
            <a:endParaRPr dirty="0"/>
          </a:p>
          <a:p>
            <a:r>
              <a:rPr dirty="0"/>
              <a:t xml:space="preserve">Remember the Architecture lecture. We used dependency models to establish claims such as “no dependency crosses this boundary.” Once the implementation silently violates the model, that analysis can produce the wrong answer.</a:t>
            </a:r>
          </a:p>
          <a:p>
            <a:endParaRPr dirty="0"/>
          </a:p>
          <a:p>
            <a:r>
              <a:rPr dirty="0"/>
              <a:t xml:space="preserve">ANIMATE</a:t>
            </a:r>
          </a:p>
          <a:p>
            <a:endParaRPr dirty="0"/>
          </a:p>
          <a:p>
            <a:r>
              <a:rPr dirty="0"/>
              <a:t xml:space="preserve">Ask whether B can be replaced independently. The architecture says yes. The system says no.</a:t>
            </a:r>
          </a:p>
          <a:p>
            <a:endParaRPr dirty="0"/>
          </a:p>
          <a:p>
            <a:r>
              <a:rPr dirty="0"/>
              <a:t xml:space="preserve">Architectural degradation is therefore not merely untidy code or “technical debt.” It destroys the predictive value of the architectural knowledge we use to make engineering decisions.</a:t>
            </a:r>
          </a:p>
          <a:p>
            <a:endParaRPr dirty="0"/>
          </a:p>
          <a:p>
            <a:r>
              <a:rPr dirty="0"/>
              <a:t xml:space="preserve">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Route consequential discoveries to Design, the environment, Architecture, or Specification; never silently ignore them.</a:t>
            </a:r>
          </a:p>
          <a:p>
            <a:endParaRPr dirty="0"/>
          </a:p>
          <a:p>
            <a:r>
              <a:rPr dirty="0"/>
              <a:t xml:space="preserve">- Route each discovery: local, environment-wide convention, Architecture, or Specification.</a:t>
            </a:r>
          </a:p>
          <a:p>
            <a:r>
              <a:rPr dirty="0"/>
              <a:t xml:space="preserve">- Workarounds: remove, model, or change the rule — never silently ignore.</a:t>
            </a:r>
          </a:p>
          <a:p>
            <a:endParaRPr dirty="0"/>
          </a:p>
          <a:p>
            <a:r>
              <a:rPr dirty="0"/>
              <a:t xml:space="preserve">=====</a:t>
            </a:r>
          </a:p>
          <a:p>
            <a:endParaRPr dirty="0"/>
          </a:p>
          <a:p>
            <a:r>
              <a:rPr dirty="0"/>
              <a:t xml:space="preserve">Design is where many apparently free decisions first encounter reality.</a:t>
            </a:r>
          </a:p>
          <a:p>
            <a:endParaRPr dirty="0"/>
          </a:p>
          <a:p>
            <a:r>
              <a:rPr dirty="0"/>
              <a:t xml:space="preserve">ANIMATE</a:t>
            </a:r>
          </a:p>
          <a:p>
            <a:endParaRPr dirty="0"/>
          </a:p>
          <a:p>
            <a:r>
              <a:rPr dirty="0"/>
              <a:t xml:space="preserve">Sometimes the answer really is local. Fine. Keep it local.</a:t>
            </a:r>
          </a:p>
          <a:p>
            <a:endParaRPr dirty="0"/>
          </a:p>
          <a:p>
            <a:r>
              <a:rPr dirty="0"/>
              <a:t xml:space="preserve">ANIMATE</a:t>
            </a:r>
          </a:p>
          <a:p>
            <a:endParaRPr dirty="0"/>
          </a:p>
          <a:p>
            <a:r>
              <a:rPr dirty="0"/>
              <a:t xml:space="preserve">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 xml:space="preserve">ANIMATE</a:t>
            </a:r>
          </a:p>
          <a:p>
            <a:endParaRPr dirty="0"/>
          </a:p>
          <a:p>
            <a:r>
              <a:rPr dirty="0"/>
              <a:t xml:space="preserve">Sometimes the consequence is structural and belongs in Architecture.</a:t>
            </a:r>
          </a:p>
          <a:p>
            <a:endParaRPr dirty="0"/>
          </a:p>
          <a:p>
            <a:r>
              <a:rPr dirty="0"/>
              <a:t xml:space="preserve">ANIMATE</a:t>
            </a:r>
          </a:p>
          <a:p>
            <a:endParaRPr dirty="0"/>
          </a:p>
          <a:p>
            <a:r>
              <a:rPr dirty="0"/>
              <a:t xml:space="preserve">And sometimes we discover that what must be true was itself incomplete, and the feedback reaches Specification.</a:t>
            </a:r>
          </a:p>
          <a:p>
            <a:endParaRPr dirty="0"/>
          </a:p>
          <a:p>
            <a:r>
              <a:rPr dirty="0"/>
              <a:t xml:space="preserve">This is why a workaround cannot remain invisible. Remove it if it was a mistake. Model it if the architecture genuinely permits the exception. Change the rule if repeated exceptions tell us the rule was wrong.</a:t>
            </a:r>
          </a:p>
          <a:p>
            <a:endParaRPr dirty="0"/>
          </a:p>
          <a:p>
            <a:r>
              <a:rPr dirty="0"/>
              <a:t xml:space="preserve">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Name Section 5: implementation itself can become a Design probe.</a:t>
            </a:r>
          </a:p>
          <a:p>
            <a:endParaRPr dirty="0"/>
          </a:p>
          <a:p>
            <a:r>
              <a:rPr dirty="0"/>
              <a:t xml:space="preserve">- Callback: Architecture’s “buy information”; implementation joins the menu as cheap evidence.</a:t>
            </a:r>
          </a:p>
          <a:p>
            <a:endParaRPr dirty="0"/>
          </a:p>
          <a:p>
            <a:r>
              <a:rPr dirty="0"/>
              <a:t xml:space="preserve">=====</a:t>
            </a:r>
          </a:p>
          <a:p>
            <a:endParaRPr dirty="0"/>
          </a:p>
          <a:p>
            <a:r>
              <a:rPr dirty="0"/>
              <a:t xml:space="preserve">Architecture gave us a rule: if uncertainty could change the decision, consider buying information.</a:t>
            </a:r>
          </a:p>
          <a:p>
            <a:endParaRPr dirty="0"/>
          </a:p>
          <a:p>
            <a:r>
              <a:rPr dirty="0"/>
              <a:t xml:space="preserve">Traditionally, implementation was often the most expensive possible way to buy that information.</a:t>
            </a:r>
          </a:p>
          <a:p>
            <a:endParaRPr dirty="0"/>
          </a:p>
          <a:p>
            <a:r>
              <a:rPr dirty="0"/>
              <a:t xml:space="preserve">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how temporal compression turns isolated incidents into evidence of structure.</a:t>
            </a:r>
          </a:p>
          <a:p>
            <a:endParaRPr dirty="0"/>
          </a:p>
          <a:p>
            <a:r>
              <a:rPr dirty="0"/>
              <a:t xml:space="preserve">- Ground in the MAGE case without overclaiming: dense failures motivated a structural model; not a universal phase transition.</a:t>
            </a:r>
          </a:p>
          <a:p>
            <a:endParaRPr dirty="0"/>
          </a:p>
          <a:p>
            <a:r>
              <a:rPr dirty="0"/>
              <a:t xml:space="preserve">=====</a:t>
            </a:r>
          </a:p>
          <a:p>
            <a:endParaRPr dirty="0"/>
          </a:p>
          <a:p>
            <a:r>
              <a:rPr dirty="0"/>
              <a:t xml:space="preserve">At ordinary implementation speed, three related failures may occur weeks apart. Each one arrives with a local context and gets a local fix.</a:t>
            </a:r>
          </a:p>
          <a:p>
            <a:endParaRPr dirty="0"/>
          </a:p>
          <a:p>
            <a:r>
              <a:rPr dirty="0"/>
              <a:t xml:space="preserve">ANIMATE</a:t>
            </a:r>
          </a:p>
          <a:p>
            <a:endParaRPr dirty="0"/>
          </a:p>
          <a:p>
            <a:r>
              <a:rPr dirty="0"/>
              <a:t xml:space="preserve">At much higher implementation velocity, the same family of failures can arrive in dense succession. Now the engineer can hold them in mind together and ask a different question: why do these keep happening?</a:t>
            </a:r>
          </a:p>
          <a:p>
            <a:endParaRPr dirty="0"/>
          </a:p>
          <a:p>
            <a:r>
              <a:rPr dirty="0"/>
              <a:t xml:space="preserve">That temporal compression can expose a common structural cause.</a:t>
            </a:r>
          </a:p>
          <a:p>
            <a:endParaRPr dirty="0"/>
          </a:p>
          <a:p>
            <a:r>
              <a:rPr dirty="0"/>
              <a:t xml:space="preserve">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Set up the exercise: one component, its inheritance, and the deliverable.</a:t>
            </a:r>
          </a:p>
          <a:p>
            <a:endParaRPr dirty="0"/>
          </a:p>
          <a:p>
            <a:r>
              <a:rPr dirty="0"/>
              <a:t xml:space="preserve">- Explain the deliverable and immediately move; do not overload.</a:t>
            </a:r>
          </a:p>
          <a:p>
            <a:r>
              <a:rPr dirty="0"/>
              <a:t xml:space="preserve">- One component — the Advice Service — with responsibility, interface, inherited constraints, and 2–3 environment conventions.</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Teams classify the remaining freedoms before answering any of them.</a:t>
            </a:r>
          </a:p>
          <a:p>
            <a:endParaRPr dirty="0"/>
          </a:p>
          <a:p>
            <a:r>
              <a:rPr dirty="0"/>
              <a:t xml:space="preserve">- Classify remaining freedoms FOLLOW / CHOOSE / ESCALATE before answering any; ~3 minutes.</a:t>
            </a:r>
          </a:p>
          <a:p>
            <a:r>
              <a:rPr dirty="0"/>
              <a:t xml:space="preserve">- Do not prefill examples; reveal them after 2–3 minutes as scaffolding.</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7 minutes — </a:t>
            </a:r>
            <a:r>
              <a:rPr i="1" dirty="0"/>
              <a:t>Teams produce two genuinely different designs that respect what they inherited.</a:t>
            </a:r>
          </a:p>
          <a:p>
            <a:endParaRPr dirty="0"/>
          </a:p>
          <a:p>
            <a:r>
              <a:rPr dirty="0"/>
              <a:t xml:space="preserve">- Force alternatives before convergence; each design carries one purposeful model; ~7 minutes.</a:t>
            </a:r>
          </a:p>
          <a:p>
            <a:r>
              <a:rPr dirty="0"/>
              <a:t xml:space="preserve">- Require: parts and responsibilities, interactions and state, one model, one expected tradeoff.</a:t>
            </a: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6 minutes — </a:t>
            </a:r>
            <a:r>
              <a:rPr i="1" dirty="0"/>
              <a:t>Teams defend a choice against obligations, architecture, environment, and tradeoff.</a:t>
            </a:r>
          </a:p>
          <a:p>
            <a:endParaRPr dirty="0"/>
          </a:p>
          <a:p>
            <a:r>
              <a:rPr dirty="0"/>
              <a:t xml:space="preserve">- Defend against Specification, Architecture, environment; name the genuine tradeoff, what the model establishes, and anything to escalate; ~6 minutes including shares.</a:t>
            </a: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Debrief: sort discoveries into follow, choose, environment, architecture, or specification.</a:t>
            </a:r>
          </a:p>
          <a:p>
            <a:endParaRPr dirty="0"/>
          </a:p>
          <a:p>
            <a:r>
              <a:rPr dirty="0"/>
              <a:t xml:space="preserve">- Whole-room debrief: sort discoveries into FOLLOW / CHOOSE / ENVIRONMENT / ARCHITECTURE / SPECIFICATION.</a:t>
            </a:r>
          </a:p>
          <a:p>
            <a:r>
              <a:rPr dirty="0"/>
              <a:t xml:space="preserve">- Ask teams for examples to populate verbally.</a:t>
            </a: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Reconstruct the full progression: constraints flow down, evidence flows up.</a:t>
            </a:r>
          </a:p>
          <a:p>
            <a:endParaRPr dirty="0"/>
          </a:p>
          <a:p>
            <a:r>
              <a:rPr dirty="0"/>
              <a:t xml:space="preserve">- Constraints flow down; evidence flows up.</a:t>
            </a:r>
          </a:p>
          <a:p>
            <a:r>
              <a:rPr dirty="0"/>
              <a:t xml:space="preserve">- Implementation is the terminal case — no fourth verbose definition.</a:t>
            </a:r>
          </a:p>
          <a:p>
            <a:endParaRPr dirty="0"/>
          </a:p>
          <a:p>
            <a:r>
              <a:rPr dirty="0"/>
              <a:t xml:space="preserve">=====</a:t>
            </a:r>
          </a:p>
          <a:p>
            <a:endParaRPr dirty="0"/>
          </a:p>
          <a:p>
            <a:r>
              <a:rPr dirty="0"/>
              <a:t xml:space="preserve">We now have the complete downward progression.</a:t>
            </a:r>
          </a:p>
          <a:p>
            <a:endParaRPr dirty="0"/>
          </a:p>
          <a:p>
            <a:r>
              <a:rPr dirty="0"/>
              <a:t xml:space="preserve">Specification narrows the space of acceptable systems.</a:t>
            </a:r>
          </a:p>
          <a:p>
            <a:endParaRPr dirty="0"/>
          </a:p>
          <a:p>
            <a:r>
              <a:rPr dirty="0"/>
              <a:t xml:space="preserve">Architecture chooses consequential organization for one of them and deliberately treats its major parts as units.</a:t>
            </a:r>
          </a:p>
          <a:p>
            <a:endParaRPr dirty="0"/>
          </a:p>
          <a:p>
            <a:r>
              <a:rPr dirty="0"/>
              <a:t xml:space="preserve">Design opens those units and chooses how they realize their responsibilities.</a:t>
            </a:r>
          </a:p>
          <a:p>
            <a:endParaRPr dirty="0"/>
          </a:p>
          <a:p>
            <a:r>
              <a:rPr dirty="0"/>
              <a:t xml:space="preserve">If what we open is still too large to reason about directly, the process recurs. We may establish another architecture at that scope and design within it.</a:t>
            </a:r>
          </a:p>
          <a:p>
            <a:endParaRPr dirty="0"/>
          </a:p>
          <a:p>
            <a:r>
              <a:rPr dirty="0"/>
              <a:t xml:space="preserve">Eventually the entities are small enough to reason about directly. Further decomposition no longer buys useful understanding. We implement them.</a:t>
            </a:r>
          </a:p>
          <a:p>
            <a:endParaRPr dirty="0"/>
          </a:p>
          <a:p>
            <a:r>
              <a:rPr dirty="0"/>
              <a:t xml:space="preserve">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 xml:space="preserve">Engineering proceeds downward through constraints and upward through evidence.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every part arrives with a </a:t>
            </a:r>
            <a:r>
              <a:rPr lang="en-US" sz="2000" b="1" i="0" dirty="0">
                <a:solidFill>
                  <a:srgbClr val="5C4826"/>
                </a:solidFill>
              </a:rPr>
              <a:t>responsibility</a:t>
            </a:r>
            <a:r>
              <a:rPr lang="en-US" sz="2000" b="0" i="0" dirty="0">
                <a:solidFill>
                  <a:srgbClr val="5C4826"/>
                </a:solidFill>
              </a:rPr>
              <a:t xml:space="preserve">, an </a:t>
            </a:r>
            <a:r>
              <a:rPr lang="en-US" sz="2000" b="1" i="0" dirty="0">
                <a:solidFill>
                  <a:srgbClr val="5C4826"/>
                </a:solidFill>
              </a:rPr>
              <a:t>interface</a:t>
            </a:r>
            <a:r>
              <a:rPr lang="en-US" sz="2000" b="0" i="0" dirty="0">
                <a:solidFill>
                  <a:srgbClr val="5C4826"/>
                </a:solidFill>
              </a:rPr>
              <a:t xml:space="preserve">,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1300" b="0" i="1" dirty="0">
                <a:solidFill>
                  <a:srgbClr val="FFFFFF"/>
                </a:solidFill>
              </a:rPr>
              <a:t>responsibility · boundaries · interfaces · interaction rules</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sp>
        <p:nvSpPr>
          <p:cNvPr id="110" name="L110"/>
          <p:cNvSpPr/>
          <p:nvPr/>
        </p:nvSpPr>
        <p:spPr>
          <a:xfrm>
            <a:off x="1761999" y="4668367"/>
            <a:ext cx="1110001" cy="736600"/>
          </a:xfrm>
          <a:custGeom>
            <a:avLst/>
            <a:gdLst/>
            <a:ahLst/>
            <a:cxnLst/>
            <a:rect l="l" t="t" r="r" b="b"/>
            <a:pathLst>
              <a:path w="1110001" h="736600" fill="none">
                <a:moveTo>
                  <a:pt x="0" y="0"/>
                </a:moveTo>
                <a:lnTo>
                  <a:pt x="0" y="736600"/>
                </a:lnTo>
                <a:lnTo>
                  <a:pt x="1110001" y="736600"/>
                </a:lnTo>
              </a:path>
            </a:pathLst>
          </a:custGeom>
          <a:noFill/>
          <a:ln w="38100">
            <a:solidFill>
              <a:srgbClr val="8E6F3E"/>
            </a:solidFill>
            <a:tailEnd type="triangle" w="med" len="med"/>
          </a:ln>
        </p:spPr>
      </p: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sp>
        <p:nvSpPr>
          <p:cNvPr id="112" name="L112"/>
          <p:cNvSpPr/>
          <p:nvPr/>
        </p:nvSpPr>
        <p:spPr>
          <a:xfrm>
            <a:off x="6272000" y="4668367"/>
            <a:ext cx="1110000" cy="736600"/>
          </a:xfrm>
          <a:custGeom>
            <a:avLst/>
            <a:gdLst/>
            <a:ahLst/>
            <a:cxnLst/>
            <a:rect l="l" t="t" r="r" b="b"/>
            <a:pathLst>
              <a:path w="1110000" h="736600" fill="none">
                <a:moveTo>
                  <a:pt x="1110000" y="0"/>
                </a:moveTo>
                <a:lnTo>
                  <a:pt x="1110000" y="736600"/>
                </a:lnTo>
                <a:lnTo>
                  <a:pt x="0" y="736600"/>
                </a:lnTo>
              </a:path>
            </a:pathLst>
          </a:custGeom>
          <a:noFill/>
          <a:ln w="38100">
            <a:solidFill>
              <a:srgbClr val="8E6F3E"/>
            </a:solidFill>
            <a:tailEnd type="triangle" w="med" len="med"/>
          </a:ln>
        </p:spPr>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P spid="113" grpId="13"/>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50000"/>
            <a:ext cx="2560000" cy="7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482000" y="1850000"/>
            <a:ext cx="2560000" cy="2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000000"/>
                </a:solidFill>
              </a:rPr>
              <a:t>Already answered</a:t>
            </a:r>
          </a:p>
          <a:p>
            <a:pPr algn="ctr">
              <a:spcBef>
                <a:spcPts val="140"/>
              </a:spcBef>
              <a:buNone/>
            </a:pPr>
            <a:r>
              <a:rPr lang="en-US" sz="2200" b="0" i="0" dirty="0">
                <a:solidFill>
                  <a:srgbClr val="000000"/>
                </a:solidFill>
              </a:rPr>
              <a:t>Use the established</a:t>
            </a:r>
          </a:p>
          <a:p>
            <a:pPr algn="ctr">
              <a:spcBef>
                <a:spcPts val="140"/>
              </a:spcBef>
              <a:buNone/>
            </a:pPr>
            <a:r>
              <a:rPr lang="en-US" sz="2200" b="0" i="0" dirty="0">
                <a:solidFill>
                  <a:srgbClr val="000000"/>
                </a:solidFill>
              </a:rPr>
              <a:t>mechanism</a:t>
            </a:r>
          </a:p>
        </p:txBody>
      </p:sp>
      <p:sp>
        <p:nvSpPr>
          <p:cNvPr id="102" name="S102"/>
          <p:cNvSpPr/>
          <p:nvPr/>
        </p:nvSpPr>
        <p:spPr>
          <a:xfrm>
            <a:off x="3292000" y="1050000"/>
            <a:ext cx="2560000" cy="7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292000" y="1850000"/>
            <a:ext cx="2560000" cy="2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000000"/>
                </a:solidFill>
              </a:rPr>
              <a:t>Genuinely local</a:t>
            </a:r>
          </a:p>
          <a:p>
            <a:pPr algn="ctr">
              <a:spcBef>
                <a:spcPts val="140"/>
              </a:spcBef>
              <a:buNone/>
            </a:pPr>
            <a:r>
              <a:rPr lang="en-US" sz="2200" b="0" i="0" dirty="0">
                <a:solidFill>
                  <a:srgbClr val="000000"/>
                </a:solidFill>
              </a:rPr>
              <a:t>Exercise Design</a:t>
            </a:r>
          </a:p>
          <a:p>
            <a:pPr algn="ctr">
              <a:spcBef>
                <a:spcPts val="140"/>
              </a:spcBef>
              <a:buNone/>
            </a:pPr>
            <a:r>
              <a:rPr lang="en-US" sz="2200" b="0" i="0" dirty="0">
                <a:solidFill>
                  <a:srgbClr val="000000"/>
                </a:solidFill>
              </a:rPr>
              <a:t>judgment</a:t>
            </a:r>
          </a:p>
        </p:txBody>
      </p:sp>
      <p:sp>
        <p:nvSpPr>
          <p:cNvPr id="104" name="S104"/>
          <p:cNvSpPr/>
          <p:nvPr/>
        </p:nvSpPr>
        <p:spPr>
          <a:xfrm>
            <a:off x="6102000" y="1050000"/>
            <a:ext cx="2560000" cy="70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6102000" y="1850000"/>
            <a:ext cx="2560000" cy="2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Consequences escape</a:t>
            </a:r>
          </a:p>
          <a:p>
            <a:pPr algn="ctr">
              <a:spcBef>
                <a:spcPts val="140"/>
              </a:spcBef>
              <a:buNone/>
            </a:pPr>
            <a:r>
              <a:rPr lang="en-US" sz="2000" b="0" i="0" dirty="0">
                <a:solidFill>
                  <a:srgbClr val="000000"/>
                </a:solidFill>
              </a:rPr>
              <a:t>the box</a:t>
            </a:r>
          </a:p>
          <a:p>
            <a:pPr algn="ctr">
              <a:spcBef>
                <a:spcPts val="140"/>
              </a:spcBef>
              <a:buNone/>
            </a:pPr>
            <a:r>
              <a:rPr lang="en-US" sz="2000" b="0" i="0" dirty="0">
                <a:solidFill>
                  <a:srgbClr val="000000"/>
                </a:solidFill>
              </a:rPr>
              <a:t>The decision may</a:t>
            </a:r>
          </a:p>
          <a:p>
            <a:pPr algn="ctr">
              <a:spcBef>
                <a:spcPts val="140"/>
              </a:spcBef>
              <a:buNone/>
            </a:pPr>
            <a:r>
              <a:rPr lang="en-US" sz="2000" b="0" i="0" dirty="0">
                <a:solidFill>
                  <a:srgbClr val="000000"/>
                </a:solidFill>
              </a:rPr>
              <a:t>belong elsewhere</a:t>
            </a:r>
          </a:p>
        </p:txBody>
      </p:sp>
      <p:sp>
        <p:nvSpPr>
          <p:cNvPr id="120" name="TpsBox"/>
          <p:cNvSpPr/>
          <p:nvPr/>
        </p:nvSpPr>
        <p:spPr>
          <a:xfrm>
            <a:off x="274320" y="4420000"/>
            <a:ext cx="8595360" cy="1150000"/>
          </a:xfrm>
          <a:prstGeom prst="rect">
            <a:avLst/>
          </a:prstGeom>
          <a:solidFill>
            <a:srgbClr val="FBF8F2"/>
          </a:solidFill>
          <a:ln w="15875">
            <a:solidFill>
              <a:srgbClr val="8E6F3E"/>
            </a:solidFill>
          </a:ln>
        </p:spPr>
        <p:txBody>
          <a:bodyPr wrap="square" lIns="91440" tIns="45720" rIns="91440" bIns="45720" anchor="b"/>
          <a:lstStyle/>
          <a:p>
            <a:pPr algn="l">
              <a:buNone/>
            </a:pPr>
            <a:r>
              <a:rPr lang="en-US" sz="1300" b="0" i="0" dirty="0">
                <a:solidFill>
                  <a:srgbClr val="5C4826"/>
                </a:solidFill>
              </a:rPr>
              <a:t>(a)  how to inject the illness model — the environment already standardizes injection</a:t>
            </a:r>
          </a:p>
          <a:p>
            <a:pPr algn="l">
              <a:buNone/>
            </a:pPr>
            <a:r>
              <a:rPr lang="en-US" sz="1300" b="0" i="0" dirty="0">
                <a:solidFill>
                  <a:srgbClr val="5C4826"/>
                </a:solidFill>
              </a:rPr>
              <a:t>(b)  stream or batch the nightly summary</a:t>
            </a:r>
          </a:p>
          <a:p>
            <a:pPr algn="l">
              <a:buNone/>
            </a:pPr>
            <a:r>
              <a:rPr lang="en-US" sz="1300" b="0" i="0" dirty="0">
                <a:solidFill>
                  <a:srgbClr val="5C4826"/>
                </a:solidFill>
              </a:rPr>
              <a:t>(c)  the only fast mechanism reads raw sleep data across the privacy boundary</a:t>
            </a:r>
          </a:p>
        </p:txBody>
      </p:sp>
      <p:sp>
        <p:nvSpPr>
          <p:cNvPr id="121" name="TpsChip"/>
          <p:cNvSpPr/>
          <p:nvPr/>
        </p:nvSpPr>
        <p:spPr>
          <a:xfrm>
            <a:off x="460000" y="456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22" name="TpsPrompt"/>
          <p:cNvSpPr txBox="1"/>
          <p:nvPr/>
        </p:nvSpPr>
        <p:spPr>
          <a:xfrm>
            <a:off x="2560000" y="4590000"/>
            <a:ext cx="6100000" cy="330000"/>
          </a:xfrm>
          <a:prstGeom prst="rect">
            <a:avLst/>
          </a:prstGeom>
          <a:noFill/>
          <a:ln>
            <a:noFill/>
          </a:ln>
        </p:spPr>
        <p:txBody>
          <a:bodyPr wrap="square" lIns="0" tIns="0" rIns="0" bIns="0" anchor="ctr"/>
          <a:lstStyle/>
          <a:p>
            <a:pPr algn="l">
              <a:buNone/>
            </a:pPr>
            <a:r>
              <a:rPr lang="en-US" sz="1600" b="1" i="0" dirty="0">
                <a:solidFill>
                  <a:srgbClr val="5C4826"/>
                </a:solidFill>
              </a:rPr>
              <a:t>Classify each open choice: follow, choose, or escalate?</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and Design recur as freedom narrows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unnelSpec"/>
          <p:cNvSpPr/>
          <p:nvPr/>
        </p:nvSpPr>
        <p:spPr>
          <a:xfrm>
            <a:off x="622000" y="980000"/>
            <a:ext cx="7900000" cy="880000"/>
          </a:xfrm>
          <a:custGeom>
            <a:avLst/>
            <a:gdLst/>
            <a:ahLst/>
            <a:cxnLst/>
            <a:rect l="l" t="t" r="r" b="b"/>
            <a:pathLst>
              <a:path w="7900000" h="880000">
                <a:moveTo>
                  <a:pt x="0" y="0"/>
                </a:moveTo>
                <a:lnTo>
                  <a:pt x="7900000" y="0"/>
                </a:lnTo>
                <a:lnTo>
                  <a:pt x="7300000" y="880000"/>
                </a:lnTo>
                <a:lnTo>
                  <a:pt x="600000" y="880000"/>
                </a:lnTo>
                <a:close/>
              </a:path>
            </a:pathLst>
          </a:cu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r>
              <a:rPr lang="en-US" sz="1700" b="0" i="1" dirty="0">
                <a:solidFill>
                  <a:srgbClr val="FFFFFF"/>
                </a:solidFill>
              </a:rPr>
              <a:t xml:space="preserve"> — acceptable realization space</a:t>
            </a:r>
          </a:p>
        </p:txBody>
      </p:sp>
      <p:sp>
        <p:nvSpPr>
          <p:cNvPr id="101" name="FunnelArch"/>
          <p:cNvSpPr/>
          <p:nvPr/>
        </p:nvSpPr>
        <p:spPr>
          <a:xfrm>
            <a:off x="1222000" y="1860000"/>
            <a:ext cx="6700000" cy="880000"/>
          </a:xfrm>
          <a:custGeom>
            <a:avLst/>
            <a:gdLst/>
            <a:ahLst/>
            <a:cxnLst/>
            <a:rect l="l" t="t" r="r" b="b"/>
            <a:pathLst>
              <a:path w="6700000" h="880000">
                <a:moveTo>
                  <a:pt x="0" y="0"/>
                </a:moveTo>
                <a:lnTo>
                  <a:pt x="6700000" y="0"/>
                </a:lnTo>
                <a:lnTo>
                  <a:pt x="61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ARCHITECTURE</a:t>
            </a:r>
            <a:r>
              <a:rPr lang="en-US" sz="1700" b="0" i="1" dirty="0">
                <a:solidFill>
                  <a:srgbClr val="000000"/>
                </a:solidFill>
              </a:rPr>
              <a:t xml:space="preserve"> — organization</a:t>
            </a:r>
          </a:p>
        </p:txBody>
      </p:sp>
      <p:sp>
        <p:nvSpPr>
          <p:cNvPr id="102" name="FunnelArchDesign"/>
          <p:cNvSpPr/>
          <p:nvPr/>
        </p:nvSpPr>
        <p:spPr>
          <a:xfrm>
            <a:off x="1822000" y="2740000"/>
            <a:ext cx="5500000" cy="880000"/>
          </a:xfrm>
          <a:custGeom>
            <a:avLst/>
            <a:gdLst/>
            <a:ahLst/>
            <a:cxnLst/>
            <a:rect l="l" t="t" r="r" b="b"/>
            <a:pathLst>
              <a:path w="5500000" h="880000">
                <a:moveTo>
                  <a:pt x="0" y="0"/>
                </a:moveTo>
                <a:lnTo>
                  <a:pt x="5500000" y="0"/>
                </a:lnTo>
                <a:lnTo>
                  <a:pt x="4900000" y="880000"/>
                </a:lnTo>
                <a:lnTo>
                  <a:pt x="600000" y="880000"/>
                </a:lnTo>
                <a:close/>
              </a:path>
            </a:pathLst>
          </a:custGeom>
          <a:solidFill>
            <a:srgbClr val="FBF8F2"/>
          </a:solidFill>
          <a:ln w="12700">
            <a:solidFill>
              <a:srgbClr val="C9B991"/>
            </a:solidFill>
            <a:prstDash val="dash"/>
          </a:ln>
        </p:spPr>
        <p:txBody>
          <a:bodyPr wrap="square" lIns="91440" tIns="45720" rIns="91440" bIns="45720" anchor="ctr"/>
          <a:lstStyle/>
          <a:p>
            <a:pPr algn="ctr">
              <a:buNone/>
            </a:pPr>
            <a:r>
              <a:rPr lang="en-US" sz="1700" b="1" i="0" dirty="0">
                <a:solidFill>
                  <a:srgbClr val="5C4826"/>
                </a:solidFill>
              </a:rPr>
              <a:t>ARCH / DESIGN</a:t>
            </a:r>
            <a:r>
              <a:rPr lang="en-US" sz="1700" b="0" i="1" dirty="0">
                <a:solidFill>
                  <a:srgbClr val="555960"/>
                </a:solidFill>
              </a:rPr>
              <a:t xml:space="preserve"> — organization? · mechanisms?</a:t>
            </a:r>
          </a:p>
        </p:txBody>
      </p:sp>
      <p:sp>
        <p:nvSpPr>
          <p:cNvPr id="103" name="FunnelDesign"/>
          <p:cNvSpPr/>
          <p:nvPr/>
        </p:nvSpPr>
        <p:spPr>
          <a:xfrm>
            <a:off x="2422000" y="3620000"/>
            <a:ext cx="4300000" cy="880000"/>
          </a:xfrm>
          <a:custGeom>
            <a:avLst/>
            <a:gdLst/>
            <a:ahLst/>
            <a:cxnLst/>
            <a:rect l="l" t="t" r="r" b="b"/>
            <a:pathLst>
              <a:path w="4300000" h="880000">
                <a:moveTo>
                  <a:pt x="0" y="0"/>
                </a:moveTo>
                <a:lnTo>
                  <a:pt x="4300000" y="0"/>
                </a:lnTo>
                <a:lnTo>
                  <a:pt x="37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DESIGN</a:t>
            </a:r>
            <a:r>
              <a:rPr lang="en-US" sz="1700" b="0" i="1" dirty="0">
                <a:solidFill>
                  <a:srgbClr val="000000"/>
                </a:solidFill>
              </a:rPr>
              <a:t xml:space="preserve"> — local mechanisms</a:t>
            </a:r>
          </a:p>
        </p:txBody>
      </p:sp>
      <p:cxnSp>
        <p:nvCxnSpPr>
          <p:cNvPr id="104" name="FunnelArrow"/>
          <p:cNvCxnSpPr/>
          <p:nvPr/>
        </p:nvCxnSpPr>
        <p:spPr>
          <a:xfrm>
            <a:off x="4572000" y="4580000"/>
            <a:ext cx="0" cy="370000"/>
          </a:xfrm>
          <a:prstGeom prst="straightConnector1">
            <a:avLst/>
          </a:prstGeom>
          <a:ln w="38100">
            <a:solidFill>
              <a:srgbClr val="8E6F3E"/>
            </a:solidFill>
            <a:tailEnd type="triangle" w="med" len="med"/>
          </a:ln>
        </p:spPr>
      </p:cxnSp>
      <p:sp>
        <p:nvSpPr>
          <p:cNvPr id="105" name="FunnelImpl"/>
          <p:cNvSpPr/>
          <p:nvPr/>
        </p:nvSpPr>
        <p:spPr>
          <a:xfrm>
            <a:off x="3072000" y="5030000"/>
            <a:ext cx="30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p:txBody>
      </p:sp>
      <p:sp>
        <p:nvSpPr>
          <p:cNvPr id="106" name="FooterItalic"/>
          <p:cNvSpPr txBox="1"/>
          <p:nvPr/>
        </p:nvSpPr>
        <p:spPr>
          <a:xfrm>
            <a:off x="1144320" y="5860000"/>
            <a:ext cx="6855360" cy="700000"/>
          </a:xfrm>
          <a:prstGeom prst="rect">
            <a:avLst/>
          </a:prstGeom>
          <a:noFill/>
          <a:ln>
            <a:noFill/>
          </a:ln>
        </p:spPr>
        <p:txBody>
          <a:bodyPr wrap="square" lIns="0" tIns="0" rIns="0" bIns="0" anchor="t"/>
          <a:lstStyle/>
          <a:p>
            <a:pPr algn="ctr">
              <a:buNone/>
            </a:pPr>
            <a:r>
              <a:rPr lang="en-US" sz="1700" b="0" i="1" dirty="0">
                <a:solidFill>
                  <a:srgbClr val="000000"/>
                </a:solidFill>
              </a:rPr>
              <a:t>Each level removes degrees of freedom; opening a part may expose another Architecture / Design boundary.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2"/>
                                        </p:tgtEl>
                                        <p:attrNameLst>
                                          <p:attrName>style.visibility</p:attrName>
                                        </p:attrNameLst>
                                      </p:cBhvr>
                                      <p:to>
                                        <p:strVal val="visible"/>
                                      </p:to>
                                    </p:set>
                                    <p:animEffect transition="in" filter="fade">
                                      <p:cBhvr>
                                        <p:cTn id="17" dur="500"/>
                                        <p:tgtEl>
                                          <p:spTgt spid="1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3"/>
                                        </p:tgtEl>
                                        <p:attrNameLst>
                                          <p:attrName>style.visibility</p:attrName>
                                        </p:attrNameLst>
                                      </p:cBhvr>
                                      <p:to>
                                        <p:strVal val="visible"/>
                                      </p:to>
                                    </p:set>
                                    <p:animEffect transition="in" filter="fade">
                                      <p:cBhvr>
                                        <p:cTn id="22" dur="500"/>
                                        <p:tgtEl>
                                          <p:spTgt spid="1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0"/>
                            </p:stCondLst>
                            <p:childTnLst>
                              <p:par>
                                <p:cTn id="29" presetID="10" presetClass="entr" presetSubtype="0" fill="hold" grpId="5" nodeType="withEffect">
                                  <p:stCondLst>
                                    <p:cond delay="0"/>
                                  </p:stCondLst>
                                  <p:childTnLst>
                                    <p:set>
                                      <p:cBhvr>
                                        <p:cTn id="30" dur="1" fill="hold">
                                          <p:stCondLst>
                                            <p:cond delay="0"/>
                                          </p:stCondLst>
                                        </p:cTn>
                                        <p:tgtEl>
                                          <p:spTgt spid="105"/>
                                        </p:tgtEl>
                                        <p:attrNameLst>
                                          <p:attrName>style.visibility</p:attrName>
                                        </p:attrNameLst>
                                      </p:cBhvr>
                                      <p:to>
                                        <p:strVal val="visible"/>
                                      </p:to>
                                    </p:set>
                                    <p:animEffect transition="in" filter="fade">
                                      <p:cBhvr>
                                        <p:cTn id="31" dur="500"/>
                                        <p:tgtEl>
                                          <p:spTgt spid="105"/>
                                        </p:tgtEl>
                                      </p:cBhvr>
                                    </p:animEffect>
                                  </p:childTnLst>
                                </p:cTn>
                              </p:par>
                            </p:childTnLst>
                          </p:cTn>
                        </p:par>
                        <p:par>
                          <p:cTn id="32" fill="hold">
                            <p:stCondLst>
                              <p:cond delay="0"/>
                            </p:stCondLst>
                            <p:childTnLst>
                              <p:par>
                                <p:cTn id="33" presetID="10" presetClass="entr" presetSubtype="0" fill="hold" grpId="6"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unnelBottom"/>
          <p:cNvSpPr/>
          <p:nvPr/>
        </p:nvSpPr>
        <p:spPr>
          <a:xfrm>
            <a:off x="2172000" y="1200000"/>
            <a:ext cx="4800000" cy="760000"/>
          </a:xfrm>
          <a:custGeom>
            <a:avLst/>
            <a:gdLst/>
            <a:ahLst/>
            <a:cxnLst/>
            <a:rect l="l" t="t" r="r" b="b"/>
            <a:pathLst>
              <a:path w="4800000" h="760000">
                <a:moveTo>
                  <a:pt x="0" y="0"/>
                </a:moveTo>
                <a:lnTo>
                  <a:pt x="4800000" y="0"/>
                </a:lnTo>
                <a:lnTo>
                  <a:pt x="4300000" y="760000"/>
                </a:lnTo>
                <a:lnTo>
                  <a:pt x="500000" y="76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COMPONENT</a:t>
            </a:r>
            <a:r>
              <a:rPr lang="en-US" sz="1600" b="0" i="1" dirty="0">
                <a:solidFill>
                  <a:srgbClr val="555960"/>
                </a:solidFill>
              </a:rPr>
              <a:t xml:space="preserve"> — opened at the funnel bottom</a:t>
            </a:r>
          </a:p>
        </p:txBody>
      </p:sp>
      <p:cxnSp>
        <p:nvCxnSpPr>
          <p:cNvPr id="101" name="L101"/>
          <p:cNvCxnSpPr/>
          <p:nvPr/>
        </p:nvCxnSpPr>
        <p:spPr>
          <a:xfrm>
            <a:off x="4572000" y="2040000"/>
            <a:ext cx="0" cy="400000"/>
          </a:xfrm>
          <a:prstGeom prst="straightConnector1">
            <a:avLst/>
          </a:prstGeom>
          <a:ln w="38100">
            <a:solidFill>
              <a:srgbClr val="8E6F3E"/>
            </a:solidFill>
            <a:tailEnd type="triangle" w="med" len="med"/>
          </a:ln>
        </p:spPr>
      </p:cxnSp>
      <p:sp>
        <p:nvSpPr>
          <p:cNvPr id="102" name="Entities"/>
          <p:cNvSpPr/>
          <p:nvPr/>
        </p:nvSpPr>
        <p:spPr>
          <a:xfrm>
            <a:off x="1872000" y="2500000"/>
            <a:ext cx="54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entities we can reason about directly</a:t>
            </a:r>
          </a:p>
          <a:p>
            <a:pPr algn="ctr">
              <a:spcBef>
                <a:spcPts val="80"/>
              </a:spcBef>
              <a:buNone/>
            </a:pPr>
            <a:r>
              <a:rPr lang="en-US" sz="1600" b="0" i="0" dirty="0">
                <a:solidFill>
                  <a:srgbClr val="000000"/>
                </a:solidFill>
              </a:rPr>
              <a:t>object · function · data structure · small collaboration</a:t>
            </a:r>
          </a:p>
        </p:txBody>
      </p:sp>
      <p:sp>
        <p:nvSpPr>
          <p:cNvPr id="103" name="StopBanner"/>
          <p:cNvSpPr/>
          <p:nvPr/>
        </p:nvSpPr>
        <p:spPr>
          <a:xfrm>
            <a:off x="971999" y="3750000"/>
            <a:ext cx="7200000" cy="99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Stop when further decomposition no longer makes the engineering problem easier to reason about.</a:t>
            </a:r>
          </a:p>
        </p:txBody>
      </p:sp>
      <p:sp>
        <p:nvSpPr>
          <p:cNvPr id="109" name="S109"/>
          <p:cNvSpPr/>
          <p:nvPr/>
        </p:nvSpPr>
        <p:spPr>
          <a:xfrm>
            <a:off x="1828800" y="5030000"/>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xml:space="preserve">     →     </a:t>
            </a:r>
            <a:r>
              <a:rPr lang="en-US" sz="2700" b="1" i="0" dirty="0">
                <a:solidFill>
                  <a:srgbClr val="5C4826"/>
                </a:solidFill>
              </a:rPr>
              <a:t>IMPLEMENTATION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autonomy &amp; coupling</a:t>
              </a:r>
            </a:p>
            <a:p>
              <a:pPr algn="l">
                <a:buNone/>
              </a:pPr>
              <a:r>
                <a:rPr lang="en-US" sz="1500" b="1" i="0" dirty="0">
                  <a:solidFill>
                    <a:srgbClr val="5C4826"/>
                  </a:solidFill>
                </a:rPr>
                <a:t>Specification:</a:t>
              </a:r>
              <a:r>
                <a:rPr lang="en-US" sz="1500" b="0" i="0" dirty="0">
                  <a:solidFill>
                    <a:srgbClr val="5C4826"/>
                  </a:solidFill>
                </a:rPr>
                <a:t xml:space="preserve">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The Specification does.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xml:space="preserve"> the permitted observable behavior — its direct subject</a:t>
              </a:r>
            </a:p>
            <a:p>
              <a:pPr algn="l">
                <a:buNone/>
              </a:pPr>
              <a:r>
                <a:rPr lang="en-US" sz="1500" b="1" i="0" dirty="0">
                  <a:solidFill>
                    <a:srgbClr val="5C4826"/>
                  </a:solidFill>
                </a:rPr>
                <a:t>Architecture:</a:t>
              </a:r>
              <a:r>
                <a:rPr lang="en-US" sz="1500" b="0" i="0" dirty="0">
                  <a:solidFill>
                    <a:srgbClr val="5C4826"/>
                  </a:solidFill>
                </a:rPr>
                <a:t xml:space="preserve">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r>
              <a:rPr lang="en-US" sz="2100" b="0" i="0" dirty="0">
                <a:solidFill>
                  <a:srgbClr val="000000"/>
                </a:solidFill>
              </a:rPr>
              <a:t/>
            </a: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immediacy / simple completion  </a:t>
            </a:r>
            <a:r>
              <a:rPr lang="en-US" sz="2400" b="1" i="0" dirty="0">
                <a:solidFill>
                  <a:srgbClr val="8E6F3E"/>
                </a:solidFill>
              </a:rPr>
              <a:t>↔</a:t>
            </a:r>
            <a:r>
              <a:rPr lang="en-US" sz="2000" b="1" i="0" dirty="0">
                <a:solidFill>
                  <a:srgbClr val="5C4826"/>
                </a:solidFill>
              </a:rPr>
              <a:t xml:space="preserve">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latency &amp; failure isolation</a:t>
              </a:r>
            </a:p>
            <a:p>
              <a:pPr algn="l">
                <a:buNone/>
              </a:pPr>
              <a:r>
                <a:rPr lang="en-US" sz="1500" b="1" i="0" dirty="0">
                  <a:solidFill>
                    <a:srgbClr val="5C4826"/>
                  </a:solidFill>
                </a:rPr>
                <a:t>Specification:</a:t>
              </a:r>
              <a:r>
                <a:rPr lang="en-US" sz="1500" b="0" i="0" dirty="0">
                  <a:solidFill>
                    <a:srgbClr val="5C4826"/>
                  </a:solidFill>
                </a:rPr>
                <a:t xml:space="preserve">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locality of expected change</a:t>
              </a:r>
            </a:p>
            <a:p>
              <a:pPr algn="l">
                <a:buNone/>
              </a:pPr>
              <a:r>
                <a:rPr lang="en-US" sz="1500" b="1" i="0" dirty="0">
                  <a:solidFill>
                    <a:srgbClr val="5C4826"/>
                  </a:solidFill>
                </a:rPr>
                <a:t>Engineering environment:</a:t>
              </a:r>
              <a:r>
                <a:rPr lang="en-US" sz="1500" b="0" i="0" dirty="0">
                  <a:solidFill>
                    <a:srgbClr val="5C4826"/>
                  </a:solidFill>
                </a:rPr>
                <a:t xml:space="preserve">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Choose the mechanism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04785"/>
            <a:ext cx="2000000"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Question</a:t>
            </a:r>
          </a:p>
        </p:txBody>
      </p:sp>
      <p:sp>
        <p:nvSpPr>
          <p:cNvPr id="101" name="S101"/>
          <p:cNvSpPr/>
          <p:nvPr/>
        </p:nvSpPr>
        <p:spPr>
          <a:xfrm>
            <a:off x="2277148" y="1004785"/>
            <a:ext cx="2100000"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One answer</a:t>
            </a:r>
          </a:p>
        </p:txBody>
      </p:sp>
      <p:sp>
        <p:nvSpPr>
          <p:cNvPr id="102" name="S102"/>
          <p:cNvSpPr/>
          <p:nvPr/>
        </p:nvSpPr>
        <p:spPr>
          <a:xfrm>
            <a:off x="4377148" y="1004785"/>
            <a:ext cx="2100000"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Another answer</a:t>
            </a:r>
          </a:p>
        </p:txBody>
      </p:sp>
      <p:sp>
        <p:nvSpPr>
          <p:cNvPr id="103" name="S103"/>
          <p:cNvSpPr/>
          <p:nvPr/>
        </p:nvSpPr>
        <p:spPr>
          <a:xfrm>
            <a:off x="6477148" y="1004785"/>
            <a:ext cx="2389704" cy="64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750" b="1" i="0" dirty="0">
                <a:solidFill>
                  <a:srgbClr val="FFFFFF"/>
                </a:solidFill>
              </a:rPr>
              <a:t>Tradeoff</a:t>
            </a:r>
          </a:p>
        </p:txBody>
      </p:sp>
      <p:sp>
        <p:nvSpPr>
          <p:cNvPr id="104" name="S104"/>
          <p:cNvSpPr/>
          <p:nvPr/>
        </p:nvSpPr>
        <p:spPr>
          <a:xfrm>
            <a:off x="277147" y="1648785"/>
            <a:ext cx="20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1" i="0" dirty="0">
                <a:solidFill>
                  <a:srgbClr val="000000"/>
                </a:solidFill>
              </a:rPr>
              <a:t>Who owns the truth?</a:t>
            </a:r>
          </a:p>
        </p:txBody>
      </p:sp>
      <p:sp>
        <p:nvSpPr>
          <p:cNvPr id="105" name="S105"/>
          <p:cNvSpPr/>
          <p:nvPr/>
        </p:nvSpPr>
        <p:spPr>
          <a:xfrm>
            <a:off x="2277148" y="1648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single authority</a:t>
            </a:r>
          </a:p>
        </p:txBody>
      </p:sp>
      <p:sp>
        <p:nvSpPr>
          <p:cNvPr id="106" name="S106"/>
          <p:cNvSpPr/>
          <p:nvPr/>
        </p:nvSpPr>
        <p:spPr>
          <a:xfrm>
            <a:off x="4377148" y="1648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distributed authority</a:t>
            </a:r>
          </a:p>
        </p:txBody>
      </p:sp>
      <p:sp>
        <p:nvSpPr>
          <p:cNvPr id="107" name="S107"/>
          <p:cNvSpPr/>
          <p:nvPr/>
        </p:nvSpPr>
        <p:spPr>
          <a:xfrm>
            <a:off x="6477148" y="1648785"/>
            <a:ext cx="2389704"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coordination / autonomy</a:t>
            </a:r>
          </a:p>
        </p:txBody>
      </p:sp>
      <p:sp>
        <p:nvSpPr>
          <p:cNvPr id="108" name="S108"/>
          <p:cNvSpPr/>
          <p:nvPr/>
        </p:nvSpPr>
        <p:spPr>
          <a:xfrm>
            <a:off x="277147" y="2292785"/>
            <a:ext cx="20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1" i="0" dirty="0">
                <a:solidFill>
                  <a:srgbClr val="000000"/>
                </a:solidFill>
              </a:rPr>
              <a:t>Copies?</a:t>
            </a:r>
          </a:p>
        </p:txBody>
      </p:sp>
      <p:sp>
        <p:nvSpPr>
          <p:cNvPr id="109" name="S109"/>
          <p:cNvSpPr/>
          <p:nvPr/>
        </p:nvSpPr>
        <p:spPr>
          <a:xfrm>
            <a:off x="2277148" y="2292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tighter consistency</a:t>
            </a:r>
          </a:p>
        </p:txBody>
      </p:sp>
      <p:sp>
        <p:nvSpPr>
          <p:cNvPr id="110" name="S110"/>
          <p:cNvSpPr/>
          <p:nvPr/>
        </p:nvSpPr>
        <p:spPr>
          <a:xfrm>
            <a:off x="4377148" y="2292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looser consistency</a:t>
            </a:r>
          </a:p>
        </p:txBody>
      </p:sp>
      <p:sp>
        <p:nvSpPr>
          <p:cNvPr id="111" name="S111"/>
          <p:cNvSpPr/>
          <p:nvPr/>
        </p:nvSpPr>
        <p:spPr>
          <a:xfrm>
            <a:off x="6477148" y="2292785"/>
            <a:ext cx="2389704"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coordination / availability-latency</a:t>
            </a:r>
          </a:p>
        </p:txBody>
      </p:sp>
      <p:sp>
        <p:nvSpPr>
          <p:cNvPr id="112" name="S112"/>
          <p:cNvSpPr/>
          <p:nvPr/>
        </p:nvSpPr>
        <p:spPr>
          <a:xfrm>
            <a:off x="277147" y="2936785"/>
            <a:ext cx="20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1" i="0" dirty="0">
                <a:solidFill>
                  <a:srgbClr val="000000"/>
                </a:solidFill>
              </a:rPr>
              <a:t>When?</a:t>
            </a:r>
          </a:p>
        </p:txBody>
      </p:sp>
      <p:sp>
        <p:nvSpPr>
          <p:cNvPr id="113" name="S113"/>
          <p:cNvSpPr/>
          <p:nvPr/>
        </p:nvSpPr>
        <p:spPr>
          <a:xfrm>
            <a:off x="2277148" y="2936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immediate</a:t>
            </a:r>
          </a:p>
        </p:txBody>
      </p:sp>
      <p:sp>
        <p:nvSpPr>
          <p:cNvPr id="114" name="S114"/>
          <p:cNvSpPr/>
          <p:nvPr/>
        </p:nvSpPr>
        <p:spPr>
          <a:xfrm>
            <a:off x="4377148" y="2936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deferred</a:t>
            </a:r>
          </a:p>
        </p:txBody>
      </p:sp>
      <p:sp>
        <p:nvSpPr>
          <p:cNvPr id="115" name="S115"/>
          <p:cNvSpPr/>
          <p:nvPr/>
        </p:nvSpPr>
        <p:spPr>
          <a:xfrm>
            <a:off x="6477148" y="2936785"/>
            <a:ext cx="2389704"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immediacy / isolation</a:t>
            </a:r>
          </a:p>
        </p:txBody>
      </p:sp>
      <p:sp>
        <p:nvSpPr>
          <p:cNvPr id="116" name="S116"/>
          <p:cNvSpPr/>
          <p:nvPr/>
        </p:nvSpPr>
        <p:spPr>
          <a:xfrm>
            <a:off x="277147" y="3580785"/>
            <a:ext cx="20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1" i="0" dirty="0">
                <a:solidFill>
                  <a:srgbClr val="000000"/>
                </a:solidFill>
              </a:rPr>
              <a:t>Depend how?</a:t>
            </a:r>
          </a:p>
        </p:txBody>
      </p:sp>
      <p:sp>
        <p:nvSpPr>
          <p:cNvPr id="117" name="S117"/>
          <p:cNvSpPr/>
          <p:nvPr/>
        </p:nvSpPr>
        <p:spPr>
          <a:xfrm>
            <a:off x="2277148" y="3580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direct</a:t>
            </a:r>
          </a:p>
        </p:txBody>
      </p:sp>
      <p:sp>
        <p:nvSpPr>
          <p:cNvPr id="118" name="S118"/>
          <p:cNvSpPr/>
          <p:nvPr/>
        </p:nvSpPr>
        <p:spPr>
          <a:xfrm>
            <a:off x="4377148" y="3580785"/>
            <a:ext cx="2100000"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indirect</a:t>
            </a:r>
          </a:p>
        </p:txBody>
      </p:sp>
      <p:sp>
        <p:nvSpPr>
          <p:cNvPr id="119" name="S119"/>
          <p:cNvSpPr/>
          <p:nvPr/>
        </p:nvSpPr>
        <p:spPr>
          <a:xfrm>
            <a:off x="6477148" y="3580785"/>
            <a:ext cx="2389704" cy="64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750" b="0" i="0" dirty="0">
                <a:solidFill>
                  <a:srgbClr val="000000"/>
                </a:solidFill>
              </a:rPr>
              <a:t>simplicity / change isolation</a:t>
            </a:r>
          </a:p>
        </p:txBody>
      </p:sp>
      <p:sp>
        <p:nvSpPr>
          <p:cNvPr id="120" name="S120"/>
          <p:cNvSpPr/>
          <p:nvPr/>
        </p:nvSpPr>
        <p:spPr>
          <a:xfrm>
            <a:off x="277147" y="4224785"/>
            <a:ext cx="20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1" i="0" dirty="0">
                <a:solidFill>
                  <a:srgbClr val="000000"/>
                </a:solidFill>
              </a:rPr>
              <a:t>Decompose how?</a:t>
            </a:r>
          </a:p>
        </p:txBody>
      </p:sp>
      <p:sp>
        <p:nvSpPr>
          <p:cNvPr id="121" name="S121"/>
          <p:cNvSpPr/>
          <p:nvPr/>
        </p:nvSpPr>
        <p:spPr>
          <a:xfrm>
            <a:off x="2277148" y="4224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fewer seams</a:t>
            </a:r>
          </a:p>
        </p:txBody>
      </p:sp>
      <p:sp>
        <p:nvSpPr>
          <p:cNvPr id="122" name="S122"/>
          <p:cNvSpPr/>
          <p:nvPr/>
        </p:nvSpPr>
        <p:spPr>
          <a:xfrm>
            <a:off x="4377148" y="4224785"/>
            <a:ext cx="2100000"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more seams</a:t>
            </a:r>
          </a:p>
        </p:txBody>
      </p:sp>
      <p:sp>
        <p:nvSpPr>
          <p:cNvPr id="123" name="S123"/>
          <p:cNvSpPr/>
          <p:nvPr/>
        </p:nvSpPr>
        <p:spPr>
          <a:xfrm>
            <a:off x="6477148" y="4224785"/>
            <a:ext cx="2389704" cy="64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750" b="0" i="0" dirty="0">
                <a:solidFill>
                  <a:srgbClr val="000000"/>
                </a:solidFill>
              </a:rPr>
              <a:t>directness / locality</a:t>
            </a:r>
          </a:p>
        </p:txBody>
      </p:sp>
      <p:sp>
        <p:nvSpPr>
          <p:cNvPr id="140" name="TpsBox"/>
          <p:cNvSpPr/>
          <p:nvPr/>
        </p:nvSpPr>
        <p:spPr>
          <a:xfrm>
            <a:off x="274320" y="5030000"/>
            <a:ext cx="8595360" cy="620000"/>
          </a:xfrm>
          <a:prstGeom prst="rect">
            <a:avLst/>
          </a:prstGeom>
          <a:solidFill>
            <a:srgbClr val="FBF8F2"/>
          </a:solidFill>
          <a:ln w="15875">
            <a:solidFill>
              <a:srgbClr val="8E6F3E"/>
            </a:solidFill>
          </a:ln>
        </p:spPr>
        <p:txBody>
          <a:bodyPr wrap="square" lIns="2200000" tIns="45720" rIns="91440" bIns="45720" anchor="ctr"/>
          <a:lstStyle/>
          <a:p>
            <a:pPr algn="l">
              <a:buNone/>
            </a:pPr>
            <a:r>
              <a:rPr lang="en-US" sz="1400" b="0" i="0" dirty="0">
                <a:solidFill>
                  <a:srgbClr val="5C4826"/>
                </a:solidFill>
              </a:rPr>
              <a:t>Pick one row: which measurable consequence would you check — and what result would change your answer?</a:t>
            </a:r>
          </a:p>
        </p:txBody>
      </p:sp>
      <p:sp>
        <p:nvSpPr>
          <p:cNvPr id="141" name="TpsChip"/>
          <p:cNvSpPr/>
          <p:nvPr/>
        </p:nvSpPr>
        <p:spPr>
          <a:xfrm>
            <a:off x="440000" y="5175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sz="1800" b="1" i="0">
                <a:solidFill>
                  <a:srgbClr val="FFFFFF"/>
                </a:solidFill>
              </a:rPr>
              <a:t>Design is not choosing the “good” side.</a:t>
            </a:r>
          </a:p>
          <a:p>
            <a:pPr algn="ctr"/>
            <a:r>
              <a:rPr sz="1800" b="1" i="0">
                <a:solidFill>
                  <a:srgbClr val="FFFFFF"/>
                </a:solidFill>
              </a:rPr>
              <a:t>It is choosing which consequences fit the problem.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sp>
      <p:sp>
        <p:nvSpPr>
          <p:cNvPr id="103" name="PipeV"/>
          <p:cNvSpPr/>
          <p:nvPr/>
        </p:nvSpPr>
        <p:spPr>
          <a:xfrm>
            <a:off x="1150000" y="2450000"/>
            <a:ext cx="220000" cy="800000"/>
          </a:xfrm>
          <a:prstGeom prst="rect">
            <a:avLst/>
          </a:prstGeom>
          <a:solidFill>
            <a:srgbClr val="C0392B"/>
          </a:solidFill>
          <a:ln>
            <a:noFill/>
          </a:ln>
        </p:spPr>
      </p:sp>
      <p:sp>
        <p:nvSpPr>
          <p:cNvPr id="104" name="PipeH"/>
          <p:cNvSpPr/>
          <p:nvPr/>
        </p:nvSpPr>
        <p:spPr>
          <a:xfrm>
            <a:off x="1150000" y="3030000"/>
            <a:ext cx="1050000" cy="220000"/>
          </a:xfrm>
          <a:prstGeom prst="rect">
            <a:avLst/>
          </a:prstGeom>
          <a:solidFill>
            <a:srgbClr val="C0392B"/>
          </a:solidFill>
          <a:ln>
            <a:noFill/>
          </a:ln>
        </p:spPr>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2930000"/>
              <a:ext cx="0" cy="87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evidence about the inherited organization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0"/>
                                        </p:tgtEl>
                                        <p:attrNameLst>
                                          <p:attrName>style.visibility</p:attrName>
                                        </p:attrNameLst>
                                      </p:cBhvr>
                                      <p:to>
                                        <p:strVal val="visible"/>
                                      </p:to>
                                    </p:set>
                                    <p:animEffect transition="in" filter="fade">
                                      <p:cBhvr>
                                        <p:cTn id="17"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P spid="106" grpId="4"/>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Consequential discoveries move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1019940"/>
            <a:ext cx="8589704" cy="494999"/>
          </a:xfrm>
          <a:prstGeom prst="rect">
            <a:avLst/>
          </a:prstGeom>
          <a:noFill/>
          <a:ln>
            <a:noFill/>
          </a:ln>
        </p:spPr>
        <p:txBody>
          <a:bodyPr wrap="square" lIns="0" tIns="0" rIns="0" bIns="0" anchor="t"/>
          <a:lstStyle/>
          <a:p>
            <a:pPr algn="ctr">
              <a:buNone/>
            </a:pPr>
            <a:r>
              <a:rPr lang="en-US" sz="2400" b="1" i="0" dirty="0">
                <a:solidFill>
                  <a:srgbClr val="8E6F3E"/>
                </a:solidFill>
              </a:rPr>
              <a:t>SLOW</a:t>
            </a:r>
          </a:p>
        </p:txBody>
      </p:sp>
      <p:sp>
        <p:nvSpPr>
          <p:cNvPr id="101" name="S101"/>
          <p:cNvSpPr/>
          <p:nvPr/>
        </p:nvSpPr>
        <p:spPr>
          <a:xfrm>
            <a:off x="274320" y="1589939"/>
            <a:ext cx="8595360"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50" b="0" i="0" dirty="0">
                <a:solidFill>
                  <a:srgbClr val="000000"/>
                </a:solidFill>
              </a:rPr>
              <a:t>FAIL A → fix → local        FAIL B → fix → local        FAIL C → fix → local</a:t>
            </a:r>
          </a:p>
          <a:p>
            <a:pPr algn="ctr">
              <a:spcBef>
                <a:spcPts val="120"/>
              </a:spcBef>
              <a:buNone/>
            </a:pPr>
            <a:r>
              <a:rPr lang="en-US" sz="1700" b="0" i="1" dirty="0">
                <a:solidFill>
                  <a:srgbClr val="555960"/>
                </a:solidFill>
              </a:rPr>
              <a:t>weeks apart · each looks like an isolated incident</a:t>
            </a:r>
          </a:p>
        </p:txBody>
      </p:sp>
      <p:sp>
        <p:nvSpPr>
          <p:cNvPr id="102" name="Label"/>
          <p:cNvSpPr txBox="1"/>
          <p:nvPr/>
        </p:nvSpPr>
        <p:spPr>
          <a:xfrm>
            <a:off x="277147" y="3269940"/>
            <a:ext cx="8589704" cy="494999"/>
          </a:xfrm>
          <a:prstGeom prst="rect">
            <a:avLst/>
          </a:prstGeom>
          <a:noFill/>
          <a:ln>
            <a:noFill/>
          </a:ln>
        </p:spPr>
        <p:txBody>
          <a:bodyPr wrap="square" lIns="0" tIns="0" rIns="0" bIns="0" anchor="t"/>
          <a:lstStyle/>
          <a:p>
            <a:pPr algn="ctr">
              <a:buNone/>
            </a:pPr>
            <a:r>
              <a:rPr lang="en-US" sz="2400" b="1" i="0" dirty="0">
                <a:solidFill>
                  <a:srgbClr val="8E6F3E"/>
                </a:solidFill>
              </a:rPr>
              <a:t>DENSE</a:t>
            </a:r>
          </a:p>
        </p:txBody>
      </p:sp>
      <p:sp>
        <p:nvSpPr>
          <p:cNvPr id="103" name="S103"/>
          <p:cNvSpPr/>
          <p:nvPr/>
        </p:nvSpPr>
        <p:spPr>
          <a:xfrm>
            <a:off x="274320" y="3839940"/>
            <a:ext cx="8595360" cy="18000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200" b="0" i="0" dirty="0">
                <a:solidFill>
                  <a:srgbClr val="000000"/>
                </a:solidFill>
              </a:rPr>
              <a:t>A   B   C     ·   in dense succession</a:t>
            </a:r>
          </a:p>
          <a:p>
            <a:pPr algn="ctr">
              <a:spcBef>
                <a:spcPts val="120"/>
              </a:spcBef>
              <a:buNone/>
            </a:pPr>
            <a:r>
              <a:rPr lang="en-US" sz="2400" b="1" i="0" dirty="0">
                <a:solidFill>
                  <a:srgbClr val="5C4826"/>
                </a:solidFill>
              </a:rPr>
              <a:t>RELATED?</a:t>
            </a:r>
          </a:p>
          <a:p>
            <a:pPr algn="ctr">
              <a:spcBef>
                <a:spcPts val="100"/>
              </a:spcBef>
              <a:buNone/>
            </a:pPr>
            <a:r>
              <a:rPr lang="en-US" sz="2200" b="1" i="0" dirty="0">
                <a:solidFill>
                  <a:srgbClr val="8E6F3E"/>
                </a:solidFill>
              </a:rPr>
              <a:t>↓  STRUCTURAL CAUSE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Temporal compression can turn incidents into evidence of structure.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4"/>
                                        </p:tgtEl>
                                        <p:attrNameLst>
                                          <p:attrName>style.visibility</p:attrName>
                                        </p:attrNameLst>
                                      </p:cBhvr>
                                      <p:to>
                                        <p:strVal val="visible"/>
                                      </p:to>
                                    </p:set>
                                    <p:animEffect transition="in" filter="fade">
                                      <p:cBhvr>
                                        <p:cTn id="15"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Lst>
  </p:timing>
</p:sld>
</file>

<file path=ppt/slides/slide2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MAGE Moment: Cheap code, costly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cxnSp>
        <p:nvCxnSpPr>
          <p:cNvPr id="601" name="FHArrow"/>
          <p:cNvCxnSpPr/>
          <p:nvPr/>
        </p:nvCxnSpPr>
        <p:spPr>
          <a:xfrm flipV="1">
            <a:off x="1280160" y="3108960"/>
            <a:ext cx="274320" cy="1024127"/>
          </a:xfrm>
          <a:prstGeom prst="straightConnector1">
            <a:avLst/>
          </a:prstGeom>
          <a:ln w="31750">
            <a:solidFill>
              <a:srgbClr val="8E6F3E"/>
            </a:solidFill>
            <a:tailEnd type="triangle" w="med" len="med"/>
          </a:ln>
        </p:spPr>
      </p:cxnSp>
      <p:cxnSp>
        <p:nvCxnSpPr>
          <p:cNvPr id="602" name="FHArrow"/>
          <p:cNvCxnSpPr/>
          <p:nvPr/>
        </p:nvCxnSpPr>
        <p:spPr>
          <a:xfrm flipV="1">
            <a:off x="2167128" y="3108960"/>
            <a:ext cx="27431" cy="1024127"/>
          </a:xfrm>
          <a:prstGeom prst="straightConnector1">
            <a:avLst/>
          </a:prstGeom>
          <a:ln w="31750">
            <a:solidFill>
              <a:srgbClr val="8E6F3E"/>
            </a:solidFill>
            <a:tailEnd type="triangle" w="med" len="med"/>
          </a:ln>
        </p:spPr>
      </p:cxnSp>
      <p:cxnSp>
        <p:nvCxnSpPr>
          <p:cNvPr id="603" name="FHArrow"/>
          <p:cNvCxnSpPr/>
          <p:nvPr/>
        </p:nvCxnSpPr>
        <p:spPr>
          <a:xfrm flipH="1" flipV="1">
            <a:off x="2834640" y="3108960"/>
            <a:ext cx="219455" cy="1024127"/>
          </a:xfrm>
          <a:prstGeom prst="straightConnector1">
            <a:avLst/>
          </a:prstGeom>
          <a:ln w="31750">
            <a:solidFill>
              <a:srgbClr val="8E6F3E"/>
            </a:solidFill>
            <a:tailEnd type="triangle" w="med" len="med"/>
          </a:ln>
        </p:spPr>
      </p:cxnSp>
      <p:cxnSp>
        <p:nvCxnSpPr>
          <p:cNvPr id="604" name="FHArrow"/>
          <p:cNvCxnSpPr/>
          <p:nvPr/>
        </p:nvCxnSpPr>
        <p:spPr>
          <a:xfrm flipH="1" flipV="1">
            <a:off x="3474720" y="3108960"/>
            <a:ext cx="466344" cy="1024127"/>
          </a:xfrm>
          <a:prstGeom prst="straightConnector1">
            <a:avLst/>
          </a:prstGeom>
          <a:ln w="31750">
            <a:solidFill>
              <a:srgbClr val="8E6F3E"/>
            </a:solidFill>
            <a:tailEnd type="triangle" w="med" len="med"/>
          </a:ln>
        </p:spPr>
      </p:cxnSp>
      <p:cxnSp>
        <p:nvCxnSpPr>
          <p:cNvPr id="605" name="FHArrow"/>
          <p:cNvCxnSpPr/>
          <p:nvPr/>
        </p:nvCxnSpPr>
        <p:spPr>
          <a:xfrm flipH="1" flipV="1">
            <a:off x="4114800" y="3108960"/>
            <a:ext cx="713232" cy="1024127"/>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The architect cannot review the firehose</a:t>
            </a:r>
          </a:p>
          <a:p>
            <a:pPr algn="l"/>
            <a:r>
              <a:rPr sz="15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But the firehose contains information</a:t>
            </a:r>
          </a:p>
          <a:p>
            <a:pPr algn="l"/>
            <a:r>
              <a:rPr sz="1500" b="0" i="0">
                <a:solidFill>
                  <a:srgbClr val="000000"/>
                </a:solidFill>
              </a:rPr>
              <a:t>Related failures become visible close enough together to reveal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Judgment converts the signal into leverage</a:t>
            </a:r>
          </a:p>
          <a:p>
            <a:pPr algn="l"/>
            <a:r>
              <a:rPr sz="15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16749"/>
            <a:ext cx="4070000" cy="16330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1900" b="1" i="0" dirty="0">
                <a:solidFill>
                  <a:srgbClr val="8E6F3E"/>
                </a:solidFill>
              </a:rPr>
              <a:t>Responsibility</a:t>
            </a:r>
          </a:p>
          <a:p>
            <a:pPr algn="l">
              <a:spcBef>
                <a:spcPts val="100"/>
              </a:spcBef>
              <a:buNone/>
            </a:pPr>
            <a:r>
              <a:rPr lang="en-US" sz="1900" b="0" i="0" dirty="0">
                <a:solidFill>
                  <a:srgbClr val="000000"/>
                </a:solidFill>
              </a:rPr>
              <a:t>Produce advice from the validated nightly summary and illness model.</a:t>
            </a:r>
          </a:p>
        </p:txBody>
      </p:sp>
      <p:sp>
        <p:nvSpPr>
          <p:cNvPr id="101" name="S101"/>
          <p:cNvSpPr/>
          <p:nvPr/>
        </p:nvSpPr>
        <p:spPr>
          <a:xfrm>
            <a:off x="4761200" y="1016749"/>
            <a:ext cx="4070000" cy="16330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1900" b="1" i="0" dirty="0">
                <a:solidFill>
                  <a:srgbClr val="8E6F3E"/>
                </a:solidFill>
              </a:rPr>
              <a:t>Interface</a:t>
            </a:r>
          </a:p>
          <a:p>
            <a:pPr algn="l">
              <a:spcBef>
                <a:spcPts val="100"/>
              </a:spcBef>
              <a:buNone/>
            </a:pPr>
            <a:r>
              <a:rPr lang="en-US" sz="1900" b="0" i="0" dirty="0">
                <a:solidFill>
                  <a:srgbClr val="000000"/>
                </a:solidFill>
              </a:rPr>
              <a:t>generateAdvice(summary, modelVersion)</a:t>
            </a:r>
            <a:br/>
            <a:r>
              <a:rPr lang="en-US" sz="1900" b="0" i="0" dirty="0">
                <a:solidFill>
                  <a:srgbClr val="000000"/>
                </a:solidFill>
              </a:rPr>
              <a:t>→ Advice</a:t>
            </a:r>
          </a:p>
        </p:txBody>
      </p:sp>
      <p:sp>
        <p:nvSpPr>
          <p:cNvPr id="102" name="S102"/>
          <p:cNvSpPr/>
          <p:nvPr/>
        </p:nvSpPr>
        <p:spPr>
          <a:xfrm>
            <a:off x="312799" y="2820149"/>
            <a:ext cx="4070000" cy="2485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1800" b="1" i="0" dirty="0">
                <a:solidFill>
                  <a:srgbClr val="8E6F3E"/>
                </a:solidFill>
              </a:rPr>
              <a:t>Inherited constraints</a:t>
            </a:r>
          </a:p>
          <a:p>
            <a:pPr algn="l">
              <a:spcBef>
                <a:spcPts val="100"/>
              </a:spcBef>
              <a:buNone/>
            </a:pPr>
            <a:r>
              <a:rPr lang="en-US" sz="1800" b="0" i="0" dirty="0">
                <a:solidFill>
                  <a:srgbClr val="000000"/>
                </a:solidFill>
              </a:rPr>
              <a:t>·  advice returned within 2 seconds</a:t>
            </a:r>
          </a:p>
          <a:p>
            <a:pPr algn="l">
              <a:spcBef>
                <a:spcPts val="80"/>
              </a:spcBef>
              <a:buNone/>
            </a:pPr>
            <a:r>
              <a:rPr lang="en-US" sz="1800" b="0" i="0" dirty="0">
                <a:solidFill>
                  <a:srgbClr val="000000"/>
                </a:solidFill>
              </a:rPr>
              <a:t>·  illness model expected to change independently</a:t>
            </a:r>
          </a:p>
          <a:p>
            <a:pPr algn="l">
              <a:spcBef>
                <a:spcPts val="80"/>
              </a:spcBef>
              <a:buNone/>
            </a:pPr>
            <a:r>
              <a:rPr lang="en-US" sz="1800" b="0" i="0" dirty="0">
                <a:solidFill>
                  <a:srgbClr val="000000"/>
                </a:solidFill>
              </a:rPr>
              <a:t>·  raw sleep data must not escape its boundary</a:t>
            </a:r>
          </a:p>
          <a:p>
            <a:pPr algn="l">
              <a:spcBef>
                <a:spcPts val="80"/>
              </a:spcBef>
              <a:buNone/>
            </a:pPr>
            <a:r>
              <a:rPr lang="en-US" sz="1800" b="0" i="0" dirty="0">
                <a:solidFill>
                  <a:srgbClr val="000000"/>
                </a:solidFill>
              </a:rPr>
              <a:t>·  sharing failure must not block local advice</a:t>
            </a:r>
          </a:p>
        </p:txBody>
      </p:sp>
      <p:sp>
        <p:nvSpPr>
          <p:cNvPr id="103" name="S103"/>
          <p:cNvSpPr/>
          <p:nvPr/>
        </p:nvSpPr>
        <p:spPr>
          <a:xfrm>
            <a:off x="4761200" y="2820149"/>
            <a:ext cx="4070000" cy="2485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1800" b="1" i="0" dirty="0">
                <a:solidFill>
                  <a:srgbClr val="8E6F3E"/>
                </a:solidFill>
              </a:rPr>
              <a:t>Engineering environment</a:t>
            </a:r>
          </a:p>
          <a:p>
            <a:pPr algn="l">
              <a:spcBef>
                <a:spcPts val="100"/>
              </a:spcBef>
              <a:buNone/>
            </a:pPr>
            <a:r>
              <a:rPr lang="en-US" sz="1800" b="0" i="0" dirty="0">
                <a:solidFill>
                  <a:srgbClr val="000000"/>
                </a:solidFill>
              </a:rPr>
              <a:t>·  dependencies supplied through interfaces</a:t>
            </a:r>
          </a:p>
          <a:p>
            <a:pPr algn="l">
              <a:spcBef>
                <a:spcPts val="80"/>
              </a:spcBef>
              <a:buNone/>
            </a:pPr>
            <a:r>
              <a:rPr lang="en-US" sz="1800" b="0" i="0" dirty="0">
                <a:solidFill>
                  <a:srgbClr val="000000"/>
                </a:solidFill>
              </a:rPr>
              <a:t>·  persistent state uses repository abstraction</a:t>
            </a:r>
          </a:p>
          <a:p>
            <a:pPr algn="l">
              <a:spcBef>
                <a:spcPts val="80"/>
              </a:spcBef>
              <a:buNone/>
            </a:pPr>
            <a:r>
              <a:rPr lang="en-US" sz="1800" b="0" i="0" dirty="0">
                <a:solidFill>
                  <a:srgbClr val="000000"/>
                </a:solidFill>
              </a:rPr>
              <a:t>·  background work uses standard queue / retry</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a:t>
            </a:r>
          </a:p>
        </p:txBody>
      </p:sp>
      <p:sp>
        <p:nvSpPr>
          <p:cNvPr id="107"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800" b="0" i="1" dirty="0">
                <a:solidFill>
                  <a:srgbClr val="000000"/>
                </a:solidFill>
              </a:rPr>
              <a:t>~3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69773"/>
            <a:ext cx="3764200" cy="7564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DESIGN A</a:t>
            </a:r>
          </a:p>
        </p:txBody>
      </p:sp>
      <p:sp>
        <p:nvSpPr>
          <p:cNvPr id="101" name="S101"/>
          <p:cNvSpPr/>
          <p:nvPr/>
        </p:nvSpPr>
        <p:spPr>
          <a:xfrm>
            <a:off x="312799" y="1899373"/>
            <a:ext cx="3764200" cy="26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4627000" y="1069773"/>
            <a:ext cx="3764200" cy="7564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DESIGN B</a:t>
            </a:r>
          </a:p>
        </p:txBody>
      </p:sp>
      <p:sp>
        <p:nvSpPr>
          <p:cNvPr id="103" name="S103"/>
          <p:cNvSpPr/>
          <p:nvPr/>
        </p:nvSpPr>
        <p:spPr>
          <a:xfrm>
            <a:off x="4627000" y="1899373"/>
            <a:ext cx="3764200" cy="26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320040" y="4681728"/>
            <a:ext cx="8065008" cy="96012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1900" b="1" i="0" dirty="0">
                <a:solidFill>
                  <a:srgbClr val="8E6F3E"/>
                </a:solidFill>
              </a:rPr>
              <a:t>Require:</a:t>
            </a:r>
          </a:p>
          <a:p>
            <a:pPr algn="l">
              <a:spcBef>
                <a:spcPts val="100"/>
              </a:spcBef>
              <a:buNone/>
            </a:pPr>
            <a:r>
              <a:rPr lang="en-US" sz="1800" b="0" i="0" dirty="0">
                <a:solidFill>
                  <a:srgbClr val="000000"/>
                </a:solidFill>
              </a:rPr>
              <a:t>internal parts / responsibilities  ·  key interactions / state</a:t>
            </a:r>
            <a:br/>
            <a:r>
              <a:rPr lang="en-US" sz="1800" b="0" i="0" dirty="0">
                <a:solidFill>
                  <a:srgbClr val="000000"/>
                </a:solidFill>
              </a:rPr>
              <a:t>the consequential difference  ·  the measurement that would decide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sz="1800" b="1" i="0">
                <a:solidFill>
                  <a:srgbClr val="FFFFFF"/>
                </a:solidFill>
              </a:rPr>
              <a:t>Two genuinely different mechanisms. Both must respect what you inherited.</a:t>
            </a:r>
          </a:p>
          <a:p>
            <a:pPr algn="ctr"/>
            <a:r>
              <a:rPr sz="1800" b="1" i="0">
                <a:solidFill>
                  <a:srgbClr val="FFFFFF"/>
                </a:solidFill>
              </a:rPr>
              <a:t>Do not converge yet.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900000" y="1052649"/>
            <a:ext cx="7344000" cy="6784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Does it satisfy the relevant Specification?</a:t>
            </a:r>
          </a:p>
        </p:txBody>
      </p:sp>
      <p:sp>
        <p:nvSpPr>
          <p:cNvPr id="101" name="S101"/>
          <p:cNvSpPr/>
          <p:nvPr/>
        </p:nvSpPr>
        <p:spPr>
          <a:xfrm>
            <a:off x="900000" y="1858249"/>
            <a:ext cx="7344000" cy="6784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Does it respect the Architecture?</a:t>
            </a:r>
          </a:p>
        </p:txBody>
      </p:sp>
      <p:sp>
        <p:nvSpPr>
          <p:cNvPr id="102" name="S102"/>
          <p:cNvSpPr/>
          <p:nvPr/>
        </p:nvSpPr>
        <p:spPr>
          <a:xfrm>
            <a:off x="900000" y="2663849"/>
            <a:ext cx="7344000" cy="6784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Does it use the Engineering Environment appropriately?</a:t>
            </a:r>
          </a:p>
        </p:txBody>
      </p:sp>
      <p:sp>
        <p:nvSpPr>
          <p:cNvPr id="103" name="S103"/>
          <p:cNvSpPr/>
          <p:nvPr/>
        </p:nvSpPr>
        <p:spPr>
          <a:xfrm>
            <a:off x="900000" y="3469449"/>
            <a:ext cx="7344000" cy="6784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What genuine tradeoff distinguishes the alternatives?</a:t>
            </a:r>
          </a:p>
        </p:txBody>
      </p:sp>
      <p:sp>
        <p:nvSpPr>
          <p:cNvPr id="104" name="S104"/>
          <p:cNvSpPr/>
          <p:nvPr/>
        </p:nvSpPr>
        <p:spPr>
          <a:xfrm>
            <a:off x="900000" y="4275049"/>
            <a:ext cx="7344000" cy="6784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What does your model establish?</a:t>
            </a:r>
          </a:p>
        </p:txBody>
      </p:sp>
      <p:sp>
        <p:nvSpPr>
          <p:cNvPr id="105" name="S105"/>
          <p:cNvSpPr/>
          <p:nvPr/>
        </p:nvSpPr>
        <p:spPr>
          <a:xfrm>
            <a:off x="900000" y="5080649"/>
            <a:ext cx="7344000" cy="6784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8E6F3E"/>
                </a:solidFill>
              </a:rPr>
              <a:t xml:space="preserve">✓   </a:t>
            </a:r>
            <a:r>
              <a:rPr lang="en-US" sz="2100" b="0" i="0" dirty="0">
                <a:solidFill>
                  <a:srgbClr val="000000"/>
                </a:solidFill>
              </a:rPr>
              <a:t>Did Design reveal anything that should be escalated?</a:t>
            </a:r>
          </a:p>
        </p:txBody>
      </p:sp>
      <p:sp>
        <p:nvSpPr>
          <p:cNvPr id="106" name="FooterItalic"/>
          <p:cNvSpPr txBox="1"/>
          <p:nvPr/>
        </p:nvSpPr>
        <p:spPr>
          <a:xfrm>
            <a:off x="274320" y="5916168"/>
            <a:ext cx="8595360" cy="457200"/>
          </a:xfrm>
          <a:prstGeom prst="rect">
            <a:avLst/>
          </a:prstGeom>
          <a:noFill/>
          <a:ln>
            <a:noFill/>
          </a:ln>
        </p:spPr>
        <p:txBody>
          <a:bodyPr wrap="square" lIns="0" tIns="0" rIns="0" bIns="0" anchor="t"/>
          <a:lstStyle/>
          <a:p>
            <a:pPr algn="ctr">
              <a:buNone/>
            </a:pPr>
            <a:r>
              <a:rPr lang="en-US" sz="1800" b="0" i="1" dirty="0">
                <a:solidFill>
                  <a:srgbClr val="000000"/>
                </a:solidFill>
              </a:rPr>
              <a:t>~6 minutes including selected shares.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422000" y="10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1" name="L101"/>
          <p:cNvCxnSpPr/>
          <p:nvPr/>
        </p:nvCxnSpPr>
        <p:spPr>
          <a:xfrm>
            <a:off x="4572000" y="1750000"/>
            <a:ext cx="0" cy="500000"/>
          </a:xfrm>
          <a:prstGeom prst="straightConnector1">
            <a:avLst/>
          </a:prstGeom>
          <a:ln w="38100">
            <a:solidFill>
              <a:srgbClr val="8E6F3E"/>
            </a:solidFill>
            <a:tailEnd type="triangle" w="med" len="med"/>
          </a:ln>
        </p:spPr>
      </p:cxnSp>
      <p:sp>
        <p:nvSpPr>
          <p:cNvPr id="102" name="S102"/>
          <p:cNvSpPr/>
          <p:nvPr/>
        </p:nvSpPr>
        <p:spPr>
          <a:xfrm>
            <a:off x="2422000" y="22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3" name="L103"/>
          <p:cNvCxnSpPr/>
          <p:nvPr/>
        </p:nvCxnSpPr>
        <p:spPr>
          <a:xfrm>
            <a:off x="4572000" y="2950000"/>
            <a:ext cx="0" cy="500000"/>
          </a:xfrm>
          <a:prstGeom prst="straightConnector1">
            <a:avLst/>
          </a:prstGeom>
          <a:ln w="38100">
            <a:solidFill>
              <a:srgbClr val="8E6F3E"/>
            </a:solidFill>
            <a:tailEnd type="triangle" w="med" len="med"/>
          </a:ln>
        </p:spPr>
      </p:cxnSp>
      <p:sp>
        <p:nvSpPr>
          <p:cNvPr id="104" name="S104"/>
          <p:cNvSpPr/>
          <p:nvPr/>
        </p:nvSpPr>
        <p:spPr>
          <a:xfrm>
            <a:off x="2422000" y="34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5" name="L105"/>
          <p:cNvCxnSpPr/>
          <p:nvPr/>
        </p:nvCxnSpPr>
        <p:spPr>
          <a:xfrm>
            <a:off x="4572000" y="4150000"/>
            <a:ext cx="0" cy="500000"/>
          </a:xfrm>
          <a:prstGeom prst="straightConnector1">
            <a:avLst/>
          </a:prstGeom>
          <a:ln w="38100">
            <a:solidFill>
              <a:srgbClr val="8E6F3E"/>
            </a:solidFill>
            <a:tailEnd type="triangle" w="med" len="med"/>
          </a:ln>
        </p:spPr>
      </p:cxnSp>
      <p:sp>
        <p:nvSpPr>
          <p:cNvPr id="106" name="S106"/>
          <p:cNvSpPr/>
          <p:nvPr/>
        </p:nvSpPr>
        <p:spPr>
          <a:xfrm>
            <a:off x="2422000" y="46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07" name="ConstraintsArrow"/>
          <p:cNvCxnSpPr/>
          <p:nvPr/>
        </p:nvCxnSpPr>
        <p:spPr>
          <a:xfrm>
            <a:off x="1900000" y="1050000"/>
            <a:ext cx="0" cy="4300000"/>
          </a:xfrm>
          <a:prstGeom prst="straightConnector1">
            <a:avLst/>
          </a:prstGeom>
          <a:ln w="25400">
            <a:solidFill>
              <a:srgbClr val="8E6F3E"/>
            </a:solidFill>
            <a:tailEnd type="triangle" w="med" len="med"/>
          </a:ln>
        </p:spPr>
      </p:cxnSp>
      <p:sp>
        <p:nvSpPr>
          <p:cNvPr id="108" name="ConstraintsLbl"/>
          <p:cNvSpPr txBox="1"/>
          <p:nvPr/>
        </p:nvSpPr>
        <p:spPr>
          <a:xfrm>
            <a:off x="350000" y="2950000"/>
            <a:ext cx="1450000" cy="350000"/>
          </a:xfrm>
          <a:prstGeom prst="rect">
            <a:avLst/>
          </a:prstGeom>
          <a:noFill/>
          <a:ln>
            <a:noFill/>
          </a:ln>
        </p:spPr>
        <p:txBody>
          <a:bodyPr wrap="square" lIns="0" tIns="0" rIns="0" bIns="0" anchor="t"/>
          <a:lstStyle/>
          <a:p>
            <a:pPr algn="r">
              <a:buNone/>
            </a:pPr>
            <a:r>
              <a:rPr lang="en-US" sz="1450" b="1" i="1" dirty="0">
                <a:solidFill>
                  <a:srgbClr val="8E6F3E"/>
                </a:solidFill>
              </a:rPr>
              <a:t>constraints ↓</a:t>
            </a:r>
          </a:p>
        </p:txBody>
      </p:sp>
      <p:cxnSp>
        <p:nvCxnSpPr>
          <p:cNvPr id="109" name="EvidenceArrow"/>
          <p:cNvCxnSpPr/>
          <p:nvPr/>
        </p:nvCxnSpPr>
        <p:spPr>
          <a:xfrm flipV="1">
            <a:off x="7244000" y="1050000"/>
            <a:ext cx="0" cy="4300000"/>
          </a:xfrm>
          <a:prstGeom prst="straightConnector1">
            <a:avLst/>
          </a:prstGeom>
          <a:ln w="25400">
            <a:solidFill>
              <a:srgbClr val="8E6F3E"/>
            </a:solidFill>
            <a:tailEnd type="triangle" w="med" len="med"/>
          </a:ln>
        </p:spPr>
      </p:cxnSp>
      <p:sp>
        <p:nvSpPr>
          <p:cNvPr id="110" name="EvidenceLbl"/>
          <p:cNvSpPr txBox="1"/>
          <p:nvPr/>
        </p:nvSpPr>
        <p:spPr>
          <a:xfrm>
            <a:off x="7360000" y="2600000"/>
            <a:ext cx="1500000" cy="35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1" name="SideAnnotation"/>
          <p:cNvSpPr txBox="1"/>
          <p:nvPr/>
        </p:nvSpPr>
        <p:spPr>
          <a:xfrm>
            <a:off x="7360000" y="3050000"/>
            <a:ext cx="1550000" cy="1500000"/>
          </a:xfrm>
          <a:prstGeom prst="rect">
            <a:avLst/>
          </a:prstGeom>
          <a:noFill/>
          <a:ln>
            <a:noFill/>
          </a:ln>
        </p:spPr>
        <p:txBody>
          <a:bodyPr wrap="square" lIns="0" tIns="0" rIns="0" bIns="0" anchor="t"/>
          <a:lstStyle/>
          <a:p>
            <a:pPr algn="l">
              <a:buNone/>
            </a:pPr>
            <a:r>
              <a:rPr lang="en-US" sz="1150" b="0" i="1" dirty="0">
                <a:solidFill>
                  <a:srgbClr val="555960"/>
                </a:solidFill>
              </a:rPr>
              <a:t>evidence may revise Design, Architecture, the Engineering Environment, or Specification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decides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fontScale="90000"/>
          </a:bodyPr>
          <a:lstStyle/>
          <a:p>
            <a:pPr algn="ctr">
              <a:buNone/>
              <a:defRPr b="0"/>
            </a:pPr>
            <a:r>
              <a:rPr lang="en-US" sz="3200" b="0" i="0" dirty="0">
                <a:solidFill>
                  <a:srgbClr val="000000"/>
                </a:solidFill>
              </a:rPr>
              <a:t>Can a system of correct components still fail to satisfy its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720000"/>
            <a:ext cx="2286000" cy="50800"/>
          </a:xfrm>
          <a:prstGeom prst="rect">
            <a:avLst/>
          </a:prstGeom>
          <a:solidFill>
            <a:srgbClr val="8E6F3E"/>
          </a:solidFill>
          <a:ln>
            <a:noFill/>
          </a:ln>
        </p:spPr>
        <p:txBody>
          <a:bodyPr wrap="square" lIns="91440" tIns="45720" rIns="91440" bIns="45720" anchor="ctr"/>
          <a:lstStyle/>
          <a:p>
            <a:endParaRPr/>
          </a:p>
        </p:txBody>
      </p:sp>
      <p:sp>
        <p:nvSpPr>
          <p:cNvPr id="102" name="AssumeLine"/>
          <p:cNvSpPr txBox="1"/>
          <p:nvPr/>
        </p:nvSpPr>
        <p:spPr>
          <a:xfrm>
            <a:off x="685800" y="3960000"/>
            <a:ext cx="7772400" cy="420000"/>
          </a:xfrm>
          <a:prstGeom prst="rect">
            <a:avLst/>
          </a:prstGeom>
          <a:noFill/>
          <a:ln>
            <a:noFill/>
          </a:ln>
        </p:spPr>
        <p:txBody>
          <a:bodyPr wrap="square" lIns="0" tIns="0" rIns="0" bIns="0" anchor="t"/>
          <a:lstStyle/>
          <a:p>
            <a:pPr algn="ctr">
              <a:buNone/>
            </a:pPr>
            <a:r>
              <a:rPr lang="en-US" sz="2000" b="0" i="1" dirty="0">
                <a:solidFill>
                  <a:srgbClr val="555960"/>
                </a:solidFill>
              </a:rPr>
              <a:t>Assume every component correctly fulfills its local responsibility.</a:t>
            </a:r>
          </a:p>
        </p:txBody>
      </p:sp>
      <p:sp>
        <p:nvSpPr>
          <p:cNvPr id="103" name="TpsChip"/>
          <p:cNvSpPr/>
          <p:nvPr/>
        </p:nvSpPr>
        <p:spPr>
          <a:xfrm>
            <a:off x="3582000" y="462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TaskLine"/>
          <p:cNvSpPr txBox="1"/>
          <p:nvPr/>
        </p:nvSpPr>
        <p:spPr>
          <a:xfrm>
            <a:off x="685800" y="5150000"/>
            <a:ext cx="7772400" cy="700000"/>
          </a:xfrm>
          <a:prstGeom prst="rect">
            <a:avLst/>
          </a:prstGeom>
          <a:noFill/>
          <a:ln>
            <a:noFill/>
          </a:ln>
        </p:spPr>
        <p:txBody>
          <a:bodyPr wrap="square" lIns="0" tIns="0" rIns="0" bIns="0" anchor="t"/>
          <a:lstStyle/>
          <a:p>
            <a:pPr algn="ctr">
              <a:buNone/>
            </a:pPr>
            <a:r>
              <a:rPr lang="en-US" sz="1800" b="0" i="0" dirty="0">
                <a:solidFill>
                  <a:srgbClr val="5C4826"/>
                </a:solidFill>
              </a:rPr>
              <a:t>Yes or no? Construct an example or argument.</a:t>
            </a:r>
          </a:p>
          <a:p>
            <a:pPr algn="ctr">
              <a:spcBef>
                <a:spcPts val="80"/>
              </a:spcBef>
              <a:buNone/>
            </a:pPr>
            <a:r>
              <a:rPr lang="en-US" sz="1300" b="0" i="1" dirty="0">
                <a:solidFill>
                  <a:srgbClr val="555960"/>
                </a:solidFill>
              </a:rPr>
              <a:t>~2 minutes.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decides which consequence matters. Here: peak memory.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8DFC9"/>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 xml:space="preserve">Claim: </a:t>
              </a:r>
              <a:r>
                <a:rPr lang="en-US" sz="1250" b="0" i="0" dirty="0">
                  <a:solidFill>
                    <a:srgbClr val="555960"/>
                  </a:solidFill>
                </a:rPr>
                <a:t>“the model provider changes independently”</a:t>
              </a:r>
            </a:p>
            <a:p>
              <a:pPr algn="l">
                <a:buNone/>
              </a:pPr>
              <a:r>
                <a:rPr lang="en-US" sz="1250" b="1" i="0" dirty="0">
                  <a:solidFill>
                    <a:srgbClr val="555960"/>
                  </a:solidFill>
                </a:rPr>
                <a:t xml:space="preserve">Probe: </a:t>
              </a:r>
              <a:r>
                <a:rPr lang="en-US" sz="1250" b="0" i="0" dirty="0">
                  <a:solidFill>
                    <a:srgbClr val="555960"/>
                  </a:solidFill>
                </a:rPr>
                <a:t>replace the provider</a:t>
              </a:r>
            </a:p>
            <a:p>
              <a:pPr algn="l">
                <a:buNone/>
              </a:pPr>
              <a:r>
                <a:rPr lang="en-US" sz="1250" b="1" i="0" dirty="0">
                  <a:solidFill>
                    <a:srgbClr val="555960"/>
                  </a:solidFill>
                </a:rPr>
                <a:t xml:space="preserve">Observed: </a:t>
              </a:r>
              <a:r>
                <a:rPr lang="en-US" sz="1250" b="0" i="0" dirty="0">
                  <a:solidFill>
                    <a:srgbClr val="555960"/>
                  </a:solidFill>
                </a:rPr>
                <a:t>Advice + Storage + UI all change</a:t>
              </a:r>
            </a:p>
            <a:p>
              <a:pPr algn="l">
                <a:buNone/>
              </a:pPr>
              <a:r>
                <a:rPr lang="en-US" sz="1250" b="1" i="0" dirty="0">
                  <a:solidFill>
                    <a:srgbClr val="C0392B"/>
                  </a:solidFill>
                </a:rPr>
                <a:t xml:space="preserve">Verdict: </a:t>
              </a:r>
              <a:r>
                <a:rPr lang="en-US" sz="1250" b="0" i="0" dirty="0">
                  <a:solidFill>
                    <a:srgbClr val="C0392B"/>
                  </a:solidFill>
                </a:rPr>
                <a:t>the boundary is not localizing the change</a:t>
              </a:r>
            </a:p>
            <a:p>
              <a:pPr algn="l">
                <a:buNone/>
              </a:pPr>
              <a:r>
                <a:rPr lang="en-US" sz="800" b="0" i="0" dirty="0">
                  <a:solidFill>
                    <a:srgbClr val="555960"/>
                  </a:solidFill>
                </a:rPr>
                <a:t/>
              </a: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0"/>
                                        </p:tgtEl>
                                        <p:attrNameLst>
                                          <p:attrName>style.visibility</p:attrName>
                                        </p:attrNameLst>
                                      </p:cBhvr>
                                      <p:to>
                                        <p:strVal val="visible"/>
                                      </p:to>
                                    </p:set>
                                    <p:animEffect transition="in" filter="fade">
                                      <p:cBhvr>
                                        <p:cTn id="17" dur="500"/>
                                        <p:tgtEl>
                                          <p:spTgt spid="3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0"/>
                                        </p:tgtEl>
                                        <p:attrNameLst>
                                          <p:attrName>style.visibility</p:attrName>
                                        </p:attrNameLst>
                                      </p:cBhvr>
                                      <p:to>
                                        <p:strVal val="visible"/>
                                      </p:to>
                                    </p:set>
                                    <p:animEffect transition="in" filter="fade">
                                      <p:cBhvr>
                                        <p:cTn id="2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blL"/>
          <p:cNvSpPr txBox="1"/>
          <p:nvPr/>
        </p:nvSpPr>
        <p:spPr>
          <a:xfrm>
            <a:off x="312799" y="1000000"/>
            <a:ext cx="3960000" cy="480000"/>
          </a:xfrm>
          <a:prstGeom prst="rect">
            <a:avLst/>
          </a:prstGeom>
          <a:noFill/>
          <a:ln>
            <a:noFill/>
          </a:ln>
        </p:spPr>
        <p:txBody>
          <a:bodyPr wrap="square" lIns="0" tIns="0" rIns="0" bIns="0" anchor="ctr"/>
          <a:lstStyle/>
          <a:p>
            <a:pPr algn="ctr">
              <a:buNone/>
            </a:pPr>
            <a:r>
              <a:rPr lang="en-US" sz="1800" b="1" i="0" dirty="0">
                <a:solidFill>
                  <a:srgbClr val="8E6F3E"/>
                </a:solidFill>
              </a:rPr>
              <a:t>BUDGETS ACCUMULATE</a:t>
            </a:r>
          </a:p>
        </p:txBody>
      </p:sp>
      <p:sp>
        <p:nvSpPr>
          <p:cNvPr id="101" name="CardL"/>
          <p:cNvSpPr/>
          <p:nvPr/>
        </p:nvSpPr>
        <p:spPr>
          <a:xfrm>
            <a:off x="312799" y="1560000"/>
            <a:ext cx="3960000" cy="3800000"/>
          </a:xfrm>
          <a:prstGeom prst="rect">
            <a:avLst/>
          </a:prstGeom>
          <a:solidFill>
            <a:srgbClr val="F5F1E8"/>
          </a:solidFill>
          <a:ln w="12700">
            <a:solidFill>
              <a:srgbClr val="C9B991"/>
            </a:solidFill>
          </a:ln>
        </p:spPr>
      </p:sp>
      <p:sp>
        <p:nvSpPr>
          <p:cNvPr id="102" name="BudgetLbl"/>
          <p:cNvSpPr txBox="1"/>
          <p:nvPr/>
        </p:nvSpPr>
        <p:spPr>
          <a:xfrm>
            <a:off x="462799" y="1700000"/>
            <a:ext cx="3660000" cy="380000"/>
          </a:xfrm>
          <a:prstGeom prst="rect">
            <a:avLst/>
          </a:prstGeom>
          <a:noFill/>
          <a:ln>
            <a:noFill/>
          </a:ln>
        </p:spPr>
        <p:txBody>
          <a:bodyPr wrap="square" lIns="0" tIns="0" rIns="0" bIns="0" anchor="ctr"/>
          <a:lstStyle/>
          <a:p>
            <a:pPr algn="ctr">
              <a:buNone/>
            </a:pPr>
            <a:r>
              <a:rPr lang="en-US" sz="1500" b="1" i="0" dirty="0">
                <a:solidFill>
                  <a:srgbClr val="5C4826"/>
                </a:solidFill>
              </a:rPr>
              <a:t>end-to-end budget:  500 ms</a:t>
            </a:r>
          </a:p>
        </p:txBody>
      </p:sp>
      <p:sp>
        <p:nvSpPr>
          <p:cNvPr id="103" name="Ms0"/>
          <p:cNvSpPr/>
          <p:nvPr/>
        </p:nvSpPr>
        <p:spPr>
          <a:xfrm>
            <a:off x="61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000" b="1" i="0" dirty="0">
                <a:solidFill>
                  <a:srgbClr val="8E6F3E"/>
                </a:solidFill>
              </a:rPr>
              <a:t>A</a:t>
            </a:r>
          </a:p>
          <a:p>
            <a:pPr algn="ctr">
              <a:buNone/>
            </a:pPr>
            <a:r>
              <a:rPr lang="en-US" sz="1200" b="1" i="0" dirty="0">
                <a:solidFill>
                  <a:srgbClr val="5C4826"/>
                </a:solidFill>
              </a:rPr>
              <a:t>90 ✓</a:t>
            </a:r>
          </a:p>
        </p:txBody>
      </p:sp>
      <p:sp>
        <p:nvSpPr>
          <p:cNvPr id="104" name="Ms1"/>
          <p:cNvSpPr/>
          <p:nvPr/>
        </p:nvSpPr>
        <p:spPr>
          <a:xfrm>
            <a:off x="130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000" b="1" i="0" dirty="0">
                <a:solidFill>
                  <a:srgbClr val="8E6F3E"/>
                </a:solidFill>
              </a:rPr>
              <a:t>B</a:t>
            </a:r>
          </a:p>
          <a:p>
            <a:pPr algn="ctr">
              <a:buNone/>
            </a:pPr>
            <a:r>
              <a:rPr lang="en-US" sz="1200" b="1" i="0" dirty="0">
                <a:solidFill>
                  <a:srgbClr val="5C4826"/>
                </a:solidFill>
              </a:rPr>
              <a:t>80 ✓</a:t>
            </a:r>
          </a:p>
        </p:txBody>
      </p:sp>
      <p:sp>
        <p:nvSpPr>
          <p:cNvPr id="105" name="Ms2"/>
          <p:cNvSpPr/>
          <p:nvPr/>
        </p:nvSpPr>
        <p:spPr>
          <a:xfrm>
            <a:off x="199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000" b="1" i="0" dirty="0">
                <a:solidFill>
                  <a:srgbClr val="8E6F3E"/>
                </a:solidFill>
              </a:rPr>
              <a:t>C</a:t>
            </a:r>
          </a:p>
          <a:p>
            <a:pPr algn="ctr">
              <a:buNone/>
            </a:pPr>
            <a:r>
              <a:rPr lang="en-US" sz="1200" b="1" i="0" dirty="0">
                <a:solidFill>
                  <a:srgbClr val="5C4826"/>
                </a:solidFill>
              </a:rPr>
              <a:t>140 ✓</a:t>
            </a:r>
          </a:p>
        </p:txBody>
      </p:sp>
      <p:sp>
        <p:nvSpPr>
          <p:cNvPr id="106" name="Ms3"/>
          <p:cNvSpPr/>
          <p:nvPr/>
        </p:nvSpPr>
        <p:spPr>
          <a:xfrm>
            <a:off x="268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000" b="1" i="0" dirty="0">
                <a:solidFill>
                  <a:srgbClr val="8E6F3E"/>
                </a:solidFill>
              </a:rPr>
              <a:t>D</a:t>
            </a:r>
          </a:p>
          <a:p>
            <a:pPr algn="ctr">
              <a:buNone/>
            </a:pPr>
            <a:r>
              <a:rPr lang="en-US" sz="1200" b="1" i="0" dirty="0">
                <a:solidFill>
                  <a:srgbClr val="5C4826"/>
                </a:solidFill>
              </a:rPr>
              <a:t>110 ✓</a:t>
            </a:r>
          </a:p>
        </p:txBody>
      </p:sp>
      <p:sp>
        <p:nvSpPr>
          <p:cNvPr id="107" name="Ms4"/>
          <p:cNvSpPr/>
          <p:nvPr/>
        </p:nvSpPr>
        <p:spPr>
          <a:xfrm>
            <a:off x="3372799" y="2250000"/>
            <a:ext cx="600000" cy="450000"/>
          </a:xfrm>
          <a:prstGeom prst="rect">
            <a:avLst/>
          </a:prstGeom>
          <a:solidFill>
            <a:srgbClr val="FBF8F2"/>
          </a:solidFill>
          <a:ln w="12700">
            <a:solidFill>
              <a:srgbClr val="C9B991"/>
            </a:solidFill>
          </a:ln>
        </p:spPr>
        <p:txBody>
          <a:bodyPr wrap="square" lIns="0" tIns="0" rIns="0" bIns="0" anchor="ctr"/>
          <a:lstStyle/>
          <a:p>
            <a:pPr algn="ctr">
              <a:buNone/>
            </a:pPr>
            <a:r>
              <a:rPr lang="en-US" sz="1000" b="1" i="0" dirty="0">
                <a:solidFill>
                  <a:srgbClr val="8E6F3E"/>
                </a:solidFill>
              </a:rPr>
              <a:t>E</a:t>
            </a:r>
          </a:p>
          <a:p>
            <a:pPr algn="ctr">
              <a:buNone/>
            </a:pPr>
            <a:r>
              <a:rPr lang="en-US" sz="1200" b="1" i="0" dirty="0">
                <a:solidFill>
                  <a:srgbClr val="5C4826"/>
                </a:solidFill>
              </a:rPr>
              <a:t>100 ✓</a:t>
            </a:r>
          </a:p>
        </p:txBody>
      </p:sp>
      <p:sp>
        <p:nvSpPr>
          <p:cNvPr id="108" name="MsCaption"/>
          <p:cNvSpPr txBox="1"/>
          <p:nvPr/>
        </p:nvSpPr>
        <p:spPr>
          <a:xfrm>
            <a:off x="462799" y="2780000"/>
            <a:ext cx="3660000" cy="320000"/>
          </a:xfrm>
          <a:prstGeom prst="rect">
            <a:avLst/>
          </a:prstGeom>
          <a:noFill/>
          <a:ln>
            <a:noFill/>
          </a:ln>
        </p:spPr>
        <p:txBody>
          <a:bodyPr wrap="square" lIns="0" tIns="0" rIns="0" bIns="0" anchor="ctr"/>
          <a:lstStyle/>
          <a:p>
            <a:pPr algn="ctr">
              <a:buNone/>
            </a:pPr>
            <a:r>
              <a:rPr lang="en-US" sz="1200" b="0" i="1" dirty="0">
                <a:solidFill>
                  <a:srgbClr val="555960"/>
                </a:solidFill>
              </a:rPr>
              <a:t>five components, each locally reasonable (each ✓)</a:t>
            </a:r>
          </a:p>
        </p:txBody>
      </p:sp>
      <p:sp>
        <p:nvSpPr>
          <p:cNvPr id="109" name="Sum"/>
          <p:cNvSpPr txBox="1"/>
          <p:nvPr/>
        </p:nvSpPr>
        <p:spPr>
          <a:xfrm>
            <a:off x="462799" y="3250000"/>
            <a:ext cx="3660000" cy="450000"/>
          </a:xfrm>
          <a:prstGeom prst="rect">
            <a:avLst/>
          </a:prstGeom>
          <a:noFill/>
          <a:ln>
            <a:noFill/>
          </a:ln>
        </p:spPr>
        <p:txBody>
          <a:bodyPr wrap="square" lIns="0" tIns="0" rIns="0" bIns="0" anchor="ctr"/>
          <a:lstStyle/>
          <a:p>
            <a:pPr algn="ctr">
              <a:buNone/>
            </a:pPr>
            <a:r>
              <a:rPr lang="en-US" sz="1800" b="1" i="0" dirty="0">
                <a:solidFill>
                  <a:srgbClr val="C0392B"/>
                </a:solidFill>
              </a:rPr>
              <a:t>PATH = 520 ms  ✗</a:t>
            </a:r>
          </a:p>
        </p:txBody>
      </p:sp>
      <p:sp>
        <p:nvSpPr>
          <p:cNvPr id="111" name="MetricCalloutL"/>
          <p:cNvSpPr txBox="1"/>
          <p:nvPr/>
        </p:nvSpPr>
        <p:spPr>
          <a:xfrm>
            <a:off x="462799" y="3720000"/>
            <a:ext cx="3660000" cy="520000"/>
          </a:xfrm>
          <a:prstGeom prst="rect">
            <a:avLst/>
          </a:prstGeom>
          <a:noFill/>
          <a:ln>
            <a:noFill/>
          </a:ln>
        </p:spPr>
        <p:txBody>
          <a:bodyPr wrap="square" lIns="0" tIns="0" rIns="0" bIns="0" anchor="t"/>
          <a:lstStyle/>
          <a:p>
            <a:pPr algn="ctr">
              <a:buNone/>
            </a:pPr>
            <a:r>
              <a:rPr lang="en-US" sz="1100" b="1" i="0" dirty="0">
                <a:solidFill>
                  <a:srgbClr val="8E6F3E"/>
                </a:solidFill>
              </a:rPr>
              <a:t xml:space="preserve">local evidence: </a:t>
            </a:r>
            <a:r>
              <a:rPr lang="en-US" sz="1100" b="0" i="0" dirty="0">
                <a:solidFill>
                  <a:srgbClr val="555960"/>
                </a:solidFill>
              </a:rPr>
              <a:t>component latency</a:t>
            </a:r>
          </a:p>
          <a:p>
            <a:pPr algn="ctr">
              <a:spcBef>
                <a:spcPts val="40"/>
              </a:spcBef>
              <a:buNone/>
            </a:pPr>
            <a:r>
              <a:rPr lang="en-US" sz="1100" b="1" i="0" dirty="0">
                <a:solidFill>
                  <a:srgbClr val="8E6F3E"/>
                </a:solidFill>
              </a:rPr>
              <a:t xml:space="preserve">system claim: </a:t>
            </a:r>
            <a:r>
              <a:rPr lang="en-US" sz="1100" b="0" i="0" dirty="0">
                <a:solidFill>
                  <a:srgbClr val="555960"/>
                </a:solidFill>
              </a:rPr>
              <a:t>end-to-end latency</a:t>
            </a:r>
          </a:p>
        </p:txBody>
      </p:sp>
      <p:sp>
        <p:nvSpPr>
          <p:cNvPr id="110" name="VerdictL"/>
          <p:cNvSpPr txBox="1"/>
          <p:nvPr/>
        </p:nvSpPr>
        <p:spPr>
          <a:xfrm>
            <a:off x="462799" y="4300000"/>
            <a:ext cx="3660000" cy="800000"/>
          </a:xfrm>
          <a:prstGeom prst="rect">
            <a:avLst/>
          </a:prstGeom>
          <a:noFill/>
          <a:ln>
            <a:noFill/>
          </a:ln>
        </p:spPr>
        <p:txBody>
          <a:bodyPr wrap="square" lIns="0" tIns="0" rIns="0" bIns="0" anchor="t"/>
          <a:lstStyle/>
          <a:p>
            <a:pPr algn="ctr">
              <a:buNone/>
            </a:pPr>
            <a:r>
              <a:rPr lang="en-US" sz="1400" b="0" i="1" dirty="0">
                <a:solidFill>
                  <a:srgbClr val="5C4826"/>
                </a:solidFill>
              </a:rPr>
              <a:t>every component locally acceptable;</a:t>
            </a:r>
          </a:p>
          <a:p>
            <a:pPr algn="ctr">
              <a:buNone/>
            </a:pPr>
            <a:r>
              <a:rPr lang="en-US" sz="1400" b="1" i="1" dirty="0">
                <a:solidFill>
                  <a:srgbClr val="5C4826"/>
                </a:solidFill>
              </a:rPr>
              <a:t>the path is not</a:t>
            </a:r>
          </a:p>
        </p:txBody>
      </p:sp>
      <p:sp>
        <p:nvSpPr>
          <p:cNvPr id="120" name="LblR"/>
          <p:cNvSpPr txBox="1"/>
          <p:nvPr/>
        </p:nvSpPr>
        <p:spPr>
          <a:xfrm>
            <a:off x="4871200" y="1000000"/>
            <a:ext cx="3960000" cy="480000"/>
          </a:xfrm>
          <a:prstGeom prst="rect">
            <a:avLst/>
          </a:prstGeom>
          <a:noFill/>
          <a:ln>
            <a:noFill/>
          </a:ln>
        </p:spPr>
        <p:txBody>
          <a:bodyPr wrap="square" lIns="0" tIns="0" rIns="0" bIns="0" anchor="ctr"/>
          <a:lstStyle/>
          <a:p>
            <a:pPr algn="ctr">
              <a:buNone/>
            </a:pPr>
            <a:r>
              <a:rPr lang="en-US" sz="1800" b="1" i="0" dirty="0">
                <a:solidFill>
                  <a:srgbClr val="8E6F3E"/>
                </a:solidFill>
              </a:rPr>
              <a:t>ASSUMPTIONS LEAVE GAPS</a:t>
            </a:r>
          </a:p>
        </p:txBody>
      </p:sp>
      <p:sp>
        <p:nvSpPr>
          <p:cNvPr id="121" name="CardR"/>
          <p:cNvSpPr/>
          <p:nvPr/>
        </p:nvSpPr>
        <p:spPr>
          <a:xfrm>
            <a:off x="4871200" y="1560000"/>
            <a:ext cx="3960000" cy="3800000"/>
          </a:xfrm>
          <a:prstGeom prst="rect">
            <a:avLst/>
          </a:prstGeom>
          <a:solidFill>
            <a:srgbClr val="F5F1E8"/>
          </a:solidFill>
          <a:ln w="12700">
            <a:solidFill>
              <a:srgbClr val="C9B991"/>
            </a:solidFill>
          </a:ln>
        </p:spPr>
      </p:sp>
      <p:sp>
        <p:nvSpPr>
          <p:cNvPr id="122" name="BoxA"/>
          <p:cNvSpPr/>
          <p:nvPr/>
        </p:nvSpPr>
        <p:spPr>
          <a:xfrm>
            <a:off x="4960000" y="1900000"/>
            <a:ext cx="16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a:p>
            <a:pPr algn="ctr">
              <a:buNone/>
            </a:pPr>
            <a:r>
              <a:rPr lang="en-US" sz="1150" b="0" i="0" dirty="0">
                <a:solidFill>
                  <a:srgbClr val="555960"/>
                </a:solidFill>
              </a:rPr>
              <a:t>assumes B sanitizes the query</a:t>
            </a:r>
          </a:p>
        </p:txBody>
      </p:sp>
      <p:sp>
        <p:nvSpPr>
          <p:cNvPr id="123" name="BoxB"/>
          <p:cNvSpPr/>
          <p:nvPr/>
        </p:nvSpPr>
        <p:spPr>
          <a:xfrm>
            <a:off x="7140000" y="1900000"/>
            <a:ext cx="16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a:p>
            <a:pPr algn="ctr">
              <a:buNone/>
            </a:pPr>
            <a:r>
              <a:rPr lang="en-US" sz="1150" b="0" i="0" dirty="0">
                <a:solidFill>
                  <a:srgbClr val="555960"/>
                </a:solidFill>
              </a:rPr>
              <a:t>assumes A already did</a:t>
            </a:r>
          </a:p>
        </p:txBody>
      </p:sp>
      <p:sp>
        <p:nvSpPr>
          <p:cNvPr id="124" name="GapRect"/>
          <p:cNvSpPr txBox="1"/>
          <p:nvPr/>
        </p:nvSpPr>
        <p:spPr>
          <a:xfrm>
            <a:off x="6620000" y="1900000"/>
            <a:ext cx="460000" cy="900000"/>
          </a:xfrm>
          <a:prstGeom prst="rect">
            <a:avLst/>
          </a:prstGeom>
          <a:noFill/>
          <a:ln w="15875">
            <a:solidFill>
              <a:srgbClr val="C0392B"/>
            </a:solidFill>
            <a:prstDash val="dash"/>
          </a:ln>
        </p:spPr>
      </p:sp>
      <p:sp>
        <p:nvSpPr>
          <p:cNvPr id="125" name="GapLbl"/>
          <p:cNvSpPr txBox="1"/>
          <p:nvPr/>
        </p:nvSpPr>
        <p:spPr>
          <a:xfrm>
            <a:off x="5100000" y="3300000"/>
            <a:ext cx="3500000" cy="400000"/>
          </a:xfrm>
          <a:prstGeom prst="rect">
            <a:avLst/>
          </a:prstGeom>
          <a:noFill/>
          <a:ln>
            <a:noFill/>
          </a:ln>
        </p:spPr>
        <p:txBody>
          <a:bodyPr wrap="square" lIns="0" tIns="0" rIns="0" bIns="0" anchor="ctr"/>
          <a:lstStyle/>
          <a:p>
            <a:pPr algn="ctr">
              <a:buNone/>
            </a:pPr>
            <a:r>
              <a:rPr lang="en-US" sz="1400" b="1" i="0" dirty="0">
                <a:solidFill>
                  <a:srgbClr val="C0392B"/>
                </a:solidFill>
              </a:rPr>
              <a:t>the sanitization obligation is unowned  ✗</a:t>
            </a:r>
          </a:p>
        </p:txBody>
      </p:sp>
      <p:sp>
        <p:nvSpPr>
          <p:cNvPr id="127" name="MetricCalloutR"/>
          <p:cNvSpPr txBox="1"/>
          <p:nvPr/>
        </p:nvSpPr>
        <p:spPr>
          <a:xfrm>
            <a:off x="5100000" y="3680000"/>
            <a:ext cx="3500000" cy="580000"/>
          </a:xfrm>
          <a:prstGeom prst="rect">
            <a:avLst/>
          </a:prstGeom>
          <a:noFill/>
          <a:ln>
            <a:noFill/>
          </a:ln>
        </p:spPr>
        <p:txBody>
          <a:bodyPr wrap="square" lIns="0" tIns="0" rIns="0" bIns="0" anchor="t"/>
          <a:lstStyle/>
          <a:p>
            <a:pPr algn="ctr">
              <a:buNone/>
            </a:pPr>
            <a:r>
              <a:rPr lang="en-US" sz="1100" b="1" i="0" dirty="0">
                <a:solidFill>
                  <a:srgbClr val="8E6F3E"/>
                </a:solidFill>
              </a:rPr>
              <a:t xml:space="preserve">local evidence: </a:t>
            </a:r>
            <a:r>
              <a:rPr lang="en-US" sz="1100" b="0" i="0" dirty="0">
                <a:solidFill>
                  <a:srgbClr val="555960"/>
                </a:solidFill>
              </a:rPr>
              <a:t>each part obeys its assumed contract</a:t>
            </a:r>
          </a:p>
          <a:p>
            <a:pPr algn="ctr">
              <a:spcBef>
                <a:spcPts val="40"/>
              </a:spcBef>
              <a:buNone/>
            </a:pPr>
            <a:r>
              <a:rPr lang="en-US" sz="1100" b="1" i="0" dirty="0">
                <a:solidFill>
                  <a:srgbClr val="8E6F3E"/>
                </a:solidFill>
              </a:rPr>
              <a:t xml:space="preserve">system claim: </a:t>
            </a:r>
            <a:r>
              <a:rPr lang="en-US" sz="1100" b="0" i="0" dirty="0">
                <a:solidFill>
                  <a:srgbClr val="555960"/>
                </a:solidFill>
              </a:rPr>
              <a:t>the sanitization obligation is covered</a:t>
            </a:r>
          </a:p>
        </p:txBody>
      </p:sp>
      <p:sp>
        <p:nvSpPr>
          <p:cNvPr id="126" name="VerdictR"/>
          <p:cNvSpPr txBox="1"/>
          <p:nvPr/>
        </p:nvSpPr>
        <p:spPr>
          <a:xfrm>
            <a:off x="5100000" y="4300000"/>
            <a:ext cx="3500000" cy="800000"/>
          </a:xfrm>
          <a:prstGeom prst="rect">
            <a:avLst/>
          </a:prstGeom>
          <a:noFill/>
          <a:ln>
            <a:noFill/>
          </a:ln>
        </p:spPr>
        <p:txBody>
          <a:bodyPr wrap="square" lIns="0" tIns="0" rIns="0" bIns="0" anchor="t"/>
          <a:lstStyle/>
          <a:p>
            <a:pPr algn="ctr">
              <a:buNone/>
            </a:pPr>
            <a:r>
              <a:rPr lang="en-US" sz="1400" b="0" i="1" dirty="0">
                <a:solidFill>
                  <a:srgbClr val="5C4826"/>
                </a:solidFill>
              </a:rPr>
              <a:t>each design locally reasonable;</a:t>
            </a:r>
          </a:p>
          <a:p>
            <a:pPr algn="ctr">
              <a:buNone/>
            </a:pPr>
            <a:r>
              <a:rPr lang="en-US" sz="1400" b="1" i="1" dirty="0">
                <a:solidFill>
                  <a:srgbClr val="5C4826"/>
                </a:solidFill>
              </a:rPr>
              <a:t>their composition satisfies nothing</a:t>
            </a:r>
          </a:p>
        </p:txBody>
      </p:sp>
      <p:sp>
        <p:nvSpPr>
          <p:cNvPr id="13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system property lives on the path and in the gaps — not in any one part.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00" name="Check1"/>
          <p:cNvSpPr/>
          <p:nvPr/>
        </p:nvSpPr>
        <p:spPr>
          <a:xfrm>
            <a:off x="274320" y="98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1   </a:t>
            </a:r>
            <a:r>
              <a:rPr lang="en-US" sz="1600" b="1" i="0" dirty="0">
                <a:solidFill>
                  <a:srgbClr val="5C4826"/>
                </a:solidFill>
              </a:rPr>
              <a:t xml:space="preserve">Budgets compose </a:t>
            </a:r>
            <a:r>
              <a:rPr lang="en-US" sz="1500" b="0" i="0" dirty="0">
                <a:solidFill>
                  <a:srgbClr val="555960"/>
                </a:solidFill>
              </a:rPr>
              <a:t>— latency, memory, cost, error stay acceptable in aggregate</a:t>
            </a:r>
          </a:p>
        </p:txBody>
      </p:sp>
      <p:sp>
        <p:nvSpPr>
          <p:cNvPr id="301" name="Check2"/>
          <p:cNvSpPr/>
          <p:nvPr/>
        </p:nvSpPr>
        <p:spPr>
          <a:xfrm>
            <a:off x="274320" y="172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2   </a:t>
            </a:r>
            <a:r>
              <a:rPr lang="en-US" sz="1600" b="1" i="0" dirty="0">
                <a:solidFill>
                  <a:srgbClr val="5C4826"/>
                </a:solidFill>
              </a:rPr>
              <a:t xml:space="preserve">Responsibilities cover the obligation </a:t>
            </a:r>
            <a:r>
              <a:rPr lang="en-US" sz="1500" b="0" i="0" dirty="0">
                <a:solidFill>
                  <a:srgbClr val="555960"/>
                </a:solidFill>
              </a:rPr>
              <a:t>— assumptions leave no gaps between parts</a:t>
            </a:r>
          </a:p>
        </p:txBody>
      </p:sp>
      <p:sp>
        <p:nvSpPr>
          <p:cNvPr id="302" name="Check3"/>
          <p:cNvSpPr/>
          <p:nvPr/>
        </p:nvSpPr>
        <p:spPr>
          <a:xfrm>
            <a:off x="274320" y="246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3   </a:t>
            </a:r>
            <a:r>
              <a:rPr lang="en-US" sz="1600" b="1" i="0" dirty="0">
                <a:solidFill>
                  <a:srgbClr val="5C4826"/>
                </a:solidFill>
              </a:rPr>
              <a:t xml:space="preserve">Assumptions compose </a:t>
            </a:r>
            <a:r>
              <a:rPr lang="en-US" sz="1500" b="0" i="0" dirty="0">
                <a:solidFill>
                  <a:srgbClr val="555960"/>
                </a:solidFill>
              </a:rPr>
              <a:t>— what one part expects, another actually guarantees</a:t>
            </a:r>
          </a:p>
        </p:txBody>
      </p:sp>
      <p:sp>
        <p:nvSpPr>
          <p:cNvPr id="303" name="Check4"/>
          <p:cNvSpPr/>
          <p:nvPr/>
        </p:nvSpPr>
        <p:spPr>
          <a:xfrm>
            <a:off x="274320" y="320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4   </a:t>
            </a:r>
            <a:r>
              <a:rPr lang="en-US" sz="1600" b="1" i="0" dirty="0">
                <a:solidFill>
                  <a:srgbClr val="5C4826"/>
                </a:solidFill>
              </a:rPr>
              <a:t xml:space="preserve">Mechanisms interact safely </a:t>
            </a:r>
            <a:r>
              <a:rPr lang="en-US" sz="1500" b="0" i="0" dirty="0">
                <a:solidFill>
                  <a:srgbClr val="555960"/>
                </a:solidFill>
              </a:rPr>
              <a:t>— individually sound choices do not interfere</a:t>
            </a:r>
          </a:p>
        </p:txBody>
      </p:sp>
      <p:sp>
        <p:nvSpPr>
          <p:cNvPr id="304" name="Check5"/>
          <p:cNvSpPr/>
          <p:nvPr/>
        </p:nvSpPr>
        <p:spPr>
          <a:xfrm>
            <a:off x="274320" y="3940000"/>
            <a:ext cx="8595360" cy="640000"/>
          </a:xfrm>
          <a:prstGeom prst="rect">
            <a:avLst/>
          </a:prstGeom>
          <a:solidFill>
            <a:srgbClr val="8E6F3E"/>
          </a:solidFill>
          <a:ln>
            <a:noFill/>
          </a:ln>
        </p:spPr>
        <p:txBody>
          <a:bodyPr wrap="square" lIns="182880" tIns="45720" rIns="91440" bIns="45720" anchor="ctr"/>
          <a:lstStyle/>
          <a:p>
            <a:pPr algn="l">
              <a:buNone/>
            </a:pPr>
            <a:r>
              <a:rPr lang="en-US" sz="1600" b="1" i="0" dirty="0">
                <a:solidFill>
                  <a:srgbClr val="F0E6CE"/>
                </a:solidFill>
              </a:rPr>
              <a:t xml:space="preserve">5   </a:t>
            </a:r>
            <a:r>
              <a:rPr lang="en-US" sz="1600" b="1" i="0" dirty="0">
                <a:solidFill>
                  <a:srgbClr val="FFFFFF"/>
                </a:solidFill>
              </a:rPr>
              <a:t xml:space="preserve">Architectural properties remain true </a:t>
            </a:r>
            <a:r>
              <a:rPr lang="en-US" sz="1500" b="0" i="0" dirty="0">
                <a:solidFill>
                  <a:srgbClr val="FFFFFF"/>
                </a:solidFill>
              </a:rPr>
              <a:t>— isolation · dependency · security · reliability</a:t>
            </a:r>
          </a:p>
        </p:txBody>
      </p:sp>
      <p:sp>
        <p:nvSpPr>
          <p:cNvPr id="305" name="PunchLine"/>
          <p:cNvSpPr txBox="1"/>
          <p:nvPr/>
        </p:nvSpPr>
        <p:spPr>
          <a:xfrm>
            <a:off x="654320" y="4880000"/>
            <a:ext cx="7835360" cy="800000"/>
          </a:xfrm>
          <a:prstGeom prst="rect">
            <a:avLst/>
          </a:prstGeom>
          <a:noFill/>
          <a:ln>
            <a:noFill/>
          </a:ln>
        </p:spPr>
        <p:txBody>
          <a:bodyPr wrap="square" lIns="0" tIns="0" rIns="0" bIns="0" anchor="t"/>
          <a:lstStyle/>
          <a:p>
            <a:pPr algn="ctr">
              <a:buNone/>
            </a:pPr>
            <a:r>
              <a:rPr lang="en-US" sz="1700" b="0" i="1" dirty="0">
                <a:solidFill>
                  <a:srgbClr val="000000"/>
                </a:solidFill>
              </a:rPr>
              <a:t>A Design can satisfy its own local responsibility while quietly destroying a property that Architecture was intended to establish.</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301"/>
                                        </p:tgtEl>
                                        <p:attrNameLst>
                                          <p:attrName>style.visibility</p:attrName>
                                        </p:attrNameLst>
                                      </p:cBhvr>
                                      <p:to>
                                        <p:strVal val="visible"/>
                                      </p:to>
                                    </p:set>
                                    <p:animEffect transition="in" filter="fade">
                                      <p:cBhvr>
                                        <p:cTn id="12" dur="500"/>
                                        <p:tgtEl>
                                          <p:spTgt spid="3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302"/>
                                        </p:tgtEl>
                                        <p:attrNameLst>
                                          <p:attrName>style.visibility</p:attrName>
                                        </p:attrNameLst>
                                      </p:cBhvr>
                                      <p:to>
                                        <p:strVal val="visible"/>
                                      </p:to>
                                    </p:set>
                                    <p:animEffect transition="in" filter="fade">
                                      <p:cBhvr>
                                        <p:cTn id="17" dur="500"/>
                                        <p:tgtEl>
                                          <p:spTgt spid="3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303"/>
                                        </p:tgtEl>
                                        <p:attrNameLst>
                                          <p:attrName>style.visibility</p:attrName>
                                        </p:attrNameLst>
                                      </p:cBhvr>
                                      <p:to>
                                        <p:strVal val="visible"/>
                                      </p:to>
                                    </p:set>
                                    <p:animEffect transition="in" filter="fade">
                                      <p:cBhvr>
                                        <p:cTn id="22" dur="500"/>
                                        <p:tgtEl>
                                          <p:spTgt spid="3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304"/>
                                        </p:tgtEl>
                                        <p:attrNameLst>
                                          <p:attrName>style.visibility</p:attrName>
                                        </p:attrNameLst>
                                      </p:cBhvr>
                                      <p:to>
                                        <p:strVal val="visible"/>
                                      </p:to>
                                    </p:set>
                                    <p:animEffect transition="in" filter="fade">
                                      <p:cBhvr>
                                        <p:cTn id="27" dur="500"/>
                                        <p:tgtEl>
                                          <p:spTgt spid="3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5" nodeType="clickEffect">
                                  <p:stCondLst>
                                    <p:cond delay="0"/>
                                  </p:stCondLst>
                                  <p:childTnLst>
                                    <p:set>
                                      <p:cBhvr>
                                        <p:cTn id="31" dur="1" fill="hold">
                                          <p:stCondLst>
                                            <p:cond delay="0"/>
                                          </p:stCondLst>
                                        </p:cTn>
                                        <p:tgtEl>
                                          <p:spTgt spid="305"/>
                                        </p:tgtEl>
                                        <p:attrNameLst>
                                          <p:attrName>style.visibility</p:attrName>
                                        </p:attrNameLst>
                                      </p:cBhvr>
                                      <p:to>
                                        <p:strVal val="visible"/>
                                      </p:to>
                                    </p:set>
                                    <p:animEffect transition="in" filter="fade">
                                      <p:cBhvr>
                                        <p:cTn id="32"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p:bldP spid="301" grpId="1"/>
      <p:bldP spid="302" grpId="2"/>
      <p:bldP spid="303" grpId="3"/>
      <p:bldP spid="304" grpId="4"/>
      <p:bldP spid="305" grpId="5"/>
    </p:bld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