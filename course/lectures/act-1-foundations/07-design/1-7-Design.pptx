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8" r:id="rId1"/>
  </p:sldMasterIdLst>
  <p:notesMasterIdLst>
    <p:notesMasterId r:id="rId38"/>
  </p:notesMasterIdLst>
  <p:sldIdLst>
    <p:sldId id="701" r:id="rId2"/>
    <p:sldId id="702" r:id="rId3"/>
    <p:sldId id="703" r:id="rId4"/>
    <p:sldId id="704" r:id="rId5"/>
    <p:sldId id="705" r:id="rId6"/>
    <p:sldId id="706" r:id="rId7"/>
    <p:sldId id="707" r:id="rId8"/>
    <p:sldId id="708" r:id="rId9"/>
    <p:sldId id="709" r:id="rId10"/>
    <p:sldId id="710" r:id="rId11"/>
    <p:sldId id="711" r:id="rId12"/>
    <p:sldId id="712" r:id="rId13"/>
    <p:sldId id="713" r:id="rId14"/>
    <p:sldId id="714" r:id="rId15"/>
    <p:sldId id="715" r:id="rId16"/>
    <p:sldId id="716" r:id="rId17"/>
    <p:sldId id="717" r:id="rId18"/>
    <p:sldId id="718" r:id="rId19"/>
    <p:sldId id="719" r:id="rId20"/>
    <p:sldId id="720" r:id="rId21"/>
    <p:sldId id="721" r:id="rId22"/>
    <p:sldId id="722" r:id="rId23"/>
    <p:sldId id="723" r:id="rId24"/>
    <p:sldId id="724" r:id="rId25"/>
    <p:sldId id="725" r:id="rId26"/>
    <p:sldId id="726" r:id="rId27"/>
    <p:sldId id="727" r:id="rId28"/>
    <p:sldId id="728" r:id="rId29"/>
    <p:sldId id="729" r:id="rId30"/>
    <p:sldId id="730" r:id="rId31"/>
    <p:sldId id="731" r:id="rId32"/>
    <p:sldId id="732" r:id="rId33"/>
    <p:sldId id="733" r:id="rId34"/>
    <p:sldId id="734" r:id="rId35"/>
    <p:sldId id="735" r:id="rId36"/>
    <p:sldId id="736" r:id="rId3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614" autoAdjust="0"/>
    <p:restoredTop sz="56164"/>
  </p:normalViewPr>
  <p:slideViewPr>
    <p:cSldViewPr snapToGrid="0" snapToObjects="1">
      <p:cViewPr varScale="1">
        <p:scale>
          <a:sx n="64" d="100"/>
          <a:sy n="64" d="100"/>
        </p:scale>
        <p:origin x="3032" y="168"/>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E8B4C4-0720-F64E-9EEE-9472CF165DC6}" type="datetimeFigureOut">
              <a:t>9/18/26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209F92-05EE-6F4A-AD9C-ED35F0F76927}" type="slidenum">
              <a:t>‹#›</a:t>
            </a:fld>
            <a:endParaRPr lang="en-US"/>
          </a:p>
        </p:txBody>
      </p:sp>
    </p:spTree>
    <p:extLst>
      <p:ext uri="{BB962C8B-B14F-4D97-AF65-F5344CB8AC3E}">
        <p14:creationId xmlns:p14="http://schemas.microsoft.com/office/powerpoint/2010/main" val="524556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1.5 minutes — </a:t>
            </a:r>
            <a:r>
              <a:rPr i="1" dirty="0"/>
              <a:t>Make the handoff: Architecture assigned each part a responsibility; today we ask how a part realizes it.</a:t>
            </a:r>
          </a:p>
          <a:p>
            <a:endParaRPr dirty="0"/>
          </a:p>
          <a:p>
            <a:r>
              <a:rPr dirty="0"/>
              <a:t>- Callback: the closing Architecture slide — parts, responsibilities, interfaces.</a:t>
            </a:r>
          </a:p>
          <a:p>
            <a:r>
              <a:rPr dirty="0"/>
              <a:t>- Land the question: we know WHAT each part must do, not yet HOW.</a:t>
            </a:r>
          </a:p>
          <a:p>
            <a:endParaRPr dirty="0"/>
          </a:p>
          <a:p>
            <a:r>
              <a:rPr dirty="0"/>
              <a:t>=====</a:t>
            </a:r>
          </a:p>
          <a:p>
            <a:endParaRPr dirty="0"/>
          </a:p>
          <a:p>
            <a:r>
              <a:rPr dirty="0"/>
              <a:t>Last time we chose how one acceptable system should be organized. We ended with major parts, boundaries, responsibilities, interfaces, and rules governing interaction.</a:t>
            </a:r>
          </a:p>
          <a:p>
            <a:endParaRPr dirty="0"/>
          </a:p>
          <a:p>
            <a:r>
              <a:rPr dirty="0"/>
              <a:t>But look at one of those parts. We know what responsibility it has. We know how the rest of the system is allowed to interact with it. We still have not said how it actually does its job.</a:t>
            </a:r>
          </a:p>
          <a:p>
            <a:endParaRPr dirty="0"/>
          </a:p>
          <a:p>
            <a:r>
              <a:rPr dirty="0"/>
              <a:t>That is today's engineering problem. Given one of the parts produced by Architecture, how should we engineer its internals so that it realizes the responsibility we assigned to it?</a:t>
            </a:r>
          </a:p>
          <a:p>
            <a:endParaRPr dirty="0"/>
          </a:p>
          <a:p>
            <a:r>
              <a:rPr dirty="0"/>
              <a:t>That is Design.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1.5 minutes — </a:t>
            </a:r>
            <a:r>
              <a:rPr i="1" dirty="0"/>
              <a:t>Pose the recursive puzzle: opening boxes reveals more boxes, until the entities are small enough to reason about directly.</a:t>
            </a:r>
          </a:p>
          <a:p>
            <a:endParaRPr dirty="0"/>
          </a:p>
          <a:p>
            <a:r>
              <a:rPr dirty="0"/>
              <a:t>- Open one box at a time; keep it slightly playful.</a:t>
            </a:r>
          </a:p>
          <a:p>
            <a:r>
              <a:rPr dirty="0"/>
              <a:t>- Do not explain where the dividing lines are yet — that is our first problem today.</a:t>
            </a:r>
          </a:p>
          <a:p>
            <a:r>
              <a:rPr dirty="0"/>
              <a:t>- Lands directly on Section 1.</a:t>
            </a:r>
          </a:p>
          <a:p>
            <a:endParaRPr dirty="0"/>
          </a:p>
          <a:p>
            <a:r>
              <a:rPr dirty="0"/>
              <a:t>=====</a:t>
            </a:r>
          </a:p>
          <a:p>
            <a:endParaRPr dirty="0"/>
          </a:p>
          <a:p>
            <a:r>
              <a:rPr dirty="0"/>
              <a:t>There is an immediate problem with saying Design works “inside the box.”</a:t>
            </a:r>
          </a:p>
          <a:p>
            <a:endParaRPr dirty="0"/>
          </a:p>
          <a:p>
            <a:r>
              <a:rPr dirty="0"/>
              <a:t>We open the box and discover more boxes.</a:t>
            </a:r>
          </a:p>
          <a:p>
            <a:endParaRPr dirty="0"/>
          </a:p>
          <a:p>
            <a:r>
              <a:rPr dirty="0"/>
              <a:t>ANIMATE</a:t>
            </a:r>
          </a:p>
          <a:p>
            <a:endParaRPr dirty="0"/>
          </a:p>
          <a:p>
            <a:r>
              <a:rPr dirty="0"/>
              <a:t>And sometimes one of those boxes is still substantial enough that we need to organize it before we can sensibly implement it.</a:t>
            </a:r>
          </a:p>
          <a:p>
            <a:endParaRPr dirty="0"/>
          </a:p>
          <a:p>
            <a:r>
              <a:rPr dirty="0"/>
              <a:t>ANIMATE</a:t>
            </a:r>
          </a:p>
          <a:p>
            <a:endParaRPr dirty="0"/>
          </a:p>
          <a:p>
            <a:r>
              <a:rPr dirty="0"/>
              <a:t>We can keep doing this.</a:t>
            </a:r>
          </a:p>
          <a:p>
            <a:endParaRPr dirty="0"/>
          </a:p>
          <a:p>
            <a:r>
              <a:rPr dirty="0"/>
              <a:t>ANIMATE</a:t>
            </a:r>
          </a:p>
          <a:p>
            <a:endParaRPr dirty="0"/>
          </a:p>
          <a:p>
            <a:r>
              <a:rPr dirty="0"/>
              <a:t>But not forever. Eventually we reach objects, functions, data structures, algorithms, or small collaborations that we can reason about directly.</a:t>
            </a:r>
          </a:p>
          <a:p>
            <a:endParaRPr dirty="0"/>
          </a:p>
          <a:p>
            <a:r>
              <a:rPr dirty="0"/>
              <a:t>I am deliberately not going to explain where the dividing lines are yet. That is our first problem today.</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1.5 minutes — </a:t>
            </a:r>
            <a:r>
              <a:rPr i="1" dirty="0"/>
              <a:t>Show that opening a box keeps its responsibility, interface, and obligations; only the internals become our problem.</a:t>
            </a:r>
          </a:p>
          <a:p>
            <a:endParaRPr dirty="0"/>
          </a:p>
          <a:p>
            <a:r>
              <a:rPr dirty="0"/>
              <a:t>- Responsibility, interface, and obligations survive the opening; only the internals are new work.</a:t>
            </a:r>
          </a:p>
          <a:p>
            <a:endParaRPr dirty="0"/>
          </a:p>
          <a:p>
            <a:r>
              <a:rPr dirty="0"/>
              <a:t>=====</a:t>
            </a:r>
          </a:p>
          <a:p>
            <a:endParaRPr dirty="0"/>
          </a:p>
          <a:p>
            <a:r>
              <a:rPr dirty="0"/>
              <a:t>Architecture deliberately let us ignore this component's internals. That compression was useful: we could reason about system-wide structure without simultaneously reasoning about every object and function.</a:t>
            </a:r>
          </a:p>
          <a:p>
            <a:endParaRPr dirty="0"/>
          </a:p>
          <a:p>
            <a:r>
              <a:rPr dirty="0"/>
              <a:t>Design removes that abstraction boundary for us.</a:t>
            </a:r>
          </a:p>
          <a:p>
            <a:endParaRPr dirty="0"/>
          </a:p>
          <a:p>
            <a:r>
              <a:rPr dirty="0"/>
              <a:t>ANIMATE</a:t>
            </a:r>
          </a:p>
          <a:p>
            <a:endParaRPr dirty="0"/>
          </a:p>
          <a:p>
            <a:r>
              <a:rPr dirty="0"/>
              <a:t>The responsibility does not disappear. The interface does not disappear. The obligations that motivated them do not disappear.</a:t>
            </a:r>
          </a:p>
          <a:p>
            <a:endParaRPr dirty="0"/>
          </a:p>
          <a:p>
            <a:r>
              <a:rPr dirty="0"/>
              <a:t>What changes is that the inside is now our engineering problem.</a:t>
            </a:r>
          </a:p>
          <a:p>
            <a:endParaRPr dirty="0"/>
          </a:p>
          <a:p>
            <a:r>
              <a:rPr dirty="0"/>
              <a:t>ANIMATE</a:t>
            </a:r>
          </a:p>
          <a:p>
            <a:endParaRPr dirty="0"/>
          </a:p>
          <a:p>
            <a:r>
              <a:rPr dirty="0"/>
              <a:t>So Design is not greenfield invention inside an empty rectangle. We open the box carrying decisions with us.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20 seconds — </a:t>
            </a:r>
            <a:r>
              <a:rPr i="1" dirty="0"/>
              <a:t>Name Section 1: Design does not begin from a blank page.</a:t>
            </a:r>
          </a:p>
          <a:p>
            <a:endParaRPr dirty="0"/>
          </a:p>
          <a:p>
            <a:r>
              <a:rPr dirty="0"/>
              <a:t>- 15–20 seconds only.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2 minutes — </a:t>
            </a:r>
            <a:r>
              <a:rPr i="1" dirty="0"/>
              <a:t>Establish the three inherited sources of constraint, especially the engineering environment.</a:t>
            </a:r>
          </a:p>
          <a:p>
            <a:endParaRPr dirty="0"/>
          </a:p>
          <a:p>
            <a:r>
              <a:rPr dirty="0"/>
              <a:t>- Spend the real time on the engineering environment — the novel third source.</a:t>
            </a:r>
          </a:p>
          <a:p>
            <a:r>
              <a:rPr dirty="0"/>
              <a:t>- Examples: repositories, injected dependencies, deadlines on cross-service calls, standard queue with retry and dead-letter.</a:t>
            </a:r>
          </a:p>
          <a:p>
            <a:endParaRPr dirty="0"/>
          </a:p>
          <a:p>
            <a:r>
              <a:rPr dirty="0"/>
              <a:t>=====</a:t>
            </a:r>
          </a:p>
          <a:p>
            <a:endParaRPr dirty="0"/>
          </a:p>
          <a:p>
            <a:r>
              <a:rPr dirty="0"/>
              <a:t>Two sources should now be familiar.</a:t>
            </a:r>
          </a:p>
          <a:p>
            <a:endParaRPr dirty="0"/>
          </a:p>
          <a:p>
            <a:r>
              <a:rPr dirty="0"/>
              <a:t>ANIMATE</a:t>
            </a:r>
          </a:p>
          <a:p>
            <a:endParaRPr dirty="0"/>
          </a:p>
          <a:p>
            <a:r>
              <a:rPr dirty="0"/>
              <a:t>The Specification tells us what must remain true.</a:t>
            </a:r>
          </a:p>
          <a:p>
            <a:endParaRPr dirty="0"/>
          </a:p>
          <a:p>
            <a:r>
              <a:rPr dirty="0"/>
              <a:t>ANIMATE</a:t>
            </a:r>
          </a:p>
          <a:p>
            <a:endParaRPr dirty="0"/>
          </a:p>
          <a:p>
            <a:r>
              <a:rPr dirty="0"/>
              <a:t>Architecture tells us what this part is responsible for and how it fits into the larger strategy.</a:t>
            </a:r>
          </a:p>
          <a:p>
            <a:endParaRPr dirty="0"/>
          </a:p>
          <a:p>
            <a:r>
              <a:rPr dirty="0"/>
              <a:t>ANIMATE</a:t>
            </a:r>
          </a:p>
          <a:p>
            <a:endParaRPr dirty="0"/>
          </a:p>
          <a:p>
            <a:r>
              <a:rPr dirty="0"/>
              <a:t>But there is a third source engineers often leave implicit: the engineering environment.</a:t>
            </a:r>
          </a:p>
          <a:p>
            <a:endParaRPr dirty="0"/>
          </a:p>
          <a:p>
            <a:r>
              <a:rPr dirty="0"/>
              <a:t>Suppose this organization already says all persistent state goes through repositories. Or all dependencies are injected. Or cross-service calls carry deadlines. Or asynchronous work uses the standard queue with its standard retry and dead-letter behavior.</a:t>
            </a:r>
          </a:p>
          <a:p>
            <a:endParaRPr dirty="0"/>
          </a:p>
          <a:p>
            <a:r>
              <a:rPr dirty="0"/>
              <a:t>ANIMATE</a:t>
            </a:r>
          </a:p>
          <a:p>
            <a:endParaRPr dirty="0"/>
          </a:p>
          <a:p>
            <a:r>
              <a:rPr dirty="0"/>
              <a:t>Those are not necessarily facts we would put on the architecture diagram. But they mean the designer is not choosing from the entire universe of software mechanisms.</a:t>
            </a:r>
          </a:p>
          <a:p>
            <a:endParaRPr dirty="0"/>
          </a:p>
          <a:p>
            <a:r>
              <a:rPr dirty="0"/>
              <a:t>Good engineering environments deliberately answer recurring questions so every component designer does not have to rediscover an answer.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1.5 minutes — </a:t>
            </a:r>
            <a:r>
              <a:rPr i="1" dirty="0"/>
              <a:t>Recast Design as the degrees of freedom remaining after inherited decisions constrain the space.</a:t>
            </a:r>
          </a:p>
          <a:p>
            <a:endParaRPr dirty="0"/>
          </a:p>
          <a:p>
            <a:r>
              <a:rPr dirty="0"/>
              <a:t>- Callback: Degrees of Freedom from Specification.</a:t>
            </a:r>
          </a:p>
          <a:p>
            <a:r>
              <a:rPr dirty="0"/>
              <a:t>- Not “what could I possibly implement?” but “which consequential choices are still open?”</a:t>
            </a:r>
          </a:p>
          <a:p>
            <a:endParaRPr dirty="0"/>
          </a:p>
          <a:p>
            <a:r>
              <a:rPr dirty="0"/>
              <a:t>=====</a:t>
            </a:r>
          </a:p>
          <a:p>
            <a:endParaRPr dirty="0"/>
          </a:p>
          <a:p>
            <a:r>
              <a:rPr dirty="0"/>
              <a:t>Remember Degrees of Freedom from Specification. Every consequential decision removes alternatives from the realization space.</a:t>
            </a:r>
          </a:p>
          <a:p>
            <a:endParaRPr dirty="0"/>
          </a:p>
          <a:p>
            <a:r>
              <a:rPr dirty="0"/>
              <a:t>The same idea now applies inside one component.</a:t>
            </a:r>
          </a:p>
          <a:p>
            <a:endParaRPr dirty="0"/>
          </a:p>
          <a:p>
            <a:r>
              <a:rPr dirty="0"/>
              <a:t>Specification removes choices inconsistent with our obligations. Architecture removes choices inconsistent with the system strategy. The engineering environment removes choices the organization has already standardized.</a:t>
            </a:r>
          </a:p>
          <a:p>
            <a:endParaRPr dirty="0"/>
          </a:p>
          <a:p>
            <a:r>
              <a:rPr dirty="0"/>
              <a:t>What remains is the local Design space.</a:t>
            </a:r>
          </a:p>
          <a:p>
            <a:endParaRPr dirty="0"/>
          </a:p>
          <a:p>
            <a:r>
              <a:rPr dirty="0"/>
              <a:t>The important question is not “what could I possibly implement?” It is “which consequential choices are actually still open?”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2 minutes — </a:t>
            </a:r>
            <a:r>
              <a:rPr i="1" dirty="0"/>
              <a:t>Give Design its three moves: follow, choose, or escalate.</a:t>
            </a:r>
          </a:p>
          <a:p>
            <a:endParaRPr dirty="0"/>
          </a:p>
          <a:p>
            <a:r>
              <a:rPr dirty="0"/>
              <a:t>- One example per move: follow (retry mechanism), choose (internal data structure), escalate (sync vs async).</a:t>
            </a:r>
          </a:p>
          <a:p>
            <a:endParaRPr dirty="0"/>
          </a:p>
          <a:p>
            <a:r>
              <a:rPr dirty="0"/>
              <a:t>=====</a:t>
            </a:r>
          </a:p>
          <a:p>
            <a:endParaRPr dirty="0"/>
          </a:p>
          <a:p>
            <a:r>
              <a:rPr dirty="0"/>
              <a:t>ANIMATE</a:t>
            </a:r>
          </a:p>
          <a:p>
            <a:endParaRPr dirty="0"/>
          </a:p>
          <a:p>
            <a:r>
              <a:rPr dirty="0"/>
              <a:t>If the engineering environment already provides the retry mechanism, follow it. Reinventing retries inside this component is not Design creativity.</a:t>
            </a:r>
          </a:p>
          <a:p>
            <a:endParaRPr dirty="0"/>
          </a:p>
          <a:p>
            <a:r>
              <a:rPr dirty="0"/>
              <a:t>ANIMATE</a:t>
            </a:r>
          </a:p>
          <a:p>
            <a:endParaRPr dirty="0"/>
          </a:p>
          <a:p>
            <a:r>
              <a:rPr dirty="0"/>
              <a:t>If two internal data structures satisfy every inherited property and nothing outside this component cares, choose locally.</a:t>
            </a:r>
          </a:p>
          <a:p>
            <a:endParaRPr dirty="0"/>
          </a:p>
          <a:p>
            <a:r>
              <a:rPr dirty="0"/>
              <a:t>ANIMATE</a:t>
            </a:r>
          </a:p>
          <a:p>
            <a:endParaRPr dirty="0"/>
          </a:p>
          <a:p>
            <a:r>
              <a:rPr dirty="0"/>
              <a:t>But suppose whether we use synchronous or asynchronous coordination changes a system-wide consistency property. That question may have looked open only because Architecture failed to settle something consequential.</a:t>
            </a:r>
          </a:p>
          <a:p>
            <a:endParaRPr dirty="0"/>
          </a:p>
          <a:p>
            <a:r>
              <a:rPr dirty="0"/>
              <a:t>Design therefore has three moves: follow, choose, or escalate.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1.5 minutes — </a:t>
            </a:r>
            <a:r>
              <a:rPr i="1" dirty="0"/>
              <a:t>Formalize strategy versus tactics, and make the distinction recursive rather than layered.</a:t>
            </a:r>
          </a:p>
          <a:p>
            <a:endParaRPr dirty="0"/>
          </a:p>
          <a:p>
            <a:r>
              <a:rPr dirty="0"/>
              <a:t>- Not high-level vs low-level — the relationship is recursive.</a:t>
            </a:r>
          </a:p>
          <a:p>
            <a:r>
              <a:rPr dirty="0"/>
              <a:t>- Always: what do we take as given, and what do we decide within it?</a:t>
            </a:r>
          </a:p>
          <a:p>
            <a:endParaRPr dirty="0"/>
          </a:p>
          <a:p>
            <a:r>
              <a:rPr dirty="0"/>
              <a:t>=====</a:t>
            </a:r>
          </a:p>
          <a:p>
            <a:endParaRPr dirty="0"/>
          </a:p>
          <a:p>
            <a:r>
              <a:rPr dirty="0"/>
              <a:t>This gives us the cleanest relationship between the two activities.</a:t>
            </a:r>
          </a:p>
          <a:p>
            <a:endParaRPr dirty="0"/>
          </a:p>
          <a:p>
            <a:r>
              <a:rPr dirty="0"/>
              <a:t>Architecture establishes strategy. Design chooses tactics within it.</a:t>
            </a:r>
          </a:p>
          <a:p>
            <a:endParaRPr dirty="0"/>
          </a:p>
          <a:p>
            <a:r>
              <a:rPr dirty="0"/>
              <a:t>But do not translate that into “Architecture is always high-level and Design is always low-level.” The relationship is recursive.</a:t>
            </a:r>
          </a:p>
          <a:p>
            <a:endParaRPr dirty="0"/>
          </a:p>
          <a:p>
            <a:r>
              <a:rPr dirty="0"/>
              <a:t>A subsystem is tactical relative to the system architecture. But if that subsystem is itself too substantial to reason about directly, we may establish an architecture for it before designing its internal parts.</a:t>
            </a:r>
          </a:p>
          <a:p>
            <a:endParaRPr dirty="0"/>
          </a:p>
          <a:p>
            <a:r>
              <a:rPr dirty="0"/>
              <a:t>The question is always: what decisions are we taking as given, and what decisions are we making within them?</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1 minute — </a:t>
            </a:r>
            <a:r>
              <a:rPr i="1" dirty="0"/>
              <a:t>Resolve the recursion: stop when entities are directly reasonable; Design passes into Implementation.</a:t>
            </a:r>
          </a:p>
          <a:p>
            <a:endParaRPr dirty="0"/>
          </a:p>
          <a:p>
            <a:r>
              <a:rPr dirty="0"/>
              <a:t>- Stop when the remaining entities are small enough to reason about directly; then Design becomes Implementation.</a:t>
            </a:r>
          </a:p>
          <a:p>
            <a:r>
              <a:rPr dirty="0"/>
              <a:t>- Emphasize: “memory” / “object” is intuition, not a literal definition.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2 minutes — </a:t>
            </a:r>
            <a:r>
              <a:rPr i="1" dirty="0"/>
              <a:t>Establish authority: when representations disagree, exactly one must win.</a:t>
            </a:r>
          </a:p>
          <a:p>
            <a:endParaRPr dirty="0"/>
          </a:p>
          <a:p>
            <a:r>
              <a:rPr dirty="0"/>
              <a:t>- Distinguish authoritative, derived, cached, replicated state.</a:t>
            </a:r>
          </a:p>
          <a:p>
            <a:r>
              <a:rPr dirty="0"/>
              <a:t>- When representations disagree, which one wins?</a:t>
            </a:r>
          </a:p>
          <a:p>
            <a:r>
              <a:rPr dirty="0"/>
              <a:t>- Do not drift into consistency yet.</a:t>
            </a:r>
          </a:p>
          <a:p>
            <a:endParaRPr dirty="0"/>
          </a:p>
          <a:p>
            <a:r>
              <a:rPr b="1" dirty="0"/>
              <a:t>PACING: </a:t>
            </a:r>
            <a:r>
              <a:rPr dirty="0"/>
              <a:t>Dwell here. This is the anchor example of the five — take the time to work the authority question fully.</a:t>
            </a:r>
          </a:p>
          <a:p>
            <a:r>
              <a:rPr b="1" dirty="0"/>
              <a:t>METRIC SEEDS: </a:t>
            </a:r>
            <a:r>
              <a:rPr dirty="0"/>
              <a:t>authoritative writers / coordination / conflicts. A seed for the later Metrics lecture — let students use it naturally now; do not explain metrics theory here.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2 minutes — </a:t>
            </a:r>
            <a:r>
              <a:rPr i="1" dirty="0"/>
              <a:t>Show that required observation semantics, not replication topology, determine consistency.</a:t>
            </a:r>
          </a:p>
          <a:p>
            <a:endParaRPr dirty="0"/>
          </a:p>
          <a:p>
            <a:r>
              <a:rPr dirty="0"/>
              <a:t>- Contrast the two required semantics; replication topology does not determine consistency.</a:t>
            </a:r>
          </a:p>
          <a:p>
            <a:r>
              <a:rPr dirty="0"/>
              <a:t>- Work the consequences under concurrency and failure.</a:t>
            </a:r>
          </a:p>
          <a:p>
            <a:r>
              <a:rPr dirty="0"/>
              <a:t>- If CAP comes up, keep it subordinate and technically correct.</a:t>
            </a:r>
          </a:p>
          <a:p>
            <a:endParaRPr dirty="0"/>
          </a:p>
          <a:p>
            <a:r>
              <a:rPr b="1" dirty="0"/>
              <a:t>PACING: </a:t>
            </a:r>
            <a:r>
              <a:rPr dirty="0"/>
              <a:t>Move briskly. A quick contrast — the point is that required semantics, not replication topology, decide; do not linger.</a:t>
            </a:r>
          </a:p>
          <a:p>
            <a:r>
              <a:rPr b="1" dirty="0"/>
              <a:t>METRIC SEEDS: </a:t>
            </a:r>
            <a:r>
              <a:rPr dirty="0"/>
              <a:t>stale-read window / propagation latency / round-trips. A seed for the later Metrics lecture — let students use it naturally now; do not explain metrics theory here.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2 minutes — </a:t>
            </a:r>
            <a:r>
              <a:rPr i="1" dirty="0"/>
              <a:t>Contrast immediate and deferred work and the concerns each side takes on.</a:t>
            </a:r>
          </a:p>
          <a:p>
            <a:endParaRPr dirty="0"/>
          </a:p>
          <a:p>
            <a:r>
              <a:rPr dirty="0"/>
              <a:t>- Tradeoff: immediacy and simple completion vs latency isolation and resilience.</a:t>
            </a:r>
          </a:p>
          <a:p>
            <a:r>
              <a:rPr dirty="0"/>
              <a:t>- The deferred side takes on retries, idempotence, and ordering.</a:t>
            </a:r>
          </a:p>
          <a:p>
            <a:endParaRPr dirty="0"/>
          </a:p>
          <a:p>
            <a:r>
              <a:rPr b="1" dirty="0"/>
              <a:t>PACING: </a:t>
            </a:r>
            <a:r>
              <a:rPr dirty="0"/>
              <a:t>Dwell here. The second anchor — work the immediate-vs-deferred tradeoff and the concerns the deferred side inherits.</a:t>
            </a:r>
          </a:p>
          <a:p>
            <a:r>
              <a:rPr b="1" dirty="0"/>
              <a:t>METRIC SEEDS: </a:t>
            </a:r>
            <a:r>
              <a:rPr dirty="0"/>
              <a:t>critical-path latency / queue depth / retries. A seed for the later Metrics lecture — let students use it naturally now; do not explain metrics theory here.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2.5 minutes — </a:t>
            </a:r>
            <a:r>
              <a:rPr i="1" dirty="0"/>
              <a:t>Show what indirection buys and the complexity it spends.</a:t>
            </a:r>
          </a:p>
          <a:p>
            <a:endParaRPr dirty="0"/>
          </a:p>
          <a:p>
            <a:r>
              <a:rPr dirty="0"/>
              <a:t>- Fundamental-theorem territory: what isolation buys, what complexity it costs.</a:t>
            </a:r>
          </a:p>
          <a:p>
            <a:r>
              <a:rPr dirty="0"/>
              <a:t>- An additional layer is not automatically sophisticated or better.</a:t>
            </a:r>
          </a:p>
          <a:p>
            <a:endParaRPr dirty="0"/>
          </a:p>
          <a:p>
            <a:r>
              <a:rPr b="1" dirty="0"/>
              <a:t>PACING: </a:t>
            </a:r>
            <a:r>
              <a:rPr dirty="0"/>
              <a:t>Move briskly. A short beat on what indirection buys and the complexity it spends; do not over-develop.</a:t>
            </a:r>
          </a:p>
          <a:p>
            <a:r>
              <a:rPr b="1" dirty="0"/>
              <a:t>METRIC SEEDS: </a:t>
            </a:r>
            <a:r>
              <a:rPr dirty="0"/>
              <a:t>dependency crossings / fan-in / fan-out. A seed for the later Metrics lecture — let students use it naturally now; do not explain metrics theory here.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2.5 minutes — </a:t>
            </a:r>
            <a:r>
              <a:rPr i="1" dirty="0"/>
              <a:t>Land information hiding: decompose around the decisions most likely to change.</a:t>
            </a:r>
          </a:p>
          <a:p>
            <a:endParaRPr dirty="0"/>
          </a:p>
          <a:p>
            <a:r>
              <a:rPr dirty="0"/>
              <a:t>- Parnas 1972, information hiding: hide the decisions most likely to change behind stable seams.</a:t>
            </a:r>
          </a:p>
          <a:p>
            <a:r>
              <a:rPr dirty="0"/>
              <a:t>- Recover modularity verbally — decomposability, understandability, change containment, failure containment; do not enumerate the five Meyer criteria.</a:t>
            </a:r>
          </a:p>
          <a:p>
            <a:r>
              <a:rPr dirty="0"/>
              <a:t>- Acknowledge the boundary: if a decomposition creates consequential responsibilities and boundaries, Architecture has recurred at this scope (the slide-9 funnel). Not all decomposition is Design — do not let the example imply that it is.</a:t>
            </a:r>
          </a:p>
          <a:p>
            <a:endParaRPr dirty="0"/>
          </a:p>
          <a:p>
            <a:r>
              <a:rPr b="1" dirty="0"/>
              <a:t>PACING: </a:t>
            </a:r>
            <a:r>
              <a:rPr dirty="0"/>
              <a:t>Use as the culmination, not a sixth peer example. Pull the five together — each was a mechanism choice with measurable consequences.</a:t>
            </a:r>
          </a:p>
          <a:p>
            <a:r>
              <a:rPr b="1" dirty="0"/>
              <a:t>METRIC SEEDS: </a:t>
            </a:r>
            <a:r>
              <a:rPr dirty="0"/>
              <a:t>change impact / interface stability / modules touched. A seed for the later Metrics lecture — let students use it naturally now; do not explain metrics theory here.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1.5 minutes — </a:t>
            </a:r>
            <a:r>
              <a:rPr i="1" dirty="0"/>
              <a:t>Synthesize the recurring choices as tradeoffs, not good-versus-bad answers.</a:t>
            </a:r>
          </a:p>
          <a:p>
            <a:endParaRPr dirty="0"/>
          </a:p>
          <a:p>
            <a:r>
              <a:rPr dirty="0"/>
              <a:t>- Recurring question → plausible alternatives → tradeoff; explicitly reject catalogue thinking.</a:t>
            </a:r>
          </a:p>
          <a:p>
            <a:r>
              <a:rPr dirty="0"/>
              <a:t>- Design is choosing which consequences fit the problem, not the “good” side.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2.5 minutes — </a:t>
            </a:r>
            <a:r>
              <a:rPr i="1" dirty="0"/>
              <a:t>Pay off the wall: Design tests whether the architectural strategy is workable.</a:t>
            </a:r>
          </a:p>
          <a:p>
            <a:endParaRPr dirty="0"/>
          </a:p>
          <a:p>
            <a:r>
              <a:rPr dirty="0"/>
              <a:t>- Payoff of the Architecture wall slide; two builds — the pipe fits, then a bend does not.</a:t>
            </a:r>
          </a:p>
          <a:p>
            <a:r>
              <a:rPr dirty="0"/>
              <a:t>- A misfit is information about the strategy, not just a plumbing failure.</a:t>
            </a:r>
          </a:p>
          <a:p>
            <a:endParaRPr dirty="0"/>
          </a:p>
          <a:p>
            <a:r>
              <a:rPr dirty="0"/>
              <a:t>=====</a:t>
            </a:r>
          </a:p>
          <a:p>
            <a:endParaRPr dirty="0"/>
          </a:p>
          <a:p>
            <a:r>
              <a:rPr dirty="0"/>
              <a:t>Remember this wall from Architecture. At the time, we deliberately did not draw the plumbing.</a:t>
            </a:r>
          </a:p>
          <a:p>
            <a:endParaRPr dirty="0"/>
          </a:p>
          <a:p>
            <a:r>
              <a:rPr dirty="0"/>
              <a:t>Architecture had chosen the wall location, depth, and permitted penetrations. Those choices created a space in which plumbing Design would later occur.</a:t>
            </a:r>
          </a:p>
          <a:p>
            <a:endParaRPr dirty="0"/>
          </a:p>
          <a:p>
            <a:r>
              <a:rPr dirty="0"/>
              <a:t>Now we are the plumbing designer.</a:t>
            </a:r>
          </a:p>
          <a:p>
            <a:endParaRPr dirty="0"/>
          </a:p>
          <a:p>
            <a:r>
              <a:rPr dirty="0"/>
              <a:t>ANIMATE</a:t>
            </a:r>
          </a:p>
          <a:p>
            <a:endParaRPr dirty="0"/>
          </a:p>
          <a:p>
            <a:r>
              <a:rPr dirty="0"/>
              <a:t>Sometimes the required plumbing fits. Good: the strategy afforded a workable tactic.</a:t>
            </a:r>
          </a:p>
          <a:p>
            <a:endParaRPr dirty="0"/>
          </a:p>
          <a:p>
            <a:r>
              <a:rPr dirty="0"/>
              <a:t>ANIMATE</a:t>
            </a:r>
          </a:p>
          <a:p>
            <a:endParaRPr dirty="0"/>
          </a:p>
          <a:p>
            <a:r>
              <a:rPr dirty="0"/>
              <a:t>Sometimes it does not.</a:t>
            </a:r>
          </a:p>
          <a:p>
            <a:endParaRPr dirty="0"/>
          </a:p>
          <a:p>
            <a:r>
              <a:rPr dirty="0"/>
              <a:t>That is not merely a plumbing-design failure. It is information about the strategy we inherited. Perhaps the pipe can be rerouted. Perhaps the wall must move. Perhaps the requirement that created this pipe must change.</a:t>
            </a:r>
          </a:p>
          <a:p>
            <a:endParaRPr dirty="0"/>
          </a:p>
          <a:p>
            <a:r>
              <a:rPr dirty="0"/>
              <a:t>Design is therefore not just implementation planning. It is a test of whether Architecture's strategy can actually be realized.</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2 minutes — </a:t>
            </a:r>
            <a:r>
              <a:rPr i="1" dirty="0"/>
              <a:t>Show a local workaround making the architectural model false and its predictions wrong.</a:t>
            </a:r>
          </a:p>
          <a:p>
            <a:endParaRPr dirty="0"/>
          </a:p>
          <a:p>
            <a:r>
              <a:rPr dirty="0"/>
              <a:t>- The sharp point is epistemic: the model now gives wrong answers.</a:t>
            </a:r>
          </a:p>
          <a:p>
            <a:r>
              <a:rPr dirty="0"/>
              <a:t>- Degradation can begin on the first day of implementation.</a:t>
            </a:r>
          </a:p>
          <a:p>
            <a:endParaRPr dirty="0"/>
          </a:p>
          <a:p>
            <a:r>
              <a:rPr dirty="0"/>
              <a:t>=====</a:t>
            </a:r>
          </a:p>
          <a:p>
            <a:endParaRPr dirty="0"/>
          </a:p>
          <a:p>
            <a:r>
              <a:rPr dirty="0"/>
              <a:t>Here is the tempting alternative to escalation.</a:t>
            </a:r>
          </a:p>
          <a:p>
            <a:endParaRPr dirty="0"/>
          </a:p>
          <a:p>
            <a:r>
              <a:rPr dirty="0"/>
              <a:t>The architecture says A reaches B through this port. But the port makes today's feature inconvenient, so somebody reaches around it. Just this once.</a:t>
            </a:r>
          </a:p>
          <a:p>
            <a:endParaRPr dirty="0"/>
          </a:p>
          <a:p>
            <a:r>
              <a:rPr dirty="0"/>
              <a:t>ANIMATE</a:t>
            </a:r>
          </a:p>
          <a:p>
            <a:endParaRPr dirty="0"/>
          </a:p>
          <a:p>
            <a:r>
              <a:rPr dirty="0"/>
              <a:t>The feature works. Tests pass.</a:t>
            </a:r>
          </a:p>
          <a:p>
            <a:endParaRPr dirty="0"/>
          </a:p>
          <a:p>
            <a:r>
              <a:rPr dirty="0"/>
              <a:t>ANIMATE</a:t>
            </a:r>
          </a:p>
          <a:p>
            <a:endParaRPr dirty="0"/>
          </a:p>
          <a:p>
            <a:r>
              <a:rPr dirty="0"/>
              <a:t>And the architecture is now false.</a:t>
            </a:r>
          </a:p>
          <a:p>
            <a:endParaRPr dirty="0"/>
          </a:p>
          <a:p>
            <a:r>
              <a:rPr dirty="0"/>
              <a:t>That has a local cost: we introduced coupling. But the more interesting cost is epistemic.</a:t>
            </a:r>
          </a:p>
          <a:p>
            <a:endParaRPr dirty="0"/>
          </a:p>
          <a:p>
            <a:r>
              <a:rPr dirty="0"/>
              <a:t>Remember the Architecture lecture. We used dependency models to establish claims such as “no dependency crosses this boundary.” Once the implementation silently violates the model, that analysis can produce the wrong answer.</a:t>
            </a:r>
          </a:p>
          <a:p>
            <a:endParaRPr dirty="0"/>
          </a:p>
          <a:p>
            <a:r>
              <a:rPr dirty="0"/>
              <a:t>ANIMATE</a:t>
            </a:r>
          </a:p>
          <a:p>
            <a:endParaRPr dirty="0"/>
          </a:p>
          <a:p>
            <a:r>
              <a:rPr dirty="0"/>
              <a:t>Ask whether B can be replaced independently. The architecture says yes. The system says no.</a:t>
            </a:r>
          </a:p>
          <a:p>
            <a:endParaRPr dirty="0"/>
          </a:p>
          <a:p>
            <a:r>
              <a:rPr dirty="0"/>
              <a:t>Architectural degradation is therefore not merely untidy code or “technical debt.” It destroys the predictive value of the architectural knowledge we use to make engineering decisions.</a:t>
            </a:r>
          </a:p>
          <a:p>
            <a:endParaRPr dirty="0"/>
          </a:p>
          <a:p>
            <a:r>
              <a:rPr dirty="0"/>
              <a:t>And this can happen on the first day of implementation. We do not need ten years of legacy code to begin degrading an architecture.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1.5 minutes — </a:t>
            </a:r>
            <a:r>
              <a:rPr i="1" dirty="0"/>
              <a:t>Route consequential discoveries to Design, the environment, Architecture, or Specification; never silently ignore them.</a:t>
            </a:r>
          </a:p>
          <a:p>
            <a:endParaRPr dirty="0"/>
          </a:p>
          <a:p>
            <a:r>
              <a:rPr dirty="0"/>
              <a:t>- Route each discovery: local, environment-wide convention, Architecture, or Specification.</a:t>
            </a:r>
          </a:p>
          <a:p>
            <a:r>
              <a:rPr dirty="0"/>
              <a:t>- Workarounds: remove, model, or change the rule — never silently ignore.</a:t>
            </a:r>
          </a:p>
          <a:p>
            <a:endParaRPr dirty="0"/>
          </a:p>
          <a:p>
            <a:r>
              <a:rPr dirty="0"/>
              <a:t>=====</a:t>
            </a:r>
          </a:p>
          <a:p>
            <a:endParaRPr dirty="0"/>
          </a:p>
          <a:p>
            <a:r>
              <a:rPr dirty="0"/>
              <a:t>Design is where many apparently free decisions first encounter reality.</a:t>
            </a:r>
          </a:p>
          <a:p>
            <a:endParaRPr dirty="0"/>
          </a:p>
          <a:p>
            <a:r>
              <a:rPr dirty="0"/>
              <a:t>ANIMATE</a:t>
            </a:r>
          </a:p>
          <a:p>
            <a:endParaRPr dirty="0"/>
          </a:p>
          <a:p>
            <a:r>
              <a:rPr dirty="0"/>
              <a:t>Sometimes the answer really is local. Fine. Keep it local.</a:t>
            </a:r>
          </a:p>
          <a:p>
            <a:endParaRPr dirty="0"/>
          </a:p>
          <a:p>
            <a:r>
              <a:rPr dirty="0"/>
              <a:t>ANIMATE</a:t>
            </a:r>
          </a:p>
          <a:p>
            <a:endParaRPr dirty="0"/>
          </a:p>
          <a:p>
            <a:r>
              <a:rPr dirty="0"/>
              <a:t>Sometimes we discover that every component needs the same answer. That does not necessarily mean drawing another box on the architecture diagram. It may mean capturing a convention or mechanism in the engineering environment: every handler is idempotent; every external dependency goes through an adapter; every cross-boundary call carries a deadline.</a:t>
            </a:r>
          </a:p>
          <a:p>
            <a:endParaRPr dirty="0"/>
          </a:p>
          <a:p>
            <a:r>
              <a:rPr dirty="0"/>
              <a:t>ANIMATE</a:t>
            </a:r>
          </a:p>
          <a:p>
            <a:endParaRPr dirty="0"/>
          </a:p>
          <a:p>
            <a:r>
              <a:rPr dirty="0"/>
              <a:t>Sometimes the consequence is structural and belongs in Architecture.</a:t>
            </a:r>
          </a:p>
          <a:p>
            <a:endParaRPr dirty="0"/>
          </a:p>
          <a:p>
            <a:r>
              <a:rPr dirty="0"/>
              <a:t>ANIMATE</a:t>
            </a:r>
          </a:p>
          <a:p>
            <a:endParaRPr dirty="0"/>
          </a:p>
          <a:p>
            <a:r>
              <a:rPr dirty="0"/>
              <a:t>And sometimes we discover that what must be true was itself incomplete, and the feedback reaches Specification.</a:t>
            </a:r>
          </a:p>
          <a:p>
            <a:endParaRPr dirty="0"/>
          </a:p>
          <a:p>
            <a:r>
              <a:rPr dirty="0"/>
              <a:t>This is why a workaround cannot remain invisible. Remove it if it was a mistake. Model it if the architecture genuinely permits the exception. Change the rule if repeated exceptions tell us the rule was wrong.</a:t>
            </a:r>
          </a:p>
          <a:p>
            <a:endParaRPr dirty="0"/>
          </a:p>
          <a:p>
            <a:r>
              <a:rPr dirty="0"/>
              <a:t>Design discovers which apparent freedoms are actually consequential.</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1 minute — </a:t>
            </a:r>
            <a:r>
              <a:rPr i="1" dirty="0"/>
              <a:t>Name Section 5: implementation itself can become a Design probe.</a:t>
            </a:r>
          </a:p>
          <a:p>
            <a:endParaRPr dirty="0"/>
          </a:p>
          <a:p>
            <a:r>
              <a:rPr dirty="0"/>
              <a:t>- Callback: Architecture’s “buy information”; implementation joins the menu as cheap evidence.</a:t>
            </a:r>
          </a:p>
          <a:p>
            <a:endParaRPr dirty="0"/>
          </a:p>
          <a:p>
            <a:r>
              <a:rPr dirty="0"/>
              <a:t>=====</a:t>
            </a:r>
          </a:p>
          <a:p>
            <a:endParaRPr dirty="0"/>
          </a:p>
          <a:p>
            <a:r>
              <a:rPr dirty="0"/>
              <a:t>Architecture gave us a rule: if uncertainty could change the decision, consider buying information.</a:t>
            </a:r>
          </a:p>
          <a:p>
            <a:endParaRPr dirty="0"/>
          </a:p>
          <a:p>
            <a:r>
              <a:rPr dirty="0"/>
              <a:t>Traditionally, implementation was often the most expensive possible way to buy that information.</a:t>
            </a:r>
          </a:p>
          <a:p>
            <a:endParaRPr dirty="0"/>
          </a:p>
          <a:p>
            <a:r>
              <a:rPr dirty="0"/>
              <a:t>What happens when implementation becomes cheap enough that we can use it as evidence before we commit to a Design?</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2 minutes — </a:t>
            </a:r>
            <a:r>
              <a:rPr i="1" dirty="0"/>
              <a:t>Show how temporal compression turns isolated incidents into evidence of structure.</a:t>
            </a:r>
          </a:p>
          <a:p>
            <a:endParaRPr dirty="0"/>
          </a:p>
          <a:p>
            <a:r>
              <a:rPr dirty="0"/>
              <a:t>- Ground in the MAGE case without overclaiming: dense failures motivated a structural model; not a universal phase transition.</a:t>
            </a:r>
          </a:p>
          <a:p>
            <a:endParaRPr dirty="0"/>
          </a:p>
          <a:p>
            <a:r>
              <a:rPr dirty="0"/>
              <a:t>=====</a:t>
            </a:r>
          </a:p>
          <a:p>
            <a:endParaRPr dirty="0"/>
          </a:p>
          <a:p>
            <a:r>
              <a:rPr dirty="0"/>
              <a:t>At ordinary implementation speed, three related failures may occur weeks apart. Each one arrives with a local context and gets a local fix.</a:t>
            </a:r>
          </a:p>
          <a:p>
            <a:endParaRPr dirty="0"/>
          </a:p>
          <a:p>
            <a:r>
              <a:rPr dirty="0"/>
              <a:t>ANIMATE</a:t>
            </a:r>
          </a:p>
          <a:p>
            <a:endParaRPr dirty="0"/>
          </a:p>
          <a:p>
            <a:r>
              <a:rPr dirty="0"/>
              <a:t>At much higher implementation velocity, the same family of failures can arrive in dense succession. Now the engineer can hold them in mind together and ask a different question: why do these keep happening?</a:t>
            </a:r>
          </a:p>
          <a:p>
            <a:endParaRPr dirty="0"/>
          </a:p>
          <a:p>
            <a:r>
              <a:rPr dirty="0"/>
              <a:t>That temporal compression can expose a common structural cause.</a:t>
            </a:r>
          </a:p>
          <a:p>
            <a:endParaRPr dirty="0"/>
          </a:p>
          <a:p>
            <a:r>
              <a:rPr dirty="0"/>
              <a:t>This is an inference we draw from the MAGE case study: the paper reports related failures surfacing in dense succession and motivating a new structural model and controls. I would not claim the paper proves a universal phase transition. The engineering opportunity is the important part.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2 minutes — The incident behind this slide.</a:t>
            </a:r>
          </a:p>
          <a:p>
            <a:r>
              <a:t>- Related failures arrived in dense succession from the agent fleet. Their proximity in time let the architect recognize them as one thing: not several unrelated bugs, but an architectural gap.</a:t>
            </a:r>
          </a:p>
          <a:p>
            <a:r>
              <a:t>- The architect introduced a new system model naming the missing structure. The model enabled new static analyses, and several failure classes disappeared.</a:t>
            </a:r>
          </a:p>
          <a:p>
            <a:r>
              <a:t>- The scarce human work is recognizing which failures reveal missing governance, and converting them into architecture and controls that future agents inherit.</a:t>
            </a:r>
          </a:p>
          <a:p>
            <a:r>
              <a:t>- Walk the picture bottom-up: many agent changes -&gt; dense failure signals -&gt; human architectural judgment -&gt; structural intervention.</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1 minute — </a:t>
            </a:r>
            <a:r>
              <a:rPr i="1" dirty="0"/>
              <a:t>Set up the exercise: one component, its inheritance, and the deliverable.</a:t>
            </a:r>
          </a:p>
          <a:p>
            <a:endParaRPr dirty="0"/>
          </a:p>
          <a:p>
            <a:r>
              <a:rPr dirty="0"/>
              <a:t>- Explain the deliverable and immediately move; do not overload.</a:t>
            </a:r>
          </a:p>
          <a:p>
            <a:r>
              <a:rPr dirty="0"/>
              <a:t>- One component — the Advice Service — with responsibility, interface, inherited constraints, and 2–3 environment conventions.</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3 minutes — </a:t>
            </a:r>
            <a:r>
              <a:rPr i="1" dirty="0"/>
              <a:t>Teams classify the remaining freedoms before answering any of them.</a:t>
            </a:r>
          </a:p>
          <a:p>
            <a:endParaRPr dirty="0"/>
          </a:p>
          <a:p>
            <a:r>
              <a:rPr dirty="0"/>
              <a:t>- Classify remaining freedoms FOLLOW / CHOOSE / ESCALATE before answering any; ~3 minutes.</a:t>
            </a:r>
          </a:p>
          <a:p>
            <a:r>
              <a:rPr dirty="0"/>
              <a:t>- Do not prefill examples; reveal them after 2–3 minutes as scaffolding.</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7 minutes — </a:t>
            </a:r>
            <a:r>
              <a:rPr i="1" dirty="0"/>
              <a:t>Teams produce two genuinely different designs that respect what they inherited.</a:t>
            </a:r>
          </a:p>
          <a:p>
            <a:endParaRPr dirty="0"/>
          </a:p>
          <a:p>
            <a:r>
              <a:rPr dirty="0"/>
              <a:t>- Force alternatives before convergence; each design carries one purposeful model; ~7 minutes.</a:t>
            </a:r>
          </a:p>
          <a:p>
            <a:r>
              <a:rPr dirty="0"/>
              <a:t>- Require: parts and responsibilities, interactions and state, one model, one expected tradeoff.</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6 minutes — </a:t>
            </a:r>
            <a:r>
              <a:rPr i="1" dirty="0"/>
              <a:t>Teams defend a choice against obligations, architecture, environment, and tradeoff.</a:t>
            </a:r>
          </a:p>
          <a:p>
            <a:endParaRPr dirty="0"/>
          </a:p>
          <a:p>
            <a:r>
              <a:rPr dirty="0"/>
              <a:t>- Defend against Specification, Architecture, environment; name the genuine tradeoff, what the model establishes, and anything to escalate; ~6 minutes including shares.</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4 minutes — </a:t>
            </a:r>
            <a:r>
              <a:rPr i="1" dirty="0"/>
              <a:t>Debrief: sort discoveries into follow, choose, environment, architecture, or specification.</a:t>
            </a:r>
          </a:p>
          <a:p>
            <a:endParaRPr dirty="0"/>
          </a:p>
          <a:p>
            <a:r>
              <a:rPr dirty="0"/>
              <a:t>- Whole-room debrief: sort discoveries into FOLLOW / CHOOSE / ENVIRONMENT / ARCHITECTURE / SPECIFICATION.</a:t>
            </a:r>
          </a:p>
          <a:p>
            <a:r>
              <a:rPr dirty="0"/>
              <a:t>- Ask teams for examples to populate verbally.</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dirty="0"/>
              <a:t>1.5 minutes — </a:t>
            </a:r>
            <a:r>
              <a:rPr i="1" dirty="0"/>
              <a:t>Reconstruct the full progression: constraints flow down, evidence flows up.</a:t>
            </a:r>
          </a:p>
          <a:p>
            <a:endParaRPr dirty="0"/>
          </a:p>
          <a:p>
            <a:r>
              <a:rPr dirty="0"/>
              <a:t>- Constraints flow down; evidence flows up.</a:t>
            </a:r>
          </a:p>
          <a:p>
            <a:r>
              <a:rPr dirty="0"/>
              <a:t>- Implementation is the terminal case — no fourth verbose definition.</a:t>
            </a:r>
          </a:p>
          <a:p>
            <a:endParaRPr dirty="0"/>
          </a:p>
          <a:p>
            <a:r>
              <a:rPr dirty="0"/>
              <a:t>=====</a:t>
            </a:r>
          </a:p>
          <a:p>
            <a:endParaRPr dirty="0"/>
          </a:p>
          <a:p>
            <a:r>
              <a:rPr dirty="0"/>
              <a:t>We now have the complete downward progression.</a:t>
            </a:r>
          </a:p>
          <a:p>
            <a:endParaRPr dirty="0"/>
          </a:p>
          <a:p>
            <a:r>
              <a:rPr dirty="0"/>
              <a:t>Specification narrows the space of acceptable systems.</a:t>
            </a:r>
          </a:p>
          <a:p>
            <a:endParaRPr dirty="0"/>
          </a:p>
          <a:p>
            <a:r>
              <a:rPr dirty="0"/>
              <a:t>Architecture chooses consequential organization for one of them and deliberately treats its major parts as units.</a:t>
            </a:r>
          </a:p>
          <a:p>
            <a:endParaRPr dirty="0"/>
          </a:p>
          <a:p>
            <a:r>
              <a:rPr dirty="0"/>
              <a:t>Design opens those units and chooses how they realize their responsibilities.</a:t>
            </a:r>
          </a:p>
          <a:p>
            <a:endParaRPr dirty="0"/>
          </a:p>
          <a:p>
            <a:r>
              <a:rPr dirty="0"/>
              <a:t>If what we open is still too large to reason about directly, the process recurs. We may establish another architecture at that scope and design within it.</a:t>
            </a:r>
          </a:p>
          <a:p>
            <a:endParaRPr dirty="0"/>
          </a:p>
          <a:p>
            <a:r>
              <a:rPr dirty="0"/>
              <a:t>Eventually the entities are small enough to reason about directly. Further decomposition no longer buys useful understanding. We implement them.</a:t>
            </a:r>
          </a:p>
          <a:p>
            <a:endParaRPr dirty="0"/>
          </a:p>
          <a:p>
            <a:r>
              <a:rPr dirty="0"/>
              <a:t>But notice the arrows are not only downward. Detailed work produces evidence. Design may reveal an architectural gap; implementation may reveal a Design error; experience may reveal that an apparent freedom should become durable engineering knowledge.</a:t>
            </a:r>
          </a:p>
          <a:p>
            <a:endParaRPr dirty="0"/>
          </a:p>
          <a:p>
            <a:r>
              <a:rPr dirty="0"/>
              <a:t>Engineering proceeds downward through constraints and upward through evidence.</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simple">
    <p:spTree>
      <p:nvGrpSpPr>
        <p:cNvPr id="1" name=""/>
        <p:cNvGrpSpPr/>
        <p:nvPr/>
      </p:nvGrpSpPr>
      <p:grpSpPr>
        <a:xfrm>
          <a:off x="0" y="0"/>
          <a:ext cx="0" cy="0"/>
          <a:chOff x="0" y="0"/>
          <a:chExt cx="0" cy="0"/>
        </a:xfrm>
      </p:grpSpPr>
      <p:sp>
        <p:nvSpPr>
          <p:cNvPr id="251918" name="Rectangle 14"/>
          <p:cNvSpPr>
            <a:spLocks noGrp="1" noChangeArrowheads="1"/>
          </p:cNvSpPr>
          <p:nvPr>
            <p:ph type="subTitle" idx="1"/>
          </p:nvPr>
        </p:nvSpPr>
        <p:spPr>
          <a:xfrm>
            <a:off x="1308100" y="3235325"/>
            <a:ext cx="6400800" cy="1881188"/>
          </a:xfrm>
        </p:spPr>
        <p:txBody>
          <a:bodyPr/>
          <a:lstStyle>
            <a:lvl1pPr marL="0" indent="0" algn="ctr">
              <a:buFont typeface="Times" pitchFamily="18" charset="0"/>
              <a:buNone/>
              <a:defRPr>
                <a:solidFill>
                  <a:srgbClr val="000000"/>
                </a:solidFill>
                <a:latin typeface="Calibri" panose="020F0502020204030204" pitchFamily="34" charset="0"/>
                <a:cs typeface="Calibri" panose="020F0502020204030204" pitchFamily="34" charset="0"/>
              </a:defRPr>
            </a:lvl1pPr>
          </a:lstStyle>
          <a:p>
            <a:r>
              <a:rPr lang="en-US" altLang="ko-KR" dirty="0"/>
              <a:t>Click to edit Master subtitle style</a:t>
            </a:r>
          </a:p>
        </p:txBody>
      </p:sp>
      <p:sp>
        <p:nvSpPr>
          <p:cNvPr id="251914" name="Rectangle 10"/>
          <p:cNvSpPr>
            <a:spLocks noGrp="1" noChangeArrowheads="1"/>
          </p:cNvSpPr>
          <p:nvPr>
            <p:ph type="ctrTitle" hasCustomPrompt="1"/>
          </p:nvPr>
        </p:nvSpPr>
        <p:spPr>
          <a:xfrm>
            <a:off x="1127125" y="2078038"/>
            <a:ext cx="7031038" cy="874712"/>
          </a:xfrm>
          <a:ln>
            <a:noFill/>
          </a:ln>
        </p:spPr>
        <p:txBody>
          <a:bodyPr/>
          <a:lstStyle>
            <a:lvl1pPr algn="ctr">
              <a:defRPr sz="3600" cap="none">
                <a:solidFill>
                  <a:srgbClr val="000000"/>
                </a:solidFill>
                <a:latin typeface="Calibri" panose="020F0502020204030204" pitchFamily="34" charset="0"/>
                <a:cs typeface="Calibri" panose="020F0502020204030204" pitchFamily="34" charset="0"/>
              </a:defRPr>
            </a:lvl1pPr>
          </a:lstStyle>
          <a:p>
            <a:r>
              <a:rPr lang="en-US" altLang="ko-KR" dirty="0"/>
              <a:t>Click to edit master title style</a:t>
            </a:r>
          </a:p>
        </p:txBody>
      </p:sp>
      <p:sp>
        <p:nvSpPr>
          <p:cNvPr id="8" name="Line 66">
            <a:extLst>
              <a:ext uri="{FF2B5EF4-FFF2-40B4-BE49-F238E27FC236}">
                <a16:creationId xmlns:a16="http://schemas.microsoft.com/office/drawing/2014/main" id="{9629C0A1-FA46-974B-8B59-DAFA34D587F5}"/>
              </a:ext>
            </a:extLst>
          </p:cNvPr>
          <p:cNvSpPr>
            <a:spLocks noChangeShapeType="1"/>
          </p:cNvSpPr>
          <p:nvPr userDrawn="1"/>
        </p:nvSpPr>
        <p:spPr bwMode="auto">
          <a:xfrm flipV="1">
            <a:off x="-16760" y="0"/>
            <a:ext cx="9144000" cy="0"/>
          </a:xfrm>
          <a:prstGeom prst="line">
            <a:avLst/>
          </a:prstGeom>
          <a:noFill/>
          <a:ln w="38100">
            <a:solidFill>
              <a:schemeClr val="accent1"/>
            </a:solidFill>
            <a:miter lim="800000"/>
            <a:headEnd/>
            <a:tailEnd/>
          </a:ln>
          <a:effectLst/>
        </p:spPr>
        <p:txBody>
          <a:bodyPr wrap="none"/>
          <a:lstStyle/>
          <a:p>
            <a:endParaRPr lang="ko-KR" altLang="en-US"/>
          </a:p>
        </p:txBody>
      </p:sp>
      <p:sp>
        <p:nvSpPr>
          <p:cNvPr id="11" name="Line 66">
            <a:extLst>
              <a:ext uri="{FF2B5EF4-FFF2-40B4-BE49-F238E27FC236}">
                <a16:creationId xmlns:a16="http://schemas.microsoft.com/office/drawing/2014/main" id="{F21F285B-3B58-4149-B959-9010CE636448}"/>
              </a:ext>
            </a:extLst>
          </p:cNvPr>
          <p:cNvSpPr>
            <a:spLocks noChangeShapeType="1"/>
          </p:cNvSpPr>
          <p:nvPr userDrawn="1"/>
        </p:nvSpPr>
        <p:spPr bwMode="auto">
          <a:xfrm flipV="1">
            <a:off x="0" y="6858000"/>
            <a:ext cx="9144000" cy="0"/>
          </a:xfrm>
          <a:prstGeom prst="line">
            <a:avLst/>
          </a:prstGeom>
          <a:noFill/>
          <a:ln w="38100">
            <a:solidFill>
              <a:schemeClr val="accent1"/>
            </a:solidFill>
            <a:miter lim="800000"/>
            <a:headEnd/>
            <a:tailEnd/>
          </a:ln>
          <a:effectLst/>
        </p:spPr>
        <p:txBody>
          <a:bodyPr wrap="none"/>
          <a:lstStyle/>
          <a:p>
            <a:endParaRPr lang="ko-KR" altLang="en-US"/>
          </a:p>
        </p:txBody>
      </p:sp>
      <p:sp>
        <p:nvSpPr>
          <p:cNvPr id="10" name="Slide Number Placeholder 4">
            <a:extLst>
              <a:ext uri="{FF2B5EF4-FFF2-40B4-BE49-F238E27FC236}">
                <a16:creationId xmlns:a16="http://schemas.microsoft.com/office/drawing/2014/main" id="{5F3C42A2-A875-7F49-9930-886B64F2621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pic>
        <p:nvPicPr>
          <p:cNvPr id="1026" name="Purdue CoBrand">
            <a:extLst>
              <a:ext uri="{FF2B5EF4-FFF2-40B4-BE49-F238E27FC236}">
                <a16:creationId xmlns:a16="http://schemas.microsoft.com/office/drawing/2014/main" id="{BCBD89D8-43BD-5D41-99C6-91B0B6A51904}"/>
              </a:ext>
            </a:extLst>
          </p:cNvPr>
          <p:cNvPicPr>
            <a:picLocks noChangeAspect="1"/>
          </p:cNvPicPr>
          <p:nvPr userDrawn="1"/>
        </p:nvPicPr>
        <p:blipFill>
          <a:blip r:embed="rId2"/>
          <a:stretch>
            <a:fillRect/>
          </a:stretch>
        </p:blipFill>
        <p:spPr>
          <a:xfrm>
            <a:off x="2097131" y="5715964"/>
            <a:ext cx="5091026" cy="542584"/>
          </a:xfrm>
          <a:prstGeom prst="rect">
            <a:avLst/>
          </a:prstGeom>
        </p:spPr>
      </p:pic>
    </p:spTree>
    <p:extLst>
      <p:ext uri="{BB962C8B-B14F-4D97-AF65-F5344CB8AC3E}">
        <p14:creationId xmlns:p14="http://schemas.microsoft.com/office/powerpoint/2010/main" val="423260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내용 개체 틀 2"/>
          <p:cNvSpPr>
            <a:spLocks noGrp="1"/>
          </p:cNvSpPr>
          <p:nvPr>
            <p:ph idx="1" hasCustomPrompt="1"/>
          </p:nvPr>
        </p:nvSpPr>
        <p:spPr>
          <a:xfrm>
            <a:off x="277148" y="1305004"/>
            <a:ext cx="8557768" cy="5166916"/>
          </a:xfrm>
        </p:spPr>
        <p:txBody>
          <a:bodyPr/>
          <a:lstStyle>
            <a:lvl2pPr>
              <a:defRPr/>
            </a:lvl2pPr>
            <a:lvl3pPr>
              <a:defRPr/>
            </a:lvl3pPr>
          </a:lstStyle>
          <a:p>
            <a:pPr lvl="0"/>
            <a:r>
              <a:rPr lang="en-US" altLang="ko-KR" dirty="0"/>
              <a:t>Words</a:t>
            </a:r>
            <a:endParaRPr lang="ko-KR" altLang="en-US" dirty="0"/>
          </a:p>
          <a:p>
            <a:pPr lvl="1"/>
            <a:r>
              <a:rPr lang="en-US" altLang="ko-KR" dirty="0"/>
              <a:t>Words</a:t>
            </a:r>
            <a:endParaRPr lang="ko-KR" altLang="en-US" dirty="0"/>
          </a:p>
          <a:p>
            <a:pPr lvl="2"/>
            <a:r>
              <a:rPr lang="en-US" altLang="ko-KR" dirty="0"/>
              <a:t>Words</a:t>
            </a:r>
          </a:p>
          <a:p>
            <a:pPr lvl="3"/>
            <a:r>
              <a:rPr lang="en-US" altLang="ko-KR" dirty="0"/>
              <a:t>Words</a:t>
            </a:r>
          </a:p>
          <a:p>
            <a:pPr lvl="4"/>
            <a:r>
              <a:rPr lang="en-US" altLang="ko-KR" dirty="0"/>
              <a:t>Words</a:t>
            </a:r>
            <a:endParaRPr lang="ko-KR" altLang="en-US" dirty="0"/>
          </a:p>
        </p:txBody>
      </p:sp>
      <p:sp>
        <p:nvSpPr>
          <p:cNvPr id="5" name="제목 1"/>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4" name="Line 66">
            <a:extLst>
              <a:ext uri="{FF2B5EF4-FFF2-40B4-BE49-F238E27FC236}">
                <a16:creationId xmlns:a16="http://schemas.microsoft.com/office/drawing/2014/main" id="{67B3E873-1394-3543-8BD2-2C910090ECBD}"/>
              </a:ext>
            </a:extLst>
          </p:cNvPr>
          <p:cNvSpPr>
            <a:spLocks noChangeShapeType="1"/>
          </p:cNvSpPr>
          <p:nvPr userDrawn="1"/>
        </p:nvSpPr>
        <p:spPr bwMode="auto">
          <a:xfrm flipV="1">
            <a:off x="277148" y="756603"/>
            <a:ext cx="8557769" cy="0"/>
          </a:xfrm>
          <a:prstGeom prst="line">
            <a:avLst/>
          </a:prstGeom>
          <a:noFill/>
          <a:ln w="38100">
            <a:solidFill>
              <a:schemeClr val="accent1"/>
            </a:solidFill>
            <a:miter lim="800000"/>
            <a:headEnd/>
            <a:tailEnd/>
          </a:ln>
          <a:effectLst/>
        </p:spPr>
        <p:txBody>
          <a:bodyPr wrap="none"/>
          <a:lstStyle/>
          <a:p>
            <a:endParaRPr lang="ko-KR" altLang="en-US"/>
          </a:p>
        </p:txBody>
      </p:sp>
      <p:sp>
        <p:nvSpPr>
          <p:cNvPr id="7" name="Slide Number Placeholder 4">
            <a:extLst>
              <a:ext uri="{FF2B5EF4-FFF2-40B4-BE49-F238E27FC236}">
                <a16:creationId xmlns:a16="http://schemas.microsoft.com/office/drawing/2014/main" id="{010635A2-0953-8C4C-807B-9F1EE80A1BFB}"/>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3328718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ouble content">
    <p:spTree>
      <p:nvGrpSpPr>
        <p:cNvPr id="1" name=""/>
        <p:cNvGrpSpPr/>
        <p:nvPr/>
      </p:nvGrpSpPr>
      <p:grpSpPr>
        <a:xfrm>
          <a:off x="0" y="0"/>
          <a:ext cx="0" cy="0"/>
          <a:chOff x="0" y="0"/>
          <a:chExt cx="0" cy="0"/>
        </a:xfrm>
      </p:grpSpPr>
      <p:sp>
        <p:nvSpPr>
          <p:cNvPr id="3" name="내용 개체 틀 2"/>
          <p:cNvSpPr>
            <a:spLocks noGrp="1"/>
          </p:cNvSpPr>
          <p:nvPr>
            <p:ph sz="half" idx="1" hasCustomPrompt="1"/>
          </p:nvPr>
        </p:nvSpPr>
        <p:spPr>
          <a:xfrm>
            <a:off x="484369" y="1250205"/>
            <a:ext cx="4038600" cy="4525963"/>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ltLang="ko-KR" dirty="0"/>
              <a:t>Words</a:t>
            </a:r>
          </a:p>
          <a:p>
            <a:pPr lvl="1"/>
            <a:r>
              <a:rPr lang="en-US" altLang="ko-KR" dirty="0"/>
              <a:t>Words</a:t>
            </a:r>
          </a:p>
          <a:p>
            <a:pPr lvl="2"/>
            <a:r>
              <a:rPr lang="en-US" altLang="ko-KR" dirty="0"/>
              <a:t>Words</a:t>
            </a:r>
          </a:p>
          <a:p>
            <a:pPr lvl="3"/>
            <a:r>
              <a:rPr lang="en-US" altLang="ko-KR" dirty="0"/>
              <a:t>Words</a:t>
            </a:r>
          </a:p>
          <a:p>
            <a:pPr lvl="4"/>
            <a:r>
              <a:rPr lang="en-US" altLang="ko-KR" dirty="0"/>
              <a:t>Words</a:t>
            </a:r>
            <a:endParaRPr lang="ko-KR" altLang="en-US" dirty="0"/>
          </a:p>
        </p:txBody>
      </p:sp>
      <p:sp>
        <p:nvSpPr>
          <p:cNvPr id="4" name="내용 개체 틀 3"/>
          <p:cNvSpPr>
            <a:spLocks noGrp="1"/>
          </p:cNvSpPr>
          <p:nvPr>
            <p:ph sz="half" idx="2" hasCustomPrompt="1"/>
          </p:nvPr>
        </p:nvSpPr>
        <p:spPr>
          <a:xfrm>
            <a:off x="4675369" y="1250205"/>
            <a:ext cx="4038600" cy="4525963"/>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ltLang="ko-KR" dirty="0"/>
              <a:t>Words</a:t>
            </a:r>
          </a:p>
          <a:p>
            <a:pPr lvl="1"/>
            <a:r>
              <a:rPr lang="en-US" altLang="ko-KR" dirty="0"/>
              <a:t>Words</a:t>
            </a:r>
          </a:p>
          <a:p>
            <a:pPr lvl="2"/>
            <a:r>
              <a:rPr lang="en-US" altLang="ko-KR" dirty="0"/>
              <a:t>Words</a:t>
            </a:r>
          </a:p>
          <a:p>
            <a:pPr lvl="3"/>
            <a:r>
              <a:rPr lang="en-US" altLang="ko-KR" dirty="0"/>
              <a:t>Words</a:t>
            </a:r>
          </a:p>
          <a:p>
            <a:pPr lvl="4"/>
            <a:r>
              <a:rPr lang="en-US" altLang="ko-KR" dirty="0"/>
              <a:t>Words</a:t>
            </a:r>
            <a:endParaRPr lang="ko-KR" altLang="en-US" dirty="0"/>
          </a:p>
        </p:txBody>
      </p:sp>
      <p:sp>
        <p:nvSpPr>
          <p:cNvPr id="7" name="Line 66">
            <a:extLst>
              <a:ext uri="{FF2B5EF4-FFF2-40B4-BE49-F238E27FC236}">
                <a16:creationId xmlns:a16="http://schemas.microsoft.com/office/drawing/2014/main" id="{43238AEC-E676-EF48-A1EE-CE1856C5DB86}"/>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12" name="제목 1">
            <a:extLst>
              <a:ext uri="{FF2B5EF4-FFF2-40B4-BE49-F238E27FC236}">
                <a16:creationId xmlns:a16="http://schemas.microsoft.com/office/drawing/2014/main" id="{4EEA1B3E-FF6B-734D-830E-C9FC203C0A8A}"/>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9" name="Slide Number Placeholder 4">
            <a:extLst>
              <a:ext uri="{FF2B5EF4-FFF2-40B4-BE49-F238E27FC236}">
                <a16:creationId xmlns:a16="http://schemas.microsoft.com/office/drawing/2014/main" id="{3596EAF3-2266-1C40-896A-50BCE8F3A592}"/>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94698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685800" y="2747963"/>
            <a:ext cx="7772400" cy="1362075"/>
          </a:xfrm>
          <a:ln>
            <a:noFill/>
          </a:ln>
        </p:spPr>
        <p:txBody>
          <a:bodyPr anchor="t"/>
          <a:lstStyle>
            <a:lvl1pPr algn="ctr">
              <a:defRPr sz="4000" b="0" cap="none"/>
            </a:lvl1pPr>
          </a:lstStyle>
          <a:p>
            <a:r>
              <a:rPr lang="en-US" altLang="ko-KR" dirty="0"/>
              <a:t>Section heading</a:t>
            </a:r>
            <a:endParaRPr lang="ko-KR" altLang="en-US" dirty="0"/>
          </a:p>
        </p:txBody>
      </p:sp>
      <p:sp>
        <p:nvSpPr>
          <p:cNvPr id="5" name="Line 66">
            <a:extLst>
              <a:ext uri="{FF2B5EF4-FFF2-40B4-BE49-F238E27FC236}">
                <a16:creationId xmlns:a16="http://schemas.microsoft.com/office/drawing/2014/main" id="{5A7CBECB-F891-1E49-A038-D12E9EBD544E}"/>
              </a:ext>
            </a:extLst>
          </p:cNvPr>
          <p:cNvSpPr>
            <a:spLocks noChangeShapeType="1"/>
          </p:cNvSpPr>
          <p:nvPr userDrawn="1"/>
        </p:nvSpPr>
        <p:spPr bwMode="auto">
          <a:xfrm flipV="1">
            <a:off x="-57794"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6" name="Line 66">
            <a:extLst>
              <a:ext uri="{FF2B5EF4-FFF2-40B4-BE49-F238E27FC236}">
                <a16:creationId xmlns:a16="http://schemas.microsoft.com/office/drawing/2014/main" id="{A0F4931F-670B-5345-A445-E4A05AED83C7}"/>
              </a:ext>
            </a:extLst>
          </p:cNvPr>
          <p:cNvSpPr>
            <a:spLocks noChangeShapeType="1"/>
          </p:cNvSpPr>
          <p:nvPr userDrawn="1"/>
        </p:nvSpPr>
        <p:spPr bwMode="auto">
          <a:xfrm flipV="1">
            <a:off x="-78517"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8" name="Slide Number Placeholder 4">
            <a:extLst>
              <a:ext uri="{FF2B5EF4-FFF2-40B4-BE49-F238E27FC236}">
                <a16:creationId xmlns:a16="http://schemas.microsoft.com/office/drawing/2014/main" id="{8B85C08C-FD8D-C643-B13D-155D9A63D59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909255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ouble content - titled">
    <p:spTree>
      <p:nvGrpSpPr>
        <p:cNvPr id="1" name=""/>
        <p:cNvGrpSpPr/>
        <p:nvPr/>
      </p:nvGrpSpPr>
      <p:grpSpPr>
        <a:xfrm>
          <a:off x="0" y="0"/>
          <a:ext cx="0" cy="0"/>
          <a:chOff x="0" y="0"/>
          <a:chExt cx="0" cy="0"/>
        </a:xfrm>
      </p:grpSpPr>
      <p:sp>
        <p:nvSpPr>
          <p:cNvPr id="3" name="텍스트 개체 틀 2"/>
          <p:cNvSpPr>
            <a:spLocks noGrp="1"/>
          </p:cNvSpPr>
          <p:nvPr>
            <p:ph type="body" idx="1" hasCustomPrompt="1"/>
          </p:nvPr>
        </p:nvSpPr>
        <p:spPr>
          <a:xfrm>
            <a:off x="457200" y="1258655"/>
            <a:ext cx="4040188" cy="639762"/>
          </a:xfrm>
        </p:spPr>
        <p:txBody>
          <a:bodyPr anchor="b"/>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dirty="0"/>
              <a:t>Left title</a:t>
            </a:r>
            <a:endParaRPr lang="ko-KR" altLang="en-US" dirty="0"/>
          </a:p>
        </p:txBody>
      </p:sp>
      <p:sp>
        <p:nvSpPr>
          <p:cNvPr id="4" name="내용 개체 틀 3"/>
          <p:cNvSpPr>
            <a:spLocks noGrp="1"/>
          </p:cNvSpPr>
          <p:nvPr>
            <p:ph sz="half" idx="2" hasCustomPrompt="1"/>
          </p:nvPr>
        </p:nvSpPr>
        <p:spPr>
          <a:xfrm>
            <a:off x="457200" y="1898417"/>
            <a:ext cx="4040188" cy="3951288"/>
          </a:xfrm>
        </p:spPr>
        <p:txBody>
          <a:bodyPr/>
          <a:lstStyle>
            <a:lvl1pPr>
              <a:defRPr sz="3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dirty="0"/>
              <a:t>Words</a:t>
            </a:r>
            <a:endParaRPr lang="ko-KR" altLang="en-US" dirty="0"/>
          </a:p>
        </p:txBody>
      </p:sp>
      <p:sp>
        <p:nvSpPr>
          <p:cNvPr id="5" name="텍스트 개체 틀 4"/>
          <p:cNvSpPr>
            <a:spLocks noGrp="1"/>
          </p:cNvSpPr>
          <p:nvPr>
            <p:ph type="body" sz="quarter" idx="3" hasCustomPrompt="1"/>
          </p:nvPr>
        </p:nvSpPr>
        <p:spPr>
          <a:xfrm>
            <a:off x="4645025" y="1258655"/>
            <a:ext cx="4041775" cy="639762"/>
          </a:xfrm>
        </p:spPr>
        <p:txBody>
          <a:bodyPr anchor="b"/>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dirty="0"/>
              <a:t>Right title</a:t>
            </a:r>
            <a:endParaRPr lang="ko-KR" altLang="en-US" dirty="0"/>
          </a:p>
        </p:txBody>
      </p:sp>
      <p:sp>
        <p:nvSpPr>
          <p:cNvPr id="6" name="내용 개체 틀 5"/>
          <p:cNvSpPr>
            <a:spLocks noGrp="1"/>
          </p:cNvSpPr>
          <p:nvPr>
            <p:ph sz="quarter" idx="4" hasCustomPrompt="1"/>
          </p:nvPr>
        </p:nvSpPr>
        <p:spPr>
          <a:xfrm>
            <a:off x="4645025" y="1898417"/>
            <a:ext cx="4041775" cy="3951288"/>
          </a:xfrm>
        </p:spPr>
        <p:txBody>
          <a:bodyPr/>
          <a:lstStyle>
            <a:lvl1pPr>
              <a:defRPr sz="3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dirty="0"/>
              <a:t>Words</a:t>
            </a:r>
            <a:endParaRPr lang="ko-KR" altLang="en-US" dirty="0"/>
          </a:p>
        </p:txBody>
      </p:sp>
      <p:sp>
        <p:nvSpPr>
          <p:cNvPr id="9" name="Line 66">
            <a:extLst>
              <a:ext uri="{FF2B5EF4-FFF2-40B4-BE49-F238E27FC236}">
                <a16:creationId xmlns:a16="http://schemas.microsoft.com/office/drawing/2014/main" id="{2473502F-33E0-294C-B0A7-D634CB781736}"/>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13" name="제목 1">
            <a:extLst>
              <a:ext uri="{FF2B5EF4-FFF2-40B4-BE49-F238E27FC236}">
                <a16:creationId xmlns:a16="http://schemas.microsoft.com/office/drawing/2014/main" id="{AA231EA3-1A2F-1844-B410-74339C343F3B}"/>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11" name="Slide Number Placeholder 4">
            <a:extLst>
              <a:ext uri="{FF2B5EF4-FFF2-40B4-BE49-F238E27FC236}">
                <a16:creationId xmlns:a16="http://schemas.microsoft.com/office/drawing/2014/main" id="{9B355AFC-141A-4E45-A581-13630ADD3A56}"/>
              </a:ext>
            </a:extLst>
          </p:cNvPr>
          <p:cNvSpPr>
            <a:spLocks noGrp="1"/>
          </p:cNvSpPr>
          <p:nvPr>
            <p:ph type="sldNum" sz="quarter" idx="11"/>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721691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Just borders">
    <p:spTree>
      <p:nvGrpSpPr>
        <p:cNvPr id="1" name=""/>
        <p:cNvGrpSpPr/>
        <p:nvPr/>
      </p:nvGrpSpPr>
      <p:grpSpPr>
        <a:xfrm>
          <a:off x="0" y="0"/>
          <a:ext cx="0" cy="0"/>
          <a:chOff x="0" y="0"/>
          <a:chExt cx="0" cy="0"/>
        </a:xfrm>
      </p:grpSpPr>
      <p:sp>
        <p:nvSpPr>
          <p:cNvPr id="6" name="Line 66">
            <a:extLst>
              <a:ext uri="{FF2B5EF4-FFF2-40B4-BE49-F238E27FC236}">
                <a16:creationId xmlns:a16="http://schemas.microsoft.com/office/drawing/2014/main" id="{5FBB5167-3962-F644-A1B0-164B48533467}"/>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4" name="Line 66">
            <a:extLst>
              <a:ext uri="{FF2B5EF4-FFF2-40B4-BE49-F238E27FC236}">
                <a16:creationId xmlns:a16="http://schemas.microsoft.com/office/drawing/2014/main" id="{E355375E-B5F3-774A-87F7-3A95BA8BDF7B}"/>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7" name="Slide Number Placeholder 4">
            <a:extLst>
              <a:ext uri="{FF2B5EF4-FFF2-40B4-BE49-F238E27FC236}">
                <a16:creationId xmlns:a16="http://schemas.microsoft.com/office/drawing/2014/main" id="{6ABDBE64-F9E8-B742-A7A4-414B9EF73E5D}"/>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1735298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adrants">
    <p:spTree>
      <p:nvGrpSpPr>
        <p:cNvPr id="1" name=""/>
        <p:cNvGrpSpPr/>
        <p:nvPr/>
      </p:nvGrpSpPr>
      <p:grpSpPr>
        <a:xfrm>
          <a:off x="0" y="0"/>
          <a:ext cx="0" cy="0"/>
          <a:chOff x="0" y="0"/>
          <a:chExt cx="0" cy="0"/>
        </a:xfrm>
      </p:grpSpPr>
      <p:sp>
        <p:nvSpPr>
          <p:cNvPr id="6" name="Line 66">
            <a:extLst>
              <a:ext uri="{FF2B5EF4-FFF2-40B4-BE49-F238E27FC236}">
                <a16:creationId xmlns:a16="http://schemas.microsoft.com/office/drawing/2014/main" id="{5FBB5167-3962-F644-A1B0-164B48533467}"/>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4" name="Line 66">
            <a:extLst>
              <a:ext uri="{FF2B5EF4-FFF2-40B4-BE49-F238E27FC236}">
                <a16:creationId xmlns:a16="http://schemas.microsoft.com/office/drawing/2014/main" id="{E355375E-B5F3-774A-87F7-3A95BA8BDF7B}"/>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5" name="그림 개체 틀 2">
            <a:extLst>
              <a:ext uri="{FF2B5EF4-FFF2-40B4-BE49-F238E27FC236}">
                <a16:creationId xmlns:a16="http://schemas.microsoft.com/office/drawing/2014/main" id="{672F7B82-6823-A344-B297-9A5CC48E1F13}"/>
              </a:ext>
            </a:extLst>
          </p:cNvPr>
          <p:cNvSpPr>
            <a:spLocks noGrp="1"/>
          </p:cNvSpPr>
          <p:nvPr>
            <p:ph type="pic" idx="1"/>
          </p:nvPr>
        </p:nvSpPr>
        <p:spPr>
          <a:xfrm>
            <a:off x="877888" y="765140"/>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7" name="그림 개체 틀 2">
            <a:extLst>
              <a:ext uri="{FF2B5EF4-FFF2-40B4-BE49-F238E27FC236}">
                <a16:creationId xmlns:a16="http://schemas.microsoft.com/office/drawing/2014/main" id="{07CA502D-41E1-4240-B817-57AFD70BC6F0}"/>
              </a:ext>
            </a:extLst>
          </p:cNvPr>
          <p:cNvSpPr>
            <a:spLocks noGrp="1"/>
          </p:cNvSpPr>
          <p:nvPr>
            <p:ph type="pic" idx="10"/>
          </p:nvPr>
        </p:nvSpPr>
        <p:spPr>
          <a:xfrm>
            <a:off x="5204723" y="765140"/>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12" name="그림 개체 틀 2">
            <a:extLst>
              <a:ext uri="{FF2B5EF4-FFF2-40B4-BE49-F238E27FC236}">
                <a16:creationId xmlns:a16="http://schemas.microsoft.com/office/drawing/2014/main" id="{D1C72364-3DC9-604F-9514-883DF7EEBE18}"/>
              </a:ext>
            </a:extLst>
          </p:cNvPr>
          <p:cNvSpPr>
            <a:spLocks noGrp="1"/>
          </p:cNvSpPr>
          <p:nvPr>
            <p:ph type="pic" idx="11"/>
          </p:nvPr>
        </p:nvSpPr>
        <p:spPr>
          <a:xfrm>
            <a:off x="877887" y="3596647"/>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16" name="그림 개체 틀 2">
            <a:extLst>
              <a:ext uri="{FF2B5EF4-FFF2-40B4-BE49-F238E27FC236}">
                <a16:creationId xmlns:a16="http://schemas.microsoft.com/office/drawing/2014/main" id="{4193784B-AAFC-0447-AC84-915471C69183}"/>
              </a:ext>
            </a:extLst>
          </p:cNvPr>
          <p:cNvSpPr>
            <a:spLocks noGrp="1"/>
          </p:cNvSpPr>
          <p:nvPr>
            <p:ph type="pic" idx="12"/>
          </p:nvPr>
        </p:nvSpPr>
        <p:spPr>
          <a:xfrm>
            <a:off x="5204723" y="3616525"/>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32" name="Text Placeholder 31">
            <a:extLst>
              <a:ext uri="{FF2B5EF4-FFF2-40B4-BE49-F238E27FC236}">
                <a16:creationId xmlns:a16="http://schemas.microsoft.com/office/drawing/2014/main" id="{4036BF46-3CC3-FB43-A785-15DF5595B707}"/>
              </a:ext>
            </a:extLst>
          </p:cNvPr>
          <p:cNvSpPr>
            <a:spLocks noGrp="1"/>
          </p:cNvSpPr>
          <p:nvPr>
            <p:ph type="body" sz="quarter" idx="13" hasCustomPrompt="1"/>
          </p:nvPr>
        </p:nvSpPr>
        <p:spPr>
          <a:xfrm>
            <a:off x="877819" y="213987"/>
            <a:ext cx="3136900" cy="550603"/>
          </a:xfrm>
        </p:spPr>
        <p:txBody>
          <a:bodyPr/>
          <a:lstStyle>
            <a:lvl1pPr marL="0" indent="0" algn="ctr">
              <a:buNone/>
              <a:defRPr sz="3200"/>
            </a:lvl1pPr>
          </a:lstStyle>
          <a:p>
            <a:pPr lvl="0"/>
            <a:r>
              <a:rPr lang="en-US" dirty="0"/>
              <a:t>Title</a:t>
            </a:r>
          </a:p>
        </p:txBody>
      </p:sp>
      <p:sp>
        <p:nvSpPr>
          <p:cNvPr id="36" name="Text Placeholder 31">
            <a:extLst>
              <a:ext uri="{FF2B5EF4-FFF2-40B4-BE49-F238E27FC236}">
                <a16:creationId xmlns:a16="http://schemas.microsoft.com/office/drawing/2014/main" id="{8484378F-A4EB-7845-937E-05F967178942}"/>
              </a:ext>
            </a:extLst>
          </p:cNvPr>
          <p:cNvSpPr>
            <a:spLocks noGrp="1"/>
          </p:cNvSpPr>
          <p:nvPr>
            <p:ph type="body" sz="quarter" idx="14" hasCustomPrompt="1"/>
          </p:nvPr>
        </p:nvSpPr>
        <p:spPr>
          <a:xfrm>
            <a:off x="5205344" y="213987"/>
            <a:ext cx="3136900" cy="550603"/>
          </a:xfrm>
        </p:spPr>
        <p:txBody>
          <a:bodyPr/>
          <a:lstStyle>
            <a:lvl1pPr marL="0" indent="0" algn="ctr">
              <a:buNone/>
              <a:defRPr sz="3200"/>
            </a:lvl1pPr>
          </a:lstStyle>
          <a:p>
            <a:pPr lvl="0"/>
            <a:r>
              <a:rPr lang="en-US" dirty="0"/>
              <a:t>Title</a:t>
            </a:r>
          </a:p>
        </p:txBody>
      </p:sp>
      <p:sp>
        <p:nvSpPr>
          <p:cNvPr id="37" name="Text Placeholder 31">
            <a:extLst>
              <a:ext uri="{FF2B5EF4-FFF2-40B4-BE49-F238E27FC236}">
                <a16:creationId xmlns:a16="http://schemas.microsoft.com/office/drawing/2014/main" id="{1EB6C479-EE50-B041-BED8-613EFA5D95F7}"/>
              </a:ext>
            </a:extLst>
          </p:cNvPr>
          <p:cNvSpPr>
            <a:spLocks noGrp="1"/>
          </p:cNvSpPr>
          <p:nvPr>
            <p:ph type="body" sz="quarter" idx="15" hasCustomPrompt="1"/>
          </p:nvPr>
        </p:nvSpPr>
        <p:spPr>
          <a:xfrm>
            <a:off x="877819" y="6093410"/>
            <a:ext cx="3136900" cy="550603"/>
          </a:xfrm>
        </p:spPr>
        <p:txBody>
          <a:bodyPr/>
          <a:lstStyle>
            <a:lvl1pPr marL="0" indent="0" algn="ctr">
              <a:buNone/>
              <a:defRPr sz="3200"/>
            </a:lvl1pPr>
          </a:lstStyle>
          <a:p>
            <a:pPr lvl="0"/>
            <a:r>
              <a:rPr lang="en-US" dirty="0"/>
              <a:t>Title</a:t>
            </a:r>
          </a:p>
        </p:txBody>
      </p:sp>
      <p:sp>
        <p:nvSpPr>
          <p:cNvPr id="38" name="Text Placeholder 31">
            <a:extLst>
              <a:ext uri="{FF2B5EF4-FFF2-40B4-BE49-F238E27FC236}">
                <a16:creationId xmlns:a16="http://schemas.microsoft.com/office/drawing/2014/main" id="{7D0CA80B-F16F-FF48-80A3-27652129D326}"/>
              </a:ext>
            </a:extLst>
          </p:cNvPr>
          <p:cNvSpPr>
            <a:spLocks noGrp="1"/>
          </p:cNvSpPr>
          <p:nvPr>
            <p:ph type="body" sz="quarter" idx="16" hasCustomPrompt="1"/>
          </p:nvPr>
        </p:nvSpPr>
        <p:spPr>
          <a:xfrm>
            <a:off x="5205344" y="6093410"/>
            <a:ext cx="3136900" cy="550603"/>
          </a:xfrm>
        </p:spPr>
        <p:txBody>
          <a:bodyPr/>
          <a:lstStyle>
            <a:lvl1pPr marL="0" indent="0" algn="ctr">
              <a:buNone/>
              <a:defRPr sz="3200"/>
            </a:lvl1pPr>
          </a:lstStyle>
          <a:p>
            <a:pPr lvl="0"/>
            <a:r>
              <a:rPr lang="en-US" dirty="0"/>
              <a:t>Title</a:t>
            </a:r>
          </a:p>
        </p:txBody>
      </p:sp>
      <p:sp>
        <p:nvSpPr>
          <p:cNvPr id="14" name="Slide Number Placeholder 4">
            <a:extLst>
              <a:ext uri="{FF2B5EF4-FFF2-40B4-BE49-F238E27FC236}">
                <a16:creationId xmlns:a16="http://schemas.microsoft.com/office/drawing/2014/main" id="{A66D64DC-EDD3-FD46-B93B-F8B818A43FD0}"/>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822395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1792288" y="4800600"/>
            <a:ext cx="5486400" cy="566738"/>
          </a:xfrm>
        </p:spPr>
        <p:txBody>
          <a:bodyPr/>
          <a:lstStyle>
            <a:lvl1pPr algn="l">
              <a:defRPr sz="2000" b="1">
                <a:latin typeface="Calibri" panose="020F0502020204030204" pitchFamily="34" charset="0"/>
                <a:cs typeface="Calibri" panose="020F0502020204030204" pitchFamily="34" charset="0"/>
              </a:defRPr>
            </a:lvl1pPr>
          </a:lstStyle>
          <a:p>
            <a:r>
              <a:rPr lang="en-US" altLang="ko-KR" dirty="0"/>
              <a:t>Title</a:t>
            </a:r>
            <a:endParaRPr lang="ko-KR" altLang="en-US" dirty="0"/>
          </a:p>
        </p:txBody>
      </p:sp>
      <p:sp>
        <p:nvSpPr>
          <p:cNvPr id="3" name="그림 개체 틀 2"/>
          <p:cNvSpPr>
            <a:spLocks noGrp="1"/>
          </p:cNvSpPr>
          <p:nvPr>
            <p:ph type="pic" idx="1"/>
          </p:nvPr>
        </p:nvSpPr>
        <p:spPr>
          <a:xfrm>
            <a:off x="1792288" y="612775"/>
            <a:ext cx="5486400" cy="4114800"/>
          </a:xfrm>
        </p:spPr>
        <p:txBody>
          <a:bodyPr/>
          <a:lstStyle>
            <a:lvl1pPr marL="0" indent="0">
              <a:buNone/>
              <a:defRPr sz="3200">
                <a:latin typeface="Calibri" panose="020F0502020204030204" pitchFamily="34" charset="0"/>
                <a:cs typeface="Calibri" panose="020F050202020403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dirty="0"/>
          </a:p>
        </p:txBody>
      </p:sp>
      <p:sp>
        <p:nvSpPr>
          <p:cNvPr id="4" name="텍스트 개체 틀 3"/>
          <p:cNvSpPr>
            <a:spLocks noGrp="1"/>
          </p:cNvSpPr>
          <p:nvPr>
            <p:ph type="body" sz="half" idx="2" hasCustomPrompt="1"/>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ko-KR" dirty="0"/>
              <a:t>Remarks</a:t>
            </a:r>
            <a:endParaRPr lang="ko-KR" altLang="en-US" dirty="0"/>
          </a:p>
        </p:txBody>
      </p:sp>
      <p:sp>
        <p:nvSpPr>
          <p:cNvPr id="7" name="Line 66">
            <a:extLst>
              <a:ext uri="{FF2B5EF4-FFF2-40B4-BE49-F238E27FC236}">
                <a16:creationId xmlns:a16="http://schemas.microsoft.com/office/drawing/2014/main" id="{00379C94-9660-514E-8573-54286DE89411}"/>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8" name="Line 66">
            <a:extLst>
              <a:ext uri="{FF2B5EF4-FFF2-40B4-BE49-F238E27FC236}">
                <a16:creationId xmlns:a16="http://schemas.microsoft.com/office/drawing/2014/main" id="{D15DDF22-1F41-F644-A1F1-7ADD56BDE3A3}"/>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11" name="Slide Number Placeholder 4">
            <a:extLst>
              <a:ext uri="{FF2B5EF4-FFF2-40B4-BE49-F238E27FC236}">
                <a16:creationId xmlns:a16="http://schemas.microsoft.com/office/drawing/2014/main" id="{68A78BD7-835C-4B42-B0A0-24D4E1AA390B}"/>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69961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ributions">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93A8F23-A2CA-264E-8907-B0144A7D91AF}"/>
              </a:ext>
            </a:extLst>
          </p:cNvPr>
          <p:cNvSpPr>
            <a:spLocks noGrp="1"/>
          </p:cNvSpPr>
          <p:nvPr>
            <p:ph type="body" sz="quarter" idx="10" hasCustomPrompt="1"/>
          </p:nvPr>
        </p:nvSpPr>
        <p:spPr>
          <a:xfrm>
            <a:off x="595200" y="1060230"/>
            <a:ext cx="6064017" cy="1838037"/>
          </a:xfrm>
        </p:spPr>
        <p:txBody>
          <a:bodyPr/>
          <a:lstStyle>
            <a:lvl1pPr marL="0" marR="0" indent="0" algn="l" defTabSz="914400" rtl="0" eaLnBrk="1" fontAlgn="base" latinLnBrk="0" hangingPunct="1">
              <a:lnSpc>
                <a:spcPct val="100000"/>
              </a:lnSpc>
              <a:spcBef>
                <a:spcPct val="20000"/>
              </a:spcBef>
              <a:spcAft>
                <a:spcPct val="0"/>
              </a:spcAft>
              <a:buClr>
                <a:srgbClr val="000000"/>
              </a:buClr>
              <a:buSzPct val="120000"/>
              <a:buFont typeface="+mj-lt"/>
              <a:buNone/>
              <a:tabLst/>
              <a:defRPr sz="2600" b="0" u="sng">
                <a:effectLst/>
              </a:defRPr>
            </a:lvl1pPr>
          </a:lstStyle>
          <a:p>
            <a:pPr lvl="0"/>
            <a:r>
              <a:rPr lang="en-US" dirty="0"/>
              <a:t>Contribution 1</a:t>
            </a:r>
            <a:r>
              <a:rPr lang="en-US" b="1" u="none" dirty="0"/>
              <a:t>		Details</a:t>
            </a:r>
          </a:p>
          <a:p>
            <a:pPr lvl="0"/>
            <a:endParaRPr lang="en-US" b="1" u="none" dirty="0"/>
          </a:p>
          <a:p>
            <a:pPr lvl="0"/>
            <a:endParaRPr lang="en-US" b="1" u="none" dirty="0"/>
          </a:p>
          <a:p>
            <a:pPr lvl="0"/>
            <a:endParaRPr lang="en-US" b="1" u="none" dirty="0"/>
          </a:p>
          <a:p>
            <a:pPr lvl="0"/>
            <a:endParaRPr lang="en-US" dirty="0"/>
          </a:p>
        </p:txBody>
      </p:sp>
      <p:sp>
        <p:nvSpPr>
          <p:cNvPr id="5" name="Line 66">
            <a:extLst>
              <a:ext uri="{FF2B5EF4-FFF2-40B4-BE49-F238E27FC236}">
                <a16:creationId xmlns:a16="http://schemas.microsoft.com/office/drawing/2014/main" id="{86516E46-FEB4-8747-ABDB-067B42ABF68D}"/>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8" name="Picture Placeholder 7">
            <a:extLst>
              <a:ext uri="{FF2B5EF4-FFF2-40B4-BE49-F238E27FC236}">
                <a16:creationId xmlns:a16="http://schemas.microsoft.com/office/drawing/2014/main" id="{21898EFD-2916-7E45-875E-EDC4A17C4091}"/>
              </a:ext>
            </a:extLst>
          </p:cNvPr>
          <p:cNvSpPr>
            <a:spLocks noGrp="1"/>
          </p:cNvSpPr>
          <p:nvPr>
            <p:ph type="pic" sz="quarter" idx="11"/>
          </p:nvPr>
        </p:nvSpPr>
        <p:spPr>
          <a:xfrm>
            <a:off x="1761066" y="1749288"/>
            <a:ext cx="1456267" cy="914400"/>
          </a:xfrm>
        </p:spPr>
        <p:txBody>
          <a:bodyPr/>
          <a:lstStyle/>
          <a:p>
            <a:endParaRPr lang="en-US"/>
          </a:p>
        </p:txBody>
      </p:sp>
      <p:sp>
        <p:nvSpPr>
          <p:cNvPr id="9" name="Picture Placeholder 7">
            <a:extLst>
              <a:ext uri="{FF2B5EF4-FFF2-40B4-BE49-F238E27FC236}">
                <a16:creationId xmlns:a16="http://schemas.microsoft.com/office/drawing/2014/main" id="{1F72ABDE-5179-AD48-8D9D-B12289E15BEC}"/>
              </a:ext>
            </a:extLst>
          </p:cNvPr>
          <p:cNvSpPr>
            <a:spLocks noGrp="1"/>
          </p:cNvSpPr>
          <p:nvPr>
            <p:ph type="pic" sz="quarter" idx="12"/>
          </p:nvPr>
        </p:nvSpPr>
        <p:spPr>
          <a:xfrm>
            <a:off x="3843866" y="1749288"/>
            <a:ext cx="1456267" cy="914400"/>
          </a:xfrm>
        </p:spPr>
        <p:txBody>
          <a:bodyPr/>
          <a:lstStyle/>
          <a:p>
            <a:endParaRPr lang="en-US"/>
          </a:p>
        </p:txBody>
      </p:sp>
      <p:sp>
        <p:nvSpPr>
          <p:cNvPr id="22" name="Text Placeholder 3">
            <a:extLst>
              <a:ext uri="{FF2B5EF4-FFF2-40B4-BE49-F238E27FC236}">
                <a16:creationId xmlns:a16="http://schemas.microsoft.com/office/drawing/2014/main" id="{B91A572F-A890-4245-9D69-1E7986ADF746}"/>
              </a:ext>
            </a:extLst>
          </p:cNvPr>
          <p:cNvSpPr>
            <a:spLocks noGrp="1"/>
          </p:cNvSpPr>
          <p:nvPr>
            <p:ph type="body" sz="quarter" idx="13" hasCustomPrompt="1"/>
          </p:nvPr>
        </p:nvSpPr>
        <p:spPr>
          <a:xfrm>
            <a:off x="595200" y="3129880"/>
            <a:ext cx="6064017" cy="1838037"/>
          </a:xfrm>
        </p:spPr>
        <p:txBody>
          <a:bodyPr/>
          <a:lstStyle>
            <a:lvl1pPr marL="0" marR="0" indent="0" algn="l" defTabSz="914400" rtl="0" eaLnBrk="1" fontAlgn="base" latinLnBrk="0" hangingPunct="1">
              <a:lnSpc>
                <a:spcPct val="100000"/>
              </a:lnSpc>
              <a:spcBef>
                <a:spcPct val="20000"/>
              </a:spcBef>
              <a:spcAft>
                <a:spcPct val="0"/>
              </a:spcAft>
              <a:buClr>
                <a:srgbClr val="000000"/>
              </a:buClr>
              <a:buSzPct val="120000"/>
              <a:buFont typeface="+mj-lt"/>
              <a:buNone/>
              <a:tabLst/>
              <a:defRPr sz="2600" b="0" u="sng">
                <a:effectLst/>
              </a:defRPr>
            </a:lvl1pPr>
          </a:lstStyle>
          <a:p>
            <a:pPr lvl="0"/>
            <a:r>
              <a:rPr lang="en-US" dirty="0"/>
              <a:t>Contribution 2</a:t>
            </a:r>
            <a:r>
              <a:rPr lang="en-US" b="1" u="none" dirty="0"/>
              <a:t>		Details</a:t>
            </a:r>
          </a:p>
          <a:p>
            <a:pPr lvl="0"/>
            <a:endParaRPr lang="en-US" b="1" u="none" dirty="0"/>
          </a:p>
          <a:p>
            <a:pPr lvl="0"/>
            <a:endParaRPr lang="en-US" b="1" u="none" dirty="0"/>
          </a:p>
          <a:p>
            <a:pPr lvl="0"/>
            <a:endParaRPr lang="en-US" b="1" u="none" dirty="0"/>
          </a:p>
          <a:p>
            <a:pPr lvl="0"/>
            <a:endParaRPr lang="en-US" dirty="0"/>
          </a:p>
        </p:txBody>
      </p:sp>
      <p:sp>
        <p:nvSpPr>
          <p:cNvPr id="23" name="Picture Placeholder 7">
            <a:extLst>
              <a:ext uri="{FF2B5EF4-FFF2-40B4-BE49-F238E27FC236}">
                <a16:creationId xmlns:a16="http://schemas.microsoft.com/office/drawing/2014/main" id="{15D737B2-4D4D-4242-8E23-8DE607338BCE}"/>
              </a:ext>
            </a:extLst>
          </p:cNvPr>
          <p:cNvSpPr>
            <a:spLocks noGrp="1"/>
          </p:cNvSpPr>
          <p:nvPr>
            <p:ph type="pic" sz="quarter" idx="14"/>
          </p:nvPr>
        </p:nvSpPr>
        <p:spPr>
          <a:xfrm>
            <a:off x="1761066" y="3818938"/>
            <a:ext cx="1456267" cy="914400"/>
          </a:xfrm>
        </p:spPr>
        <p:txBody>
          <a:bodyPr/>
          <a:lstStyle/>
          <a:p>
            <a:endParaRPr lang="en-US"/>
          </a:p>
        </p:txBody>
      </p:sp>
      <p:sp>
        <p:nvSpPr>
          <p:cNvPr id="24" name="Picture Placeholder 7">
            <a:extLst>
              <a:ext uri="{FF2B5EF4-FFF2-40B4-BE49-F238E27FC236}">
                <a16:creationId xmlns:a16="http://schemas.microsoft.com/office/drawing/2014/main" id="{96C1B088-3A02-5945-975E-54F1F9D0E5EF}"/>
              </a:ext>
            </a:extLst>
          </p:cNvPr>
          <p:cNvSpPr>
            <a:spLocks noGrp="1"/>
          </p:cNvSpPr>
          <p:nvPr>
            <p:ph type="pic" sz="quarter" idx="15"/>
          </p:nvPr>
        </p:nvSpPr>
        <p:spPr>
          <a:xfrm>
            <a:off x="3843866" y="3818938"/>
            <a:ext cx="1456267" cy="914400"/>
          </a:xfrm>
        </p:spPr>
        <p:txBody>
          <a:bodyPr/>
          <a:lstStyle/>
          <a:p>
            <a:endParaRPr lang="en-US"/>
          </a:p>
        </p:txBody>
      </p:sp>
      <p:sp>
        <p:nvSpPr>
          <p:cNvPr id="11" name="제목 1">
            <a:extLst>
              <a:ext uri="{FF2B5EF4-FFF2-40B4-BE49-F238E27FC236}">
                <a16:creationId xmlns:a16="http://schemas.microsoft.com/office/drawing/2014/main" id="{763F7E14-41AB-9449-929A-4F43668AF032}"/>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Summary of contributions</a:t>
            </a:r>
            <a:endParaRPr lang="ko-KR" altLang="en-US" dirty="0"/>
          </a:p>
        </p:txBody>
      </p:sp>
      <p:sp>
        <p:nvSpPr>
          <p:cNvPr id="13" name="Slide Number Placeholder 4">
            <a:extLst>
              <a:ext uri="{FF2B5EF4-FFF2-40B4-BE49-F238E27FC236}">
                <a16:creationId xmlns:a16="http://schemas.microsoft.com/office/drawing/2014/main" id="{218A7F7C-A154-3640-88AE-9E855B94CC38}"/>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625959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1606045" y="964692"/>
            <a:ext cx="5937755"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dirty="0"/>
              <a:t>Click to edit master title style</a:t>
            </a:r>
          </a:p>
        </p:txBody>
      </p:sp>
      <p:sp>
        <p:nvSpPr>
          <p:cNvPr id="3" name="Text Placeholder 2"/>
          <p:cNvSpPr>
            <a:spLocks noGrp="1"/>
          </p:cNvSpPr>
          <p:nvPr>
            <p:ph type="body" idx="1"/>
          </p:nvPr>
        </p:nvSpPr>
        <p:spPr>
          <a:xfrm>
            <a:off x="1606045" y="2638045"/>
            <a:ext cx="5937755"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descr="A close up of a sign&#10;&#10;Description automatically generated">
            <a:extLst>
              <a:ext uri="{FF2B5EF4-FFF2-40B4-BE49-F238E27FC236}">
                <a16:creationId xmlns:a16="http://schemas.microsoft.com/office/drawing/2014/main" id="{C6965342-B6F4-4E4D-AE27-465DB42B2B52}"/>
              </a:ext>
            </a:extLst>
          </p:cNvPr>
          <p:cNvPicPr>
            <a:picLocks noChangeAspect="1"/>
          </p:cNvPicPr>
          <p:nvPr userDrawn="1"/>
        </p:nvPicPr>
        <p:blipFill>
          <a:blip r:embed="rId11"/>
          <a:stretch>
            <a:fillRect/>
          </a:stretch>
        </p:blipFill>
        <p:spPr>
          <a:xfrm>
            <a:off x="8746670" y="6562249"/>
            <a:ext cx="292555" cy="156273"/>
          </a:xfrm>
          <a:prstGeom prst="rect">
            <a:avLst/>
          </a:prstGeom>
        </p:spPr>
      </p:pic>
      <p:sp>
        <p:nvSpPr>
          <p:cNvPr id="5" name="Slide Number Placeholder 4">
            <a:extLst>
              <a:ext uri="{FF2B5EF4-FFF2-40B4-BE49-F238E27FC236}">
                <a16:creationId xmlns:a16="http://schemas.microsoft.com/office/drawing/2014/main" id="{00ABD288-7B20-F443-BAE8-CBAAD13A4649}"/>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3595336832"/>
      </p:ext>
    </p:extLst>
  </p:cSld>
  <p:clrMap bg1="lt1" tx1="dk1" bg2="lt2" tx2="dk2" accent1="accent1" accent2="accent2" accent3="accent3" accent4="accent4" accent5="accent5" accent6="accent6" hlink="hlink" folHlink="folHlink"/>
  <p:sldLayoutIdLst>
    <p:sldLayoutId id="2147483726"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Lst>
  <p:hf hdr="0" dt="0"/>
  <p:txStyles>
    <p:titleStyle>
      <a:lvl1pPr algn="ctr" defTabSz="914400" rtl="0" eaLnBrk="1" latinLnBrk="0" hangingPunct="1">
        <a:lnSpc>
          <a:spcPct val="90000"/>
        </a:lnSpc>
        <a:spcBef>
          <a:spcPct val="0"/>
        </a:spcBef>
        <a:buNone/>
        <a:defRPr sz="2600" kern="1200" cap="none" spc="200" baseline="0">
          <a:solidFill>
            <a:srgbClr val="262626"/>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Calibri" panose="020F0502020204030204" pitchFamily="34" charset="0"/>
          <a:ea typeface="+mn-ea"/>
          <a:cs typeface="Calibri" panose="020F0502020204030204" pitchFamily="34" charset="0"/>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guide id="3" orient="horz" pos="4056">
          <p15:clr>
            <a:srgbClr val="F26B43"/>
          </p15:clr>
        </p15:guide>
        <p15:guide id="4" orient="horz" pos="393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D7291C3-5AE9-477A-3F39-34A06A62D99C}"/>
              </a:ext>
            </a:extLst>
          </p:cNvPr>
          <p:cNvSpPr txBox="1">
            <a:spLocks/>
          </p:cNvSpPr>
          <p:nvPr/>
        </p:nvSpPr>
        <p:spPr bwMode="black">
          <a:xfrm>
            <a:off x="439339" y="565149"/>
            <a:ext cx="8265319" cy="1195411"/>
          </a:xfrm>
          <a:prstGeom prst="rect">
            <a:avLst/>
          </a:prstGeom>
          <a:solidFill>
            <a:srgbClr val="FFFFFF"/>
          </a:solidFill>
          <a:ln w="31750" cap="sq">
            <a:noFill/>
            <a:miter lim="800000"/>
          </a:ln>
        </p:spPr>
        <p:txBody>
          <a:bodyPr vert="horz" lIns="182880" tIns="182880" rIns="182880" bIns="182880" rtlCol="0" anchor="ctr">
            <a:normAutofit/>
          </a:bodyPr>
          <a:lstStyle>
            <a:lvl1pPr algn="ctr" defTabSz="914400" rtl="0" eaLnBrk="1" latinLnBrk="0" hangingPunct="1">
              <a:lnSpc>
                <a:spcPct val="90000"/>
              </a:lnSpc>
              <a:spcBef>
                <a:spcPct val="0"/>
              </a:spcBef>
              <a:buNone/>
              <a:defRPr sz="3600" kern="1200" cap="none" spc="200" baseline="0">
                <a:solidFill>
                  <a:srgbClr val="000000"/>
                </a:solidFill>
                <a:latin typeface="Calibri" panose="020F0502020204030204" pitchFamily="34" charset="0"/>
                <a:ea typeface="+mj-ea"/>
                <a:cs typeface="Calibri" panose="020F0502020204030204" pitchFamily="34" charset="0"/>
              </a:defRPr>
            </a:lvl1pPr>
          </a:lstStyle>
          <a:p>
            <a:r>
              <a:rPr lang="en-US" sz="2000" i="1" dirty="0"/>
              <a:t>Software Engineering</a:t>
            </a:r>
            <a:br>
              <a:rPr lang="en-US" sz="2000" i="1" dirty="0"/>
            </a:br>
            <a:br>
              <a:rPr lang="en-US" sz="2000" i="1" dirty="0"/>
            </a:br>
            <a:r>
              <a:rPr lang="en-US" sz="1600" i="1" dirty="0"/>
              <a:t>ECE 30861 / CSCI 45000</a:t>
            </a:r>
            <a:endParaRPr lang="en-US" sz="2000" i="1" dirty="0"/>
          </a:p>
        </p:txBody>
      </p:sp>
      <p:sp>
        <p:nvSpPr>
          <p:cNvPr id="6" name="Slide Number Placeholder 5"/>
          <p:cNvSpPr>
            <a:spLocks noGrp="1"/>
          </p:cNvSpPr>
          <p:nvPr>
            <p:ph type="sldNum" sz="quarter" idx="4"/>
          </p:nvPr>
        </p:nvSpPr>
        <p:spPr/>
        <p:txBody>
          <a:bodyPr/>
          <a:lstStyle/>
          <a:p>
            <a:fld id="{B7EB45DA-9A0D-DC49-8E02-F30A5DDC21C3}" type="slidenum">
              <a:rPr/>
              <a:t>1</a:t>
            </a:fld>
            <a:endParaRPr lang="en-US"/>
          </a:p>
        </p:txBody>
      </p:sp>
      <p:sp>
        <p:nvSpPr>
          <p:cNvPr id="7" name="TitleBlock"/>
          <p:cNvSpPr txBox="1"/>
          <p:nvPr/>
        </p:nvSpPr>
        <p:spPr>
          <a:xfrm>
            <a:off x="224171" y="1500000"/>
            <a:ext cx="8695654" cy="2050000"/>
          </a:xfrm>
          <a:prstGeom prst="rect">
            <a:avLst/>
          </a:prstGeom>
          <a:noFill/>
          <a:ln>
            <a:noFill/>
          </a:ln>
        </p:spPr>
        <p:txBody>
          <a:bodyPr vert="horz" lIns="91440" tIns="45720" rIns="91440" bIns="45720" anchor="t"/>
          <a:lstStyle/>
          <a:p>
            <a:pPr algn="ctr">
              <a:buNone/>
            </a:pPr>
            <a:r>
              <a:rPr lang="en-US" sz="5200" b="0" i="0" dirty="0">
                <a:solidFill>
                  <a:srgbClr val="000000"/>
                </a:solidFill>
              </a:rPr>
              <a:t>Software Design</a:t>
            </a:r>
          </a:p>
          <a:p>
            <a:pPr algn="ctr">
              <a:spcBef>
                <a:spcPts val="600"/>
              </a:spcBef>
              <a:buNone/>
            </a:pPr>
            <a:r>
              <a:rPr lang="en-US" sz="3000" b="0" i="1" dirty="0">
                <a:solidFill>
                  <a:srgbClr val="8E6F3E"/>
                </a:solidFill>
              </a:rPr>
              <a:t>How should each part realize its responsibility?</a:t>
            </a:r>
          </a:p>
          <a:p>
            <a:pPr algn="ctr">
              <a:buNone/>
            </a:pPr>
            <a:endParaRPr lang="en-US" sz="1000"/>
          </a:p>
          <a:p>
            <a:pPr algn="ctr">
              <a:spcBef>
                <a:spcPts val="400"/>
              </a:spcBef>
              <a:buNone/>
            </a:pPr>
            <a:r>
              <a:rPr lang="en-US" sz="1900" b="0" i="1" dirty="0">
                <a:solidFill>
                  <a:srgbClr val="000000"/>
                </a:solidFill>
              </a:rPr>
              <a:t>Prof. James C. Davis</a:t>
            </a:r>
          </a:p>
          <a:p>
            <a:pPr algn="ctr">
              <a:spcBef>
                <a:spcPts val="100"/>
              </a:spcBef>
              <a:buNone/>
            </a:pPr>
            <a:r>
              <a:rPr lang="en-US" sz="1900" b="0" i="1" dirty="0">
                <a:solidFill>
                  <a:srgbClr val="000000"/>
                </a:solidFill>
              </a:rPr>
              <a:t>Prof. Steve France</a:t>
            </a:r>
          </a:p>
        </p:txBody>
      </p:sp>
      <p:sp>
        <p:nvSpPr>
          <p:cNvPr id="100" name="Label"/>
          <p:cNvSpPr txBox="1"/>
          <p:nvPr/>
        </p:nvSpPr>
        <p:spPr>
          <a:xfrm>
            <a:off x="224171" y="3803904"/>
            <a:ext cx="8695654" cy="330000"/>
          </a:xfrm>
          <a:prstGeom prst="rect">
            <a:avLst/>
          </a:prstGeom>
          <a:noFill/>
          <a:ln>
            <a:noFill/>
          </a:ln>
        </p:spPr>
        <p:txBody>
          <a:bodyPr wrap="square" lIns="0" tIns="0" rIns="0" bIns="0" anchor="t"/>
          <a:lstStyle/>
          <a:p>
            <a:pPr algn="ctr">
              <a:buNone/>
            </a:pPr>
            <a:r>
              <a:rPr lang="en-US" sz="2000" b="1" i="0" dirty="0">
                <a:solidFill>
                  <a:srgbClr val="8E6F3E"/>
                </a:solidFill>
              </a:rPr>
              <a:t>ARCHITECTURE HANDED US PARTS</a:t>
            </a:r>
          </a:p>
        </p:txBody>
      </p:sp>
      <p:sp>
        <p:nvSpPr>
          <p:cNvPr id="101" name="S101"/>
          <p:cNvSpPr/>
          <p:nvPr/>
        </p:nvSpPr>
        <p:spPr>
          <a:xfrm>
            <a:off x="713232" y="4133087"/>
            <a:ext cx="1755648" cy="804672"/>
          </a:xfrm>
          <a:prstGeom prst="rect">
            <a:avLst/>
          </a:prstGeom>
          <a:solidFill>
            <a:srgbClr val="F5F1E8"/>
          </a:solidFill>
          <a:ln w="12700">
            <a:solidFill>
              <a:srgbClr val="C9B991"/>
            </a:solidFill>
          </a:ln>
        </p:spPr>
        <p:txBody>
          <a:bodyPr wrap="square" lIns="91440" tIns="45720" rIns="91440" bIns="45720" anchor="ctr"/>
          <a:lstStyle/>
          <a:p>
            <a:pPr algn="ctr">
              <a:buNone/>
            </a:pPr>
            <a:r>
              <a:rPr lang="en-US" sz="2200" b="1" i="0" dirty="0">
                <a:solidFill>
                  <a:srgbClr val="5C4826"/>
                </a:solidFill>
              </a:rPr>
              <a:t>PART A</a:t>
            </a:r>
          </a:p>
        </p:txBody>
      </p:sp>
      <p:sp>
        <p:nvSpPr>
          <p:cNvPr id="102" name="S102"/>
          <p:cNvSpPr/>
          <p:nvPr/>
        </p:nvSpPr>
        <p:spPr>
          <a:xfrm>
            <a:off x="2697480" y="4133087"/>
            <a:ext cx="1755648" cy="804672"/>
          </a:xfrm>
          <a:prstGeom prst="rect">
            <a:avLst/>
          </a:prstGeom>
          <a:solidFill>
            <a:srgbClr val="8E6F3E"/>
          </a:solidFill>
          <a:ln w="28575">
            <a:solidFill>
              <a:srgbClr val="5C4826"/>
            </a:solidFill>
          </a:ln>
        </p:spPr>
        <p:txBody>
          <a:bodyPr wrap="square" lIns="91440" tIns="45720" rIns="91440" bIns="45720" anchor="ctr"/>
          <a:lstStyle/>
          <a:p>
            <a:pPr algn="ctr">
              <a:buNone/>
            </a:pPr>
            <a:r>
              <a:rPr lang="en-US" sz="2200" b="1" i="0" dirty="0">
                <a:solidFill>
                  <a:srgbClr val="FFFFFF"/>
                </a:solidFill>
              </a:rPr>
              <a:t>PART B</a:t>
            </a:r>
          </a:p>
        </p:txBody>
      </p:sp>
      <p:sp>
        <p:nvSpPr>
          <p:cNvPr id="103" name="S103"/>
          <p:cNvSpPr/>
          <p:nvPr/>
        </p:nvSpPr>
        <p:spPr>
          <a:xfrm>
            <a:off x="4681728" y="4133087"/>
            <a:ext cx="1755648" cy="804672"/>
          </a:xfrm>
          <a:prstGeom prst="rect">
            <a:avLst/>
          </a:prstGeom>
          <a:solidFill>
            <a:srgbClr val="F5F1E8"/>
          </a:solidFill>
          <a:ln w="12700">
            <a:solidFill>
              <a:srgbClr val="C9B991"/>
            </a:solidFill>
          </a:ln>
        </p:spPr>
        <p:txBody>
          <a:bodyPr wrap="square" lIns="91440" tIns="45720" rIns="91440" bIns="45720" anchor="ctr"/>
          <a:lstStyle/>
          <a:p>
            <a:pPr algn="ctr">
              <a:buNone/>
            </a:pPr>
            <a:r>
              <a:rPr lang="en-US" sz="2200" b="1" i="0" dirty="0">
                <a:solidFill>
                  <a:srgbClr val="5C4826"/>
                </a:solidFill>
              </a:rPr>
              <a:t>PART C</a:t>
            </a:r>
          </a:p>
        </p:txBody>
      </p:sp>
      <p:sp>
        <p:nvSpPr>
          <p:cNvPr id="104" name="S104"/>
          <p:cNvSpPr/>
          <p:nvPr/>
        </p:nvSpPr>
        <p:spPr>
          <a:xfrm>
            <a:off x="6665976" y="4133087"/>
            <a:ext cx="1755648" cy="804672"/>
          </a:xfrm>
          <a:prstGeom prst="rect">
            <a:avLst/>
          </a:prstGeom>
          <a:solidFill>
            <a:srgbClr val="F5F1E8"/>
          </a:solidFill>
          <a:ln w="12700">
            <a:solidFill>
              <a:srgbClr val="C9B991"/>
            </a:solidFill>
          </a:ln>
        </p:spPr>
        <p:txBody>
          <a:bodyPr wrap="square" lIns="91440" tIns="45720" rIns="91440" bIns="45720" anchor="ctr"/>
          <a:lstStyle/>
          <a:p>
            <a:pPr algn="ctr">
              <a:buNone/>
            </a:pPr>
            <a:r>
              <a:rPr lang="en-US" sz="2200" b="1" i="0" dirty="0">
                <a:solidFill>
                  <a:srgbClr val="5C4826"/>
                </a:solidFill>
              </a:rPr>
              <a:t>PART D</a:t>
            </a:r>
          </a:p>
        </p:txBody>
      </p:sp>
      <p:sp>
        <p:nvSpPr>
          <p:cNvPr id="105" name="TwoLines"/>
          <p:cNvSpPr txBox="1"/>
          <p:nvPr/>
        </p:nvSpPr>
        <p:spPr>
          <a:xfrm>
            <a:off x="224171" y="5047488"/>
            <a:ext cx="8695654" cy="900000"/>
          </a:xfrm>
          <a:prstGeom prst="rect">
            <a:avLst/>
          </a:prstGeom>
          <a:noFill/>
          <a:ln>
            <a:noFill/>
          </a:ln>
        </p:spPr>
        <p:txBody>
          <a:bodyPr wrap="square" lIns="0" tIns="0" rIns="0" bIns="0" anchor="t"/>
          <a:lstStyle/>
          <a:p>
            <a:pPr algn="ctr">
              <a:buNone/>
            </a:pPr>
            <a:r>
              <a:rPr lang="en-US" sz="2000" b="0" i="0" dirty="0">
                <a:solidFill>
                  <a:srgbClr val="555960"/>
                </a:solidFill>
              </a:rPr>
              <a:t>Architecture gave each part a responsibility and an interface</a:t>
            </a:r>
          </a:p>
          <a:p>
            <a:pPr algn="ctr">
              <a:spcBef>
                <a:spcPts val="140"/>
              </a:spcBef>
              <a:buNone/>
            </a:pPr>
            <a:r>
              <a:rPr lang="en-US" sz="2000" b="0" i="0" dirty="0">
                <a:solidFill>
                  <a:srgbClr val="555960"/>
                </a:solidFill>
              </a:rPr>
              <a:t>It did not tell us how the part works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148" y="118428"/>
            <a:ext cx="8590000" cy="638175"/>
          </a:xfrm>
        </p:spPr>
        <p:txBody>
          <a:bodyPr>
            <a:normAutofit fontScale="90000"/>
          </a:bodyPr>
          <a:lstStyle/>
          <a:p>
            <a:pPr>
              <a:buNone/>
              <a:defRPr b="0"/>
            </a:pPr>
            <a:r>
              <a:rPr lang="en-US" sz="2400" b="0" i="0" dirty="0">
                <a:solidFill>
                  <a:srgbClr val="000000"/>
                </a:solidFill>
              </a:rPr>
              <a:t>Architecture handed us parts</a:t>
            </a:r>
          </a:p>
        </p:txBody>
      </p:sp>
      <p:sp>
        <p:nvSpPr>
          <p:cNvPr id="3" name="Slide Number Placeholder 3"/>
          <p:cNvSpPr>
            <a:spLocks noGrp="1"/>
          </p:cNvSpPr>
          <p:nvPr>
            <p:ph type="sldNum" sz="quarter" idx="4"/>
          </p:nvPr>
        </p:nvSpPr>
        <p:spPr/>
        <p:txBody>
          <a:bodyPr/>
          <a:lstStyle/>
          <a:p>
            <a:fld id="{B7EB45DA-9A0D-DC49-8E02-F30A5DDC21C3}" type="slidenum">
              <a:rPr lang="en-US" smtClean="0"/>
              <a:t>2</a:t>
            </a:fld>
            <a:endParaRPr lang="en-US"/>
          </a:p>
        </p:txBody>
      </p:sp>
      <p:sp>
        <p:nvSpPr>
          <p:cNvPr id="100" name="Frame1"/>
          <p:cNvSpPr/>
          <p:nvPr/>
        </p:nvSpPr>
        <p:spPr>
          <a:xfrm>
            <a:off x="708399" y="1050000"/>
            <a:ext cx="7727200" cy="971800"/>
          </a:xfrm>
          <a:prstGeom prst="roundRect">
            <a:avLst/>
          </a:prstGeom>
          <a:solidFill>
            <a:srgbClr val="F5F1E8"/>
          </a:solidFill>
          <a:ln w="15875">
            <a:solidFill>
              <a:srgbClr val="C9B991"/>
            </a:solidFill>
          </a:ln>
        </p:spPr>
        <p:txBody>
          <a:bodyPr wrap="square" lIns="228600" tIns="45720" rIns="228600" bIns="45720" anchor="ctr"/>
          <a:lstStyle/>
          <a:p>
            <a:pPr algn="l">
              <a:buNone/>
            </a:pPr>
            <a:r>
              <a:rPr lang="en-US" sz="2200" b="1" i="0" dirty="0">
                <a:solidFill>
                  <a:srgbClr val="5C4826"/>
                </a:solidFill>
              </a:rPr>
              <a:t>SYSTEM</a:t>
            </a:r>
          </a:p>
        </p:txBody>
      </p:sp>
      <p:sp>
        <p:nvSpPr>
          <p:cNvPr id="101" name="R1Comp"/>
          <p:cNvSpPr/>
          <p:nvPr/>
        </p:nvSpPr>
        <p:spPr>
          <a:xfrm>
            <a:off x="5102400" y="1219500"/>
            <a:ext cx="3068000" cy="632799"/>
          </a:xfrm>
          <a:prstGeom prst="rect">
            <a:avLst/>
          </a:prstGeom>
          <a:solidFill>
            <a:srgbClr val="FFF3DF"/>
          </a:solidFill>
          <a:ln w="28575">
            <a:solidFill>
              <a:srgbClr val="8E6F3E"/>
            </a:solidFill>
          </a:ln>
        </p:spPr>
        <p:txBody>
          <a:bodyPr wrap="square" lIns="91440" tIns="45720" rIns="91440" bIns="45720" anchor="ctr"/>
          <a:lstStyle/>
          <a:p>
            <a:pPr algn="ctr">
              <a:buNone/>
            </a:pPr>
            <a:r>
              <a:rPr lang="en-US" sz="2000" b="1" i="0" dirty="0">
                <a:solidFill>
                  <a:srgbClr val="8E6F3E"/>
                </a:solidFill>
              </a:rPr>
              <a:t>COMPONENT</a:t>
            </a:r>
          </a:p>
        </p:txBody>
      </p:sp>
      <p:cxnSp>
        <p:nvCxnSpPr>
          <p:cNvPr id="110" name="Arw1"/>
          <p:cNvCxnSpPr/>
          <p:nvPr/>
        </p:nvCxnSpPr>
        <p:spPr>
          <a:xfrm>
            <a:off x="4572000" y="2100000"/>
            <a:ext cx="0" cy="220000"/>
          </a:xfrm>
          <a:prstGeom prst="straightConnector1">
            <a:avLst/>
          </a:prstGeom>
          <a:ln w="38100">
            <a:solidFill>
              <a:srgbClr val="8E6F3E"/>
            </a:solidFill>
            <a:tailEnd type="triangle" w="med" len="med"/>
          </a:ln>
        </p:spPr>
      </p:cxnSp>
      <p:sp>
        <p:nvSpPr>
          <p:cNvPr id="111" name="Op1"/>
          <p:cNvSpPr/>
          <p:nvPr/>
        </p:nvSpPr>
        <p:spPr>
          <a:xfrm>
            <a:off x="4712400" y="2125000"/>
            <a:ext cx="1170000" cy="169500"/>
          </a:xfrm>
          <a:prstGeom prst="rect">
            <a:avLst/>
          </a:prstGeom>
          <a:noFill/>
          <a:ln>
            <a:noFill/>
          </a:ln>
        </p:spPr>
        <p:txBody>
          <a:bodyPr wrap="square" lIns="0" tIns="0" rIns="0" bIns="0" anchor="t"/>
          <a:lstStyle/>
          <a:p>
            <a:pPr algn="l">
              <a:buNone/>
            </a:pPr>
            <a:r>
              <a:rPr lang="en-US" sz="1600" b="0" i="1" dirty="0">
                <a:solidFill>
                  <a:srgbClr val="8E6F3E"/>
                </a:solidFill>
              </a:rPr>
              <a:t>open</a:t>
            </a:r>
          </a:p>
        </p:txBody>
      </p:sp>
      <p:sp>
        <p:nvSpPr>
          <p:cNvPr id="120" name="Frame2"/>
          <p:cNvSpPr/>
          <p:nvPr/>
        </p:nvSpPr>
        <p:spPr>
          <a:xfrm>
            <a:off x="708399" y="2420000"/>
            <a:ext cx="7727200" cy="971800"/>
          </a:xfrm>
          <a:prstGeom prst="roundRect">
            <a:avLst/>
          </a:prstGeom>
          <a:solidFill>
            <a:srgbClr val="F5F1E8"/>
          </a:solidFill>
          <a:ln w="15875">
            <a:solidFill>
              <a:srgbClr val="C9B991"/>
            </a:solidFill>
          </a:ln>
        </p:spPr>
        <p:txBody>
          <a:bodyPr wrap="square" lIns="228600" tIns="45720" rIns="228600" bIns="45720" anchor="ctr"/>
          <a:lstStyle/>
          <a:p>
            <a:pPr algn="l">
              <a:buNone/>
            </a:pPr>
            <a:r>
              <a:rPr lang="en-US" sz="2200" b="1" i="0" dirty="0">
                <a:solidFill>
                  <a:srgbClr val="5C4826"/>
                </a:solidFill>
              </a:rPr>
              <a:t>COMPONENT</a:t>
            </a:r>
          </a:p>
        </p:txBody>
      </p:sp>
      <p:sp>
        <p:nvSpPr>
          <p:cNvPr id="121" name="R2A"/>
          <p:cNvSpPr/>
          <p:nvPr/>
        </p:nvSpPr>
        <p:spPr>
          <a:xfrm>
            <a:off x="3520440" y="2589500"/>
            <a:ext cx="2185000" cy="632799"/>
          </a:xfrm>
          <a:prstGeom prst="rect">
            <a:avLst/>
          </a:prstGeom>
          <a:solidFill>
            <a:srgbClr val="FBF8F2"/>
          </a:solidFill>
          <a:ln w="12700">
            <a:solidFill>
              <a:srgbClr val="C9B991"/>
            </a:solidFill>
          </a:ln>
        </p:spPr>
        <p:txBody>
          <a:bodyPr wrap="square" lIns="91440" tIns="45720" rIns="91440" bIns="45720" anchor="ctr"/>
          <a:lstStyle/>
          <a:p>
            <a:pPr algn="ctr">
              <a:buNone/>
            </a:pPr>
            <a:r>
              <a:rPr lang="en-US" sz="2000" b="1" i="0" dirty="0">
                <a:solidFill>
                  <a:srgbClr val="5C4826"/>
                </a:solidFill>
              </a:rPr>
              <a:t>PART A</a:t>
            </a:r>
          </a:p>
        </p:txBody>
      </p:sp>
      <p:sp>
        <p:nvSpPr>
          <p:cNvPr id="122" name="R2B"/>
          <p:cNvSpPr/>
          <p:nvPr/>
        </p:nvSpPr>
        <p:spPr>
          <a:xfrm>
            <a:off x="5934400" y="2589500"/>
            <a:ext cx="2185000" cy="632799"/>
          </a:xfrm>
          <a:prstGeom prst="rect">
            <a:avLst/>
          </a:prstGeom>
          <a:solidFill>
            <a:srgbClr val="FFF3DF"/>
          </a:solidFill>
          <a:ln w="28575">
            <a:solidFill>
              <a:srgbClr val="8E6F3E"/>
            </a:solidFill>
          </a:ln>
        </p:spPr>
        <p:txBody>
          <a:bodyPr wrap="square" lIns="91440" tIns="45720" rIns="91440" bIns="45720" anchor="ctr"/>
          <a:lstStyle/>
          <a:p>
            <a:pPr algn="ctr">
              <a:buNone/>
            </a:pPr>
            <a:r>
              <a:rPr lang="en-US" sz="2000" b="1" i="0" dirty="0">
                <a:solidFill>
                  <a:srgbClr val="8E6F3E"/>
                </a:solidFill>
              </a:rPr>
              <a:t>PART B</a:t>
            </a:r>
          </a:p>
        </p:txBody>
      </p:sp>
      <p:sp>
        <p:nvSpPr>
          <p:cNvPr id="130" name="EachPart"/>
          <p:cNvSpPr/>
          <p:nvPr/>
        </p:nvSpPr>
        <p:spPr>
          <a:xfrm>
            <a:off x="708399" y="3800000"/>
            <a:ext cx="7727200" cy="880000"/>
          </a:xfrm>
          <a:prstGeom prst="rect">
            <a:avLst/>
          </a:prstGeom>
          <a:solidFill>
            <a:srgbClr val="FBF8F2"/>
          </a:solidFill>
          <a:ln w="12700">
            <a:solidFill>
              <a:srgbClr val="C9B991"/>
            </a:solidFill>
          </a:ln>
        </p:spPr>
        <p:txBody>
          <a:bodyPr wrap="square" lIns="91440" tIns="45720" rIns="91440" bIns="45720" anchor="ctr"/>
          <a:lstStyle/>
          <a:p>
            <a:pPr algn="ctr">
              <a:buNone/>
            </a:pPr>
            <a:r>
              <a:rPr lang="en-US" sz="2000" b="0" i="0" dirty="0">
                <a:solidFill>
                  <a:srgbClr val="5C4826"/>
                </a:solidFill>
              </a:rPr>
              <a:t>every part arrives with a </a:t>
            </a:r>
            <a:r>
              <a:rPr lang="en-US" sz="2000" b="1" i="0" dirty="0">
                <a:solidFill>
                  <a:srgbClr val="5C4826"/>
                </a:solidFill>
              </a:rPr>
              <a:t>responsibility</a:t>
            </a:r>
            <a:r>
              <a:rPr lang="en-US" sz="2000" b="0" i="0" dirty="0">
                <a:solidFill>
                  <a:srgbClr val="5C4826"/>
                </a:solidFill>
              </a:rPr>
              <a:t>, an </a:t>
            </a:r>
            <a:r>
              <a:rPr lang="en-US" sz="2000" b="1" i="0" dirty="0">
                <a:solidFill>
                  <a:srgbClr val="5C4826"/>
                </a:solidFill>
              </a:rPr>
              <a:t>interface</a:t>
            </a:r>
            <a:r>
              <a:rPr lang="en-US" sz="2000" b="0" i="0" dirty="0">
                <a:solidFill>
                  <a:srgbClr val="5C4826"/>
                </a:solidFill>
              </a:rPr>
              <a:t>, and </a:t>
            </a:r>
            <a:r>
              <a:rPr lang="en-US" sz="2000" b="1" i="0" dirty="0">
                <a:solidFill>
                  <a:srgbClr val="5C4826"/>
                </a:solidFill>
              </a:rPr>
              <a:t>rules of interaction</a:t>
            </a:r>
          </a:p>
        </p:txBody>
      </p:sp>
      <p:sp>
        <p:nvSpPr>
          <p:cNvPr id="131" name="NotDecided"/>
          <p:cNvSpPr txBox="1"/>
          <p:nvPr/>
        </p:nvSpPr>
        <p:spPr>
          <a:xfrm>
            <a:off x="277148" y="5100000"/>
            <a:ext cx="8589704" cy="420000"/>
          </a:xfrm>
          <a:prstGeom prst="rect">
            <a:avLst/>
          </a:prstGeom>
          <a:noFill/>
          <a:ln>
            <a:noFill/>
          </a:ln>
        </p:spPr>
        <p:txBody>
          <a:bodyPr wrap="square" lIns="0" tIns="0" rIns="0" bIns="0" anchor="t"/>
          <a:lstStyle/>
          <a:p>
            <a:pPr algn="ctr">
              <a:buNone/>
            </a:pPr>
            <a:r>
              <a:rPr lang="en-US" sz="2200" b="0" i="1" dirty="0">
                <a:solidFill>
                  <a:srgbClr val="000000"/>
                </a:solidFill>
              </a:rPr>
              <a:t>How each part works inside is not yet decided.</a:t>
            </a:r>
          </a:p>
        </p:txBody>
      </p:sp>
      <p:sp>
        <p:nvSpPr>
          <p:cNvPr id="132" name="FooterBand"/>
          <p:cNvSpPr/>
          <p:nvPr/>
        </p:nvSpPr>
        <p:spPr>
          <a:xfrm>
            <a:off x="277148" y="5852160"/>
            <a:ext cx="8589704" cy="566928"/>
          </a:xfrm>
          <a:prstGeom prst="rect">
            <a:avLst/>
          </a:prstGeom>
          <a:solidFill>
            <a:srgbClr val="8E6F3E"/>
          </a:solidFill>
          <a:ln>
            <a:noFill/>
          </a:ln>
        </p:spPr>
        <p:txBody>
          <a:bodyPr wrap="square" lIns="91440" tIns="45720" rIns="91440" bIns="45720" anchor="ctr"/>
          <a:lstStyle/>
          <a:p>
            <a:pPr algn="ctr">
              <a:buNone/>
            </a:pPr>
            <a:r>
              <a:rPr lang="en-US" sz="2000" b="1" i="0" dirty="0">
                <a:solidFill>
                  <a:srgbClr val="FFFFFF"/>
                </a:solidFill>
              </a:rPr>
              <a:t>Design begins where Architecture stopped — inside the box.</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148" y="118428"/>
            <a:ext cx="8590000" cy="638175"/>
          </a:xfrm>
        </p:spPr>
        <p:txBody>
          <a:bodyPr>
            <a:normAutofit fontScale="90000"/>
          </a:bodyPr>
          <a:lstStyle/>
          <a:p>
            <a:pPr>
              <a:buNone/>
              <a:defRPr b="0"/>
            </a:pPr>
            <a:r>
              <a:rPr lang="en-US" sz="2400" b="0" i="0" dirty="0">
                <a:solidFill>
                  <a:srgbClr val="000000"/>
                </a:solidFill>
              </a:rPr>
              <a:t>What remains inside the box?</a:t>
            </a:r>
          </a:p>
        </p:txBody>
      </p:sp>
      <p:sp>
        <p:nvSpPr>
          <p:cNvPr id="3" name="Slide Number Placeholder 3"/>
          <p:cNvSpPr>
            <a:spLocks noGrp="1"/>
          </p:cNvSpPr>
          <p:nvPr>
            <p:ph type="sldNum" sz="quarter" idx="4"/>
          </p:nvPr>
        </p:nvSpPr>
        <p:spPr/>
        <p:txBody>
          <a:bodyPr/>
          <a:lstStyle/>
          <a:p>
            <a:fld id="{B7EB45DA-9A0D-DC49-8E02-F30A5DDC21C3}" type="slidenum">
              <a:rPr lang="en-US" smtClean="0"/>
              <a:t>3</a:t>
            </a:fld>
            <a:endParaRPr lang="en-US"/>
          </a:p>
        </p:txBody>
      </p:sp>
      <p:sp>
        <p:nvSpPr>
          <p:cNvPr id="100" name="Label"/>
          <p:cNvSpPr txBox="1"/>
          <p:nvPr/>
        </p:nvSpPr>
        <p:spPr>
          <a:xfrm>
            <a:off x="235359" y="1016749"/>
            <a:ext cx="3584000" cy="468599"/>
          </a:xfrm>
          <a:prstGeom prst="rect">
            <a:avLst/>
          </a:prstGeom>
          <a:noFill/>
          <a:ln>
            <a:noFill/>
          </a:ln>
        </p:spPr>
        <p:txBody>
          <a:bodyPr wrap="square" lIns="0" tIns="0" rIns="0" bIns="0" anchor="t"/>
          <a:lstStyle/>
          <a:p>
            <a:pPr algn="ctr">
              <a:buNone/>
            </a:pPr>
            <a:r>
              <a:rPr lang="en-US" sz="2100" b="1" i="0" dirty="0">
                <a:solidFill>
                  <a:srgbClr val="8E6F3E"/>
                </a:solidFill>
              </a:rPr>
              <a:t>ARCHITECTURAL VIEW</a:t>
            </a:r>
          </a:p>
        </p:txBody>
      </p:sp>
      <p:sp>
        <p:nvSpPr>
          <p:cNvPr id="101" name="Label"/>
          <p:cNvSpPr txBox="1"/>
          <p:nvPr/>
        </p:nvSpPr>
        <p:spPr>
          <a:xfrm>
            <a:off x="5163360" y="1016749"/>
            <a:ext cx="3584000" cy="468599"/>
          </a:xfrm>
          <a:prstGeom prst="rect">
            <a:avLst/>
          </a:prstGeom>
          <a:noFill/>
          <a:ln>
            <a:noFill/>
          </a:ln>
        </p:spPr>
        <p:txBody>
          <a:bodyPr wrap="square" lIns="0" tIns="0" rIns="0" bIns="0" anchor="t"/>
          <a:lstStyle/>
          <a:p>
            <a:pPr algn="ctr">
              <a:buNone/>
            </a:pPr>
            <a:r>
              <a:rPr lang="en-US" sz="2100" b="1" i="0" dirty="0">
                <a:solidFill>
                  <a:srgbClr val="8E6F3E"/>
                </a:solidFill>
              </a:rPr>
              <a:t>DESIGN VIEW</a:t>
            </a:r>
          </a:p>
        </p:txBody>
      </p:sp>
      <p:sp>
        <p:nvSpPr>
          <p:cNvPr id="102" name="S102"/>
          <p:cNvSpPr/>
          <p:nvPr/>
        </p:nvSpPr>
        <p:spPr>
          <a:xfrm>
            <a:off x="459359" y="1584749"/>
            <a:ext cx="3248000" cy="2698000"/>
          </a:xfrm>
          <a:prstGeom prst="rect">
            <a:avLst/>
          </a:prstGeom>
          <a:solidFill>
            <a:srgbClr val="F5F1E8"/>
          </a:solidFill>
          <a:ln w="12700">
            <a:solidFill>
              <a:srgbClr val="C9B991"/>
            </a:solidFill>
          </a:ln>
        </p:spPr>
        <p:txBody>
          <a:bodyPr wrap="square" lIns="91440" tIns="45720" rIns="91440" bIns="45720" anchor="ctr"/>
          <a:lstStyle/>
          <a:p>
            <a:pPr algn="ctr">
              <a:buNone/>
            </a:pPr>
            <a:r>
              <a:rPr lang="en-US" sz="2200" b="0" i="0" dirty="0">
                <a:solidFill>
                  <a:srgbClr val="5C4826"/>
                </a:solidFill>
              </a:rPr>
              <a:t>ADVICE SERVICE</a:t>
            </a:r>
          </a:p>
          <a:p>
            <a:pPr algn="ctr">
              <a:spcBef>
                <a:spcPts val="200"/>
              </a:spcBef>
              <a:buNone/>
            </a:pPr>
            <a:endParaRPr lang="en-US" sz="2200" b="0" i="0" dirty="0">
              <a:solidFill>
                <a:srgbClr val="5C4826"/>
              </a:solidFill>
            </a:endParaRPr>
          </a:p>
          <a:p>
            <a:pPr algn="ctr">
              <a:spcBef>
                <a:spcPts val="200"/>
              </a:spcBef>
              <a:buNone/>
            </a:pPr>
            <a:r>
              <a:rPr lang="en-US" sz="2200" b="0" i="0" dirty="0">
                <a:solidFill>
                  <a:srgbClr val="5C4826"/>
                </a:solidFill>
              </a:rPr>
              <a:t>responsibility</a:t>
            </a:r>
          </a:p>
          <a:p>
            <a:pPr algn="ctr">
              <a:spcBef>
                <a:spcPts val="200"/>
              </a:spcBef>
              <a:buNone/>
            </a:pPr>
            <a:r>
              <a:rPr lang="en-US" sz="2200" b="0" i="0" dirty="0">
                <a:solidFill>
                  <a:srgbClr val="5C4826"/>
                </a:solidFill>
              </a:rPr>
              <a:t>interface</a:t>
            </a:r>
          </a:p>
        </p:txBody>
      </p:sp>
      <p:sp>
        <p:nvSpPr>
          <p:cNvPr id="103" name="S103"/>
          <p:cNvSpPr/>
          <p:nvPr/>
        </p:nvSpPr>
        <p:spPr>
          <a:xfrm>
            <a:off x="5219360" y="1584749"/>
            <a:ext cx="3248000" cy="2698000"/>
          </a:xfrm>
          <a:prstGeom prst="rect">
            <a:avLst/>
          </a:prstGeom>
          <a:solidFill>
            <a:srgbClr val="FBF8F2"/>
          </a:solidFill>
          <a:ln w="12700">
            <a:solidFill>
              <a:srgbClr val="C9B991"/>
            </a:solidFill>
            <a:prstDash val="dash"/>
          </a:ln>
        </p:spPr>
        <p:txBody>
          <a:bodyPr wrap="square" lIns="91440" tIns="45720" rIns="91440" bIns="45720" anchor="ctr"/>
          <a:lstStyle/>
          <a:p>
            <a:pPr algn="ctr">
              <a:buNone/>
            </a:pPr>
            <a:r>
              <a:rPr lang="en-US" sz="2600" b="0" i="0" dirty="0">
                <a:solidFill>
                  <a:srgbClr val="555960"/>
                </a:solidFill>
              </a:rPr>
              <a:t>?   ?   ?</a:t>
            </a:r>
          </a:p>
          <a:p>
            <a:pPr algn="ctr">
              <a:spcBef>
                <a:spcPts val="140"/>
              </a:spcBef>
              <a:buNone/>
            </a:pPr>
            <a:r>
              <a:rPr lang="en-US" sz="2600" b="0" i="0" dirty="0">
                <a:solidFill>
                  <a:srgbClr val="555960"/>
                </a:solidFill>
              </a:rPr>
              <a:t>?</a:t>
            </a:r>
          </a:p>
        </p:txBody>
      </p:sp>
      <p:cxnSp>
        <p:nvCxnSpPr>
          <p:cNvPr id="104" name="L104"/>
          <p:cNvCxnSpPr/>
          <p:nvPr/>
        </p:nvCxnSpPr>
        <p:spPr>
          <a:xfrm>
            <a:off x="3819359" y="2891149"/>
            <a:ext cx="1321600" cy="0"/>
          </a:xfrm>
          <a:prstGeom prst="straightConnector1">
            <a:avLst/>
          </a:prstGeom>
          <a:ln w="44450">
            <a:solidFill>
              <a:srgbClr val="8E6F3E"/>
            </a:solidFill>
            <a:tailEnd type="triangle" w="med" len="med"/>
          </a:ln>
        </p:spPr>
      </p:cxnSp>
      <p:sp>
        <p:nvSpPr>
          <p:cNvPr id="105" name="Label"/>
          <p:cNvSpPr txBox="1"/>
          <p:nvPr/>
        </p:nvSpPr>
        <p:spPr>
          <a:xfrm>
            <a:off x="3774560" y="2408349"/>
            <a:ext cx="1456000" cy="468599"/>
          </a:xfrm>
          <a:prstGeom prst="rect">
            <a:avLst/>
          </a:prstGeom>
          <a:noFill/>
          <a:ln>
            <a:noFill/>
          </a:ln>
        </p:spPr>
        <p:txBody>
          <a:bodyPr wrap="square" lIns="0" tIns="0" rIns="0" bIns="0" anchor="t"/>
          <a:lstStyle/>
          <a:p>
            <a:pPr algn="ctr">
              <a:buNone/>
            </a:pPr>
            <a:r>
              <a:rPr lang="en-US" sz="1800" b="1" i="0" dirty="0">
                <a:solidFill>
                  <a:srgbClr val="8E6F3E"/>
                </a:solidFill>
              </a:rPr>
              <a:t>OPEN</a:t>
            </a:r>
          </a:p>
        </p:txBody>
      </p:sp>
      <p:sp>
        <p:nvSpPr>
          <p:cNvPr id="106" name="Remains"/>
          <p:cNvSpPr txBox="1"/>
          <p:nvPr/>
        </p:nvSpPr>
        <p:spPr>
          <a:xfrm>
            <a:off x="502920" y="4572000"/>
            <a:ext cx="8138160" cy="1188720"/>
          </a:xfrm>
          <a:prstGeom prst="rect">
            <a:avLst/>
          </a:prstGeom>
          <a:noFill/>
          <a:ln>
            <a:noFill/>
          </a:ln>
        </p:spPr>
        <p:txBody>
          <a:bodyPr wrap="square" lIns="0" tIns="0" rIns="0" bIns="0" anchor="t"/>
          <a:lstStyle/>
          <a:p>
            <a:pPr algn="ctr">
              <a:buNone/>
            </a:pPr>
            <a:r>
              <a:rPr lang="en-US" sz="2400" b="0" i="0" dirty="0">
                <a:solidFill>
                  <a:srgbClr val="000000"/>
                </a:solidFill>
              </a:rPr>
              <a:t>algorithms?   state representation?   caching?</a:t>
            </a:r>
          </a:p>
          <a:p>
            <a:pPr algn="ctr">
              <a:spcBef>
                <a:spcPts val="100"/>
              </a:spcBef>
              <a:buNone/>
            </a:pPr>
            <a:r>
              <a:rPr lang="en-US" sz="2400" b="0" i="0" dirty="0">
                <a:solidFill>
                  <a:srgbClr val="000000"/>
                </a:solidFill>
              </a:rPr>
              <a:t>concurrency?   failure handling?   resource use?</a:t>
            </a:r>
          </a:p>
          <a:p>
            <a:pPr algn="ctr">
              <a:spcBef>
                <a:spcPts val="100"/>
              </a:spcBef>
              <a:buNone/>
            </a:pPr>
            <a:r>
              <a:rPr lang="en-US" sz="2400" b="0" i="0" dirty="0">
                <a:solidFill>
                  <a:srgbClr val="000000"/>
                </a:solidFill>
              </a:rPr>
              <a:t>every one of them still open</a:t>
            </a:r>
          </a:p>
        </p:txBody>
      </p:sp>
      <p:sp>
        <p:nvSpPr>
          <p:cNvPr id="107" name="FooterBand"/>
          <p:cNvSpPr/>
          <p:nvPr/>
        </p:nvSpPr>
        <p:spPr>
          <a:xfrm>
            <a:off x="274320" y="5852160"/>
            <a:ext cx="8595360" cy="566928"/>
          </a:xfrm>
          <a:prstGeom prst="rect">
            <a:avLst/>
          </a:prstGeom>
          <a:solidFill>
            <a:srgbClr val="8E6F3E"/>
          </a:solidFill>
          <a:ln>
            <a:noFill/>
          </a:ln>
        </p:spPr>
        <p:txBody>
          <a:bodyPr wrap="square" lIns="91440" tIns="45720" rIns="91440" bIns="45720" anchor="ctr"/>
          <a:lstStyle/>
          <a:p>
            <a:pPr algn="ctr">
              <a:buNone/>
            </a:pPr>
            <a:r>
              <a:rPr lang="en-US" sz="2000" b="1" i="0" dirty="0">
                <a:solidFill>
                  <a:srgbClr val="FFFFFF"/>
                </a:solidFill>
              </a:rPr>
              <a:t>Design chooses the mechanisms that go where the question marks are.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par>
                          <p:cTn id="8" fill="hold">
                            <p:stCondLst>
                              <p:cond delay="0"/>
                            </p:stCondLst>
                            <p:childTnLst>
                              <p:par>
                                <p:cTn id="9" presetID="10" presetClass="entr" presetSubtype="0" fill="hold" grpId="1" nodeType="withEffect">
                                  <p:stCondLst>
                                    <p:cond delay="0"/>
                                  </p:stCondLst>
                                  <p:childTnLst>
                                    <p:set>
                                      <p:cBhvr>
                                        <p:cTn id="10" dur="1" fill="hold">
                                          <p:stCondLst>
                                            <p:cond delay="0"/>
                                          </p:stCondLst>
                                        </p:cTn>
                                        <p:tgtEl>
                                          <p:spTgt spid="104"/>
                                        </p:tgtEl>
                                        <p:attrNameLst>
                                          <p:attrName>style.visibility</p:attrName>
                                        </p:attrNameLst>
                                      </p:cBhvr>
                                      <p:to>
                                        <p:strVal val="visible"/>
                                      </p:to>
                                    </p:set>
                                    <p:animEffect transition="in" filter="fade">
                                      <p:cBhvr>
                                        <p:cTn id="11" dur="500"/>
                                        <p:tgtEl>
                                          <p:spTgt spid="104"/>
                                        </p:tgtEl>
                                      </p:cBhvr>
                                    </p:animEffect>
                                  </p:childTnLst>
                                </p:cTn>
                              </p:par>
                            </p:childTnLst>
                          </p:cTn>
                        </p:par>
                        <p:par>
                          <p:cTn id="12" fill="hold">
                            <p:stCondLst>
                              <p:cond delay="0"/>
                            </p:stCondLst>
                            <p:childTnLst>
                              <p:par>
                                <p:cTn id="13" presetID="10" presetClass="entr" presetSubtype="0" fill="hold" grpId="2" nodeType="withEffect">
                                  <p:stCondLst>
                                    <p:cond delay="0"/>
                                  </p:stCondLst>
                                  <p:childTnLst>
                                    <p:set>
                                      <p:cBhvr>
                                        <p:cTn id="14" dur="1" fill="hold">
                                          <p:stCondLst>
                                            <p:cond delay="0"/>
                                          </p:stCondLst>
                                        </p:cTn>
                                        <p:tgtEl>
                                          <p:spTgt spid="101"/>
                                        </p:tgtEl>
                                        <p:attrNameLst>
                                          <p:attrName>style.visibility</p:attrName>
                                        </p:attrNameLst>
                                      </p:cBhvr>
                                      <p:to>
                                        <p:strVal val="visible"/>
                                      </p:to>
                                    </p:set>
                                    <p:animEffect transition="in" filter="fade">
                                      <p:cBhvr>
                                        <p:cTn id="15" dur="500"/>
                                        <p:tgtEl>
                                          <p:spTgt spid="101"/>
                                        </p:tgtEl>
                                      </p:cBhvr>
                                    </p:animEffect>
                                  </p:childTnLst>
                                </p:cTn>
                              </p:par>
                            </p:childTnLst>
                          </p:cTn>
                        </p:par>
                        <p:par>
                          <p:cTn id="16" fill="hold">
                            <p:stCondLst>
                              <p:cond delay="0"/>
                            </p:stCondLst>
                            <p:childTnLst>
                              <p:par>
                                <p:cTn id="17" presetID="10" presetClass="entr" presetSubtype="0" fill="hold" grpId="3" nodeType="withEffect">
                                  <p:stCondLst>
                                    <p:cond delay="0"/>
                                  </p:stCondLst>
                                  <p:childTnLst>
                                    <p:set>
                                      <p:cBhvr>
                                        <p:cTn id="18" dur="1" fill="hold">
                                          <p:stCondLst>
                                            <p:cond delay="0"/>
                                          </p:stCondLst>
                                        </p:cTn>
                                        <p:tgtEl>
                                          <p:spTgt spid="103"/>
                                        </p:tgtEl>
                                        <p:attrNameLst>
                                          <p:attrName>style.visibility</p:attrName>
                                        </p:attrNameLst>
                                      </p:cBhvr>
                                      <p:to>
                                        <p:strVal val="visible"/>
                                      </p:to>
                                    </p:set>
                                    <p:animEffect transition="in" filter="fade">
                                      <p:cBhvr>
                                        <p:cTn id="19" dur="500"/>
                                        <p:tgtEl>
                                          <p:spTgt spid="103"/>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4" nodeType="clickEffect">
                                  <p:stCondLst>
                                    <p:cond delay="0"/>
                                  </p:stCondLst>
                                  <p:childTnLst>
                                    <p:set>
                                      <p:cBhvr>
                                        <p:cTn id="23" dur="1" fill="hold">
                                          <p:stCondLst>
                                            <p:cond delay="0"/>
                                          </p:stCondLst>
                                        </p:cTn>
                                        <p:tgtEl>
                                          <p:spTgt spid="106"/>
                                        </p:tgtEl>
                                        <p:attrNameLst>
                                          <p:attrName>style.visibility</p:attrName>
                                        </p:attrNameLst>
                                      </p:cBhvr>
                                      <p:to>
                                        <p:strVal val="visible"/>
                                      </p:to>
                                    </p:set>
                                    <p:animEffect transition="in" filter="fade">
                                      <p:cBhvr>
                                        <p:cTn id="24" dur="500"/>
                                        <p:tgtEl>
                                          <p:spTgt spid="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2"/>
      <p:bldP spid="103" grpId="3" animBg="1"/>
      <p:bldP spid="104" grpId="1" animBg="1"/>
      <p:bldP spid="105" grpId="0"/>
      <p:bldP spid="106" grpId="4"/>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240280"/>
            <a:ext cx="7772400" cy="914400"/>
          </a:xfrm>
        </p:spPr>
        <p:txBody>
          <a:bodyPr>
            <a:normAutofit/>
          </a:bodyPr>
          <a:lstStyle/>
          <a:p>
            <a:pPr algn="ctr">
              <a:buNone/>
              <a:defRPr b="0"/>
            </a:pPr>
            <a:r>
              <a:rPr lang="en-US" sz="3600" b="0" i="0" dirty="0">
                <a:solidFill>
                  <a:srgbClr val="000000"/>
                </a:solidFill>
              </a:rPr>
              <a:t>What does Design inherit?</a:t>
            </a:r>
          </a:p>
        </p:txBody>
      </p:sp>
      <p:sp>
        <p:nvSpPr>
          <p:cNvPr id="3" name="Slide Number Placeholder 3"/>
          <p:cNvSpPr>
            <a:spLocks noGrp="1"/>
          </p:cNvSpPr>
          <p:nvPr>
            <p:ph type="sldNum" sz="quarter" idx="4"/>
          </p:nvPr>
        </p:nvSpPr>
        <p:spPr/>
        <p:txBody>
          <a:bodyPr/>
          <a:lstStyle/>
          <a:p>
            <a:fld id="{B7EB45DA-9A0D-DC49-8E02-F30A5DDC21C3}" type="slidenum">
              <a:rPr lang="en-US" smtClean="0"/>
              <a:t>4</a:t>
            </a:fld>
            <a:endParaRPr lang="en-US"/>
          </a:p>
        </p:txBody>
      </p:sp>
      <p:sp>
        <p:nvSpPr>
          <p:cNvPr id="100" name="SectionLabel"/>
          <p:cNvSpPr txBox="1"/>
          <p:nvPr/>
        </p:nvSpPr>
        <p:spPr>
          <a:xfrm>
            <a:off x="685800" y="1737360"/>
            <a:ext cx="7772400" cy="355600"/>
          </a:xfrm>
          <a:prstGeom prst="rect">
            <a:avLst/>
          </a:prstGeom>
          <a:noFill/>
          <a:ln>
            <a:noFill/>
          </a:ln>
        </p:spPr>
        <p:txBody>
          <a:bodyPr wrap="square" lIns="0" tIns="0" rIns="0" bIns="0" anchor="t"/>
          <a:lstStyle/>
          <a:p>
            <a:pPr algn="ctr">
              <a:buNone/>
            </a:pPr>
            <a:r>
              <a:rPr lang="en-US" sz="2200" b="1" i="0" dirty="0">
                <a:solidFill>
                  <a:srgbClr val="8E6F3E"/>
                </a:solidFill>
              </a:rPr>
              <a:t>SECTION 1</a:t>
            </a:r>
          </a:p>
        </p:txBody>
      </p:sp>
      <p:sp>
        <p:nvSpPr>
          <p:cNvPr id="101" name="Rule"/>
          <p:cNvSpPr/>
          <p:nvPr/>
        </p:nvSpPr>
        <p:spPr>
          <a:xfrm>
            <a:off x="3429000" y="3383280"/>
            <a:ext cx="2286000" cy="50800"/>
          </a:xfrm>
          <a:prstGeom prst="rect">
            <a:avLst/>
          </a:prstGeom>
          <a:solidFill>
            <a:srgbClr val="8E6F3E"/>
          </a:solidFill>
          <a:ln>
            <a:noFill/>
          </a:ln>
        </p:spPr>
        <p:txBody>
          <a:bodyPr wrap="square" lIns="91440" tIns="45720" rIns="91440" bIns="45720" anchor="ctr"/>
          <a:lstStyle/>
          <a:p>
            <a:endParaRPr/>
          </a:p>
        </p:txBody>
      </p:sp>
      <p:sp>
        <p:nvSpPr>
          <p:cNvPr id="102" name="Subtitle"/>
          <p:cNvSpPr txBox="1"/>
          <p:nvPr/>
        </p:nvSpPr>
        <p:spPr>
          <a:xfrm>
            <a:off x="685800" y="3886200"/>
            <a:ext cx="7772400" cy="1554480"/>
          </a:xfrm>
          <a:prstGeom prst="rect">
            <a:avLst/>
          </a:prstGeom>
          <a:noFill/>
          <a:ln>
            <a:noFill/>
          </a:ln>
        </p:spPr>
        <p:txBody>
          <a:bodyPr wrap="square" lIns="0" tIns="0" rIns="0" bIns="0" anchor="t"/>
          <a:lstStyle/>
          <a:p>
            <a:pPr algn="ctr">
              <a:buNone/>
            </a:pPr>
            <a:r>
              <a:rPr lang="en-US" sz="3300" b="0" i="0" dirty="0">
                <a:solidFill>
                  <a:srgbClr val="555960"/>
                </a:solidFill>
              </a:rPr>
              <a:t>Opening a box does not erase</a:t>
            </a:r>
          </a:p>
          <a:p>
            <a:pPr algn="ctr">
              <a:spcBef>
                <a:spcPts val="120"/>
              </a:spcBef>
              <a:buNone/>
            </a:pPr>
            <a:r>
              <a:rPr lang="en-US" sz="3300" b="0" i="0" dirty="0">
                <a:solidFill>
                  <a:srgbClr val="555960"/>
                </a:solidFill>
              </a:rPr>
              <a:t>the decisions made above it.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148" y="118428"/>
            <a:ext cx="8590000" cy="638175"/>
          </a:xfrm>
        </p:spPr>
        <p:txBody>
          <a:bodyPr>
            <a:normAutofit fontScale="90000"/>
          </a:bodyPr>
          <a:lstStyle/>
          <a:p>
            <a:pPr>
              <a:buNone/>
              <a:defRPr b="0"/>
            </a:pPr>
            <a:r>
              <a:rPr lang="en-US" sz="2400" b="0" i="0" dirty="0">
                <a:solidFill>
                  <a:srgbClr val="000000"/>
                </a:solidFill>
              </a:rPr>
              <a:t>Opening the box preserves its obligations</a:t>
            </a:r>
          </a:p>
        </p:txBody>
      </p:sp>
      <p:sp>
        <p:nvSpPr>
          <p:cNvPr id="3" name="Slide Number Placeholder 3"/>
          <p:cNvSpPr>
            <a:spLocks noGrp="1"/>
          </p:cNvSpPr>
          <p:nvPr>
            <p:ph type="sldNum" sz="quarter" idx="4"/>
          </p:nvPr>
        </p:nvSpPr>
        <p:spPr/>
        <p:txBody>
          <a:bodyPr/>
          <a:lstStyle/>
          <a:p>
            <a:fld id="{B7EB45DA-9A0D-DC49-8E02-F30A5DDC21C3}" type="slidenum">
              <a:rPr lang="en-US" smtClean="0"/>
              <a:t>5</a:t>
            </a:fld>
            <a:endParaRPr lang="en-US"/>
          </a:p>
        </p:txBody>
      </p:sp>
      <p:sp>
        <p:nvSpPr>
          <p:cNvPr id="100" name="Label"/>
          <p:cNvSpPr txBox="1"/>
          <p:nvPr/>
        </p:nvSpPr>
        <p:spPr>
          <a:xfrm>
            <a:off x="235359" y="1016749"/>
            <a:ext cx="3584000" cy="468599"/>
          </a:xfrm>
          <a:prstGeom prst="rect">
            <a:avLst/>
          </a:prstGeom>
          <a:noFill/>
          <a:ln>
            <a:noFill/>
          </a:ln>
        </p:spPr>
        <p:txBody>
          <a:bodyPr wrap="square" lIns="0" tIns="0" rIns="0" bIns="0" anchor="t"/>
          <a:lstStyle/>
          <a:p>
            <a:pPr algn="ctr">
              <a:buNone/>
            </a:pPr>
            <a:r>
              <a:rPr lang="en-US" sz="2100" b="1" i="0" dirty="0">
                <a:solidFill>
                  <a:srgbClr val="8E6F3E"/>
                </a:solidFill>
              </a:rPr>
              <a:t>ARCHITECTURAL VIEW</a:t>
            </a:r>
          </a:p>
        </p:txBody>
      </p:sp>
      <p:sp>
        <p:nvSpPr>
          <p:cNvPr id="101" name="Label"/>
          <p:cNvSpPr txBox="1"/>
          <p:nvPr/>
        </p:nvSpPr>
        <p:spPr>
          <a:xfrm>
            <a:off x="5163360" y="1016749"/>
            <a:ext cx="3584000" cy="468599"/>
          </a:xfrm>
          <a:prstGeom prst="rect">
            <a:avLst/>
          </a:prstGeom>
          <a:noFill/>
          <a:ln>
            <a:noFill/>
          </a:ln>
        </p:spPr>
        <p:txBody>
          <a:bodyPr wrap="square" lIns="0" tIns="0" rIns="0" bIns="0" anchor="t"/>
          <a:lstStyle/>
          <a:p>
            <a:pPr algn="ctr">
              <a:buNone/>
            </a:pPr>
            <a:r>
              <a:rPr lang="en-US" sz="2100" b="1" i="0" dirty="0">
                <a:solidFill>
                  <a:srgbClr val="8E6F3E"/>
                </a:solidFill>
              </a:rPr>
              <a:t>DESIGN VIEW</a:t>
            </a:r>
          </a:p>
        </p:txBody>
      </p:sp>
      <p:sp>
        <p:nvSpPr>
          <p:cNvPr id="102" name="S102"/>
          <p:cNvSpPr/>
          <p:nvPr/>
        </p:nvSpPr>
        <p:spPr>
          <a:xfrm>
            <a:off x="459359" y="1584749"/>
            <a:ext cx="3248000" cy="2698000"/>
          </a:xfrm>
          <a:prstGeom prst="rect">
            <a:avLst/>
          </a:prstGeom>
          <a:solidFill>
            <a:srgbClr val="F5F1E8"/>
          </a:solidFill>
          <a:ln w="12700">
            <a:solidFill>
              <a:srgbClr val="C9B991"/>
            </a:solidFill>
          </a:ln>
        </p:spPr>
        <p:txBody>
          <a:bodyPr wrap="square" lIns="91440" tIns="45720" rIns="91440" bIns="45720" anchor="ctr"/>
          <a:lstStyle/>
          <a:p>
            <a:pPr algn="ctr">
              <a:buNone/>
            </a:pPr>
            <a:r>
              <a:rPr lang="en-US" sz="2200" b="0" i="0" dirty="0">
                <a:solidFill>
                  <a:srgbClr val="5C4826"/>
                </a:solidFill>
              </a:rPr>
              <a:t>ADVICE SERVICE</a:t>
            </a:r>
          </a:p>
          <a:p>
            <a:pPr algn="ctr">
              <a:spcBef>
                <a:spcPts val="200"/>
              </a:spcBef>
              <a:buNone/>
            </a:pPr>
            <a:endParaRPr lang="en-US" sz="2200" b="0" i="0" dirty="0">
              <a:solidFill>
                <a:srgbClr val="5C4826"/>
              </a:solidFill>
            </a:endParaRPr>
          </a:p>
          <a:p>
            <a:pPr algn="ctr">
              <a:spcBef>
                <a:spcPts val="200"/>
              </a:spcBef>
              <a:buNone/>
            </a:pPr>
            <a:r>
              <a:rPr lang="en-US" sz="2200" b="0" i="0" dirty="0">
                <a:solidFill>
                  <a:srgbClr val="5C4826"/>
                </a:solidFill>
              </a:rPr>
              <a:t>responsibility</a:t>
            </a:r>
          </a:p>
          <a:p>
            <a:pPr algn="ctr">
              <a:spcBef>
                <a:spcPts val="200"/>
              </a:spcBef>
              <a:buNone/>
            </a:pPr>
            <a:r>
              <a:rPr lang="en-US" sz="2200" b="0" i="0" dirty="0">
                <a:solidFill>
                  <a:srgbClr val="5C4826"/>
                </a:solidFill>
              </a:rPr>
              <a:t>interface</a:t>
            </a:r>
          </a:p>
        </p:txBody>
      </p:sp>
      <p:sp>
        <p:nvSpPr>
          <p:cNvPr id="103" name="S103"/>
          <p:cNvSpPr/>
          <p:nvPr/>
        </p:nvSpPr>
        <p:spPr>
          <a:xfrm>
            <a:off x="5219360" y="1584749"/>
            <a:ext cx="3248000" cy="2698000"/>
          </a:xfrm>
          <a:prstGeom prst="rect">
            <a:avLst/>
          </a:prstGeom>
          <a:solidFill>
            <a:srgbClr val="FBF8F2"/>
          </a:solidFill>
          <a:ln w="12700">
            <a:solidFill>
              <a:srgbClr val="C9B991"/>
            </a:solidFill>
            <a:prstDash val="dash"/>
          </a:ln>
        </p:spPr>
        <p:txBody>
          <a:bodyPr wrap="square" lIns="91440" tIns="45720" rIns="91440" bIns="45720" anchor="ctr"/>
          <a:lstStyle/>
          <a:p>
            <a:pPr algn="ctr">
              <a:buNone/>
            </a:pPr>
            <a:r>
              <a:rPr lang="en-US" sz="2600" b="0" i="0" dirty="0">
                <a:solidFill>
                  <a:srgbClr val="555960"/>
                </a:solidFill>
              </a:rPr>
              <a:t>?   ?   ?</a:t>
            </a:r>
          </a:p>
          <a:p>
            <a:pPr algn="ctr">
              <a:spcBef>
                <a:spcPts val="140"/>
              </a:spcBef>
              <a:buNone/>
            </a:pPr>
            <a:r>
              <a:rPr lang="en-US" sz="2600" b="0" i="0" dirty="0">
                <a:solidFill>
                  <a:srgbClr val="555960"/>
                </a:solidFill>
              </a:rPr>
              <a:t>?</a:t>
            </a:r>
          </a:p>
        </p:txBody>
      </p:sp>
      <p:cxnSp>
        <p:nvCxnSpPr>
          <p:cNvPr id="104" name="L104"/>
          <p:cNvCxnSpPr/>
          <p:nvPr/>
        </p:nvCxnSpPr>
        <p:spPr>
          <a:xfrm>
            <a:off x="3819359" y="2891149"/>
            <a:ext cx="1321600" cy="0"/>
          </a:xfrm>
          <a:prstGeom prst="straightConnector1">
            <a:avLst/>
          </a:prstGeom>
          <a:ln w="44450">
            <a:solidFill>
              <a:srgbClr val="8E6F3E"/>
            </a:solidFill>
            <a:tailEnd type="triangle" w="med" len="med"/>
          </a:ln>
        </p:spPr>
      </p:cxnSp>
      <p:sp>
        <p:nvSpPr>
          <p:cNvPr id="105" name="Label"/>
          <p:cNvSpPr txBox="1"/>
          <p:nvPr/>
        </p:nvSpPr>
        <p:spPr>
          <a:xfrm>
            <a:off x="3774560" y="2408349"/>
            <a:ext cx="1456000" cy="468599"/>
          </a:xfrm>
          <a:prstGeom prst="rect">
            <a:avLst/>
          </a:prstGeom>
          <a:noFill/>
          <a:ln>
            <a:noFill/>
          </a:ln>
        </p:spPr>
        <p:txBody>
          <a:bodyPr wrap="square" lIns="0" tIns="0" rIns="0" bIns="0" anchor="t"/>
          <a:lstStyle/>
          <a:p>
            <a:pPr algn="ctr">
              <a:buNone/>
            </a:pPr>
            <a:r>
              <a:rPr lang="en-US" sz="1800" b="1" i="0" dirty="0">
                <a:solidFill>
                  <a:srgbClr val="8E6F3E"/>
                </a:solidFill>
              </a:rPr>
              <a:t>OPEN</a:t>
            </a:r>
          </a:p>
        </p:txBody>
      </p:sp>
      <p:sp>
        <p:nvSpPr>
          <p:cNvPr id="106" name="Remains"/>
          <p:cNvSpPr txBox="1"/>
          <p:nvPr/>
        </p:nvSpPr>
        <p:spPr>
          <a:xfrm>
            <a:off x="502920" y="4572000"/>
            <a:ext cx="8138160" cy="1188720"/>
          </a:xfrm>
          <a:prstGeom prst="rect">
            <a:avLst/>
          </a:prstGeom>
          <a:noFill/>
          <a:ln>
            <a:noFill/>
          </a:ln>
        </p:spPr>
        <p:txBody>
          <a:bodyPr wrap="square" lIns="0" tIns="0" rIns="0" bIns="0" anchor="t"/>
          <a:lstStyle/>
          <a:p>
            <a:pPr algn="ctr">
              <a:buNone/>
            </a:pPr>
            <a:r>
              <a:rPr lang="en-US" sz="2400" b="0" i="0" dirty="0">
                <a:solidFill>
                  <a:srgbClr val="000000"/>
                </a:solidFill>
              </a:rPr>
              <a:t>responsibility remains</a:t>
            </a:r>
          </a:p>
          <a:p>
            <a:pPr algn="ctr">
              <a:spcBef>
                <a:spcPts val="100"/>
              </a:spcBef>
              <a:buNone/>
            </a:pPr>
            <a:r>
              <a:rPr lang="en-US" sz="2400" b="0" i="0" dirty="0">
                <a:solidFill>
                  <a:srgbClr val="000000"/>
                </a:solidFill>
              </a:rPr>
              <a:t>interface remains</a:t>
            </a:r>
          </a:p>
          <a:p>
            <a:pPr algn="ctr">
              <a:spcBef>
                <a:spcPts val="100"/>
              </a:spcBef>
              <a:buNone/>
            </a:pPr>
            <a:r>
              <a:rPr lang="en-US" sz="2400" b="0" i="0" dirty="0">
                <a:solidFill>
                  <a:srgbClr val="000000"/>
                </a:solidFill>
              </a:rPr>
              <a:t>internals become our problem</a:t>
            </a:r>
          </a:p>
        </p:txBody>
      </p:sp>
      <p:sp>
        <p:nvSpPr>
          <p:cNvPr id="107" name="FooterBand"/>
          <p:cNvSpPr/>
          <p:nvPr/>
        </p:nvSpPr>
        <p:spPr>
          <a:xfrm>
            <a:off x="274320" y="5852160"/>
            <a:ext cx="8595360" cy="566928"/>
          </a:xfrm>
          <a:prstGeom prst="rect">
            <a:avLst/>
          </a:prstGeom>
          <a:solidFill>
            <a:srgbClr val="8E6F3E"/>
          </a:solidFill>
          <a:ln>
            <a:noFill/>
          </a:ln>
        </p:spPr>
        <p:txBody>
          <a:bodyPr wrap="square" lIns="91440" tIns="45720" rIns="91440" bIns="45720" anchor="ctr"/>
          <a:lstStyle/>
          <a:p>
            <a:pPr algn="ctr">
              <a:buNone/>
            </a:pPr>
            <a:r>
              <a:rPr lang="en-US" sz="2000" b="1" i="0" dirty="0">
                <a:solidFill>
                  <a:srgbClr val="FFFFFF"/>
                </a:solidFill>
              </a:rPr>
              <a:t>Design opens the box without discarding its obligations.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par>
                          <p:cTn id="8" fill="hold">
                            <p:stCondLst>
                              <p:cond delay="0"/>
                            </p:stCondLst>
                            <p:childTnLst>
                              <p:par>
                                <p:cTn id="9" presetID="10" presetClass="entr" presetSubtype="0" fill="hold" grpId="1" nodeType="withEffect">
                                  <p:stCondLst>
                                    <p:cond delay="0"/>
                                  </p:stCondLst>
                                  <p:childTnLst>
                                    <p:set>
                                      <p:cBhvr>
                                        <p:cTn id="10" dur="1" fill="hold">
                                          <p:stCondLst>
                                            <p:cond delay="0"/>
                                          </p:stCondLst>
                                        </p:cTn>
                                        <p:tgtEl>
                                          <p:spTgt spid="104"/>
                                        </p:tgtEl>
                                        <p:attrNameLst>
                                          <p:attrName>style.visibility</p:attrName>
                                        </p:attrNameLst>
                                      </p:cBhvr>
                                      <p:to>
                                        <p:strVal val="visible"/>
                                      </p:to>
                                    </p:set>
                                    <p:animEffect transition="in" filter="fade">
                                      <p:cBhvr>
                                        <p:cTn id="11" dur="500"/>
                                        <p:tgtEl>
                                          <p:spTgt spid="104"/>
                                        </p:tgtEl>
                                      </p:cBhvr>
                                    </p:animEffect>
                                  </p:childTnLst>
                                </p:cTn>
                              </p:par>
                            </p:childTnLst>
                          </p:cTn>
                        </p:par>
                        <p:par>
                          <p:cTn id="12" fill="hold">
                            <p:stCondLst>
                              <p:cond delay="0"/>
                            </p:stCondLst>
                            <p:childTnLst>
                              <p:par>
                                <p:cTn id="13" presetID="10" presetClass="entr" presetSubtype="0" fill="hold" grpId="2" nodeType="withEffect">
                                  <p:stCondLst>
                                    <p:cond delay="0"/>
                                  </p:stCondLst>
                                  <p:childTnLst>
                                    <p:set>
                                      <p:cBhvr>
                                        <p:cTn id="14" dur="1" fill="hold">
                                          <p:stCondLst>
                                            <p:cond delay="0"/>
                                          </p:stCondLst>
                                        </p:cTn>
                                        <p:tgtEl>
                                          <p:spTgt spid="101"/>
                                        </p:tgtEl>
                                        <p:attrNameLst>
                                          <p:attrName>style.visibility</p:attrName>
                                        </p:attrNameLst>
                                      </p:cBhvr>
                                      <p:to>
                                        <p:strVal val="visible"/>
                                      </p:to>
                                    </p:set>
                                    <p:animEffect transition="in" filter="fade">
                                      <p:cBhvr>
                                        <p:cTn id="15" dur="500"/>
                                        <p:tgtEl>
                                          <p:spTgt spid="101"/>
                                        </p:tgtEl>
                                      </p:cBhvr>
                                    </p:animEffect>
                                  </p:childTnLst>
                                </p:cTn>
                              </p:par>
                            </p:childTnLst>
                          </p:cTn>
                        </p:par>
                        <p:par>
                          <p:cTn id="16" fill="hold">
                            <p:stCondLst>
                              <p:cond delay="0"/>
                            </p:stCondLst>
                            <p:childTnLst>
                              <p:par>
                                <p:cTn id="17" presetID="10" presetClass="entr" presetSubtype="0" fill="hold" grpId="3" nodeType="withEffect">
                                  <p:stCondLst>
                                    <p:cond delay="0"/>
                                  </p:stCondLst>
                                  <p:childTnLst>
                                    <p:set>
                                      <p:cBhvr>
                                        <p:cTn id="18" dur="1" fill="hold">
                                          <p:stCondLst>
                                            <p:cond delay="0"/>
                                          </p:stCondLst>
                                        </p:cTn>
                                        <p:tgtEl>
                                          <p:spTgt spid="103"/>
                                        </p:tgtEl>
                                        <p:attrNameLst>
                                          <p:attrName>style.visibility</p:attrName>
                                        </p:attrNameLst>
                                      </p:cBhvr>
                                      <p:to>
                                        <p:strVal val="visible"/>
                                      </p:to>
                                    </p:set>
                                    <p:animEffect transition="in" filter="fade">
                                      <p:cBhvr>
                                        <p:cTn id="19" dur="500"/>
                                        <p:tgtEl>
                                          <p:spTgt spid="103"/>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4" nodeType="clickEffect">
                                  <p:stCondLst>
                                    <p:cond delay="0"/>
                                  </p:stCondLst>
                                  <p:childTnLst>
                                    <p:set>
                                      <p:cBhvr>
                                        <p:cTn id="23" dur="1" fill="hold">
                                          <p:stCondLst>
                                            <p:cond delay="0"/>
                                          </p:stCondLst>
                                        </p:cTn>
                                        <p:tgtEl>
                                          <p:spTgt spid="106"/>
                                        </p:tgtEl>
                                        <p:attrNameLst>
                                          <p:attrName>style.visibility</p:attrName>
                                        </p:attrNameLst>
                                      </p:cBhvr>
                                      <p:to>
                                        <p:strVal val="visible"/>
                                      </p:to>
                                    </p:set>
                                    <p:animEffect transition="in" filter="fade">
                                      <p:cBhvr>
                                        <p:cTn id="24" dur="500"/>
                                        <p:tgtEl>
                                          <p:spTgt spid="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2"/>
      <p:bldP spid="103" grpId="3" animBg="1"/>
      <p:bldP spid="104" grpId="1" animBg="1"/>
      <p:bldP spid="105" grpId="0"/>
      <p:bldP spid="106" grpId="4"/>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148" y="118428"/>
            <a:ext cx="8590000" cy="638175"/>
          </a:xfrm>
        </p:spPr>
        <p:txBody>
          <a:bodyPr>
            <a:normAutofit fontScale="90000"/>
          </a:bodyPr>
          <a:lstStyle/>
          <a:p>
            <a:pPr>
              <a:buNone/>
              <a:defRPr b="0"/>
            </a:pPr>
            <a:r>
              <a:rPr lang="en-US" sz="2400" b="0" i="0" dirty="0">
                <a:solidFill>
                  <a:srgbClr val="000000"/>
                </a:solidFill>
              </a:rPr>
              <a:t>Design begins with decisions already made</a:t>
            </a:r>
          </a:p>
        </p:txBody>
      </p:sp>
      <p:sp>
        <p:nvSpPr>
          <p:cNvPr id="3" name="Slide Number Placeholder 3"/>
          <p:cNvSpPr>
            <a:spLocks noGrp="1"/>
          </p:cNvSpPr>
          <p:nvPr>
            <p:ph type="sldNum" sz="quarter" idx="4"/>
          </p:nvPr>
        </p:nvSpPr>
        <p:spPr/>
        <p:txBody>
          <a:bodyPr/>
          <a:lstStyle/>
          <a:p>
            <a:fld id="{B7EB45DA-9A0D-DC49-8E02-F30A5DDC21C3}" type="slidenum">
              <a:rPr lang="en-US" smtClean="0"/>
              <a:t>6</a:t>
            </a:fld>
            <a:endParaRPr lang="en-US"/>
          </a:p>
        </p:txBody>
      </p:sp>
      <p:sp>
        <p:nvSpPr>
          <p:cNvPr id="100" name="S100"/>
          <p:cNvSpPr/>
          <p:nvPr/>
        </p:nvSpPr>
        <p:spPr>
          <a:xfrm>
            <a:off x="482000" y="1010767"/>
            <a:ext cx="2560000" cy="1333500"/>
          </a:xfrm>
          <a:prstGeom prst="rect">
            <a:avLst/>
          </a:prstGeom>
          <a:solidFill>
            <a:srgbClr val="8E6F3E"/>
          </a:solidFill>
          <a:ln>
            <a:noFill/>
          </a:ln>
        </p:spPr>
        <p:txBody>
          <a:bodyPr wrap="square" lIns="91440" tIns="45720" rIns="91440" bIns="45720" anchor="ctr"/>
          <a:lstStyle/>
          <a:p>
            <a:pPr algn="ctr">
              <a:buNone/>
            </a:pPr>
            <a:r>
              <a:rPr lang="en-US" sz="1700" b="1" i="0" dirty="0">
                <a:solidFill>
                  <a:srgbClr val="FFFFFF"/>
                </a:solidFill>
              </a:rPr>
              <a:t>SPECIFICATION</a:t>
            </a:r>
          </a:p>
          <a:p>
            <a:pPr algn="ctr">
              <a:spcBef>
                <a:spcPts val="120"/>
              </a:spcBef>
              <a:buNone/>
            </a:pPr>
            <a:r>
              <a:rPr lang="en-US" sz="2100" b="0" i="1" dirty="0">
                <a:solidFill>
                  <a:srgbClr val="FFFFFF"/>
                </a:solidFill>
              </a:rPr>
              <a:t>what must be true</a:t>
            </a:r>
          </a:p>
        </p:txBody>
      </p:sp>
      <p:cxnSp>
        <p:nvCxnSpPr>
          <p:cNvPr id="101" name="L101"/>
          <p:cNvCxnSpPr/>
          <p:nvPr/>
        </p:nvCxnSpPr>
        <p:spPr>
          <a:xfrm>
            <a:off x="1761999" y="2369667"/>
            <a:ext cx="0" cy="482600"/>
          </a:xfrm>
          <a:prstGeom prst="straightConnector1">
            <a:avLst/>
          </a:prstGeom>
          <a:ln w="38100">
            <a:solidFill>
              <a:srgbClr val="8E6F3E"/>
            </a:solidFill>
            <a:tailEnd type="triangle" w="med" len="med"/>
          </a:ln>
        </p:spPr>
      </p:cxnSp>
      <p:sp>
        <p:nvSpPr>
          <p:cNvPr id="102" name="S102"/>
          <p:cNvSpPr/>
          <p:nvPr/>
        </p:nvSpPr>
        <p:spPr>
          <a:xfrm>
            <a:off x="482000" y="2941167"/>
            <a:ext cx="2560000" cy="1714500"/>
          </a:xfrm>
          <a:prstGeom prst="rect">
            <a:avLst/>
          </a:prstGeom>
          <a:solidFill>
            <a:srgbClr val="F5F1E8"/>
          </a:solidFill>
          <a:ln w="12700">
            <a:solidFill>
              <a:srgbClr val="C9B991"/>
            </a:solidFill>
          </a:ln>
        </p:spPr>
        <p:txBody>
          <a:bodyPr wrap="square" lIns="91440" tIns="45720" rIns="91440" bIns="45720" anchor="ctr"/>
          <a:lstStyle/>
          <a:p>
            <a:pPr algn="ctr">
              <a:buNone/>
            </a:pPr>
            <a:r>
              <a:rPr lang="en-US" sz="2100" b="0" i="0" dirty="0">
                <a:solidFill>
                  <a:srgbClr val="000000"/>
                </a:solidFill>
              </a:rPr>
              <a:t>latency</a:t>
            </a:r>
          </a:p>
          <a:p>
            <a:pPr algn="ctr">
              <a:spcBef>
                <a:spcPts val="120"/>
              </a:spcBef>
              <a:buNone/>
            </a:pPr>
            <a:r>
              <a:rPr lang="en-US" sz="2100" b="0" i="0" dirty="0">
                <a:solidFill>
                  <a:srgbClr val="000000"/>
                </a:solidFill>
              </a:rPr>
              <a:t>privacy</a:t>
            </a:r>
          </a:p>
          <a:p>
            <a:pPr algn="ctr">
              <a:spcBef>
                <a:spcPts val="120"/>
              </a:spcBef>
              <a:buNone/>
            </a:pPr>
            <a:r>
              <a:rPr lang="en-US" sz="2100" b="0" i="0" dirty="0">
                <a:solidFill>
                  <a:srgbClr val="000000"/>
                </a:solidFill>
              </a:rPr>
              <a:t>correctness</a:t>
            </a:r>
          </a:p>
        </p:txBody>
      </p:sp>
      <p:sp>
        <p:nvSpPr>
          <p:cNvPr id="103" name="S103"/>
          <p:cNvSpPr/>
          <p:nvPr/>
        </p:nvSpPr>
        <p:spPr>
          <a:xfrm>
            <a:off x="3292000" y="1010767"/>
            <a:ext cx="2560000" cy="1333500"/>
          </a:xfrm>
          <a:prstGeom prst="rect">
            <a:avLst/>
          </a:prstGeom>
          <a:solidFill>
            <a:srgbClr val="8E6F3E"/>
          </a:solidFill>
          <a:ln>
            <a:noFill/>
          </a:ln>
        </p:spPr>
        <p:txBody>
          <a:bodyPr wrap="square" lIns="91440" tIns="45720" rIns="91440" bIns="45720" anchor="ctr"/>
          <a:lstStyle/>
          <a:p>
            <a:pPr algn="ctr">
              <a:buNone/>
            </a:pPr>
            <a:r>
              <a:rPr lang="en-US" sz="1700" b="1" i="0" dirty="0">
                <a:solidFill>
                  <a:srgbClr val="FFFFFF"/>
                </a:solidFill>
              </a:rPr>
              <a:t>ARCHITECTURE</a:t>
            </a:r>
          </a:p>
          <a:p>
            <a:pPr algn="ctr">
              <a:spcBef>
                <a:spcPts val="120"/>
              </a:spcBef>
              <a:buNone/>
            </a:pPr>
            <a:r>
              <a:rPr lang="en-US" sz="1300" b="0" i="1" dirty="0">
                <a:solidFill>
                  <a:srgbClr val="FFFFFF"/>
                </a:solidFill>
              </a:rPr>
              <a:t>responsibility · boundaries · interfaces · interaction rules</a:t>
            </a:r>
          </a:p>
        </p:txBody>
      </p:sp>
      <p:cxnSp>
        <p:nvCxnSpPr>
          <p:cNvPr id="104" name="L104"/>
          <p:cNvCxnSpPr/>
          <p:nvPr/>
        </p:nvCxnSpPr>
        <p:spPr>
          <a:xfrm>
            <a:off x="4572000" y="2369667"/>
            <a:ext cx="0" cy="482600"/>
          </a:xfrm>
          <a:prstGeom prst="straightConnector1">
            <a:avLst/>
          </a:prstGeom>
          <a:ln w="38100">
            <a:solidFill>
              <a:srgbClr val="8E6F3E"/>
            </a:solidFill>
            <a:tailEnd type="triangle" w="med" len="med"/>
          </a:ln>
        </p:spPr>
      </p:cxnSp>
      <p:sp>
        <p:nvSpPr>
          <p:cNvPr id="105" name="S105"/>
          <p:cNvSpPr/>
          <p:nvPr/>
        </p:nvSpPr>
        <p:spPr>
          <a:xfrm>
            <a:off x="3292000" y="2941167"/>
            <a:ext cx="2560000" cy="1714500"/>
          </a:xfrm>
          <a:prstGeom prst="rect">
            <a:avLst/>
          </a:prstGeom>
          <a:solidFill>
            <a:srgbClr val="F5F1E8"/>
          </a:solidFill>
          <a:ln w="12700">
            <a:solidFill>
              <a:srgbClr val="C9B991"/>
            </a:solidFill>
          </a:ln>
        </p:spPr>
        <p:txBody>
          <a:bodyPr wrap="square" lIns="91440" tIns="45720" rIns="91440" bIns="45720" anchor="ctr"/>
          <a:lstStyle/>
          <a:p>
            <a:pPr algn="ctr">
              <a:buNone/>
            </a:pPr>
            <a:r>
              <a:rPr lang="en-US" sz="2100" b="0" i="0" dirty="0">
                <a:solidFill>
                  <a:srgbClr val="000000"/>
                </a:solidFill>
              </a:rPr>
              <a:t>responsibility</a:t>
            </a:r>
          </a:p>
          <a:p>
            <a:pPr algn="ctr">
              <a:spcBef>
                <a:spcPts val="120"/>
              </a:spcBef>
              <a:buNone/>
            </a:pPr>
            <a:r>
              <a:rPr lang="en-US" sz="2100" b="0" i="0" dirty="0">
                <a:solidFill>
                  <a:srgbClr val="000000"/>
                </a:solidFill>
              </a:rPr>
              <a:t>interface</a:t>
            </a:r>
          </a:p>
          <a:p>
            <a:pPr algn="ctr">
              <a:spcBef>
                <a:spcPts val="120"/>
              </a:spcBef>
              <a:buNone/>
            </a:pPr>
            <a:r>
              <a:rPr lang="en-US" sz="2100" b="0" i="0" dirty="0">
                <a:solidFill>
                  <a:srgbClr val="000000"/>
                </a:solidFill>
              </a:rPr>
              <a:t>interaction rules</a:t>
            </a:r>
          </a:p>
        </p:txBody>
      </p:sp>
      <p:sp>
        <p:nvSpPr>
          <p:cNvPr id="106" name="S106"/>
          <p:cNvSpPr/>
          <p:nvPr/>
        </p:nvSpPr>
        <p:spPr>
          <a:xfrm>
            <a:off x="6102000" y="1010767"/>
            <a:ext cx="2560000" cy="1333500"/>
          </a:xfrm>
          <a:prstGeom prst="rect">
            <a:avLst/>
          </a:prstGeom>
          <a:solidFill>
            <a:srgbClr val="8E6F3E"/>
          </a:solidFill>
          <a:ln>
            <a:noFill/>
          </a:ln>
        </p:spPr>
        <p:txBody>
          <a:bodyPr wrap="square" lIns="91440" tIns="45720" rIns="91440" bIns="45720" anchor="ctr"/>
          <a:lstStyle/>
          <a:p>
            <a:pPr algn="ctr">
              <a:buNone/>
            </a:pPr>
            <a:r>
              <a:rPr lang="en-US" sz="1700" b="1" i="0" dirty="0">
                <a:solidFill>
                  <a:srgbClr val="FFFFFF"/>
                </a:solidFill>
              </a:rPr>
              <a:t>ENGINEERING ENVIRONMENT</a:t>
            </a:r>
          </a:p>
          <a:p>
            <a:pPr algn="ctr">
              <a:spcBef>
                <a:spcPts val="120"/>
              </a:spcBef>
              <a:buNone/>
            </a:pPr>
            <a:r>
              <a:rPr lang="en-US" sz="2100" b="0" i="1" dirty="0">
                <a:solidFill>
                  <a:srgbClr val="FFFFFF"/>
                </a:solidFill>
              </a:rPr>
              <a:t>how we work here</a:t>
            </a:r>
          </a:p>
        </p:txBody>
      </p:sp>
      <p:cxnSp>
        <p:nvCxnSpPr>
          <p:cNvPr id="107" name="L107"/>
          <p:cNvCxnSpPr/>
          <p:nvPr/>
        </p:nvCxnSpPr>
        <p:spPr>
          <a:xfrm>
            <a:off x="7381999" y="2369667"/>
            <a:ext cx="0" cy="482600"/>
          </a:xfrm>
          <a:prstGeom prst="straightConnector1">
            <a:avLst/>
          </a:prstGeom>
          <a:ln w="38100">
            <a:solidFill>
              <a:srgbClr val="8E6F3E"/>
            </a:solidFill>
            <a:tailEnd type="triangle" w="med" len="med"/>
          </a:ln>
        </p:spPr>
      </p:cxnSp>
      <p:sp>
        <p:nvSpPr>
          <p:cNvPr id="108" name="S108"/>
          <p:cNvSpPr/>
          <p:nvPr/>
        </p:nvSpPr>
        <p:spPr>
          <a:xfrm>
            <a:off x="6102000" y="2941167"/>
            <a:ext cx="2560000" cy="1714500"/>
          </a:xfrm>
          <a:prstGeom prst="rect">
            <a:avLst/>
          </a:prstGeom>
          <a:solidFill>
            <a:srgbClr val="F5F1E8"/>
          </a:solidFill>
          <a:ln w="12700">
            <a:solidFill>
              <a:srgbClr val="C9B991"/>
            </a:solidFill>
          </a:ln>
        </p:spPr>
        <p:txBody>
          <a:bodyPr wrap="square" lIns="91440" tIns="45720" rIns="91440" bIns="45720" anchor="ctr"/>
          <a:lstStyle/>
          <a:p>
            <a:pPr algn="ctr">
              <a:buNone/>
            </a:pPr>
            <a:r>
              <a:rPr lang="en-US" sz="2100" b="0" i="0" dirty="0">
                <a:solidFill>
                  <a:srgbClr val="000000"/>
                </a:solidFill>
              </a:rPr>
              <a:t>frameworks</a:t>
            </a:r>
          </a:p>
          <a:p>
            <a:pPr algn="ctr">
              <a:spcBef>
                <a:spcPts val="120"/>
              </a:spcBef>
              <a:buNone/>
            </a:pPr>
            <a:r>
              <a:rPr lang="en-US" sz="2100" b="0" i="0" dirty="0">
                <a:solidFill>
                  <a:srgbClr val="000000"/>
                </a:solidFill>
              </a:rPr>
              <a:t>conventions</a:t>
            </a:r>
          </a:p>
          <a:p>
            <a:pPr algn="ctr">
              <a:spcBef>
                <a:spcPts val="120"/>
              </a:spcBef>
              <a:buNone/>
            </a:pPr>
            <a:r>
              <a:rPr lang="en-US" sz="2100" b="0" i="0" dirty="0">
                <a:solidFill>
                  <a:srgbClr val="000000"/>
                </a:solidFill>
              </a:rPr>
              <a:t>shared mechanisms</a:t>
            </a:r>
          </a:p>
          <a:p>
            <a:pPr algn="ctr">
              <a:spcBef>
                <a:spcPts val="120"/>
              </a:spcBef>
              <a:buNone/>
            </a:pPr>
            <a:r>
              <a:rPr lang="en-US" sz="2100" b="0" i="0" dirty="0">
                <a:solidFill>
                  <a:srgbClr val="000000"/>
                </a:solidFill>
              </a:rPr>
              <a:t>controls</a:t>
            </a:r>
          </a:p>
        </p:txBody>
      </p:sp>
      <p:sp>
        <p:nvSpPr>
          <p:cNvPr id="109" name="S109"/>
          <p:cNvSpPr/>
          <p:nvPr/>
        </p:nvSpPr>
        <p:spPr>
          <a:xfrm>
            <a:off x="2872000" y="5011267"/>
            <a:ext cx="3400000" cy="787400"/>
          </a:xfrm>
          <a:prstGeom prst="rect">
            <a:avLst/>
          </a:prstGeom>
          <a:solidFill>
            <a:srgbClr val="FBF8F2"/>
          </a:solidFill>
          <a:ln w="19050">
            <a:solidFill>
              <a:srgbClr val="5C4826"/>
            </a:solidFill>
          </a:ln>
        </p:spPr>
        <p:txBody>
          <a:bodyPr wrap="square" lIns="91440" tIns="45720" rIns="91440" bIns="45720" anchor="ctr"/>
          <a:lstStyle/>
          <a:p>
            <a:pPr algn="ctr">
              <a:buNone/>
            </a:pPr>
            <a:r>
              <a:rPr lang="en-US" sz="2700" b="1" i="0" dirty="0">
                <a:solidFill>
                  <a:srgbClr val="5C4826"/>
                </a:solidFill>
              </a:rPr>
              <a:t>DESIGN SPACE</a:t>
            </a:r>
          </a:p>
        </p:txBody>
      </p:sp>
      <p:sp>
        <p:nvSpPr>
          <p:cNvPr id="110" name="L110"/>
          <p:cNvSpPr/>
          <p:nvPr/>
        </p:nvSpPr>
        <p:spPr>
          <a:xfrm>
            <a:off x="1761999" y="4668367"/>
            <a:ext cx="1110001" cy="736600"/>
          </a:xfrm>
          <a:custGeom>
            <a:avLst/>
            <a:gdLst/>
            <a:ahLst/>
            <a:cxnLst/>
            <a:rect l="l" t="t" r="r" b="b"/>
            <a:pathLst>
              <a:path w="1110001" h="736600" fill="none">
                <a:moveTo>
                  <a:pt x="0" y="0"/>
                </a:moveTo>
                <a:lnTo>
                  <a:pt x="0" y="736600"/>
                </a:lnTo>
                <a:lnTo>
                  <a:pt x="1110001" y="736600"/>
                </a:lnTo>
              </a:path>
            </a:pathLst>
          </a:custGeom>
          <a:noFill/>
          <a:ln w="38100">
            <a:solidFill>
              <a:srgbClr val="8E6F3E"/>
            </a:solidFill>
            <a:tailEnd type="triangle" w="med" len="med"/>
          </a:ln>
        </p:spPr>
        <p:txBody>
          <a:bodyPr/>
          <a:lstStyle/>
          <a:p>
            <a:endParaRPr lang="en-US"/>
          </a:p>
        </p:txBody>
      </p:sp>
      <p:cxnSp>
        <p:nvCxnSpPr>
          <p:cNvPr id="111" name="L111"/>
          <p:cNvCxnSpPr/>
          <p:nvPr/>
        </p:nvCxnSpPr>
        <p:spPr>
          <a:xfrm>
            <a:off x="4572000" y="4668367"/>
            <a:ext cx="0" cy="330200"/>
          </a:xfrm>
          <a:prstGeom prst="straightConnector1">
            <a:avLst/>
          </a:prstGeom>
          <a:ln w="38100">
            <a:solidFill>
              <a:srgbClr val="8E6F3E"/>
            </a:solidFill>
            <a:tailEnd type="triangle" w="med" len="med"/>
          </a:ln>
        </p:spPr>
      </p:cxnSp>
      <p:sp>
        <p:nvSpPr>
          <p:cNvPr id="112" name="L112"/>
          <p:cNvSpPr/>
          <p:nvPr/>
        </p:nvSpPr>
        <p:spPr>
          <a:xfrm>
            <a:off x="6272000" y="4668367"/>
            <a:ext cx="1110000" cy="736600"/>
          </a:xfrm>
          <a:custGeom>
            <a:avLst/>
            <a:gdLst/>
            <a:ahLst/>
            <a:cxnLst/>
            <a:rect l="l" t="t" r="r" b="b"/>
            <a:pathLst>
              <a:path w="1110000" h="736600" fill="none">
                <a:moveTo>
                  <a:pt x="1110000" y="0"/>
                </a:moveTo>
                <a:lnTo>
                  <a:pt x="1110000" y="736600"/>
                </a:lnTo>
                <a:lnTo>
                  <a:pt x="0" y="736600"/>
                </a:lnTo>
              </a:path>
            </a:pathLst>
          </a:custGeom>
          <a:noFill/>
          <a:ln w="38100">
            <a:solidFill>
              <a:srgbClr val="8E6F3E"/>
            </a:solidFill>
            <a:tailEnd type="triangle" w="med" len="med"/>
          </a:ln>
        </p:spPr>
        <p:txBody>
          <a:bodyPr/>
          <a:lstStyle/>
          <a:p>
            <a:endParaRPr lang="en-US"/>
          </a:p>
        </p:txBody>
      </p:sp>
      <p:sp>
        <p:nvSpPr>
          <p:cNvPr id="113" name="FooterBand"/>
          <p:cNvSpPr/>
          <p:nvPr/>
        </p:nvSpPr>
        <p:spPr>
          <a:xfrm>
            <a:off x="274320" y="5852160"/>
            <a:ext cx="8595360" cy="566928"/>
          </a:xfrm>
          <a:prstGeom prst="rect">
            <a:avLst/>
          </a:prstGeom>
          <a:solidFill>
            <a:srgbClr val="8E6F3E"/>
          </a:solidFill>
          <a:ln>
            <a:noFill/>
          </a:ln>
        </p:spPr>
        <p:txBody>
          <a:bodyPr wrap="square" lIns="91440" tIns="45720" rIns="91440" bIns="45720" anchor="ctr"/>
          <a:lstStyle/>
          <a:p>
            <a:pPr algn="ctr">
              <a:buNone/>
            </a:pPr>
            <a:r>
              <a:rPr lang="en-US" sz="2000" b="1" i="0" dirty="0">
                <a:solidFill>
                  <a:srgbClr val="FFFFFF"/>
                </a:solidFill>
              </a:rPr>
              <a:t>Implementation space is already constrained before Design begins.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fade">
                                      <p:cBhvr>
                                        <p:cTn id="7" dur="500"/>
                                        <p:tgtEl>
                                          <p:spTgt spid="100"/>
                                        </p:tgtEl>
                                      </p:cBhvr>
                                    </p:animEffect>
                                  </p:childTnLst>
                                </p:cTn>
                              </p:par>
                            </p:childTnLst>
                          </p:cTn>
                        </p:par>
                        <p:par>
                          <p:cTn id="8" fill="hold">
                            <p:stCondLst>
                              <p:cond delay="0"/>
                            </p:stCondLst>
                            <p:childTnLst>
                              <p:par>
                                <p:cTn id="9" presetID="10" presetClass="entr" presetSubtype="0" fill="hold" grpId="1" nodeType="withEffect">
                                  <p:stCondLst>
                                    <p:cond delay="0"/>
                                  </p:stCondLst>
                                  <p:childTnLst>
                                    <p:set>
                                      <p:cBhvr>
                                        <p:cTn id="10" dur="1" fill="hold">
                                          <p:stCondLst>
                                            <p:cond delay="0"/>
                                          </p:stCondLst>
                                        </p:cTn>
                                        <p:tgtEl>
                                          <p:spTgt spid="101"/>
                                        </p:tgtEl>
                                        <p:attrNameLst>
                                          <p:attrName>style.visibility</p:attrName>
                                        </p:attrNameLst>
                                      </p:cBhvr>
                                      <p:to>
                                        <p:strVal val="visible"/>
                                      </p:to>
                                    </p:set>
                                    <p:animEffect transition="in" filter="fade">
                                      <p:cBhvr>
                                        <p:cTn id="11" dur="500"/>
                                        <p:tgtEl>
                                          <p:spTgt spid="101"/>
                                        </p:tgtEl>
                                      </p:cBhvr>
                                    </p:animEffect>
                                  </p:childTnLst>
                                </p:cTn>
                              </p:par>
                            </p:childTnLst>
                          </p:cTn>
                        </p:par>
                        <p:par>
                          <p:cTn id="12" fill="hold">
                            <p:stCondLst>
                              <p:cond delay="0"/>
                            </p:stCondLst>
                            <p:childTnLst>
                              <p:par>
                                <p:cTn id="13" presetID="10" presetClass="entr" presetSubtype="0" fill="hold" grpId="2" nodeType="withEffect">
                                  <p:stCondLst>
                                    <p:cond delay="0"/>
                                  </p:stCondLst>
                                  <p:childTnLst>
                                    <p:set>
                                      <p:cBhvr>
                                        <p:cTn id="14" dur="1" fill="hold">
                                          <p:stCondLst>
                                            <p:cond delay="0"/>
                                          </p:stCondLst>
                                        </p:cTn>
                                        <p:tgtEl>
                                          <p:spTgt spid="102"/>
                                        </p:tgtEl>
                                        <p:attrNameLst>
                                          <p:attrName>style.visibility</p:attrName>
                                        </p:attrNameLst>
                                      </p:cBhvr>
                                      <p:to>
                                        <p:strVal val="visible"/>
                                      </p:to>
                                    </p:set>
                                    <p:animEffect transition="in" filter="fade">
                                      <p:cBhvr>
                                        <p:cTn id="15" dur="500"/>
                                        <p:tgtEl>
                                          <p:spTgt spid="10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3" nodeType="clickEffect">
                                  <p:stCondLst>
                                    <p:cond delay="0"/>
                                  </p:stCondLst>
                                  <p:childTnLst>
                                    <p:set>
                                      <p:cBhvr>
                                        <p:cTn id="19" dur="1" fill="hold">
                                          <p:stCondLst>
                                            <p:cond delay="0"/>
                                          </p:stCondLst>
                                        </p:cTn>
                                        <p:tgtEl>
                                          <p:spTgt spid="103"/>
                                        </p:tgtEl>
                                        <p:attrNameLst>
                                          <p:attrName>style.visibility</p:attrName>
                                        </p:attrNameLst>
                                      </p:cBhvr>
                                      <p:to>
                                        <p:strVal val="visible"/>
                                      </p:to>
                                    </p:set>
                                    <p:animEffect transition="in" filter="fade">
                                      <p:cBhvr>
                                        <p:cTn id="20" dur="500"/>
                                        <p:tgtEl>
                                          <p:spTgt spid="103"/>
                                        </p:tgtEl>
                                      </p:cBhvr>
                                    </p:animEffect>
                                  </p:childTnLst>
                                </p:cTn>
                              </p:par>
                            </p:childTnLst>
                          </p:cTn>
                        </p:par>
                        <p:par>
                          <p:cTn id="21" fill="hold">
                            <p:stCondLst>
                              <p:cond delay="0"/>
                            </p:stCondLst>
                            <p:childTnLst>
                              <p:par>
                                <p:cTn id="22" presetID="10" presetClass="entr" presetSubtype="0" fill="hold" grpId="4" nodeType="withEffect">
                                  <p:stCondLst>
                                    <p:cond delay="0"/>
                                  </p:stCondLst>
                                  <p:childTnLst>
                                    <p:set>
                                      <p:cBhvr>
                                        <p:cTn id="23" dur="1" fill="hold">
                                          <p:stCondLst>
                                            <p:cond delay="0"/>
                                          </p:stCondLst>
                                        </p:cTn>
                                        <p:tgtEl>
                                          <p:spTgt spid="104"/>
                                        </p:tgtEl>
                                        <p:attrNameLst>
                                          <p:attrName>style.visibility</p:attrName>
                                        </p:attrNameLst>
                                      </p:cBhvr>
                                      <p:to>
                                        <p:strVal val="visible"/>
                                      </p:to>
                                    </p:set>
                                    <p:animEffect transition="in" filter="fade">
                                      <p:cBhvr>
                                        <p:cTn id="24" dur="500"/>
                                        <p:tgtEl>
                                          <p:spTgt spid="104"/>
                                        </p:tgtEl>
                                      </p:cBhvr>
                                    </p:animEffect>
                                  </p:childTnLst>
                                </p:cTn>
                              </p:par>
                            </p:childTnLst>
                          </p:cTn>
                        </p:par>
                        <p:par>
                          <p:cTn id="25" fill="hold">
                            <p:stCondLst>
                              <p:cond delay="0"/>
                            </p:stCondLst>
                            <p:childTnLst>
                              <p:par>
                                <p:cTn id="26" presetID="10" presetClass="entr" presetSubtype="0" fill="hold" grpId="5" nodeType="withEffect">
                                  <p:stCondLst>
                                    <p:cond delay="0"/>
                                  </p:stCondLst>
                                  <p:childTnLst>
                                    <p:set>
                                      <p:cBhvr>
                                        <p:cTn id="27" dur="1" fill="hold">
                                          <p:stCondLst>
                                            <p:cond delay="0"/>
                                          </p:stCondLst>
                                        </p:cTn>
                                        <p:tgtEl>
                                          <p:spTgt spid="105"/>
                                        </p:tgtEl>
                                        <p:attrNameLst>
                                          <p:attrName>style.visibility</p:attrName>
                                        </p:attrNameLst>
                                      </p:cBhvr>
                                      <p:to>
                                        <p:strVal val="visible"/>
                                      </p:to>
                                    </p:set>
                                    <p:animEffect transition="in" filter="fade">
                                      <p:cBhvr>
                                        <p:cTn id="28" dur="500"/>
                                        <p:tgtEl>
                                          <p:spTgt spid="10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6" nodeType="clickEffect">
                                  <p:stCondLst>
                                    <p:cond delay="0"/>
                                  </p:stCondLst>
                                  <p:childTnLst>
                                    <p:set>
                                      <p:cBhvr>
                                        <p:cTn id="32" dur="1" fill="hold">
                                          <p:stCondLst>
                                            <p:cond delay="0"/>
                                          </p:stCondLst>
                                        </p:cTn>
                                        <p:tgtEl>
                                          <p:spTgt spid="106"/>
                                        </p:tgtEl>
                                        <p:attrNameLst>
                                          <p:attrName>style.visibility</p:attrName>
                                        </p:attrNameLst>
                                      </p:cBhvr>
                                      <p:to>
                                        <p:strVal val="visible"/>
                                      </p:to>
                                    </p:set>
                                    <p:animEffect transition="in" filter="fade">
                                      <p:cBhvr>
                                        <p:cTn id="33" dur="500"/>
                                        <p:tgtEl>
                                          <p:spTgt spid="106"/>
                                        </p:tgtEl>
                                      </p:cBhvr>
                                    </p:animEffect>
                                  </p:childTnLst>
                                </p:cTn>
                              </p:par>
                            </p:childTnLst>
                          </p:cTn>
                        </p:par>
                        <p:par>
                          <p:cTn id="34" fill="hold">
                            <p:stCondLst>
                              <p:cond delay="0"/>
                            </p:stCondLst>
                            <p:childTnLst>
                              <p:par>
                                <p:cTn id="35" presetID="10" presetClass="entr" presetSubtype="0" fill="hold" grpId="7" nodeType="withEffect">
                                  <p:stCondLst>
                                    <p:cond delay="0"/>
                                  </p:stCondLst>
                                  <p:childTnLst>
                                    <p:set>
                                      <p:cBhvr>
                                        <p:cTn id="36" dur="1" fill="hold">
                                          <p:stCondLst>
                                            <p:cond delay="0"/>
                                          </p:stCondLst>
                                        </p:cTn>
                                        <p:tgtEl>
                                          <p:spTgt spid="107"/>
                                        </p:tgtEl>
                                        <p:attrNameLst>
                                          <p:attrName>style.visibility</p:attrName>
                                        </p:attrNameLst>
                                      </p:cBhvr>
                                      <p:to>
                                        <p:strVal val="visible"/>
                                      </p:to>
                                    </p:set>
                                    <p:animEffect transition="in" filter="fade">
                                      <p:cBhvr>
                                        <p:cTn id="37" dur="500"/>
                                        <p:tgtEl>
                                          <p:spTgt spid="107"/>
                                        </p:tgtEl>
                                      </p:cBhvr>
                                    </p:animEffect>
                                  </p:childTnLst>
                                </p:cTn>
                              </p:par>
                            </p:childTnLst>
                          </p:cTn>
                        </p:par>
                        <p:par>
                          <p:cTn id="38" fill="hold">
                            <p:stCondLst>
                              <p:cond delay="0"/>
                            </p:stCondLst>
                            <p:childTnLst>
                              <p:par>
                                <p:cTn id="39" presetID="10" presetClass="entr" presetSubtype="0" fill="hold" grpId="8" nodeType="withEffect">
                                  <p:stCondLst>
                                    <p:cond delay="0"/>
                                  </p:stCondLst>
                                  <p:childTnLst>
                                    <p:set>
                                      <p:cBhvr>
                                        <p:cTn id="40" dur="1" fill="hold">
                                          <p:stCondLst>
                                            <p:cond delay="0"/>
                                          </p:stCondLst>
                                        </p:cTn>
                                        <p:tgtEl>
                                          <p:spTgt spid="108"/>
                                        </p:tgtEl>
                                        <p:attrNameLst>
                                          <p:attrName>style.visibility</p:attrName>
                                        </p:attrNameLst>
                                      </p:cBhvr>
                                      <p:to>
                                        <p:strVal val="visible"/>
                                      </p:to>
                                    </p:set>
                                    <p:animEffect transition="in" filter="fade">
                                      <p:cBhvr>
                                        <p:cTn id="41" dur="500"/>
                                        <p:tgtEl>
                                          <p:spTgt spid="108"/>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9" nodeType="clickEffect">
                                  <p:stCondLst>
                                    <p:cond delay="0"/>
                                  </p:stCondLst>
                                  <p:childTnLst>
                                    <p:set>
                                      <p:cBhvr>
                                        <p:cTn id="45" dur="1" fill="hold">
                                          <p:stCondLst>
                                            <p:cond delay="0"/>
                                          </p:stCondLst>
                                        </p:cTn>
                                        <p:tgtEl>
                                          <p:spTgt spid="110"/>
                                        </p:tgtEl>
                                        <p:attrNameLst>
                                          <p:attrName>style.visibility</p:attrName>
                                        </p:attrNameLst>
                                      </p:cBhvr>
                                      <p:to>
                                        <p:strVal val="visible"/>
                                      </p:to>
                                    </p:set>
                                    <p:animEffect transition="in" filter="fade">
                                      <p:cBhvr>
                                        <p:cTn id="46" dur="500"/>
                                        <p:tgtEl>
                                          <p:spTgt spid="110"/>
                                        </p:tgtEl>
                                      </p:cBhvr>
                                    </p:animEffect>
                                  </p:childTnLst>
                                </p:cTn>
                              </p:par>
                            </p:childTnLst>
                          </p:cTn>
                        </p:par>
                        <p:par>
                          <p:cTn id="47" fill="hold">
                            <p:stCondLst>
                              <p:cond delay="0"/>
                            </p:stCondLst>
                            <p:childTnLst>
                              <p:par>
                                <p:cTn id="48" presetID="10" presetClass="entr" presetSubtype="0" fill="hold" grpId="10" nodeType="withEffect">
                                  <p:stCondLst>
                                    <p:cond delay="0"/>
                                  </p:stCondLst>
                                  <p:childTnLst>
                                    <p:set>
                                      <p:cBhvr>
                                        <p:cTn id="49" dur="1" fill="hold">
                                          <p:stCondLst>
                                            <p:cond delay="0"/>
                                          </p:stCondLst>
                                        </p:cTn>
                                        <p:tgtEl>
                                          <p:spTgt spid="111"/>
                                        </p:tgtEl>
                                        <p:attrNameLst>
                                          <p:attrName>style.visibility</p:attrName>
                                        </p:attrNameLst>
                                      </p:cBhvr>
                                      <p:to>
                                        <p:strVal val="visible"/>
                                      </p:to>
                                    </p:set>
                                    <p:animEffect transition="in" filter="fade">
                                      <p:cBhvr>
                                        <p:cTn id="50" dur="500"/>
                                        <p:tgtEl>
                                          <p:spTgt spid="111"/>
                                        </p:tgtEl>
                                      </p:cBhvr>
                                    </p:animEffect>
                                  </p:childTnLst>
                                </p:cTn>
                              </p:par>
                            </p:childTnLst>
                          </p:cTn>
                        </p:par>
                        <p:par>
                          <p:cTn id="51" fill="hold">
                            <p:stCondLst>
                              <p:cond delay="0"/>
                            </p:stCondLst>
                            <p:childTnLst>
                              <p:par>
                                <p:cTn id="52" presetID="10" presetClass="entr" presetSubtype="0" fill="hold" grpId="11" nodeType="withEffect">
                                  <p:stCondLst>
                                    <p:cond delay="0"/>
                                  </p:stCondLst>
                                  <p:childTnLst>
                                    <p:set>
                                      <p:cBhvr>
                                        <p:cTn id="53" dur="1" fill="hold">
                                          <p:stCondLst>
                                            <p:cond delay="0"/>
                                          </p:stCondLst>
                                        </p:cTn>
                                        <p:tgtEl>
                                          <p:spTgt spid="112"/>
                                        </p:tgtEl>
                                        <p:attrNameLst>
                                          <p:attrName>style.visibility</p:attrName>
                                        </p:attrNameLst>
                                      </p:cBhvr>
                                      <p:to>
                                        <p:strVal val="visible"/>
                                      </p:to>
                                    </p:set>
                                    <p:animEffect transition="in" filter="fade">
                                      <p:cBhvr>
                                        <p:cTn id="54" dur="500"/>
                                        <p:tgtEl>
                                          <p:spTgt spid="112"/>
                                        </p:tgtEl>
                                      </p:cBhvr>
                                    </p:animEffect>
                                  </p:childTnLst>
                                </p:cTn>
                              </p:par>
                            </p:childTnLst>
                          </p:cTn>
                        </p:par>
                        <p:par>
                          <p:cTn id="55" fill="hold">
                            <p:stCondLst>
                              <p:cond delay="0"/>
                            </p:stCondLst>
                            <p:childTnLst>
                              <p:par>
                                <p:cTn id="56" presetID="10" presetClass="entr" presetSubtype="0" fill="hold" grpId="12" nodeType="withEffect">
                                  <p:stCondLst>
                                    <p:cond delay="0"/>
                                  </p:stCondLst>
                                  <p:childTnLst>
                                    <p:set>
                                      <p:cBhvr>
                                        <p:cTn id="57" dur="1" fill="hold">
                                          <p:stCondLst>
                                            <p:cond delay="0"/>
                                          </p:stCondLst>
                                        </p:cTn>
                                        <p:tgtEl>
                                          <p:spTgt spid="109"/>
                                        </p:tgtEl>
                                        <p:attrNameLst>
                                          <p:attrName>style.visibility</p:attrName>
                                        </p:attrNameLst>
                                      </p:cBhvr>
                                      <p:to>
                                        <p:strVal val="visible"/>
                                      </p:to>
                                    </p:set>
                                    <p:animEffect transition="in" filter="fade">
                                      <p:cBhvr>
                                        <p:cTn id="58" dur="500"/>
                                        <p:tgtEl>
                                          <p:spTgt spid="109"/>
                                        </p:tgtEl>
                                      </p:cBhvr>
                                    </p:animEffect>
                                  </p:childTnLst>
                                </p:cTn>
                              </p:par>
                            </p:childTnLst>
                          </p:cTn>
                        </p:par>
                        <p:par>
                          <p:cTn id="59" fill="hold">
                            <p:stCondLst>
                              <p:cond delay="0"/>
                            </p:stCondLst>
                            <p:childTnLst>
                              <p:par>
                                <p:cTn id="60" presetID="10" presetClass="entr" presetSubtype="0" fill="hold" grpId="13" nodeType="withEffect">
                                  <p:stCondLst>
                                    <p:cond delay="0"/>
                                  </p:stCondLst>
                                  <p:childTnLst>
                                    <p:set>
                                      <p:cBhvr>
                                        <p:cTn id="61" dur="1" fill="hold">
                                          <p:stCondLst>
                                            <p:cond delay="0"/>
                                          </p:stCondLst>
                                        </p:cTn>
                                        <p:tgtEl>
                                          <p:spTgt spid="113"/>
                                        </p:tgtEl>
                                        <p:attrNameLst>
                                          <p:attrName>style.visibility</p:attrName>
                                        </p:attrNameLst>
                                      </p:cBhvr>
                                      <p:to>
                                        <p:strVal val="visible"/>
                                      </p:to>
                                    </p:set>
                                    <p:animEffect transition="in" filter="fade">
                                      <p:cBhvr>
                                        <p:cTn id="62" dur="500"/>
                                        <p:tgtEl>
                                          <p:spTgt spid="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animBg="1"/>
      <p:bldP spid="101" grpId="1" animBg="1"/>
      <p:bldP spid="102" grpId="2" animBg="1"/>
      <p:bldP spid="103" grpId="3" animBg="1"/>
      <p:bldP spid="104" grpId="4" animBg="1"/>
      <p:bldP spid="105" grpId="5" animBg="1"/>
      <p:bldP spid="106" grpId="6" animBg="1"/>
      <p:bldP spid="107" grpId="7" animBg="1"/>
      <p:bldP spid="108" grpId="8" animBg="1"/>
      <p:bldP spid="109" grpId="12" animBg="1"/>
      <p:bldP spid="110" grpId="9" animBg="1"/>
      <p:bldP spid="111" grpId="10" animBg="1"/>
      <p:bldP spid="112" grpId="11" animBg="1"/>
      <p:bldP spid="113" grpId="13"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148" y="118428"/>
            <a:ext cx="8590000" cy="638175"/>
          </a:xfrm>
        </p:spPr>
        <p:txBody>
          <a:bodyPr>
            <a:normAutofit fontScale="90000"/>
          </a:bodyPr>
          <a:lstStyle/>
          <a:p>
            <a:pPr>
              <a:buNone/>
              <a:defRPr b="0"/>
            </a:pPr>
            <a:r>
              <a:rPr lang="en-US" sz="2400" b="0" i="0" dirty="0">
                <a:solidFill>
                  <a:srgbClr val="000000"/>
                </a:solidFill>
              </a:rPr>
              <a:t>What remains is a set of degrees of freedom</a:t>
            </a:r>
          </a:p>
        </p:txBody>
      </p:sp>
      <p:sp>
        <p:nvSpPr>
          <p:cNvPr id="3" name="Slide Number Placeholder 3"/>
          <p:cNvSpPr>
            <a:spLocks noGrp="1"/>
          </p:cNvSpPr>
          <p:nvPr>
            <p:ph type="sldNum" sz="quarter" idx="4"/>
          </p:nvPr>
        </p:nvSpPr>
        <p:spPr/>
        <p:txBody>
          <a:bodyPr/>
          <a:lstStyle/>
          <a:p>
            <a:fld id="{B7EB45DA-9A0D-DC49-8E02-F30A5DDC21C3}" type="slidenum">
              <a:rPr lang="en-US" smtClean="0"/>
              <a:t>7</a:t>
            </a:fld>
            <a:endParaRPr lang="en-US"/>
          </a:p>
        </p:txBody>
      </p:sp>
      <p:sp>
        <p:nvSpPr>
          <p:cNvPr id="100" name="S100"/>
          <p:cNvSpPr/>
          <p:nvPr/>
        </p:nvSpPr>
        <p:spPr>
          <a:xfrm>
            <a:off x="277147" y="1069773"/>
            <a:ext cx="7800000" cy="683200"/>
          </a:xfrm>
          <a:prstGeom prst="rect">
            <a:avLst/>
          </a:prstGeom>
          <a:solidFill>
            <a:srgbClr val="F5F1E8"/>
          </a:solidFill>
          <a:ln w="12700">
            <a:solidFill>
              <a:srgbClr val="C9B991"/>
            </a:solidFill>
          </a:ln>
        </p:spPr>
        <p:txBody>
          <a:bodyPr wrap="square" lIns="140000" tIns="45720" rIns="140000" bIns="45720" anchor="ctr"/>
          <a:lstStyle/>
          <a:p>
            <a:pPr algn="l">
              <a:buNone/>
            </a:pPr>
            <a:r>
              <a:rPr lang="en-US" sz="2100" b="1" i="0" dirty="0">
                <a:solidFill>
                  <a:srgbClr val="000000"/>
                </a:solidFill>
              </a:rPr>
              <a:t>ALL POSSIBLE INTERNAL DESIGNS</a:t>
            </a:r>
          </a:p>
        </p:txBody>
      </p:sp>
      <p:sp>
        <p:nvSpPr>
          <p:cNvPr id="101" name="S101"/>
          <p:cNvSpPr/>
          <p:nvPr/>
        </p:nvSpPr>
        <p:spPr>
          <a:xfrm>
            <a:off x="277147" y="1948173"/>
            <a:ext cx="6100000" cy="683200"/>
          </a:xfrm>
          <a:prstGeom prst="rect">
            <a:avLst/>
          </a:prstGeom>
          <a:solidFill>
            <a:srgbClr val="F5F1E8"/>
          </a:solidFill>
          <a:ln w="12700">
            <a:solidFill>
              <a:srgbClr val="C9B991"/>
            </a:solidFill>
          </a:ln>
        </p:spPr>
        <p:txBody>
          <a:bodyPr wrap="square" lIns="140000" tIns="45720" rIns="140000" bIns="45720" anchor="ctr"/>
          <a:lstStyle/>
          <a:p>
            <a:pPr algn="l">
              <a:buNone/>
            </a:pPr>
            <a:r>
              <a:rPr lang="en-US" sz="2100" b="1" i="0" dirty="0">
                <a:solidFill>
                  <a:srgbClr val="5C4826"/>
                </a:solidFill>
              </a:rPr>
              <a:t>Specification</a:t>
            </a:r>
          </a:p>
        </p:txBody>
      </p:sp>
      <p:sp>
        <p:nvSpPr>
          <p:cNvPr id="102" name="S102"/>
          <p:cNvSpPr/>
          <p:nvPr/>
        </p:nvSpPr>
        <p:spPr>
          <a:xfrm>
            <a:off x="277147" y="2826573"/>
            <a:ext cx="4700000" cy="683200"/>
          </a:xfrm>
          <a:prstGeom prst="rect">
            <a:avLst/>
          </a:prstGeom>
          <a:solidFill>
            <a:srgbClr val="F5F1E8"/>
          </a:solidFill>
          <a:ln w="12700">
            <a:solidFill>
              <a:srgbClr val="C9B991"/>
            </a:solidFill>
          </a:ln>
        </p:spPr>
        <p:txBody>
          <a:bodyPr wrap="square" lIns="140000" tIns="45720" rIns="140000" bIns="45720" anchor="ctr"/>
          <a:lstStyle/>
          <a:p>
            <a:pPr algn="l">
              <a:buNone/>
            </a:pPr>
            <a:r>
              <a:rPr lang="en-US" sz="2100" b="1" i="0" dirty="0">
                <a:solidFill>
                  <a:srgbClr val="5C4826"/>
                </a:solidFill>
              </a:rPr>
              <a:t>Architecture</a:t>
            </a:r>
          </a:p>
        </p:txBody>
      </p:sp>
      <p:sp>
        <p:nvSpPr>
          <p:cNvPr id="103" name="S103"/>
          <p:cNvSpPr/>
          <p:nvPr/>
        </p:nvSpPr>
        <p:spPr>
          <a:xfrm>
            <a:off x="277147" y="3704973"/>
            <a:ext cx="3600000" cy="683200"/>
          </a:xfrm>
          <a:prstGeom prst="rect">
            <a:avLst/>
          </a:prstGeom>
          <a:solidFill>
            <a:srgbClr val="F5F1E8"/>
          </a:solidFill>
          <a:ln w="12700">
            <a:solidFill>
              <a:srgbClr val="C9B991"/>
            </a:solidFill>
          </a:ln>
        </p:spPr>
        <p:txBody>
          <a:bodyPr wrap="square" lIns="140000" tIns="45720" rIns="140000" bIns="45720" anchor="ctr"/>
          <a:lstStyle/>
          <a:p>
            <a:pPr algn="l">
              <a:buNone/>
            </a:pPr>
            <a:r>
              <a:rPr lang="en-US" sz="2100" b="1" i="0" dirty="0">
                <a:solidFill>
                  <a:srgbClr val="5C4826"/>
                </a:solidFill>
              </a:rPr>
              <a:t>Environment</a:t>
            </a:r>
          </a:p>
        </p:txBody>
      </p:sp>
      <p:sp>
        <p:nvSpPr>
          <p:cNvPr id="104" name="S104"/>
          <p:cNvSpPr/>
          <p:nvPr/>
        </p:nvSpPr>
        <p:spPr>
          <a:xfrm>
            <a:off x="277147" y="4583373"/>
            <a:ext cx="2400000" cy="683200"/>
          </a:xfrm>
          <a:prstGeom prst="rect">
            <a:avLst/>
          </a:prstGeom>
          <a:solidFill>
            <a:srgbClr val="8E6F3E"/>
          </a:solidFill>
          <a:ln>
            <a:noFill/>
          </a:ln>
        </p:spPr>
        <p:txBody>
          <a:bodyPr wrap="square" lIns="91440" tIns="45720" rIns="91440" bIns="45720" anchor="ctr"/>
          <a:lstStyle/>
          <a:p>
            <a:pPr algn="ctr">
              <a:buNone/>
            </a:pPr>
            <a:r>
              <a:rPr lang="en-US" sz="2200" b="1" i="0" dirty="0">
                <a:solidFill>
                  <a:srgbClr val="FFFFFF"/>
                </a:solidFill>
              </a:rPr>
              <a:t>REMAINING DoF</a:t>
            </a:r>
          </a:p>
        </p:txBody>
      </p:sp>
      <p:cxnSp>
        <p:nvCxnSpPr>
          <p:cNvPr id="105" name="L105"/>
          <p:cNvCxnSpPr/>
          <p:nvPr/>
        </p:nvCxnSpPr>
        <p:spPr>
          <a:xfrm flipV="1">
            <a:off x="1477148" y="4388173"/>
            <a:ext cx="0" cy="195199"/>
          </a:xfrm>
          <a:prstGeom prst="straightConnector1">
            <a:avLst/>
          </a:prstGeom>
          <a:ln w="38100">
            <a:solidFill>
              <a:srgbClr val="8E6F3E"/>
            </a:solidFill>
            <a:tailEnd type="triangle" w="med" len="med"/>
          </a:ln>
        </p:spPr>
      </p:cxnSp>
      <p:sp>
        <p:nvSpPr>
          <p:cNvPr id="106" name="Text"/>
          <p:cNvSpPr txBox="1"/>
          <p:nvPr/>
        </p:nvSpPr>
        <p:spPr>
          <a:xfrm>
            <a:off x="277148" y="5806440"/>
            <a:ext cx="8589704" cy="548640"/>
          </a:xfrm>
          <a:prstGeom prst="rect">
            <a:avLst/>
          </a:prstGeom>
          <a:noFill/>
          <a:ln>
            <a:noFill/>
          </a:ln>
        </p:spPr>
        <p:txBody>
          <a:bodyPr wrap="square" lIns="0" tIns="0" rIns="0" bIns="0" anchor="t"/>
          <a:lstStyle/>
          <a:p>
            <a:pPr algn="ctr">
              <a:buNone/>
            </a:pPr>
            <a:r>
              <a:rPr lang="en-US" sz="2700" b="0" i="1" dirty="0">
                <a:solidFill>
                  <a:srgbClr val="000000"/>
                </a:solidFill>
              </a:rPr>
              <a:t>Design works on what remains open.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148" y="118428"/>
            <a:ext cx="8590000" cy="638175"/>
          </a:xfrm>
        </p:spPr>
        <p:txBody>
          <a:bodyPr>
            <a:normAutofit fontScale="90000"/>
          </a:bodyPr>
          <a:lstStyle/>
          <a:p>
            <a:pPr>
              <a:buNone/>
              <a:defRPr b="0"/>
            </a:pPr>
            <a:r>
              <a:rPr lang="en-US" sz="2400" b="0" i="0" dirty="0">
                <a:solidFill>
                  <a:srgbClr val="000000"/>
                </a:solidFill>
              </a:rPr>
              <a:t>Not every open choice is ours to make</a:t>
            </a:r>
          </a:p>
        </p:txBody>
      </p:sp>
      <p:sp>
        <p:nvSpPr>
          <p:cNvPr id="3" name="Slide Number Placeholder 3"/>
          <p:cNvSpPr>
            <a:spLocks noGrp="1"/>
          </p:cNvSpPr>
          <p:nvPr>
            <p:ph type="sldNum" sz="quarter" idx="4"/>
          </p:nvPr>
        </p:nvSpPr>
        <p:spPr/>
        <p:txBody>
          <a:bodyPr/>
          <a:lstStyle/>
          <a:p>
            <a:fld id="{B7EB45DA-9A0D-DC49-8E02-F30A5DDC21C3}" type="slidenum">
              <a:rPr lang="en-US" smtClean="0"/>
              <a:t>8</a:t>
            </a:fld>
            <a:endParaRPr lang="en-US"/>
          </a:p>
        </p:txBody>
      </p:sp>
      <p:sp>
        <p:nvSpPr>
          <p:cNvPr id="100" name="H"/>
          <p:cNvSpPr/>
          <p:nvPr/>
        </p:nvSpPr>
        <p:spPr>
          <a:xfrm>
            <a:off x="482000" y="900000"/>
            <a:ext cx="2560000" cy="520000"/>
          </a:xfrm>
          <a:prstGeom prst="rect">
            <a:avLst/>
          </a:prstGeom>
          <a:solidFill>
            <a:srgbClr val="8E6F3E"/>
          </a:solidFill>
          <a:ln>
            <a:noFill/>
          </a:ln>
        </p:spPr>
        <p:txBody>
          <a:bodyPr wrap="square" lIns="91440" tIns="45720" rIns="91440" bIns="45720" anchor="ctr"/>
          <a:lstStyle/>
          <a:p>
            <a:pPr algn="ctr">
              <a:buNone/>
            </a:pPr>
            <a:r>
              <a:rPr lang="en-US" sz="3000" b="1" i="0" dirty="0">
                <a:solidFill>
                  <a:srgbClr val="FFFFFF"/>
                </a:solidFill>
              </a:rPr>
              <a:t>FOLLOW</a:t>
            </a:r>
          </a:p>
        </p:txBody>
      </p:sp>
      <p:sp>
        <p:nvSpPr>
          <p:cNvPr id="101" name="C"/>
          <p:cNvSpPr/>
          <p:nvPr/>
        </p:nvSpPr>
        <p:spPr>
          <a:xfrm>
            <a:off x="482000" y="1440000"/>
            <a:ext cx="2560000" cy="1900000"/>
          </a:xfrm>
          <a:prstGeom prst="rect">
            <a:avLst/>
          </a:prstGeom>
          <a:solidFill>
            <a:srgbClr val="F5F1E8"/>
          </a:solidFill>
          <a:ln w="12700">
            <a:solidFill>
              <a:srgbClr val="C9B991"/>
            </a:solidFill>
          </a:ln>
        </p:spPr>
        <p:txBody>
          <a:bodyPr wrap="square" lIns="91440" tIns="45720" rIns="91440" bIns="45720" anchor="ctr"/>
          <a:lstStyle/>
          <a:p>
            <a:pPr algn="ctr">
              <a:buNone/>
            </a:pPr>
            <a:r>
              <a:rPr lang="en-US" sz="2100" b="0" i="0" dirty="0">
                <a:solidFill>
                  <a:srgbClr val="000000"/>
                </a:solidFill>
              </a:rPr>
              <a:t>Already answered</a:t>
            </a:r>
          </a:p>
          <a:p>
            <a:pPr algn="ctr">
              <a:spcBef>
                <a:spcPts val="160"/>
              </a:spcBef>
              <a:buNone/>
            </a:pPr>
            <a:r>
              <a:rPr lang="en-US" sz="2100" b="0" i="0" dirty="0">
                <a:solidFill>
                  <a:srgbClr val="000000"/>
                </a:solidFill>
              </a:rPr>
              <a:t>Use the established mechanism</a:t>
            </a:r>
          </a:p>
        </p:txBody>
      </p:sp>
      <p:sp>
        <p:nvSpPr>
          <p:cNvPr id="102" name="H"/>
          <p:cNvSpPr/>
          <p:nvPr/>
        </p:nvSpPr>
        <p:spPr>
          <a:xfrm>
            <a:off x="3292000" y="900000"/>
            <a:ext cx="2560000" cy="520000"/>
          </a:xfrm>
          <a:prstGeom prst="rect">
            <a:avLst/>
          </a:prstGeom>
          <a:solidFill>
            <a:srgbClr val="8E6F3E"/>
          </a:solidFill>
          <a:ln>
            <a:noFill/>
          </a:ln>
        </p:spPr>
        <p:txBody>
          <a:bodyPr wrap="square" lIns="91440" tIns="45720" rIns="91440" bIns="45720" anchor="ctr"/>
          <a:lstStyle/>
          <a:p>
            <a:pPr algn="ctr">
              <a:buNone/>
            </a:pPr>
            <a:r>
              <a:rPr lang="en-US" sz="3000" b="1" i="0" dirty="0">
                <a:solidFill>
                  <a:srgbClr val="FFFFFF"/>
                </a:solidFill>
              </a:rPr>
              <a:t>CHOOSE</a:t>
            </a:r>
          </a:p>
        </p:txBody>
      </p:sp>
      <p:sp>
        <p:nvSpPr>
          <p:cNvPr id="103" name="C"/>
          <p:cNvSpPr/>
          <p:nvPr/>
        </p:nvSpPr>
        <p:spPr>
          <a:xfrm>
            <a:off x="3292000" y="1440000"/>
            <a:ext cx="2560000" cy="1900000"/>
          </a:xfrm>
          <a:prstGeom prst="rect">
            <a:avLst/>
          </a:prstGeom>
          <a:solidFill>
            <a:srgbClr val="F5F1E8"/>
          </a:solidFill>
          <a:ln w="12700">
            <a:solidFill>
              <a:srgbClr val="C9B991"/>
            </a:solidFill>
          </a:ln>
        </p:spPr>
        <p:txBody>
          <a:bodyPr wrap="square" lIns="91440" tIns="45720" rIns="91440" bIns="45720" anchor="ctr"/>
          <a:lstStyle/>
          <a:p>
            <a:pPr algn="ctr">
              <a:buNone/>
            </a:pPr>
            <a:r>
              <a:rPr lang="en-US" sz="2100" b="0" i="0" dirty="0">
                <a:solidFill>
                  <a:srgbClr val="000000"/>
                </a:solidFill>
              </a:rPr>
              <a:t>Genuinely local</a:t>
            </a:r>
          </a:p>
          <a:p>
            <a:pPr algn="ctr">
              <a:spcBef>
                <a:spcPts val="160"/>
              </a:spcBef>
              <a:buNone/>
            </a:pPr>
            <a:r>
              <a:rPr lang="en-US" sz="2100" b="0" i="0" dirty="0">
                <a:solidFill>
                  <a:srgbClr val="000000"/>
                </a:solidFill>
              </a:rPr>
              <a:t>Exercise Design judgment</a:t>
            </a:r>
          </a:p>
        </p:txBody>
      </p:sp>
      <p:sp>
        <p:nvSpPr>
          <p:cNvPr id="104" name="H"/>
          <p:cNvSpPr/>
          <p:nvPr/>
        </p:nvSpPr>
        <p:spPr>
          <a:xfrm>
            <a:off x="6102000" y="900000"/>
            <a:ext cx="2560000" cy="520000"/>
          </a:xfrm>
          <a:prstGeom prst="rect">
            <a:avLst/>
          </a:prstGeom>
          <a:solidFill>
            <a:srgbClr val="8E6F3E"/>
          </a:solidFill>
          <a:ln>
            <a:noFill/>
          </a:ln>
        </p:spPr>
        <p:txBody>
          <a:bodyPr wrap="square" lIns="91440" tIns="45720" rIns="91440" bIns="45720" anchor="ctr"/>
          <a:lstStyle/>
          <a:p>
            <a:pPr algn="ctr">
              <a:buNone/>
            </a:pPr>
            <a:r>
              <a:rPr lang="en-US" sz="3000" b="1" i="0" dirty="0">
                <a:solidFill>
                  <a:srgbClr val="FFFFFF"/>
                </a:solidFill>
              </a:rPr>
              <a:t>ESCALATE</a:t>
            </a:r>
          </a:p>
        </p:txBody>
      </p:sp>
      <p:sp>
        <p:nvSpPr>
          <p:cNvPr id="105" name="C"/>
          <p:cNvSpPr/>
          <p:nvPr/>
        </p:nvSpPr>
        <p:spPr>
          <a:xfrm>
            <a:off x="6102000" y="1440000"/>
            <a:ext cx="2560000" cy="1900000"/>
          </a:xfrm>
          <a:prstGeom prst="rect">
            <a:avLst/>
          </a:prstGeom>
          <a:solidFill>
            <a:srgbClr val="F5F1E8"/>
          </a:solidFill>
          <a:ln w="12700">
            <a:solidFill>
              <a:srgbClr val="C9B991"/>
            </a:solidFill>
          </a:ln>
        </p:spPr>
        <p:txBody>
          <a:bodyPr wrap="square" lIns="91440" tIns="45720" rIns="91440" bIns="45720" anchor="ctr"/>
          <a:lstStyle/>
          <a:p>
            <a:pPr algn="ctr">
              <a:buNone/>
            </a:pPr>
            <a:r>
              <a:rPr lang="en-US" sz="2100" b="0" i="0" dirty="0">
                <a:solidFill>
                  <a:srgbClr val="000000"/>
                </a:solidFill>
              </a:rPr>
              <a:t>Consequences escape the box</a:t>
            </a:r>
          </a:p>
          <a:p>
            <a:pPr algn="ctr">
              <a:spcBef>
                <a:spcPts val="160"/>
              </a:spcBef>
              <a:buNone/>
            </a:pPr>
            <a:r>
              <a:rPr lang="en-US" sz="2100" b="0" i="0" dirty="0">
                <a:solidFill>
                  <a:srgbClr val="000000"/>
                </a:solidFill>
              </a:rPr>
              <a:t>May belong elsewhere</a:t>
            </a:r>
          </a:p>
        </p:txBody>
      </p:sp>
      <p:sp>
        <p:nvSpPr>
          <p:cNvPr id="130" name="TPSbadge"/>
          <p:cNvSpPr/>
          <p:nvPr/>
        </p:nvSpPr>
        <p:spPr>
          <a:xfrm>
            <a:off x="430000" y="3500000"/>
            <a:ext cx="2900000" cy="560000"/>
          </a:xfrm>
          <a:prstGeom prst="roundRect">
            <a:avLst/>
          </a:prstGeom>
          <a:solidFill>
            <a:srgbClr val="FBF8F2"/>
          </a:solidFill>
          <a:ln w="15875">
            <a:solidFill>
              <a:srgbClr val="8E6F3E"/>
            </a:solidFill>
          </a:ln>
        </p:spPr>
        <p:txBody>
          <a:bodyPr wrap="square" lIns="91440" tIns="45720" rIns="91440" bIns="45720" anchor="ctr"/>
          <a:lstStyle/>
          <a:p>
            <a:pPr algn="ctr">
              <a:buNone/>
            </a:pPr>
            <a:r>
              <a:rPr lang="en-US" sz="2000" b="1" i="0" dirty="0">
                <a:solidFill>
                  <a:srgbClr val="6B3FA0"/>
                </a:solidFill>
              </a:rPr>
              <a:t>THINK</a:t>
            </a:r>
            <a:r>
              <a:rPr lang="en-US" sz="2000" b="1" i="0" dirty="0">
                <a:solidFill>
                  <a:srgbClr val="9A9A9A"/>
                </a:solidFill>
              </a:rPr>
              <a:t>  ·  </a:t>
            </a:r>
            <a:r>
              <a:rPr lang="en-US" sz="2000" b="1" i="0" dirty="0">
                <a:solidFill>
                  <a:srgbClr val="2E74B5"/>
                </a:solidFill>
              </a:rPr>
              <a:t>PAIR</a:t>
            </a:r>
            <a:r>
              <a:rPr lang="en-US" sz="2000" b="1" i="0" dirty="0">
                <a:solidFill>
                  <a:srgbClr val="9A9A9A"/>
                </a:solidFill>
              </a:rPr>
              <a:t>  ·  </a:t>
            </a:r>
            <a:r>
              <a:rPr lang="en-US" sz="2000" b="1" i="0" dirty="0">
                <a:solidFill>
                  <a:srgbClr val="B8860B"/>
                </a:solidFill>
              </a:rPr>
              <a:t>SHARE</a:t>
            </a:r>
          </a:p>
        </p:txBody>
      </p:sp>
      <p:sp>
        <p:nvSpPr>
          <p:cNvPr id="131" name="TpsPrompt"/>
          <p:cNvSpPr txBox="1"/>
          <p:nvPr/>
        </p:nvSpPr>
        <p:spPr>
          <a:xfrm>
            <a:off x="3480000" y="3500000"/>
            <a:ext cx="5300000" cy="560000"/>
          </a:xfrm>
          <a:prstGeom prst="rect">
            <a:avLst/>
          </a:prstGeom>
          <a:noFill/>
          <a:ln>
            <a:noFill/>
          </a:ln>
        </p:spPr>
        <p:txBody>
          <a:bodyPr wrap="square" lIns="0" tIns="45720" rIns="0" bIns="45720" anchor="ctr"/>
          <a:lstStyle/>
          <a:p>
            <a:pPr algn="l">
              <a:buNone/>
            </a:pPr>
            <a:r>
              <a:rPr lang="en-US" sz="1700" b="1" i="0" dirty="0">
                <a:solidFill>
                  <a:srgbClr val="5C4826"/>
                </a:solidFill>
              </a:rPr>
              <a:t>Classify each: FOLLOW, CHOOSE, or ESCALATE</a:t>
            </a:r>
          </a:p>
        </p:txBody>
      </p:sp>
      <p:sp>
        <p:nvSpPr>
          <p:cNvPr id="120" name="CasesBox"/>
          <p:cNvSpPr/>
          <p:nvPr/>
        </p:nvSpPr>
        <p:spPr>
          <a:xfrm>
            <a:off x="274320" y="4180000"/>
            <a:ext cx="8595360" cy="1420000"/>
          </a:xfrm>
          <a:prstGeom prst="rect">
            <a:avLst/>
          </a:prstGeom>
          <a:solidFill>
            <a:srgbClr val="FBF8F2"/>
          </a:solidFill>
          <a:ln w="15875">
            <a:solidFill>
              <a:srgbClr val="8E6F3E"/>
            </a:solidFill>
          </a:ln>
        </p:spPr>
        <p:txBody>
          <a:bodyPr wrap="square" lIns="160000" tIns="45720" rIns="140000" bIns="45720" anchor="ctr"/>
          <a:lstStyle/>
          <a:p>
            <a:pPr algn="l">
              <a:buNone/>
            </a:pPr>
            <a:r>
              <a:rPr lang="en-US" sz="1600" b="1" i="0" dirty="0">
                <a:solidFill>
                  <a:srgbClr val="8E6F3E"/>
                </a:solidFill>
              </a:rPr>
              <a:t>A</a:t>
            </a:r>
            <a:r>
              <a:rPr lang="en-US" sz="1600" b="0" i="0" dirty="0">
                <a:solidFill>
                  <a:srgbClr val="5C4826"/>
                </a:solidFill>
              </a:rPr>
              <a:t>   How to inject the illness model — </a:t>
            </a:r>
            <a:r>
              <a:rPr lang="en-US" sz="1600" b="0" i="1" dirty="0">
                <a:solidFill>
                  <a:srgbClr val="5C4826"/>
                </a:solidFill>
              </a:rPr>
              <a:t>environment already standardizes injection</a:t>
            </a:r>
          </a:p>
          <a:p>
            <a:pPr algn="l">
              <a:spcBef>
                <a:spcPts val="120"/>
              </a:spcBef>
              <a:buNone/>
            </a:pPr>
            <a:r>
              <a:rPr lang="en-US" sz="1600" b="1" i="0" dirty="0">
                <a:solidFill>
                  <a:srgbClr val="8E6F3E"/>
                </a:solidFill>
              </a:rPr>
              <a:t>B</a:t>
            </a:r>
            <a:r>
              <a:rPr lang="en-US" sz="1600" b="0" i="0" dirty="0">
                <a:solidFill>
                  <a:srgbClr val="5C4826"/>
                </a:solidFill>
              </a:rPr>
              <a:t>   Stream or batch the nightly summary</a:t>
            </a:r>
          </a:p>
          <a:p>
            <a:pPr algn="l">
              <a:spcBef>
                <a:spcPts val="120"/>
              </a:spcBef>
              <a:buNone/>
            </a:pPr>
            <a:r>
              <a:rPr lang="en-US" sz="1600" b="1" i="0" dirty="0">
                <a:solidFill>
                  <a:srgbClr val="8E6F3E"/>
                </a:solidFill>
              </a:rPr>
              <a:t>C</a:t>
            </a:r>
            <a:r>
              <a:rPr lang="en-US" sz="1600" b="0" i="0" dirty="0">
                <a:solidFill>
                  <a:srgbClr val="5C4826"/>
                </a:solidFill>
              </a:rPr>
              <a:t>   Fastest mechanism crosses the raw-data privacy boundary</a:t>
            </a:r>
          </a:p>
        </p:txBody>
      </p:sp>
      <p:sp>
        <p:nvSpPr>
          <p:cNvPr id="106" name="FooterBand"/>
          <p:cNvSpPr/>
          <p:nvPr/>
        </p:nvSpPr>
        <p:spPr>
          <a:xfrm>
            <a:off x="274320" y="5852160"/>
            <a:ext cx="8595360" cy="566928"/>
          </a:xfrm>
          <a:prstGeom prst="rect">
            <a:avLst/>
          </a:prstGeom>
          <a:solidFill>
            <a:srgbClr val="8E6F3E"/>
          </a:solidFill>
          <a:ln>
            <a:noFill/>
          </a:ln>
        </p:spPr>
        <p:txBody>
          <a:bodyPr wrap="square" lIns="91440" tIns="45720" rIns="91440" bIns="45720" anchor="ctr"/>
          <a:lstStyle/>
          <a:p>
            <a:pPr algn="ctr">
              <a:buNone/>
            </a:pPr>
            <a:r>
              <a:rPr lang="en-US" sz="2200" b="1" i="0" dirty="0">
                <a:solidFill>
                  <a:srgbClr val="FFFFFF"/>
                </a:solidFill>
              </a:rPr>
              <a:t>An apparent degree of freedom is not necessarily a local one.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fade">
                                      <p:cBhvr>
                                        <p:cTn id="7" dur="500"/>
                                        <p:tgtEl>
                                          <p:spTgt spid="100"/>
                                        </p:tgtEl>
                                      </p:cBhvr>
                                    </p:animEffect>
                                  </p:childTnLst>
                                </p:cTn>
                              </p:par>
                            </p:childTnLst>
                          </p:cTn>
                        </p:par>
                        <p:par>
                          <p:cTn id="8" fill="hold">
                            <p:stCondLst>
                              <p:cond delay="0"/>
                            </p:stCondLst>
                            <p:childTnLst>
                              <p:par>
                                <p:cTn id="9" presetID="10" presetClass="entr" presetSubtype="0" fill="hold" grpId="1" nodeType="withEffect">
                                  <p:stCondLst>
                                    <p:cond delay="0"/>
                                  </p:stCondLst>
                                  <p:childTnLst>
                                    <p:set>
                                      <p:cBhvr>
                                        <p:cTn id="10" dur="1" fill="hold">
                                          <p:stCondLst>
                                            <p:cond delay="0"/>
                                          </p:stCondLst>
                                        </p:cTn>
                                        <p:tgtEl>
                                          <p:spTgt spid="101"/>
                                        </p:tgtEl>
                                        <p:attrNameLst>
                                          <p:attrName>style.visibility</p:attrName>
                                        </p:attrNameLst>
                                      </p:cBhvr>
                                      <p:to>
                                        <p:strVal val="visible"/>
                                      </p:to>
                                    </p:set>
                                    <p:animEffect transition="in" filter="fade">
                                      <p:cBhvr>
                                        <p:cTn id="11" dur="500"/>
                                        <p:tgtEl>
                                          <p:spTgt spid="101"/>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2" nodeType="clickEffect">
                                  <p:stCondLst>
                                    <p:cond delay="0"/>
                                  </p:stCondLst>
                                  <p:childTnLst>
                                    <p:set>
                                      <p:cBhvr>
                                        <p:cTn id="15" dur="1" fill="hold">
                                          <p:stCondLst>
                                            <p:cond delay="0"/>
                                          </p:stCondLst>
                                        </p:cTn>
                                        <p:tgtEl>
                                          <p:spTgt spid="102"/>
                                        </p:tgtEl>
                                        <p:attrNameLst>
                                          <p:attrName>style.visibility</p:attrName>
                                        </p:attrNameLst>
                                      </p:cBhvr>
                                      <p:to>
                                        <p:strVal val="visible"/>
                                      </p:to>
                                    </p:set>
                                    <p:animEffect transition="in" filter="fade">
                                      <p:cBhvr>
                                        <p:cTn id="16" dur="500"/>
                                        <p:tgtEl>
                                          <p:spTgt spid="102"/>
                                        </p:tgtEl>
                                      </p:cBhvr>
                                    </p:animEffect>
                                  </p:childTnLst>
                                </p:cTn>
                              </p:par>
                            </p:childTnLst>
                          </p:cTn>
                        </p:par>
                        <p:par>
                          <p:cTn id="17" fill="hold">
                            <p:stCondLst>
                              <p:cond delay="0"/>
                            </p:stCondLst>
                            <p:childTnLst>
                              <p:par>
                                <p:cTn id="18" presetID="10" presetClass="entr" presetSubtype="0" fill="hold" grpId="3" nodeType="withEffect">
                                  <p:stCondLst>
                                    <p:cond delay="0"/>
                                  </p:stCondLst>
                                  <p:childTnLst>
                                    <p:set>
                                      <p:cBhvr>
                                        <p:cTn id="19" dur="1" fill="hold">
                                          <p:stCondLst>
                                            <p:cond delay="0"/>
                                          </p:stCondLst>
                                        </p:cTn>
                                        <p:tgtEl>
                                          <p:spTgt spid="103"/>
                                        </p:tgtEl>
                                        <p:attrNameLst>
                                          <p:attrName>style.visibility</p:attrName>
                                        </p:attrNameLst>
                                      </p:cBhvr>
                                      <p:to>
                                        <p:strVal val="visible"/>
                                      </p:to>
                                    </p:set>
                                    <p:animEffect transition="in" filter="fade">
                                      <p:cBhvr>
                                        <p:cTn id="20" dur="500"/>
                                        <p:tgtEl>
                                          <p:spTgt spid="10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4" nodeType="clickEffect">
                                  <p:stCondLst>
                                    <p:cond delay="0"/>
                                  </p:stCondLst>
                                  <p:childTnLst>
                                    <p:set>
                                      <p:cBhvr>
                                        <p:cTn id="24" dur="1" fill="hold">
                                          <p:stCondLst>
                                            <p:cond delay="0"/>
                                          </p:stCondLst>
                                        </p:cTn>
                                        <p:tgtEl>
                                          <p:spTgt spid="104"/>
                                        </p:tgtEl>
                                        <p:attrNameLst>
                                          <p:attrName>style.visibility</p:attrName>
                                        </p:attrNameLst>
                                      </p:cBhvr>
                                      <p:to>
                                        <p:strVal val="visible"/>
                                      </p:to>
                                    </p:set>
                                    <p:animEffect transition="in" filter="fade">
                                      <p:cBhvr>
                                        <p:cTn id="25" dur="500"/>
                                        <p:tgtEl>
                                          <p:spTgt spid="104"/>
                                        </p:tgtEl>
                                      </p:cBhvr>
                                    </p:animEffect>
                                  </p:childTnLst>
                                </p:cTn>
                              </p:par>
                            </p:childTnLst>
                          </p:cTn>
                        </p:par>
                        <p:par>
                          <p:cTn id="26" fill="hold">
                            <p:stCondLst>
                              <p:cond delay="0"/>
                            </p:stCondLst>
                            <p:childTnLst>
                              <p:par>
                                <p:cTn id="27" presetID="10" presetClass="entr" presetSubtype="0" fill="hold" grpId="5" nodeType="withEffect">
                                  <p:stCondLst>
                                    <p:cond delay="0"/>
                                  </p:stCondLst>
                                  <p:childTnLst>
                                    <p:set>
                                      <p:cBhvr>
                                        <p:cTn id="28" dur="1" fill="hold">
                                          <p:stCondLst>
                                            <p:cond delay="0"/>
                                          </p:stCondLst>
                                        </p:cTn>
                                        <p:tgtEl>
                                          <p:spTgt spid="105"/>
                                        </p:tgtEl>
                                        <p:attrNameLst>
                                          <p:attrName>style.visibility</p:attrName>
                                        </p:attrNameLst>
                                      </p:cBhvr>
                                      <p:to>
                                        <p:strVal val="visible"/>
                                      </p:to>
                                    </p:set>
                                    <p:animEffect transition="in" filter="fade">
                                      <p:cBhvr>
                                        <p:cTn id="29" dur="500"/>
                                        <p:tgtEl>
                                          <p:spTgt spid="105"/>
                                        </p:tgtEl>
                                      </p:cBhvr>
                                    </p:animEffect>
                                  </p:childTnLst>
                                </p:cTn>
                              </p:par>
                            </p:childTnLst>
                          </p:cTn>
                        </p:par>
                        <p:par>
                          <p:cTn id="30" fill="hold">
                            <p:stCondLst>
                              <p:cond delay="0"/>
                            </p:stCondLst>
                            <p:childTnLst>
                              <p:par>
                                <p:cTn id="31" presetID="10" presetClass="entr" presetSubtype="0" fill="hold" grpId="6" nodeType="withEffect">
                                  <p:stCondLst>
                                    <p:cond delay="0"/>
                                  </p:stCondLst>
                                  <p:childTnLst>
                                    <p:set>
                                      <p:cBhvr>
                                        <p:cTn id="32" dur="1" fill="hold">
                                          <p:stCondLst>
                                            <p:cond delay="0"/>
                                          </p:stCondLst>
                                        </p:cTn>
                                        <p:tgtEl>
                                          <p:spTgt spid="106"/>
                                        </p:tgtEl>
                                        <p:attrNameLst>
                                          <p:attrName>style.visibility</p:attrName>
                                        </p:attrNameLst>
                                      </p:cBhvr>
                                      <p:to>
                                        <p:strVal val="visible"/>
                                      </p:to>
                                    </p:set>
                                    <p:animEffect transition="in" filter="fade">
                                      <p:cBhvr>
                                        <p:cTn id="33" dur="500"/>
                                        <p:tgtEl>
                                          <p:spTgt spid="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animBg="1"/>
      <p:bldP spid="101" grpId="1" animBg="1"/>
      <p:bldP spid="102" grpId="2" animBg="1"/>
      <p:bldP spid="103" grpId="3" animBg="1"/>
      <p:bldP spid="104" grpId="4" animBg="1"/>
      <p:bldP spid="105" grpId="5" animBg="1"/>
      <p:bldP spid="106" grpId="6"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148" y="118428"/>
            <a:ext cx="8590000" cy="638175"/>
          </a:xfrm>
        </p:spPr>
        <p:txBody>
          <a:bodyPr>
            <a:normAutofit fontScale="90000"/>
          </a:bodyPr>
          <a:lstStyle/>
          <a:p>
            <a:pPr>
              <a:buNone/>
              <a:defRPr b="0"/>
            </a:pPr>
            <a:r>
              <a:rPr lang="en-US" sz="2400" b="0" i="0" dirty="0">
                <a:solidFill>
                  <a:srgbClr val="000000"/>
                </a:solidFill>
              </a:rPr>
              <a:t>Architecture and Design recur as freedom narrows</a:t>
            </a:r>
          </a:p>
        </p:txBody>
      </p:sp>
      <p:sp>
        <p:nvSpPr>
          <p:cNvPr id="3" name="Slide Number Placeholder 3"/>
          <p:cNvSpPr>
            <a:spLocks noGrp="1"/>
          </p:cNvSpPr>
          <p:nvPr>
            <p:ph type="sldNum" sz="quarter" idx="4"/>
          </p:nvPr>
        </p:nvSpPr>
        <p:spPr/>
        <p:txBody>
          <a:bodyPr/>
          <a:lstStyle/>
          <a:p>
            <a:fld id="{B7EB45DA-9A0D-DC49-8E02-F30A5DDC21C3}" type="slidenum">
              <a:rPr lang="en-US" smtClean="0"/>
              <a:t>9</a:t>
            </a:fld>
            <a:endParaRPr lang="en-US"/>
          </a:p>
        </p:txBody>
      </p:sp>
      <p:sp>
        <p:nvSpPr>
          <p:cNvPr id="100" name="FunnelSpec"/>
          <p:cNvSpPr/>
          <p:nvPr/>
        </p:nvSpPr>
        <p:spPr>
          <a:xfrm>
            <a:off x="622000" y="980000"/>
            <a:ext cx="7900000" cy="880000"/>
          </a:xfrm>
          <a:custGeom>
            <a:avLst/>
            <a:gdLst/>
            <a:ahLst/>
            <a:cxnLst/>
            <a:rect l="l" t="t" r="r" b="b"/>
            <a:pathLst>
              <a:path w="7900000" h="880000">
                <a:moveTo>
                  <a:pt x="0" y="0"/>
                </a:moveTo>
                <a:lnTo>
                  <a:pt x="7900000" y="0"/>
                </a:lnTo>
                <a:lnTo>
                  <a:pt x="7300000" y="880000"/>
                </a:lnTo>
                <a:lnTo>
                  <a:pt x="600000" y="880000"/>
                </a:lnTo>
                <a:close/>
              </a:path>
            </a:pathLst>
          </a:custGeom>
          <a:solidFill>
            <a:schemeClr val="bg2">
              <a:lumMod val="20000"/>
              <a:lumOff val="80000"/>
            </a:schemeClr>
          </a:solidFill>
          <a:ln>
            <a:noFill/>
          </a:ln>
        </p:spPr>
        <p:txBody>
          <a:bodyPr wrap="square" lIns="91440" tIns="45720" rIns="91440" bIns="45720" anchor="ctr"/>
          <a:lstStyle/>
          <a:p>
            <a:pPr algn="ctr">
              <a:buNone/>
            </a:pPr>
            <a:r>
              <a:rPr lang="en-US" sz="1700" b="1" dirty="0">
                <a:solidFill>
                  <a:srgbClr val="5C4826"/>
                </a:solidFill>
              </a:rPr>
              <a:t>Specification </a:t>
            </a:r>
            <a:r>
              <a:rPr lang="en-US" sz="1700" i="1" dirty="0">
                <a:solidFill>
                  <a:srgbClr val="000000"/>
                </a:solidFill>
              </a:rPr>
              <a:t>— acceptable realization space</a:t>
            </a:r>
          </a:p>
        </p:txBody>
      </p:sp>
      <p:sp>
        <p:nvSpPr>
          <p:cNvPr id="101" name="FunnelArch"/>
          <p:cNvSpPr/>
          <p:nvPr/>
        </p:nvSpPr>
        <p:spPr>
          <a:xfrm>
            <a:off x="1222000" y="1860000"/>
            <a:ext cx="6700000" cy="880000"/>
          </a:xfrm>
          <a:custGeom>
            <a:avLst/>
            <a:gdLst/>
            <a:ahLst/>
            <a:cxnLst/>
            <a:rect l="l" t="t" r="r" b="b"/>
            <a:pathLst>
              <a:path w="6700000" h="880000">
                <a:moveTo>
                  <a:pt x="0" y="0"/>
                </a:moveTo>
                <a:lnTo>
                  <a:pt x="6700000" y="0"/>
                </a:lnTo>
                <a:lnTo>
                  <a:pt x="6100000" y="880000"/>
                </a:lnTo>
                <a:lnTo>
                  <a:pt x="600000" y="880000"/>
                </a:lnTo>
                <a:close/>
              </a:path>
            </a:pathLst>
          </a:custGeom>
          <a:solidFill>
            <a:srgbClr val="F5F1E8"/>
          </a:solidFill>
          <a:ln w="12700">
            <a:solidFill>
              <a:srgbClr val="C9B991"/>
            </a:solidFill>
          </a:ln>
        </p:spPr>
        <p:txBody>
          <a:bodyPr wrap="square" lIns="91440" tIns="45720" rIns="91440" bIns="45720" anchor="ctr"/>
          <a:lstStyle/>
          <a:p>
            <a:pPr algn="ctr">
              <a:buNone/>
            </a:pPr>
            <a:r>
              <a:rPr lang="en-US" sz="1700" b="1" i="0" dirty="0">
                <a:solidFill>
                  <a:srgbClr val="5C4826"/>
                </a:solidFill>
              </a:rPr>
              <a:t>ARCHITECTURE</a:t>
            </a:r>
            <a:r>
              <a:rPr lang="en-US" sz="1700" b="0" i="1" dirty="0">
                <a:solidFill>
                  <a:srgbClr val="000000"/>
                </a:solidFill>
              </a:rPr>
              <a:t> — organization</a:t>
            </a:r>
          </a:p>
        </p:txBody>
      </p:sp>
      <p:sp>
        <p:nvSpPr>
          <p:cNvPr id="102" name="FunnelArchDesign"/>
          <p:cNvSpPr/>
          <p:nvPr/>
        </p:nvSpPr>
        <p:spPr>
          <a:xfrm>
            <a:off x="1822000" y="2740000"/>
            <a:ext cx="5500000" cy="880000"/>
          </a:xfrm>
          <a:custGeom>
            <a:avLst/>
            <a:gdLst/>
            <a:ahLst/>
            <a:cxnLst/>
            <a:rect l="l" t="t" r="r" b="b"/>
            <a:pathLst>
              <a:path w="5500000" h="880000">
                <a:moveTo>
                  <a:pt x="0" y="0"/>
                </a:moveTo>
                <a:lnTo>
                  <a:pt x="5500000" y="0"/>
                </a:lnTo>
                <a:lnTo>
                  <a:pt x="4900000" y="880000"/>
                </a:lnTo>
                <a:lnTo>
                  <a:pt x="600000" y="880000"/>
                </a:lnTo>
                <a:close/>
              </a:path>
            </a:pathLst>
          </a:custGeom>
          <a:solidFill>
            <a:srgbClr val="FBF8F2"/>
          </a:solidFill>
          <a:ln w="12700">
            <a:solidFill>
              <a:srgbClr val="C9B991"/>
            </a:solidFill>
            <a:prstDash val="dash"/>
          </a:ln>
        </p:spPr>
        <p:txBody>
          <a:bodyPr wrap="square" lIns="91440" tIns="45720" rIns="91440" bIns="45720" anchor="ctr"/>
          <a:lstStyle/>
          <a:p>
            <a:pPr algn="ctr">
              <a:buNone/>
            </a:pPr>
            <a:r>
              <a:rPr lang="en-US" sz="1700" b="1" i="0" dirty="0">
                <a:solidFill>
                  <a:srgbClr val="5C4826"/>
                </a:solidFill>
              </a:rPr>
              <a:t>ARCH / DESIGN</a:t>
            </a:r>
            <a:r>
              <a:rPr lang="en-US" sz="1700" b="0" i="1" dirty="0">
                <a:solidFill>
                  <a:srgbClr val="555960"/>
                </a:solidFill>
              </a:rPr>
              <a:t> — organization? · mechanisms?</a:t>
            </a:r>
          </a:p>
        </p:txBody>
      </p:sp>
      <p:sp>
        <p:nvSpPr>
          <p:cNvPr id="103" name="FunnelDesign"/>
          <p:cNvSpPr/>
          <p:nvPr/>
        </p:nvSpPr>
        <p:spPr>
          <a:xfrm>
            <a:off x="2422000" y="3620000"/>
            <a:ext cx="4300000" cy="880000"/>
          </a:xfrm>
          <a:custGeom>
            <a:avLst/>
            <a:gdLst/>
            <a:ahLst/>
            <a:cxnLst/>
            <a:rect l="l" t="t" r="r" b="b"/>
            <a:pathLst>
              <a:path w="4300000" h="880000">
                <a:moveTo>
                  <a:pt x="0" y="0"/>
                </a:moveTo>
                <a:lnTo>
                  <a:pt x="4300000" y="0"/>
                </a:lnTo>
                <a:lnTo>
                  <a:pt x="3700000" y="880000"/>
                </a:lnTo>
                <a:lnTo>
                  <a:pt x="600000" y="880000"/>
                </a:lnTo>
                <a:close/>
              </a:path>
            </a:pathLst>
          </a:custGeom>
          <a:solidFill>
            <a:schemeClr val="accent1"/>
          </a:solidFill>
          <a:ln w="12700">
            <a:solidFill>
              <a:srgbClr val="C9B991"/>
            </a:solidFill>
          </a:ln>
        </p:spPr>
        <p:txBody>
          <a:bodyPr wrap="square" lIns="91440" tIns="45720" rIns="91440" bIns="45720" anchor="ctr"/>
          <a:lstStyle/>
          <a:p>
            <a:pPr algn="ctr">
              <a:buNone/>
            </a:pPr>
            <a:r>
              <a:rPr lang="en-US" sz="1700" b="1" i="0" dirty="0">
                <a:solidFill>
                  <a:schemeClr val="accent4"/>
                </a:solidFill>
              </a:rPr>
              <a:t>DESIGN</a:t>
            </a:r>
            <a:r>
              <a:rPr lang="en-US" sz="1700" b="0" i="1" dirty="0">
                <a:solidFill>
                  <a:schemeClr val="accent4"/>
                </a:solidFill>
              </a:rPr>
              <a:t> — local mechanisms</a:t>
            </a:r>
          </a:p>
        </p:txBody>
      </p:sp>
      <p:cxnSp>
        <p:nvCxnSpPr>
          <p:cNvPr id="104" name="FunnelArrow"/>
          <p:cNvCxnSpPr/>
          <p:nvPr/>
        </p:nvCxnSpPr>
        <p:spPr>
          <a:xfrm>
            <a:off x="4572000" y="4580000"/>
            <a:ext cx="0" cy="370000"/>
          </a:xfrm>
          <a:prstGeom prst="straightConnector1">
            <a:avLst/>
          </a:prstGeom>
          <a:ln w="38100">
            <a:solidFill>
              <a:srgbClr val="8E6F3E"/>
            </a:solidFill>
            <a:tailEnd type="triangle" w="med" len="med"/>
          </a:ln>
        </p:spPr>
      </p:cxnSp>
      <p:sp>
        <p:nvSpPr>
          <p:cNvPr id="105" name="FunnelImpl"/>
          <p:cNvSpPr/>
          <p:nvPr/>
        </p:nvSpPr>
        <p:spPr>
          <a:xfrm>
            <a:off x="3072000" y="5030000"/>
            <a:ext cx="3000000" cy="560000"/>
          </a:xfrm>
          <a:prstGeom prst="rect">
            <a:avLst/>
          </a:prstGeom>
          <a:solidFill>
            <a:srgbClr val="8E6F3E"/>
          </a:solidFill>
          <a:ln>
            <a:noFill/>
          </a:ln>
        </p:spPr>
        <p:txBody>
          <a:bodyPr wrap="square" lIns="91440" tIns="45720" rIns="91440" bIns="45720" anchor="ctr"/>
          <a:lstStyle/>
          <a:p>
            <a:pPr algn="ctr">
              <a:buNone/>
            </a:pPr>
            <a:r>
              <a:rPr lang="en-US" sz="1800" b="1" i="0" dirty="0">
                <a:solidFill>
                  <a:srgbClr val="FFFFFF"/>
                </a:solidFill>
              </a:rPr>
              <a:t>IMPLEMENTATION</a:t>
            </a:r>
          </a:p>
        </p:txBody>
      </p:sp>
      <p:sp>
        <p:nvSpPr>
          <p:cNvPr id="106" name="FooterItalic"/>
          <p:cNvSpPr txBox="1"/>
          <p:nvPr/>
        </p:nvSpPr>
        <p:spPr>
          <a:xfrm>
            <a:off x="1144320" y="5860000"/>
            <a:ext cx="6855360" cy="998000"/>
          </a:xfrm>
          <a:prstGeom prst="rect">
            <a:avLst/>
          </a:prstGeom>
          <a:noFill/>
          <a:ln>
            <a:noFill/>
          </a:ln>
        </p:spPr>
        <p:txBody>
          <a:bodyPr wrap="square" lIns="0" tIns="0" rIns="0" bIns="0" anchor="ctr"/>
          <a:lstStyle/>
          <a:p>
            <a:pPr algn="ctr">
              <a:buNone/>
            </a:pPr>
            <a:r>
              <a:rPr lang="en-US" sz="1700" b="0" i="1" dirty="0">
                <a:solidFill>
                  <a:srgbClr val="000000"/>
                </a:solidFill>
              </a:rPr>
              <a:t>Each level removes degrees of freedom</a:t>
            </a:r>
            <a:r>
              <a:rPr lang="en-US" sz="1700" i="1" dirty="0">
                <a:solidFill>
                  <a:srgbClr val="000000"/>
                </a:solidFill>
              </a:rPr>
              <a:t>.</a:t>
            </a:r>
          </a:p>
          <a:p>
            <a:pPr algn="ctr">
              <a:buNone/>
            </a:pPr>
            <a:r>
              <a:rPr lang="en-US" sz="1700" i="1" dirty="0">
                <a:solidFill>
                  <a:srgbClr val="000000"/>
                </a:solidFill>
              </a:rPr>
              <a:t>O</a:t>
            </a:r>
            <a:r>
              <a:rPr lang="en-US" sz="1700" b="0" i="1" dirty="0">
                <a:solidFill>
                  <a:srgbClr val="000000"/>
                </a:solidFill>
              </a:rPr>
              <a:t>pening a part may expose another Architecture / Design boundary.</a:t>
            </a:r>
          </a:p>
          <a:p>
            <a:pPr algn="ctr">
              <a:buNone/>
            </a:pPr>
            <a:r>
              <a:rPr lang="en-US" sz="1700" i="1" dirty="0">
                <a:solidFill>
                  <a:srgbClr val="000000"/>
                </a:solidFill>
              </a:rPr>
              <a:t>At some point there’s code in there.</a:t>
            </a:r>
            <a:endParaRPr lang="en-US" sz="1700" b="0" i="1"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fade">
                                      <p:cBhvr>
                                        <p:cTn id="7" dur="500"/>
                                        <p:tgtEl>
                                          <p:spTgt spid="10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1" fill="hold">
                                          <p:stCondLst>
                                            <p:cond delay="0"/>
                                          </p:stCondLst>
                                        </p:cTn>
                                        <p:tgtEl>
                                          <p:spTgt spid="101"/>
                                        </p:tgtEl>
                                        <p:attrNameLst>
                                          <p:attrName>style.visibility</p:attrName>
                                        </p:attrNameLst>
                                      </p:cBhvr>
                                      <p:to>
                                        <p:strVal val="visible"/>
                                      </p:to>
                                    </p:set>
                                    <p:animEffect transition="in" filter="fade">
                                      <p:cBhvr>
                                        <p:cTn id="12" dur="500"/>
                                        <p:tgtEl>
                                          <p:spTgt spid="10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2" nodeType="clickEffect">
                                  <p:stCondLst>
                                    <p:cond delay="0"/>
                                  </p:stCondLst>
                                  <p:childTnLst>
                                    <p:set>
                                      <p:cBhvr>
                                        <p:cTn id="16" dur="1" fill="hold">
                                          <p:stCondLst>
                                            <p:cond delay="0"/>
                                          </p:stCondLst>
                                        </p:cTn>
                                        <p:tgtEl>
                                          <p:spTgt spid="102"/>
                                        </p:tgtEl>
                                        <p:attrNameLst>
                                          <p:attrName>style.visibility</p:attrName>
                                        </p:attrNameLst>
                                      </p:cBhvr>
                                      <p:to>
                                        <p:strVal val="visible"/>
                                      </p:to>
                                    </p:set>
                                    <p:animEffect transition="in" filter="fade">
                                      <p:cBhvr>
                                        <p:cTn id="17" dur="500"/>
                                        <p:tgtEl>
                                          <p:spTgt spid="10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3" nodeType="clickEffect">
                                  <p:stCondLst>
                                    <p:cond delay="0"/>
                                  </p:stCondLst>
                                  <p:childTnLst>
                                    <p:set>
                                      <p:cBhvr>
                                        <p:cTn id="21" dur="1" fill="hold">
                                          <p:stCondLst>
                                            <p:cond delay="0"/>
                                          </p:stCondLst>
                                        </p:cTn>
                                        <p:tgtEl>
                                          <p:spTgt spid="103"/>
                                        </p:tgtEl>
                                        <p:attrNameLst>
                                          <p:attrName>style.visibility</p:attrName>
                                        </p:attrNameLst>
                                      </p:cBhvr>
                                      <p:to>
                                        <p:strVal val="visible"/>
                                      </p:to>
                                    </p:set>
                                    <p:animEffect transition="in" filter="fade">
                                      <p:cBhvr>
                                        <p:cTn id="22" dur="500"/>
                                        <p:tgtEl>
                                          <p:spTgt spid="10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4" nodeType="clickEffect">
                                  <p:stCondLst>
                                    <p:cond delay="0"/>
                                  </p:stCondLst>
                                  <p:childTnLst>
                                    <p:set>
                                      <p:cBhvr>
                                        <p:cTn id="26" dur="1" fill="hold">
                                          <p:stCondLst>
                                            <p:cond delay="0"/>
                                          </p:stCondLst>
                                        </p:cTn>
                                        <p:tgtEl>
                                          <p:spTgt spid="104"/>
                                        </p:tgtEl>
                                        <p:attrNameLst>
                                          <p:attrName>style.visibility</p:attrName>
                                        </p:attrNameLst>
                                      </p:cBhvr>
                                      <p:to>
                                        <p:strVal val="visible"/>
                                      </p:to>
                                    </p:set>
                                    <p:animEffect transition="in" filter="fade">
                                      <p:cBhvr>
                                        <p:cTn id="27" dur="500"/>
                                        <p:tgtEl>
                                          <p:spTgt spid="104"/>
                                        </p:tgtEl>
                                      </p:cBhvr>
                                    </p:animEffect>
                                  </p:childTnLst>
                                </p:cTn>
                              </p:par>
                            </p:childTnLst>
                          </p:cTn>
                        </p:par>
                        <p:par>
                          <p:cTn id="28" fill="hold">
                            <p:stCondLst>
                              <p:cond delay="0"/>
                            </p:stCondLst>
                            <p:childTnLst>
                              <p:par>
                                <p:cTn id="29" presetID="10" presetClass="entr" presetSubtype="0" fill="hold" grpId="5" nodeType="withEffect">
                                  <p:stCondLst>
                                    <p:cond delay="0"/>
                                  </p:stCondLst>
                                  <p:childTnLst>
                                    <p:set>
                                      <p:cBhvr>
                                        <p:cTn id="30" dur="1" fill="hold">
                                          <p:stCondLst>
                                            <p:cond delay="0"/>
                                          </p:stCondLst>
                                        </p:cTn>
                                        <p:tgtEl>
                                          <p:spTgt spid="105"/>
                                        </p:tgtEl>
                                        <p:attrNameLst>
                                          <p:attrName>style.visibility</p:attrName>
                                        </p:attrNameLst>
                                      </p:cBhvr>
                                      <p:to>
                                        <p:strVal val="visible"/>
                                      </p:to>
                                    </p:set>
                                    <p:animEffect transition="in" filter="fade">
                                      <p:cBhvr>
                                        <p:cTn id="31" dur="500"/>
                                        <p:tgtEl>
                                          <p:spTgt spid="105"/>
                                        </p:tgtEl>
                                      </p:cBhvr>
                                    </p:animEffect>
                                  </p:childTnLst>
                                </p:cTn>
                              </p:par>
                            </p:childTnLst>
                          </p:cTn>
                        </p:par>
                        <p:par>
                          <p:cTn id="32" fill="hold">
                            <p:stCondLst>
                              <p:cond delay="0"/>
                            </p:stCondLst>
                            <p:childTnLst>
                              <p:par>
                                <p:cTn id="33" presetID="10" presetClass="entr" presetSubtype="0" fill="hold" grpId="6" nodeType="withEffect">
                                  <p:stCondLst>
                                    <p:cond delay="0"/>
                                  </p:stCondLst>
                                  <p:childTnLst>
                                    <p:set>
                                      <p:cBhvr>
                                        <p:cTn id="34" dur="1" fill="hold">
                                          <p:stCondLst>
                                            <p:cond delay="0"/>
                                          </p:stCondLst>
                                        </p:cTn>
                                        <p:tgtEl>
                                          <p:spTgt spid="106"/>
                                        </p:tgtEl>
                                        <p:attrNameLst>
                                          <p:attrName>style.visibility</p:attrName>
                                        </p:attrNameLst>
                                      </p:cBhvr>
                                      <p:to>
                                        <p:strVal val="visible"/>
                                      </p:to>
                                    </p:set>
                                    <p:animEffect transition="in" filter="fade">
                                      <p:cBhvr>
                                        <p:cTn id="35" dur="500"/>
                                        <p:tgtEl>
                                          <p:spTgt spid="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animBg="1"/>
      <p:bldP spid="101" grpId="1" animBg="1"/>
      <p:bldP spid="102" grpId="2" animBg="1"/>
      <p:bldP spid="103" grpId="3" animBg="1"/>
      <p:bldP spid="104" grpId="4" animBg="1"/>
      <p:bldP spid="105" grpId="5" animBg="1"/>
      <p:bldP spid="106" grpId="6"/>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148" y="118428"/>
            <a:ext cx="8590000" cy="638175"/>
          </a:xfrm>
        </p:spPr>
        <p:txBody>
          <a:bodyPr>
            <a:normAutofit fontScale="90000"/>
          </a:bodyPr>
          <a:lstStyle/>
          <a:p>
            <a:pPr>
              <a:buNone/>
              <a:defRPr b="0"/>
            </a:pPr>
            <a:r>
              <a:rPr lang="en-US" sz="2400" b="0" i="0" dirty="0">
                <a:solidFill>
                  <a:srgbClr val="000000"/>
                </a:solidFill>
              </a:rPr>
              <a:t>Where does Design end?</a:t>
            </a:r>
          </a:p>
        </p:txBody>
      </p:sp>
      <p:sp>
        <p:nvSpPr>
          <p:cNvPr id="3" name="Slide Number Placeholder 3"/>
          <p:cNvSpPr>
            <a:spLocks noGrp="1"/>
          </p:cNvSpPr>
          <p:nvPr>
            <p:ph type="sldNum" sz="quarter" idx="4"/>
          </p:nvPr>
        </p:nvSpPr>
        <p:spPr/>
        <p:txBody>
          <a:bodyPr/>
          <a:lstStyle/>
          <a:p>
            <a:fld id="{B7EB45DA-9A0D-DC49-8E02-F30A5DDC21C3}" type="slidenum">
              <a:rPr lang="en-US" smtClean="0"/>
              <a:t>10</a:t>
            </a:fld>
            <a:endParaRPr lang="en-US"/>
          </a:p>
        </p:txBody>
      </p:sp>
      <p:sp>
        <p:nvSpPr>
          <p:cNvPr id="100" name="FunnelBottom"/>
          <p:cNvSpPr/>
          <p:nvPr/>
        </p:nvSpPr>
        <p:spPr>
          <a:xfrm>
            <a:off x="2172000" y="1200000"/>
            <a:ext cx="4800000" cy="760000"/>
          </a:xfrm>
          <a:custGeom>
            <a:avLst/>
            <a:gdLst/>
            <a:ahLst/>
            <a:cxnLst/>
            <a:rect l="l" t="t" r="r" b="b"/>
            <a:pathLst>
              <a:path w="4800000" h="760000">
                <a:moveTo>
                  <a:pt x="0" y="0"/>
                </a:moveTo>
                <a:lnTo>
                  <a:pt x="4800000" y="0"/>
                </a:lnTo>
                <a:lnTo>
                  <a:pt x="4300000" y="760000"/>
                </a:lnTo>
                <a:lnTo>
                  <a:pt x="500000" y="760000"/>
                </a:lnTo>
                <a:close/>
              </a:path>
            </a:pathLst>
          </a:custGeom>
          <a:solidFill>
            <a:srgbClr val="F5F1E8"/>
          </a:solidFill>
          <a:ln w="12700">
            <a:solidFill>
              <a:srgbClr val="C9B991"/>
            </a:solidFill>
          </a:ln>
        </p:spPr>
        <p:txBody>
          <a:bodyPr wrap="square" lIns="91440" tIns="45720" rIns="91440" bIns="45720" anchor="ctr"/>
          <a:lstStyle/>
          <a:p>
            <a:pPr algn="ctr">
              <a:buNone/>
            </a:pPr>
            <a:r>
              <a:rPr lang="en-US" sz="1600" b="1" i="0" dirty="0">
                <a:solidFill>
                  <a:srgbClr val="5C4826"/>
                </a:solidFill>
              </a:rPr>
              <a:t>COMPONENT</a:t>
            </a:r>
            <a:r>
              <a:rPr lang="en-US" sz="1600" b="0" i="1" dirty="0">
                <a:solidFill>
                  <a:srgbClr val="555960"/>
                </a:solidFill>
              </a:rPr>
              <a:t> — opened at the funnel bottom</a:t>
            </a:r>
          </a:p>
        </p:txBody>
      </p:sp>
      <p:cxnSp>
        <p:nvCxnSpPr>
          <p:cNvPr id="101" name="L101"/>
          <p:cNvCxnSpPr/>
          <p:nvPr/>
        </p:nvCxnSpPr>
        <p:spPr>
          <a:xfrm>
            <a:off x="4572000" y="2040000"/>
            <a:ext cx="0" cy="400000"/>
          </a:xfrm>
          <a:prstGeom prst="straightConnector1">
            <a:avLst/>
          </a:prstGeom>
          <a:ln w="38100">
            <a:solidFill>
              <a:srgbClr val="8E6F3E"/>
            </a:solidFill>
            <a:tailEnd type="triangle" w="med" len="med"/>
          </a:ln>
        </p:spPr>
      </p:cxnSp>
      <p:sp>
        <p:nvSpPr>
          <p:cNvPr id="102" name="Entities"/>
          <p:cNvSpPr/>
          <p:nvPr/>
        </p:nvSpPr>
        <p:spPr>
          <a:xfrm>
            <a:off x="1872000" y="2500000"/>
            <a:ext cx="5400000" cy="900000"/>
          </a:xfrm>
          <a:prstGeom prst="rect">
            <a:avLst/>
          </a:prstGeom>
          <a:solidFill>
            <a:srgbClr val="FBF8F2"/>
          </a:solidFill>
          <a:ln w="12700">
            <a:solidFill>
              <a:srgbClr val="C9B991"/>
            </a:solidFill>
          </a:ln>
        </p:spPr>
        <p:txBody>
          <a:bodyPr wrap="square" lIns="91440" tIns="45720" rIns="91440" bIns="45720" anchor="ctr"/>
          <a:lstStyle/>
          <a:p>
            <a:pPr algn="ctr">
              <a:buNone/>
            </a:pPr>
            <a:r>
              <a:rPr lang="en-US" sz="1800" b="1" i="0" dirty="0">
                <a:solidFill>
                  <a:srgbClr val="5C4826"/>
                </a:solidFill>
              </a:rPr>
              <a:t>entities we can reason about directly</a:t>
            </a:r>
          </a:p>
          <a:p>
            <a:pPr algn="ctr">
              <a:spcBef>
                <a:spcPts val="80"/>
              </a:spcBef>
              <a:buNone/>
            </a:pPr>
            <a:r>
              <a:rPr lang="en-US" sz="1600" b="0" i="0" dirty="0">
                <a:solidFill>
                  <a:srgbClr val="000000"/>
                </a:solidFill>
              </a:rPr>
              <a:t>object · function · data structure · small collaboration</a:t>
            </a:r>
          </a:p>
        </p:txBody>
      </p:sp>
      <p:sp>
        <p:nvSpPr>
          <p:cNvPr id="103" name="StopBanner"/>
          <p:cNvSpPr/>
          <p:nvPr/>
        </p:nvSpPr>
        <p:spPr>
          <a:xfrm>
            <a:off x="971999" y="3750000"/>
            <a:ext cx="7200000" cy="990000"/>
          </a:xfrm>
          <a:prstGeom prst="rect">
            <a:avLst/>
          </a:prstGeom>
          <a:solidFill>
            <a:srgbClr val="8E6F3E"/>
          </a:solidFill>
          <a:ln>
            <a:noFill/>
          </a:ln>
        </p:spPr>
        <p:txBody>
          <a:bodyPr wrap="square" lIns="91440" tIns="45720" rIns="91440" bIns="45720" anchor="ctr"/>
          <a:lstStyle/>
          <a:p>
            <a:pPr algn="ctr">
              <a:buNone/>
            </a:pPr>
            <a:r>
              <a:rPr lang="en-US" sz="2200" b="1" i="0" dirty="0">
                <a:solidFill>
                  <a:srgbClr val="FFFFFF"/>
                </a:solidFill>
              </a:rPr>
              <a:t>Stop when further decomposition no longer makes the engineering problem easier to reason about.</a:t>
            </a:r>
          </a:p>
        </p:txBody>
      </p:sp>
      <p:sp>
        <p:nvSpPr>
          <p:cNvPr id="109" name="S109"/>
          <p:cNvSpPr/>
          <p:nvPr/>
        </p:nvSpPr>
        <p:spPr>
          <a:xfrm>
            <a:off x="1828800" y="5030000"/>
            <a:ext cx="5486400" cy="795199"/>
          </a:xfrm>
          <a:prstGeom prst="rect">
            <a:avLst/>
          </a:prstGeom>
          <a:solidFill>
            <a:srgbClr val="F5F1E8"/>
          </a:solidFill>
          <a:ln w="19050">
            <a:solidFill>
              <a:srgbClr val="5C4826"/>
            </a:solidFill>
          </a:ln>
        </p:spPr>
        <p:txBody>
          <a:bodyPr wrap="square" lIns="91440" tIns="45720" rIns="91440" bIns="45720" anchor="ctr"/>
          <a:lstStyle/>
          <a:p>
            <a:pPr algn="ctr">
              <a:buNone/>
            </a:pPr>
            <a:r>
              <a:rPr lang="en-US" sz="2700" b="1" i="0" dirty="0">
                <a:solidFill>
                  <a:srgbClr val="5C4826"/>
                </a:solidFill>
              </a:rPr>
              <a:t>DESIGN</a:t>
            </a:r>
            <a:r>
              <a:rPr lang="en-US" sz="2700" b="0" i="0" dirty="0">
                <a:solidFill>
                  <a:srgbClr val="8E6F3E"/>
                </a:solidFill>
              </a:rPr>
              <a:t>     →     </a:t>
            </a:r>
            <a:r>
              <a:rPr lang="en-US" sz="2700" b="1" i="0" dirty="0">
                <a:solidFill>
                  <a:srgbClr val="5C4826"/>
                </a:solidFill>
              </a:rPr>
              <a:t>IMPLEMENTATION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240280"/>
            <a:ext cx="7772400" cy="914400"/>
          </a:xfrm>
        </p:spPr>
        <p:txBody>
          <a:bodyPr>
            <a:normAutofit/>
          </a:bodyPr>
          <a:lstStyle/>
          <a:p>
            <a:pPr algn="ctr">
              <a:buNone/>
              <a:defRPr b="0"/>
            </a:pPr>
            <a:r>
              <a:rPr lang="en-US" sz="3600" b="0" i="0" dirty="0">
                <a:solidFill>
                  <a:srgbClr val="000000"/>
                </a:solidFill>
              </a:rPr>
              <a:t>How do we choose mechanisms?</a:t>
            </a:r>
          </a:p>
        </p:txBody>
      </p:sp>
      <p:sp>
        <p:nvSpPr>
          <p:cNvPr id="3" name="Slide Number Placeholder 3"/>
          <p:cNvSpPr>
            <a:spLocks noGrp="1"/>
          </p:cNvSpPr>
          <p:nvPr>
            <p:ph type="sldNum" sz="quarter" idx="4"/>
          </p:nvPr>
        </p:nvSpPr>
        <p:spPr/>
        <p:txBody>
          <a:bodyPr/>
          <a:lstStyle/>
          <a:p>
            <a:fld id="{B7EB45DA-9A0D-DC49-8E02-F30A5DDC21C3}" type="slidenum">
              <a:rPr lang="en-US" smtClean="0"/>
              <a:t>11</a:t>
            </a:fld>
            <a:endParaRPr lang="en-US"/>
          </a:p>
        </p:txBody>
      </p:sp>
      <p:sp>
        <p:nvSpPr>
          <p:cNvPr id="100" name="SectionLabel"/>
          <p:cNvSpPr txBox="1"/>
          <p:nvPr/>
        </p:nvSpPr>
        <p:spPr>
          <a:xfrm>
            <a:off x="685800" y="1737360"/>
            <a:ext cx="7772400" cy="355600"/>
          </a:xfrm>
          <a:prstGeom prst="rect">
            <a:avLst/>
          </a:prstGeom>
          <a:noFill/>
          <a:ln>
            <a:noFill/>
          </a:ln>
        </p:spPr>
        <p:txBody>
          <a:bodyPr wrap="square" lIns="0" tIns="0" rIns="0" bIns="0" anchor="t"/>
          <a:lstStyle/>
          <a:p>
            <a:pPr algn="ctr">
              <a:buNone/>
            </a:pPr>
            <a:r>
              <a:rPr lang="en-US" sz="2200" b="1" i="0" dirty="0">
                <a:solidFill>
                  <a:srgbClr val="8E6F3E"/>
                </a:solidFill>
              </a:rPr>
              <a:t>SECTION 2</a:t>
            </a:r>
          </a:p>
        </p:txBody>
      </p:sp>
      <p:sp>
        <p:nvSpPr>
          <p:cNvPr id="101" name="Rule"/>
          <p:cNvSpPr/>
          <p:nvPr/>
        </p:nvSpPr>
        <p:spPr>
          <a:xfrm>
            <a:off x="3429000" y="3383280"/>
            <a:ext cx="2286000" cy="50800"/>
          </a:xfrm>
          <a:prstGeom prst="rect">
            <a:avLst/>
          </a:prstGeom>
          <a:solidFill>
            <a:srgbClr val="8E6F3E"/>
          </a:solidFill>
          <a:ln>
            <a:noFill/>
          </a:ln>
        </p:spPr>
        <p:txBody>
          <a:bodyPr wrap="square" lIns="91440" tIns="45720" rIns="91440" bIns="45720" anchor="ctr"/>
          <a:lstStyle/>
          <a:p>
            <a:endParaRPr/>
          </a:p>
        </p:txBody>
      </p:sp>
      <p:sp>
        <p:nvSpPr>
          <p:cNvPr id="102" name="Subtitle"/>
          <p:cNvSpPr txBox="1"/>
          <p:nvPr/>
        </p:nvSpPr>
        <p:spPr>
          <a:xfrm>
            <a:off x="685800" y="3794760"/>
            <a:ext cx="7772400" cy="1920240"/>
          </a:xfrm>
          <a:prstGeom prst="rect">
            <a:avLst/>
          </a:prstGeom>
          <a:noFill/>
          <a:ln>
            <a:noFill/>
          </a:ln>
        </p:spPr>
        <p:txBody>
          <a:bodyPr wrap="square" lIns="0" tIns="0" rIns="0" bIns="0" anchor="t"/>
          <a:lstStyle/>
          <a:p>
            <a:pPr algn="ctr">
              <a:buNone/>
            </a:pPr>
            <a:r>
              <a:rPr lang="en-US" sz="3300" b="0" i="0" dirty="0">
                <a:solidFill>
                  <a:srgbClr val="555960"/>
                </a:solidFill>
              </a:rPr>
              <a:t>A choice exists</a:t>
            </a:r>
          </a:p>
          <a:p>
            <a:pPr algn="ctr">
              <a:spcBef>
                <a:spcPts val="120"/>
              </a:spcBef>
              <a:buNone/>
            </a:pPr>
            <a:r>
              <a:rPr lang="en-US" sz="3300" b="0" i="0" dirty="0">
                <a:solidFill>
                  <a:srgbClr val="555960"/>
                </a:solidFill>
              </a:rPr>
              <a:t>→ alternatives have consequences</a:t>
            </a:r>
          </a:p>
          <a:p>
            <a:pPr algn="ctr">
              <a:spcBef>
                <a:spcPts val="120"/>
              </a:spcBef>
              <a:buNone/>
            </a:pPr>
            <a:r>
              <a:rPr lang="en-US" sz="3300" b="0" i="0" dirty="0">
                <a:solidFill>
                  <a:srgbClr val="555960"/>
                </a:solidFill>
              </a:rPr>
              <a:t>→ evidence informs the decision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148" y="118428"/>
            <a:ext cx="8590000" cy="638175"/>
          </a:xfrm>
        </p:spPr>
        <p:txBody>
          <a:bodyPr>
            <a:normAutofit fontScale="90000"/>
          </a:bodyPr>
          <a:lstStyle/>
          <a:p>
            <a:pPr>
              <a:buNone/>
              <a:defRPr b="0"/>
            </a:pPr>
            <a:r>
              <a:rPr lang="en-US" sz="2400" b="0" i="0" dirty="0">
                <a:solidFill>
                  <a:srgbClr val="000000"/>
                </a:solidFill>
              </a:rPr>
              <a:t>One responsibility can admit several mechanisms</a:t>
            </a:r>
          </a:p>
        </p:txBody>
      </p:sp>
      <p:sp>
        <p:nvSpPr>
          <p:cNvPr id="3" name="Slide Number Placeholder 3"/>
          <p:cNvSpPr>
            <a:spLocks noGrp="1"/>
          </p:cNvSpPr>
          <p:nvPr>
            <p:ph type="sldNum" sz="quarter" idx="4"/>
          </p:nvPr>
        </p:nvSpPr>
        <p:spPr/>
        <p:txBody>
          <a:bodyPr/>
          <a:lstStyle/>
          <a:p>
            <a:fld id="{B7EB45DA-9A0D-DC49-8E02-F30A5DDC21C3}" type="slidenum">
              <a:rPr lang="en-US" smtClean="0"/>
              <a:t>12</a:t>
            </a:fld>
            <a:endParaRPr lang="en-US"/>
          </a:p>
        </p:txBody>
      </p:sp>
      <p:sp>
        <p:nvSpPr>
          <p:cNvPr id="100" name="Resp"/>
          <p:cNvSpPr/>
          <p:nvPr/>
        </p:nvSpPr>
        <p:spPr>
          <a:xfrm>
            <a:off x="2802000" y="1016749"/>
            <a:ext cx="3540000" cy="950000"/>
          </a:xfrm>
          <a:prstGeom prst="rect">
            <a:avLst/>
          </a:prstGeom>
          <a:solidFill>
            <a:srgbClr val="8E6F3E"/>
          </a:solidFill>
          <a:ln>
            <a:noFill/>
          </a:ln>
        </p:spPr>
        <p:txBody>
          <a:bodyPr wrap="square" lIns="91440" tIns="45720" rIns="91440" bIns="45720" anchor="ctr"/>
          <a:lstStyle/>
          <a:p>
            <a:pPr algn="ctr">
              <a:buNone/>
            </a:pPr>
            <a:r>
              <a:rPr lang="en-US" sz="2000" b="1" i="0" dirty="0">
                <a:solidFill>
                  <a:srgbClr val="FFFFFF"/>
                </a:solidFill>
              </a:rPr>
              <a:t>PROCESS DOCUMENTS</a:t>
            </a:r>
          </a:p>
          <a:p>
            <a:pPr algn="ctr">
              <a:buNone/>
            </a:pPr>
            <a:r>
              <a:rPr lang="en-US" sz="1300" b="0" i="0" dirty="0">
                <a:solidFill>
                  <a:srgbClr val="FFFFFF"/>
                </a:solidFill>
              </a:rPr>
              <a:t>cloud worker  ·  inherited cost target</a:t>
            </a:r>
          </a:p>
        </p:txBody>
      </p:sp>
      <p:cxnSp>
        <p:nvCxnSpPr>
          <p:cNvPr id="110" name="ArwL"/>
          <p:cNvCxnSpPr/>
          <p:nvPr/>
        </p:nvCxnSpPr>
        <p:spPr>
          <a:xfrm flipH="1">
            <a:off x="1762000" y="2050000"/>
            <a:ext cx="2810000" cy="580000"/>
          </a:xfrm>
          <a:prstGeom prst="straightConnector1">
            <a:avLst/>
          </a:prstGeom>
          <a:ln w="38100">
            <a:solidFill>
              <a:srgbClr val="8E6F3E"/>
            </a:solidFill>
            <a:tailEnd type="triangle" w="med" len="med"/>
          </a:ln>
        </p:spPr>
      </p:cxnSp>
      <p:cxnSp>
        <p:nvCxnSpPr>
          <p:cNvPr id="111" name="ArwM"/>
          <p:cNvCxnSpPr/>
          <p:nvPr/>
        </p:nvCxnSpPr>
        <p:spPr>
          <a:xfrm>
            <a:off x="4572000" y="2050000"/>
            <a:ext cx="0" cy="580000"/>
          </a:xfrm>
          <a:prstGeom prst="straightConnector1">
            <a:avLst/>
          </a:prstGeom>
          <a:ln w="38100">
            <a:solidFill>
              <a:srgbClr val="8E6F3E"/>
            </a:solidFill>
            <a:tailEnd type="triangle" w="med" len="med"/>
          </a:ln>
        </p:spPr>
      </p:cxnSp>
      <p:cxnSp>
        <p:nvCxnSpPr>
          <p:cNvPr id="112" name="ArwR"/>
          <p:cNvCxnSpPr/>
          <p:nvPr/>
        </p:nvCxnSpPr>
        <p:spPr>
          <a:xfrm>
            <a:off x="4572000" y="2050000"/>
            <a:ext cx="2810000" cy="580000"/>
          </a:xfrm>
          <a:prstGeom prst="straightConnector1">
            <a:avLst/>
          </a:prstGeom>
          <a:ln w="38100">
            <a:solidFill>
              <a:srgbClr val="8E6F3E"/>
            </a:solidFill>
            <a:tailEnd type="triangle" w="med" len="med"/>
          </a:ln>
        </p:spPr>
      </p:cxnSp>
      <p:sp>
        <p:nvSpPr>
          <p:cNvPr id="120" name="Mech0"/>
          <p:cNvSpPr/>
          <p:nvPr/>
        </p:nvSpPr>
        <p:spPr>
          <a:xfrm>
            <a:off x="482000" y="2650000"/>
            <a:ext cx="2560000" cy="1700000"/>
          </a:xfrm>
          <a:prstGeom prst="rect">
            <a:avLst/>
          </a:prstGeom>
          <a:solidFill>
            <a:srgbClr val="F5F1E8"/>
          </a:solidFill>
          <a:ln w="12700">
            <a:solidFill>
              <a:srgbClr val="C9B991"/>
            </a:solidFill>
          </a:ln>
        </p:spPr>
        <p:txBody>
          <a:bodyPr wrap="square" lIns="91440" tIns="45720" rIns="91440" bIns="45720" anchor="ctr"/>
          <a:lstStyle/>
          <a:p>
            <a:pPr algn="ctr">
              <a:buNone/>
            </a:pPr>
            <a:r>
              <a:rPr lang="en-US" sz="1600" b="1" i="0" dirty="0">
                <a:solidFill>
                  <a:srgbClr val="5C4826"/>
                </a:solidFill>
              </a:rPr>
              <a:t>LOAD WHOLE DOCUMENT</a:t>
            </a:r>
          </a:p>
          <a:p>
            <a:pPr algn="ctr">
              <a:buNone/>
            </a:pPr>
            <a:r>
              <a:rPr lang="en-US" sz="1300" b="0" i="0" dirty="0">
                <a:solidFill>
                  <a:srgbClr val="555960"/>
                </a:solidFill>
              </a:rPr>
              <a:t>simple algorithm — the entire document in memory</a:t>
            </a:r>
          </a:p>
        </p:txBody>
      </p:sp>
      <p:sp>
        <p:nvSpPr>
          <p:cNvPr id="121" name="Mech1"/>
          <p:cNvSpPr/>
          <p:nvPr/>
        </p:nvSpPr>
        <p:spPr>
          <a:xfrm>
            <a:off x="3292000" y="2650000"/>
            <a:ext cx="2560000" cy="1700000"/>
          </a:xfrm>
          <a:prstGeom prst="rect">
            <a:avLst/>
          </a:prstGeom>
          <a:solidFill>
            <a:srgbClr val="F5F1E8"/>
          </a:solidFill>
          <a:ln w="12700">
            <a:solidFill>
              <a:srgbClr val="C9B991"/>
            </a:solidFill>
          </a:ln>
        </p:spPr>
        <p:txBody>
          <a:bodyPr wrap="square" lIns="91440" tIns="45720" rIns="91440" bIns="45720" anchor="ctr"/>
          <a:lstStyle/>
          <a:p>
            <a:pPr algn="ctr">
              <a:buNone/>
            </a:pPr>
            <a:r>
              <a:rPr lang="en-US" sz="1600" b="1" i="0" dirty="0">
                <a:solidFill>
                  <a:srgbClr val="5C4826"/>
                </a:solidFill>
              </a:rPr>
              <a:t>BOUNDED STREAM</a:t>
            </a:r>
          </a:p>
          <a:p>
            <a:pPr algn="ctr">
              <a:buNone/>
            </a:pPr>
            <a:r>
              <a:rPr lang="en-US" sz="1300" b="0" i="0" dirty="0">
                <a:solidFill>
                  <a:srgbClr val="555960"/>
                </a:solidFill>
              </a:rPr>
              <a:t>process through a fixed-size window</a:t>
            </a:r>
          </a:p>
        </p:txBody>
      </p:sp>
      <p:sp>
        <p:nvSpPr>
          <p:cNvPr id="122" name="Mech2"/>
          <p:cNvSpPr/>
          <p:nvPr/>
        </p:nvSpPr>
        <p:spPr>
          <a:xfrm>
            <a:off x="6102000" y="2650000"/>
            <a:ext cx="2560000" cy="1700000"/>
          </a:xfrm>
          <a:prstGeom prst="rect">
            <a:avLst/>
          </a:prstGeom>
          <a:solidFill>
            <a:srgbClr val="F5F1E8"/>
          </a:solidFill>
          <a:ln w="12700">
            <a:solidFill>
              <a:srgbClr val="C9B991"/>
            </a:solidFill>
          </a:ln>
        </p:spPr>
        <p:txBody>
          <a:bodyPr wrap="square" lIns="91440" tIns="45720" rIns="91440" bIns="45720" anchor="ctr"/>
          <a:lstStyle/>
          <a:p>
            <a:pPr algn="ctr">
              <a:buNone/>
            </a:pPr>
            <a:r>
              <a:rPr lang="en-US" sz="1600" b="1" i="0" dirty="0">
                <a:solidFill>
                  <a:srgbClr val="5C4826"/>
                </a:solidFill>
              </a:rPr>
              <a:t>INTERMEDIATE REPRESENTATION</a:t>
            </a:r>
          </a:p>
          <a:p>
            <a:pPr algn="ctr">
              <a:buNone/>
            </a:pPr>
            <a:r>
              <a:rPr lang="en-US" sz="1300" b="0" i="0" dirty="0">
                <a:solidFill>
                  <a:srgbClr val="555960"/>
                </a:solidFill>
              </a:rPr>
              <a:t>parse once; keep only what the work needs</a:t>
            </a:r>
          </a:p>
        </p:txBody>
      </p:sp>
      <p:sp>
        <p:nvSpPr>
          <p:cNvPr id="130" name="ItalicLine"/>
          <p:cNvSpPr txBox="1"/>
          <p:nvPr/>
        </p:nvSpPr>
        <p:spPr>
          <a:xfrm>
            <a:off x="277148" y="4800000"/>
            <a:ext cx="8589704" cy="420000"/>
          </a:xfrm>
          <a:prstGeom prst="rect">
            <a:avLst/>
          </a:prstGeom>
          <a:noFill/>
          <a:ln>
            <a:noFill/>
          </a:ln>
        </p:spPr>
        <p:txBody>
          <a:bodyPr wrap="square" lIns="0" tIns="0" rIns="0" bIns="0" anchor="t"/>
          <a:lstStyle/>
          <a:p>
            <a:pPr algn="ctr">
              <a:buNone/>
            </a:pPr>
            <a:r>
              <a:rPr lang="en-US" sz="2000" b="0" i="1" dirty="0">
                <a:solidFill>
                  <a:srgbClr val="000000"/>
                </a:solidFill>
              </a:rPr>
              <a:t>Each mechanism can fulfill the responsibility. They are not the same choice.</a:t>
            </a:r>
          </a:p>
        </p:txBody>
      </p:sp>
      <p:sp>
        <p:nvSpPr>
          <p:cNvPr id="131" name="FooterBand"/>
          <p:cNvSpPr/>
          <p:nvPr/>
        </p:nvSpPr>
        <p:spPr>
          <a:xfrm>
            <a:off x="274320" y="5852160"/>
            <a:ext cx="8595360" cy="566928"/>
          </a:xfrm>
          <a:prstGeom prst="rect">
            <a:avLst/>
          </a:prstGeom>
          <a:solidFill>
            <a:srgbClr val="8E6F3E"/>
          </a:solidFill>
          <a:ln>
            <a:noFill/>
          </a:ln>
        </p:spPr>
        <p:txBody>
          <a:bodyPr wrap="square" lIns="91440" tIns="45720" rIns="91440" bIns="45720" anchor="ctr"/>
          <a:lstStyle/>
          <a:p>
            <a:pPr algn="ctr">
              <a:buNone/>
            </a:pPr>
            <a:r>
              <a:rPr lang="en-US" sz="2000" b="1" i="0" dirty="0">
                <a:solidFill>
                  <a:srgbClr val="FFFFFF"/>
                </a:solidFill>
              </a:rPr>
              <a:t>Architecture assigned the responsibility. Design picks the mechanism.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148" y="118428"/>
            <a:ext cx="8590000" cy="638175"/>
          </a:xfrm>
        </p:spPr>
        <p:txBody>
          <a:bodyPr>
            <a:normAutofit fontScale="90000"/>
          </a:bodyPr>
          <a:lstStyle/>
          <a:p>
            <a:pPr>
              <a:buNone/>
              <a:defRPr b="0"/>
            </a:pPr>
            <a:r>
              <a:rPr lang="en-US" sz="2400" b="0" i="0" dirty="0">
                <a:solidFill>
                  <a:srgbClr val="000000"/>
                </a:solidFill>
              </a:rPr>
              <a:t>Mechanisms have measurable consequences</a:t>
            </a:r>
          </a:p>
        </p:txBody>
      </p:sp>
      <p:sp>
        <p:nvSpPr>
          <p:cNvPr id="3" name="Slide Number Placeholder 3"/>
          <p:cNvSpPr>
            <a:spLocks noGrp="1"/>
          </p:cNvSpPr>
          <p:nvPr>
            <p:ph type="sldNum" sz="quarter" idx="4"/>
          </p:nvPr>
        </p:nvSpPr>
        <p:spPr/>
        <p:txBody>
          <a:bodyPr/>
          <a:lstStyle/>
          <a:p>
            <a:fld id="{B7EB45DA-9A0D-DC49-8E02-F30A5DDC21C3}" type="slidenum">
              <a:rPr lang="en-US" smtClean="0"/>
              <a:t>13</a:t>
            </a:fld>
            <a:endParaRPr lang="en-US"/>
          </a:p>
        </p:txBody>
      </p:sp>
      <p:cxnSp>
        <p:nvCxnSpPr>
          <p:cNvPr id="100" name="Baseline"/>
          <p:cNvCxnSpPr/>
          <p:nvPr/>
        </p:nvCxnSpPr>
        <p:spPr>
          <a:xfrm>
            <a:off x="700000" y="5100000"/>
            <a:ext cx="7800000" cy="0"/>
          </a:xfrm>
          <a:prstGeom prst="straightConnector1">
            <a:avLst/>
          </a:prstGeom>
          <a:ln w="19050">
            <a:solidFill>
              <a:srgbClr val="555960"/>
            </a:solidFill>
          </a:ln>
        </p:spPr>
      </p:cxnSp>
      <p:cxnSp>
        <p:nvCxnSpPr>
          <p:cNvPr id="101" name="TierLine"/>
          <p:cNvCxnSpPr/>
          <p:nvPr/>
        </p:nvCxnSpPr>
        <p:spPr>
          <a:xfrm>
            <a:off x="700000" y="2900000"/>
            <a:ext cx="7800000" cy="0"/>
          </a:xfrm>
          <a:prstGeom prst="straightConnector1">
            <a:avLst/>
          </a:prstGeom>
          <a:ln w="19050">
            <a:solidFill>
              <a:srgbClr val="5C4826"/>
            </a:solidFill>
            <a:prstDash val="dash"/>
          </a:ln>
        </p:spPr>
      </p:cxnSp>
      <p:sp>
        <p:nvSpPr>
          <p:cNvPr id="102" name="TierLbl"/>
          <p:cNvSpPr txBox="1"/>
          <p:nvPr/>
        </p:nvSpPr>
        <p:spPr>
          <a:xfrm>
            <a:off x="4600000" y="2500000"/>
            <a:ext cx="3900000" cy="360000"/>
          </a:xfrm>
          <a:prstGeom prst="rect">
            <a:avLst/>
          </a:prstGeom>
          <a:noFill/>
          <a:ln>
            <a:noFill/>
          </a:ln>
        </p:spPr>
        <p:txBody>
          <a:bodyPr wrap="square" lIns="0" tIns="0" rIns="0" bIns="0" anchor="b"/>
          <a:lstStyle/>
          <a:p>
            <a:pPr algn="r">
              <a:buNone/>
            </a:pPr>
            <a:r>
              <a:rPr lang="en-US" sz="1300" b="1" i="0" dirty="0">
                <a:solidFill>
                  <a:srgbClr val="5C4826"/>
                </a:solidFill>
              </a:rPr>
              <a:t>4 GB — the memory tier the cost target allows</a:t>
            </a:r>
          </a:p>
        </p:txBody>
      </p:sp>
      <p:sp>
        <p:nvSpPr>
          <p:cNvPr id="110" name="Bar0"/>
          <p:cNvSpPr/>
          <p:nvPr/>
        </p:nvSpPr>
        <p:spPr>
          <a:xfrm>
            <a:off x="1000000" y="1800000"/>
            <a:ext cx="1800000" cy="3300000"/>
          </a:xfrm>
          <a:prstGeom prst="rect">
            <a:avLst/>
          </a:prstGeom>
          <a:solidFill>
            <a:srgbClr val="C0392B"/>
          </a:solidFill>
          <a:ln>
            <a:noFill/>
          </a:ln>
        </p:spPr>
        <p:txBody>
          <a:bodyPr/>
          <a:lstStyle/>
          <a:p>
            <a:endParaRPr lang="en-US"/>
          </a:p>
        </p:txBody>
      </p:sp>
      <p:sp>
        <p:nvSpPr>
          <p:cNvPr id="115" name="BarLbl0"/>
          <p:cNvSpPr txBox="1"/>
          <p:nvPr/>
        </p:nvSpPr>
        <p:spPr>
          <a:xfrm>
            <a:off x="1000000" y="1400000"/>
            <a:ext cx="1800000" cy="380000"/>
          </a:xfrm>
          <a:prstGeom prst="rect">
            <a:avLst/>
          </a:prstGeom>
          <a:noFill/>
          <a:ln>
            <a:noFill/>
          </a:ln>
        </p:spPr>
        <p:txBody>
          <a:bodyPr wrap="square" lIns="0" tIns="0" rIns="0" bIns="0" anchor="b"/>
          <a:lstStyle/>
          <a:p>
            <a:pPr algn="ctr">
              <a:buNone/>
            </a:pPr>
            <a:r>
              <a:rPr lang="en-US" sz="1600" b="1" i="0" dirty="0">
                <a:solidFill>
                  <a:srgbClr val="C0392B"/>
                </a:solidFill>
              </a:rPr>
              <a:t>6 GB  ✗</a:t>
            </a:r>
          </a:p>
        </p:txBody>
      </p:sp>
      <p:sp>
        <p:nvSpPr>
          <p:cNvPr id="120" name="BarName0"/>
          <p:cNvSpPr txBox="1"/>
          <p:nvPr/>
        </p:nvSpPr>
        <p:spPr>
          <a:xfrm>
            <a:off x="1000000" y="5180000"/>
            <a:ext cx="1800000" cy="380000"/>
          </a:xfrm>
          <a:prstGeom prst="rect">
            <a:avLst/>
          </a:prstGeom>
          <a:noFill/>
          <a:ln>
            <a:noFill/>
          </a:ln>
        </p:spPr>
        <p:txBody>
          <a:bodyPr wrap="square" lIns="0" tIns="0" rIns="0" bIns="0" anchor="t"/>
          <a:lstStyle/>
          <a:p>
            <a:pPr algn="ctr">
              <a:buNone/>
            </a:pPr>
            <a:r>
              <a:rPr lang="en-US" sz="1400" b="1" i="0" dirty="0">
                <a:solidFill>
                  <a:srgbClr val="5C4826"/>
                </a:solidFill>
              </a:rPr>
              <a:t>load whole</a:t>
            </a:r>
          </a:p>
        </p:txBody>
      </p:sp>
      <p:sp>
        <p:nvSpPr>
          <p:cNvPr id="111" name="Bar1"/>
          <p:cNvSpPr/>
          <p:nvPr/>
        </p:nvSpPr>
        <p:spPr>
          <a:xfrm>
            <a:off x="3672000" y="4550000"/>
            <a:ext cx="1800000" cy="550000"/>
          </a:xfrm>
          <a:prstGeom prst="rect">
            <a:avLst/>
          </a:prstGeom>
          <a:solidFill>
            <a:srgbClr val="8E6F3E"/>
          </a:solidFill>
          <a:ln>
            <a:noFill/>
          </a:ln>
        </p:spPr>
        <p:txBody>
          <a:bodyPr/>
          <a:lstStyle/>
          <a:p>
            <a:endParaRPr lang="en-US"/>
          </a:p>
        </p:txBody>
      </p:sp>
      <p:sp>
        <p:nvSpPr>
          <p:cNvPr id="116" name="BarLbl1"/>
          <p:cNvSpPr txBox="1"/>
          <p:nvPr/>
        </p:nvSpPr>
        <p:spPr>
          <a:xfrm>
            <a:off x="3672000" y="4150000"/>
            <a:ext cx="1800000" cy="380000"/>
          </a:xfrm>
          <a:prstGeom prst="rect">
            <a:avLst/>
          </a:prstGeom>
          <a:noFill/>
          <a:ln>
            <a:noFill/>
          </a:ln>
        </p:spPr>
        <p:txBody>
          <a:bodyPr wrap="square" lIns="0" tIns="0" rIns="0" bIns="0" anchor="b"/>
          <a:lstStyle/>
          <a:p>
            <a:pPr algn="ctr">
              <a:buNone/>
            </a:pPr>
            <a:r>
              <a:rPr lang="en-US" sz="1600" b="1" i="0" dirty="0">
                <a:solidFill>
                  <a:srgbClr val="5C4826"/>
                </a:solidFill>
              </a:rPr>
              <a:t>1 GB  ✓</a:t>
            </a:r>
          </a:p>
        </p:txBody>
      </p:sp>
      <p:sp>
        <p:nvSpPr>
          <p:cNvPr id="121" name="BarName1"/>
          <p:cNvSpPr txBox="1"/>
          <p:nvPr/>
        </p:nvSpPr>
        <p:spPr>
          <a:xfrm>
            <a:off x="3672000" y="5180000"/>
            <a:ext cx="1800000" cy="380000"/>
          </a:xfrm>
          <a:prstGeom prst="rect">
            <a:avLst/>
          </a:prstGeom>
          <a:noFill/>
          <a:ln>
            <a:noFill/>
          </a:ln>
        </p:spPr>
        <p:txBody>
          <a:bodyPr wrap="square" lIns="0" tIns="0" rIns="0" bIns="0" anchor="t"/>
          <a:lstStyle/>
          <a:p>
            <a:pPr algn="ctr">
              <a:buNone/>
            </a:pPr>
            <a:r>
              <a:rPr lang="en-US" sz="1400" b="1" i="0" dirty="0">
                <a:solidFill>
                  <a:srgbClr val="5C4826"/>
                </a:solidFill>
              </a:rPr>
              <a:t>stream</a:t>
            </a:r>
          </a:p>
        </p:txBody>
      </p:sp>
      <p:sp>
        <p:nvSpPr>
          <p:cNvPr id="112" name="Bar2"/>
          <p:cNvSpPr/>
          <p:nvPr/>
        </p:nvSpPr>
        <p:spPr>
          <a:xfrm>
            <a:off x="6344000" y="3725000"/>
            <a:ext cx="1800000" cy="1375000"/>
          </a:xfrm>
          <a:prstGeom prst="rect">
            <a:avLst/>
          </a:prstGeom>
          <a:solidFill>
            <a:srgbClr val="8E6F3E"/>
          </a:solidFill>
          <a:ln>
            <a:noFill/>
          </a:ln>
        </p:spPr>
        <p:txBody>
          <a:bodyPr/>
          <a:lstStyle/>
          <a:p>
            <a:endParaRPr lang="en-US"/>
          </a:p>
        </p:txBody>
      </p:sp>
      <p:sp>
        <p:nvSpPr>
          <p:cNvPr id="117" name="BarLbl2"/>
          <p:cNvSpPr txBox="1"/>
          <p:nvPr/>
        </p:nvSpPr>
        <p:spPr>
          <a:xfrm>
            <a:off x="6344000" y="3325000"/>
            <a:ext cx="1800000" cy="380000"/>
          </a:xfrm>
          <a:prstGeom prst="rect">
            <a:avLst/>
          </a:prstGeom>
          <a:noFill/>
          <a:ln>
            <a:noFill/>
          </a:ln>
        </p:spPr>
        <p:txBody>
          <a:bodyPr wrap="square" lIns="0" tIns="0" rIns="0" bIns="0" anchor="b"/>
          <a:lstStyle/>
          <a:p>
            <a:pPr algn="ctr">
              <a:buNone/>
            </a:pPr>
            <a:r>
              <a:rPr lang="en-US" sz="1600" b="1" i="0" dirty="0">
                <a:solidFill>
                  <a:srgbClr val="5C4826"/>
                </a:solidFill>
              </a:rPr>
              <a:t>2.5 GB  ✓</a:t>
            </a:r>
          </a:p>
        </p:txBody>
      </p:sp>
      <p:sp>
        <p:nvSpPr>
          <p:cNvPr id="122" name="BarName2"/>
          <p:cNvSpPr txBox="1"/>
          <p:nvPr/>
        </p:nvSpPr>
        <p:spPr>
          <a:xfrm>
            <a:off x="6344000" y="5180000"/>
            <a:ext cx="1800000" cy="380000"/>
          </a:xfrm>
          <a:prstGeom prst="rect">
            <a:avLst/>
          </a:prstGeom>
          <a:noFill/>
          <a:ln>
            <a:noFill/>
          </a:ln>
        </p:spPr>
        <p:txBody>
          <a:bodyPr wrap="square" lIns="0" tIns="0" rIns="0" bIns="0" anchor="t"/>
          <a:lstStyle/>
          <a:p>
            <a:pPr algn="ctr">
              <a:buNone/>
            </a:pPr>
            <a:r>
              <a:rPr lang="en-US" sz="1400" b="1" i="0" dirty="0">
                <a:solidFill>
                  <a:srgbClr val="5C4826"/>
                </a:solidFill>
              </a:rPr>
              <a:t>intermediate rep.</a:t>
            </a:r>
          </a:p>
        </p:txBody>
      </p:sp>
      <p:sp>
        <p:nvSpPr>
          <p:cNvPr id="130" name="AlsoLbl"/>
          <p:cNvSpPr txBox="1"/>
          <p:nvPr/>
        </p:nvSpPr>
        <p:spPr>
          <a:xfrm>
            <a:off x="277148" y="5480000"/>
            <a:ext cx="8589704" cy="320000"/>
          </a:xfrm>
          <a:prstGeom prst="rect">
            <a:avLst/>
          </a:prstGeom>
          <a:noFill/>
          <a:ln>
            <a:noFill/>
          </a:ln>
        </p:spPr>
        <p:txBody>
          <a:bodyPr wrap="square" lIns="0" tIns="0" rIns="0" bIns="0" anchor="t"/>
          <a:lstStyle/>
          <a:p>
            <a:pPr algn="ctr">
              <a:buNone/>
            </a:pPr>
            <a:r>
              <a:rPr lang="en-US" sz="1300" b="0" i="1" dirty="0">
                <a:solidFill>
                  <a:srgbClr val="555960"/>
                </a:solidFill>
              </a:rPr>
              <a:t>also differ in:  latency  ·  implementation complexity  ·  changeability</a:t>
            </a:r>
          </a:p>
        </p:txBody>
      </p:sp>
      <p:sp>
        <p:nvSpPr>
          <p:cNvPr id="131" name="FooterBand"/>
          <p:cNvSpPr/>
          <p:nvPr/>
        </p:nvSpPr>
        <p:spPr>
          <a:xfrm>
            <a:off x="274320" y="5852160"/>
            <a:ext cx="8595360" cy="566928"/>
          </a:xfrm>
          <a:prstGeom prst="rect">
            <a:avLst/>
          </a:prstGeom>
          <a:solidFill>
            <a:srgbClr val="8E6F3E"/>
          </a:solidFill>
          <a:ln>
            <a:noFill/>
          </a:ln>
        </p:spPr>
        <p:txBody>
          <a:bodyPr wrap="square" lIns="91440" tIns="45720" rIns="91440" bIns="45720" anchor="ctr"/>
          <a:lstStyle/>
          <a:p>
            <a:pPr algn="ctr">
              <a:buNone/>
            </a:pPr>
            <a:r>
              <a:rPr lang="en-US" sz="1800" b="1" i="0" dirty="0">
                <a:solidFill>
                  <a:srgbClr val="FFFFFF"/>
                </a:solidFill>
              </a:rPr>
              <a:t>The inherited constraint makes peak memory consequential here.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148" y="118428"/>
            <a:ext cx="8590000" cy="638175"/>
          </a:xfrm>
        </p:spPr>
        <p:txBody>
          <a:bodyPr>
            <a:normAutofit fontScale="90000"/>
          </a:bodyPr>
          <a:lstStyle/>
          <a:p>
            <a:pPr>
              <a:buNone/>
              <a:defRPr b="0"/>
            </a:pPr>
            <a:r>
              <a:rPr lang="en-US" sz="2400" b="0" i="0" dirty="0">
                <a:solidFill>
                  <a:srgbClr val="000000"/>
                </a:solidFill>
              </a:rPr>
              <a:t>Evidence distinguishes the alternatives</a:t>
            </a:r>
          </a:p>
        </p:txBody>
      </p:sp>
      <p:sp>
        <p:nvSpPr>
          <p:cNvPr id="3" name="Slide Number Placeholder 3"/>
          <p:cNvSpPr>
            <a:spLocks noGrp="1"/>
          </p:cNvSpPr>
          <p:nvPr>
            <p:ph type="sldNum" sz="quarter" idx="4"/>
          </p:nvPr>
        </p:nvSpPr>
        <p:spPr/>
        <p:txBody>
          <a:bodyPr/>
          <a:lstStyle/>
          <a:p>
            <a:fld id="{B7EB45DA-9A0D-DC49-8E02-F30A5DDC21C3}" type="slidenum">
              <a:rPr lang="en-US" smtClean="0"/>
              <a:t>14</a:t>
            </a:fld>
            <a:endParaRPr lang="en-US"/>
          </a:p>
        </p:txBody>
      </p:sp>
      <p:sp>
        <p:nvSpPr>
          <p:cNvPr id="100" name="HdrL"/>
          <p:cNvSpPr/>
          <p:nvPr/>
        </p:nvSpPr>
        <p:spPr>
          <a:xfrm>
            <a:off x="277147" y="1004785"/>
            <a:ext cx="3300000" cy="640000"/>
          </a:xfrm>
          <a:prstGeom prst="rect">
            <a:avLst/>
          </a:prstGeom>
          <a:solidFill>
            <a:srgbClr val="8E6F3E"/>
          </a:solidFill>
          <a:ln>
            <a:noFill/>
          </a:ln>
        </p:spPr>
        <p:txBody>
          <a:bodyPr wrap="square" lIns="91440" tIns="45720" rIns="91440" bIns="45720" anchor="ctr"/>
          <a:lstStyle/>
          <a:p>
            <a:pPr algn="ctr">
              <a:buNone/>
            </a:pPr>
            <a:r>
              <a:rPr lang="en-US" sz="1500" b="1" i="0" dirty="0">
                <a:solidFill>
                  <a:srgbClr val="FFFFFF"/>
                </a:solidFill>
              </a:rPr>
              <a:t>THE DIFFERENCE THAT MATTERS</a:t>
            </a:r>
          </a:p>
        </p:txBody>
      </p:sp>
      <p:sp>
        <p:nvSpPr>
          <p:cNvPr id="101" name="HdrR"/>
          <p:cNvSpPr/>
          <p:nvPr/>
        </p:nvSpPr>
        <p:spPr>
          <a:xfrm>
            <a:off x="3677147" y="1004785"/>
            <a:ext cx="5189704" cy="640000"/>
          </a:xfrm>
          <a:prstGeom prst="rect">
            <a:avLst/>
          </a:prstGeom>
          <a:solidFill>
            <a:srgbClr val="8E6F3E"/>
          </a:solidFill>
          <a:ln>
            <a:noFill/>
          </a:ln>
        </p:spPr>
        <p:txBody>
          <a:bodyPr wrap="square" lIns="91440" tIns="45720" rIns="91440" bIns="45720" anchor="ctr"/>
          <a:lstStyle/>
          <a:p>
            <a:pPr algn="ctr">
              <a:buNone/>
            </a:pPr>
            <a:r>
              <a:rPr lang="en-US" sz="1500" b="1" i="0" dirty="0">
                <a:solidFill>
                  <a:srgbClr val="FFFFFF"/>
                </a:solidFill>
              </a:rPr>
              <a:t>EVIDENCE THAT DECIDES</a:t>
            </a:r>
          </a:p>
        </p:txBody>
      </p:sp>
      <p:sp>
        <p:nvSpPr>
          <p:cNvPr id="110" name="RowL0"/>
          <p:cNvSpPr/>
          <p:nvPr/>
        </p:nvSpPr>
        <p:spPr>
          <a:xfrm>
            <a:off x="277147" y="1650000"/>
            <a:ext cx="3300000" cy="800000"/>
          </a:xfrm>
          <a:prstGeom prst="rect">
            <a:avLst/>
          </a:prstGeom>
          <a:solidFill>
            <a:srgbClr val="F5F1E8"/>
          </a:solidFill>
          <a:ln w="12700">
            <a:solidFill>
              <a:srgbClr val="C9B991"/>
            </a:solidFill>
          </a:ln>
        </p:spPr>
        <p:txBody>
          <a:bodyPr wrap="square" lIns="91440" tIns="45720" rIns="91440" bIns="45720" anchor="ctr"/>
          <a:lstStyle/>
          <a:p>
            <a:pPr algn="ctr">
              <a:buNone/>
            </a:pPr>
            <a:r>
              <a:rPr lang="en-US" sz="1600" b="1" i="0" dirty="0">
                <a:solidFill>
                  <a:srgbClr val="5C4826"/>
                </a:solidFill>
              </a:rPr>
              <a:t>peak memory</a:t>
            </a:r>
          </a:p>
        </p:txBody>
      </p:sp>
      <p:sp>
        <p:nvSpPr>
          <p:cNvPr id="111" name="RowR0"/>
          <p:cNvSpPr/>
          <p:nvPr/>
        </p:nvSpPr>
        <p:spPr>
          <a:xfrm>
            <a:off x="3677147" y="1650000"/>
            <a:ext cx="5189704" cy="800000"/>
          </a:xfrm>
          <a:prstGeom prst="rect">
            <a:avLst/>
          </a:prstGeom>
          <a:solidFill>
            <a:srgbClr val="FBF8F2"/>
          </a:solidFill>
          <a:ln w="12700">
            <a:solidFill>
              <a:srgbClr val="C9B991"/>
            </a:solidFill>
          </a:ln>
        </p:spPr>
        <p:txBody>
          <a:bodyPr wrap="square" lIns="91440" tIns="45720" rIns="91440" bIns="45720" anchor="ctr"/>
          <a:lstStyle/>
          <a:p>
            <a:pPr algn="ctr">
              <a:buNone/>
            </a:pPr>
            <a:r>
              <a:rPr lang="en-US" sz="1600" b="0" i="0" dirty="0">
                <a:solidFill>
                  <a:srgbClr val="5C4826"/>
                </a:solidFill>
              </a:rPr>
              <a:t>memory model  ·  prototype measurement</a:t>
            </a:r>
          </a:p>
        </p:txBody>
      </p:sp>
      <p:sp>
        <p:nvSpPr>
          <p:cNvPr id="112" name="RowL1"/>
          <p:cNvSpPr/>
          <p:nvPr/>
        </p:nvSpPr>
        <p:spPr>
          <a:xfrm>
            <a:off x="277147" y="2454000"/>
            <a:ext cx="3300000" cy="800000"/>
          </a:xfrm>
          <a:prstGeom prst="rect">
            <a:avLst/>
          </a:prstGeom>
          <a:solidFill>
            <a:srgbClr val="F5F1E8"/>
          </a:solidFill>
          <a:ln w="12700">
            <a:solidFill>
              <a:srgbClr val="C9B991"/>
            </a:solidFill>
          </a:ln>
        </p:spPr>
        <p:txBody>
          <a:bodyPr wrap="square" lIns="91440" tIns="45720" rIns="91440" bIns="45720" anchor="ctr"/>
          <a:lstStyle/>
          <a:p>
            <a:pPr algn="ctr">
              <a:buNone/>
            </a:pPr>
            <a:r>
              <a:rPr lang="en-US" sz="1600" b="1" i="0" dirty="0">
                <a:solidFill>
                  <a:srgbClr val="5C4826"/>
                </a:solidFill>
              </a:rPr>
              <a:t>latency</a:t>
            </a:r>
          </a:p>
        </p:txBody>
      </p:sp>
      <p:sp>
        <p:nvSpPr>
          <p:cNvPr id="113" name="RowR1"/>
          <p:cNvSpPr/>
          <p:nvPr/>
        </p:nvSpPr>
        <p:spPr>
          <a:xfrm>
            <a:off x="3677147" y="2454000"/>
            <a:ext cx="5189704" cy="800000"/>
          </a:xfrm>
          <a:prstGeom prst="rect">
            <a:avLst/>
          </a:prstGeom>
          <a:solidFill>
            <a:srgbClr val="FBF8F2"/>
          </a:solidFill>
          <a:ln w="12700">
            <a:solidFill>
              <a:srgbClr val="C9B991"/>
            </a:solidFill>
          </a:ln>
        </p:spPr>
        <p:txBody>
          <a:bodyPr wrap="square" lIns="91440" tIns="45720" rIns="91440" bIns="45720" anchor="ctr"/>
          <a:lstStyle/>
          <a:p>
            <a:pPr algn="ctr">
              <a:buNone/>
            </a:pPr>
            <a:r>
              <a:rPr lang="en-US" sz="1600" b="0" i="0" dirty="0">
                <a:solidFill>
                  <a:srgbClr val="5C4826"/>
                </a:solidFill>
              </a:rPr>
              <a:t>analytical model  ·  benchmark</a:t>
            </a:r>
          </a:p>
        </p:txBody>
      </p:sp>
      <p:sp>
        <p:nvSpPr>
          <p:cNvPr id="114" name="RowL2"/>
          <p:cNvSpPr/>
          <p:nvPr/>
        </p:nvSpPr>
        <p:spPr>
          <a:xfrm>
            <a:off x="277147" y="3258000"/>
            <a:ext cx="3300000" cy="800000"/>
          </a:xfrm>
          <a:prstGeom prst="rect">
            <a:avLst/>
          </a:prstGeom>
          <a:solidFill>
            <a:srgbClr val="F5F1E8"/>
          </a:solidFill>
          <a:ln w="12700">
            <a:solidFill>
              <a:srgbClr val="C9B991"/>
            </a:solidFill>
          </a:ln>
        </p:spPr>
        <p:txBody>
          <a:bodyPr wrap="square" lIns="91440" tIns="45720" rIns="91440" bIns="45720" anchor="ctr"/>
          <a:lstStyle/>
          <a:p>
            <a:pPr algn="ctr">
              <a:buNone/>
            </a:pPr>
            <a:r>
              <a:rPr lang="en-US" sz="1600" b="1" i="0" dirty="0">
                <a:solidFill>
                  <a:srgbClr val="5C4826"/>
                </a:solidFill>
              </a:rPr>
              <a:t>safety under concurrency</a:t>
            </a:r>
          </a:p>
        </p:txBody>
      </p:sp>
      <p:sp>
        <p:nvSpPr>
          <p:cNvPr id="115" name="RowR2"/>
          <p:cNvSpPr/>
          <p:nvPr/>
        </p:nvSpPr>
        <p:spPr>
          <a:xfrm>
            <a:off x="3677147" y="3258000"/>
            <a:ext cx="5189704" cy="800000"/>
          </a:xfrm>
          <a:prstGeom prst="rect">
            <a:avLst/>
          </a:prstGeom>
          <a:solidFill>
            <a:srgbClr val="FBF8F2"/>
          </a:solidFill>
          <a:ln w="12700">
            <a:solidFill>
              <a:srgbClr val="C9B991"/>
            </a:solidFill>
          </a:ln>
        </p:spPr>
        <p:txBody>
          <a:bodyPr wrap="square" lIns="91440" tIns="45720" rIns="91440" bIns="45720" anchor="ctr"/>
          <a:lstStyle/>
          <a:p>
            <a:pPr algn="ctr">
              <a:buNone/>
            </a:pPr>
            <a:r>
              <a:rPr lang="en-US" sz="1600" b="0" i="0" dirty="0">
                <a:solidFill>
                  <a:srgbClr val="5C4826"/>
                </a:solidFill>
              </a:rPr>
              <a:t>lifecycle / state model</a:t>
            </a:r>
          </a:p>
        </p:txBody>
      </p:sp>
      <p:sp>
        <p:nvSpPr>
          <p:cNvPr id="116" name="RowL3"/>
          <p:cNvSpPr/>
          <p:nvPr/>
        </p:nvSpPr>
        <p:spPr>
          <a:xfrm>
            <a:off x="277147" y="4062000"/>
            <a:ext cx="3300000" cy="800000"/>
          </a:xfrm>
          <a:prstGeom prst="rect">
            <a:avLst/>
          </a:prstGeom>
          <a:solidFill>
            <a:srgbClr val="F5F1E8"/>
          </a:solidFill>
          <a:ln w="12700">
            <a:solidFill>
              <a:srgbClr val="C9B991"/>
            </a:solidFill>
          </a:ln>
        </p:spPr>
        <p:txBody>
          <a:bodyPr wrap="square" lIns="91440" tIns="45720" rIns="91440" bIns="45720" anchor="ctr"/>
          <a:lstStyle/>
          <a:p>
            <a:pPr algn="ctr">
              <a:buNone/>
            </a:pPr>
            <a:r>
              <a:rPr lang="en-US" sz="1600" b="1" i="0" dirty="0">
                <a:solidFill>
                  <a:srgbClr val="5C4826"/>
                </a:solidFill>
              </a:rPr>
              <a:t>implementation complexity</a:t>
            </a:r>
          </a:p>
        </p:txBody>
      </p:sp>
      <p:sp>
        <p:nvSpPr>
          <p:cNvPr id="117" name="RowR3"/>
          <p:cNvSpPr/>
          <p:nvPr/>
        </p:nvSpPr>
        <p:spPr>
          <a:xfrm>
            <a:off x="3677147" y="4062000"/>
            <a:ext cx="5189704" cy="800000"/>
          </a:xfrm>
          <a:prstGeom prst="rect">
            <a:avLst/>
          </a:prstGeom>
          <a:solidFill>
            <a:srgbClr val="FBF8F2"/>
          </a:solidFill>
          <a:ln w="12700">
            <a:solidFill>
              <a:srgbClr val="C9B991"/>
            </a:solidFill>
          </a:ln>
        </p:spPr>
        <p:txBody>
          <a:bodyPr wrap="square" lIns="91440" tIns="45720" rIns="91440" bIns="45720" anchor="ctr"/>
          <a:lstStyle/>
          <a:p>
            <a:pPr algn="ctr">
              <a:buNone/>
            </a:pPr>
            <a:r>
              <a:rPr lang="en-US" sz="1600" b="0" i="0" dirty="0">
                <a:solidFill>
                  <a:srgbClr val="5C4826"/>
                </a:solidFill>
              </a:rPr>
              <a:t>build two small versions and compare</a:t>
            </a:r>
          </a:p>
        </p:txBody>
      </p:sp>
      <p:sp>
        <p:nvSpPr>
          <p:cNvPr id="130" name="ItalicLine"/>
          <p:cNvSpPr txBox="1"/>
          <p:nvPr/>
        </p:nvSpPr>
        <p:spPr>
          <a:xfrm>
            <a:off x="277148" y="5150000"/>
            <a:ext cx="8589704" cy="420000"/>
          </a:xfrm>
          <a:prstGeom prst="rect">
            <a:avLst/>
          </a:prstGeom>
          <a:noFill/>
          <a:ln>
            <a:noFill/>
          </a:ln>
        </p:spPr>
        <p:txBody>
          <a:bodyPr wrap="square" lIns="0" tIns="0" rIns="0" bIns="0" anchor="t"/>
          <a:lstStyle/>
          <a:p>
            <a:pPr algn="ctr">
              <a:buNone/>
            </a:pPr>
            <a:r>
              <a:rPr lang="en-US" sz="1800" b="0" i="1" dirty="0">
                <a:solidFill>
                  <a:srgbClr val="000000"/>
                </a:solidFill>
              </a:rPr>
              <a:t>Models, benchmarks, prototypes, implementations: ways of buying information about a choice.</a:t>
            </a:r>
          </a:p>
        </p:txBody>
      </p:sp>
      <p:sp>
        <p:nvSpPr>
          <p:cNvPr id="131" name="FooterBand"/>
          <p:cNvSpPr/>
          <p:nvPr/>
        </p:nvSpPr>
        <p:spPr>
          <a:xfrm>
            <a:off x="274320" y="5852160"/>
            <a:ext cx="8595360" cy="566928"/>
          </a:xfrm>
          <a:prstGeom prst="rect">
            <a:avLst/>
          </a:prstGeom>
          <a:solidFill>
            <a:srgbClr val="8E6F3E"/>
          </a:solidFill>
          <a:ln>
            <a:noFill/>
          </a:ln>
        </p:spPr>
        <p:txBody>
          <a:bodyPr wrap="square" lIns="91440" tIns="45720" rIns="91440" bIns="45720" anchor="ctr"/>
          <a:lstStyle/>
          <a:p>
            <a:pPr algn="ctr">
              <a:buNone/>
            </a:pPr>
            <a:r>
              <a:rPr lang="en-US" sz="1800" b="1" i="0" dirty="0">
                <a:solidFill>
                  <a:srgbClr val="FFFFFF"/>
                </a:solidFill>
              </a:rPr>
              <a:t>Use the smallest evidence that exposes the consequential difference — then decide.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148" y="118428"/>
            <a:ext cx="8590000" cy="638175"/>
          </a:xfrm>
        </p:spPr>
        <p:txBody>
          <a:bodyPr>
            <a:normAutofit fontScale="90000"/>
          </a:bodyPr>
          <a:lstStyle/>
          <a:p>
            <a:pPr>
              <a:buNone/>
              <a:defRPr b="0"/>
            </a:pPr>
            <a:r>
              <a:rPr lang="en-US" sz="2400" b="0" i="0" dirty="0">
                <a:solidFill>
                  <a:srgbClr val="000000"/>
                </a:solidFill>
              </a:rPr>
              <a:t>Example: Who owns the truth?</a:t>
            </a:r>
          </a:p>
        </p:txBody>
      </p:sp>
      <p:sp>
        <p:nvSpPr>
          <p:cNvPr id="3" name="Slide Number Placeholder 3"/>
          <p:cNvSpPr>
            <a:spLocks noGrp="1"/>
          </p:cNvSpPr>
          <p:nvPr>
            <p:ph type="sldNum" sz="quarter" idx="4"/>
          </p:nvPr>
        </p:nvSpPr>
        <p:spPr/>
        <p:txBody>
          <a:bodyPr/>
          <a:lstStyle/>
          <a:p>
            <a:fld id="{B7EB45DA-9A0D-DC49-8E02-F30A5DDC21C3}" type="slidenum">
              <a:rPr lang="en-US" smtClean="0"/>
              <a:t>15</a:t>
            </a:fld>
            <a:endParaRPr lang="en-US"/>
          </a:p>
        </p:txBody>
      </p:sp>
      <p:sp>
        <p:nvSpPr>
          <p:cNvPr id="100" name="S100"/>
          <p:cNvSpPr/>
          <p:nvPr/>
        </p:nvSpPr>
        <p:spPr>
          <a:xfrm>
            <a:off x="2802000" y="1016749"/>
            <a:ext cx="3540000" cy="820000"/>
          </a:xfrm>
          <a:prstGeom prst="rect">
            <a:avLst/>
          </a:prstGeom>
          <a:solidFill>
            <a:srgbClr val="8E6F3E"/>
          </a:solidFill>
          <a:ln>
            <a:noFill/>
          </a:ln>
        </p:spPr>
        <p:txBody>
          <a:bodyPr wrap="square" lIns="91440" tIns="45720" rIns="91440" bIns="45720" anchor="ctr"/>
          <a:lstStyle/>
          <a:p>
            <a:pPr algn="ctr">
              <a:buNone/>
            </a:pPr>
            <a:r>
              <a:rPr lang="en-US" sz="2200" b="1" i="0" dirty="0">
                <a:solidFill>
                  <a:srgbClr val="FFFFFF"/>
                </a:solidFill>
              </a:rPr>
              <a:t>AUTHORITATIVE STATE</a:t>
            </a:r>
          </a:p>
        </p:txBody>
      </p:sp>
      <p:sp>
        <p:nvSpPr>
          <p:cNvPr id="101" name="S101"/>
          <p:cNvSpPr/>
          <p:nvPr/>
        </p:nvSpPr>
        <p:spPr>
          <a:xfrm>
            <a:off x="1773040" y="2377749"/>
            <a:ext cx="2360000" cy="740000"/>
          </a:xfrm>
          <a:prstGeom prst="rect">
            <a:avLst/>
          </a:prstGeom>
          <a:solidFill>
            <a:srgbClr val="F5F1E8"/>
          </a:solidFill>
          <a:ln w="12700">
            <a:solidFill>
              <a:srgbClr val="C9B991"/>
            </a:solidFill>
          </a:ln>
        </p:spPr>
        <p:txBody>
          <a:bodyPr wrap="square" lIns="91440" tIns="45720" rIns="91440" bIns="45720" anchor="ctr"/>
          <a:lstStyle/>
          <a:p>
            <a:pPr algn="ctr">
              <a:buNone/>
            </a:pPr>
            <a:r>
              <a:rPr lang="en-US" sz="2200" b="1" i="0" dirty="0">
                <a:solidFill>
                  <a:srgbClr val="5C4826"/>
                </a:solidFill>
              </a:rPr>
              <a:t>CACHE</a:t>
            </a:r>
          </a:p>
        </p:txBody>
      </p:sp>
      <p:sp>
        <p:nvSpPr>
          <p:cNvPr id="102" name="S102"/>
          <p:cNvSpPr/>
          <p:nvPr/>
        </p:nvSpPr>
        <p:spPr>
          <a:xfrm>
            <a:off x="5010960" y="2377749"/>
            <a:ext cx="2360000" cy="740000"/>
          </a:xfrm>
          <a:prstGeom prst="rect">
            <a:avLst/>
          </a:prstGeom>
          <a:solidFill>
            <a:srgbClr val="F5F1E8"/>
          </a:solidFill>
          <a:ln w="12700">
            <a:solidFill>
              <a:srgbClr val="C9B991"/>
            </a:solidFill>
          </a:ln>
        </p:spPr>
        <p:txBody>
          <a:bodyPr wrap="square" lIns="91440" tIns="45720" rIns="91440" bIns="45720" anchor="ctr"/>
          <a:lstStyle/>
          <a:p>
            <a:pPr algn="ctr">
              <a:buNone/>
            </a:pPr>
            <a:r>
              <a:rPr lang="en-US" sz="2200" b="1" i="0" dirty="0">
                <a:solidFill>
                  <a:srgbClr val="5C4826"/>
                </a:solidFill>
              </a:rPr>
              <a:t>DERIVED VIEW</a:t>
            </a:r>
          </a:p>
        </p:txBody>
      </p:sp>
      <p:cxnSp>
        <p:nvCxnSpPr>
          <p:cNvPr id="103" name="L103"/>
          <p:cNvCxnSpPr/>
          <p:nvPr/>
        </p:nvCxnSpPr>
        <p:spPr>
          <a:xfrm flipH="1">
            <a:off x="3746000" y="1836749"/>
            <a:ext cx="590000" cy="541000"/>
          </a:xfrm>
          <a:prstGeom prst="straightConnector1">
            <a:avLst/>
          </a:prstGeom>
          <a:ln w="38100">
            <a:solidFill>
              <a:srgbClr val="8E6F3E"/>
            </a:solidFill>
            <a:tailEnd type="triangle" w="med" len="med"/>
          </a:ln>
        </p:spPr>
      </p:cxnSp>
      <p:cxnSp>
        <p:nvCxnSpPr>
          <p:cNvPr id="104" name="L104"/>
          <p:cNvCxnSpPr/>
          <p:nvPr/>
        </p:nvCxnSpPr>
        <p:spPr>
          <a:xfrm>
            <a:off x="4808000" y="1836749"/>
            <a:ext cx="590000" cy="541000"/>
          </a:xfrm>
          <a:prstGeom prst="straightConnector1">
            <a:avLst/>
          </a:prstGeom>
          <a:ln w="38100">
            <a:solidFill>
              <a:srgbClr val="8E6F3E"/>
            </a:solidFill>
            <a:tailEnd type="triangle" w="med" len="med"/>
          </a:ln>
        </p:spPr>
      </p:cxnSp>
      <p:sp>
        <p:nvSpPr>
          <p:cNvPr id="105" name="S105"/>
          <p:cNvSpPr/>
          <p:nvPr/>
        </p:nvSpPr>
        <p:spPr>
          <a:xfrm>
            <a:off x="685800" y="3400000"/>
            <a:ext cx="7772400" cy="640000"/>
          </a:xfrm>
          <a:prstGeom prst="rect">
            <a:avLst/>
          </a:prstGeom>
          <a:solidFill>
            <a:srgbClr val="FBF8F2"/>
          </a:solidFill>
          <a:ln w="12700">
            <a:solidFill>
              <a:srgbClr val="C9B991"/>
            </a:solidFill>
          </a:ln>
        </p:spPr>
        <p:txBody>
          <a:bodyPr wrap="square" lIns="91440" tIns="45720" rIns="91440" bIns="45720" anchor="ctr"/>
          <a:lstStyle/>
          <a:p>
            <a:pPr algn="ctr">
              <a:buNone/>
            </a:pPr>
            <a:r>
              <a:rPr lang="en-US" sz="2000" b="1" i="0" dirty="0">
                <a:solidFill>
                  <a:srgbClr val="5C4826"/>
                </a:solidFill>
              </a:rPr>
              <a:t>authoritative  ·  derived  ·  cached  ·  replicated</a:t>
            </a:r>
          </a:p>
        </p:txBody>
      </p:sp>
      <p:sp>
        <p:nvSpPr>
          <p:cNvPr id="106" name="FooterItalic"/>
          <p:cNvSpPr txBox="1"/>
          <p:nvPr/>
        </p:nvSpPr>
        <p:spPr>
          <a:xfrm>
            <a:off x="277148" y="4260000"/>
            <a:ext cx="8589704" cy="365760"/>
          </a:xfrm>
          <a:prstGeom prst="rect">
            <a:avLst/>
          </a:prstGeom>
          <a:noFill/>
          <a:ln>
            <a:noFill/>
          </a:ln>
        </p:spPr>
        <p:txBody>
          <a:bodyPr wrap="square" lIns="0" tIns="0" rIns="0" bIns="0" anchor="t"/>
          <a:lstStyle/>
          <a:p>
            <a:pPr algn="ctr">
              <a:buNone/>
            </a:pPr>
            <a:r>
              <a:rPr lang="en-US" sz="2000" b="0" i="1" dirty="0">
                <a:solidFill>
                  <a:srgbClr val="000000"/>
                </a:solidFill>
              </a:rPr>
              <a:t>When representations disagree, which one wins?</a:t>
            </a:r>
          </a:p>
        </p:txBody>
      </p:sp>
      <p:grpSp>
        <p:nvGrpSpPr>
          <p:cNvPr id="200" name="MetricBeat"/>
          <p:cNvGrpSpPr/>
          <p:nvPr/>
        </p:nvGrpSpPr>
        <p:grpSpPr>
          <a:xfrm>
            <a:off x="274320" y="4892040"/>
            <a:ext cx="8595360" cy="1051560"/>
            <a:chOff x="274320" y="4892040"/>
            <a:chExt cx="8595360" cy="1051560"/>
          </a:xfrm>
        </p:grpSpPr>
        <p:sp>
          <p:nvSpPr>
            <p:cNvPr id="201" name="MeasureChip"/>
            <p:cNvSpPr/>
            <p:nvPr/>
          </p:nvSpPr>
          <p:spPr>
            <a:xfrm>
              <a:off x="274320" y="4892040"/>
              <a:ext cx="1280160" cy="475488"/>
            </a:xfrm>
            <a:prstGeom prst="rect">
              <a:avLst/>
            </a:prstGeom>
            <a:solidFill>
              <a:srgbClr val="8E6F3E"/>
            </a:solidFill>
            <a:ln>
              <a:noFill/>
            </a:ln>
          </p:spPr>
          <p:txBody>
            <a:bodyPr wrap="square" lIns="45720" tIns="22860" rIns="45720" bIns="22860" anchor="ctr"/>
            <a:lstStyle/>
            <a:p>
              <a:pPr algn="ctr">
                <a:buNone/>
              </a:pPr>
              <a:r>
                <a:rPr lang="en-US" sz="1300" b="1" i="0" dirty="0">
                  <a:solidFill>
                    <a:srgbClr val="FFFFFF"/>
                  </a:solidFill>
                </a:rPr>
                <a:t>MEASURE</a:t>
              </a:r>
            </a:p>
          </p:txBody>
        </p:sp>
        <p:sp>
          <p:nvSpPr>
            <p:cNvPr id="202" name="MeasureText"/>
            <p:cNvSpPr txBox="1"/>
            <p:nvPr/>
          </p:nvSpPr>
          <p:spPr>
            <a:xfrm>
              <a:off x="1737360" y="4892040"/>
              <a:ext cx="7132320" cy="475488"/>
            </a:xfrm>
            <a:prstGeom prst="rect">
              <a:avLst/>
            </a:prstGeom>
            <a:noFill/>
            <a:ln>
              <a:noFill/>
            </a:ln>
          </p:spPr>
          <p:txBody>
            <a:bodyPr wrap="square" lIns="0" tIns="0" rIns="0" bIns="0" anchor="ctr"/>
            <a:lstStyle/>
            <a:p>
              <a:pPr algn="l">
                <a:buNone/>
              </a:pPr>
              <a:r>
                <a:rPr lang="en-US" sz="1500" b="0" i="0" dirty="0">
                  <a:solidFill>
                    <a:srgbClr val="5C4826"/>
                  </a:solidFill>
                </a:rPr>
                <a:t>authoritative writers per fact  ·  coordination per update  ·  conflict &amp; reconciliation cases</a:t>
              </a:r>
            </a:p>
          </p:txBody>
        </p:sp>
        <p:sp>
          <p:nvSpPr>
            <p:cNvPr id="203" name="InformsChip"/>
            <p:cNvSpPr/>
            <p:nvPr/>
          </p:nvSpPr>
          <p:spPr>
            <a:xfrm>
              <a:off x="274320" y="5468112"/>
              <a:ext cx="1280160" cy="475488"/>
            </a:xfrm>
            <a:prstGeom prst="rect">
              <a:avLst/>
            </a:prstGeom>
            <a:solidFill>
              <a:srgbClr val="5C4826"/>
            </a:solidFill>
            <a:ln>
              <a:noFill/>
            </a:ln>
          </p:spPr>
          <p:txBody>
            <a:bodyPr wrap="square" lIns="45720" tIns="22860" rIns="45720" bIns="22860" anchor="ctr"/>
            <a:lstStyle/>
            <a:p>
              <a:pPr algn="ctr">
                <a:buNone/>
              </a:pPr>
              <a:r>
                <a:rPr lang="en-US" sz="1300" b="1" i="0" dirty="0">
                  <a:solidFill>
                    <a:srgbClr val="FFFFFF"/>
                  </a:solidFill>
                </a:rPr>
                <a:t>INFORMS</a:t>
              </a:r>
            </a:p>
          </p:txBody>
        </p:sp>
        <p:sp>
          <p:nvSpPr>
            <p:cNvPr id="204" name="InformsText"/>
            <p:cNvSpPr txBox="1"/>
            <p:nvPr/>
          </p:nvSpPr>
          <p:spPr>
            <a:xfrm>
              <a:off x="1737360" y="5468112"/>
              <a:ext cx="7132320" cy="475488"/>
            </a:xfrm>
            <a:prstGeom prst="rect">
              <a:avLst/>
            </a:prstGeom>
            <a:noFill/>
            <a:ln>
              <a:noFill/>
            </a:ln>
          </p:spPr>
          <p:txBody>
            <a:bodyPr wrap="square" lIns="0" tIns="0" rIns="0" bIns="0" anchor="ctr"/>
            <a:lstStyle/>
            <a:p>
              <a:pPr algn="l">
                <a:buNone/>
              </a:pPr>
              <a:r>
                <a:rPr lang="en-US" sz="1500" b="1" i="0" dirty="0">
                  <a:solidFill>
                    <a:srgbClr val="5C4826"/>
                  </a:solidFill>
                </a:rPr>
                <a:t>Architecture:</a:t>
              </a:r>
              <a:r>
                <a:rPr lang="en-US" sz="1500" b="0" i="0" dirty="0">
                  <a:solidFill>
                    <a:srgbClr val="5C4826"/>
                  </a:solidFill>
                </a:rPr>
                <a:t> autonomy &amp; coupling</a:t>
              </a:r>
            </a:p>
            <a:p>
              <a:pPr algn="l">
                <a:buNone/>
              </a:pPr>
              <a:r>
                <a:rPr lang="en-US" sz="1500" b="1" i="0" dirty="0">
                  <a:solidFill>
                    <a:srgbClr val="5C4826"/>
                  </a:solidFill>
                </a:rPr>
                <a:t>Specification:</a:t>
              </a:r>
              <a:r>
                <a:rPr lang="en-US" sz="1500" b="0" i="0" dirty="0">
                  <a:solidFill>
                    <a:srgbClr val="5C4826"/>
                  </a:solidFill>
                </a:rPr>
                <a:t> correctness — if conflicts are externally visible</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0"/>
                                        </p:tgtEl>
                                        <p:attrNameLst>
                                          <p:attrName>style.visibility</p:attrName>
                                        </p:attrNameLst>
                                      </p:cBhvr>
                                      <p:to>
                                        <p:strVal val="visible"/>
                                      </p:to>
                                    </p:set>
                                    <p:animEffect transition="in" filter="fade">
                                      <p:cBhvr>
                                        <p:cTn id="7" dur="500"/>
                                        <p:tgtEl>
                                          <p:spTgt spid="2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148" y="118428"/>
            <a:ext cx="8590000" cy="638175"/>
          </a:xfrm>
        </p:spPr>
        <p:txBody>
          <a:bodyPr>
            <a:normAutofit fontScale="90000"/>
          </a:bodyPr>
          <a:lstStyle/>
          <a:p>
            <a:pPr>
              <a:buNone/>
              <a:defRPr b="0"/>
            </a:pPr>
            <a:r>
              <a:rPr lang="en-US" sz="2400" b="0" i="0" dirty="0">
                <a:solidFill>
                  <a:srgbClr val="000000"/>
                </a:solidFill>
              </a:rPr>
              <a:t>Example: What consistency must copies provide?</a:t>
            </a:r>
          </a:p>
        </p:txBody>
      </p:sp>
      <p:sp>
        <p:nvSpPr>
          <p:cNvPr id="3" name="Slide Number Placeholder 3"/>
          <p:cNvSpPr>
            <a:spLocks noGrp="1"/>
          </p:cNvSpPr>
          <p:nvPr>
            <p:ph type="sldNum" sz="quarter" idx="4"/>
          </p:nvPr>
        </p:nvSpPr>
        <p:spPr/>
        <p:txBody>
          <a:bodyPr/>
          <a:lstStyle/>
          <a:p>
            <a:fld id="{B7EB45DA-9A0D-DC49-8E02-F30A5DDC21C3}" type="slidenum">
              <a:rPr lang="en-US" smtClean="0"/>
              <a:t>16</a:t>
            </a:fld>
            <a:endParaRPr lang="en-US"/>
          </a:p>
        </p:txBody>
      </p:sp>
      <p:sp>
        <p:nvSpPr>
          <p:cNvPr id="100" name="S100"/>
          <p:cNvSpPr/>
          <p:nvPr/>
        </p:nvSpPr>
        <p:spPr>
          <a:xfrm>
            <a:off x="312799" y="1000000"/>
            <a:ext cx="3960000" cy="640000"/>
          </a:xfrm>
          <a:prstGeom prst="rect">
            <a:avLst/>
          </a:prstGeom>
          <a:solidFill>
            <a:srgbClr val="8E6F3E"/>
          </a:solidFill>
          <a:ln>
            <a:noFill/>
          </a:ln>
        </p:spPr>
        <p:txBody>
          <a:bodyPr wrap="square" lIns="91440" tIns="45720" rIns="91440" bIns="45720" anchor="ctr"/>
          <a:lstStyle/>
          <a:p>
            <a:pPr algn="ctr">
              <a:buNone/>
            </a:pPr>
            <a:r>
              <a:rPr lang="en-US" sz="2600" b="1" i="0" dirty="0">
                <a:solidFill>
                  <a:srgbClr val="FFFFFF"/>
                </a:solidFill>
              </a:rPr>
              <a:t>OPTION A</a:t>
            </a:r>
          </a:p>
        </p:txBody>
      </p:sp>
      <p:sp>
        <p:nvSpPr>
          <p:cNvPr id="101" name="S101"/>
          <p:cNvSpPr/>
          <p:nvPr/>
        </p:nvSpPr>
        <p:spPr>
          <a:xfrm>
            <a:off x="312799" y="1750000"/>
            <a:ext cx="3960000" cy="1300000"/>
          </a:xfrm>
          <a:prstGeom prst="rect">
            <a:avLst/>
          </a:prstGeom>
          <a:solidFill>
            <a:srgbClr val="F5F1E8"/>
          </a:solidFill>
          <a:ln w="12700">
            <a:solidFill>
              <a:srgbClr val="C9B991"/>
            </a:solidFill>
          </a:ln>
        </p:spPr>
        <p:txBody>
          <a:bodyPr wrap="square" lIns="91440" tIns="45720" rIns="91440" bIns="45720" anchor="ctr"/>
          <a:lstStyle/>
          <a:p>
            <a:pPr algn="ctr">
              <a:buNone/>
            </a:pPr>
            <a:r>
              <a:rPr lang="en-US" sz="2300" b="0" i="0" dirty="0">
                <a:solidFill>
                  <a:srgbClr val="000000"/>
                </a:solidFill>
              </a:rPr>
              <a:t>Readers must observe the latest completed write</a:t>
            </a:r>
          </a:p>
        </p:txBody>
      </p:sp>
      <p:sp>
        <p:nvSpPr>
          <p:cNvPr id="102" name="S102"/>
          <p:cNvSpPr/>
          <p:nvPr/>
        </p:nvSpPr>
        <p:spPr>
          <a:xfrm>
            <a:off x="4871200" y="1000000"/>
            <a:ext cx="3960000" cy="640000"/>
          </a:xfrm>
          <a:prstGeom prst="rect">
            <a:avLst/>
          </a:prstGeom>
          <a:solidFill>
            <a:srgbClr val="8E6F3E"/>
          </a:solidFill>
          <a:ln>
            <a:noFill/>
          </a:ln>
        </p:spPr>
        <p:txBody>
          <a:bodyPr wrap="square" lIns="91440" tIns="45720" rIns="91440" bIns="45720" anchor="ctr"/>
          <a:lstStyle/>
          <a:p>
            <a:pPr algn="ctr">
              <a:buNone/>
            </a:pPr>
            <a:r>
              <a:rPr lang="en-US" sz="2600" b="1" i="0" dirty="0">
                <a:solidFill>
                  <a:srgbClr val="FFFFFF"/>
                </a:solidFill>
              </a:rPr>
              <a:t>OPTION B</a:t>
            </a:r>
          </a:p>
        </p:txBody>
      </p:sp>
      <p:sp>
        <p:nvSpPr>
          <p:cNvPr id="103" name="S103"/>
          <p:cNvSpPr/>
          <p:nvPr/>
        </p:nvSpPr>
        <p:spPr>
          <a:xfrm>
            <a:off x="4871200" y="1750000"/>
            <a:ext cx="3960000" cy="1300000"/>
          </a:xfrm>
          <a:prstGeom prst="rect">
            <a:avLst/>
          </a:prstGeom>
          <a:solidFill>
            <a:srgbClr val="F5F1E8"/>
          </a:solidFill>
          <a:ln w="12700">
            <a:solidFill>
              <a:srgbClr val="C9B991"/>
            </a:solidFill>
          </a:ln>
        </p:spPr>
        <p:txBody>
          <a:bodyPr wrap="square" lIns="91440" tIns="45720" rIns="91440" bIns="45720" anchor="ctr"/>
          <a:lstStyle/>
          <a:p>
            <a:pPr algn="ctr">
              <a:buNone/>
            </a:pPr>
            <a:r>
              <a:rPr lang="en-US" sz="2300" b="0" i="0" dirty="0">
                <a:solidFill>
                  <a:srgbClr val="000000"/>
                </a:solidFill>
              </a:rPr>
              <a:t>Readers may temporarily observe an older value</a:t>
            </a:r>
          </a:p>
        </p:txBody>
      </p:sp>
      <p:sp>
        <p:nvSpPr>
          <p:cNvPr id="104" name="Conseq"/>
          <p:cNvSpPr txBox="1"/>
          <p:nvPr/>
        </p:nvSpPr>
        <p:spPr>
          <a:xfrm>
            <a:off x="274320" y="3700000"/>
            <a:ext cx="8595360" cy="500000"/>
          </a:xfrm>
          <a:prstGeom prst="rect">
            <a:avLst/>
          </a:prstGeom>
          <a:noFill/>
          <a:ln>
            <a:noFill/>
          </a:ln>
        </p:spPr>
        <p:txBody>
          <a:bodyPr wrap="square" lIns="0" tIns="0" rIns="0" bIns="0" anchor="t"/>
          <a:lstStyle/>
          <a:p>
            <a:pPr algn="ctr">
              <a:buNone/>
            </a:pPr>
            <a:r>
              <a:rPr lang="en-US" sz="2300" b="0" i="1" dirty="0">
                <a:solidFill>
                  <a:srgbClr val="555960"/>
                </a:solidFill>
              </a:rPr>
              <a:t>Replication does not determine consistency. The Specification does.</a:t>
            </a:r>
          </a:p>
        </p:txBody>
      </p:sp>
      <p:grpSp>
        <p:nvGrpSpPr>
          <p:cNvPr id="200" name="MetricBeat"/>
          <p:cNvGrpSpPr/>
          <p:nvPr/>
        </p:nvGrpSpPr>
        <p:grpSpPr>
          <a:xfrm>
            <a:off x="274320" y="4892040"/>
            <a:ext cx="8595360" cy="1051560"/>
            <a:chOff x="274320" y="4892040"/>
            <a:chExt cx="8595360" cy="1051560"/>
          </a:xfrm>
        </p:grpSpPr>
        <p:sp>
          <p:nvSpPr>
            <p:cNvPr id="201" name="MeasureChip"/>
            <p:cNvSpPr/>
            <p:nvPr/>
          </p:nvSpPr>
          <p:spPr>
            <a:xfrm>
              <a:off x="274320" y="4892040"/>
              <a:ext cx="1280160" cy="475488"/>
            </a:xfrm>
            <a:prstGeom prst="rect">
              <a:avLst/>
            </a:prstGeom>
            <a:solidFill>
              <a:srgbClr val="8E6F3E"/>
            </a:solidFill>
            <a:ln>
              <a:noFill/>
            </a:ln>
          </p:spPr>
          <p:txBody>
            <a:bodyPr wrap="square" lIns="45720" tIns="22860" rIns="45720" bIns="22860" anchor="ctr"/>
            <a:lstStyle/>
            <a:p>
              <a:pPr algn="ctr">
                <a:buNone/>
              </a:pPr>
              <a:r>
                <a:rPr lang="en-US" sz="1300" b="1" i="0" dirty="0">
                  <a:solidFill>
                    <a:srgbClr val="FFFFFF"/>
                  </a:solidFill>
                </a:rPr>
                <a:t>MEASURE</a:t>
              </a:r>
            </a:p>
          </p:txBody>
        </p:sp>
        <p:sp>
          <p:nvSpPr>
            <p:cNvPr id="202" name="MeasureText"/>
            <p:cNvSpPr txBox="1"/>
            <p:nvPr/>
          </p:nvSpPr>
          <p:spPr>
            <a:xfrm>
              <a:off x="1737360" y="4892040"/>
              <a:ext cx="7132320" cy="475488"/>
            </a:xfrm>
            <a:prstGeom prst="rect">
              <a:avLst/>
            </a:prstGeom>
            <a:noFill/>
            <a:ln>
              <a:noFill/>
            </a:ln>
          </p:spPr>
          <p:txBody>
            <a:bodyPr wrap="square" lIns="0" tIns="0" rIns="0" bIns="0" anchor="ctr"/>
            <a:lstStyle/>
            <a:p>
              <a:pPr algn="l">
                <a:buNone/>
              </a:pPr>
              <a:r>
                <a:rPr lang="en-US" sz="1500" b="0" i="0" dirty="0">
                  <a:solidFill>
                    <a:srgbClr val="5C4826"/>
                  </a:solidFill>
                </a:rPr>
                <a:t>stale-read window  ·  propagation latency  ·  round-trips  ·  availability under failure</a:t>
              </a:r>
            </a:p>
          </p:txBody>
        </p:sp>
        <p:sp>
          <p:nvSpPr>
            <p:cNvPr id="203" name="InformsChip"/>
            <p:cNvSpPr/>
            <p:nvPr/>
          </p:nvSpPr>
          <p:spPr>
            <a:xfrm>
              <a:off x="274320" y="5468112"/>
              <a:ext cx="1280160" cy="475488"/>
            </a:xfrm>
            <a:prstGeom prst="rect">
              <a:avLst/>
            </a:prstGeom>
            <a:solidFill>
              <a:srgbClr val="5C4826"/>
            </a:solidFill>
            <a:ln>
              <a:noFill/>
            </a:ln>
          </p:spPr>
          <p:txBody>
            <a:bodyPr wrap="square" lIns="45720" tIns="22860" rIns="45720" bIns="22860" anchor="ctr"/>
            <a:lstStyle/>
            <a:p>
              <a:pPr algn="ctr">
                <a:buNone/>
              </a:pPr>
              <a:r>
                <a:rPr lang="en-US" sz="1300" b="1" i="0" dirty="0">
                  <a:solidFill>
                    <a:srgbClr val="FFFFFF"/>
                  </a:solidFill>
                </a:rPr>
                <a:t>INFORMS</a:t>
              </a:r>
            </a:p>
          </p:txBody>
        </p:sp>
        <p:sp>
          <p:nvSpPr>
            <p:cNvPr id="204" name="InformsText"/>
            <p:cNvSpPr txBox="1"/>
            <p:nvPr/>
          </p:nvSpPr>
          <p:spPr>
            <a:xfrm>
              <a:off x="1737360" y="5468112"/>
              <a:ext cx="7132320" cy="475488"/>
            </a:xfrm>
            <a:prstGeom prst="rect">
              <a:avLst/>
            </a:prstGeom>
            <a:noFill/>
            <a:ln>
              <a:noFill/>
            </a:ln>
          </p:spPr>
          <p:txBody>
            <a:bodyPr wrap="square" lIns="0" tIns="0" rIns="0" bIns="0" anchor="ctr"/>
            <a:lstStyle/>
            <a:p>
              <a:pPr algn="l">
                <a:buNone/>
              </a:pPr>
              <a:r>
                <a:rPr lang="en-US" sz="1500" b="1" i="0" dirty="0">
                  <a:solidFill>
                    <a:srgbClr val="5C4826"/>
                  </a:solidFill>
                </a:rPr>
                <a:t>Specification:</a:t>
              </a:r>
              <a:r>
                <a:rPr lang="en-US" sz="1500" b="0" i="0" dirty="0">
                  <a:solidFill>
                    <a:srgbClr val="5C4826"/>
                  </a:solidFill>
                </a:rPr>
                <a:t> the permitted observable behavior — its direct subject</a:t>
              </a:r>
            </a:p>
            <a:p>
              <a:pPr algn="l">
                <a:buNone/>
              </a:pPr>
              <a:r>
                <a:rPr lang="en-US" sz="1500" b="1" i="0" dirty="0">
                  <a:solidFill>
                    <a:srgbClr val="5C4826"/>
                  </a:solidFill>
                </a:rPr>
                <a:t>Architecture:</a:t>
              </a:r>
              <a:r>
                <a:rPr lang="en-US" sz="1500" b="0" i="0" dirty="0">
                  <a:solidFill>
                    <a:srgbClr val="5C4826"/>
                  </a:solidFill>
                </a:rPr>
                <a:t> coordination &amp; latency</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0"/>
                                        </p:tgtEl>
                                        <p:attrNameLst>
                                          <p:attrName>style.visibility</p:attrName>
                                        </p:attrNameLst>
                                      </p:cBhvr>
                                      <p:to>
                                        <p:strVal val="visible"/>
                                      </p:to>
                                    </p:set>
                                    <p:animEffect transition="in" filter="fade">
                                      <p:cBhvr>
                                        <p:cTn id="7" dur="500"/>
                                        <p:tgtEl>
                                          <p:spTgt spid="2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148" y="118428"/>
            <a:ext cx="8590000" cy="638175"/>
          </a:xfrm>
        </p:spPr>
        <p:txBody>
          <a:bodyPr>
            <a:normAutofit fontScale="90000"/>
          </a:bodyPr>
          <a:lstStyle/>
          <a:p>
            <a:pPr>
              <a:buNone/>
              <a:defRPr b="0"/>
            </a:pPr>
            <a:r>
              <a:rPr lang="en-US" sz="2400" b="0" i="0" dirty="0">
                <a:solidFill>
                  <a:srgbClr val="000000"/>
                </a:solidFill>
              </a:rPr>
              <a:t>Example: Must this work happen now?</a:t>
            </a:r>
          </a:p>
        </p:txBody>
      </p:sp>
      <p:sp>
        <p:nvSpPr>
          <p:cNvPr id="3" name="Slide Number Placeholder 3"/>
          <p:cNvSpPr>
            <a:spLocks noGrp="1"/>
          </p:cNvSpPr>
          <p:nvPr>
            <p:ph type="sldNum" sz="quarter" idx="4"/>
          </p:nvPr>
        </p:nvSpPr>
        <p:spPr/>
        <p:txBody>
          <a:bodyPr/>
          <a:lstStyle/>
          <a:p>
            <a:fld id="{B7EB45DA-9A0D-DC49-8E02-F30A5DDC21C3}" type="slidenum">
              <a:rPr lang="en-US" smtClean="0"/>
              <a:t>17</a:t>
            </a:fld>
            <a:endParaRPr lang="en-US"/>
          </a:p>
        </p:txBody>
      </p:sp>
      <p:sp>
        <p:nvSpPr>
          <p:cNvPr id="100" name="Label"/>
          <p:cNvSpPr txBox="1"/>
          <p:nvPr/>
        </p:nvSpPr>
        <p:spPr>
          <a:xfrm>
            <a:off x="312799" y="1028713"/>
            <a:ext cx="3960000" cy="567600"/>
          </a:xfrm>
          <a:prstGeom prst="rect">
            <a:avLst/>
          </a:prstGeom>
          <a:noFill/>
          <a:ln>
            <a:noFill/>
          </a:ln>
        </p:spPr>
        <p:txBody>
          <a:bodyPr wrap="square" lIns="0" tIns="0" rIns="0" bIns="0" anchor="t"/>
          <a:lstStyle/>
          <a:p>
            <a:pPr algn="ctr">
              <a:buNone/>
            </a:pPr>
            <a:r>
              <a:rPr lang="en-US" sz="2400" b="1" i="0" dirty="0">
                <a:solidFill>
                  <a:srgbClr val="8E6F3E"/>
                </a:solidFill>
              </a:rPr>
              <a:t>IMMEDIATE</a:t>
            </a:r>
          </a:p>
        </p:txBody>
      </p:sp>
      <p:sp>
        <p:nvSpPr>
          <p:cNvPr id="101" name="S101"/>
          <p:cNvSpPr/>
          <p:nvPr/>
        </p:nvSpPr>
        <p:spPr>
          <a:xfrm>
            <a:off x="312799" y="1600000"/>
            <a:ext cx="3960000" cy="1450000"/>
          </a:xfrm>
          <a:prstGeom prst="rect">
            <a:avLst/>
          </a:prstGeom>
          <a:solidFill>
            <a:srgbClr val="F5F1E8"/>
          </a:solidFill>
          <a:ln w="12700">
            <a:solidFill>
              <a:srgbClr val="C9B991"/>
            </a:solidFill>
          </a:ln>
        </p:spPr>
        <p:txBody>
          <a:bodyPr wrap="square" lIns="91440" tIns="45720" rIns="91440" bIns="45720" anchor="ctr"/>
          <a:lstStyle/>
          <a:p>
            <a:pPr algn="ctr">
              <a:buNone/>
            </a:pPr>
            <a:r>
              <a:rPr lang="en-US" sz="2100" b="0" i="0" dirty="0">
                <a:solidFill>
                  <a:srgbClr val="000000"/>
                </a:solidFill>
              </a:rPr>
              <a:t>request → work → result</a:t>
            </a:r>
          </a:p>
          <a:p>
            <a:pPr algn="ctr">
              <a:spcBef>
                <a:spcPts val="120"/>
              </a:spcBef>
              <a:buNone/>
            </a:pPr>
            <a:endParaRPr lang="en-US" sz="2100" b="0" i="0" dirty="0">
              <a:solidFill>
                <a:srgbClr val="000000"/>
              </a:solidFill>
            </a:endParaRPr>
          </a:p>
          <a:p>
            <a:pPr algn="ctr">
              <a:spcBef>
                <a:spcPts val="120"/>
              </a:spcBef>
              <a:buNone/>
            </a:pPr>
            <a:r>
              <a:rPr lang="en-US" sz="2100" b="0" i="0" dirty="0">
                <a:solidFill>
                  <a:srgbClr val="000000"/>
                </a:solidFill>
              </a:rPr>
              <a:t>↑ caller waits</a:t>
            </a:r>
          </a:p>
        </p:txBody>
      </p:sp>
      <p:sp>
        <p:nvSpPr>
          <p:cNvPr id="102" name="Label"/>
          <p:cNvSpPr txBox="1"/>
          <p:nvPr/>
        </p:nvSpPr>
        <p:spPr>
          <a:xfrm>
            <a:off x="4871200" y="1028713"/>
            <a:ext cx="3960000" cy="567600"/>
          </a:xfrm>
          <a:prstGeom prst="rect">
            <a:avLst/>
          </a:prstGeom>
          <a:noFill/>
          <a:ln>
            <a:noFill/>
          </a:ln>
        </p:spPr>
        <p:txBody>
          <a:bodyPr wrap="square" lIns="0" tIns="0" rIns="0" bIns="0" anchor="t"/>
          <a:lstStyle/>
          <a:p>
            <a:pPr algn="ctr">
              <a:buNone/>
            </a:pPr>
            <a:r>
              <a:rPr lang="en-US" sz="2400" b="1" i="0" dirty="0">
                <a:solidFill>
                  <a:srgbClr val="8E6F3E"/>
                </a:solidFill>
              </a:rPr>
              <a:t>DEFERRED</a:t>
            </a:r>
          </a:p>
        </p:txBody>
      </p:sp>
      <p:sp>
        <p:nvSpPr>
          <p:cNvPr id="103" name="S103"/>
          <p:cNvSpPr/>
          <p:nvPr/>
        </p:nvSpPr>
        <p:spPr>
          <a:xfrm>
            <a:off x="4871200" y="1600000"/>
            <a:ext cx="3960000" cy="1450000"/>
          </a:xfrm>
          <a:prstGeom prst="rect">
            <a:avLst/>
          </a:prstGeom>
          <a:solidFill>
            <a:srgbClr val="F5F1E8"/>
          </a:solidFill>
          <a:ln w="12700">
            <a:solidFill>
              <a:srgbClr val="C9B991"/>
            </a:solidFill>
          </a:ln>
        </p:spPr>
        <p:txBody>
          <a:bodyPr wrap="square" lIns="91440" tIns="45720" rIns="91440" bIns="45720" anchor="ctr"/>
          <a:lstStyle/>
          <a:p>
            <a:pPr algn="ctr">
              <a:buNone/>
            </a:pPr>
            <a:r>
              <a:rPr lang="en-US" sz="2100" b="0" i="0" dirty="0">
                <a:solidFill>
                  <a:srgbClr val="000000"/>
                </a:solidFill>
              </a:rPr>
              <a:t>request → queue → ACK</a:t>
            </a:r>
          </a:p>
          <a:p>
            <a:pPr algn="ctr">
              <a:spcBef>
                <a:spcPts val="100"/>
              </a:spcBef>
              <a:buNone/>
            </a:pPr>
            <a:r>
              <a:rPr lang="en-US" sz="2100" b="0" i="0" dirty="0">
                <a:solidFill>
                  <a:srgbClr val="000000"/>
                </a:solidFill>
              </a:rPr>
              <a:t>↓</a:t>
            </a:r>
          </a:p>
          <a:p>
            <a:pPr algn="ctr">
              <a:spcBef>
                <a:spcPts val="100"/>
              </a:spcBef>
              <a:buNone/>
            </a:pPr>
            <a:r>
              <a:rPr lang="en-US" sz="2100" b="0" i="0" dirty="0">
                <a:solidFill>
                  <a:srgbClr val="000000"/>
                </a:solidFill>
              </a:rPr>
              <a:t>worker → result</a:t>
            </a:r>
          </a:p>
        </p:txBody>
      </p:sp>
      <p:sp>
        <p:nvSpPr>
          <p:cNvPr id="104" name="S104"/>
          <p:cNvSpPr/>
          <p:nvPr/>
        </p:nvSpPr>
        <p:spPr>
          <a:xfrm>
            <a:off x="274320" y="3300000"/>
            <a:ext cx="8595360" cy="640000"/>
          </a:xfrm>
          <a:prstGeom prst="rect">
            <a:avLst/>
          </a:prstGeom>
          <a:solidFill>
            <a:srgbClr val="FBF8F2"/>
          </a:solidFill>
          <a:ln w="12700">
            <a:solidFill>
              <a:srgbClr val="C9B991"/>
            </a:solidFill>
          </a:ln>
        </p:spPr>
        <p:txBody>
          <a:bodyPr wrap="square" lIns="91440" tIns="45720" rIns="91440" bIns="45720" anchor="ctr"/>
          <a:lstStyle/>
          <a:p>
            <a:pPr algn="ctr">
              <a:buNone/>
            </a:pPr>
            <a:r>
              <a:rPr lang="en-US" sz="2000" b="1" i="0" dirty="0">
                <a:solidFill>
                  <a:srgbClr val="5C4826"/>
                </a:solidFill>
              </a:rPr>
              <a:t>immediacy / simple completion  </a:t>
            </a:r>
            <a:r>
              <a:rPr lang="en-US" sz="2400" b="1" i="0" dirty="0">
                <a:solidFill>
                  <a:srgbClr val="8E6F3E"/>
                </a:solidFill>
              </a:rPr>
              <a:t>↔</a:t>
            </a:r>
            <a:r>
              <a:rPr lang="en-US" sz="2000" b="1" i="0" dirty="0">
                <a:solidFill>
                  <a:srgbClr val="5C4826"/>
                </a:solidFill>
              </a:rPr>
              <a:t>  latency isolation / resilience</a:t>
            </a:r>
          </a:p>
        </p:txBody>
      </p:sp>
      <p:sp>
        <p:nvSpPr>
          <p:cNvPr id="105" name="FooterItalic"/>
          <p:cNvSpPr txBox="1"/>
          <p:nvPr/>
        </p:nvSpPr>
        <p:spPr>
          <a:xfrm>
            <a:off x="274320" y="4200000"/>
            <a:ext cx="8595360" cy="450000"/>
          </a:xfrm>
          <a:prstGeom prst="rect">
            <a:avLst/>
          </a:prstGeom>
          <a:noFill/>
          <a:ln>
            <a:noFill/>
          </a:ln>
        </p:spPr>
        <p:txBody>
          <a:bodyPr wrap="square" lIns="0" tIns="0" rIns="0" bIns="0" anchor="t"/>
          <a:lstStyle/>
          <a:p>
            <a:pPr algn="ctr">
              <a:buNone/>
            </a:pPr>
            <a:r>
              <a:rPr lang="en-US" sz="1900" b="0" i="1" dirty="0">
                <a:solidFill>
                  <a:srgbClr val="000000"/>
                </a:solidFill>
              </a:rPr>
              <a:t>On the deferred side, retries, idempotence, and ordering become design concerns.</a:t>
            </a:r>
          </a:p>
        </p:txBody>
      </p:sp>
      <p:grpSp>
        <p:nvGrpSpPr>
          <p:cNvPr id="200" name="MetricBeat"/>
          <p:cNvGrpSpPr/>
          <p:nvPr/>
        </p:nvGrpSpPr>
        <p:grpSpPr>
          <a:xfrm>
            <a:off x="274320" y="4892040"/>
            <a:ext cx="8595360" cy="1051560"/>
            <a:chOff x="274320" y="4892040"/>
            <a:chExt cx="8595360" cy="1051560"/>
          </a:xfrm>
        </p:grpSpPr>
        <p:sp>
          <p:nvSpPr>
            <p:cNvPr id="201" name="MeasureChip"/>
            <p:cNvSpPr/>
            <p:nvPr/>
          </p:nvSpPr>
          <p:spPr>
            <a:xfrm>
              <a:off x="274320" y="4892040"/>
              <a:ext cx="1280160" cy="475488"/>
            </a:xfrm>
            <a:prstGeom prst="rect">
              <a:avLst/>
            </a:prstGeom>
            <a:solidFill>
              <a:srgbClr val="8E6F3E"/>
            </a:solidFill>
            <a:ln>
              <a:noFill/>
            </a:ln>
          </p:spPr>
          <p:txBody>
            <a:bodyPr wrap="square" lIns="45720" tIns="22860" rIns="45720" bIns="22860" anchor="ctr"/>
            <a:lstStyle/>
            <a:p>
              <a:pPr algn="ctr">
                <a:buNone/>
              </a:pPr>
              <a:r>
                <a:rPr lang="en-US" sz="1300" b="1" i="0" dirty="0">
                  <a:solidFill>
                    <a:srgbClr val="FFFFFF"/>
                  </a:solidFill>
                </a:rPr>
                <a:t>MEASURE</a:t>
              </a:r>
            </a:p>
          </p:txBody>
        </p:sp>
        <p:sp>
          <p:nvSpPr>
            <p:cNvPr id="202" name="MeasureText"/>
            <p:cNvSpPr txBox="1"/>
            <p:nvPr/>
          </p:nvSpPr>
          <p:spPr>
            <a:xfrm>
              <a:off x="1737360" y="4892040"/>
              <a:ext cx="7132320" cy="475488"/>
            </a:xfrm>
            <a:prstGeom prst="rect">
              <a:avLst/>
            </a:prstGeom>
            <a:noFill/>
            <a:ln>
              <a:noFill/>
            </a:ln>
          </p:spPr>
          <p:txBody>
            <a:bodyPr wrap="square" lIns="0" tIns="0" rIns="0" bIns="0" anchor="ctr"/>
            <a:lstStyle/>
            <a:p>
              <a:pPr algn="l">
                <a:buNone/>
              </a:pPr>
              <a:r>
                <a:rPr lang="en-US" sz="1500" b="0" i="0" dirty="0">
                  <a:solidFill>
                    <a:srgbClr val="5C4826"/>
                  </a:solidFill>
                </a:rPr>
                <a:t>critical-path latency  ·  queue depth  ·  completion latency  ·  retry rate  ·  failure propagation</a:t>
              </a:r>
            </a:p>
          </p:txBody>
        </p:sp>
        <p:sp>
          <p:nvSpPr>
            <p:cNvPr id="203" name="InformsChip"/>
            <p:cNvSpPr/>
            <p:nvPr/>
          </p:nvSpPr>
          <p:spPr>
            <a:xfrm>
              <a:off x="274320" y="5468112"/>
              <a:ext cx="1280160" cy="475488"/>
            </a:xfrm>
            <a:prstGeom prst="rect">
              <a:avLst/>
            </a:prstGeom>
            <a:solidFill>
              <a:srgbClr val="5C4826"/>
            </a:solidFill>
            <a:ln>
              <a:noFill/>
            </a:ln>
          </p:spPr>
          <p:txBody>
            <a:bodyPr wrap="square" lIns="45720" tIns="22860" rIns="45720" bIns="22860" anchor="ctr"/>
            <a:lstStyle/>
            <a:p>
              <a:pPr algn="ctr">
                <a:buNone/>
              </a:pPr>
              <a:r>
                <a:rPr lang="en-US" sz="1300" b="1" i="0" dirty="0">
                  <a:solidFill>
                    <a:srgbClr val="FFFFFF"/>
                  </a:solidFill>
                </a:rPr>
                <a:t>INFORMS</a:t>
              </a:r>
            </a:p>
          </p:txBody>
        </p:sp>
        <p:sp>
          <p:nvSpPr>
            <p:cNvPr id="204" name="InformsText"/>
            <p:cNvSpPr txBox="1"/>
            <p:nvPr/>
          </p:nvSpPr>
          <p:spPr>
            <a:xfrm>
              <a:off x="1737360" y="5468112"/>
              <a:ext cx="7132320" cy="475488"/>
            </a:xfrm>
            <a:prstGeom prst="rect">
              <a:avLst/>
            </a:prstGeom>
            <a:noFill/>
            <a:ln>
              <a:noFill/>
            </a:ln>
          </p:spPr>
          <p:txBody>
            <a:bodyPr wrap="square" lIns="0" tIns="0" rIns="0" bIns="0" anchor="ctr"/>
            <a:lstStyle/>
            <a:p>
              <a:pPr algn="l">
                <a:buNone/>
              </a:pPr>
              <a:r>
                <a:rPr lang="en-US" sz="1500" b="1" i="0" dirty="0">
                  <a:solidFill>
                    <a:srgbClr val="5C4826"/>
                  </a:solidFill>
                </a:rPr>
                <a:t>Architecture:</a:t>
              </a:r>
              <a:r>
                <a:rPr lang="en-US" sz="1500" b="0" i="0" dirty="0">
                  <a:solidFill>
                    <a:srgbClr val="5C4826"/>
                  </a:solidFill>
                </a:rPr>
                <a:t> latency &amp; failure isolation</a:t>
              </a:r>
            </a:p>
            <a:p>
              <a:pPr algn="l">
                <a:buNone/>
              </a:pPr>
              <a:r>
                <a:rPr lang="en-US" sz="1500" b="1" i="0" dirty="0">
                  <a:solidFill>
                    <a:srgbClr val="5C4826"/>
                  </a:solidFill>
                </a:rPr>
                <a:t>Specification:</a:t>
              </a:r>
              <a:r>
                <a:rPr lang="en-US" sz="1500" b="0" i="0" dirty="0">
                  <a:solidFill>
                    <a:srgbClr val="5C4826"/>
                  </a:solidFill>
                </a:rPr>
                <a:t> if response or completion bounds exist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0"/>
                                        </p:tgtEl>
                                        <p:attrNameLst>
                                          <p:attrName>style.visibility</p:attrName>
                                        </p:attrNameLst>
                                      </p:cBhvr>
                                      <p:to>
                                        <p:strVal val="visible"/>
                                      </p:to>
                                    </p:set>
                                    <p:animEffect transition="in" filter="fade">
                                      <p:cBhvr>
                                        <p:cTn id="7" dur="500"/>
                                        <p:tgtEl>
                                          <p:spTgt spid="2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148" y="118428"/>
            <a:ext cx="8590000" cy="638175"/>
          </a:xfrm>
        </p:spPr>
        <p:txBody>
          <a:bodyPr>
            <a:normAutofit fontScale="90000"/>
          </a:bodyPr>
          <a:lstStyle/>
          <a:p>
            <a:pPr>
              <a:buNone/>
              <a:defRPr b="0"/>
            </a:pPr>
            <a:r>
              <a:rPr lang="en-US" sz="2400" b="0" i="0" dirty="0">
                <a:solidFill>
                  <a:srgbClr val="000000"/>
                </a:solidFill>
              </a:rPr>
              <a:t>Example: How directly should parts depend?</a:t>
            </a:r>
          </a:p>
        </p:txBody>
      </p:sp>
      <p:sp>
        <p:nvSpPr>
          <p:cNvPr id="3" name="Slide Number Placeholder 3"/>
          <p:cNvSpPr>
            <a:spLocks noGrp="1"/>
          </p:cNvSpPr>
          <p:nvPr>
            <p:ph type="sldNum" sz="quarter" idx="4"/>
          </p:nvPr>
        </p:nvSpPr>
        <p:spPr/>
        <p:txBody>
          <a:bodyPr/>
          <a:lstStyle/>
          <a:p>
            <a:fld id="{B7EB45DA-9A0D-DC49-8E02-F30A5DDC21C3}" type="slidenum">
              <a:rPr lang="en-US" smtClean="0"/>
              <a:t>18</a:t>
            </a:fld>
            <a:endParaRPr lang="en-US"/>
          </a:p>
        </p:txBody>
      </p:sp>
      <p:sp>
        <p:nvSpPr>
          <p:cNvPr id="100" name="Label"/>
          <p:cNvSpPr txBox="1"/>
          <p:nvPr/>
        </p:nvSpPr>
        <p:spPr>
          <a:xfrm>
            <a:off x="277147" y="960000"/>
            <a:ext cx="8589704" cy="485099"/>
          </a:xfrm>
          <a:prstGeom prst="rect">
            <a:avLst/>
          </a:prstGeom>
          <a:noFill/>
          <a:ln>
            <a:noFill/>
          </a:ln>
        </p:spPr>
        <p:txBody>
          <a:bodyPr wrap="square" lIns="0" tIns="0" rIns="0" bIns="0" anchor="t"/>
          <a:lstStyle/>
          <a:p>
            <a:pPr algn="ctr">
              <a:buNone/>
            </a:pPr>
            <a:r>
              <a:rPr lang="en-US" sz="2400" b="1" i="0" dirty="0">
                <a:solidFill>
                  <a:srgbClr val="8E6F3E"/>
                </a:solidFill>
              </a:rPr>
              <a:t>DIRECT</a:t>
            </a:r>
          </a:p>
        </p:txBody>
      </p:sp>
      <p:sp>
        <p:nvSpPr>
          <p:cNvPr id="101" name="S101"/>
          <p:cNvSpPr/>
          <p:nvPr/>
        </p:nvSpPr>
        <p:spPr>
          <a:xfrm>
            <a:off x="2600000" y="1400000"/>
            <a:ext cx="1500000" cy="640000"/>
          </a:xfrm>
          <a:prstGeom prst="rect">
            <a:avLst/>
          </a:prstGeom>
          <a:solidFill>
            <a:srgbClr val="F5F1E8"/>
          </a:solidFill>
          <a:ln w="12700">
            <a:solidFill>
              <a:srgbClr val="C9B991"/>
            </a:solidFill>
          </a:ln>
        </p:spPr>
        <p:txBody>
          <a:bodyPr wrap="square" lIns="91440" tIns="45720" rIns="91440" bIns="45720" anchor="ctr"/>
          <a:lstStyle/>
          <a:p>
            <a:pPr algn="ctr">
              <a:buNone/>
            </a:pPr>
            <a:r>
              <a:rPr lang="en-US" sz="2600" b="1" i="0" dirty="0">
                <a:solidFill>
                  <a:srgbClr val="5C4826"/>
                </a:solidFill>
              </a:rPr>
              <a:t>A</a:t>
            </a:r>
          </a:p>
        </p:txBody>
      </p:sp>
      <p:sp>
        <p:nvSpPr>
          <p:cNvPr id="102" name="S102"/>
          <p:cNvSpPr/>
          <p:nvPr/>
        </p:nvSpPr>
        <p:spPr>
          <a:xfrm>
            <a:off x="5044000" y="1400000"/>
            <a:ext cx="1500000" cy="640000"/>
          </a:xfrm>
          <a:prstGeom prst="rect">
            <a:avLst/>
          </a:prstGeom>
          <a:solidFill>
            <a:srgbClr val="F5F1E8"/>
          </a:solidFill>
          <a:ln w="12700">
            <a:solidFill>
              <a:srgbClr val="C9B991"/>
            </a:solidFill>
          </a:ln>
        </p:spPr>
        <p:txBody>
          <a:bodyPr wrap="square" lIns="91440" tIns="45720" rIns="91440" bIns="45720" anchor="ctr"/>
          <a:lstStyle/>
          <a:p>
            <a:pPr algn="ctr">
              <a:buNone/>
            </a:pPr>
            <a:r>
              <a:rPr lang="en-US" sz="2600" b="1" i="0" dirty="0">
                <a:solidFill>
                  <a:srgbClr val="5C4826"/>
                </a:solidFill>
              </a:rPr>
              <a:t>B</a:t>
            </a:r>
          </a:p>
        </p:txBody>
      </p:sp>
      <p:cxnSp>
        <p:nvCxnSpPr>
          <p:cNvPr id="103" name="L103"/>
          <p:cNvCxnSpPr/>
          <p:nvPr/>
        </p:nvCxnSpPr>
        <p:spPr>
          <a:xfrm>
            <a:off x="4100000" y="1720000"/>
            <a:ext cx="944000" cy="0"/>
          </a:xfrm>
          <a:prstGeom prst="straightConnector1">
            <a:avLst/>
          </a:prstGeom>
          <a:ln w="44450">
            <a:solidFill>
              <a:srgbClr val="8E6F3E"/>
            </a:solidFill>
            <a:tailEnd type="triangle" w="med" len="med"/>
          </a:ln>
        </p:spPr>
      </p:cxnSp>
      <p:sp>
        <p:nvSpPr>
          <p:cNvPr id="104" name="Label"/>
          <p:cNvSpPr txBox="1"/>
          <p:nvPr/>
        </p:nvSpPr>
        <p:spPr>
          <a:xfrm>
            <a:off x="277147" y="2250000"/>
            <a:ext cx="8589704" cy="485099"/>
          </a:xfrm>
          <a:prstGeom prst="rect">
            <a:avLst/>
          </a:prstGeom>
          <a:noFill/>
          <a:ln>
            <a:noFill/>
          </a:ln>
        </p:spPr>
        <p:txBody>
          <a:bodyPr wrap="square" lIns="0" tIns="0" rIns="0" bIns="0" anchor="t"/>
          <a:lstStyle/>
          <a:p>
            <a:pPr algn="ctr">
              <a:buNone/>
            </a:pPr>
            <a:r>
              <a:rPr lang="en-US" sz="2400" b="1" i="0" dirty="0">
                <a:solidFill>
                  <a:srgbClr val="8E6F3E"/>
                </a:solidFill>
              </a:rPr>
              <a:t>INDIRECT</a:t>
            </a:r>
          </a:p>
        </p:txBody>
      </p:sp>
      <p:sp>
        <p:nvSpPr>
          <p:cNvPr id="105" name="S105"/>
          <p:cNvSpPr/>
          <p:nvPr/>
        </p:nvSpPr>
        <p:spPr>
          <a:xfrm>
            <a:off x="1900000" y="2700000"/>
            <a:ext cx="1350000" cy="640000"/>
          </a:xfrm>
          <a:prstGeom prst="rect">
            <a:avLst/>
          </a:prstGeom>
          <a:solidFill>
            <a:srgbClr val="F5F1E8"/>
          </a:solidFill>
          <a:ln w="12700">
            <a:solidFill>
              <a:srgbClr val="C9B991"/>
            </a:solidFill>
          </a:ln>
        </p:spPr>
        <p:txBody>
          <a:bodyPr wrap="square" lIns="91440" tIns="45720" rIns="91440" bIns="45720" anchor="ctr"/>
          <a:lstStyle/>
          <a:p>
            <a:pPr algn="ctr">
              <a:buNone/>
            </a:pPr>
            <a:r>
              <a:rPr lang="en-US" sz="2400" b="1" i="0" dirty="0">
                <a:solidFill>
                  <a:srgbClr val="5C4826"/>
                </a:solidFill>
              </a:rPr>
              <a:t>A</a:t>
            </a:r>
          </a:p>
        </p:txBody>
      </p:sp>
      <p:sp>
        <p:nvSpPr>
          <p:cNvPr id="106" name="S106"/>
          <p:cNvSpPr/>
          <p:nvPr/>
        </p:nvSpPr>
        <p:spPr>
          <a:xfrm>
            <a:off x="3897000" y="2700000"/>
            <a:ext cx="1350000" cy="640000"/>
          </a:xfrm>
          <a:prstGeom prst="rect">
            <a:avLst/>
          </a:prstGeom>
          <a:solidFill>
            <a:srgbClr val="8E6F3E"/>
          </a:solidFill>
          <a:ln>
            <a:noFill/>
          </a:ln>
        </p:spPr>
        <p:txBody>
          <a:bodyPr wrap="square" lIns="91440" tIns="45720" rIns="91440" bIns="45720" anchor="ctr"/>
          <a:lstStyle/>
          <a:p>
            <a:pPr algn="ctr">
              <a:buNone/>
            </a:pPr>
            <a:r>
              <a:rPr lang="en-US" sz="2400" b="1" i="0" dirty="0">
                <a:solidFill>
                  <a:srgbClr val="FFFFFF"/>
                </a:solidFill>
              </a:rPr>
              <a:t>I</a:t>
            </a:r>
          </a:p>
        </p:txBody>
      </p:sp>
      <p:sp>
        <p:nvSpPr>
          <p:cNvPr id="107" name="S107"/>
          <p:cNvSpPr/>
          <p:nvPr/>
        </p:nvSpPr>
        <p:spPr>
          <a:xfrm>
            <a:off x="5894000" y="2700000"/>
            <a:ext cx="1350000" cy="640000"/>
          </a:xfrm>
          <a:prstGeom prst="rect">
            <a:avLst/>
          </a:prstGeom>
          <a:solidFill>
            <a:srgbClr val="F5F1E8"/>
          </a:solidFill>
          <a:ln w="12700">
            <a:solidFill>
              <a:srgbClr val="C9B991"/>
            </a:solidFill>
          </a:ln>
        </p:spPr>
        <p:txBody>
          <a:bodyPr wrap="square" lIns="91440" tIns="45720" rIns="91440" bIns="45720" anchor="ctr"/>
          <a:lstStyle/>
          <a:p>
            <a:pPr algn="ctr">
              <a:buNone/>
            </a:pPr>
            <a:r>
              <a:rPr lang="en-US" sz="2400" b="1" i="0" dirty="0">
                <a:solidFill>
                  <a:srgbClr val="5C4826"/>
                </a:solidFill>
              </a:rPr>
              <a:t>B</a:t>
            </a:r>
          </a:p>
        </p:txBody>
      </p:sp>
      <p:cxnSp>
        <p:nvCxnSpPr>
          <p:cNvPr id="108" name="L108"/>
          <p:cNvCxnSpPr/>
          <p:nvPr/>
        </p:nvCxnSpPr>
        <p:spPr>
          <a:xfrm>
            <a:off x="3250000" y="3020000"/>
            <a:ext cx="647000" cy="0"/>
          </a:xfrm>
          <a:prstGeom prst="straightConnector1">
            <a:avLst/>
          </a:prstGeom>
          <a:ln w="38100">
            <a:solidFill>
              <a:srgbClr val="8E6F3E"/>
            </a:solidFill>
            <a:tailEnd type="triangle" w="med" len="med"/>
          </a:ln>
        </p:spPr>
      </p:cxnSp>
      <p:cxnSp>
        <p:nvCxnSpPr>
          <p:cNvPr id="109" name="L109"/>
          <p:cNvCxnSpPr/>
          <p:nvPr/>
        </p:nvCxnSpPr>
        <p:spPr>
          <a:xfrm>
            <a:off x="5247000" y="3020000"/>
            <a:ext cx="647000" cy="0"/>
          </a:xfrm>
          <a:prstGeom prst="straightConnector1">
            <a:avLst/>
          </a:prstGeom>
          <a:ln w="38100">
            <a:solidFill>
              <a:srgbClr val="8E6F3E"/>
            </a:solidFill>
            <a:tailEnd type="triangle" w="med" len="med"/>
          </a:ln>
        </p:spPr>
      </p:cxnSp>
      <p:sp>
        <p:nvSpPr>
          <p:cNvPr id="110" name="Ex"/>
          <p:cNvSpPr txBox="1"/>
          <p:nvPr/>
        </p:nvSpPr>
        <p:spPr>
          <a:xfrm>
            <a:off x="277147" y="3560000"/>
            <a:ext cx="8589704" cy="420000"/>
          </a:xfrm>
          <a:prstGeom prst="rect">
            <a:avLst/>
          </a:prstGeom>
          <a:noFill/>
          <a:ln>
            <a:noFill/>
          </a:ln>
        </p:spPr>
        <p:txBody>
          <a:bodyPr wrap="square" lIns="0" tIns="0" rIns="0" bIns="0" anchor="t"/>
          <a:lstStyle/>
          <a:p>
            <a:pPr algn="ctr">
              <a:buNone/>
            </a:pPr>
            <a:r>
              <a:rPr lang="en-US" sz="2100" b="0" i="1" dirty="0">
                <a:solidFill>
                  <a:srgbClr val="555960"/>
                </a:solidFill>
              </a:rPr>
              <a:t>interface · adapter · factory · DI · proxy</a:t>
            </a:r>
          </a:p>
        </p:txBody>
      </p:sp>
      <p:sp>
        <p:nvSpPr>
          <p:cNvPr id="111" name="Q"/>
          <p:cNvSpPr txBox="1"/>
          <p:nvPr/>
        </p:nvSpPr>
        <p:spPr>
          <a:xfrm>
            <a:off x="277147" y="4150000"/>
            <a:ext cx="8589704" cy="450000"/>
          </a:xfrm>
          <a:prstGeom prst="rect">
            <a:avLst/>
          </a:prstGeom>
          <a:noFill/>
          <a:ln>
            <a:noFill/>
          </a:ln>
        </p:spPr>
        <p:txBody>
          <a:bodyPr wrap="square" lIns="0" tIns="0" rIns="0" bIns="0" anchor="t"/>
          <a:lstStyle/>
          <a:p>
            <a:pPr algn="ctr">
              <a:buNone/>
            </a:pPr>
            <a:r>
              <a:rPr lang="en-US" sz="1600" b="0" i="1" dirty="0">
                <a:solidFill>
                  <a:srgbClr val="000000"/>
                </a:solidFill>
              </a:rPr>
              <a:t>Indirection spends complexity to buy flexibility. What change are we buying isolation from?</a:t>
            </a:r>
          </a:p>
        </p:txBody>
      </p:sp>
      <p:grpSp>
        <p:nvGrpSpPr>
          <p:cNvPr id="200" name="MetricBeat"/>
          <p:cNvGrpSpPr/>
          <p:nvPr/>
        </p:nvGrpSpPr>
        <p:grpSpPr>
          <a:xfrm>
            <a:off x="274320" y="4892040"/>
            <a:ext cx="8595360" cy="1051560"/>
            <a:chOff x="274320" y="4892040"/>
            <a:chExt cx="8595360" cy="1051560"/>
          </a:xfrm>
        </p:grpSpPr>
        <p:sp>
          <p:nvSpPr>
            <p:cNvPr id="201" name="MeasureChip"/>
            <p:cNvSpPr/>
            <p:nvPr/>
          </p:nvSpPr>
          <p:spPr>
            <a:xfrm>
              <a:off x="274320" y="4892040"/>
              <a:ext cx="1280160" cy="475488"/>
            </a:xfrm>
            <a:prstGeom prst="rect">
              <a:avLst/>
            </a:prstGeom>
            <a:solidFill>
              <a:srgbClr val="8E6F3E"/>
            </a:solidFill>
            <a:ln>
              <a:noFill/>
            </a:ln>
          </p:spPr>
          <p:txBody>
            <a:bodyPr wrap="square" lIns="45720" tIns="22860" rIns="45720" bIns="22860" anchor="ctr"/>
            <a:lstStyle/>
            <a:p>
              <a:pPr algn="ctr">
                <a:buNone/>
              </a:pPr>
              <a:r>
                <a:rPr lang="en-US" sz="1300" b="1" i="0" dirty="0">
                  <a:solidFill>
                    <a:srgbClr val="FFFFFF"/>
                  </a:solidFill>
                </a:rPr>
                <a:t>MEASURE</a:t>
              </a:r>
            </a:p>
          </p:txBody>
        </p:sp>
        <p:sp>
          <p:nvSpPr>
            <p:cNvPr id="202" name="MeasureText"/>
            <p:cNvSpPr txBox="1"/>
            <p:nvPr/>
          </p:nvSpPr>
          <p:spPr>
            <a:xfrm>
              <a:off x="1737360" y="4892040"/>
              <a:ext cx="7132320" cy="475488"/>
            </a:xfrm>
            <a:prstGeom prst="rect">
              <a:avLst/>
            </a:prstGeom>
            <a:noFill/>
            <a:ln>
              <a:noFill/>
            </a:ln>
          </p:spPr>
          <p:txBody>
            <a:bodyPr wrap="square" lIns="0" tIns="0" rIns="0" bIns="0" anchor="ctr"/>
            <a:lstStyle/>
            <a:p>
              <a:pPr algn="l">
                <a:buNone/>
              </a:pPr>
              <a:r>
                <a:rPr lang="en-US" sz="1500" b="0" i="0" dirty="0">
                  <a:solidFill>
                    <a:srgbClr val="5C4826"/>
                  </a:solidFill>
                </a:rPr>
                <a:t>dependencies crossing the seam  ·  fan-in / fan-out  ·  components touched by a representative change</a:t>
              </a:r>
            </a:p>
          </p:txBody>
        </p:sp>
        <p:sp>
          <p:nvSpPr>
            <p:cNvPr id="203" name="InformsChip"/>
            <p:cNvSpPr/>
            <p:nvPr/>
          </p:nvSpPr>
          <p:spPr>
            <a:xfrm>
              <a:off x="274320" y="5468112"/>
              <a:ext cx="1280160" cy="475488"/>
            </a:xfrm>
            <a:prstGeom prst="rect">
              <a:avLst/>
            </a:prstGeom>
            <a:solidFill>
              <a:srgbClr val="5C4826"/>
            </a:solidFill>
            <a:ln>
              <a:noFill/>
            </a:ln>
          </p:spPr>
          <p:txBody>
            <a:bodyPr wrap="square" lIns="45720" tIns="22860" rIns="45720" bIns="22860" anchor="ctr"/>
            <a:lstStyle/>
            <a:p>
              <a:pPr algn="ctr">
                <a:buNone/>
              </a:pPr>
              <a:r>
                <a:rPr lang="en-US" sz="1300" b="1" i="0" dirty="0">
                  <a:solidFill>
                    <a:srgbClr val="FFFFFF"/>
                  </a:solidFill>
                </a:rPr>
                <a:t>INFORMS</a:t>
              </a:r>
            </a:p>
          </p:txBody>
        </p:sp>
        <p:sp>
          <p:nvSpPr>
            <p:cNvPr id="204" name="InformsText"/>
            <p:cNvSpPr txBox="1"/>
            <p:nvPr/>
          </p:nvSpPr>
          <p:spPr>
            <a:xfrm>
              <a:off x="1737360" y="5468112"/>
              <a:ext cx="7132320" cy="475488"/>
            </a:xfrm>
            <a:prstGeom prst="rect">
              <a:avLst/>
            </a:prstGeom>
            <a:noFill/>
            <a:ln>
              <a:noFill/>
            </a:ln>
          </p:spPr>
          <p:txBody>
            <a:bodyPr wrap="square" lIns="0" tIns="0" rIns="0" bIns="0" anchor="ctr"/>
            <a:lstStyle/>
            <a:p>
              <a:pPr algn="l">
                <a:buNone/>
              </a:pPr>
              <a:r>
                <a:rPr lang="en-US" sz="1500" b="1" i="0" dirty="0">
                  <a:solidFill>
                    <a:srgbClr val="5C4826"/>
                  </a:solidFill>
                </a:rPr>
                <a:t>Architecture:</a:t>
              </a:r>
              <a:r>
                <a:rPr lang="en-US" sz="1500" b="0" i="0" dirty="0">
                  <a:solidFill>
                    <a:srgbClr val="5C4826"/>
                  </a:solidFill>
                </a:rPr>
                <a:t> change locality  ·  independent changeability  ·  coupling</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0"/>
                                        </p:tgtEl>
                                        <p:attrNameLst>
                                          <p:attrName>style.visibility</p:attrName>
                                        </p:attrNameLst>
                                      </p:cBhvr>
                                      <p:to>
                                        <p:strVal val="visible"/>
                                      </p:to>
                                    </p:set>
                                    <p:animEffect transition="in" filter="fade">
                                      <p:cBhvr>
                                        <p:cTn id="7" dur="500"/>
                                        <p:tgtEl>
                                          <p:spTgt spid="2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148" y="118428"/>
            <a:ext cx="8590000" cy="638175"/>
          </a:xfrm>
        </p:spPr>
        <p:txBody>
          <a:bodyPr>
            <a:normAutofit fontScale="90000"/>
          </a:bodyPr>
          <a:lstStyle/>
          <a:p>
            <a:pPr>
              <a:buNone/>
              <a:defRPr b="0"/>
            </a:pPr>
            <a:r>
              <a:rPr lang="en-US" sz="2400" b="0" i="0" dirty="0">
                <a:solidFill>
                  <a:srgbClr val="000000"/>
                </a:solidFill>
              </a:rPr>
              <a:t>Example: Which decisions should be hidden?</a:t>
            </a:r>
          </a:p>
        </p:txBody>
      </p:sp>
      <p:sp>
        <p:nvSpPr>
          <p:cNvPr id="3" name="Slide Number Placeholder 3"/>
          <p:cNvSpPr>
            <a:spLocks noGrp="1"/>
          </p:cNvSpPr>
          <p:nvPr>
            <p:ph type="sldNum" sz="quarter" idx="4"/>
          </p:nvPr>
        </p:nvSpPr>
        <p:spPr/>
        <p:txBody>
          <a:bodyPr/>
          <a:lstStyle/>
          <a:p>
            <a:fld id="{B7EB45DA-9A0D-DC49-8E02-F30A5DDC21C3}" type="slidenum">
              <a:rPr lang="en-US" smtClean="0"/>
              <a:t>19</a:t>
            </a:fld>
            <a:endParaRPr lang="en-US"/>
          </a:p>
        </p:txBody>
      </p:sp>
      <p:sp>
        <p:nvSpPr>
          <p:cNvPr id="100" name="Label"/>
          <p:cNvSpPr txBox="1"/>
          <p:nvPr/>
        </p:nvSpPr>
        <p:spPr>
          <a:xfrm>
            <a:off x="312799" y="960000"/>
            <a:ext cx="3960000" cy="521400"/>
          </a:xfrm>
          <a:prstGeom prst="rect">
            <a:avLst/>
          </a:prstGeom>
          <a:noFill/>
          <a:ln>
            <a:noFill/>
          </a:ln>
        </p:spPr>
        <p:txBody>
          <a:bodyPr wrap="square" lIns="0" tIns="0" rIns="0" bIns="0" anchor="t"/>
          <a:lstStyle/>
          <a:p>
            <a:pPr algn="ctr">
              <a:buNone/>
            </a:pPr>
            <a:r>
              <a:rPr lang="en-US" sz="2100" b="1" i="0" dirty="0">
                <a:solidFill>
                  <a:srgbClr val="8E6F3E"/>
                </a:solidFill>
              </a:rPr>
              <a:t>A: by processing steps</a:t>
            </a:r>
          </a:p>
        </p:txBody>
      </p:sp>
      <p:sp>
        <p:nvSpPr>
          <p:cNvPr id="101" name="S101"/>
          <p:cNvSpPr/>
          <p:nvPr/>
        </p:nvSpPr>
        <p:spPr>
          <a:xfrm>
            <a:off x="312799" y="1560000"/>
            <a:ext cx="3960000" cy="2050000"/>
          </a:xfrm>
          <a:prstGeom prst="rect">
            <a:avLst/>
          </a:prstGeom>
          <a:solidFill>
            <a:srgbClr val="F5F1E8"/>
          </a:solidFill>
          <a:ln w="12700">
            <a:solidFill>
              <a:srgbClr val="C9B991"/>
            </a:solidFill>
          </a:ln>
        </p:spPr>
        <p:txBody>
          <a:bodyPr wrap="square" lIns="91440" tIns="45720" rIns="91440" bIns="45720" anchor="ctr"/>
          <a:lstStyle/>
          <a:p>
            <a:pPr algn="ctr">
              <a:buNone/>
            </a:pPr>
            <a:r>
              <a:rPr lang="en-US" sz="2300" b="0" i="0" dirty="0">
                <a:solidFill>
                  <a:srgbClr val="5C4826"/>
                </a:solidFill>
              </a:rPr>
              <a:t>STEP 1</a:t>
            </a:r>
          </a:p>
          <a:p>
            <a:pPr algn="ctr">
              <a:spcBef>
                <a:spcPts val="160"/>
              </a:spcBef>
              <a:buNone/>
            </a:pPr>
            <a:r>
              <a:rPr lang="en-US" sz="2300" b="0" i="0" dirty="0">
                <a:solidFill>
                  <a:srgbClr val="5C4826"/>
                </a:solidFill>
              </a:rPr>
              <a:t>STEP 2</a:t>
            </a:r>
          </a:p>
          <a:p>
            <a:pPr algn="ctr">
              <a:spcBef>
                <a:spcPts val="160"/>
              </a:spcBef>
              <a:buNone/>
            </a:pPr>
            <a:r>
              <a:rPr lang="en-US" sz="2300" b="0" i="0" dirty="0">
                <a:solidFill>
                  <a:srgbClr val="5C4826"/>
                </a:solidFill>
              </a:rPr>
              <a:t>STEP 3</a:t>
            </a:r>
          </a:p>
        </p:txBody>
      </p:sp>
      <p:sp>
        <p:nvSpPr>
          <p:cNvPr id="102" name="Label"/>
          <p:cNvSpPr txBox="1"/>
          <p:nvPr/>
        </p:nvSpPr>
        <p:spPr>
          <a:xfrm>
            <a:off x="4871200" y="960000"/>
            <a:ext cx="3960000" cy="521400"/>
          </a:xfrm>
          <a:prstGeom prst="rect">
            <a:avLst/>
          </a:prstGeom>
          <a:noFill/>
          <a:ln>
            <a:noFill/>
          </a:ln>
        </p:spPr>
        <p:txBody>
          <a:bodyPr wrap="square" lIns="0" tIns="0" rIns="0" bIns="0" anchor="t"/>
          <a:lstStyle/>
          <a:p>
            <a:pPr algn="ctr">
              <a:buNone/>
            </a:pPr>
            <a:r>
              <a:rPr lang="en-US" sz="2100" b="1" i="0" dirty="0">
                <a:solidFill>
                  <a:srgbClr val="8E6F3E"/>
                </a:solidFill>
              </a:rPr>
              <a:t>B: around likely change</a:t>
            </a:r>
          </a:p>
        </p:txBody>
      </p:sp>
      <p:sp>
        <p:nvSpPr>
          <p:cNvPr id="103" name="S103"/>
          <p:cNvSpPr/>
          <p:nvPr/>
        </p:nvSpPr>
        <p:spPr>
          <a:xfrm>
            <a:off x="4871200" y="1560000"/>
            <a:ext cx="3960000" cy="2050000"/>
          </a:xfrm>
          <a:prstGeom prst="rect">
            <a:avLst/>
          </a:prstGeom>
          <a:solidFill>
            <a:srgbClr val="FBF8F2"/>
          </a:solidFill>
          <a:ln w="19050">
            <a:solidFill>
              <a:srgbClr val="5C4826"/>
            </a:solidFill>
          </a:ln>
        </p:spPr>
        <p:txBody>
          <a:bodyPr wrap="square" lIns="91440" tIns="45720" rIns="91440" bIns="45720" anchor="ctr"/>
          <a:lstStyle/>
          <a:p>
            <a:pPr algn="ctr">
              <a:buNone/>
            </a:pPr>
            <a:r>
              <a:rPr lang="en-US" sz="2300" b="0" i="0" dirty="0">
                <a:solidFill>
                  <a:srgbClr val="5C4826"/>
                </a:solidFill>
              </a:rPr>
              <a:t>STABLE SEAM</a:t>
            </a:r>
          </a:p>
          <a:p>
            <a:pPr algn="ctr">
              <a:spcBef>
                <a:spcPts val="160"/>
              </a:spcBef>
              <a:buNone/>
            </a:pPr>
            <a:r>
              <a:rPr lang="en-US" sz="2300" b="0" i="0" dirty="0">
                <a:solidFill>
                  <a:srgbClr val="5C4826"/>
                </a:solidFill>
              </a:rPr>
              <a:t>hidden decision</a:t>
            </a:r>
          </a:p>
          <a:p>
            <a:pPr algn="ctr">
              <a:spcBef>
                <a:spcPts val="160"/>
              </a:spcBef>
              <a:buNone/>
            </a:pPr>
            <a:r>
              <a:rPr lang="en-US" sz="2300" b="0" i="0" dirty="0">
                <a:solidFill>
                  <a:srgbClr val="5C4826"/>
                </a:solidFill>
              </a:rPr>
              <a:t>(likely to change)</a:t>
            </a:r>
          </a:p>
        </p:txBody>
      </p:sp>
      <p:sp>
        <p:nvSpPr>
          <p:cNvPr id="104" name="S104"/>
          <p:cNvSpPr/>
          <p:nvPr/>
        </p:nvSpPr>
        <p:spPr>
          <a:xfrm>
            <a:off x="274320" y="3800000"/>
            <a:ext cx="8595360" cy="560000"/>
          </a:xfrm>
          <a:prstGeom prst="rect">
            <a:avLst/>
          </a:prstGeom>
          <a:noFill/>
          <a:ln>
            <a:noFill/>
          </a:ln>
        </p:spPr>
        <p:txBody>
          <a:bodyPr wrap="square" lIns="91440" tIns="45720" rIns="91440" bIns="45720" anchor="ctr"/>
          <a:lstStyle/>
          <a:p>
            <a:pPr algn="ctr">
              <a:buNone/>
            </a:pPr>
            <a:r>
              <a:rPr lang="en-US" sz="2500" b="0" i="1" dirty="0">
                <a:solidFill>
                  <a:srgbClr val="000000"/>
                </a:solidFill>
              </a:rPr>
              <a:t>When X changes, which design contains the change?</a:t>
            </a:r>
          </a:p>
        </p:txBody>
      </p:sp>
      <p:sp>
        <p:nvSpPr>
          <p:cNvPr id="150" name="LessonItalic"/>
          <p:cNvSpPr txBox="1"/>
          <p:nvPr/>
        </p:nvSpPr>
        <p:spPr>
          <a:xfrm>
            <a:off x="277148" y="4450000"/>
            <a:ext cx="8589704" cy="380000"/>
          </a:xfrm>
          <a:prstGeom prst="rect">
            <a:avLst/>
          </a:prstGeom>
          <a:noFill/>
          <a:ln>
            <a:noFill/>
          </a:ln>
        </p:spPr>
        <p:txBody>
          <a:bodyPr wrap="square" lIns="0" tIns="0" rIns="0" bIns="0" anchor="t"/>
          <a:lstStyle/>
          <a:p>
            <a:pPr algn="ctr">
              <a:buNone/>
            </a:pPr>
            <a:r>
              <a:rPr lang="en-US" sz="1800" b="0" i="1" dirty="0">
                <a:solidFill>
                  <a:srgbClr val="000000"/>
                </a:solidFill>
              </a:rPr>
              <a:t>Hide the decisions most likely to change behind stable seams.</a:t>
            </a:r>
          </a:p>
        </p:txBody>
      </p:sp>
      <p:grpSp>
        <p:nvGrpSpPr>
          <p:cNvPr id="200" name="MetricBeat"/>
          <p:cNvGrpSpPr/>
          <p:nvPr/>
        </p:nvGrpSpPr>
        <p:grpSpPr>
          <a:xfrm>
            <a:off x="274320" y="4892040"/>
            <a:ext cx="8595360" cy="1051560"/>
            <a:chOff x="274320" y="4892040"/>
            <a:chExt cx="8595360" cy="1051560"/>
          </a:xfrm>
        </p:grpSpPr>
        <p:sp>
          <p:nvSpPr>
            <p:cNvPr id="201" name="MeasureChip"/>
            <p:cNvSpPr/>
            <p:nvPr/>
          </p:nvSpPr>
          <p:spPr>
            <a:xfrm>
              <a:off x="274320" y="4892040"/>
              <a:ext cx="1280160" cy="475488"/>
            </a:xfrm>
            <a:prstGeom prst="rect">
              <a:avLst/>
            </a:prstGeom>
            <a:solidFill>
              <a:srgbClr val="8E6F3E"/>
            </a:solidFill>
            <a:ln>
              <a:noFill/>
            </a:ln>
          </p:spPr>
          <p:txBody>
            <a:bodyPr wrap="square" lIns="45720" tIns="22860" rIns="45720" bIns="22860" anchor="ctr"/>
            <a:lstStyle/>
            <a:p>
              <a:pPr algn="ctr">
                <a:buNone/>
              </a:pPr>
              <a:r>
                <a:rPr lang="en-US" sz="1300" b="1" i="0" dirty="0">
                  <a:solidFill>
                    <a:srgbClr val="FFFFFF"/>
                  </a:solidFill>
                </a:rPr>
                <a:t>MEASURE</a:t>
              </a:r>
            </a:p>
          </p:txBody>
        </p:sp>
        <p:sp>
          <p:nvSpPr>
            <p:cNvPr id="202" name="MeasureText"/>
            <p:cNvSpPr txBox="1"/>
            <p:nvPr/>
          </p:nvSpPr>
          <p:spPr>
            <a:xfrm>
              <a:off x="1737360" y="4892040"/>
              <a:ext cx="7132320" cy="475488"/>
            </a:xfrm>
            <a:prstGeom prst="rect">
              <a:avLst/>
            </a:prstGeom>
            <a:noFill/>
            <a:ln>
              <a:noFill/>
            </a:ln>
          </p:spPr>
          <p:txBody>
            <a:bodyPr wrap="square" lIns="0" tIns="0" rIns="0" bIns="0" anchor="ctr"/>
            <a:lstStyle/>
            <a:p>
              <a:pPr algn="l">
                <a:buNone/>
              </a:pPr>
              <a:r>
                <a:rPr lang="en-US" sz="1500" b="0" i="0" dirty="0">
                  <a:solidFill>
                    <a:srgbClr val="5C4826"/>
                  </a:solidFill>
                </a:rPr>
                <a:t>change impact  ·  interface stability  ·  modules touched per representative change</a:t>
              </a:r>
            </a:p>
          </p:txBody>
        </p:sp>
        <p:sp>
          <p:nvSpPr>
            <p:cNvPr id="203" name="InformsChip"/>
            <p:cNvSpPr/>
            <p:nvPr/>
          </p:nvSpPr>
          <p:spPr>
            <a:xfrm>
              <a:off x="274320" y="5468112"/>
              <a:ext cx="1280160" cy="475488"/>
            </a:xfrm>
            <a:prstGeom prst="rect">
              <a:avLst/>
            </a:prstGeom>
            <a:solidFill>
              <a:srgbClr val="5C4826"/>
            </a:solidFill>
            <a:ln>
              <a:noFill/>
            </a:ln>
          </p:spPr>
          <p:txBody>
            <a:bodyPr wrap="square" lIns="45720" tIns="22860" rIns="45720" bIns="22860" anchor="ctr"/>
            <a:lstStyle/>
            <a:p>
              <a:pPr algn="ctr">
                <a:buNone/>
              </a:pPr>
              <a:r>
                <a:rPr lang="en-US" sz="1300" b="1" i="0" dirty="0">
                  <a:solidFill>
                    <a:srgbClr val="FFFFFF"/>
                  </a:solidFill>
                </a:rPr>
                <a:t>INFORMS</a:t>
              </a:r>
            </a:p>
          </p:txBody>
        </p:sp>
        <p:sp>
          <p:nvSpPr>
            <p:cNvPr id="204" name="InformsText"/>
            <p:cNvSpPr txBox="1"/>
            <p:nvPr/>
          </p:nvSpPr>
          <p:spPr>
            <a:xfrm>
              <a:off x="1737360" y="5468112"/>
              <a:ext cx="7132320" cy="475488"/>
            </a:xfrm>
            <a:prstGeom prst="rect">
              <a:avLst/>
            </a:prstGeom>
            <a:noFill/>
            <a:ln>
              <a:noFill/>
            </a:ln>
          </p:spPr>
          <p:txBody>
            <a:bodyPr wrap="square" lIns="0" tIns="0" rIns="0" bIns="0" anchor="ctr"/>
            <a:lstStyle/>
            <a:p>
              <a:pPr algn="l">
                <a:buNone/>
              </a:pPr>
              <a:r>
                <a:rPr lang="en-US" sz="1500" b="1" i="0" dirty="0">
                  <a:solidFill>
                    <a:srgbClr val="5C4826"/>
                  </a:solidFill>
                </a:rPr>
                <a:t>Architecture:</a:t>
              </a:r>
              <a:r>
                <a:rPr lang="en-US" sz="1500" b="0" i="0" dirty="0">
                  <a:solidFill>
                    <a:srgbClr val="5C4826"/>
                  </a:solidFill>
                </a:rPr>
                <a:t> locality of expected change</a:t>
              </a:r>
            </a:p>
            <a:p>
              <a:pPr algn="l">
                <a:buNone/>
              </a:pPr>
              <a:r>
                <a:rPr lang="en-US" sz="1500" b="1" i="0" dirty="0">
                  <a:solidFill>
                    <a:srgbClr val="5C4826"/>
                  </a:solidFill>
                </a:rPr>
                <a:t>Engineering environment:</a:t>
              </a:r>
              <a:r>
                <a:rPr lang="en-US" sz="1500" b="0" i="0" dirty="0">
                  <a:solidFill>
                    <a:srgbClr val="5C4826"/>
                  </a:solidFill>
                </a:rPr>
                <a:t> if the seam should become a shared convention</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0"/>
                                        </p:tgtEl>
                                        <p:attrNameLst>
                                          <p:attrName>style.visibility</p:attrName>
                                        </p:attrNameLst>
                                      </p:cBhvr>
                                      <p:to>
                                        <p:strVal val="visible"/>
                                      </p:to>
                                    </p:set>
                                    <p:animEffect transition="in" filter="fade">
                                      <p:cBhvr>
                                        <p:cTn id="7" dur="500"/>
                                        <p:tgtEl>
                                          <p:spTgt spid="2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148" y="118428"/>
            <a:ext cx="8590000" cy="638175"/>
          </a:xfrm>
        </p:spPr>
        <p:txBody>
          <a:bodyPr>
            <a:normAutofit fontScale="90000"/>
          </a:bodyPr>
          <a:lstStyle/>
          <a:p>
            <a:pPr>
              <a:buNone/>
              <a:defRPr b="0"/>
            </a:pPr>
            <a:r>
              <a:rPr lang="en-US" sz="2400" b="0" i="0" dirty="0">
                <a:solidFill>
                  <a:srgbClr val="000000"/>
                </a:solidFill>
              </a:rPr>
              <a:t>Metrics connect Design to the decisions above it</a:t>
            </a:r>
          </a:p>
        </p:txBody>
      </p:sp>
      <p:sp>
        <p:nvSpPr>
          <p:cNvPr id="3" name="Slide Number Placeholder 3"/>
          <p:cNvSpPr>
            <a:spLocks noGrp="1"/>
          </p:cNvSpPr>
          <p:nvPr>
            <p:ph type="sldNum" sz="quarter" idx="4"/>
          </p:nvPr>
        </p:nvSpPr>
        <p:spPr/>
        <p:txBody>
          <a:bodyPr/>
          <a:lstStyle/>
          <a:p>
            <a:fld id="{B7EB45DA-9A0D-DC49-8E02-F30A5DDC21C3}" type="slidenum">
              <a:rPr lang="en-US" smtClean="0"/>
              <a:t>20</a:t>
            </a:fld>
            <a:endParaRPr lang="en-US"/>
          </a:p>
        </p:txBody>
      </p:sp>
      <p:sp>
        <p:nvSpPr>
          <p:cNvPr id="330" name="DesignBand"/>
          <p:cNvSpPr/>
          <p:nvPr/>
        </p:nvSpPr>
        <p:spPr>
          <a:xfrm>
            <a:off x="460000" y="4250000"/>
            <a:ext cx="5300000" cy="1300000"/>
          </a:xfrm>
          <a:prstGeom prst="rect">
            <a:avLst/>
          </a:prstGeom>
          <a:solidFill>
            <a:srgbClr val="F5F1E8"/>
          </a:solidFill>
          <a:ln w="12700">
            <a:solidFill>
              <a:srgbClr val="C9B991"/>
            </a:solidFill>
          </a:ln>
        </p:spPr>
        <p:txBody>
          <a:bodyPr wrap="square" lIns="91440" tIns="45720" rIns="91440" bIns="45720" anchor="ctr"/>
          <a:lstStyle/>
          <a:p>
            <a:pPr algn="ctr">
              <a:buNone/>
            </a:pPr>
            <a:r>
              <a:rPr lang="en-US" sz="1600" b="1" i="0" dirty="0">
                <a:solidFill>
                  <a:srgbClr val="5C4826"/>
                </a:solidFill>
              </a:rPr>
              <a:t>DESIGN — mechanisms</a:t>
            </a:r>
          </a:p>
          <a:p>
            <a:pPr algn="ctr">
              <a:buNone/>
            </a:pPr>
            <a:r>
              <a:rPr lang="en-US" sz="1300" b="0" i="0" dirty="0">
                <a:solidFill>
                  <a:srgbClr val="5C4826"/>
                </a:solidFill>
              </a:rPr>
              <a:t>memory  ·  dependencies  ·  contention  ·  cache hits  ·  retries  ·  queueing</a:t>
            </a:r>
          </a:p>
          <a:p>
            <a:pPr algn="ctr">
              <a:buNone/>
            </a:pPr>
            <a:r>
              <a:rPr lang="en-US" sz="1100" b="0" i="1" dirty="0">
                <a:solidFill>
                  <a:srgbClr val="555960"/>
                </a:solidFill>
              </a:rPr>
              <a:t>Design-facing metrics</a:t>
            </a:r>
          </a:p>
        </p:txBody>
      </p:sp>
      <p:grpSp>
        <p:nvGrpSpPr>
          <p:cNvPr id="300" name="ArchGroup"/>
          <p:cNvGrpSpPr/>
          <p:nvPr/>
        </p:nvGrpSpPr>
        <p:grpSpPr>
          <a:xfrm>
            <a:off x="460000" y="2350000"/>
            <a:ext cx="5300000" cy="1600000"/>
            <a:chOff x="460000" y="2350000"/>
            <a:chExt cx="5300000" cy="1600000"/>
          </a:xfrm>
        </p:grpSpPr>
        <p:sp>
          <p:nvSpPr>
            <p:cNvPr id="301" name="ArchBand"/>
            <p:cNvSpPr/>
            <p:nvPr/>
          </p:nvSpPr>
          <p:spPr>
            <a:xfrm>
              <a:off x="460000" y="2650000"/>
              <a:ext cx="5300000" cy="1300000"/>
            </a:xfrm>
            <a:prstGeom prst="rect">
              <a:avLst/>
            </a:prstGeom>
            <a:solidFill>
              <a:srgbClr val="FFF3DF"/>
            </a:solidFill>
            <a:ln w="15875">
              <a:solidFill>
                <a:srgbClr val="8E6F3E"/>
              </a:solidFill>
            </a:ln>
          </p:spPr>
          <p:txBody>
            <a:bodyPr wrap="square" lIns="91440" tIns="45720" rIns="91440" bIns="45720" anchor="ctr"/>
            <a:lstStyle/>
            <a:p>
              <a:pPr algn="ctr">
                <a:buNone/>
              </a:pPr>
              <a:r>
                <a:rPr lang="en-US" sz="1600" b="1" i="0" dirty="0">
                  <a:solidFill>
                    <a:srgbClr val="8E6F3E"/>
                  </a:solidFill>
                </a:rPr>
                <a:t>ARCHITECTURE — properties created by organization</a:t>
              </a:r>
            </a:p>
            <a:p>
              <a:pPr algn="ctr">
                <a:buNone/>
              </a:pPr>
              <a:r>
                <a:rPr lang="en-US" sz="1400" b="0" i="0" dirty="0">
                  <a:solidFill>
                    <a:srgbClr val="5C4826"/>
                  </a:solidFill>
                </a:rPr>
                <a:t>critical path  ·  change locality  ·  coupling  ·  failure isolation</a:t>
              </a:r>
            </a:p>
            <a:p>
              <a:pPr algn="ctr">
                <a:buNone/>
              </a:pPr>
              <a:r>
                <a:rPr lang="en-US" sz="1100" b="0" i="1" dirty="0">
                  <a:solidFill>
                    <a:srgbClr val="555960"/>
                  </a:solidFill>
                </a:rPr>
                <a:t>Architecture-facing metrics</a:t>
              </a:r>
            </a:p>
          </p:txBody>
        </p:sp>
        <p:cxnSp>
          <p:nvCxnSpPr>
            <p:cNvPr id="302" name="ArwUp1"/>
            <p:cNvCxnSpPr/>
            <p:nvPr/>
          </p:nvCxnSpPr>
          <p:spPr>
            <a:xfrm flipV="1">
              <a:off x="3110000" y="3950000"/>
              <a:ext cx="0" cy="300000"/>
            </a:xfrm>
            <a:prstGeom prst="straightConnector1">
              <a:avLst/>
            </a:prstGeom>
            <a:ln w="38100">
              <a:solidFill>
                <a:srgbClr val="8E6F3E"/>
              </a:solidFill>
              <a:tailEnd type="triangle" w="med" len="med"/>
            </a:ln>
          </p:spPr>
        </p:cxnSp>
      </p:grpSp>
      <p:grpSp>
        <p:nvGrpSpPr>
          <p:cNvPr id="310" name="SpecGroup"/>
          <p:cNvGrpSpPr/>
          <p:nvPr/>
        </p:nvGrpSpPr>
        <p:grpSpPr>
          <a:xfrm>
            <a:off x="460000" y="1050000"/>
            <a:ext cx="5300000" cy="1600000"/>
            <a:chOff x="460000" y="1050000"/>
            <a:chExt cx="5300000" cy="1600000"/>
          </a:xfrm>
        </p:grpSpPr>
        <p:sp>
          <p:nvSpPr>
            <p:cNvPr id="311" name="SpecBand"/>
            <p:cNvSpPr/>
            <p:nvPr/>
          </p:nvSpPr>
          <p:spPr>
            <a:xfrm>
              <a:off x="460000" y="1050000"/>
              <a:ext cx="5300000" cy="1300000"/>
            </a:xfrm>
            <a:prstGeom prst="rect">
              <a:avLst/>
            </a:prstGeom>
            <a:solidFill>
              <a:srgbClr val="8E6F3E"/>
            </a:solidFill>
            <a:ln>
              <a:noFill/>
            </a:ln>
          </p:spPr>
          <p:txBody>
            <a:bodyPr wrap="square" lIns="91440" tIns="45720" rIns="91440" bIns="45720" anchor="ctr"/>
            <a:lstStyle/>
            <a:p>
              <a:pPr algn="ctr">
                <a:buNone/>
              </a:pPr>
              <a:r>
                <a:rPr lang="en-US" sz="1600" b="1" i="0" dirty="0">
                  <a:solidFill>
                    <a:srgbClr val="FFFFFF"/>
                  </a:solidFill>
                </a:rPr>
                <a:t>SPECIFICATION — observable obligations</a:t>
              </a:r>
            </a:p>
            <a:p>
              <a:pPr algn="ctr">
                <a:buNone/>
              </a:pPr>
              <a:r>
                <a:rPr lang="en-US" sz="1400" b="0" i="0" dirty="0">
                  <a:solidFill>
                    <a:srgbClr val="FFFFFF"/>
                  </a:solidFill>
                </a:rPr>
                <a:t>latency  ·  consistency  ·  correctness</a:t>
              </a:r>
            </a:p>
            <a:p>
              <a:pPr algn="ctr">
                <a:buNone/>
              </a:pPr>
              <a:r>
                <a:rPr lang="en-US" sz="1100" b="0" i="1" dirty="0">
                  <a:solidFill>
                    <a:srgbClr val="E9DFC8"/>
                  </a:solidFill>
                </a:rPr>
                <a:t>Spec-facing metrics</a:t>
              </a:r>
            </a:p>
          </p:txBody>
        </p:sp>
        <p:cxnSp>
          <p:nvCxnSpPr>
            <p:cNvPr id="312" name="ArwUp2"/>
            <p:cNvCxnSpPr/>
            <p:nvPr/>
          </p:nvCxnSpPr>
          <p:spPr>
            <a:xfrm flipV="1">
              <a:off x="3110000" y="2350000"/>
              <a:ext cx="0" cy="300000"/>
            </a:xfrm>
            <a:prstGeom prst="straightConnector1">
              <a:avLst/>
            </a:prstGeom>
            <a:ln w="38100">
              <a:solidFill>
                <a:srgbClr val="8E6F3E"/>
              </a:solidFill>
              <a:tailEnd type="triangle" w="med" len="med"/>
            </a:ln>
          </p:spPr>
        </p:cxnSp>
      </p:grpSp>
      <p:grpSp>
        <p:nvGrpSpPr>
          <p:cNvPr id="320" name="PayoffGroup"/>
          <p:cNvGrpSpPr/>
          <p:nvPr/>
        </p:nvGrpSpPr>
        <p:grpSpPr>
          <a:xfrm>
            <a:off x="274320" y="1050000"/>
            <a:ext cx="8595360" cy="5369088"/>
            <a:chOff x="274320" y="1050000"/>
            <a:chExt cx="8595360" cy="5369088"/>
          </a:xfrm>
        </p:grpSpPr>
        <p:sp>
          <p:nvSpPr>
            <p:cNvPr id="321" name="Callout"/>
            <p:cNvSpPr/>
            <p:nvPr/>
          </p:nvSpPr>
          <p:spPr>
            <a:xfrm>
              <a:off x="6000000" y="1050000"/>
              <a:ext cx="2870000" cy="4500000"/>
            </a:xfrm>
            <a:prstGeom prst="rect">
              <a:avLst/>
            </a:prstGeom>
            <a:solidFill>
              <a:srgbClr val="FBF8F2"/>
            </a:solidFill>
            <a:ln w="12700">
              <a:solidFill>
                <a:srgbClr val="C9B991"/>
              </a:solidFill>
            </a:ln>
          </p:spPr>
          <p:txBody>
            <a:bodyPr wrap="square" lIns="91440" tIns="45720" rIns="91440" bIns="45720" anchor="t"/>
            <a:lstStyle/>
            <a:p>
              <a:pPr algn="l">
                <a:buNone/>
              </a:pPr>
              <a:r>
                <a:rPr lang="en-US" sz="1600" b="1" i="0" dirty="0">
                  <a:solidFill>
                    <a:srgbClr val="5C4826"/>
                  </a:solidFill>
                </a:rPr>
                <a:t>Tie the metric to the claim</a:t>
              </a:r>
            </a:p>
            <a:p>
              <a:pPr algn="l">
                <a:buNone/>
              </a:pPr>
              <a:r>
                <a:rPr lang="en-US" sz="1250" b="1" i="0" dirty="0">
                  <a:solidFill>
                    <a:srgbClr val="555960"/>
                  </a:solidFill>
                </a:rPr>
                <a:t>Claim: </a:t>
              </a:r>
              <a:r>
                <a:rPr lang="en-US" sz="1250" b="0" i="0" dirty="0">
                  <a:solidFill>
                    <a:srgbClr val="555960"/>
                  </a:solidFill>
                </a:rPr>
                <a:t>“the model provider changes independently”</a:t>
              </a:r>
            </a:p>
            <a:p>
              <a:pPr algn="l">
                <a:buNone/>
              </a:pPr>
              <a:r>
                <a:rPr lang="en-US" sz="1250" b="1" i="0" dirty="0">
                  <a:solidFill>
                    <a:srgbClr val="555960"/>
                  </a:solidFill>
                </a:rPr>
                <a:t>Probe: </a:t>
              </a:r>
              <a:r>
                <a:rPr lang="en-US" sz="1250" b="0" i="0" dirty="0">
                  <a:solidFill>
                    <a:srgbClr val="555960"/>
                  </a:solidFill>
                </a:rPr>
                <a:t>replace the provider</a:t>
              </a:r>
            </a:p>
            <a:p>
              <a:pPr algn="l">
                <a:buNone/>
              </a:pPr>
              <a:r>
                <a:rPr lang="en-US" sz="1250" b="1" i="0" dirty="0">
                  <a:solidFill>
                    <a:srgbClr val="555960"/>
                  </a:solidFill>
                </a:rPr>
                <a:t>Observed: </a:t>
              </a:r>
              <a:r>
                <a:rPr lang="en-US" sz="1250" b="0" i="0" dirty="0">
                  <a:solidFill>
                    <a:srgbClr val="555960"/>
                  </a:solidFill>
                </a:rPr>
                <a:t>Advice + Storage + UI all change</a:t>
              </a:r>
            </a:p>
            <a:p>
              <a:pPr algn="l">
                <a:buNone/>
              </a:pPr>
              <a:r>
                <a:rPr lang="en-US" sz="1250" b="1" i="0" dirty="0">
                  <a:solidFill>
                    <a:srgbClr val="C0392B"/>
                  </a:solidFill>
                </a:rPr>
                <a:t>Verdict: </a:t>
              </a:r>
              <a:r>
                <a:rPr lang="en-US" sz="1250" b="0" i="0" dirty="0">
                  <a:solidFill>
                    <a:srgbClr val="C0392B"/>
                  </a:solidFill>
                </a:rPr>
                <a:t>the boundary is not localizing the change</a:t>
              </a:r>
            </a:p>
            <a:p>
              <a:pPr algn="l">
                <a:buNone/>
              </a:pPr>
              <a:endParaRPr lang="en-US" sz="1250" b="0" i="0" dirty="0">
                <a:solidFill>
                  <a:srgbClr val="C0392B"/>
                </a:solidFill>
              </a:endParaRPr>
            </a:p>
            <a:p>
              <a:pPr algn="l">
                <a:buNone/>
              </a:pPr>
              <a:r>
                <a:rPr lang="en-US" sz="1250" b="0" i="1" dirty="0">
                  <a:solidFill>
                    <a:srgbClr val="5C4826"/>
                  </a:solidFill>
                </a:rPr>
                <a:t>Not a cargo-cult scalar: “coupling = 0.63” decides nothing.</a:t>
              </a:r>
            </a:p>
          </p:txBody>
        </p:sp>
        <p:sp>
          <p:nvSpPr>
            <p:cNvPr id="322" name="FooterBand"/>
            <p:cNvSpPr/>
            <p:nvPr/>
          </p:nvSpPr>
          <p:spPr>
            <a:xfrm>
              <a:off x="274320" y="5852160"/>
              <a:ext cx="8595360" cy="566928"/>
            </a:xfrm>
            <a:prstGeom prst="rect">
              <a:avLst/>
            </a:prstGeom>
            <a:solidFill>
              <a:srgbClr val="8E6F3E"/>
            </a:solidFill>
            <a:ln>
              <a:noFill/>
            </a:ln>
          </p:spPr>
          <p:txBody>
            <a:bodyPr wrap="square" lIns="91440" tIns="45720" rIns="91440" bIns="45720" anchor="ctr"/>
            <a:lstStyle/>
            <a:p>
              <a:pPr algn="ctr">
                <a:buNone/>
              </a:pPr>
              <a:r>
                <a:rPr lang="en-US" sz="2000" b="1" i="0" dirty="0">
                  <a:solidFill>
                    <a:srgbClr val="FFFFFF"/>
                  </a:solidFill>
                </a:rPr>
                <a:t>Measure the consequence that could change the decision.</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0"/>
                                        </p:tgtEl>
                                        <p:attrNameLst>
                                          <p:attrName>style.visibility</p:attrName>
                                        </p:attrNameLst>
                                      </p:cBhvr>
                                      <p:to>
                                        <p:strVal val="visible"/>
                                      </p:to>
                                    </p:set>
                                    <p:animEffect transition="in" filter="fade">
                                      <p:cBhvr>
                                        <p:cTn id="7" dur="500"/>
                                        <p:tgtEl>
                                          <p:spTgt spid="30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0"/>
                                        </p:tgtEl>
                                        <p:attrNameLst>
                                          <p:attrName>style.visibility</p:attrName>
                                        </p:attrNameLst>
                                      </p:cBhvr>
                                      <p:to>
                                        <p:strVal val="visible"/>
                                      </p:to>
                                    </p:set>
                                    <p:animEffect transition="in" filter="fade">
                                      <p:cBhvr>
                                        <p:cTn id="12" dur="500"/>
                                        <p:tgtEl>
                                          <p:spTgt spid="3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20"/>
                                        </p:tgtEl>
                                        <p:attrNameLst>
                                          <p:attrName>style.visibility</p:attrName>
                                        </p:attrNameLst>
                                      </p:cBhvr>
                                      <p:to>
                                        <p:strVal val="visible"/>
                                      </p:to>
                                    </p:set>
                                    <p:animEffect transition="in" filter="fade">
                                      <p:cBhvr>
                                        <p:cTn id="17" dur="500"/>
                                        <p:tgtEl>
                                          <p:spTgt spid="3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148" y="118428"/>
            <a:ext cx="8590000" cy="638175"/>
          </a:xfrm>
        </p:spPr>
        <p:txBody>
          <a:bodyPr>
            <a:normAutofit fontScale="90000"/>
          </a:bodyPr>
          <a:lstStyle/>
          <a:p>
            <a:pPr>
              <a:buNone/>
              <a:defRPr b="0"/>
            </a:pPr>
            <a:r>
              <a:rPr lang="en-US" sz="2400" b="0" i="0" dirty="0">
                <a:solidFill>
                  <a:srgbClr val="000000"/>
                </a:solidFill>
              </a:rPr>
              <a:t>The mechanism is not the decision</a:t>
            </a:r>
          </a:p>
        </p:txBody>
      </p:sp>
      <p:sp>
        <p:nvSpPr>
          <p:cNvPr id="3" name="Slide Number Placeholder 3"/>
          <p:cNvSpPr>
            <a:spLocks noGrp="1"/>
          </p:cNvSpPr>
          <p:nvPr>
            <p:ph type="sldNum" sz="quarter" idx="4"/>
          </p:nvPr>
        </p:nvSpPr>
        <p:spPr/>
        <p:txBody>
          <a:bodyPr/>
          <a:lstStyle/>
          <a:p>
            <a:fld id="{B7EB45DA-9A0D-DC49-8E02-F30A5DDC21C3}" type="slidenum">
              <a:rPr lang="en-US" smtClean="0"/>
              <a:t>21</a:t>
            </a:fld>
            <a:endParaRPr lang="en-US"/>
          </a:p>
        </p:txBody>
      </p:sp>
      <p:sp>
        <p:nvSpPr>
          <p:cNvPr id="100" name="H"/>
          <p:cNvSpPr/>
          <p:nvPr/>
        </p:nvSpPr>
        <p:spPr>
          <a:xfrm>
            <a:off x="277147" y="980000"/>
            <a:ext cx="2400000" cy="540000"/>
          </a:xfrm>
          <a:prstGeom prst="rect">
            <a:avLst/>
          </a:prstGeom>
          <a:solidFill>
            <a:srgbClr val="8E6F3E"/>
          </a:solidFill>
          <a:ln w="9525">
            <a:solidFill>
              <a:srgbClr val="C9B991"/>
            </a:solidFill>
          </a:ln>
        </p:spPr>
        <p:txBody>
          <a:bodyPr wrap="square" lIns="91440" tIns="45720" rIns="91440" bIns="45720" anchor="ctr"/>
          <a:lstStyle/>
          <a:p>
            <a:pPr algn="ctr">
              <a:buNone/>
            </a:pPr>
            <a:r>
              <a:rPr lang="en-US" sz="1700" b="1" i="0" dirty="0">
                <a:solidFill>
                  <a:srgbClr val="FFFFFF"/>
                </a:solidFill>
              </a:rPr>
              <a:t>Question</a:t>
            </a:r>
          </a:p>
        </p:txBody>
      </p:sp>
      <p:sp>
        <p:nvSpPr>
          <p:cNvPr id="101" name="H"/>
          <p:cNvSpPr/>
          <p:nvPr/>
        </p:nvSpPr>
        <p:spPr>
          <a:xfrm>
            <a:off x="2727147" y="980000"/>
            <a:ext cx="3300000" cy="540000"/>
          </a:xfrm>
          <a:prstGeom prst="rect">
            <a:avLst/>
          </a:prstGeom>
          <a:solidFill>
            <a:srgbClr val="8E6F3E"/>
          </a:solidFill>
          <a:ln w="9525">
            <a:solidFill>
              <a:srgbClr val="C9B991"/>
            </a:solidFill>
          </a:ln>
        </p:spPr>
        <p:txBody>
          <a:bodyPr wrap="square" lIns="91440" tIns="45720" rIns="91440" bIns="45720" anchor="ctr"/>
          <a:lstStyle/>
          <a:p>
            <a:pPr algn="ctr">
              <a:buNone/>
            </a:pPr>
            <a:r>
              <a:rPr lang="en-US" sz="1700" b="1" i="0" dirty="0">
                <a:solidFill>
                  <a:srgbClr val="FFFFFF"/>
                </a:solidFill>
              </a:rPr>
              <a:t>Alternatives</a:t>
            </a:r>
          </a:p>
        </p:txBody>
      </p:sp>
      <p:sp>
        <p:nvSpPr>
          <p:cNvPr id="102" name="H"/>
          <p:cNvSpPr/>
          <p:nvPr/>
        </p:nvSpPr>
        <p:spPr>
          <a:xfrm>
            <a:off x="6127147" y="980000"/>
            <a:ext cx="2739704" cy="540000"/>
          </a:xfrm>
          <a:prstGeom prst="rect">
            <a:avLst/>
          </a:prstGeom>
          <a:solidFill>
            <a:srgbClr val="8E6F3E"/>
          </a:solidFill>
          <a:ln w="9525">
            <a:solidFill>
              <a:srgbClr val="C9B991"/>
            </a:solidFill>
          </a:ln>
        </p:spPr>
        <p:txBody>
          <a:bodyPr wrap="square" lIns="91440" tIns="45720" rIns="91440" bIns="45720" anchor="ctr"/>
          <a:lstStyle/>
          <a:p>
            <a:pPr algn="ctr">
              <a:buNone/>
            </a:pPr>
            <a:r>
              <a:rPr lang="en-US" sz="1700" b="1" i="0" dirty="0">
                <a:solidFill>
                  <a:srgbClr val="FFFFFF"/>
                </a:solidFill>
              </a:rPr>
              <a:t>Consequence to assess</a:t>
            </a:r>
          </a:p>
        </p:txBody>
      </p:sp>
      <p:sp>
        <p:nvSpPr>
          <p:cNvPr id="103" name="Q"/>
          <p:cNvSpPr/>
          <p:nvPr/>
        </p:nvSpPr>
        <p:spPr>
          <a:xfrm>
            <a:off x="277147" y="1560000"/>
            <a:ext cx="2400000" cy="560000"/>
          </a:xfrm>
          <a:prstGeom prst="rect">
            <a:avLst/>
          </a:prstGeom>
          <a:solidFill>
            <a:srgbClr val="FBF8F2"/>
          </a:solidFill>
          <a:ln w="9525">
            <a:solidFill>
              <a:srgbClr val="C9B991"/>
            </a:solidFill>
          </a:ln>
        </p:spPr>
        <p:txBody>
          <a:bodyPr wrap="square" lIns="91440" tIns="45720" rIns="91440" bIns="45720" anchor="ctr"/>
          <a:lstStyle/>
          <a:p>
            <a:pPr algn="ctr">
              <a:buNone/>
            </a:pPr>
            <a:r>
              <a:rPr lang="en-US" sz="1600" b="1" i="0" dirty="0">
                <a:solidFill>
                  <a:srgbClr val="000000"/>
                </a:solidFill>
              </a:rPr>
              <a:t>Who owns truth?</a:t>
            </a:r>
          </a:p>
        </p:txBody>
      </p:sp>
      <p:sp>
        <p:nvSpPr>
          <p:cNvPr id="104" name="A"/>
          <p:cNvSpPr/>
          <p:nvPr/>
        </p:nvSpPr>
        <p:spPr>
          <a:xfrm>
            <a:off x="2727147" y="1560000"/>
            <a:ext cx="3300000" cy="560000"/>
          </a:xfrm>
          <a:prstGeom prst="rect">
            <a:avLst/>
          </a:prstGeom>
          <a:solidFill>
            <a:srgbClr val="FBF8F2"/>
          </a:solidFill>
          <a:ln w="9525">
            <a:solidFill>
              <a:srgbClr val="C9B991"/>
            </a:solidFill>
          </a:ln>
        </p:spPr>
        <p:txBody>
          <a:bodyPr wrap="square" lIns="91440" tIns="45720" rIns="91440" bIns="45720" anchor="ctr"/>
          <a:lstStyle/>
          <a:p>
            <a:pPr algn="ctr">
              <a:buNone/>
            </a:pPr>
            <a:r>
              <a:rPr lang="en-US" sz="1600" b="0" i="0" dirty="0">
                <a:solidFill>
                  <a:srgbClr val="000000"/>
                </a:solidFill>
              </a:rPr>
              <a:t>single / distributed authority</a:t>
            </a:r>
          </a:p>
        </p:txBody>
      </p:sp>
      <p:sp>
        <p:nvSpPr>
          <p:cNvPr id="105" name="C"/>
          <p:cNvSpPr/>
          <p:nvPr/>
        </p:nvSpPr>
        <p:spPr>
          <a:xfrm>
            <a:off x="6127147" y="1560000"/>
            <a:ext cx="2739704" cy="560000"/>
          </a:xfrm>
          <a:prstGeom prst="rect">
            <a:avLst/>
          </a:prstGeom>
          <a:solidFill>
            <a:srgbClr val="FBF8F2"/>
          </a:solidFill>
          <a:ln w="9525">
            <a:solidFill>
              <a:srgbClr val="C9B991"/>
            </a:solidFill>
          </a:ln>
        </p:spPr>
        <p:txBody>
          <a:bodyPr wrap="square" lIns="91440" tIns="45720" rIns="91440" bIns="45720" anchor="ctr"/>
          <a:lstStyle/>
          <a:p>
            <a:pPr algn="ctr">
              <a:buNone/>
            </a:pPr>
            <a:r>
              <a:rPr lang="en-US" sz="1600" b="0" i="0" dirty="0">
                <a:solidFill>
                  <a:srgbClr val="000000"/>
                </a:solidFill>
              </a:rPr>
              <a:t>coordination · conflict</a:t>
            </a:r>
          </a:p>
        </p:txBody>
      </p:sp>
      <p:sp>
        <p:nvSpPr>
          <p:cNvPr id="106" name="Q"/>
          <p:cNvSpPr/>
          <p:nvPr/>
        </p:nvSpPr>
        <p:spPr>
          <a:xfrm>
            <a:off x="277147" y="2120000"/>
            <a:ext cx="2400000" cy="560000"/>
          </a:xfrm>
          <a:prstGeom prst="rect">
            <a:avLst/>
          </a:prstGeom>
          <a:solidFill>
            <a:srgbClr val="FFFFFF"/>
          </a:solidFill>
          <a:ln w="9525">
            <a:solidFill>
              <a:srgbClr val="C9B991"/>
            </a:solidFill>
          </a:ln>
        </p:spPr>
        <p:txBody>
          <a:bodyPr wrap="square" lIns="91440" tIns="45720" rIns="91440" bIns="45720" anchor="ctr"/>
          <a:lstStyle/>
          <a:p>
            <a:pPr algn="ctr">
              <a:buNone/>
            </a:pPr>
            <a:r>
              <a:rPr lang="en-US" sz="1600" b="1" i="0" dirty="0">
                <a:solidFill>
                  <a:srgbClr val="000000"/>
                </a:solidFill>
              </a:rPr>
              <a:t>Copies?</a:t>
            </a:r>
          </a:p>
        </p:txBody>
      </p:sp>
      <p:sp>
        <p:nvSpPr>
          <p:cNvPr id="107" name="A"/>
          <p:cNvSpPr/>
          <p:nvPr/>
        </p:nvSpPr>
        <p:spPr>
          <a:xfrm>
            <a:off x="2727147" y="2120000"/>
            <a:ext cx="3300000" cy="560000"/>
          </a:xfrm>
          <a:prstGeom prst="rect">
            <a:avLst/>
          </a:prstGeom>
          <a:solidFill>
            <a:srgbClr val="FFFFFF"/>
          </a:solidFill>
          <a:ln w="9525">
            <a:solidFill>
              <a:srgbClr val="C9B991"/>
            </a:solidFill>
          </a:ln>
        </p:spPr>
        <p:txBody>
          <a:bodyPr wrap="square" lIns="91440" tIns="45720" rIns="91440" bIns="45720" anchor="ctr"/>
          <a:lstStyle/>
          <a:p>
            <a:pPr algn="ctr">
              <a:buNone/>
            </a:pPr>
            <a:r>
              <a:rPr lang="en-US" sz="1600" b="0" i="0" dirty="0">
                <a:solidFill>
                  <a:srgbClr val="000000"/>
                </a:solidFill>
              </a:rPr>
              <a:t>tighter / looser consistency</a:t>
            </a:r>
          </a:p>
        </p:txBody>
      </p:sp>
      <p:sp>
        <p:nvSpPr>
          <p:cNvPr id="108" name="C"/>
          <p:cNvSpPr/>
          <p:nvPr/>
        </p:nvSpPr>
        <p:spPr>
          <a:xfrm>
            <a:off x="6127147" y="2120000"/>
            <a:ext cx="2739704" cy="560000"/>
          </a:xfrm>
          <a:prstGeom prst="rect">
            <a:avLst/>
          </a:prstGeom>
          <a:solidFill>
            <a:srgbClr val="FFFFFF"/>
          </a:solidFill>
          <a:ln w="9525">
            <a:solidFill>
              <a:srgbClr val="C9B991"/>
            </a:solidFill>
          </a:ln>
        </p:spPr>
        <p:txBody>
          <a:bodyPr wrap="square" lIns="91440" tIns="45720" rIns="91440" bIns="45720" anchor="ctr"/>
          <a:lstStyle/>
          <a:p>
            <a:pPr algn="ctr">
              <a:buNone/>
            </a:pPr>
            <a:r>
              <a:rPr lang="en-US" sz="1600" b="0" i="0" dirty="0">
                <a:solidFill>
                  <a:srgbClr val="000000"/>
                </a:solidFill>
              </a:rPr>
              <a:t>latency · availability</a:t>
            </a:r>
          </a:p>
        </p:txBody>
      </p:sp>
      <p:sp>
        <p:nvSpPr>
          <p:cNvPr id="109" name="Q"/>
          <p:cNvSpPr/>
          <p:nvPr/>
        </p:nvSpPr>
        <p:spPr>
          <a:xfrm>
            <a:off x="277147" y="2680000"/>
            <a:ext cx="2400000" cy="560000"/>
          </a:xfrm>
          <a:prstGeom prst="rect">
            <a:avLst/>
          </a:prstGeom>
          <a:solidFill>
            <a:srgbClr val="FBF8F2"/>
          </a:solidFill>
          <a:ln w="9525">
            <a:solidFill>
              <a:srgbClr val="C9B991"/>
            </a:solidFill>
          </a:ln>
        </p:spPr>
        <p:txBody>
          <a:bodyPr wrap="square" lIns="91440" tIns="45720" rIns="91440" bIns="45720" anchor="ctr"/>
          <a:lstStyle/>
          <a:p>
            <a:pPr algn="ctr">
              <a:buNone/>
            </a:pPr>
            <a:r>
              <a:rPr lang="en-US" sz="1600" b="1" i="0" dirty="0">
                <a:solidFill>
                  <a:srgbClr val="000000"/>
                </a:solidFill>
              </a:rPr>
              <a:t>When?</a:t>
            </a:r>
          </a:p>
        </p:txBody>
      </p:sp>
      <p:sp>
        <p:nvSpPr>
          <p:cNvPr id="110" name="A"/>
          <p:cNvSpPr/>
          <p:nvPr/>
        </p:nvSpPr>
        <p:spPr>
          <a:xfrm>
            <a:off x="2727147" y="2680000"/>
            <a:ext cx="3300000" cy="560000"/>
          </a:xfrm>
          <a:prstGeom prst="rect">
            <a:avLst/>
          </a:prstGeom>
          <a:solidFill>
            <a:srgbClr val="FBF8F2"/>
          </a:solidFill>
          <a:ln w="9525">
            <a:solidFill>
              <a:srgbClr val="C9B991"/>
            </a:solidFill>
          </a:ln>
        </p:spPr>
        <p:txBody>
          <a:bodyPr wrap="square" lIns="91440" tIns="45720" rIns="91440" bIns="45720" anchor="ctr"/>
          <a:lstStyle/>
          <a:p>
            <a:pPr algn="ctr">
              <a:buNone/>
            </a:pPr>
            <a:r>
              <a:rPr lang="en-US" sz="1600" b="0" i="0" dirty="0">
                <a:solidFill>
                  <a:srgbClr val="000000"/>
                </a:solidFill>
              </a:rPr>
              <a:t>immediate / deferred</a:t>
            </a:r>
          </a:p>
        </p:txBody>
      </p:sp>
      <p:sp>
        <p:nvSpPr>
          <p:cNvPr id="111" name="C"/>
          <p:cNvSpPr/>
          <p:nvPr/>
        </p:nvSpPr>
        <p:spPr>
          <a:xfrm>
            <a:off x="6127147" y="2680000"/>
            <a:ext cx="2739704" cy="560000"/>
          </a:xfrm>
          <a:prstGeom prst="rect">
            <a:avLst/>
          </a:prstGeom>
          <a:solidFill>
            <a:srgbClr val="FBF8F2"/>
          </a:solidFill>
          <a:ln w="9525">
            <a:solidFill>
              <a:srgbClr val="C9B991"/>
            </a:solidFill>
          </a:ln>
        </p:spPr>
        <p:txBody>
          <a:bodyPr wrap="square" lIns="91440" tIns="45720" rIns="91440" bIns="45720" anchor="ctr"/>
          <a:lstStyle/>
          <a:p>
            <a:pPr algn="ctr">
              <a:buNone/>
            </a:pPr>
            <a:r>
              <a:rPr lang="en-US" sz="1600" b="0" i="0" dirty="0">
                <a:solidFill>
                  <a:srgbClr val="000000"/>
                </a:solidFill>
              </a:rPr>
              <a:t>critical path · failure isolation</a:t>
            </a:r>
          </a:p>
        </p:txBody>
      </p:sp>
      <p:sp>
        <p:nvSpPr>
          <p:cNvPr id="112" name="Q"/>
          <p:cNvSpPr/>
          <p:nvPr/>
        </p:nvSpPr>
        <p:spPr>
          <a:xfrm>
            <a:off x="277147" y="3240000"/>
            <a:ext cx="2400000" cy="560000"/>
          </a:xfrm>
          <a:prstGeom prst="rect">
            <a:avLst/>
          </a:prstGeom>
          <a:solidFill>
            <a:srgbClr val="FFFFFF"/>
          </a:solidFill>
          <a:ln w="9525">
            <a:solidFill>
              <a:srgbClr val="C9B991"/>
            </a:solidFill>
          </a:ln>
        </p:spPr>
        <p:txBody>
          <a:bodyPr wrap="square" lIns="91440" tIns="45720" rIns="91440" bIns="45720" anchor="ctr"/>
          <a:lstStyle/>
          <a:p>
            <a:pPr algn="ctr">
              <a:buNone/>
            </a:pPr>
            <a:r>
              <a:rPr lang="en-US" sz="1600" b="1" i="0" dirty="0">
                <a:solidFill>
                  <a:srgbClr val="000000"/>
                </a:solidFill>
              </a:rPr>
              <a:t>Depend how?</a:t>
            </a:r>
          </a:p>
        </p:txBody>
      </p:sp>
      <p:sp>
        <p:nvSpPr>
          <p:cNvPr id="113" name="A"/>
          <p:cNvSpPr/>
          <p:nvPr/>
        </p:nvSpPr>
        <p:spPr>
          <a:xfrm>
            <a:off x="2727147" y="3240000"/>
            <a:ext cx="3300000" cy="560000"/>
          </a:xfrm>
          <a:prstGeom prst="rect">
            <a:avLst/>
          </a:prstGeom>
          <a:solidFill>
            <a:srgbClr val="FFFFFF"/>
          </a:solidFill>
          <a:ln w="9525">
            <a:solidFill>
              <a:srgbClr val="C9B991"/>
            </a:solidFill>
          </a:ln>
        </p:spPr>
        <p:txBody>
          <a:bodyPr wrap="square" lIns="91440" tIns="45720" rIns="91440" bIns="45720" anchor="ctr"/>
          <a:lstStyle/>
          <a:p>
            <a:pPr algn="ctr">
              <a:buNone/>
            </a:pPr>
            <a:r>
              <a:rPr lang="en-US" sz="1600" b="0" i="0" dirty="0">
                <a:solidFill>
                  <a:srgbClr val="000000"/>
                </a:solidFill>
              </a:rPr>
              <a:t>direct / indirect</a:t>
            </a:r>
          </a:p>
        </p:txBody>
      </p:sp>
      <p:sp>
        <p:nvSpPr>
          <p:cNvPr id="114" name="C"/>
          <p:cNvSpPr/>
          <p:nvPr/>
        </p:nvSpPr>
        <p:spPr>
          <a:xfrm>
            <a:off x="6127147" y="3240000"/>
            <a:ext cx="2739704" cy="560000"/>
          </a:xfrm>
          <a:prstGeom prst="rect">
            <a:avLst/>
          </a:prstGeom>
          <a:solidFill>
            <a:srgbClr val="FFFFFF"/>
          </a:solidFill>
          <a:ln w="9525">
            <a:solidFill>
              <a:srgbClr val="C9B991"/>
            </a:solidFill>
          </a:ln>
        </p:spPr>
        <p:txBody>
          <a:bodyPr wrap="square" lIns="91440" tIns="45720" rIns="91440" bIns="45720" anchor="ctr"/>
          <a:lstStyle/>
          <a:p>
            <a:pPr algn="ctr">
              <a:buNone/>
            </a:pPr>
            <a:r>
              <a:rPr lang="en-US" sz="1600" b="0" i="0" dirty="0">
                <a:solidFill>
                  <a:srgbClr val="000000"/>
                </a:solidFill>
              </a:rPr>
              <a:t>simplicity · change impact</a:t>
            </a:r>
          </a:p>
        </p:txBody>
      </p:sp>
      <p:sp>
        <p:nvSpPr>
          <p:cNvPr id="115" name="Q"/>
          <p:cNvSpPr/>
          <p:nvPr/>
        </p:nvSpPr>
        <p:spPr>
          <a:xfrm>
            <a:off x="277147" y="3800000"/>
            <a:ext cx="2400000" cy="560000"/>
          </a:xfrm>
          <a:prstGeom prst="rect">
            <a:avLst/>
          </a:prstGeom>
          <a:solidFill>
            <a:srgbClr val="FBF8F2"/>
          </a:solidFill>
          <a:ln w="9525">
            <a:solidFill>
              <a:srgbClr val="C9B991"/>
            </a:solidFill>
          </a:ln>
        </p:spPr>
        <p:txBody>
          <a:bodyPr wrap="square" lIns="91440" tIns="45720" rIns="91440" bIns="45720" anchor="ctr"/>
          <a:lstStyle/>
          <a:p>
            <a:pPr algn="ctr">
              <a:buNone/>
            </a:pPr>
            <a:r>
              <a:rPr lang="en-US" sz="1600" b="1" i="0" dirty="0">
                <a:solidFill>
                  <a:srgbClr val="000000"/>
                </a:solidFill>
              </a:rPr>
              <a:t>Hide what?</a:t>
            </a:r>
          </a:p>
        </p:txBody>
      </p:sp>
      <p:sp>
        <p:nvSpPr>
          <p:cNvPr id="116" name="A"/>
          <p:cNvSpPr/>
          <p:nvPr/>
        </p:nvSpPr>
        <p:spPr>
          <a:xfrm>
            <a:off x="2727147" y="3800000"/>
            <a:ext cx="3300000" cy="560000"/>
          </a:xfrm>
          <a:prstGeom prst="rect">
            <a:avLst/>
          </a:prstGeom>
          <a:solidFill>
            <a:srgbClr val="FBF8F2"/>
          </a:solidFill>
          <a:ln w="9525">
            <a:solidFill>
              <a:srgbClr val="C9B991"/>
            </a:solidFill>
          </a:ln>
        </p:spPr>
        <p:txBody>
          <a:bodyPr wrap="square" lIns="91440" tIns="45720" rIns="91440" bIns="45720" anchor="ctr"/>
          <a:lstStyle/>
          <a:p>
            <a:pPr algn="ctr">
              <a:buNone/>
            </a:pPr>
            <a:r>
              <a:rPr lang="en-US" sz="1600" b="0" i="0" dirty="0">
                <a:solidFill>
                  <a:srgbClr val="000000"/>
                </a:solidFill>
              </a:rPr>
              <a:t>different seams</a:t>
            </a:r>
          </a:p>
        </p:txBody>
      </p:sp>
      <p:sp>
        <p:nvSpPr>
          <p:cNvPr id="117" name="C"/>
          <p:cNvSpPr/>
          <p:nvPr/>
        </p:nvSpPr>
        <p:spPr>
          <a:xfrm>
            <a:off x="6127147" y="3800000"/>
            <a:ext cx="2739704" cy="560000"/>
          </a:xfrm>
          <a:prstGeom prst="rect">
            <a:avLst/>
          </a:prstGeom>
          <a:solidFill>
            <a:srgbClr val="FBF8F2"/>
          </a:solidFill>
          <a:ln w="9525">
            <a:solidFill>
              <a:srgbClr val="C9B991"/>
            </a:solidFill>
          </a:ln>
        </p:spPr>
        <p:txBody>
          <a:bodyPr wrap="square" lIns="91440" tIns="45720" rIns="91440" bIns="45720" anchor="ctr"/>
          <a:lstStyle/>
          <a:p>
            <a:pPr algn="ctr">
              <a:buNone/>
            </a:pPr>
            <a:r>
              <a:rPr lang="en-US" sz="1600" b="0" i="0" dirty="0">
                <a:solidFill>
                  <a:srgbClr val="000000"/>
                </a:solidFill>
              </a:rPr>
              <a:t>locality of expected change</a:t>
            </a:r>
          </a:p>
        </p:txBody>
      </p:sp>
      <p:sp>
        <p:nvSpPr>
          <p:cNvPr id="150" name="Rhet"/>
          <p:cNvSpPr/>
          <p:nvPr/>
        </p:nvSpPr>
        <p:spPr>
          <a:xfrm>
            <a:off x="277147" y="4470000"/>
            <a:ext cx="8589704" cy="470000"/>
          </a:xfrm>
          <a:prstGeom prst="rect">
            <a:avLst/>
          </a:prstGeom>
          <a:noFill/>
          <a:ln>
            <a:noFill/>
          </a:ln>
        </p:spPr>
        <p:txBody>
          <a:bodyPr wrap="square" lIns="91440" tIns="45720" rIns="91440" bIns="45720" anchor="ctr"/>
          <a:lstStyle/>
          <a:p>
            <a:pPr algn="ctr">
              <a:buNone/>
            </a:pPr>
            <a:r>
              <a:rPr lang="en-US" sz="2100" b="1" i="0" dirty="0">
                <a:solidFill>
                  <a:srgbClr val="8E6F3E"/>
                </a:solidFill>
              </a:rPr>
              <a:t>What evidence could change the decision?</a:t>
            </a:r>
          </a:p>
        </p:txBody>
      </p:sp>
      <p:sp>
        <p:nvSpPr>
          <p:cNvPr id="151" name="Reveal"/>
          <p:cNvSpPr/>
          <p:nvPr/>
        </p:nvSpPr>
        <p:spPr>
          <a:xfrm>
            <a:off x="277147" y="4990000"/>
            <a:ext cx="8589704" cy="560000"/>
          </a:xfrm>
          <a:prstGeom prst="rect">
            <a:avLst/>
          </a:prstGeom>
          <a:noFill/>
          <a:ln>
            <a:noFill/>
          </a:ln>
        </p:spPr>
        <p:txBody>
          <a:bodyPr wrap="square" lIns="91440" tIns="45720" rIns="91440" bIns="45720" anchor="ctr"/>
          <a:lstStyle/>
          <a:p>
            <a:pPr algn="ctr">
              <a:buNone/>
            </a:pPr>
            <a:r>
              <a:rPr lang="en-US" sz="1500" b="0" i="1" dirty="0">
                <a:solidFill>
                  <a:srgbClr val="555960"/>
                </a:solidFill>
              </a:rPr>
              <a:t>Make the consequential difference assessable: quantitatively where possible, qualitatively where necessary.</a:t>
            </a:r>
          </a:p>
        </p:txBody>
      </p:sp>
      <p:sp>
        <p:nvSpPr>
          <p:cNvPr id="124" name="FooterBand"/>
          <p:cNvSpPr/>
          <p:nvPr/>
        </p:nvSpPr>
        <p:spPr>
          <a:xfrm>
            <a:off x="274320" y="5852160"/>
            <a:ext cx="8595360" cy="566928"/>
          </a:xfrm>
          <a:prstGeom prst="rect">
            <a:avLst/>
          </a:prstGeom>
          <a:solidFill>
            <a:srgbClr val="8E6F3E"/>
          </a:solidFill>
          <a:ln>
            <a:noFill/>
          </a:ln>
        </p:spPr>
        <p:txBody>
          <a:bodyPr wrap="square" lIns="91440" tIns="45720" rIns="91440" bIns="45720" anchor="ctr"/>
          <a:lstStyle/>
          <a:p>
            <a:pPr algn="ctr">
              <a:buNone/>
            </a:pPr>
            <a:r>
              <a:rPr lang="en-US" sz="1800" b="1" i="0" dirty="0">
                <a:solidFill>
                  <a:srgbClr val="FFFFFF"/>
                </a:solidFill>
              </a:rPr>
              <a:t>Design is not choosing the “good” mechanism.</a:t>
            </a:r>
          </a:p>
          <a:p>
            <a:pPr algn="ctr">
              <a:buNone/>
            </a:pPr>
            <a:r>
              <a:rPr lang="en-US" sz="1800" b="1" i="0" dirty="0">
                <a:solidFill>
                  <a:srgbClr val="FFFFFF"/>
                </a:solidFill>
              </a:rPr>
              <a:t>It is choosing the mechanism whose consequences fit the problem.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150"/>
                                  </p:tgtEl>
                                  <p:attrNameLst>
                                    <p:attrName>style.visibility</p:attrName>
                                  </p:attrNameLst>
                                </p:cBhvr>
                                <p:to>
                                  <p:strVal val="visible"/>
                                </p:to>
                              </p:set>
                              <p:animEffect transition="in" filter="fade">
                                <p:cBhvr>
                                  <p:cTn id="6" dur="500"/>
                                  <p:tgtEl>
                                    <p:spTgt spid="150"/>
                                  </p:tgtEl>
                                </p:cBhvr>
                              </p:animEffect>
                            </p:childTnLst>
                          </p:cTn>
                        </p:par>
                      </p:childTnLst>
                    </p:cTn>
                  </p:par>
                  <p:par>
                    <p:cTn id="7" fill="hold">
                      <p:stCondLst>
                        <p:cond delay="indefinite"/>
                      </p:stCondLst>
                      <p:childTnLst>
                        <p:par>
                          <p:cTn id="8" presetID="10" presetClass="entr" presetSubtype="0" fill="hold" grpId="1" nodeType="clickEffect">
                            <p:stCondLst>
                              <p:cond delay="0"/>
                            </p:stCondLst>
                            <p:childTnLst>
                              <p:set>
                                <p:cBhvr>
                                  <p:cTn id="9" dur="1" fill="hold">
                                    <p:stCondLst>
                                      <p:cond delay="0"/>
                                    </p:stCondLst>
                                  </p:cTn>
                                  <p:tgtEl>
                                    <p:spTgt spid="151"/>
                                  </p:tgtEl>
                                  <p:attrNameLst>
                                    <p:attrName>style.visibility</p:attrName>
                                  </p:attrNameLst>
                                </p:cBhvr>
                                <p:to>
                                  <p:strVal val="visible"/>
                                </p:to>
                              </p:set>
                              <p:animEffect transition="in" filter="fade">
                                <p:cBhvr>
                                  <p:cTn id="10" dur="500"/>
                                  <p:tgtEl>
                                    <p:spTgt spid="151"/>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150" grpId="0"/>
      <p:bldP spid="151" grpId="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140000"/>
            <a:ext cx="7772400" cy="1450000"/>
          </a:xfrm>
        </p:spPr>
        <p:txBody>
          <a:bodyPr>
            <a:normAutofit/>
          </a:bodyPr>
          <a:lstStyle/>
          <a:p>
            <a:pPr algn="ctr">
              <a:buNone/>
              <a:defRPr b="0"/>
            </a:pPr>
            <a:r>
              <a:rPr lang="en-US" sz="3200" b="0" i="0" dirty="0">
                <a:solidFill>
                  <a:srgbClr val="000000"/>
                </a:solidFill>
              </a:rPr>
              <a:t>Can a system of correct components still fail to satisfy its specification?</a:t>
            </a:r>
          </a:p>
        </p:txBody>
      </p:sp>
      <p:sp>
        <p:nvSpPr>
          <p:cNvPr id="3" name="Slide Number Placeholder 3"/>
          <p:cNvSpPr>
            <a:spLocks noGrp="1"/>
          </p:cNvSpPr>
          <p:nvPr>
            <p:ph type="sldNum" sz="quarter" idx="4"/>
          </p:nvPr>
        </p:nvSpPr>
        <p:spPr/>
        <p:txBody>
          <a:bodyPr/>
          <a:lstStyle/>
          <a:p>
            <a:fld id="{B7EB45DA-9A0D-DC49-8E02-F30A5DDC21C3}" type="slidenum">
              <a:rPr lang="en-US" smtClean="0"/>
              <a:t>22</a:t>
            </a:fld>
            <a:endParaRPr lang="en-US"/>
          </a:p>
        </p:txBody>
      </p:sp>
      <p:sp>
        <p:nvSpPr>
          <p:cNvPr id="100" name="SectionLabel"/>
          <p:cNvSpPr txBox="1"/>
          <p:nvPr/>
        </p:nvSpPr>
        <p:spPr>
          <a:xfrm>
            <a:off x="685800" y="1737360"/>
            <a:ext cx="7772400" cy="355600"/>
          </a:xfrm>
          <a:prstGeom prst="rect">
            <a:avLst/>
          </a:prstGeom>
          <a:noFill/>
          <a:ln>
            <a:noFill/>
          </a:ln>
        </p:spPr>
        <p:txBody>
          <a:bodyPr wrap="square" lIns="0" tIns="0" rIns="0" bIns="0" anchor="t"/>
          <a:lstStyle/>
          <a:p>
            <a:pPr algn="ctr">
              <a:buNone/>
            </a:pPr>
            <a:r>
              <a:rPr lang="en-US" sz="2200" b="1" i="0" dirty="0">
                <a:solidFill>
                  <a:srgbClr val="8E6F3E"/>
                </a:solidFill>
              </a:rPr>
              <a:t>SECTION 3</a:t>
            </a:r>
          </a:p>
        </p:txBody>
      </p:sp>
      <p:sp>
        <p:nvSpPr>
          <p:cNvPr id="101" name="Rule"/>
          <p:cNvSpPr/>
          <p:nvPr/>
        </p:nvSpPr>
        <p:spPr>
          <a:xfrm>
            <a:off x="3429000" y="3720000"/>
            <a:ext cx="2286000" cy="50800"/>
          </a:xfrm>
          <a:prstGeom prst="rect">
            <a:avLst/>
          </a:prstGeom>
          <a:solidFill>
            <a:srgbClr val="8E6F3E"/>
          </a:solidFill>
          <a:ln>
            <a:noFill/>
          </a:ln>
        </p:spPr>
        <p:txBody>
          <a:bodyPr wrap="square" lIns="91440" tIns="45720" rIns="91440" bIns="45720" anchor="ctr"/>
          <a:lstStyle/>
          <a:p>
            <a:endParaRPr/>
          </a:p>
        </p:txBody>
      </p:sp>
      <p:sp>
        <p:nvSpPr>
          <p:cNvPr id="102" name="AssumeLine"/>
          <p:cNvSpPr txBox="1"/>
          <p:nvPr/>
        </p:nvSpPr>
        <p:spPr>
          <a:xfrm>
            <a:off x="685800" y="3960000"/>
            <a:ext cx="7772400" cy="420000"/>
          </a:xfrm>
          <a:prstGeom prst="rect">
            <a:avLst/>
          </a:prstGeom>
          <a:noFill/>
          <a:ln>
            <a:noFill/>
          </a:ln>
        </p:spPr>
        <p:txBody>
          <a:bodyPr wrap="square" lIns="0" tIns="0" rIns="0" bIns="0" anchor="t"/>
          <a:lstStyle/>
          <a:p>
            <a:pPr algn="ctr">
              <a:buNone/>
            </a:pPr>
            <a:r>
              <a:rPr lang="en-US" sz="2000" b="0" i="1" dirty="0">
                <a:solidFill>
                  <a:srgbClr val="555960"/>
                </a:solidFill>
              </a:rPr>
              <a:t>Assume every component correctly fulfills its local responsibility.</a:t>
            </a:r>
          </a:p>
        </p:txBody>
      </p:sp>
      <p:sp>
        <p:nvSpPr>
          <p:cNvPr id="104" name="TaskLine"/>
          <p:cNvSpPr txBox="1"/>
          <p:nvPr/>
        </p:nvSpPr>
        <p:spPr>
          <a:xfrm>
            <a:off x="685800" y="5150000"/>
            <a:ext cx="7772400" cy="700000"/>
          </a:xfrm>
          <a:prstGeom prst="rect">
            <a:avLst/>
          </a:prstGeom>
          <a:noFill/>
          <a:ln>
            <a:noFill/>
          </a:ln>
        </p:spPr>
        <p:txBody>
          <a:bodyPr wrap="square" lIns="0" tIns="0" rIns="0" bIns="0" anchor="t"/>
          <a:lstStyle/>
          <a:p>
            <a:pPr algn="ctr">
              <a:buNone/>
            </a:pPr>
            <a:r>
              <a:rPr lang="en-US" sz="1800" b="0" i="0" dirty="0">
                <a:solidFill>
                  <a:srgbClr val="5C4826"/>
                </a:solidFill>
              </a:rPr>
              <a:t>Yes or no? Construct an example or argument.</a:t>
            </a:r>
          </a:p>
        </p:txBody>
      </p:sp>
      <p:sp>
        <p:nvSpPr>
          <p:cNvPr id="103" name="TPSbadge"/>
          <p:cNvSpPr/>
          <p:nvPr/>
        </p:nvSpPr>
        <p:spPr>
          <a:xfrm>
            <a:off x="2972000" y="4300000"/>
            <a:ext cx="3200000" cy="640000"/>
          </a:xfrm>
          <a:prstGeom prst="roundRect">
            <a:avLst/>
          </a:prstGeom>
          <a:solidFill>
            <a:srgbClr val="FBF8F2"/>
          </a:solidFill>
          <a:ln w="15875">
            <a:solidFill>
              <a:srgbClr val="8E6F3E"/>
            </a:solidFill>
          </a:ln>
        </p:spPr>
        <p:txBody>
          <a:bodyPr wrap="square" lIns="91440" tIns="45720" rIns="91440" bIns="45720" anchor="ctr"/>
          <a:lstStyle/>
          <a:p>
            <a:pPr algn="ctr">
              <a:buNone/>
            </a:pPr>
            <a:r>
              <a:rPr lang="en-US" sz="2200" b="1" i="0" dirty="0">
                <a:solidFill>
                  <a:srgbClr val="6B3FA0"/>
                </a:solidFill>
              </a:rPr>
              <a:t>THINK</a:t>
            </a:r>
            <a:r>
              <a:rPr lang="en-US" sz="2200" b="1" i="0" dirty="0">
                <a:solidFill>
                  <a:srgbClr val="9A9A9A"/>
                </a:solidFill>
              </a:rPr>
              <a:t>  ·  </a:t>
            </a:r>
            <a:r>
              <a:rPr lang="en-US" sz="2200" b="1" i="0" dirty="0">
                <a:solidFill>
                  <a:srgbClr val="2E74B5"/>
                </a:solidFill>
              </a:rPr>
              <a:t>PAIR</a:t>
            </a:r>
            <a:r>
              <a:rPr lang="en-US" sz="2200" b="1" i="0" dirty="0">
                <a:solidFill>
                  <a:srgbClr val="9A9A9A"/>
                </a:solidFill>
              </a:rPr>
              <a:t>  ·  </a:t>
            </a:r>
            <a:r>
              <a:rPr lang="en-US" sz="2200" b="1" i="0" dirty="0">
                <a:solidFill>
                  <a:srgbClr val="B8860B"/>
                </a:solidFill>
              </a:rPr>
              <a:t>SHARE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148" y="118428"/>
            <a:ext cx="8590000" cy="638175"/>
          </a:xfrm>
        </p:spPr>
        <p:txBody>
          <a:bodyPr>
            <a:normAutofit fontScale="90000"/>
          </a:bodyPr>
          <a:lstStyle/>
          <a:p>
            <a:pPr>
              <a:buNone/>
              <a:defRPr b="0"/>
            </a:pPr>
            <a:r>
              <a:rPr lang="en-US" sz="2400" b="0" i="0" dirty="0">
                <a:solidFill>
                  <a:srgbClr val="000000"/>
                </a:solidFill>
              </a:rPr>
              <a:t>Local choices must compose</a:t>
            </a:r>
          </a:p>
        </p:txBody>
      </p:sp>
      <p:sp>
        <p:nvSpPr>
          <p:cNvPr id="3" name="Slide Number Placeholder 3"/>
          <p:cNvSpPr>
            <a:spLocks noGrp="1"/>
          </p:cNvSpPr>
          <p:nvPr>
            <p:ph type="sldNum" sz="quarter" idx="4"/>
          </p:nvPr>
        </p:nvSpPr>
        <p:spPr/>
        <p:txBody>
          <a:bodyPr/>
          <a:lstStyle/>
          <a:p>
            <a:fld id="{B7EB45DA-9A0D-DC49-8E02-F30A5DDC21C3}" type="slidenum">
              <a:rPr lang="en-US" smtClean="0"/>
              <a:t>23</a:t>
            </a:fld>
            <a:endParaRPr lang="en-US"/>
          </a:p>
        </p:txBody>
      </p:sp>
      <p:sp>
        <p:nvSpPr>
          <p:cNvPr id="100" name="LblL"/>
          <p:cNvSpPr txBox="1"/>
          <p:nvPr/>
        </p:nvSpPr>
        <p:spPr>
          <a:xfrm>
            <a:off x="312799" y="980000"/>
            <a:ext cx="3960000" cy="470000"/>
          </a:xfrm>
          <a:prstGeom prst="rect">
            <a:avLst/>
          </a:prstGeom>
          <a:noFill/>
          <a:ln>
            <a:noFill/>
          </a:ln>
        </p:spPr>
        <p:txBody>
          <a:bodyPr wrap="square" lIns="91440" tIns="45720" rIns="91440" bIns="45720" anchor="ctr"/>
          <a:lstStyle/>
          <a:p>
            <a:pPr algn="ctr">
              <a:buNone/>
            </a:pPr>
            <a:r>
              <a:rPr lang="en-US" sz="2000" b="1" i="0" dirty="0">
                <a:solidFill>
                  <a:srgbClr val="8E6F3E"/>
                </a:solidFill>
              </a:rPr>
              <a:t>BUDGETS ACCUMULATE</a:t>
            </a:r>
          </a:p>
        </p:txBody>
      </p:sp>
      <p:sp>
        <p:nvSpPr>
          <p:cNvPr id="101" name="CardL"/>
          <p:cNvSpPr/>
          <p:nvPr/>
        </p:nvSpPr>
        <p:spPr>
          <a:xfrm>
            <a:off x="312799" y="1520000"/>
            <a:ext cx="3960000" cy="3840000"/>
          </a:xfrm>
          <a:prstGeom prst="rect">
            <a:avLst/>
          </a:prstGeom>
          <a:solidFill>
            <a:srgbClr val="F5F1E8"/>
          </a:solidFill>
          <a:ln w="12700">
            <a:solidFill>
              <a:srgbClr val="C9B991"/>
            </a:solidFill>
          </a:ln>
        </p:spPr>
        <p:txBody>
          <a:bodyPr wrap="square" lIns="91440" tIns="45720" rIns="91440" bIns="45720" anchor="ctr"/>
          <a:lstStyle/>
          <a:p>
            <a:endParaRPr/>
          </a:p>
        </p:txBody>
      </p:sp>
      <p:sp>
        <p:nvSpPr>
          <p:cNvPr id="102" name="BudgetLbl"/>
          <p:cNvSpPr txBox="1"/>
          <p:nvPr/>
        </p:nvSpPr>
        <p:spPr>
          <a:xfrm>
            <a:off x="462799" y="1620000"/>
            <a:ext cx="3660000" cy="430000"/>
          </a:xfrm>
          <a:prstGeom prst="rect">
            <a:avLst/>
          </a:prstGeom>
          <a:noFill/>
          <a:ln>
            <a:noFill/>
          </a:ln>
        </p:spPr>
        <p:txBody>
          <a:bodyPr wrap="square" lIns="91440" tIns="45720" rIns="91440" bIns="45720" anchor="ctr"/>
          <a:lstStyle/>
          <a:p>
            <a:pPr algn="ctr">
              <a:buNone/>
            </a:pPr>
            <a:r>
              <a:rPr lang="en-US" sz="1800" b="1" i="0" dirty="0">
                <a:solidFill>
                  <a:srgbClr val="5C4826"/>
                </a:solidFill>
              </a:rPr>
              <a:t>end-to-end budget:  500 ms</a:t>
            </a:r>
          </a:p>
        </p:txBody>
      </p:sp>
      <p:sp>
        <p:nvSpPr>
          <p:cNvPr id="110" name="Ms"/>
          <p:cNvSpPr/>
          <p:nvPr/>
        </p:nvSpPr>
        <p:spPr>
          <a:xfrm>
            <a:off x="532799" y="2150000"/>
            <a:ext cx="560000" cy="720000"/>
          </a:xfrm>
          <a:prstGeom prst="rect">
            <a:avLst/>
          </a:prstGeom>
          <a:solidFill>
            <a:srgbClr val="FBF8F2"/>
          </a:solidFill>
          <a:ln w="12700">
            <a:solidFill>
              <a:srgbClr val="C9B991"/>
            </a:solidFill>
          </a:ln>
        </p:spPr>
        <p:txBody>
          <a:bodyPr wrap="square" lIns="0" tIns="45720" rIns="0" bIns="45720" anchor="ctr"/>
          <a:lstStyle/>
          <a:p>
            <a:pPr algn="ctr">
              <a:buNone/>
            </a:pPr>
            <a:r>
              <a:rPr lang="en-US" sz="1500" b="1" i="0" dirty="0">
                <a:solidFill>
                  <a:srgbClr val="8E6F3E"/>
                </a:solidFill>
              </a:rPr>
              <a:t>A</a:t>
            </a:r>
          </a:p>
          <a:p>
            <a:pPr algn="ctr">
              <a:spcBef>
                <a:spcPts val="40"/>
              </a:spcBef>
              <a:buNone/>
            </a:pPr>
            <a:r>
              <a:rPr lang="en-US" sz="1700" b="1" i="0" dirty="0">
                <a:solidFill>
                  <a:srgbClr val="5C4826"/>
                </a:solidFill>
              </a:rPr>
              <a:t>90</a:t>
            </a:r>
          </a:p>
        </p:txBody>
      </p:sp>
      <p:sp>
        <p:nvSpPr>
          <p:cNvPr id="111" name="Arr"/>
          <p:cNvSpPr txBox="1"/>
          <p:nvPr/>
        </p:nvSpPr>
        <p:spPr>
          <a:xfrm>
            <a:off x="1092799" y="2150000"/>
            <a:ext cx="180000" cy="720000"/>
          </a:xfrm>
          <a:prstGeom prst="rect">
            <a:avLst/>
          </a:prstGeom>
          <a:noFill/>
          <a:ln>
            <a:noFill/>
          </a:ln>
        </p:spPr>
        <p:txBody>
          <a:bodyPr wrap="square" lIns="0" tIns="45720" rIns="0" bIns="45720" anchor="ctr"/>
          <a:lstStyle/>
          <a:p>
            <a:pPr algn="ctr">
              <a:buNone/>
            </a:pPr>
            <a:r>
              <a:rPr lang="en-US" sz="2000" b="1" i="0" dirty="0">
                <a:solidFill>
                  <a:srgbClr val="8E6F3E"/>
                </a:solidFill>
              </a:rPr>
              <a:t>→</a:t>
            </a:r>
          </a:p>
        </p:txBody>
      </p:sp>
      <p:sp>
        <p:nvSpPr>
          <p:cNvPr id="112" name="Ms"/>
          <p:cNvSpPr/>
          <p:nvPr/>
        </p:nvSpPr>
        <p:spPr>
          <a:xfrm>
            <a:off x="1272799" y="2150000"/>
            <a:ext cx="560000" cy="720000"/>
          </a:xfrm>
          <a:prstGeom prst="rect">
            <a:avLst/>
          </a:prstGeom>
          <a:solidFill>
            <a:srgbClr val="FBF8F2"/>
          </a:solidFill>
          <a:ln w="12700">
            <a:solidFill>
              <a:srgbClr val="C9B991"/>
            </a:solidFill>
          </a:ln>
        </p:spPr>
        <p:txBody>
          <a:bodyPr wrap="square" lIns="0" tIns="45720" rIns="0" bIns="45720" anchor="ctr"/>
          <a:lstStyle/>
          <a:p>
            <a:pPr algn="ctr">
              <a:buNone/>
            </a:pPr>
            <a:r>
              <a:rPr lang="en-US" sz="1500" b="1" i="0" dirty="0">
                <a:solidFill>
                  <a:srgbClr val="8E6F3E"/>
                </a:solidFill>
              </a:rPr>
              <a:t>B</a:t>
            </a:r>
          </a:p>
          <a:p>
            <a:pPr algn="ctr">
              <a:spcBef>
                <a:spcPts val="40"/>
              </a:spcBef>
              <a:buNone/>
            </a:pPr>
            <a:r>
              <a:rPr lang="en-US" sz="1700" b="1" i="0" dirty="0">
                <a:solidFill>
                  <a:srgbClr val="5C4826"/>
                </a:solidFill>
              </a:rPr>
              <a:t>80</a:t>
            </a:r>
          </a:p>
        </p:txBody>
      </p:sp>
      <p:sp>
        <p:nvSpPr>
          <p:cNvPr id="113" name="Arr"/>
          <p:cNvSpPr txBox="1"/>
          <p:nvPr/>
        </p:nvSpPr>
        <p:spPr>
          <a:xfrm>
            <a:off x="1832799" y="2150000"/>
            <a:ext cx="180000" cy="720000"/>
          </a:xfrm>
          <a:prstGeom prst="rect">
            <a:avLst/>
          </a:prstGeom>
          <a:noFill/>
          <a:ln>
            <a:noFill/>
          </a:ln>
        </p:spPr>
        <p:txBody>
          <a:bodyPr wrap="square" lIns="0" tIns="45720" rIns="0" bIns="45720" anchor="ctr"/>
          <a:lstStyle/>
          <a:p>
            <a:pPr algn="ctr">
              <a:buNone/>
            </a:pPr>
            <a:r>
              <a:rPr lang="en-US" sz="2000" b="1" i="0" dirty="0">
                <a:solidFill>
                  <a:srgbClr val="8E6F3E"/>
                </a:solidFill>
              </a:rPr>
              <a:t>→</a:t>
            </a:r>
          </a:p>
        </p:txBody>
      </p:sp>
      <p:sp>
        <p:nvSpPr>
          <p:cNvPr id="114" name="Ms"/>
          <p:cNvSpPr/>
          <p:nvPr/>
        </p:nvSpPr>
        <p:spPr>
          <a:xfrm>
            <a:off x="2012799" y="2150000"/>
            <a:ext cx="560000" cy="720000"/>
          </a:xfrm>
          <a:prstGeom prst="rect">
            <a:avLst/>
          </a:prstGeom>
          <a:solidFill>
            <a:srgbClr val="FBF8F2"/>
          </a:solidFill>
          <a:ln w="12700">
            <a:solidFill>
              <a:srgbClr val="C9B991"/>
            </a:solidFill>
          </a:ln>
        </p:spPr>
        <p:txBody>
          <a:bodyPr wrap="square" lIns="0" tIns="45720" rIns="0" bIns="45720" anchor="ctr"/>
          <a:lstStyle/>
          <a:p>
            <a:pPr algn="ctr">
              <a:buNone/>
            </a:pPr>
            <a:r>
              <a:rPr lang="en-US" sz="1500" b="1" i="0" dirty="0">
                <a:solidFill>
                  <a:srgbClr val="8E6F3E"/>
                </a:solidFill>
              </a:rPr>
              <a:t>C</a:t>
            </a:r>
          </a:p>
          <a:p>
            <a:pPr algn="ctr">
              <a:spcBef>
                <a:spcPts val="40"/>
              </a:spcBef>
              <a:buNone/>
            </a:pPr>
            <a:r>
              <a:rPr lang="en-US" sz="1700" b="1" i="0" dirty="0">
                <a:solidFill>
                  <a:srgbClr val="5C4826"/>
                </a:solidFill>
              </a:rPr>
              <a:t>140</a:t>
            </a:r>
          </a:p>
        </p:txBody>
      </p:sp>
      <p:sp>
        <p:nvSpPr>
          <p:cNvPr id="115" name="Arr"/>
          <p:cNvSpPr txBox="1"/>
          <p:nvPr/>
        </p:nvSpPr>
        <p:spPr>
          <a:xfrm>
            <a:off x="2572799" y="2150000"/>
            <a:ext cx="180000" cy="720000"/>
          </a:xfrm>
          <a:prstGeom prst="rect">
            <a:avLst/>
          </a:prstGeom>
          <a:noFill/>
          <a:ln>
            <a:noFill/>
          </a:ln>
        </p:spPr>
        <p:txBody>
          <a:bodyPr wrap="square" lIns="0" tIns="45720" rIns="0" bIns="45720" anchor="ctr"/>
          <a:lstStyle/>
          <a:p>
            <a:pPr algn="ctr">
              <a:buNone/>
            </a:pPr>
            <a:r>
              <a:rPr lang="en-US" sz="2000" b="1" i="0" dirty="0">
                <a:solidFill>
                  <a:srgbClr val="8E6F3E"/>
                </a:solidFill>
              </a:rPr>
              <a:t>→</a:t>
            </a:r>
          </a:p>
        </p:txBody>
      </p:sp>
      <p:sp>
        <p:nvSpPr>
          <p:cNvPr id="116" name="Ms"/>
          <p:cNvSpPr/>
          <p:nvPr/>
        </p:nvSpPr>
        <p:spPr>
          <a:xfrm>
            <a:off x="2752799" y="2150000"/>
            <a:ext cx="560000" cy="720000"/>
          </a:xfrm>
          <a:prstGeom prst="rect">
            <a:avLst/>
          </a:prstGeom>
          <a:solidFill>
            <a:srgbClr val="FBF8F2"/>
          </a:solidFill>
          <a:ln w="12700">
            <a:solidFill>
              <a:srgbClr val="C9B991"/>
            </a:solidFill>
          </a:ln>
        </p:spPr>
        <p:txBody>
          <a:bodyPr wrap="square" lIns="0" tIns="45720" rIns="0" bIns="45720" anchor="ctr"/>
          <a:lstStyle/>
          <a:p>
            <a:pPr algn="ctr">
              <a:buNone/>
            </a:pPr>
            <a:r>
              <a:rPr lang="en-US" sz="1500" b="1" i="0" dirty="0">
                <a:solidFill>
                  <a:srgbClr val="8E6F3E"/>
                </a:solidFill>
              </a:rPr>
              <a:t>D</a:t>
            </a:r>
          </a:p>
          <a:p>
            <a:pPr algn="ctr">
              <a:spcBef>
                <a:spcPts val="40"/>
              </a:spcBef>
              <a:buNone/>
            </a:pPr>
            <a:r>
              <a:rPr lang="en-US" sz="1700" b="1" i="0" dirty="0">
                <a:solidFill>
                  <a:srgbClr val="5C4826"/>
                </a:solidFill>
              </a:rPr>
              <a:t>110</a:t>
            </a:r>
          </a:p>
        </p:txBody>
      </p:sp>
      <p:sp>
        <p:nvSpPr>
          <p:cNvPr id="117" name="Arr"/>
          <p:cNvSpPr txBox="1"/>
          <p:nvPr/>
        </p:nvSpPr>
        <p:spPr>
          <a:xfrm>
            <a:off x="3312799" y="2150000"/>
            <a:ext cx="180000" cy="720000"/>
          </a:xfrm>
          <a:prstGeom prst="rect">
            <a:avLst/>
          </a:prstGeom>
          <a:noFill/>
          <a:ln>
            <a:noFill/>
          </a:ln>
        </p:spPr>
        <p:txBody>
          <a:bodyPr wrap="square" lIns="0" tIns="45720" rIns="0" bIns="45720" anchor="ctr"/>
          <a:lstStyle/>
          <a:p>
            <a:pPr algn="ctr">
              <a:buNone/>
            </a:pPr>
            <a:r>
              <a:rPr lang="en-US" sz="2000" b="1" i="0" dirty="0">
                <a:solidFill>
                  <a:srgbClr val="8E6F3E"/>
                </a:solidFill>
              </a:rPr>
              <a:t>→</a:t>
            </a:r>
          </a:p>
        </p:txBody>
      </p:sp>
      <p:sp>
        <p:nvSpPr>
          <p:cNvPr id="118" name="Ms"/>
          <p:cNvSpPr/>
          <p:nvPr/>
        </p:nvSpPr>
        <p:spPr>
          <a:xfrm>
            <a:off x="3492799" y="2150000"/>
            <a:ext cx="560000" cy="720000"/>
          </a:xfrm>
          <a:prstGeom prst="rect">
            <a:avLst/>
          </a:prstGeom>
          <a:solidFill>
            <a:srgbClr val="FBF8F2"/>
          </a:solidFill>
          <a:ln w="12700">
            <a:solidFill>
              <a:srgbClr val="C9B991"/>
            </a:solidFill>
          </a:ln>
        </p:spPr>
        <p:txBody>
          <a:bodyPr wrap="square" lIns="0" tIns="45720" rIns="0" bIns="45720" anchor="ctr"/>
          <a:lstStyle/>
          <a:p>
            <a:pPr algn="ctr">
              <a:buNone/>
            </a:pPr>
            <a:r>
              <a:rPr lang="en-US" sz="1500" b="1" i="0" dirty="0">
                <a:solidFill>
                  <a:srgbClr val="8E6F3E"/>
                </a:solidFill>
              </a:rPr>
              <a:t>E</a:t>
            </a:r>
          </a:p>
          <a:p>
            <a:pPr algn="ctr">
              <a:spcBef>
                <a:spcPts val="40"/>
              </a:spcBef>
              <a:buNone/>
            </a:pPr>
            <a:r>
              <a:rPr lang="en-US" sz="1700" b="1" i="0" dirty="0">
                <a:solidFill>
                  <a:srgbClr val="5C4826"/>
                </a:solidFill>
              </a:rPr>
              <a:t>100</a:t>
            </a:r>
          </a:p>
        </p:txBody>
      </p:sp>
      <p:sp>
        <p:nvSpPr>
          <p:cNvPr id="130" name="Sum"/>
          <p:cNvSpPr txBox="1"/>
          <p:nvPr/>
        </p:nvSpPr>
        <p:spPr>
          <a:xfrm>
            <a:off x="462799" y="3320000"/>
            <a:ext cx="3660000" cy="560000"/>
          </a:xfrm>
          <a:prstGeom prst="rect">
            <a:avLst/>
          </a:prstGeom>
          <a:noFill/>
          <a:ln>
            <a:noFill/>
          </a:ln>
        </p:spPr>
        <p:txBody>
          <a:bodyPr wrap="square" lIns="91440" tIns="45720" rIns="91440" bIns="45720" anchor="ctr"/>
          <a:lstStyle/>
          <a:p>
            <a:pPr algn="ctr">
              <a:buNone/>
            </a:pPr>
            <a:r>
              <a:rPr lang="en-US" sz="2300" b="1" i="0" dirty="0">
                <a:solidFill>
                  <a:srgbClr val="C0392B"/>
                </a:solidFill>
              </a:rPr>
              <a:t>PATH = 520 ms  ✗</a:t>
            </a:r>
          </a:p>
        </p:txBody>
      </p:sp>
      <p:sp>
        <p:nvSpPr>
          <p:cNvPr id="131" name="McL"/>
          <p:cNvSpPr txBox="1"/>
          <p:nvPr/>
        </p:nvSpPr>
        <p:spPr>
          <a:xfrm>
            <a:off x="462799" y="4180000"/>
            <a:ext cx="3660000" cy="900000"/>
          </a:xfrm>
          <a:prstGeom prst="rect">
            <a:avLst/>
          </a:prstGeom>
          <a:noFill/>
          <a:ln>
            <a:noFill/>
          </a:ln>
        </p:spPr>
        <p:txBody>
          <a:bodyPr wrap="square" lIns="0" tIns="45720" rIns="0" bIns="45720" anchor="t"/>
          <a:lstStyle/>
          <a:p>
            <a:pPr algn="ctr">
              <a:buNone/>
            </a:pPr>
            <a:r>
              <a:rPr lang="en-US" sz="1300" b="1" i="0" dirty="0">
                <a:solidFill>
                  <a:srgbClr val="8E6F3E"/>
                </a:solidFill>
              </a:rPr>
              <a:t>local evidence: </a:t>
            </a:r>
            <a:r>
              <a:rPr lang="en-US" sz="1300" b="0" i="0" dirty="0">
                <a:solidFill>
                  <a:srgbClr val="555960"/>
                </a:solidFill>
              </a:rPr>
              <a:t>component latency</a:t>
            </a:r>
          </a:p>
          <a:p>
            <a:pPr algn="ctr">
              <a:spcBef>
                <a:spcPts val="60"/>
              </a:spcBef>
              <a:buNone/>
            </a:pPr>
            <a:r>
              <a:rPr lang="en-US" sz="1300" b="1" i="0" dirty="0">
                <a:solidFill>
                  <a:srgbClr val="8E6F3E"/>
                </a:solidFill>
              </a:rPr>
              <a:t>system claim: </a:t>
            </a:r>
            <a:r>
              <a:rPr lang="en-US" sz="1300" b="0" i="0" dirty="0">
                <a:solidFill>
                  <a:srgbClr val="555960"/>
                </a:solidFill>
              </a:rPr>
              <a:t>end-to-end latency</a:t>
            </a:r>
          </a:p>
        </p:txBody>
      </p:sp>
      <p:sp>
        <p:nvSpPr>
          <p:cNvPr id="140" name="LblR"/>
          <p:cNvSpPr txBox="1"/>
          <p:nvPr/>
        </p:nvSpPr>
        <p:spPr>
          <a:xfrm>
            <a:off x="4871200" y="980000"/>
            <a:ext cx="3960000" cy="470000"/>
          </a:xfrm>
          <a:prstGeom prst="rect">
            <a:avLst/>
          </a:prstGeom>
          <a:noFill/>
          <a:ln>
            <a:noFill/>
          </a:ln>
        </p:spPr>
        <p:txBody>
          <a:bodyPr wrap="square" lIns="91440" tIns="45720" rIns="91440" bIns="45720" anchor="ctr"/>
          <a:lstStyle/>
          <a:p>
            <a:pPr algn="ctr">
              <a:buNone/>
            </a:pPr>
            <a:r>
              <a:rPr lang="en-US" sz="2000" b="1" i="0" dirty="0">
                <a:solidFill>
                  <a:srgbClr val="8E6F3E"/>
                </a:solidFill>
              </a:rPr>
              <a:t>ASSUMPTIONS LEAVE GAPS</a:t>
            </a:r>
          </a:p>
        </p:txBody>
      </p:sp>
      <p:sp>
        <p:nvSpPr>
          <p:cNvPr id="141" name="CardR"/>
          <p:cNvSpPr/>
          <p:nvPr/>
        </p:nvSpPr>
        <p:spPr>
          <a:xfrm>
            <a:off x="4871200" y="1520000"/>
            <a:ext cx="3960000" cy="3840000"/>
          </a:xfrm>
          <a:prstGeom prst="rect">
            <a:avLst/>
          </a:prstGeom>
          <a:solidFill>
            <a:srgbClr val="F5F1E8"/>
          </a:solidFill>
          <a:ln w="12700">
            <a:solidFill>
              <a:srgbClr val="C9B991"/>
            </a:solidFill>
          </a:ln>
        </p:spPr>
        <p:txBody>
          <a:bodyPr wrap="square" lIns="91440" tIns="45720" rIns="91440" bIns="45720" anchor="ctr"/>
          <a:lstStyle/>
          <a:p>
            <a:endParaRPr/>
          </a:p>
        </p:txBody>
      </p:sp>
      <p:sp>
        <p:nvSpPr>
          <p:cNvPr id="142" name="BoxA"/>
          <p:cNvSpPr/>
          <p:nvPr/>
        </p:nvSpPr>
        <p:spPr>
          <a:xfrm>
            <a:off x="5010000" y="1950000"/>
            <a:ext cx="1560000" cy="1150000"/>
          </a:xfrm>
          <a:prstGeom prst="rect">
            <a:avLst/>
          </a:prstGeom>
          <a:solidFill>
            <a:srgbClr val="FBF8F2"/>
          </a:solidFill>
          <a:ln w="12700">
            <a:solidFill>
              <a:srgbClr val="C9B991"/>
            </a:solidFill>
          </a:ln>
        </p:spPr>
        <p:txBody>
          <a:bodyPr wrap="square" lIns="91440" tIns="45720" rIns="91440" bIns="45720" anchor="ctr"/>
          <a:lstStyle/>
          <a:p>
            <a:pPr algn="ctr">
              <a:buNone/>
            </a:pPr>
            <a:r>
              <a:rPr lang="en-US" sz="2000" b="1" i="0" dirty="0">
                <a:solidFill>
                  <a:srgbClr val="5C4826"/>
                </a:solidFill>
              </a:rPr>
              <a:t>A</a:t>
            </a:r>
          </a:p>
          <a:p>
            <a:pPr algn="ctr">
              <a:spcBef>
                <a:spcPts val="60"/>
              </a:spcBef>
              <a:buNone/>
            </a:pPr>
            <a:r>
              <a:rPr lang="en-US" sz="1400" b="0" i="0" dirty="0">
                <a:solidFill>
                  <a:srgbClr val="555960"/>
                </a:solidFill>
              </a:rPr>
              <a:t>assumes B sanitizes</a:t>
            </a:r>
          </a:p>
        </p:txBody>
      </p:sp>
      <p:sp>
        <p:nvSpPr>
          <p:cNvPr id="143" name="BoxB"/>
          <p:cNvSpPr/>
          <p:nvPr/>
        </p:nvSpPr>
        <p:spPr>
          <a:xfrm>
            <a:off x="7130000" y="1950000"/>
            <a:ext cx="1560000" cy="1150000"/>
          </a:xfrm>
          <a:prstGeom prst="rect">
            <a:avLst/>
          </a:prstGeom>
          <a:solidFill>
            <a:srgbClr val="FBF8F2"/>
          </a:solidFill>
          <a:ln w="12700">
            <a:solidFill>
              <a:srgbClr val="C9B991"/>
            </a:solidFill>
          </a:ln>
        </p:spPr>
        <p:txBody>
          <a:bodyPr wrap="square" lIns="91440" tIns="45720" rIns="91440" bIns="45720" anchor="ctr"/>
          <a:lstStyle/>
          <a:p>
            <a:pPr algn="ctr">
              <a:buNone/>
            </a:pPr>
            <a:r>
              <a:rPr lang="en-US" sz="2000" b="1" i="0" dirty="0">
                <a:solidFill>
                  <a:srgbClr val="5C4826"/>
                </a:solidFill>
              </a:rPr>
              <a:t>B</a:t>
            </a:r>
          </a:p>
          <a:p>
            <a:pPr algn="ctr">
              <a:spcBef>
                <a:spcPts val="60"/>
              </a:spcBef>
              <a:buNone/>
            </a:pPr>
            <a:r>
              <a:rPr lang="en-US" sz="1400" b="0" i="0" dirty="0">
                <a:solidFill>
                  <a:srgbClr val="555960"/>
                </a:solidFill>
              </a:rPr>
              <a:t>assumes A sanitized</a:t>
            </a:r>
          </a:p>
        </p:txBody>
      </p:sp>
      <p:sp>
        <p:nvSpPr>
          <p:cNvPr id="144" name="GapRect"/>
          <p:cNvSpPr/>
          <p:nvPr/>
        </p:nvSpPr>
        <p:spPr>
          <a:xfrm>
            <a:off x="6620000" y="1950000"/>
            <a:ext cx="470000" cy="1150000"/>
          </a:xfrm>
          <a:prstGeom prst="rect">
            <a:avLst/>
          </a:prstGeom>
          <a:noFill/>
          <a:ln w="19050">
            <a:solidFill>
              <a:srgbClr val="C0392B"/>
            </a:solidFill>
            <a:prstDash val="dash"/>
          </a:ln>
        </p:spPr>
        <p:txBody>
          <a:bodyPr/>
          <a:lstStyle/>
          <a:p>
            <a:endParaRPr/>
          </a:p>
        </p:txBody>
      </p:sp>
      <p:sp>
        <p:nvSpPr>
          <p:cNvPr id="145" name="GapLbl"/>
          <p:cNvSpPr txBox="1"/>
          <p:nvPr/>
        </p:nvSpPr>
        <p:spPr>
          <a:xfrm>
            <a:off x="5010000" y="3320000"/>
            <a:ext cx="3680000" cy="520000"/>
          </a:xfrm>
          <a:prstGeom prst="rect">
            <a:avLst/>
          </a:prstGeom>
          <a:noFill/>
          <a:ln>
            <a:noFill/>
          </a:ln>
        </p:spPr>
        <p:txBody>
          <a:bodyPr wrap="square" lIns="91440" tIns="45720" rIns="91440" bIns="45720" anchor="ctr"/>
          <a:lstStyle/>
          <a:p>
            <a:pPr algn="ctr">
              <a:buNone/>
            </a:pPr>
            <a:r>
              <a:rPr lang="en-US" sz="1900" b="1" i="0" dirty="0">
                <a:solidFill>
                  <a:srgbClr val="C0392B"/>
                </a:solidFill>
              </a:rPr>
              <a:t>SANITIZATION UNOWNED  ✗</a:t>
            </a:r>
          </a:p>
        </p:txBody>
      </p:sp>
      <p:sp>
        <p:nvSpPr>
          <p:cNvPr id="146" name="McR"/>
          <p:cNvSpPr txBox="1"/>
          <p:nvPr/>
        </p:nvSpPr>
        <p:spPr>
          <a:xfrm>
            <a:off x="5010000" y="4180000"/>
            <a:ext cx="3680000" cy="900000"/>
          </a:xfrm>
          <a:prstGeom prst="rect">
            <a:avLst/>
          </a:prstGeom>
          <a:noFill/>
          <a:ln>
            <a:noFill/>
          </a:ln>
        </p:spPr>
        <p:txBody>
          <a:bodyPr wrap="square" lIns="0" tIns="45720" rIns="0" bIns="45720" anchor="t"/>
          <a:lstStyle/>
          <a:p>
            <a:pPr algn="ctr">
              <a:buNone/>
            </a:pPr>
            <a:r>
              <a:rPr lang="en-US" sz="1300" b="1" i="0" dirty="0">
                <a:solidFill>
                  <a:srgbClr val="8E6F3E"/>
                </a:solidFill>
              </a:rPr>
              <a:t>local evidence: </a:t>
            </a:r>
            <a:r>
              <a:rPr lang="en-US" sz="1300" b="0" i="0" dirty="0">
                <a:solidFill>
                  <a:srgbClr val="555960"/>
                </a:solidFill>
              </a:rPr>
              <a:t>each part honors its assumption</a:t>
            </a:r>
          </a:p>
          <a:p>
            <a:pPr algn="ctr">
              <a:spcBef>
                <a:spcPts val="60"/>
              </a:spcBef>
              <a:buNone/>
            </a:pPr>
            <a:r>
              <a:rPr lang="en-US" sz="1300" b="1" i="0" dirty="0">
                <a:solidFill>
                  <a:srgbClr val="8E6F3E"/>
                </a:solidFill>
              </a:rPr>
              <a:t>system claim: </a:t>
            </a:r>
            <a:r>
              <a:rPr lang="en-US" sz="1300" b="0" i="0" dirty="0">
                <a:solidFill>
                  <a:srgbClr val="555960"/>
                </a:solidFill>
              </a:rPr>
              <a:t>the obligation is covered</a:t>
            </a:r>
          </a:p>
        </p:txBody>
      </p:sp>
      <p:sp>
        <p:nvSpPr>
          <p:cNvPr id="160" name="FooterBand"/>
          <p:cNvSpPr/>
          <p:nvPr/>
        </p:nvSpPr>
        <p:spPr>
          <a:xfrm>
            <a:off x="274320" y="5852160"/>
            <a:ext cx="8595360" cy="566928"/>
          </a:xfrm>
          <a:prstGeom prst="rect">
            <a:avLst/>
          </a:prstGeom>
          <a:solidFill>
            <a:srgbClr val="8E6F3E"/>
          </a:solidFill>
          <a:ln>
            <a:noFill/>
          </a:ln>
        </p:spPr>
        <p:txBody>
          <a:bodyPr wrap="square" lIns="91440" tIns="45720" rIns="91440" bIns="45720" anchor="ctr"/>
          <a:lstStyle/>
          <a:p>
            <a:pPr algn="ctr">
              <a:buNone/>
            </a:pPr>
            <a:r>
              <a:rPr lang="en-US" sz="1900" b="1" i="0" dirty="0">
                <a:solidFill>
                  <a:srgbClr val="FFFFFF"/>
                </a:solidFill>
              </a:rPr>
              <a:t>The system property lives on the path and in the gaps, not in any one part.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148" y="118428"/>
            <a:ext cx="8590000" cy="638175"/>
          </a:xfrm>
        </p:spPr>
        <p:txBody>
          <a:bodyPr>
            <a:normAutofit fontScale="90000"/>
          </a:bodyPr>
          <a:lstStyle/>
          <a:p>
            <a:pPr>
              <a:buNone/>
              <a:defRPr b="0"/>
            </a:pPr>
            <a:r>
              <a:rPr lang="en-US" sz="2400" b="0" i="0" dirty="0">
                <a:solidFill>
                  <a:srgbClr val="000000"/>
                </a:solidFill>
              </a:rPr>
              <a:t>What must compose?</a:t>
            </a:r>
          </a:p>
        </p:txBody>
      </p:sp>
      <p:sp>
        <p:nvSpPr>
          <p:cNvPr id="3" name="Slide Number Placeholder 3"/>
          <p:cNvSpPr>
            <a:spLocks noGrp="1"/>
          </p:cNvSpPr>
          <p:nvPr>
            <p:ph type="sldNum" sz="quarter" idx="4"/>
          </p:nvPr>
        </p:nvSpPr>
        <p:spPr/>
        <p:txBody>
          <a:bodyPr/>
          <a:lstStyle/>
          <a:p>
            <a:fld id="{B7EB45DA-9A0D-DC49-8E02-F30A5DDC21C3}" type="slidenum">
              <a:rPr lang="en-US" smtClean="0"/>
              <a:t>24</a:t>
            </a:fld>
            <a:endParaRPr lang="en-US"/>
          </a:p>
        </p:txBody>
      </p:sp>
      <p:sp>
        <p:nvSpPr>
          <p:cNvPr id="300" name="Check1"/>
          <p:cNvSpPr/>
          <p:nvPr/>
        </p:nvSpPr>
        <p:spPr>
          <a:xfrm>
            <a:off x="274320" y="980000"/>
            <a:ext cx="8595360" cy="640000"/>
          </a:xfrm>
          <a:prstGeom prst="rect">
            <a:avLst/>
          </a:prstGeom>
          <a:solidFill>
            <a:srgbClr val="F5F1E8"/>
          </a:solidFill>
          <a:ln w="12700">
            <a:solidFill>
              <a:srgbClr val="C9B991"/>
            </a:solidFill>
          </a:ln>
        </p:spPr>
        <p:txBody>
          <a:bodyPr wrap="square" lIns="182880" tIns="45720" rIns="91440" bIns="45720" anchor="ctr"/>
          <a:lstStyle/>
          <a:p>
            <a:pPr algn="l">
              <a:buNone/>
            </a:pPr>
            <a:r>
              <a:rPr lang="en-US" sz="1600" b="1" i="0" dirty="0">
                <a:solidFill>
                  <a:srgbClr val="8E6F3E"/>
                </a:solidFill>
              </a:rPr>
              <a:t>1   </a:t>
            </a:r>
            <a:r>
              <a:rPr lang="en-US" sz="1600" b="1" i="0" dirty="0">
                <a:solidFill>
                  <a:srgbClr val="5C4826"/>
                </a:solidFill>
              </a:rPr>
              <a:t>Budgets compose </a:t>
            </a:r>
            <a:r>
              <a:rPr lang="en-US" sz="1500" b="0" i="0" dirty="0">
                <a:solidFill>
                  <a:srgbClr val="555960"/>
                </a:solidFill>
              </a:rPr>
              <a:t>— latency, memory, cost, error stay acceptable in aggregate</a:t>
            </a:r>
          </a:p>
        </p:txBody>
      </p:sp>
      <p:sp>
        <p:nvSpPr>
          <p:cNvPr id="301" name="Check2"/>
          <p:cNvSpPr/>
          <p:nvPr/>
        </p:nvSpPr>
        <p:spPr>
          <a:xfrm>
            <a:off x="274320" y="1720000"/>
            <a:ext cx="8595360" cy="640000"/>
          </a:xfrm>
          <a:prstGeom prst="rect">
            <a:avLst/>
          </a:prstGeom>
          <a:solidFill>
            <a:srgbClr val="F5F1E8"/>
          </a:solidFill>
          <a:ln w="12700">
            <a:solidFill>
              <a:srgbClr val="C9B991"/>
            </a:solidFill>
          </a:ln>
        </p:spPr>
        <p:txBody>
          <a:bodyPr wrap="square" lIns="182880" tIns="45720" rIns="91440" bIns="45720" anchor="ctr"/>
          <a:lstStyle/>
          <a:p>
            <a:pPr algn="l">
              <a:buNone/>
            </a:pPr>
            <a:r>
              <a:rPr lang="en-US" sz="1600" b="1" i="0" dirty="0">
                <a:solidFill>
                  <a:srgbClr val="8E6F3E"/>
                </a:solidFill>
              </a:rPr>
              <a:t>2   </a:t>
            </a:r>
            <a:r>
              <a:rPr lang="en-US" sz="1600" b="1" i="0" dirty="0">
                <a:solidFill>
                  <a:srgbClr val="5C4826"/>
                </a:solidFill>
              </a:rPr>
              <a:t>Responsibilities cover the obligation </a:t>
            </a:r>
            <a:r>
              <a:rPr lang="en-US" sz="1500" b="0" i="0" dirty="0">
                <a:solidFill>
                  <a:srgbClr val="555960"/>
                </a:solidFill>
              </a:rPr>
              <a:t>— assumptions leave no gaps between parts</a:t>
            </a:r>
          </a:p>
        </p:txBody>
      </p:sp>
      <p:sp>
        <p:nvSpPr>
          <p:cNvPr id="302" name="Check3"/>
          <p:cNvSpPr/>
          <p:nvPr/>
        </p:nvSpPr>
        <p:spPr>
          <a:xfrm>
            <a:off x="274320" y="2460000"/>
            <a:ext cx="8595360" cy="640000"/>
          </a:xfrm>
          <a:prstGeom prst="rect">
            <a:avLst/>
          </a:prstGeom>
          <a:solidFill>
            <a:srgbClr val="F5F1E8"/>
          </a:solidFill>
          <a:ln w="12700">
            <a:solidFill>
              <a:srgbClr val="C9B991"/>
            </a:solidFill>
          </a:ln>
        </p:spPr>
        <p:txBody>
          <a:bodyPr wrap="square" lIns="182880" tIns="45720" rIns="91440" bIns="45720" anchor="ctr"/>
          <a:lstStyle/>
          <a:p>
            <a:pPr algn="l">
              <a:buNone/>
            </a:pPr>
            <a:r>
              <a:rPr lang="en-US" sz="1600" b="1" i="0" dirty="0">
                <a:solidFill>
                  <a:srgbClr val="8E6F3E"/>
                </a:solidFill>
              </a:rPr>
              <a:t>3   </a:t>
            </a:r>
            <a:r>
              <a:rPr lang="en-US" sz="1600" b="1" i="0" dirty="0">
                <a:solidFill>
                  <a:srgbClr val="5C4826"/>
                </a:solidFill>
              </a:rPr>
              <a:t>Assumptions compose </a:t>
            </a:r>
            <a:r>
              <a:rPr lang="en-US" sz="1500" b="0" i="0" dirty="0">
                <a:solidFill>
                  <a:srgbClr val="555960"/>
                </a:solidFill>
              </a:rPr>
              <a:t>— what one part expects, another actually guarantees</a:t>
            </a:r>
          </a:p>
        </p:txBody>
      </p:sp>
      <p:sp>
        <p:nvSpPr>
          <p:cNvPr id="303" name="Check4"/>
          <p:cNvSpPr/>
          <p:nvPr/>
        </p:nvSpPr>
        <p:spPr>
          <a:xfrm>
            <a:off x="274320" y="3200000"/>
            <a:ext cx="8595360" cy="640000"/>
          </a:xfrm>
          <a:prstGeom prst="rect">
            <a:avLst/>
          </a:prstGeom>
          <a:solidFill>
            <a:srgbClr val="F5F1E8"/>
          </a:solidFill>
          <a:ln w="12700">
            <a:solidFill>
              <a:srgbClr val="C9B991"/>
            </a:solidFill>
          </a:ln>
        </p:spPr>
        <p:txBody>
          <a:bodyPr wrap="square" lIns="182880" tIns="45720" rIns="91440" bIns="45720" anchor="ctr"/>
          <a:lstStyle/>
          <a:p>
            <a:pPr algn="l">
              <a:buNone/>
            </a:pPr>
            <a:r>
              <a:rPr lang="en-US" sz="1600" b="1" i="0" dirty="0">
                <a:solidFill>
                  <a:srgbClr val="8E6F3E"/>
                </a:solidFill>
              </a:rPr>
              <a:t>4   </a:t>
            </a:r>
            <a:r>
              <a:rPr lang="en-US" sz="1600" b="1" i="0" dirty="0">
                <a:solidFill>
                  <a:srgbClr val="5C4826"/>
                </a:solidFill>
              </a:rPr>
              <a:t>Mechanisms interact safely </a:t>
            </a:r>
            <a:r>
              <a:rPr lang="en-US" sz="1500" b="0" i="0" dirty="0">
                <a:solidFill>
                  <a:srgbClr val="555960"/>
                </a:solidFill>
              </a:rPr>
              <a:t>— individually sound choices do not interfere</a:t>
            </a:r>
          </a:p>
        </p:txBody>
      </p:sp>
      <p:sp>
        <p:nvSpPr>
          <p:cNvPr id="304" name="Check5"/>
          <p:cNvSpPr/>
          <p:nvPr/>
        </p:nvSpPr>
        <p:spPr>
          <a:xfrm>
            <a:off x="274320" y="3940000"/>
            <a:ext cx="8595360" cy="640000"/>
          </a:xfrm>
          <a:prstGeom prst="rect">
            <a:avLst/>
          </a:prstGeom>
          <a:solidFill>
            <a:srgbClr val="8E6F3E"/>
          </a:solidFill>
          <a:ln>
            <a:noFill/>
          </a:ln>
        </p:spPr>
        <p:txBody>
          <a:bodyPr wrap="square" lIns="182880" tIns="45720" rIns="91440" bIns="45720" anchor="ctr"/>
          <a:lstStyle/>
          <a:p>
            <a:pPr algn="l">
              <a:buNone/>
            </a:pPr>
            <a:r>
              <a:rPr lang="en-US" sz="1600" b="1" i="0" dirty="0">
                <a:solidFill>
                  <a:srgbClr val="F0E6CE"/>
                </a:solidFill>
              </a:rPr>
              <a:t>5   </a:t>
            </a:r>
            <a:r>
              <a:rPr lang="en-US" sz="1600" b="1" i="0" dirty="0">
                <a:solidFill>
                  <a:srgbClr val="FFFFFF"/>
                </a:solidFill>
              </a:rPr>
              <a:t>Architectural properties remain true </a:t>
            </a:r>
            <a:r>
              <a:rPr lang="en-US" sz="1500" b="0" i="0" dirty="0">
                <a:solidFill>
                  <a:srgbClr val="FFFFFF"/>
                </a:solidFill>
              </a:rPr>
              <a:t>— isolation · dependency · security · reliability</a:t>
            </a:r>
          </a:p>
        </p:txBody>
      </p:sp>
      <p:sp>
        <p:nvSpPr>
          <p:cNvPr id="305" name="PunchLine"/>
          <p:cNvSpPr txBox="1"/>
          <p:nvPr/>
        </p:nvSpPr>
        <p:spPr>
          <a:xfrm>
            <a:off x="654320" y="4880000"/>
            <a:ext cx="7835360" cy="800000"/>
          </a:xfrm>
          <a:prstGeom prst="rect">
            <a:avLst/>
          </a:prstGeom>
          <a:noFill/>
          <a:ln>
            <a:noFill/>
          </a:ln>
        </p:spPr>
        <p:txBody>
          <a:bodyPr wrap="square" lIns="0" tIns="0" rIns="0" bIns="0" anchor="t"/>
          <a:lstStyle/>
          <a:p>
            <a:pPr algn="ctr">
              <a:buNone/>
            </a:pPr>
            <a:r>
              <a:rPr lang="en-US" sz="1700" b="0" i="1" dirty="0">
                <a:solidFill>
                  <a:srgbClr val="000000"/>
                </a:solidFill>
              </a:rPr>
              <a:t>A design can satisfy its own local responsibility while quietly destroying a property that Architecture was intended to establish.</a:t>
            </a:r>
          </a:p>
        </p:txBody>
      </p:sp>
      <p:sp>
        <p:nvSpPr>
          <p:cNvPr id="131" name="FooterBand"/>
          <p:cNvSpPr/>
          <p:nvPr/>
        </p:nvSpPr>
        <p:spPr>
          <a:xfrm>
            <a:off x="274320" y="5852160"/>
            <a:ext cx="8595360" cy="566928"/>
          </a:xfrm>
          <a:prstGeom prst="rect">
            <a:avLst/>
          </a:prstGeom>
          <a:solidFill>
            <a:srgbClr val="8E6F3E"/>
          </a:solidFill>
          <a:ln>
            <a:noFill/>
          </a:ln>
        </p:spPr>
        <p:txBody>
          <a:bodyPr wrap="square" lIns="91440" tIns="45720" rIns="91440" bIns="45720" anchor="ctr"/>
          <a:lstStyle/>
          <a:p>
            <a:pPr algn="ctr">
              <a:buNone/>
            </a:pPr>
            <a:r>
              <a:rPr lang="en-US" sz="2000" b="1" i="0" dirty="0">
                <a:solidFill>
                  <a:srgbClr val="FFFFFF"/>
                </a:solidFill>
              </a:rPr>
              <a:t>Local evidence is necessary. It is not sufficient.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0"/>
                                        </p:tgtEl>
                                        <p:attrNameLst>
                                          <p:attrName>style.visibility</p:attrName>
                                        </p:attrNameLst>
                                      </p:cBhvr>
                                      <p:to>
                                        <p:strVal val="visible"/>
                                      </p:to>
                                    </p:set>
                                    <p:animEffect transition="in" filter="fade">
                                      <p:cBhvr>
                                        <p:cTn id="7" dur="500"/>
                                        <p:tgtEl>
                                          <p:spTgt spid="30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1" fill="hold">
                                          <p:stCondLst>
                                            <p:cond delay="0"/>
                                          </p:stCondLst>
                                        </p:cTn>
                                        <p:tgtEl>
                                          <p:spTgt spid="301"/>
                                        </p:tgtEl>
                                        <p:attrNameLst>
                                          <p:attrName>style.visibility</p:attrName>
                                        </p:attrNameLst>
                                      </p:cBhvr>
                                      <p:to>
                                        <p:strVal val="visible"/>
                                      </p:to>
                                    </p:set>
                                    <p:animEffect transition="in" filter="fade">
                                      <p:cBhvr>
                                        <p:cTn id="12" dur="500"/>
                                        <p:tgtEl>
                                          <p:spTgt spid="30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2" nodeType="clickEffect">
                                  <p:stCondLst>
                                    <p:cond delay="0"/>
                                  </p:stCondLst>
                                  <p:childTnLst>
                                    <p:set>
                                      <p:cBhvr>
                                        <p:cTn id="16" dur="1" fill="hold">
                                          <p:stCondLst>
                                            <p:cond delay="0"/>
                                          </p:stCondLst>
                                        </p:cTn>
                                        <p:tgtEl>
                                          <p:spTgt spid="302"/>
                                        </p:tgtEl>
                                        <p:attrNameLst>
                                          <p:attrName>style.visibility</p:attrName>
                                        </p:attrNameLst>
                                      </p:cBhvr>
                                      <p:to>
                                        <p:strVal val="visible"/>
                                      </p:to>
                                    </p:set>
                                    <p:animEffect transition="in" filter="fade">
                                      <p:cBhvr>
                                        <p:cTn id="17" dur="500"/>
                                        <p:tgtEl>
                                          <p:spTgt spid="30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3" nodeType="clickEffect">
                                  <p:stCondLst>
                                    <p:cond delay="0"/>
                                  </p:stCondLst>
                                  <p:childTnLst>
                                    <p:set>
                                      <p:cBhvr>
                                        <p:cTn id="21" dur="1" fill="hold">
                                          <p:stCondLst>
                                            <p:cond delay="0"/>
                                          </p:stCondLst>
                                        </p:cTn>
                                        <p:tgtEl>
                                          <p:spTgt spid="303"/>
                                        </p:tgtEl>
                                        <p:attrNameLst>
                                          <p:attrName>style.visibility</p:attrName>
                                        </p:attrNameLst>
                                      </p:cBhvr>
                                      <p:to>
                                        <p:strVal val="visible"/>
                                      </p:to>
                                    </p:set>
                                    <p:animEffect transition="in" filter="fade">
                                      <p:cBhvr>
                                        <p:cTn id="22" dur="500"/>
                                        <p:tgtEl>
                                          <p:spTgt spid="30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4" nodeType="clickEffect">
                                  <p:stCondLst>
                                    <p:cond delay="0"/>
                                  </p:stCondLst>
                                  <p:childTnLst>
                                    <p:set>
                                      <p:cBhvr>
                                        <p:cTn id="26" dur="1" fill="hold">
                                          <p:stCondLst>
                                            <p:cond delay="0"/>
                                          </p:stCondLst>
                                        </p:cTn>
                                        <p:tgtEl>
                                          <p:spTgt spid="304"/>
                                        </p:tgtEl>
                                        <p:attrNameLst>
                                          <p:attrName>style.visibility</p:attrName>
                                        </p:attrNameLst>
                                      </p:cBhvr>
                                      <p:to>
                                        <p:strVal val="visible"/>
                                      </p:to>
                                    </p:set>
                                    <p:animEffect transition="in" filter="fade">
                                      <p:cBhvr>
                                        <p:cTn id="27" dur="500"/>
                                        <p:tgtEl>
                                          <p:spTgt spid="30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5" nodeType="clickEffect">
                                  <p:stCondLst>
                                    <p:cond delay="0"/>
                                  </p:stCondLst>
                                  <p:childTnLst>
                                    <p:set>
                                      <p:cBhvr>
                                        <p:cTn id="31" dur="1" fill="hold">
                                          <p:stCondLst>
                                            <p:cond delay="0"/>
                                          </p:stCondLst>
                                        </p:cTn>
                                        <p:tgtEl>
                                          <p:spTgt spid="305"/>
                                        </p:tgtEl>
                                        <p:attrNameLst>
                                          <p:attrName>style.visibility</p:attrName>
                                        </p:attrNameLst>
                                      </p:cBhvr>
                                      <p:to>
                                        <p:strVal val="visible"/>
                                      </p:to>
                                    </p:set>
                                    <p:animEffect transition="in" filter="fade">
                                      <p:cBhvr>
                                        <p:cTn id="32" dur="500"/>
                                        <p:tgtEl>
                                          <p:spTgt spid="3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 grpId="0" animBg="1"/>
      <p:bldP spid="301" grpId="1" animBg="1"/>
      <p:bldP spid="302" grpId="2" animBg="1"/>
      <p:bldP spid="303" grpId="3" animBg="1"/>
      <p:bldP spid="304" grpId="4" animBg="1"/>
      <p:bldP spid="305" grpId="5"/>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148" y="118428"/>
            <a:ext cx="8590000" cy="638175"/>
          </a:xfrm>
        </p:spPr>
        <p:txBody>
          <a:bodyPr>
            <a:normAutofit fontScale="90000"/>
          </a:bodyPr>
          <a:lstStyle/>
          <a:p>
            <a:pPr>
              <a:buNone/>
              <a:defRPr b="0"/>
            </a:pPr>
            <a:r>
              <a:rPr lang="en-US" sz="2400" b="0" i="0" dirty="0">
                <a:solidFill>
                  <a:srgbClr val="000000"/>
                </a:solidFill>
              </a:rPr>
              <a:t>The required mechanism may not fit</a:t>
            </a:r>
          </a:p>
        </p:txBody>
      </p:sp>
      <p:sp>
        <p:nvSpPr>
          <p:cNvPr id="3" name="Slide Number Placeholder 3"/>
          <p:cNvSpPr>
            <a:spLocks noGrp="1"/>
          </p:cNvSpPr>
          <p:nvPr>
            <p:ph type="sldNum" sz="quarter" idx="4"/>
          </p:nvPr>
        </p:nvSpPr>
        <p:spPr/>
        <p:txBody>
          <a:bodyPr/>
          <a:lstStyle/>
          <a:p>
            <a:fld id="{B7EB45DA-9A0D-DC49-8E02-F30A5DDC21C3}" type="slidenum">
              <a:rPr lang="en-US" smtClean="0"/>
              <a:t>25</a:t>
            </a:fld>
            <a:endParaRPr lang="en-US"/>
          </a:p>
        </p:txBody>
      </p:sp>
      <p:sp>
        <p:nvSpPr>
          <p:cNvPr id="100" name="Kick1"/>
          <p:cNvSpPr txBox="1"/>
          <p:nvPr/>
        </p:nvSpPr>
        <p:spPr>
          <a:xfrm>
            <a:off x="312799" y="1350000"/>
            <a:ext cx="2700000" cy="380000"/>
          </a:xfrm>
          <a:prstGeom prst="rect">
            <a:avLst/>
          </a:prstGeom>
          <a:noFill/>
          <a:ln>
            <a:noFill/>
          </a:ln>
        </p:spPr>
        <p:txBody>
          <a:bodyPr wrap="square" lIns="0" tIns="0" rIns="0" bIns="0" anchor="ctr"/>
          <a:lstStyle/>
          <a:p>
            <a:pPr algn="l">
              <a:buNone/>
            </a:pPr>
            <a:r>
              <a:rPr lang="en-US" sz="1400" b="1" i="0" dirty="0">
                <a:solidFill>
                  <a:srgbClr val="8E6F3E"/>
                </a:solidFill>
              </a:rPr>
              <a:t>IN PLUMBING</a:t>
            </a:r>
          </a:p>
        </p:txBody>
      </p:sp>
      <p:sp>
        <p:nvSpPr>
          <p:cNvPr id="101" name="Wall"/>
          <p:cNvSpPr/>
          <p:nvPr/>
        </p:nvSpPr>
        <p:spPr>
          <a:xfrm>
            <a:off x="700000" y="1850000"/>
            <a:ext cx="1300000" cy="2300000"/>
          </a:xfrm>
          <a:prstGeom prst="rect">
            <a:avLst/>
          </a:prstGeom>
          <a:solidFill>
            <a:srgbClr val="C9B991"/>
          </a:solidFill>
          <a:ln>
            <a:noFill/>
          </a:ln>
        </p:spPr>
        <p:txBody>
          <a:bodyPr/>
          <a:lstStyle/>
          <a:p>
            <a:endParaRPr lang="en-US"/>
          </a:p>
        </p:txBody>
      </p:sp>
      <p:sp>
        <p:nvSpPr>
          <p:cNvPr id="102" name="SvcSpace"/>
          <p:cNvSpPr/>
          <p:nvPr/>
        </p:nvSpPr>
        <p:spPr>
          <a:xfrm>
            <a:off x="950000" y="2350000"/>
            <a:ext cx="800000" cy="1300000"/>
          </a:xfrm>
          <a:prstGeom prst="rect">
            <a:avLst/>
          </a:prstGeom>
          <a:solidFill>
            <a:srgbClr val="F5F1E8"/>
          </a:solidFill>
          <a:ln w="12700">
            <a:solidFill>
              <a:srgbClr val="555960"/>
            </a:solidFill>
            <a:prstDash val="dash"/>
          </a:ln>
        </p:spPr>
        <p:txBody>
          <a:bodyPr/>
          <a:lstStyle/>
          <a:p>
            <a:endParaRPr lang="en-US"/>
          </a:p>
        </p:txBody>
      </p:sp>
      <p:sp>
        <p:nvSpPr>
          <p:cNvPr id="103" name="PipeV"/>
          <p:cNvSpPr/>
          <p:nvPr/>
        </p:nvSpPr>
        <p:spPr>
          <a:xfrm>
            <a:off x="1150000" y="2450000"/>
            <a:ext cx="220000" cy="800000"/>
          </a:xfrm>
          <a:prstGeom prst="rect">
            <a:avLst/>
          </a:prstGeom>
          <a:solidFill>
            <a:srgbClr val="C0392B"/>
          </a:solidFill>
          <a:ln>
            <a:noFill/>
          </a:ln>
        </p:spPr>
        <p:txBody>
          <a:bodyPr/>
          <a:lstStyle/>
          <a:p>
            <a:endParaRPr lang="en-US"/>
          </a:p>
        </p:txBody>
      </p:sp>
      <p:sp>
        <p:nvSpPr>
          <p:cNvPr id="104" name="PipeH"/>
          <p:cNvSpPr/>
          <p:nvPr/>
        </p:nvSpPr>
        <p:spPr>
          <a:xfrm>
            <a:off x="1150000" y="3030000"/>
            <a:ext cx="1050000" cy="220000"/>
          </a:xfrm>
          <a:prstGeom prst="rect">
            <a:avLst/>
          </a:prstGeom>
          <a:solidFill>
            <a:srgbClr val="C0392B"/>
          </a:solidFill>
          <a:ln>
            <a:noFill/>
          </a:ln>
        </p:spPr>
        <p:txBody>
          <a:bodyPr/>
          <a:lstStyle/>
          <a:p>
            <a:endParaRPr lang="en-US"/>
          </a:p>
        </p:txBody>
      </p:sp>
      <p:sp>
        <p:nvSpPr>
          <p:cNvPr id="105" name="XMark"/>
          <p:cNvSpPr/>
          <p:nvPr/>
        </p:nvSpPr>
        <p:spPr>
          <a:xfrm>
            <a:off x="2050000" y="2920000"/>
            <a:ext cx="340000" cy="340000"/>
          </a:xfrm>
          <a:prstGeom prst="ellipse">
            <a:avLst/>
          </a:prstGeom>
          <a:solidFill>
            <a:srgbClr val="FFFFFF"/>
          </a:solidFill>
          <a:ln w="19050">
            <a:solidFill>
              <a:srgbClr val="C0392B"/>
            </a:solidFill>
          </a:ln>
        </p:spPr>
        <p:txBody>
          <a:bodyPr wrap="square" lIns="0" tIns="0" rIns="0" bIns="0" anchor="ctr"/>
          <a:lstStyle/>
          <a:p>
            <a:pPr algn="ctr">
              <a:buNone/>
            </a:pPr>
            <a:r>
              <a:rPr lang="en-US" sz="1400" b="1" i="0" dirty="0">
                <a:solidFill>
                  <a:srgbClr val="C0392B"/>
                </a:solidFill>
              </a:rPr>
              <a:t>✗</a:t>
            </a:r>
          </a:p>
        </p:txBody>
      </p:sp>
      <p:sp>
        <p:nvSpPr>
          <p:cNvPr id="106" name="Cap1"/>
          <p:cNvSpPr txBox="1"/>
          <p:nvPr/>
        </p:nvSpPr>
        <p:spPr>
          <a:xfrm>
            <a:off x="350000" y="4500000"/>
            <a:ext cx="2700000" cy="900000"/>
          </a:xfrm>
          <a:prstGeom prst="rect">
            <a:avLst/>
          </a:prstGeom>
          <a:noFill/>
          <a:ln>
            <a:noFill/>
          </a:ln>
        </p:spPr>
        <p:txBody>
          <a:bodyPr wrap="square" lIns="0" tIns="0" rIns="0" bIns="0" anchor="t"/>
          <a:lstStyle/>
          <a:p>
            <a:pPr algn="l">
              <a:buNone/>
            </a:pPr>
            <a:r>
              <a:rPr lang="en-US" sz="1300" b="0" i="1" dirty="0">
                <a:solidFill>
                  <a:srgbClr val="5C4826"/>
                </a:solidFill>
              </a:rPr>
              <a:t>every pipe that can supply the required flow is too large for the service space</a:t>
            </a:r>
          </a:p>
        </p:txBody>
      </p:sp>
      <p:grpSp>
        <p:nvGrpSpPr>
          <p:cNvPr id="140" name="SoftwareCol"/>
          <p:cNvGrpSpPr/>
          <p:nvPr/>
        </p:nvGrpSpPr>
        <p:grpSpPr>
          <a:xfrm>
            <a:off x="3400000" y="1350000"/>
            <a:ext cx="2500000" cy="3900000"/>
            <a:chOff x="3400000" y="1350000"/>
            <a:chExt cx="2500000" cy="3900000"/>
          </a:xfrm>
        </p:grpSpPr>
        <p:sp>
          <p:nvSpPr>
            <p:cNvPr id="141" name="Kick2"/>
            <p:cNvSpPr txBox="1"/>
            <p:nvPr/>
          </p:nvSpPr>
          <p:spPr>
            <a:xfrm>
              <a:off x="3400000" y="1350000"/>
              <a:ext cx="2500000" cy="380000"/>
            </a:xfrm>
            <a:prstGeom prst="rect">
              <a:avLst/>
            </a:prstGeom>
            <a:noFill/>
            <a:ln>
              <a:noFill/>
            </a:ln>
          </p:spPr>
          <p:txBody>
            <a:bodyPr wrap="square" lIns="0" tIns="0" rIns="0" bIns="0" anchor="ctr"/>
            <a:lstStyle/>
            <a:p>
              <a:pPr algn="l">
                <a:buNone/>
              </a:pPr>
              <a:r>
                <a:rPr lang="en-US" sz="1400" b="1" i="0" dirty="0">
                  <a:solidFill>
                    <a:srgbClr val="8E6F3E"/>
                  </a:solidFill>
                </a:rPr>
                <a:t>IN SOFTWARE</a:t>
              </a:r>
            </a:p>
          </p:txBody>
        </p:sp>
        <p:sp>
          <p:nvSpPr>
            <p:cNvPr id="142" name="BoxA"/>
            <p:cNvSpPr/>
            <p:nvPr/>
          </p:nvSpPr>
          <p:spPr>
            <a:xfrm>
              <a:off x="3400000" y="1900000"/>
              <a:ext cx="950000" cy="550000"/>
            </a:xfrm>
            <a:prstGeom prst="rect">
              <a:avLst/>
            </a:prstGeom>
            <a:solidFill>
              <a:srgbClr val="F5F1E8"/>
            </a:solidFill>
            <a:ln w="12700">
              <a:solidFill>
                <a:srgbClr val="C9B991"/>
              </a:solidFill>
            </a:ln>
          </p:spPr>
          <p:txBody>
            <a:bodyPr wrap="square" lIns="91440" tIns="45720" rIns="91440" bIns="45720" anchor="ctr"/>
            <a:lstStyle/>
            <a:p>
              <a:pPr algn="ctr">
                <a:buNone/>
              </a:pPr>
              <a:r>
                <a:rPr lang="en-US" sz="1600" b="1" i="0" dirty="0">
                  <a:solidFill>
                    <a:srgbClr val="5C4826"/>
                  </a:solidFill>
                </a:rPr>
                <a:t>A</a:t>
              </a:r>
            </a:p>
          </p:txBody>
        </p:sp>
        <p:sp>
          <p:nvSpPr>
            <p:cNvPr id="143" name="BoxB"/>
            <p:cNvSpPr/>
            <p:nvPr/>
          </p:nvSpPr>
          <p:spPr>
            <a:xfrm>
              <a:off x="4950000" y="1900000"/>
              <a:ext cx="950000" cy="550000"/>
            </a:xfrm>
            <a:prstGeom prst="rect">
              <a:avLst/>
            </a:prstGeom>
            <a:solidFill>
              <a:srgbClr val="F5F1E8"/>
            </a:solidFill>
            <a:ln w="12700">
              <a:solidFill>
                <a:srgbClr val="C9B991"/>
              </a:solidFill>
            </a:ln>
          </p:spPr>
          <p:txBody>
            <a:bodyPr wrap="square" lIns="91440" tIns="45720" rIns="91440" bIns="45720" anchor="ctr"/>
            <a:lstStyle/>
            <a:p>
              <a:pPr algn="ctr">
                <a:buNone/>
              </a:pPr>
              <a:r>
                <a:rPr lang="en-US" sz="1600" b="1" i="0" dirty="0">
                  <a:solidFill>
                    <a:srgbClr val="5C4826"/>
                  </a:solidFill>
                </a:rPr>
                <a:t>B</a:t>
              </a:r>
            </a:p>
          </p:txBody>
        </p:sp>
        <p:cxnSp>
          <p:nvCxnSpPr>
            <p:cNvPr id="144" name="AB"/>
            <p:cNvCxnSpPr/>
            <p:nvPr/>
          </p:nvCxnSpPr>
          <p:spPr>
            <a:xfrm>
              <a:off x="4350000" y="2175000"/>
              <a:ext cx="600000" cy="0"/>
            </a:xfrm>
            <a:prstGeom prst="straightConnector1">
              <a:avLst/>
            </a:prstGeom>
            <a:ln w="28575">
              <a:solidFill>
                <a:srgbClr val="8E6F3E"/>
              </a:solidFill>
              <a:tailEnd type="triangle" w="med" len="med"/>
            </a:ln>
          </p:spPr>
        </p:cxnSp>
        <p:sp>
          <p:nvSpPr>
            <p:cNvPr id="145" name="Sync"/>
            <p:cNvSpPr/>
            <p:nvPr/>
          </p:nvSpPr>
          <p:spPr>
            <a:xfrm>
              <a:off x="3400000" y="2750000"/>
              <a:ext cx="2500000" cy="700000"/>
            </a:xfrm>
            <a:prstGeom prst="rect">
              <a:avLst/>
            </a:prstGeom>
            <a:solidFill>
              <a:srgbClr val="FBF8F2"/>
            </a:solidFill>
            <a:ln w="12700">
              <a:solidFill>
                <a:srgbClr val="C9B991"/>
              </a:solidFill>
            </a:ln>
          </p:spPr>
          <p:txBody>
            <a:bodyPr wrap="square" lIns="91440" tIns="45720" rIns="91440" bIns="45720" anchor="ctr"/>
            <a:lstStyle/>
            <a:p>
              <a:pPr algn="ctr">
                <a:buNone/>
              </a:pPr>
              <a:r>
                <a:rPr lang="en-US" sz="1400" b="1" i="0" dirty="0">
                  <a:solidFill>
                    <a:srgbClr val="C0392B"/>
                  </a:solidFill>
                </a:rPr>
                <a:t>SYNC  ✗</a:t>
              </a:r>
            </a:p>
            <a:p>
              <a:pPr algn="ctr">
                <a:buNone/>
              </a:pPr>
              <a:r>
                <a:rPr lang="en-US" sz="1200" b="0" i="0" dirty="0">
                  <a:solidFill>
                    <a:srgbClr val="5C4826"/>
                  </a:solidFill>
                </a:rPr>
                <a:t>breaks failure isolation</a:t>
              </a:r>
            </a:p>
          </p:txBody>
        </p:sp>
        <p:sp>
          <p:nvSpPr>
            <p:cNvPr id="146" name="Async"/>
            <p:cNvSpPr/>
            <p:nvPr/>
          </p:nvSpPr>
          <p:spPr>
            <a:xfrm>
              <a:off x="3400000" y="3600000"/>
              <a:ext cx="2500000" cy="700000"/>
            </a:xfrm>
            <a:prstGeom prst="rect">
              <a:avLst/>
            </a:prstGeom>
            <a:solidFill>
              <a:srgbClr val="FBF8F2"/>
            </a:solidFill>
            <a:ln w="12700">
              <a:solidFill>
                <a:srgbClr val="C9B991"/>
              </a:solidFill>
            </a:ln>
          </p:spPr>
          <p:txBody>
            <a:bodyPr wrap="square" lIns="91440" tIns="45720" rIns="91440" bIns="45720" anchor="ctr"/>
            <a:lstStyle/>
            <a:p>
              <a:pPr algn="ctr">
                <a:buNone/>
              </a:pPr>
              <a:r>
                <a:rPr lang="en-US" sz="1400" b="1" i="0" dirty="0">
                  <a:solidFill>
                    <a:srgbClr val="C0392B"/>
                  </a:solidFill>
                </a:rPr>
                <a:t>ASYNC  ✗</a:t>
              </a:r>
            </a:p>
            <a:p>
              <a:pPr algn="ctr">
                <a:buNone/>
              </a:pPr>
              <a:r>
                <a:rPr lang="en-US" sz="1200" b="0" i="0" dirty="0">
                  <a:solidFill>
                    <a:srgbClr val="5C4826"/>
                  </a:solidFill>
                </a:rPr>
                <a:t>breaks required consistency</a:t>
              </a:r>
            </a:p>
          </p:txBody>
        </p:sp>
        <p:sp>
          <p:nvSpPr>
            <p:cNvPr id="147" name="Cap2"/>
            <p:cNvSpPr txBox="1"/>
            <p:nvPr/>
          </p:nvSpPr>
          <p:spPr>
            <a:xfrm>
              <a:off x="3400000" y="4500000"/>
              <a:ext cx="2500000" cy="750000"/>
            </a:xfrm>
            <a:prstGeom prst="rect">
              <a:avLst/>
            </a:prstGeom>
            <a:noFill/>
            <a:ln>
              <a:noFill/>
            </a:ln>
          </p:spPr>
          <p:txBody>
            <a:bodyPr wrap="square" lIns="0" tIns="0" rIns="0" bIns="0" anchor="t"/>
            <a:lstStyle/>
            <a:p>
              <a:pPr algn="l">
                <a:buNone/>
              </a:pPr>
              <a:r>
                <a:rPr lang="en-US" sz="1300" b="0" i="1" dirty="0">
                  <a:solidFill>
                    <a:srgbClr val="5C4826"/>
                  </a:solidFill>
                </a:rPr>
                <a:t>no mechanism satisfies everything the part inherits</a:t>
              </a:r>
            </a:p>
          </p:txBody>
        </p:sp>
      </p:grpSp>
      <p:grpSp>
        <p:nvGrpSpPr>
          <p:cNvPr id="150" name="RevisitCol"/>
          <p:cNvGrpSpPr/>
          <p:nvPr/>
        </p:nvGrpSpPr>
        <p:grpSpPr>
          <a:xfrm>
            <a:off x="6250000" y="1350000"/>
            <a:ext cx="2600000" cy="4250000"/>
            <a:chOff x="6250000" y="1350000"/>
            <a:chExt cx="2600000" cy="4250000"/>
          </a:xfrm>
        </p:grpSpPr>
        <p:sp>
          <p:nvSpPr>
            <p:cNvPr id="151" name="Kick3"/>
            <p:cNvSpPr txBox="1"/>
            <p:nvPr/>
          </p:nvSpPr>
          <p:spPr>
            <a:xfrm>
              <a:off x="6250000" y="1350000"/>
              <a:ext cx="2600000" cy="380000"/>
            </a:xfrm>
            <a:prstGeom prst="rect">
              <a:avLst/>
            </a:prstGeom>
            <a:noFill/>
            <a:ln>
              <a:noFill/>
            </a:ln>
          </p:spPr>
          <p:txBody>
            <a:bodyPr wrap="square" lIns="0" tIns="0" rIns="0" bIns="0" anchor="ctr"/>
            <a:lstStyle/>
            <a:p>
              <a:pPr algn="l">
                <a:buNone/>
              </a:pPr>
              <a:r>
                <a:rPr lang="en-US" sz="1400" b="1" i="0" dirty="0">
                  <a:solidFill>
                    <a:srgbClr val="8E6F3E"/>
                  </a:solidFill>
                </a:rPr>
                <a:t>SO REVISIT</a:t>
              </a:r>
            </a:p>
          </p:txBody>
        </p:sp>
        <p:sp>
          <p:nvSpPr>
            <p:cNvPr id="152" name="Revisit"/>
            <p:cNvSpPr/>
            <p:nvPr/>
          </p:nvSpPr>
          <p:spPr>
            <a:xfrm>
              <a:off x="6250000" y="1900000"/>
              <a:ext cx="2600000" cy="1000000"/>
            </a:xfrm>
            <a:prstGeom prst="rect">
              <a:avLst/>
            </a:prstGeom>
            <a:solidFill>
              <a:srgbClr val="FFF3DF"/>
            </a:solidFill>
            <a:ln w="15875">
              <a:solidFill>
                <a:srgbClr val="8E6F3E"/>
              </a:solidFill>
            </a:ln>
          </p:spPr>
          <p:txBody>
            <a:bodyPr wrap="square" lIns="91440" tIns="45720" rIns="91440" bIns="45720" anchor="ctr"/>
            <a:lstStyle/>
            <a:p>
              <a:pPr algn="ctr">
                <a:buNone/>
              </a:pPr>
              <a:r>
                <a:rPr lang="en-US" sz="1400" b="1" i="0" dirty="0">
                  <a:solidFill>
                    <a:srgbClr val="8E6F3E"/>
                  </a:solidFill>
                </a:rPr>
                <a:t>REVISIT THE INHERITED ORGANIZATION</a:t>
              </a:r>
            </a:p>
          </p:txBody>
        </p:sp>
        <p:cxnSp>
          <p:nvCxnSpPr>
            <p:cNvPr id="153" name="UpArw"/>
            <p:cNvCxnSpPr/>
            <p:nvPr/>
          </p:nvCxnSpPr>
          <p:spPr>
            <a:xfrm flipV="1">
              <a:off x="7550000" y="2930000"/>
              <a:ext cx="0" cy="870000"/>
            </a:xfrm>
            <a:prstGeom prst="straightConnector1">
              <a:avLst/>
            </a:prstGeom>
            <a:ln w="38100">
              <a:solidFill>
                <a:srgbClr val="8E6F3E"/>
              </a:solidFill>
              <a:tailEnd type="triangle" w="med" len="med"/>
            </a:ln>
          </p:spPr>
        </p:cxnSp>
        <p:sp>
          <p:nvSpPr>
            <p:cNvPr id="154" name="NoChoice"/>
            <p:cNvSpPr/>
            <p:nvPr/>
          </p:nvSpPr>
          <p:spPr>
            <a:xfrm>
              <a:off x="6250000" y="3800000"/>
              <a:ext cx="2600000" cy="700000"/>
            </a:xfrm>
            <a:prstGeom prst="rect">
              <a:avLst/>
            </a:prstGeom>
            <a:solidFill>
              <a:srgbClr val="8E6F3E"/>
            </a:solidFill>
            <a:ln>
              <a:noFill/>
            </a:ln>
          </p:spPr>
          <p:txBody>
            <a:bodyPr wrap="square" lIns="91440" tIns="45720" rIns="91440" bIns="45720" anchor="ctr"/>
            <a:lstStyle/>
            <a:p>
              <a:pPr algn="ctr">
                <a:buNone/>
              </a:pPr>
              <a:r>
                <a:rPr lang="en-US" sz="1400" b="1" i="0" dirty="0">
                  <a:solidFill>
                    <a:srgbClr val="FFFFFF"/>
                  </a:solidFill>
                </a:rPr>
                <a:t>no satisfactory local choice</a:t>
              </a:r>
            </a:p>
          </p:txBody>
        </p:sp>
        <p:sp>
          <p:nvSpPr>
            <p:cNvPr id="155" name="Cap3"/>
            <p:cNvSpPr txBox="1"/>
            <p:nvPr/>
          </p:nvSpPr>
          <p:spPr>
            <a:xfrm>
              <a:off x="6250000" y="4500000"/>
              <a:ext cx="2600000" cy="900000"/>
            </a:xfrm>
            <a:prstGeom prst="rect">
              <a:avLst/>
            </a:prstGeom>
            <a:noFill/>
            <a:ln>
              <a:noFill/>
            </a:ln>
          </p:spPr>
          <p:txBody>
            <a:bodyPr wrap="square" lIns="0" tIns="0" rIns="0" bIns="0" anchor="t"/>
            <a:lstStyle/>
            <a:p>
              <a:pPr algn="l">
                <a:buNone/>
              </a:pPr>
              <a:r>
                <a:rPr lang="en-US" sz="1300" b="0" i="1" dirty="0">
                  <a:solidFill>
                    <a:srgbClr val="5C4826"/>
                  </a:solidFill>
                </a:rPr>
                <a:t>the discovery is evidence about the architecture, not a local failure</a:t>
              </a:r>
            </a:p>
          </p:txBody>
        </p:sp>
      </p:grpSp>
      <p:sp>
        <p:nvSpPr>
          <p:cNvPr id="160" name="FooterBand"/>
          <p:cNvSpPr/>
          <p:nvPr/>
        </p:nvSpPr>
        <p:spPr>
          <a:xfrm>
            <a:off x="274320" y="5852160"/>
            <a:ext cx="8595360" cy="566928"/>
          </a:xfrm>
          <a:prstGeom prst="rect">
            <a:avLst/>
          </a:prstGeom>
          <a:solidFill>
            <a:srgbClr val="8E6F3E"/>
          </a:solidFill>
          <a:ln>
            <a:noFill/>
          </a:ln>
        </p:spPr>
        <p:txBody>
          <a:bodyPr wrap="square" lIns="91440" tIns="45720" rIns="91440" bIns="45720" anchor="ctr"/>
          <a:lstStyle/>
          <a:p>
            <a:pPr algn="ctr">
              <a:buNone/>
            </a:pPr>
            <a:r>
              <a:rPr lang="en-US" sz="1800" b="1" i="0" dirty="0">
                <a:solidFill>
                  <a:srgbClr val="FFFFFF"/>
                </a:solidFill>
              </a:rPr>
              <a:t>A mechanism that cannot fit is evidence about the inherited organization — escalate it.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0"/>
                                        </p:tgtEl>
                                        <p:attrNameLst>
                                          <p:attrName>style.visibility</p:attrName>
                                        </p:attrNameLst>
                                      </p:cBhvr>
                                      <p:to>
                                        <p:strVal val="visible"/>
                                      </p:to>
                                    </p:set>
                                    <p:animEffect transition="in" filter="fade">
                                      <p:cBhvr>
                                        <p:cTn id="7" dur="500"/>
                                        <p:tgtEl>
                                          <p:spTgt spid="14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0"/>
                                        </p:tgtEl>
                                        <p:attrNameLst>
                                          <p:attrName>style.visibility</p:attrName>
                                        </p:attrNameLst>
                                      </p:cBhvr>
                                      <p:to>
                                        <p:strVal val="visible"/>
                                      </p:to>
                                    </p:set>
                                    <p:animEffect transition="in" filter="fade">
                                      <p:cBhvr>
                                        <p:cTn id="12" dur="500"/>
                                        <p:tgtEl>
                                          <p:spTgt spid="1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148" y="118428"/>
            <a:ext cx="8590000" cy="638175"/>
          </a:xfrm>
        </p:spPr>
        <p:txBody>
          <a:bodyPr>
            <a:normAutofit fontScale="90000"/>
          </a:bodyPr>
          <a:lstStyle/>
          <a:p>
            <a:pPr>
              <a:buNone/>
              <a:defRPr b="0"/>
            </a:pPr>
            <a:r>
              <a:rPr lang="en-US" sz="2400" b="0" i="0" dirty="0">
                <a:solidFill>
                  <a:srgbClr val="000000"/>
                </a:solidFill>
              </a:rPr>
              <a:t>A local workaround can make the architecture false</a:t>
            </a:r>
          </a:p>
        </p:txBody>
      </p:sp>
      <p:sp>
        <p:nvSpPr>
          <p:cNvPr id="3" name="Slide Number Placeholder 3"/>
          <p:cNvSpPr>
            <a:spLocks noGrp="1"/>
          </p:cNvSpPr>
          <p:nvPr>
            <p:ph type="sldNum" sz="quarter" idx="4"/>
          </p:nvPr>
        </p:nvSpPr>
        <p:spPr/>
        <p:txBody>
          <a:bodyPr/>
          <a:lstStyle/>
          <a:p>
            <a:fld id="{B7EB45DA-9A0D-DC49-8E02-F30A5DDC21C3}" type="slidenum">
              <a:rPr lang="en-US" smtClean="0"/>
              <a:t>26</a:t>
            </a:fld>
            <a:endParaRPr lang="en-US"/>
          </a:p>
        </p:txBody>
      </p:sp>
      <p:sp>
        <p:nvSpPr>
          <p:cNvPr id="100" name="Label"/>
          <p:cNvSpPr txBox="1"/>
          <p:nvPr/>
        </p:nvSpPr>
        <p:spPr>
          <a:xfrm>
            <a:off x="312799" y="1016749"/>
            <a:ext cx="3960000" cy="468599"/>
          </a:xfrm>
          <a:prstGeom prst="rect">
            <a:avLst/>
          </a:prstGeom>
          <a:noFill/>
          <a:ln>
            <a:noFill/>
          </a:ln>
        </p:spPr>
        <p:txBody>
          <a:bodyPr wrap="square" lIns="0" tIns="0" rIns="0" bIns="0" anchor="t"/>
          <a:lstStyle/>
          <a:p>
            <a:pPr algn="ctr">
              <a:buNone/>
            </a:pPr>
            <a:r>
              <a:rPr lang="en-US" sz="2000" b="1" i="0" dirty="0">
                <a:solidFill>
                  <a:srgbClr val="8E6F3E"/>
                </a:solidFill>
              </a:rPr>
              <a:t>ARCHITECTURAL MODEL</a:t>
            </a:r>
          </a:p>
        </p:txBody>
      </p:sp>
      <p:sp>
        <p:nvSpPr>
          <p:cNvPr id="101" name="S101"/>
          <p:cNvSpPr/>
          <p:nvPr/>
        </p:nvSpPr>
        <p:spPr>
          <a:xfrm>
            <a:off x="312799" y="1556349"/>
            <a:ext cx="3960000" cy="1775000"/>
          </a:xfrm>
          <a:prstGeom prst="rect">
            <a:avLst/>
          </a:prstGeom>
          <a:solidFill>
            <a:srgbClr val="F5F1E8"/>
          </a:solidFill>
          <a:ln w="12700">
            <a:solidFill>
              <a:srgbClr val="C9B991"/>
            </a:solidFill>
          </a:ln>
        </p:spPr>
        <p:txBody>
          <a:bodyPr wrap="square" lIns="91440" tIns="45720" rIns="91440" bIns="45720" anchor="ctr"/>
          <a:lstStyle/>
          <a:p>
            <a:pPr algn="ctr">
              <a:buNone/>
            </a:pPr>
            <a:r>
              <a:rPr lang="en-US" sz="2300" b="1" i="0" dirty="0">
                <a:solidFill>
                  <a:srgbClr val="5C4826"/>
                </a:solidFill>
              </a:rPr>
              <a:t>A → PORT → B</a:t>
            </a:r>
          </a:p>
          <a:p>
            <a:pPr algn="ctr">
              <a:spcBef>
                <a:spcPts val="120"/>
              </a:spcBef>
              <a:buNone/>
            </a:pPr>
            <a:r>
              <a:rPr lang="en-US" sz="1900" b="0" i="1" dirty="0">
                <a:solidFill>
                  <a:srgbClr val="555960"/>
                </a:solidFill>
              </a:rPr>
              <a:t>no dependency crosses this seam</a:t>
            </a:r>
          </a:p>
        </p:txBody>
      </p:sp>
      <p:sp>
        <p:nvSpPr>
          <p:cNvPr id="102" name="Label"/>
          <p:cNvSpPr txBox="1"/>
          <p:nvPr/>
        </p:nvSpPr>
        <p:spPr>
          <a:xfrm>
            <a:off x="4871200" y="1016749"/>
            <a:ext cx="3960000" cy="468599"/>
          </a:xfrm>
          <a:prstGeom prst="rect">
            <a:avLst/>
          </a:prstGeom>
          <a:noFill/>
          <a:ln>
            <a:noFill/>
          </a:ln>
        </p:spPr>
        <p:txBody>
          <a:bodyPr wrap="square" lIns="0" tIns="0" rIns="0" bIns="0" anchor="t"/>
          <a:lstStyle/>
          <a:p>
            <a:pPr algn="ctr">
              <a:buNone/>
            </a:pPr>
            <a:r>
              <a:rPr lang="en-US" sz="2000" b="1" i="0" dirty="0">
                <a:solidFill>
                  <a:srgbClr val="8E6F3E"/>
                </a:solidFill>
              </a:rPr>
              <a:t>IMPLEMENTATION</a:t>
            </a:r>
          </a:p>
        </p:txBody>
      </p:sp>
      <p:sp>
        <p:nvSpPr>
          <p:cNvPr id="103" name="S103"/>
          <p:cNvSpPr/>
          <p:nvPr/>
        </p:nvSpPr>
        <p:spPr>
          <a:xfrm>
            <a:off x="4871200" y="1556349"/>
            <a:ext cx="3960000" cy="1775000"/>
          </a:xfrm>
          <a:prstGeom prst="rect">
            <a:avLst/>
          </a:prstGeom>
          <a:solidFill>
            <a:srgbClr val="FBF8F2"/>
          </a:solidFill>
          <a:ln w="12700">
            <a:solidFill>
              <a:srgbClr val="5C4826"/>
            </a:solidFill>
            <a:prstDash val="dash"/>
          </a:ln>
        </p:spPr>
        <p:txBody>
          <a:bodyPr wrap="square" lIns="91440" tIns="45720" rIns="91440" bIns="45720" anchor="ctr"/>
          <a:lstStyle/>
          <a:p>
            <a:pPr algn="ctr">
              <a:buNone/>
            </a:pPr>
            <a:r>
              <a:rPr lang="en-US" sz="2300" b="1" i="0" dirty="0">
                <a:solidFill>
                  <a:srgbClr val="5C4826"/>
                </a:solidFill>
              </a:rPr>
              <a:t>A → PORT → B</a:t>
            </a:r>
          </a:p>
          <a:p>
            <a:pPr algn="ctr">
              <a:spcBef>
                <a:spcPts val="100"/>
              </a:spcBef>
              <a:buNone/>
            </a:pPr>
            <a:r>
              <a:rPr lang="en-US" sz="1900" b="0" i="0" dirty="0">
                <a:solidFill>
                  <a:srgbClr val="B85042"/>
                </a:solidFill>
              </a:rPr>
              <a:t>└──► B internals</a:t>
            </a:r>
          </a:p>
          <a:p>
            <a:pPr algn="ctr">
              <a:spcBef>
                <a:spcPts val="80"/>
              </a:spcBef>
              <a:buNone/>
            </a:pPr>
            <a:r>
              <a:rPr lang="en-US" sz="1900" b="0" i="1" dirty="0">
                <a:solidFill>
                  <a:srgbClr val="555960"/>
                </a:solidFill>
              </a:rPr>
              <a:t>“just this once”</a:t>
            </a:r>
          </a:p>
        </p:txBody>
      </p:sp>
      <p:sp>
        <p:nvSpPr>
          <p:cNvPr id="104" name="S104"/>
          <p:cNvSpPr/>
          <p:nvPr/>
        </p:nvSpPr>
        <p:spPr>
          <a:xfrm>
            <a:off x="274320" y="3601149"/>
            <a:ext cx="8595360" cy="795199"/>
          </a:xfrm>
          <a:prstGeom prst="rect">
            <a:avLst/>
          </a:prstGeom>
          <a:noFill/>
          <a:ln>
            <a:noFill/>
          </a:ln>
        </p:spPr>
        <p:txBody>
          <a:bodyPr wrap="square" lIns="91440" tIns="45720" rIns="91440" bIns="45720" anchor="ctr"/>
          <a:lstStyle/>
          <a:p>
            <a:pPr algn="ctr">
              <a:buNone/>
            </a:pPr>
            <a:r>
              <a:rPr lang="en-US" sz="2500" b="1" i="0" dirty="0">
                <a:solidFill>
                  <a:srgbClr val="5C4826"/>
                </a:solidFill>
              </a:rPr>
              <a:t>feature works ✓    tests pass ✓    architecture remains true ✗</a:t>
            </a:r>
          </a:p>
        </p:txBody>
      </p:sp>
      <p:sp>
        <p:nvSpPr>
          <p:cNvPr id="105" name="S105"/>
          <p:cNvSpPr/>
          <p:nvPr/>
        </p:nvSpPr>
        <p:spPr>
          <a:xfrm>
            <a:off x="274320" y="4566749"/>
            <a:ext cx="8595360" cy="795199"/>
          </a:xfrm>
          <a:prstGeom prst="rect">
            <a:avLst/>
          </a:prstGeom>
          <a:solidFill>
            <a:srgbClr val="8E6F3E"/>
          </a:solidFill>
          <a:ln>
            <a:noFill/>
          </a:ln>
        </p:spPr>
        <p:txBody>
          <a:bodyPr wrap="square" lIns="91440" tIns="45720" rIns="91440" bIns="45720" anchor="ctr"/>
          <a:lstStyle/>
          <a:p>
            <a:pPr algn="ctr">
              <a:buNone/>
            </a:pPr>
            <a:r>
              <a:rPr lang="en-US" sz="2000" b="1" i="0" dirty="0">
                <a:solidFill>
                  <a:srgbClr val="FFFFFF"/>
                </a:solidFill>
              </a:rPr>
              <a:t>“Can B be replaced without changing A?”   Model: YES   ·   Reality: NO</a:t>
            </a:r>
          </a:p>
        </p:txBody>
      </p:sp>
      <p:sp>
        <p:nvSpPr>
          <p:cNvPr id="106" name="FooterItalic"/>
          <p:cNvSpPr txBox="1"/>
          <p:nvPr/>
        </p:nvSpPr>
        <p:spPr>
          <a:xfrm>
            <a:off x="274320" y="5852160"/>
            <a:ext cx="8595360" cy="566928"/>
          </a:xfrm>
          <a:prstGeom prst="rect">
            <a:avLst/>
          </a:prstGeom>
          <a:noFill/>
          <a:ln>
            <a:noFill/>
          </a:ln>
        </p:spPr>
        <p:txBody>
          <a:bodyPr wrap="square" lIns="0" tIns="0" rIns="0" bIns="0" anchor="t"/>
          <a:lstStyle/>
          <a:p>
            <a:pPr algn="ctr">
              <a:buNone/>
            </a:pPr>
            <a:r>
              <a:rPr lang="en-US" sz="1900" b="0" i="1" dirty="0">
                <a:solidFill>
                  <a:srgbClr val="000000"/>
                </a:solidFill>
              </a:rPr>
              <a:t>Architectural degradation destroys the predictive value of the architecture.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fade">
                                      <p:cBhvr>
                                        <p:cTn id="7" dur="500"/>
                                        <p:tgtEl>
                                          <p:spTgt spid="102"/>
                                        </p:tgtEl>
                                      </p:cBhvr>
                                    </p:animEffect>
                                  </p:childTnLst>
                                </p:cTn>
                              </p:par>
                            </p:childTnLst>
                          </p:cTn>
                        </p:par>
                        <p:par>
                          <p:cTn id="8" fill="hold">
                            <p:stCondLst>
                              <p:cond delay="0"/>
                            </p:stCondLst>
                            <p:childTnLst>
                              <p:par>
                                <p:cTn id="9" presetID="10" presetClass="entr" presetSubtype="0" fill="hold" grpId="1" nodeType="withEffect">
                                  <p:stCondLst>
                                    <p:cond delay="0"/>
                                  </p:stCondLst>
                                  <p:childTnLst>
                                    <p:set>
                                      <p:cBhvr>
                                        <p:cTn id="10" dur="1" fill="hold">
                                          <p:stCondLst>
                                            <p:cond delay="0"/>
                                          </p:stCondLst>
                                        </p:cTn>
                                        <p:tgtEl>
                                          <p:spTgt spid="103"/>
                                        </p:tgtEl>
                                        <p:attrNameLst>
                                          <p:attrName>style.visibility</p:attrName>
                                        </p:attrNameLst>
                                      </p:cBhvr>
                                      <p:to>
                                        <p:strVal val="visible"/>
                                      </p:to>
                                    </p:set>
                                    <p:animEffect transition="in" filter="fade">
                                      <p:cBhvr>
                                        <p:cTn id="11" dur="500"/>
                                        <p:tgtEl>
                                          <p:spTgt spid="103"/>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2" nodeType="clickEffect">
                                  <p:stCondLst>
                                    <p:cond delay="0"/>
                                  </p:stCondLst>
                                  <p:childTnLst>
                                    <p:set>
                                      <p:cBhvr>
                                        <p:cTn id="15" dur="1" fill="hold">
                                          <p:stCondLst>
                                            <p:cond delay="0"/>
                                          </p:stCondLst>
                                        </p:cTn>
                                        <p:tgtEl>
                                          <p:spTgt spid="104"/>
                                        </p:tgtEl>
                                        <p:attrNameLst>
                                          <p:attrName>style.visibility</p:attrName>
                                        </p:attrNameLst>
                                      </p:cBhvr>
                                      <p:to>
                                        <p:strVal val="visible"/>
                                      </p:to>
                                    </p:set>
                                    <p:animEffect transition="in" filter="fade">
                                      <p:cBhvr>
                                        <p:cTn id="16" dur="500"/>
                                        <p:tgtEl>
                                          <p:spTgt spid="10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3" nodeType="clickEffect">
                                  <p:stCondLst>
                                    <p:cond delay="0"/>
                                  </p:stCondLst>
                                  <p:childTnLst>
                                    <p:set>
                                      <p:cBhvr>
                                        <p:cTn id="20" dur="1" fill="hold">
                                          <p:stCondLst>
                                            <p:cond delay="0"/>
                                          </p:stCondLst>
                                        </p:cTn>
                                        <p:tgtEl>
                                          <p:spTgt spid="105"/>
                                        </p:tgtEl>
                                        <p:attrNameLst>
                                          <p:attrName>style.visibility</p:attrName>
                                        </p:attrNameLst>
                                      </p:cBhvr>
                                      <p:to>
                                        <p:strVal val="visible"/>
                                      </p:to>
                                    </p:set>
                                    <p:animEffect transition="in" filter="fade">
                                      <p:cBhvr>
                                        <p:cTn id="21" dur="500"/>
                                        <p:tgtEl>
                                          <p:spTgt spid="105"/>
                                        </p:tgtEl>
                                      </p:cBhvr>
                                    </p:animEffect>
                                  </p:childTnLst>
                                </p:cTn>
                              </p:par>
                            </p:childTnLst>
                          </p:cTn>
                        </p:par>
                        <p:par>
                          <p:cTn id="22" fill="hold">
                            <p:stCondLst>
                              <p:cond delay="0"/>
                            </p:stCondLst>
                            <p:childTnLst>
                              <p:par>
                                <p:cTn id="23" presetID="10" presetClass="entr" presetSubtype="0" fill="hold" grpId="4" nodeType="withEffect">
                                  <p:stCondLst>
                                    <p:cond delay="0"/>
                                  </p:stCondLst>
                                  <p:childTnLst>
                                    <p:set>
                                      <p:cBhvr>
                                        <p:cTn id="24" dur="1" fill="hold">
                                          <p:stCondLst>
                                            <p:cond delay="0"/>
                                          </p:stCondLst>
                                        </p:cTn>
                                        <p:tgtEl>
                                          <p:spTgt spid="106"/>
                                        </p:tgtEl>
                                        <p:attrNameLst>
                                          <p:attrName>style.visibility</p:attrName>
                                        </p:attrNameLst>
                                      </p:cBhvr>
                                      <p:to>
                                        <p:strVal val="visible"/>
                                      </p:to>
                                    </p:set>
                                    <p:animEffect transition="in" filter="fade">
                                      <p:cBhvr>
                                        <p:cTn id="25" dur="500"/>
                                        <p:tgtEl>
                                          <p:spTgt spid="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p:bldP spid="103" grpId="1" animBg="1"/>
      <p:bldP spid="104" grpId="2"/>
      <p:bldP spid="105" grpId="3" animBg="1"/>
      <p:bldP spid="106" grpId="4"/>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148" y="118428"/>
            <a:ext cx="8590000" cy="638175"/>
          </a:xfrm>
        </p:spPr>
        <p:txBody>
          <a:bodyPr>
            <a:normAutofit fontScale="90000"/>
          </a:bodyPr>
          <a:lstStyle/>
          <a:p>
            <a:pPr>
              <a:buNone/>
              <a:defRPr b="0"/>
            </a:pPr>
            <a:r>
              <a:rPr lang="en-US" sz="2400" b="0" i="0" dirty="0">
                <a:solidFill>
                  <a:srgbClr val="000000"/>
                </a:solidFill>
              </a:rPr>
              <a:t>Move discoveries to the scope that owns them</a:t>
            </a:r>
          </a:p>
        </p:txBody>
      </p:sp>
      <p:sp>
        <p:nvSpPr>
          <p:cNvPr id="3" name="Slide Number Placeholder 3"/>
          <p:cNvSpPr>
            <a:spLocks noGrp="1"/>
          </p:cNvSpPr>
          <p:nvPr>
            <p:ph type="sldNum" sz="quarter" idx="4"/>
          </p:nvPr>
        </p:nvSpPr>
        <p:spPr/>
        <p:txBody>
          <a:bodyPr/>
          <a:lstStyle/>
          <a:p>
            <a:fld id="{B7EB45DA-9A0D-DC49-8E02-F30A5DDC21C3}" type="slidenum">
              <a:rPr lang="en-US" smtClean="0"/>
              <a:t>27</a:t>
            </a:fld>
            <a:endParaRPr lang="en-US"/>
          </a:p>
        </p:txBody>
      </p:sp>
      <p:sp>
        <p:nvSpPr>
          <p:cNvPr id="100" name="S100"/>
          <p:cNvSpPr/>
          <p:nvPr/>
        </p:nvSpPr>
        <p:spPr>
          <a:xfrm>
            <a:off x="2772000" y="988043"/>
            <a:ext cx="3600000" cy="608400"/>
          </a:xfrm>
          <a:prstGeom prst="rect">
            <a:avLst/>
          </a:prstGeom>
          <a:solidFill>
            <a:srgbClr val="8E6F3E"/>
          </a:solidFill>
          <a:ln>
            <a:noFill/>
          </a:ln>
        </p:spPr>
        <p:txBody>
          <a:bodyPr wrap="square" lIns="91440" tIns="45720" rIns="91440" bIns="45720" anchor="ctr"/>
          <a:lstStyle/>
          <a:p>
            <a:pPr algn="ctr">
              <a:buNone/>
            </a:pPr>
            <a:r>
              <a:rPr lang="en-US" sz="2100" b="1" i="0" dirty="0">
                <a:solidFill>
                  <a:srgbClr val="FFFFFF"/>
                </a:solidFill>
              </a:rPr>
              <a:t>DESIGN DISCOVERY</a:t>
            </a:r>
          </a:p>
        </p:txBody>
      </p:sp>
      <p:cxnSp>
        <p:nvCxnSpPr>
          <p:cNvPr id="101" name="L101"/>
          <p:cNvCxnSpPr/>
          <p:nvPr/>
        </p:nvCxnSpPr>
        <p:spPr>
          <a:xfrm>
            <a:off x="4572000" y="1596443"/>
            <a:ext cx="0" cy="234000"/>
          </a:xfrm>
          <a:prstGeom prst="straightConnector1">
            <a:avLst/>
          </a:prstGeom>
          <a:ln w="38100">
            <a:solidFill>
              <a:srgbClr val="8E6F3E"/>
            </a:solidFill>
            <a:tailEnd type="triangle" w="med" len="med"/>
          </a:ln>
        </p:spPr>
      </p:cxnSp>
      <p:sp>
        <p:nvSpPr>
          <p:cNvPr id="102" name="Q"/>
          <p:cNvSpPr txBox="1"/>
          <p:nvPr/>
        </p:nvSpPr>
        <p:spPr>
          <a:xfrm>
            <a:off x="277147" y="1853843"/>
            <a:ext cx="8589704" cy="374399"/>
          </a:xfrm>
          <a:prstGeom prst="rect">
            <a:avLst/>
          </a:prstGeom>
          <a:noFill/>
          <a:ln>
            <a:noFill/>
          </a:ln>
        </p:spPr>
        <p:txBody>
          <a:bodyPr wrap="square" lIns="0" tIns="0" rIns="0" bIns="0" anchor="t"/>
          <a:lstStyle/>
          <a:p>
            <a:pPr algn="ctr">
              <a:buNone/>
            </a:pPr>
            <a:r>
              <a:rPr lang="en-US" sz="1900" b="0" i="1" dirty="0">
                <a:solidFill>
                  <a:srgbClr val="555960"/>
                </a:solidFill>
              </a:rPr>
              <a:t>Where do its consequences live?</a:t>
            </a:r>
          </a:p>
        </p:txBody>
      </p:sp>
      <p:sp>
        <p:nvSpPr>
          <p:cNvPr id="103" name="S103"/>
          <p:cNvSpPr/>
          <p:nvPr/>
        </p:nvSpPr>
        <p:spPr>
          <a:xfrm>
            <a:off x="900000" y="2321843"/>
            <a:ext cx="3300000" cy="608400"/>
          </a:xfrm>
          <a:prstGeom prst="rect">
            <a:avLst/>
          </a:prstGeom>
          <a:solidFill>
            <a:srgbClr val="F5F1E8"/>
          </a:solidFill>
          <a:ln w="12700">
            <a:solidFill>
              <a:srgbClr val="C9B991"/>
            </a:solidFill>
          </a:ln>
        </p:spPr>
        <p:txBody>
          <a:bodyPr wrap="square" lIns="91440" tIns="45720" rIns="91440" bIns="45720" anchor="ctr"/>
          <a:lstStyle/>
          <a:p>
            <a:pPr algn="ctr">
              <a:buNone/>
            </a:pPr>
            <a:r>
              <a:rPr lang="en-US" sz="1900" b="0" i="0" dirty="0">
                <a:solidFill>
                  <a:srgbClr val="000000"/>
                </a:solidFill>
              </a:rPr>
              <a:t>LOCAL</a:t>
            </a:r>
          </a:p>
        </p:txBody>
      </p:sp>
      <p:cxnSp>
        <p:nvCxnSpPr>
          <p:cNvPr id="104" name="L104"/>
          <p:cNvCxnSpPr/>
          <p:nvPr/>
        </p:nvCxnSpPr>
        <p:spPr>
          <a:xfrm>
            <a:off x="4200000" y="2626043"/>
            <a:ext cx="640000" cy="0"/>
          </a:xfrm>
          <a:prstGeom prst="straightConnector1">
            <a:avLst/>
          </a:prstGeom>
          <a:ln w="38100">
            <a:solidFill>
              <a:srgbClr val="8E6F3E"/>
            </a:solidFill>
            <a:tailEnd type="triangle" w="med" len="med"/>
          </a:ln>
        </p:spPr>
      </p:cxnSp>
      <p:sp>
        <p:nvSpPr>
          <p:cNvPr id="105" name="S105"/>
          <p:cNvSpPr/>
          <p:nvPr/>
        </p:nvSpPr>
        <p:spPr>
          <a:xfrm>
            <a:off x="4844000" y="2321843"/>
            <a:ext cx="3300000" cy="608400"/>
          </a:xfrm>
          <a:prstGeom prst="rect">
            <a:avLst/>
          </a:prstGeom>
          <a:solidFill>
            <a:srgbClr val="FBF8F2"/>
          </a:solidFill>
          <a:ln w="12700">
            <a:solidFill>
              <a:srgbClr val="5C4826"/>
            </a:solidFill>
          </a:ln>
        </p:spPr>
        <p:txBody>
          <a:bodyPr wrap="square" lIns="91440" tIns="45720" rIns="91440" bIns="45720" anchor="ctr"/>
          <a:lstStyle/>
          <a:p>
            <a:pPr algn="ctr">
              <a:buNone/>
            </a:pPr>
            <a:r>
              <a:rPr lang="en-US" sz="1900" b="1" i="0" dirty="0">
                <a:solidFill>
                  <a:srgbClr val="5C4826"/>
                </a:solidFill>
              </a:rPr>
              <a:t>DESIGN</a:t>
            </a:r>
          </a:p>
        </p:txBody>
      </p:sp>
      <p:sp>
        <p:nvSpPr>
          <p:cNvPr id="106" name="S106"/>
          <p:cNvSpPr/>
          <p:nvPr/>
        </p:nvSpPr>
        <p:spPr>
          <a:xfrm>
            <a:off x="900000" y="3070643"/>
            <a:ext cx="3300000" cy="608400"/>
          </a:xfrm>
          <a:prstGeom prst="rect">
            <a:avLst/>
          </a:prstGeom>
          <a:solidFill>
            <a:srgbClr val="F5F1E8"/>
          </a:solidFill>
          <a:ln w="12700">
            <a:solidFill>
              <a:srgbClr val="C9B991"/>
            </a:solidFill>
          </a:ln>
        </p:spPr>
        <p:txBody>
          <a:bodyPr wrap="square" lIns="91440" tIns="45720" rIns="91440" bIns="45720" anchor="ctr"/>
          <a:lstStyle/>
          <a:p>
            <a:pPr algn="ctr">
              <a:buNone/>
            </a:pPr>
            <a:r>
              <a:rPr lang="en-US" sz="1900" b="0" i="0" dirty="0">
                <a:solidFill>
                  <a:srgbClr val="000000"/>
                </a:solidFill>
              </a:rPr>
              <a:t>RECURRING ACROSS PARTS</a:t>
            </a:r>
          </a:p>
        </p:txBody>
      </p:sp>
      <p:cxnSp>
        <p:nvCxnSpPr>
          <p:cNvPr id="107" name="L107"/>
          <p:cNvCxnSpPr/>
          <p:nvPr/>
        </p:nvCxnSpPr>
        <p:spPr>
          <a:xfrm>
            <a:off x="4200000" y="3374843"/>
            <a:ext cx="640000" cy="0"/>
          </a:xfrm>
          <a:prstGeom prst="straightConnector1">
            <a:avLst/>
          </a:prstGeom>
          <a:ln w="38100">
            <a:solidFill>
              <a:srgbClr val="8E6F3E"/>
            </a:solidFill>
            <a:tailEnd type="triangle" w="med" len="med"/>
          </a:ln>
        </p:spPr>
      </p:cxnSp>
      <p:sp>
        <p:nvSpPr>
          <p:cNvPr id="108" name="S108"/>
          <p:cNvSpPr/>
          <p:nvPr/>
        </p:nvSpPr>
        <p:spPr>
          <a:xfrm>
            <a:off x="4844000" y="3070643"/>
            <a:ext cx="3300000" cy="608400"/>
          </a:xfrm>
          <a:prstGeom prst="rect">
            <a:avLst/>
          </a:prstGeom>
          <a:solidFill>
            <a:srgbClr val="FBF8F2"/>
          </a:solidFill>
          <a:ln w="12700">
            <a:solidFill>
              <a:srgbClr val="5C4826"/>
            </a:solidFill>
          </a:ln>
        </p:spPr>
        <p:txBody>
          <a:bodyPr wrap="square" lIns="91440" tIns="45720" rIns="91440" bIns="45720" anchor="ctr"/>
          <a:lstStyle/>
          <a:p>
            <a:pPr algn="ctr">
              <a:buNone/>
            </a:pPr>
            <a:r>
              <a:rPr lang="en-US" sz="1900" b="1" i="0" dirty="0">
                <a:solidFill>
                  <a:srgbClr val="5C4826"/>
                </a:solidFill>
              </a:rPr>
              <a:t>ENGINEERING ENVIRONMENT</a:t>
            </a:r>
          </a:p>
        </p:txBody>
      </p:sp>
      <p:sp>
        <p:nvSpPr>
          <p:cNvPr id="109" name="S109"/>
          <p:cNvSpPr/>
          <p:nvPr/>
        </p:nvSpPr>
        <p:spPr>
          <a:xfrm>
            <a:off x="900000" y="3819443"/>
            <a:ext cx="3300000" cy="608400"/>
          </a:xfrm>
          <a:prstGeom prst="rect">
            <a:avLst/>
          </a:prstGeom>
          <a:solidFill>
            <a:srgbClr val="F5F1E8"/>
          </a:solidFill>
          <a:ln w="12700">
            <a:solidFill>
              <a:srgbClr val="C9B991"/>
            </a:solidFill>
          </a:ln>
        </p:spPr>
        <p:txBody>
          <a:bodyPr wrap="square" lIns="91440" tIns="45720" rIns="91440" bIns="45720" anchor="ctr"/>
          <a:lstStyle/>
          <a:p>
            <a:pPr algn="ctr">
              <a:buNone/>
            </a:pPr>
            <a:r>
              <a:rPr lang="en-US" sz="1900" b="0" i="0" dirty="0">
                <a:solidFill>
                  <a:srgbClr val="000000"/>
                </a:solidFill>
              </a:rPr>
              <a:t>SYSTEM STRUCTURE</a:t>
            </a:r>
          </a:p>
        </p:txBody>
      </p:sp>
      <p:cxnSp>
        <p:nvCxnSpPr>
          <p:cNvPr id="110" name="L110"/>
          <p:cNvCxnSpPr/>
          <p:nvPr/>
        </p:nvCxnSpPr>
        <p:spPr>
          <a:xfrm>
            <a:off x="4200000" y="4123643"/>
            <a:ext cx="640000" cy="0"/>
          </a:xfrm>
          <a:prstGeom prst="straightConnector1">
            <a:avLst/>
          </a:prstGeom>
          <a:ln w="38100">
            <a:solidFill>
              <a:srgbClr val="8E6F3E"/>
            </a:solidFill>
            <a:tailEnd type="triangle" w="med" len="med"/>
          </a:ln>
        </p:spPr>
      </p:cxnSp>
      <p:sp>
        <p:nvSpPr>
          <p:cNvPr id="111" name="S111"/>
          <p:cNvSpPr/>
          <p:nvPr/>
        </p:nvSpPr>
        <p:spPr>
          <a:xfrm>
            <a:off x="4844000" y="3819443"/>
            <a:ext cx="3300000" cy="608400"/>
          </a:xfrm>
          <a:prstGeom prst="rect">
            <a:avLst/>
          </a:prstGeom>
          <a:solidFill>
            <a:srgbClr val="FBF8F2"/>
          </a:solidFill>
          <a:ln w="12700">
            <a:solidFill>
              <a:srgbClr val="5C4826"/>
            </a:solidFill>
          </a:ln>
        </p:spPr>
        <p:txBody>
          <a:bodyPr wrap="square" lIns="91440" tIns="45720" rIns="91440" bIns="45720" anchor="ctr"/>
          <a:lstStyle/>
          <a:p>
            <a:pPr algn="ctr">
              <a:buNone/>
            </a:pPr>
            <a:r>
              <a:rPr lang="en-US" sz="1900" b="1" i="0" dirty="0">
                <a:solidFill>
                  <a:srgbClr val="5C4826"/>
                </a:solidFill>
              </a:rPr>
              <a:t>ARCHITECTURE</a:t>
            </a:r>
          </a:p>
        </p:txBody>
      </p:sp>
      <p:sp>
        <p:nvSpPr>
          <p:cNvPr id="112" name="S112"/>
          <p:cNvSpPr/>
          <p:nvPr/>
        </p:nvSpPr>
        <p:spPr>
          <a:xfrm>
            <a:off x="900000" y="4568243"/>
            <a:ext cx="3300000" cy="608400"/>
          </a:xfrm>
          <a:prstGeom prst="rect">
            <a:avLst/>
          </a:prstGeom>
          <a:solidFill>
            <a:srgbClr val="F5F1E8"/>
          </a:solidFill>
          <a:ln w="12700">
            <a:solidFill>
              <a:srgbClr val="C9B991"/>
            </a:solidFill>
          </a:ln>
        </p:spPr>
        <p:txBody>
          <a:bodyPr wrap="square" lIns="91440" tIns="45720" rIns="91440" bIns="45720" anchor="ctr"/>
          <a:lstStyle/>
          <a:p>
            <a:pPr algn="ctr">
              <a:buNone/>
            </a:pPr>
            <a:r>
              <a:rPr lang="en-US" sz="1900" b="0" i="0" dirty="0">
                <a:solidFill>
                  <a:srgbClr val="000000"/>
                </a:solidFill>
              </a:rPr>
              <a:t>WHAT MUST BE TRUE</a:t>
            </a:r>
          </a:p>
        </p:txBody>
      </p:sp>
      <p:cxnSp>
        <p:nvCxnSpPr>
          <p:cNvPr id="113" name="L113"/>
          <p:cNvCxnSpPr/>
          <p:nvPr/>
        </p:nvCxnSpPr>
        <p:spPr>
          <a:xfrm>
            <a:off x="4200000" y="4872443"/>
            <a:ext cx="640000" cy="0"/>
          </a:xfrm>
          <a:prstGeom prst="straightConnector1">
            <a:avLst/>
          </a:prstGeom>
          <a:ln w="38100">
            <a:solidFill>
              <a:srgbClr val="8E6F3E"/>
            </a:solidFill>
            <a:tailEnd type="triangle" w="med" len="med"/>
          </a:ln>
        </p:spPr>
      </p:cxnSp>
      <p:sp>
        <p:nvSpPr>
          <p:cNvPr id="114" name="S114"/>
          <p:cNvSpPr/>
          <p:nvPr/>
        </p:nvSpPr>
        <p:spPr>
          <a:xfrm>
            <a:off x="4844000" y="4568243"/>
            <a:ext cx="3300000" cy="608400"/>
          </a:xfrm>
          <a:prstGeom prst="rect">
            <a:avLst/>
          </a:prstGeom>
          <a:solidFill>
            <a:srgbClr val="FBF8F2"/>
          </a:solidFill>
          <a:ln w="12700">
            <a:solidFill>
              <a:srgbClr val="5C4826"/>
            </a:solidFill>
          </a:ln>
        </p:spPr>
        <p:txBody>
          <a:bodyPr wrap="square" lIns="91440" tIns="45720" rIns="91440" bIns="45720" anchor="ctr"/>
          <a:lstStyle/>
          <a:p>
            <a:pPr algn="ctr">
              <a:buNone/>
            </a:pPr>
            <a:r>
              <a:rPr lang="en-US" sz="1900" b="1" i="0" dirty="0">
                <a:solidFill>
                  <a:srgbClr val="5C4826"/>
                </a:solidFill>
              </a:rPr>
              <a:t>SPECIFICATION</a:t>
            </a:r>
          </a:p>
        </p:txBody>
      </p:sp>
      <p:sp>
        <p:nvSpPr>
          <p:cNvPr id="115" name="S115"/>
          <p:cNvSpPr/>
          <p:nvPr/>
        </p:nvSpPr>
        <p:spPr>
          <a:xfrm>
            <a:off x="274320" y="5852160"/>
            <a:ext cx="8595360" cy="566928"/>
          </a:xfrm>
          <a:prstGeom prst="rect">
            <a:avLst/>
          </a:prstGeom>
          <a:solidFill>
            <a:srgbClr val="8E6F3E"/>
          </a:solidFill>
          <a:ln>
            <a:noFill/>
          </a:ln>
        </p:spPr>
        <p:txBody>
          <a:bodyPr wrap="square" lIns="91440" tIns="45720" rIns="91440" bIns="45720" anchor="ctr"/>
          <a:lstStyle/>
          <a:p>
            <a:pPr algn="ctr">
              <a:buNone/>
            </a:pPr>
            <a:r>
              <a:rPr lang="en-US" sz="2100" b="1" i="0" dirty="0">
                <a:solidFill>
                  <a:srgbClr val="FFFFFF"/>
                </a:solidFill>
              </a:rPr>
              <a:t>REMOVE IT  ·  MODEL IT  ·  CHANGE THE RULE.  Never silently ignore it.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3"/>
                                        </p:tgtEl>
                                        <p:attrNameLst>
                                          <p:attrName>style.visibility</p:attrName>
                                        </p:attrNameLst>
                                      </p:cBhvr>
                                      <p:to>
                                        <p:strVal val="visible"/>
                                      </p:to>
                                    </p:set>
                                    <p:animEffect transition="in" filter="fade">
                                      <p:cBhvr>
                                        <p:cTn id="7" dur="500"/>
                                        <p:tgtEl>
                                          <p:spTgt spid="103"/>
                                        </p:tgtEl>
                                      </p:cBhvr>
                                    </p:animEffect>
                                  </p:childTnLst>
                                </p:cTn>
                              </p:par>
                            </p:childTnLst>
                          </p:cTn>
                        </p:par>
                        <p:par>
                          <p:cTn id="8" fill="hold">
                            <p:stCondLst>
                              <p:cond delay="0"/>
                            </p:stCondLst>
                            <p:childTnLst>
                              <p:par>
                                <p:cTn id="9" presetID="10" presetClass="entr" presetSubtype="0" fill="hold" grpId="1" nodeType="withEffect">
                                  <p:stCondLst>
                                    <p:cond delay="0"/>
                                  </p:stCondLst>
                                  <p:childTnLst>
                                    <p:set>
                                      <p:cBhvr>
                                        <p:cTn id="10" dur="1" fill="hold">
                                          <p:stCondLst>
                                            <p:cond delay="0"/>
                                          </p:stCondLst>
                                        </p:cTn>
                                        <p:tgtEl>
                                          <p:spTgt spid="104"/>
                                        </p:tgtEl>
                                        <p:attrNameLst>
                                          <p:attrName>style.visibility</p:attrName>
                                        </p:attrNameLst>
                                      </p:cBhvr>
                                      <p:to>
                                        <p:strVal val="visible"/>
                                      </p:to>
                                    </p:set>
                                    <p:animEffect transition="in" filter="fade">
                                      <p:cBhvr>
                                        <p:cTn id="11" dur="500"/>
                                        <p:tgtEl>
                                          <p:spTgt spid="104"/>
                                        </p:tgtEl>
                                      </p:cBhvr>
                                    </p:animEffect>
                                  </p:childTnLst>
                                </p:cTn>
                              </p:par>
                            </p:childTnLst>
                          </p:cTn>
                        </p:par>
                        <p:par>
                          <p:cTn id="12" fill="hold">
                            <p:stCondLst>
                              <p:cond delay="0"/>
                            </p:stCondLst>
                            <p:childTnLst>
                              <p:par>
                                <p:cTn id="13" presetID="10" presetClass="entr" presetSubtype="0" fill="hold" grpId="2" nodeType="withEffect">
                                  <p:stCondLst>
                                    <p:cond delay="0"/>
                                  </p:stCondLst>
                                  <p:childTnLst>
                                    <p:set>
                                      <p:cBhvr>
                                        <p:cTn id="14" dur="1" fill="hold">
                                          <p:stCondLst>
                                            <p:cond delay="0"/>
                                          </p:stCondLst>
                                        </p:cTn>
                                        <p:tgtEl>
                                          <p:spTgt spid="105"/>
                                        </p:tgtEl>
                                        <p:attrNameLst>
                                          <p:attrName>style.visibility</p:attrName>
                                        </p:attrNameLst>
                                      </p:cBhvr>
                                      <p:to>
                                        <p:strVal val="visible"/>
                                      </p:to>
                                    </p:set>
                                    <p:animEffect transition="in" filter="fade">
                                      <p:cBhvr>
                                        <p:cTn id="15" dur="500"/>
                                        <p:tgtEl>
                                          <p:spTgt spid="10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3" nodeType="clickEffect">
                                  <p:stCondLst>
                                    <p:cond delay="0"/>
                                  </p:stCondLst>
                                  <p:childTnLst>
                                    <p:set>
                                      <p:cBhvr>
                                        <p:cTn id="19" dur="1" fill="hold">
                                          <p:stCondLst>
                                            <p:cond delay="0"/>
                                          </p:stCondLst>
                                        </p:cTn>
                                        <p:tgtEl>
                                          <p:spTgt spid="106"/>
                                        </p:tgtEl>
                                        <p:attrNameLst>
                                          <p:attrName>style.visibility</p:attrName>
                                        </p:attrNameLst>
                                      </p:cBhvr>
                                      <p:to>
                                        <p:strVal val="visible"/>
                                      </p:to>
                                    </p:set>
                                    <p:animEffect transition="in" filter="fade">
                                      <p:cBhvr>
                                        <p:cTn id="20" dur="500"/>
                                        <p:tgtEl>
                                          <p:spTgt spid="106"/>
                                        </p:tgtEl>
                                      </p:cBhvr>
                                    </p:animEffect>
                                  </p:childTnLst>
                                </p:cTn>
                              </p:par>
                            </p:childTnLst>
                          </p:cTn>
                        </p:par>
                        <p:par>
                          <p:cTn id="21" fill="hold">
                            <p:stCondLst>
                              <p:cond delay="0"/>
                            </p:stCondLst>
                            <p:childTnLst>
                              <p:par>
                                <p:cTn id="22" presetID="10" presetClass="entr" presetSubtype="0" fill="hold" grpId="4" nodeType="withEffect">
                                  <p:stCondLst>
                                    <p:cond delay="0"/>
                                  </p:stCondLst>
                                  <p:childTnLst>
                                    <p:set>
                                      <p:cBhvr>
                                        <p:cTn id="23" dur="1" fill="hold">
                                          <p:stCondLst>
                                            <p:cond delay="0"/>
                                          </p:stCondLst>
                                        </p:cTn>
                                        <p:tgtEl>
                                          <p:spTgt spid="107"/>
                                        </p:tgtEl>
                                        <p:attrNameLst>
                                          <p:attrName>style.visibility</p:attrName>
                                        </p:attrNameLst>
                                      </p:cBhvr>
                                      <p:to>
                                        <p:strVal val="visible"/>
                                      </p:to>
                                    </p:set>
                                    <p:animEffect transition="in" filter="fade">
                                      <p:cBhvr>
                                        <p:cTn id="24" dur="500"/>
                                        <p:tgtEl>
                                          <p:spTgt spid="107"/>
                                        </p:tgtEl>
                                      </p:cBhvr>
                                    </p:animEffect>
                                  </p:childTnLst>
                                </p:cTn>
                              </p:par>
                            </p:childTnLst>
                          </p:cTn>
                        </p:par>
                        <p:par>
                          <p:cTn id="25" fill="hold">
                            <p:stCondLst>
                              <p:cond delay="0"/>
                            </p:stCondLst>
                            <p:childTnLst>
                              <p:par>
                                <p:cTn id="26" presetID="10" presetClass="entr" presetSubtype="0" fill="hold" grpId="5" nodeType="withEffect">
                                  <p:stCondLst>
                                    <p:cond delay="0"/>
                                  </p:stCondLst>
                                  <p:childTnLst>
                                    <p:set>
                                      <p:cBhvr>
                                        <p:cTn id="27" dur="1" fill="hold">
                                          <p:stCondLst>
                                            <p:cond delay="0"/>
                                          </p:stCondLst>
                                        </p:cTn>
                                        <p:tgtEl>
                                          <p:spTgt spid="108"/>
                                        </p:tgtEl>
                                        <p:attrNameLst>
                                          <p:attrName>style.visibility</p:attrName>
                                        </p:attrNameLst>
                                      </p:cBhvr>
                                      <p:to>
                                        <p:strVal val="visible"/>
                                      </p:to>
                                    </p:set>
                                    <p:animEffect transition="in" filter="fade">
                                      <p:cBhvr>
                                        <p:cTn id="28" dur="500"/>
                                        <p:tgtEl>
                                          <p:spTgt spid="108"/>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6" nodeType="clickEffect">
                                  <p:stCondLst>
                                    <p:cond delay="0"/>
                                  </p:stCondLst>
                                  <p:childTnLst>
                                    <p:set>
                                      <p:cBhvr>
                                        <p:cTn id="32" dur="1" fill="hold">
                                          <p:stCondLst>
                                            <p:cond delay="0"/>
                                          </p:stCondLst>
                                        </p:cTn>
                                        <p:tgtEl>
                                          <p:spTgt spid="109"/>
                                        </p:tgtEl>
                                        <p:attrNameLst>
                                          <p:attrName>style.visibility</p:attrName>
                                        </p:attrNameLst>
                                      </p:cBhvr>
                                      <p:to>
                                        <p:strVal val="visible"/>
                                      </p:to>
                                    </p:set>
                                    <p:animEffect transition="in" filter="fade">
                                      <p:cBhvr>
                                        <p:cTn id="33" dur="500"/>
                                        <p:tgtEl>
                                          <p:spTgt spid="109"/>
                                        </p:tgtEl>
                                      </p:cBhvr>
                                    </p:animEffect>
                                  </p:childTnLst>
                                </p:cTn>
                              </p:par>
                            </p:childTnLst>
                          </p:cTn>
                        </p:par>
                        <p:par>
                          <p:cTn id="34" fill="hold">
                            <p:stCondLst>
                              <p:cond delay="0"/>
                            </p:stCondLst>
                            <p:childTnLst>
                              <p:par>
                                <p:cTn id="35" presetID="10" presetClass="entr" presetSubtype="0" fill="hold" grpId="7" nodeType="withEffect">
                                  <p:stCondLst>
                                    <p:cond delay="0"/>
                                  </p:stCondLst>
                                  <p:childTnLst>
                                    <p:set>
                                      <p:cBhvr>
                                        <p:cTn id="36" dur="1" fill="hold">
                                          <p:stCondLst>
                                            <p:cond delay="0"/>
                                          </p:stCondLst>
                                        </p:cTn>
                                        <p:tgtEl>
                                          <p:spTgt spid="110"/>
                                        </p:tgtEl>
                                        <p:attrNameLst>
                                          <p:attrName>style.visibility</p:attrName>
                                        </p:attrNameLst>
                                      </p:cBhvr>
                                      <p:to>
                                        <p:strVal val="visible"/>
                                      </p:to>
                                    </p:set>
                                    <p:animEffect transition="in" filter="fade">
                                      <p:cBhvr>
                                        <p:cTn id="37" dur="500"/>
                                        <p:tgtEl>
                                          <p:spTgt spid="110"/>
                                        </p:tgtEl>
                                      </p:cBhvr>
                                    </p:animEffect>
                                  </p:childTnLst>
                                </p:cTn>
                              </p:par>
                            </p:childTnLst>
                          </p:cTn>
                        </p:par>
                        <p:par>
                          <p:cTn id="38" fill="hold">
                            <p:stCondLst>
                              <p:cond delay="0"/>
                            </p:stCondLst>
                            <p:childTnLst>
                              <p:par>
                                <p:cTn id="39" presetID="10" presetClass="entr" presetSubtype="0" fill="hold" grpId="8" nodeType="withEffect">
                                  <p:stCondLst>
                                    <p:cond delay="0"/>
                                  </p:stCondLst>
                                  <p:childTnLst>
                                    <p:set>
                                      <p:cBhvr>
                                        <p:cTn id="40" dur="1" fill="hold">
                                          <p:stCondLst>
                                            <p:cond delay="0"/>
                                          </p:stCondLst>
                                        </p:cTn>
                                        <p:tgtEl>
                                          <p:spTgt spid="111"/>
                                        </p:tgtEl>
                                        <p:attrNameLst>
                                          <p:attrName>style.visibility</p:attrName>
                                        </p:attrNameLst>
                                      </p:cBhvr>
                                      <p:to>
                                        <p:strVal val="visible"/>
                                      </p:to>
                                    </p:set>
                                    <p:animEffect transition="in" filter="fade">
                                      <p:cBhvr>
                                        <p:cTn id="41" dur="500"/>
                                        <p:tgtEl>
                                          <p:spTgt spid="111"/>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9" nodeType="clickEffect">
                                  <p:stCondLst>
                                    <p:cond delay="0"/>
                                  </p:stCondLst>
                                  <p:childTnLst>
                                    <p:set>
                                      <p:cBhvr>
                                        <p:cTn id="45" dur="1" fill="hold">
                                          <p:stCondLst>
                                            <p:cond delay="0"/>
                                          </p:stCondLst>
                                        </p:cTn>
                                        <p:tgtEl>
                                          <p:spTgt spid="112"/>
                                        </p:tgtEl>
                                        <p:attrNameLst>
                                          <p:attrName>style.visibility</p:attrName>
                                        </p:attrNameLst>
                                      </p:cBhvr>
                                      <p:to>
                                        <p:strVal val="visible"/>
                                      </p:to>
                                    </p:set>
                                    <p:animEffect transition="in" filter="fade">
                                      <p:cBhvr>
                                        <p:cTn id="46" dur="500"/>
                                        <p:tgtEl>
                                          <p:spTgt spid="112"/>
                                        </p:tgtEl>
                                      </p:cBhvr>
                                    </p:animEffect>
                                  </p:childTnLst>
                                </p:cTn>
                              </p:par>
                            </p:childTnLst>
                          </p:cTn>
                        </p:par>
                        <p:par>
                          <p:cTn id="47" fill="hold">
                            <p:stCondLst>
                              <p:cond delay="0"/>
                            </p:stCondLst>
                            <p:childTnLst>
                              <p:par>
                                <p:cTn id="48" presetID="10" presetClass="entr" presetSubtype="0" fill="hold" grpId="10" nodeType="withEffect">
                                  <p:stCondLst>
                                    <p:cond delay="0"/>
                                  </p:stCondLst>
                                  <p:childTnLst>
                                    <p:set>
                                      <p:cBhvr>
                                        <p:cTn id="49" dur="1" fill="hold">
                                          <p:stCondLst>
                                            <p:cond delay="0"/>
                                          </p:stCondLst>
                                        </p:cTn>
                                        <p:tgtEl>
                                          <p:spTgt spid="113"/>
                                        </p:tgtEl>
                                        <p:attrNameLst>
                                          <p:attrName>style.visibility</p:attrName>
                                        </p:attrNameLst>
                                      </p:cBhvr>
                                      <p:to>
                                        <p:strVal val="visible"/>
                                      </p:to>
                                    </p:set>
                                    <p:animEffect transition="in" filter="fade">
                                      <p:cBhvr>
                                        <p:cTn id="50" dur="500"/>
                                        <p:tgtEl>
                                          <p:spTgt spid="113"/>
                                        </p:tgtEl>
                                      </p:cBhvr>
                                    </p:animEffect>
                                  </p:childTnLst>
                                </p:cTn>
                              </p:par>
                            </p:childTnLst>
                          </p:cTn>
                        </p:par>
                        <p:par>
                          <p:cTn id="51" fill="hold">
                            <p:stCondLst>
                              <p:cond delay="0"/>
                            </p:stCondLst>
                            <p:childTnLst>
                              <p:par>
                                <p:cTn id="52" presetID="10" presetClass="entr" presetSubtype="0" fill="hold" grpId="11" nodeType="withEffect">
                                  <p:stCondLst>
                                    <p:cond delay="0"/>
                                  </p:stCondLst>
                                  <p:childTnLst>
                                    <p:set>
                                      <p:cBhvr>
                                        <p:cTn id="53" dur="1" fill="hold">
                                          <p:stCondLst>
                                            <p:cond delay="0"/>
                                          </p:stCondLst>
                                        </p:cTn>
                                        <p:tgtEl>
                                          <p:spTgt spid="114"/>
                                        </p:tgtEl>
                                        <p:attrNameLst>
                                          <p:attrName>style.visibility</p:attrName>
                                        </p:attrNameLst>
                                      </p:cBhvr>
                                      <p:to>
                                        <p:strVal val="visible"/>
                                      </p:to>
                                    </p:set>
                                    <p:animEffect transition="in" filter="fade">
                                      <p:cBhvr>
                                        <p:cTn id="54" dur="500"/>
                                        <p:tgtEl>
                                          <p:spTgt spid="114"/>
                                        </p:tgtEl>
                                      </p:cBhvr>
                                    </p:animEffect>
                                  </p:childTnLst>
                                </p:cTn>
                              </p:par>
                            </p:childTnLst>
                          </p:cTn>
                        </p:par>
                        <p:par>
                          <p:cTn id="55" fill="hold">
                            <p:stCondLst>
                              <p:cond delay="0"/>
                            </p:stCondLst>
                            <p:childTnLst>
                              <p:par>
                                <p:cTn id="56" presetID="10" presetClass="entr" presetSubtype="0" fill="hold" grpId="12" nodeType="withEffect">
                                  <p:stCondLst>
                                    <p:cond delay="0"/>
                                  </p:stCondLst>
                                  <p:childTnLst>
                                    <p:set>
                                      <p:cBhvr>
                                        <p:cTn id="57" dur="1" fill="hold">
                                          <p:stCondLst>
                                            <p:cond delay="0"/>
                                          </p:stCondLst>
                                        </p:cTn>
                                        <p:tgtEl>
                                          <p:spTgt spid="115"/>
                                        </p:tgtEl>
                                        <p:attrNameLst>
                                          <p:attrName>style.visibility</p:attrName>
                                        </p:attrNameLst>
                                      </p:cBhvr>
                                      <p:to>
                                        <p:strVal val="visible"/>
                                      </p:to>
                                    </p:set>
                                    <p:animEffect transition="in" filter="fade">
                                      <p:cBhvr>
                                        <p:cTn id="58" dur="500"/>
                                        <p:tgtEl>
                                          <p:spTgt spid="1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0" animBg="1"/>
      <p:bldP spid="104" grpId="1" animBg="1"/>
      <p:bldP spid="105" grpId="2" animBg="1"/>
      <p:bldP spid="106" grpId="3" animBg="1"/>
      <p:bldP spid="107" grpId="4" animBg="1"/>
      <p:bldP spid="108" grpId="5" animBg="1"/>
      <p:bldP spid="109" grpId="6" animBg="1"/>
      <p:bldP spid="110" grpId="7" animBg="1"/>
      <p:bldP spid="111" grpId="8" animBg="1"/>
      <p:bldP spid="112" grpId="9" animBg="1"/>
      <p:bldP spid="113" grpId="10" animBg="1"/>
      <p:bldP spid="114" grpId="11" animBg="1"/>
      <p:bldP spid="115" grpId="12"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148" y="2240280"/>
            <a:ext cx="8589704" cy="914400"/>
          </a:xfrm>
        </p:spPr>
        <p:txBody>
          <a:bodyPr>
            <a:normAutofit fontScale="90000"/>
          </a:bodyPr>
          <a:lstStyle/>
          <a:p>
            <a:pPr algn="ctr">
              <a:buNone/>
              <a:defRPr b="0"/>
            </a:pPr>
            <a:r>
              <a:rPr lang="en-US" sz="3400" b="0" i="0" dirty="0">
                <a:solidFill>
                  <a:srgbClr val="000000"/>
                </a:solidFill>
              </a:rPr>
              <a:t>What changes when implementation gets cheap?</a:t>
            </a:r>
          </a:p>
        </p:txBody>
      </p:sp>
      <p:sp>
        <p:nvSpPr>
          <p:cNvPr id="3" name="Slide Number Placeholder 3"/>
          <p:cNvSpPr>
            <a:spLocks noGrp="1"/>
          </p:cNvSpPr>
          <p:nvPr>
            <p:ph type="sldNum" sz="quarter" idx="4"/>
          </p:nvPr>
        </p:nvSpPr>
        <p:spPr/>
        <p:txBody>
          <a:bodyPr/>
          <a:lstStyle/>
          <a:p>
            <a:fld id="{B7EB45DA-9A0D-DC49-8E02-F30A5DDC21C3}" type="slidenum">
              <a:rPr lang="en-US" smtClean="0"/>
              <a:t>28</a:t>
            </a:fld>
            <a:endParaRPr lang="en-US"/>
          </a:p>
        </p:txBody>
      </p:sp>
      <p:sp>
        <p:nvSpPr>
          <p:cNvPr id="100" name="SectionLabel"/>
          <p:cNvSpPr txBox="1"/>
          <p:nvPr/>
        </p:nvSpPr>
        <p:spPr>
          <a:xfrm>
            <a:off x="685800" y="1737360"/>
            <a:ext cx="7772400" cy="355600"/>
          </a:xfrm>
          <a:prstGeom prst="rect">
            <a:avLst/>
          </a:prstGeom>
          <a:noFill/>
          <a:ln>
            <a:noFill/>
          </a:ln>
        </p:spPr>
        <p:txBody>
          <a:bodyPr wrap="square" lIns="0" tIns="0" rIns="0" bIns="0" anchor="t"/>
          <a:lstStyle/>
          <a:p>
            <a:pPr algn="ctr">
              <a:buNone/>
            </a:pPr>
            <a:r>
              <a:rPr lang="en-US" sz="2200" b="1" i="0" dirty="0">
                <a:solidFill>
                  <a:srgbClr val="8E6F3E"/>
                </a:solidFill>
              </a:rPr>
              <a:t>SECTION 4</a:t>
            </a:r>
          </a:p>
        </p:txBody>
      </p:sp>
      <p:sp>
        <p:nvSpPr>
          <p:cNvPr id="101" name="Rule"/>
          <p:cNvSpPr/>
          <p:nvPr/>
        </p:nvSpPr>
        <p:spPr>
          <a:xfrm>
            <a:off x="3429000" y="3383280"/>
            <a:ext cx="2286000" cy="50800"/>
          </a:xfrm>
          <a:prstGeom prst="rect">
            <a:avLst/>
          </a:prstGeom>
          <a:solidFill>
            <a:srgbClr val="8E6F3E"/>
          </a:solidFill>
          <a:ln>
            <a:noFill/>
          </a:ln>
        </p:spPr>
        <p:txBody>
          <a:bodyPr wrap="square" lIns="91440" tIns="45720" rIns="91440" bIns="45720" anchor="ctr"/>
          <a:lstStyle/>
          <a:p>
            <a:endParaRPr/>
          </a:p>
        </p:txBody>
      </p:sp>
      <p:sp>
        <p:nvSpPr>
          <p:cNvPr id="102" name="Subtitle"/>
          <p:cNvSpPr txBox="1"/>
          <p:nvPr/>
        </p:nvSpPr>
        <p:spPr>
          <a:xfrm>
            <a:off x="685800" y="3900000"/>
            <a:ext cx="7772400" cy="1400000"/>
          </a:xfrm>
          <a:prstGeom prst="rect">
            <a:avLst/>
          </a:prstGeom>
          <a:noFill/>
          <a:ln>
            <a:noFill/>
          </a:ln>
        </p:spPr>
        <p:txBody>
          <a:bodyPr wrap="square" lIns="0" tIns="0" rIns="0" bIns="0" anchor="t"/>
          <a:lstStyle/>
          <a:p>
            <a:pPr algn="ctr">
              <a:buNone/>
            </a:pPr>
            <a:r>
              <a:rPr lang="en-US" sz="3200" b="0" i="0" dirty="0">
                <a:solidFill>
                  <a:srgbClr val="555960"/>
                </a:solidFill>
              </a:rPr>
              <a:t>Implementation can become a Design probe.</a:t>
            </a:r>
          </a:p>
        </p:txBody>
      </p:sp>
      <p:sp>
        <p:nvSpPr>
          <p:cNvPr id="200" name="S100"/>
          <p:cNvSpPr/>
          <p:nvPr/>
        </p:nvSpPr>
        <p:spPr>
          <a:xfrm>
            <a:off x="602000" y="4800600"/>
            <a:ext cx="1850000" cy="914400"/>
          </a:xfrm>
          <a:prstGeom prst="rect">
            <a:avLst/>
          </a:prstGeom>
          <a:solidFill>
            <a:srgbClr val="F5F1E8"/>
          </a:solidFill>
          <a:ln w="12700">
            <a:solidFill>
              <a:srgbClr val="C9B991"/>
            </a:solidFill>
          </a:ln>
        </p:spPr>
        <p:txBody>
          <a:bodyPr wrap="square" lIns="91440" tIns="45720" rIns="91440" bIns="45720" anchor="ctr"/>
          <a:lstStyle/>
          <a:p>
            <a:pPr algn="ctr">
              <a:buNone/>
            </a:pPr>
            <a:r>
              <a:rPr lang="en-US" sz="1700" b="1" i="0" dirty="0">
                <a:solidFill>
                  <a:srgbClr val="5C4826"/>
                </a:solidFill>
              </a:rPr>
              <a:t>UNCERTAINTY</a:t>
            </a:r>
          </a:p>
        </p:txBody>
      </p:sp>
      <p:cxnSp>
        <p:nvCxnSpPr>
          <p:cNvPr id="201" name="L101"/>
          <p:cNvCxnSpPr/>
          <p:nvPr/>
        </p:nvCxnSpPr>
        <p:spPr>
          <a:xfrm>
            <a:off x="2452000" y="5257800"/>
            <a:ext cx="180000" cy="0"/>
          </a:xfrm>
          <a:prstGeom prst="straightConnector1">
            <a:avLst/>
          </a:prstGeom>
          <a:ln w="25400">
            <a:solidFill>
              <a:srgbClr val="8E6F3E"/>
            </a:solidFill>
            <a:tailEnd type="triangle" w="med" len="med"/>
          </a:ln>
        </p:spPr>
      </p:cxnSp>
      <p:sp>
        <p:nvSpPr>
          <p:cNvPr id="202" name="S102"/>
          <p:cNvSpPr/>
          <p:nvPr/>
        </p:nvSpPr>
        <p:spPr>
          <a:xfrm>
            <a:off x="2632000" y="4800600"/>
            <a:ext cx="1850000" cy="914400"/>
          </a:xfrm>
          <a:prstGeom prst="rect">
            <a:avLst/>
          </a:prstGeom>
          <a:solidFill>
            <a:srgbClr val="F5F1E8"/>
          </a:solidFill>
          <a:ln w="12700">
            <a:solidFill>
              <a:srgbClr val="C9B991"/>
            </a:solidFill>
          </a:ln>
        </p:spPr>
        <p:txBody>
          <a:bodyPr wrap="square" lIns="91440" tIns="45720" rIns="91440" bIns="45720" anchor="ctr"/>
          <a:lstStyle/>
          <a:p>
            <a:pPr algn="ctr">
              <a:buNone/>
            </a:pPr>
            <a:r>
              <a:rPr lang="en-US" sz="1700" b="1" i="0" dirty="0">
                <a:solidFill>
                  <a:srgbClr val="5C4826"/>
                </a:solidFill>
              </a:rPr>
              <a:t>BUY INFORMATION</a:t>
            </a:r>
          </a:p>
        </p:txBody>
      </p:sp>
      <p:cxnSp>
        <p:nvCxnSpPr>
          <p:cNvPr id="103" name="L103"/>
          <p:cNvCxnSpPr/>
          <p:nvPr/>
        </p:nvCxnSpPr>
        <p:spPr>
          <a:xfrm>
            <a:off x="4482000" y="5257800"/>
            <a:ext cx="180000" cy="0"/>
          </a:xfrm>
          <a:prstGeom prst="straightConnector1">
            <a:avLst/>
          </a:prstGeom>
          <a:ln w="25400">
            <a:solidFill>
              <a:srgbClr val="8E6F3E"/>
            </a:solidFill>
            <a:tailEnd type="triangle" w="med" len="med"/>
          </a:ln>
        </p:spPr>
      </p:cxnSp>
      <p:sp>
        <p:nvSpPr>
          <p:cNvPr id="104" name="S104"/>
          <p:cNvSpPr/>
          <p:nvPr/>
        </p:nvSpPr>
        <p:spPr>
          <a:xfrm>
            <a:off x="4662000" y="4800600"/>
            <a:ext cx="1850000" cy="914400"/>
          </a:xfrm>
          <a:prstGeom prst="rect">
            <a:avLst/>
          </a:prstGeom>
          <a:solidFill>
            <a:srgbClr val="F5F1E8"/>
          </a:solidFill>
          <a:ln w="12700">
            <a:solidFill>
              <a:srgbClr val="C9B991"/>
            </a:solidFill>
          </a:ln>
        </p:spPr>
        <p:txBody>
          <a:bodyPr wrap="square" lIns="91440" tIns="45720" rIns="91440" bIns="45720" anchor="ctr"/>
          <a:lstStyle/>
          <a:p>
            <a:pPr algn="ctr">
              <a:buNone/>
            </a:pPr>
            <a:r>
              <a:rPr sz="1600" b="1">
                <a:solidFill>
                  <a:srgbClr val="5C4826"/>
                </a:solidFill>
              </a:rPr>
              <a:t>model</a:t>
            </a:r>
          </a:p>
          <a:p>
            <a:pPr algn="ctr"/>
            <a:r>
              <a:rPr sz="1600" b="1">
                <a:solidFill>
                  <a:srgbClr val="5C4826"/>
                </a:solidFill>
              </a:rPr>
              <a:t>prototype</a:t>
            </a:r>
          </a:p>
          <a:p>
            <a:pPr algn="ctr"/>
            <a:r>
              <a:rPr sz="1600" b="1">
                <a:solidFill>
                  <a:srgbClr val="5C4826"/>
                </a:solidFill>
              </a:rPr>
              <a:t>measure</a:t>
            </a:r>
          </a:p>
        </p:txBody>
      </p:sp>
      <p:cxnSp>
        <p:nvCxnSpPr>
          <p:cNvPr id="105" name="L105"/>
          <p:cNvCxnSpPr/>
          <p:nvPr/>
        </p:nvCxnSpPr>
        <p:spPr>
          <a:xfrm>
            <a:off x="6512000" y="5257800"/>
            <a:ext cx="180000" cy="0"/>
          </a:xfrm>
          <a:prstGeom prst="straightConnector1">
            <a:avLst/>
          </a:prstGeom>
          <a:ln w="25400">
            <a:solidFill>
              <a:srgbClr val="8E6F3E"/>
            </a:solidFill>
            <a:tailEnd type="triangle" w="med" len="med"/>
          </a:ln>
        </p:spPr>
      </p:cxnSp>
      <p:sp>
        <p:nvSpPr>
          <p:cNvPr id="106" name="S106"/>
          <p:cNvSpPr/>
          <p:nvPr/>
        </p:nvSpPr>
        <p:spPr>
          <a:xfrm>
            <a:off x="6692000" y="4800600"/>
            <a:ext cx="1850000" cy="914400"/>
          </a:xfrm>
          <a:prstGeom prst="rect">
            <a:avLst/>
          </a:prstGeom>
          <a:solidFill>
            <a:srgbClr val="8E6F3E"/>
          </a:solidFill>
          <a:ln>
            <a:noFill/>
          </a:ln>
        </p:spPr>
        <p:txBody>
          <a:bodyPr wrap="square" lIns="91440" tIns="45720" rIns="91440" bIns="45720" anchor="ctr"/>
          <a:lstStyle/>
          <a:p>
            <a:pPr algn="ctr">
              <a:buNone/>
            </a:pPr>
            <a:r>
              <a:rPr lang="en-US" sz="1700" b="1" i="0" dirty="0">
                <a:solidFill>
                  <a:srgbClr val="FFFFFF"/>
                </a:solidFill>
              </a:rPr>
              <a:t>IMPLEMENT?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148" y="118428"/>
            <a:ext cx="8590000" cy="638175"/>
          </a:xfrm>
        </p:spPr>
        <p:txBody>
          <a:bodyPr>
            <a:normAutofit fontScale="90000"/>
          </a:bodyPr>
          <a:lstStyle/>
          <a:p>
            <a:pPr>
              <a:buNone/>
              <a:defRPr b="0"/>
            </a:pPr>
            <a:r>
              <a:rPr lang="en-US" sz="2400" b="0" i="0" dirty="0">
                <a:solidFill>
                  <a:srgbClr val="000000"/>
                </a:solidFill>
              </a:rPr>
              <a:t>Sometimes the cheapest model is the implementation</a:t>
            </a:r>
          </a:p>
        </p:txBody>
      </p:sp>
      <p:sp>
        <p:nvSpPr>
          <p:cNvPr id="3" name="Slide Number Placeholder 3"/>
          <p:cNvSpPr>
            <a:spLocks noGrp="1"/>
          </p:cNvSpPr>
          <p:nvPr>
            <p:ph type="sldNum" sz="quarter" idx="4"/>
          </p:nvPr>
        </p:nvSpPr>
        <p:spPr/>
        <p:txBody>
          <a:bodyPr/>
          <a:lstStyle/>
          <a:p>
            <a:fld id="{B7EB45DA-9A0D-DC49-8E02-F30A5DDC21C3}" type="slidenum">
              <a:rPr lang="en-US" smtClean="0"/>
              <a:t>29</a:t>
            </a:fld>
            <a:endParaRPr lang="en-US"/>
          </a:p>
        </p:txBody>
      </p:sp>
      <p:sp>
        <p:nvSpPr>
          <p:cNvPr id="100" name="OpenDecision"/>
          <p:cNvSpPr/>
          <p:nvPr/>
        </p:nvSpPr>
        <p:spPr>
          <a:xfrm>
            <a:off x="1260000" y="800000"/>
            <a:ext cx="2600000" cy="420000"/>
          </a:xfrm>
          <a:prstGeom prst="rect">
            <a:avLst/>
          </a:prstGeom>
          <a:solidFill>
            <a:srgbClr val="8E6F3E"/>
          </a:solidFill>
          <a:ln>
            <a:noFill/>
          </a:ln>
        </p:spPr>
        <p:txBody>
          <a:bodyPr wrap="square" lIns="91440" tIns="45720" rIns="91440" bIns="45720" anchor="ctr"/>
          <a:lstStyle/>
          <a:p>
            <a:pPr algn="ctr">
              <a:buNone/>
            </a:pPr>
            <a:r>
              <a:rPr lang="en-US" sz="2000" b="1" i="0" dirty="0">
                <a:solidFill>
                  <a:srgbClr val="FFFFFF"/>
                </a:solidFill>
              </a:rPr>
              <a:t>OPEN DECISION</a:t>
            </a:r>
          </a:p>
        </p:txBody>
      </p:sp>
      <p:sp>
        <p:nvSpPr>
          <p:cNvPr id="101" name="Caption"/>
          <p:cNvSpPr txBox="1"/>
          <p:nvPr/>
        </p:nvSpPr>
        <p:spPr>
          <a:xfrm>
            <a:off x="1060000" y="1250000"/>
            <a:ext cx="3000000" cy="260000"/>
          </a:xfrm>
          <a:prstGeom prst="rect">
            <a:avLst/>
          </a:prstGeom>
          <a:noFill/>
          <a:ln>
            <a:noFill/>
          </a:ln>
        </p:spPr>
        <p:txBody>
          <a:bodyPr wrap="square" lIns="0" tIns="0" rIns="0" bIns="0" anchor="t"/>
          <a:lstStyle/>
          <a:p>
            <a:pPr algn="ctr">
              <a:buNone/>
            </a:pPr>
            <a:r>
              <a:rPr lang="en-US" sz="1400" b="0" i="1" dirty="0">
                <a:solidFill>
                  <a:srgbClr val="555960"/>
                </a:solidFill>
              </a:rPr>
              <a:t>What do we need to know?</a:t>
            </a:r>
          </a:p>
        </p:txBody>
      </p:sp>
      <p:sp>
        <p:nvSpPr>
          <p:cNvPr id="102" name="C"/>
          <p:cNvSpPr/>
          <p:nvPr/>
        </p:nvSpPr>
        <p:spPr>
          <a:xfrm>
            <a:off x="2546000" y="1510000"/>
            <a:ext cx="28000" cy="130000"/>
          </a:xfrm>
          <a:prstGeom prst="rect">
            <a:avLst/>
          </a:prstGeom>
          <a:solidFill>
            <a:srgbClr val="8E6F3E"/>
          </a:solidFill>
          <a:ln>
            <a:noFill/>
          </a:ln>
        </p:spPr>
        <p:txBody>
          <a:bodyPr/>
          <a:lstStyle/>
          <a:p>
            <a:endParaRPr/>
          </a:p>
        </p:txBody>
      </p:sp>
      <p:sp>
        <p:nvSpPr>
          <p:cNvPr id="103" name="C"/>
          <p:cNvSpPr/>
          <p:nvPr/>
        </p:nvSpPr>
        <p:spPr>
          <a:xfrm>
            <a:off x="1500000" y="1640000"/>
            <a:ext cx="2120000" cy="24000"/>
          </a:xfrm>
          <a:prstGeom prst="rect">
            <a:avLst/>
          </a:prstGeom>
          <a:solidFill>
            <a:srgbClr val="8E6F3E"/>
          </a:solidFill>
          <a:ln>
            <a:noFill/>
          </a:ln>
        </p:spPr>
        <p:txBody>
          <a:bodyPr/>
          <a:lstStyle/>
          <a:p>
            <a:endParaRPr/>
          </a:p>
        </p:txBody>
      </p:sp>
      <p:sp>
        <p:nvSpPr>
          <p:cNvPr id="104" name="C"/>
          <p:cNvSpPr/>
          <p:nvPr/>
        </p:nvSpPr>
        <p:spPr>
          <a:xfrm>
            <a:off x="1486000" y="1640000"/>
            <a:ext cx="28000" cy="170000"/>
          </a:xfrm>
          <a:prstGeom prst="rect">
            <a:avLst/>
          </a:prstGeom>
          <a:solidFill>
            <a:srgbClr val="8E6F3E"/>
          </a:solidFill>
          <a:ln>
            <a:noFill/>
          </a:ln>
        </p:spPr>
        <p:txBody>
          <a:bodyPr/>
          <a:lstStyle/>
          <a:p>
            <a:endParaRPr/>
          </a:p>
        </p:txBody>
      </p:sp>
      <p:sp>
        <p:nvSpPr>
          <p:cNvPr id="105" name="C"/>
          <p:cNvSpPr/>
          <p:nvPr/>
        </p:nvSpPr>
        <p:spPr>
          <a:xfrm>
            <a:off x="3606000" y="1640000"/>
            <a:ext cx="28000" cy="170000"/>
          </a:xfrm>
          <a:prstGeom prst="rect">
            <a:avLst/>
          </a:prstGeom>
          <a:solidFill>
            <a:srgbClr val="8E6F3E"/>
          </a:solidFill>
          <a:ln>
            <a:noFill/>
          </a:ln>
        </p:spPr>
        <p:txBody>
          <a:bodyPr/>
          <a:lstStyle/>
          <a:p>
            <a:endParaRPr/>
          </a:p>
        </p:txBody>
      </p:sp>
      <p:sp>
        <p:nvSpPr>
          <p:cNvPr id="106" name="MechA"/>
          <p:cNvSpPr/>
          <p:nvPr/>
        </p:nvSpPr>
        <p:spPr>
          <a:xfrm>
            <a:off x="640000" y="1810000"/>
            <a:ext cx="1720000" cy="520000"/>
          </a:xfrm>
          <a:prstGeom prst="rect">
            <a:avLst/>
          </a:prstGeom>
          <a:solidFill>
            <a:srgbClr val="F5F1E8"/>
          </a:solidFill>
          <a:ln w="12700">
            <a:solidFill>
              <a:srgbClr val="C9B991"/>
            </a:solidFill>
          </a:ln>
        </p:spPr>
        <p:txBody>
          <a:bodyPr wrap="square" lIns="45720" tIns="45720" rIns="45720" bIns="45720" anchor="ctr"/>
          <a:lstStyle/>
          <a:p>
            <a:pPr algn="ctr">
              <a:buNone/>
            </a:pPr>
            <a:r>
              <a:rPr lang="en-US" sz="1600" b="1" i="0" dirty="0">
                <a:solidFill>
                  <a:srgbClr val="000000"/>
                </a:solidFill>
              </a:rPr>
              <a:t>MECHANISM A</a:t>
            </a:r>
          </a:p>
        </p:txBody>
      </p:sp>
      <p:sp>
        <p:nvSpPr>
          <p:cNvPr id="107" name="MechB"/>
          <p:cNvSpPr/>
          <p:nvPr/>
        </p:nvSpPr>
        <p:spPr>
          <a:xfrm>
            <a:off x="2760000" y="1810000"/>
            <a:ext cx="1720000" cy="520000"/>
          </a:xfrm>
          <a:prstGeom prst="rect">
            <a:avLst/>
          </a:prstGeom>
          <a:solidFill>
            <a:srgbClr val="F5F1E8"/>
          </a:solidFill>
          <a:ln w="12700">
            <a:solidFill>
              <a:srgbClr val="C9B991"/>
            </a:solidFill>
          </a:ln>
        </p:spPr>
        <p:txBody>
          <a:bodyPr wrap="square" lIns="45720" tIns="45720" rIns="45720" bIns="45720" anchor="ctr"/>
          <a:lstStyle/>
          <a:p>
            <a:pPr algn="ctr">
              <a:buNone/>
            </a:pPr>
            <a:r>
              <a:rPr lang="en-US" sz="1600" b="1" i="0" dirty="0">
                <a:solidFill>
                  <a:srgbClr val="000000"/>
                </a:solidFill>
              </a:rPr>
              <a:t>MECHANISM B</a:t>
            </a:r>
          </a:p>
        </p:txBody>
      </p:sp>
      <p:sp>
        <p:nvSpPr>
          <p:cNvPr id="108" name="C"/>
          <p:cNvSpPr/>
          <p:nvPr/>
        </p:nvSpPr>
        <p:spPr>
          <a:xfrm>
            <a:off x="1486000" y="2330000"/>
            <a:ext cx="28000" cy="110000"/>
          </a:xfrm>
          <a:prstGeom prst="rect">
            <a:avLst/>
          </a:prstGeom>
          <a:solidFill>
            <a:srgbClr val="8E6F3E"/>
          </a:solidFill>
          <a:ln>
            <a:noFill/>
          </a:ln>
        </p:spPr>
        <p:txBody>
          <a:bodyPr/>
          <a:lstStyle/>
          <a:p>
            <a:endParaRPr/>
          </a:p>
        </p:txBody>
      </p:sp>
      <p:sp>
        <p:nvSpPr>
          <p:cNvPr id="109" name="C"/>
          <p:cNvSpPr/>
          <p:nvPr/>
        </p:nvSpPr>
        <p:spPr>
          <a:xfrm>
            <a:off x="3606000" y="2330000"/>
            <a:ext cx="28000" cy="110000"/>
          </a:xfrm>
          <a:prstGeom prst="rect">
            <a:avLst/>
          </a:prstGeom>
          <a:solidFill>
            <a:srgbClr val="8E6F3E"/>
          </a:solidFill>
          <a:ln>
            <a:noFill/>
          </a:ln>
        </p:spPr>
        <p:txBody>
          <a:bodyPr/>
          <a:lstStyle/>
          <a:p>
            <a:endParaRPr/>
          </a:p>
        </p:txBody>
      </p:sp>
      <p:sp>
        <p:nvSpPr>
          <p:cNvPr id="110" name="BuildA"/>
          <p:cNvSpPr/>
          <p:nvPr/>
        </p:nvSpPr>
        <p:spPr>
          <a:xfrm>
            <a:off x="640000" y="2440000"/>
            <a:ext cx="1720000" cy="420000"/>
          </a:xfrm>
          <a:prstGeom prst="rect">
            <a:avLst/>
          </a:prstGeom>
          <a:solidFill>
            <a:srgbClr val="FBF8F2"/>
          </a:solidFill>
          <a:ln w="12700">
            <a:solidFill>
              <a:srgbClr val="C9B991"/>
            </a:solidFill>
          </a:ln>
        </p:spPr>
        <p:txBody>
          <a:bodyPr wrap="square" lIns="45720" tIns="27432" rIns="45720" bIns="27432" anchor="ctr"/>
          <a:lstStyle/>
          <a:p>
            <a:pPr algn="ctr">
              <a:buNone/>
            </a:pPr>
            <a:r>
              <a:rPr lang="en-US" sz="1400" b="1" i="0" dirty="0">
                <a:solidFill>
                  <a:srgbClr val="5C4826"/>
                </a:solidFill>
              </a:rPr>
              <a:t>BUILD</a:t>
            </a:r>
          </a:p>
        </p:txBody>
      </p:sp>
      <p:sp>
        <p:nvSpPr>
          <p:cNvPr id="111" name="BuildB"/>
          <p:cNvSpPr/>
          <p:nvPr/>
        </p:nvSpPr>
        <p:spPr>
          <a:xfrm>
            <a:off x="2760000" y="2440000"/>
            <a:ext cx="1720000" cy="420000"/>
          </a:xfrm>
          <a:prstGeom prst="rect">
            <a:avLst/>
          </a:prstGeom>
          <a:solidFill>
            <a:srgbClr val="FBF8F2"/>
          </a:solidFill>
          <a:ln w="12700">
            <a:solidFill>
              <a:srgbClr val="C9B991"/>
            </a:solidFill>
          </a:ln>
        </p:spPr>
        <p:txBody>
          <a:bodyPr wrap="square" lIns="45720" tIns="27432" rIns="45720" bIns="27432" anchor="ctr"/>
          <a:lstStyle/>
          <a:p>
            <a:pPr algn="ctr">
              <a:buNone/>
            </a:pPr>
            <a:r>
              <a:rPr lang="en-US" sz="1400" b="1" i="0" dirty="0">
                <a:solidFill>
                  <a:srgbClr val="5C4826"/>
                </a:solidFill>
              </a:rPr>
              <a:t>BUILD</a:t>
            </a:r>
          </a:p>
        </p:txBody>
      </p:sp>
      <p:sp>
        <p:nvSpPr>
          <p:cNvPr id="112" name="C"/>
          <p:cNvSpPr/>
          <p:nvPr/>
        </p:nvSpPr>
        <p:spPr>
          <a:xfrm>
            <a:off x="1486000" y="2860000"/>
            <a:ext cx="28000" cy="100000"/>
          </a:xfrm>
          <a:prstGeom prst="rect">
            <a:avLst/>
          </a:prstGeom>
          <a:solidFill>
            <a:srgbClr val="8E6F3E"/>
          </a:solidFill>
          <a:ln>
            <a:noFill/>
          </a:ln>
        </p:spPr>
        <p:txBody>
          <a:bodyPr/>
          <a:lstStyle/>
          <a:p>
            <a:endParaRPr/>
          </a:p>
        </p:txBody>
      </p:sp>
      <p:sp>
        <p:nvSpPr>
          <p:cNvPr id="113" name="C"/>
          <p:cNvSpPr/>
          <p:nvPr/>
        </p:nvSpPr>
        <p:spPr>
          <a:xfrm>
            <a:off x="3606000" y="2860000"/>
            <a:ext cx="28000" cy="100000"/>
          </a:xfrm>
          <a:prstGeom prst="rect">
            <a:avLst/>
          </a:prstGeom>
          <a:solidFill>
            <a:srgbClr val="8E6F3E"/>
          </a:solidFill>
          <a:ln>
            <a:noFill/>
          </a:ln>
        </p:spPr>
        <p:txBody>
          <a:bodyPr/>
          <a:lstStyle/>
          <a:p>
            <a:endParaRPr/>
          </a:p>
        </p:txBody>
      </p:sp>
      <p:sp>
        <p:nvSpPr>
          <p:cNvPr id="114" name="MeasureA"/>
          <p:cNvSpPr/>
          <p:nvPr/>
        </p:nvSpPr>
        <p:spPr>
          <a:xfrm>
            <a:off x="640000" y="2960000"/>
            <a:ext cx="1720000" cy="420000"/>
          </a:xfrm>
          <a:prstGeom prst="rect">
            <a:avLst/>
          </a:prstGeom>
          <a:solidFill>
            <a:srgbClr val="FBF8F2"/>
          </a:solidFill>
          <a:ln w="12700">
            <a:solidFill>
              <a:srgbClr val="C9B991"/>
            </a:solidFill>
          </a:ln>
        </p:spPr>
        <p:txBody>
          <a:bodyPr wrap="square" lIns="45720" tIns="27432" rIns="45720" bIns="27432" anchor="ctr"/>
          <a:lstStyle/>
          <a:p>
            <a:pPr algn="ctr">
              <a:buNone/>
            </a:pPr>
            <a:r>
              <a:rPr lang="en-US" sz="1400" b="1" i="0" dirty="0">
                <a:solidFill>
                  <a:srgbClr val="5C4826"/>
                </a:solidFill>
              </a:rPr>
              <a:t>MEASURE</a:t>
            </a:r>
          </a:p>
        </p:txBody>
      </p:sp>
      <p:sp>
        <p:nvSpPr>
          <p:cNvPr id="115" name="MeasureB"/>
          <p:cNvSpPr/>
          <p:nvPr/>
        </p:nvSpPr>
        <p:spPr>
          <a:xfrm>
            <a:off x="2760000" y="2960000"/>
            <a:ext cx="1720000" cy="420000"/>
          </a:xfrm>
          <a:prstGeom prst="rect">
            <a:avLst/>
          </a:prstGeom>
          <a:solidFill>
            <a:srgbClr val="FBF8F2"/>
          </a:solidFill>
          <a:ln w="12700">
            <a:solidFill>
              <a:srgbClr val="C9B991"/>
            </a:solidFill>
          </a:ln>
        </p:spPr>
        <p:txBody>
          <a:bodyPr wrap="square" lIns="45720" tIns="27432" rIns="45720" bIns="27432" anchor="ctr"/>
          <a:lstStyle/>
          <a:p>
            <a:pPr algn="ctr">
              <a:buNone/>
            </a:pPr>
            <a:r>
              <a:rPr lang="en-US" sz="1400" b="1" i="0" dirty="0">
                <a:solidFill>
                  <a:srgbClr val="5C4826"/>
                </a:solidFill>
              </a:rPr>
              <a:t>MEASURE</a:t>
            </a:r>
          </a:p>
        </p:txBody>
      </p:sp>
      <p:sp>
        <p:nvSpPr>
          <p:cNvPr id="116" name="C"/>
          <p:cNvSpPr/>
          <p:nvPr/>
        </p:nvSpPr>
        <p:spPr>
          <a:xfrm>
            <a:off x="1486000" y="3380000"/>
            <a:ext cx="28000" cy="120000"/>
          </a:xfrm>
          <a:prstGeom prst="rect">
            <a:avLst/>
          </a:prstGeom>
          <a:solidFill>
            <a:srgbClr val="8E6F3E"/>
          </a:solidFill>
          <a:ln>
            <a:noFill/>
          </a:ln>
        </p:spPr>
        <p:txBody>
          <a:bodyPr/>
          <a:lstStyle/>
          <a:p>
            <a:endParaRPr/>
          </a:p>
        </p:txBody>
      </p:sp>
      <p:sp>
        <p:nvSpPr>
          <p:cNvPr id="117" name="C"/>
          <p:cNvSpPr/>
          <p:nvPr/>
        </p:nvSpPr>
        <p:spPr>
          <a:xfrm>
            <a:off x="3606000" y="3380000"/>
            <a:ext cx="28000" cy="120000"/>
          </a:xfrm>
          <a:prstGeom prst="rect">
            <a:avLst/>
          </a:prstGeom>
          <a:solidFill>
            <a:srgbClr val="8E6F3E"/>
          </a:solidFill>
          <a:ln>
            <a:noFill/>
          </a:ln>
        </p:spPr>
        <p:txBody>
          <a:bodyPr/>
          <a:lstStyle/>
          <a:p>
            <a:endParaRPr/>
          </a:p>
        </p:txBody>
      </p:sp>
      <p:sp>
        <p:nvSpPr>
          <p:cNvPr id="118" name="C"/>
          <p:cNvSpPr/>
          <p:nvPr/>
        </p:nvSpPr>
        <p:spPr>
          <a:xfrm>
            <a:off x="1500000" y="3500000"/>
            <a:ext cx="2120000" cy="24000"/>
          </a:xfrm>
          <a:prstGeom prst="rect">
            <a:avLst/>
          </a:prstGeom>
          <a:solidFill>
            <a:srgbClr val="8E6F3E"/>
          </a:solidFill>
          <a:ln>
            <a:noFill/>
          </a:ln>
        </p:spPr>
        <p:txBody>
          <a:bodyPr/>
          <a:lstStyle/>
          <a:p>
            <a:endParaRPr/>
          </a:p>
        </p:txBody>
      </p:sp>
      <p:sp>
        <p:nvSpPr>
          <p:cNvPr id="119" name="C"/>
          <p:cNvSpPr/>
          <p:nvPr/>
        </p:nvSpPr>
        <p:spPr>
          <a:xfrm>
            <a:off x="2546000" y="3500000"/>
            <a:ext cx="28000" cy="150000"/>
          </a:xfrm>
          <a:prstGeom prst="rect">
            <a:avLst/>
          </a:prstGeom>
          <a:solidFill>
            <a:srgbClr val="8E6F3E"/>
          </a:solidFill>
          <a:ln>
            <a:noFill/>
          </a:ln>
        </p:spPr>
        <p:txBody>
          <a:bodyPr/>
          <a:lstStyle/>
          <a:p>
            <a:endParaRPr/>
          </a:p>
        </p:txBody>
      </p:sp>
      <p:sp>
        <p:nvSpPr>
          <p:cNvPr id="120" name="Decide"/>
          <p:cNvSpPr/>
          <p:nvPr/>
        </p:nvSpPr>
        <p:spPr>
          <a:xfrm>
            <a:off x="1710000" y="3650000"/>
            <a:ext cx="1700000" cy="400000"/>
          </a:xfrm>
          <a:prstGeom prst="rect">
            <a:avLst/>
          </a:prstGeom>
          <a:solidFill>
            <a:srgbClr val="8E6F3E"/>
          </a:solidFill>
          <a:ln>
            <a:noFill/>
          </a:ln>
        </p:spPr>
        <p:txBody>
          <a:bodyPr wrap="square" lIns="91440" tIns="45720" rIns="91440" bIns="45720" anchor="ctr"/>
          <a:lstStyle/>
          <a:p>
            <a:pPr algn="ctr">
              <a:buNone/>
            </a:pPr>
            <a:r>
              <a:rPr lang="en-US" sz="1900" b="1" i="0" dirty="0">
                <a:solidFill>
                  <a:srgbClr val="FFFFFF"/>
                </a:solidFill>
              </a:rPr>
              <a:t>DECIDE</a:t>
            </a:r>
          </a:p>
        </p:txBody>
      </p:sp>
      <p:sp>
        <p:nvSpPr>
          <p:cNvPr id="121" name="C"/>
          <p:cNvSpPr/>
          <p:nvPr/>
        </p:nvSpPr>
        <p:spPr>
          <a:xfrm>
            <a:off x="2546000" y="4050000"/>
            <a:ext cx="28000" cy="130000"/>
          </a:xfrm>
          <a:prstGeom prst="rect">
            <a:avLst/>
          </a:prstGeom>
          <a:solidFill>
            <a:srgbClr val="5C4826"/>
          </a:solidFill>
          <a:ln>
            <a:noFill/>
          </a:ln>
        </p:spPr>
        <p:txBody>
          <a:bodyPr/>
          <a:lstStyle/>
          <a:p>
            <a:endParaRPr/>
          </a:p>
        </p:txBody>
      </p:sp>
      <p:sp>
        <p:nvSpPr>
          <p:cNvPr id="122" name="Arrow"/>
          <p:cNvSpPr/>
          <p:nvPr/>
        </p:nvSpPr>
        <p:spPr>
          <a:xfrm flipV="1">
            <a:off x="2484000" y="4180000"/>
            <a:ext cx="152000" cy="120000"/>
          </a:xfrm>
          <a:prstGeom prst="triangle">
            <a:avLst/>
          </a:prstGeom>
          <a:solidFill>
            <a:srgbClr val="5C4826"/>
          </a:solidFill>
          <a:ln>
            <a:noFill/>
          </a:ln>
        </p:spPr>
        <p:txBody>
          <a:bodyPr/>
          <a:lstStyle/>
          <a:p>
            <a:endParaRPr/>
          </a:p>
        </p:txBody>
      </p:sp>
      <p:sp>
        <p:nvSpPr>
          <p:cNvPr id="123" name="ExtractModel"/>
          <p:cNvSpPr/>
          <p:nvPr/>
        </p:nvSpPr>
        <p:spPr>
          <a:xfrm>
            <a:off x="1410000" y="4310000"/>
            <a:ext cx="2300000" cy="480000"/>
          </a:xfrm>
          <a:prstGeom prst="rect">
            <a:avLst/>
          </a:prstGeom>
          <a:solidFill>
            <a:srgbClr val="5C4826"/>
          </a:solidFill>
          <a:ln>
            <a:noFill/>
          </a:ln>
        </p:spPr>
        <p:txBody>
          <a:bodyPr wrap="square" lIns="91440" tIns="45720" rIns="91440" bIns="45720" anchor="ctr"/>
          <a:lstStyle/>
          <a:p>
            <a:pPr algn="ctr">
              <a:buNone/>
            </a:pPr>
            <a:r>
              <a:rPr lang="en-US" sz="1700" b="1" i="0" dirty="0">
                <a:solidFill>
                  <a:srgbClr val="FFFFFF"/>
                </a:solidFill>
              </a:rPr>
              <a:t>EXTRACT THE MODEL</a:t>
            </a:r>
          </a:p>
        </p:txBody>
      </p:sp>
      <p:sp>
        <p:nvSpPr>
          <p:cNvPr id="124" name="ExtractOutputs"/>
          <p:cNvSpPr txBox="1"/>
          <p:nvPr/>
        </p:nvSpPr>
        <p:spPr>
          <a:xfrm>
            <a:off x="1060000" y="4820000"/>
            <a:ext cx="3000000" cy="280000"/>
          </a:xfrm>
          <a:prstGeom prst="rect">
            <a:avLst/>
          </a:prstGeom>
          <a:noFill/>
          <a:ln>
            <a:noFill/>
          </a:ln>
        </p:spPr>
        <p:txBody>
          <a:bodyPr wrap="square" lIns="0" tIns="0" rIns="0" bIns="0" anchor="t"/>
          <a:lstStyle/>
          <a:p>
            <a:pPr algn="ctr">
              <a:buNone/>
            </a:pPr>
            <a:r>
              <a:rPr lang="en-US" sz="1300" b="1" i="0" dirty="0">
                <a:solidFill>
                  <a:srgbClr val="5C4826"/>
                </a:solidFill>
              </a:rPr>
              <a:t>design · constraint · rule</a:t>
            </a:r>
          </a:p>
        </p:txBody>
      </p:sp>
      <p:sp>
        <p:nvSpPr>
          <p:cNvPr id="125" name="RecordNote"/>
          <p:cNvSpPr txBox="1"/>
          <p:nvPr/>
        </p:nvSpPr>
        <p:spPr>
          <a:xfrm>
            <a:off x="760000" y="5120000"/>
            <a:ext cx="3600000" cy="540000"/>
          </a:xfrm>
          <a:prstGeom prst="rect">
            <a:avLst/>
          </a:prstGeom>
          <a:noFill/>
          <a:ln>
            <a:noFill/>
          </a:ln>
        </p:spPr>
        <p:txBody>
          <a:bodyPr wrap="square" lIns="0" tIns="0" rIns="0" bIns="0" anchor="t"/>
          <a:lstStyle/>
          <a:p>
            <a:pPr algn="ctr">
              <a:buNone/>
            </a:pPr>
            <a:r>
              <a:rPr lang="en-US" sz="1150" b="0" i="1" dirty="0">
                <a:solidFill>
                  <a:srgbClr val="555960"/>
                </a:solidFill>
              </a:rPr>
              <a:t>Record the mechanism, the property it preserves, and the evidence that justified it.</a:t>
            </a:r>
          </a:p>
        </p:txBody>
      </p:sp>
      <p:sp>
        <p:nvSpPr>
          <p:cNvPr id="130" name="ExamplePanel"/>
          <p:cNvSpPr/>
          <p:nvPr/>
        </p:nvSpPr>
        <p:spPr>
          <a:xfrm>
            <a:off x="5150000" y="800000"/>
            <a:ext cx="3700000" cy="2960000"/>
          </a:xfrm>
          <a:prstGeom prst="rect">
            <a:avLst/>
          </a:prstGeom>
          <a:solidFill>
            <a:srgbClr val="F5F1E8"/>
          </a:solidFill>
          <a:ln w="12700">
            <a:solidFill>
              <a:srgbClr val="C9B991"/>
            </a:solidFill>
          </a:ln>
        </p:spPr>
        <p:txBody>
          <a:bodyPr wrap="square" lIns="137160" tIns="91440" rIns="137160" bIns="91440" anchor="t"/>
          <a:lstStyle/>
          <a:p>
            <a:pPr algn="l">
              <a:buNone/>
            </a:pPr>
            <a:r>
              <a:rPr lang="en-US" sz="1500" b="1" i="0" dirty="0">
                <a:solidFill>
                  <a:srgbClr val="5C4826"/>
                </a:solidFill>
              </a:rPr>
              <a:t>THE DOCUMENT DECISION</a:t>
            </a:r>
          </a:p>
          <a:p>
            <a:pPr algn="l">
              <a:spcBef>
                <a:spcPts val="600"/>
              </a:spcBef>
              <a:buNone/>
            </a:pPr>
            <a:r>
              <a:rPr lang="en-US" sz="1250" b="1" i="0" dirty="0">
                <a:solidFill>
                  <a:srgbClr val="000000"/>
                </a:solidFill>
              </a:rPr>
              <a:t>Decision:</a:t>
            </a:r>
            <a:r>
              <a:rPr lang="en-US" sz="1250" b="0" i="0" dirty="0">
                <a:solidFill>
                  <a:srgbClr val="000000"/>
                </a:solidFill>
              </a:rPr>
              <a:t> load, stream, or intermediate representation?</a:t>
            </a:r>
          </a:p>
          <a:p>
            <a:pPr algn="l">
              <a:spcBef>
                <a:spcPts val="500"/>
              </a:spcBef>
              <a:buNone/>
            </a:pPr>
            <a:r>
              <a:rPr lang="en-US" sz="1250" b="1" i="0" dirty="0">
                <a:solidFill>
                  <a:srgbClr val="000000"/>
                </a:solidFill>
              </a:rPr>
              <a:t>Uncertainty:</a:t>
            </a:r>
            <a:r>
              <a:rPr lang="en-US" sz="1250" b="0" i="0" dirty="0">
                <a:solidFill>
                  <a:srgbClr val="000000"/>
                </a:solidFill>
              </a:rPr>
              <a:t> actual peak memory and latency under the workload</a:t>
            </a:r>
          </a:p>
          <a:p>
            <a:pPr algn="l">
              <a:spcBef>
                <a:spcPts val="500"/>
              </a:spcBef>
              <a:buNone/>
            </a:pPr>
            <a:r>
              <a:rPr lang="en-US" sz="1250" b="1" i="0" dirty="0">
                <a:solidFill>
                  <a:srgbClr val="000000"/>
                </a:solidFill>
              </a:rPr>
              <a:t>Probe:</a:t>
            </a:r>
            <a:r>
              <a:rPr lang="en-US" sz="1250" b="0" i="0" dirty="0">
                <a:solidFill>
                  <a:srgbClr val="000000"/>
                </a:solidFill>
              </a:rPr>
              <a:t> implement enough of the alternatives to expose the difference</a:t>
            </a:r>
          </a:p>
          <a:p>
            <a:pPr algn="l">
              <a:spcBef>
                <a:spcPts val="500"/>
              </a:spcBef>
              <a:buNone/>
            </a:pPr>
            <a:r>
              <a:rPr lang="en-US" sz="1250" b="1" i="0" dirty="0">
                <a:solidFill>
                  <a:srgbClr val="000000"/>
                </a:solidFill>
              </a:rPr>
              <a:t>Measure:</a:t>
            </a:r>
            <a:r>
              <a:rPr lang="en-US" sz="1250" b="0" i="0" dirty="0">
                <a:solidFill>
                  <a:srgbClr val="000000"/>
                </a:solidFill>
              </a:rPr>
              <a:t> peak memory · latency</a:t>
            </a:r>
          </a:p>
          <a:p>
            <a:pPr algn="l">
              <a:spcBef>
                <a:spcPts val="500"/>
              </a:spcBef>
              <a:buNone/>
            </a:pPr>
            <a:r>
              <a:rPr lang="en-US" sz="1250" b="1" i="0" dirty="0">
                <a:solidFill>
                  <a:srgbClr val="000000"/>
                </a:solidFill>
              </a:rPr>
              <a:t>Learn:</a:t>
            </a:r>
            <a:r>
              <a:rPr lang="en-US" sz="1250" b="0" i="0" dirty="0">
                <a:solidFill>
                  <a:srgbClr val="000000"/>
                </a:solidFill>
              </a:rPr>
              <a:t> which mechanism satisfies the inherited constraints</a:t>
            </a:r>
          </a:p>
        </p:txBody>
      </p:sp>
      <p:sp>
        <p:nvSpPr>
          <p:cNvPr id="131" name="TurnQuote"/>
          <p:cNvSpPr/>
          <p:nvPr/>
        </p:nvSpPr>
        <p:spPr>
          <a:xfrm>
            <a:off x="5150000" y="3860000"/>
            <a:ext cx="3700000" cy="1800000"/>
          </a:xfrm>
          <a:prstGeom prst="rect">
            <a:avLst/>
          </a:prstGeom>
          <a:solidFill>
            <a:srgbClr val="8E6F3E"/>
          </a:solidFill>
          <a:ln>
            <a:noFill/>
          </a:ln>
        </p:spPr>
        <p:txBody>
          <a:bodyPr wrap="square" lIns="137160" tIns="91440" rIns="137160" bIns="91440" anchor="ctr"/>
          <a:lstStyle/>
          <a:p>
            <a:pPr algn="l">
              <a:buNone/>
            </a:pPr>
            <a:r>
              <a:rPr lang="en-US" sz="1650" b="0" i="0" dirty="0">
                <a:solidFill>
                  <a:srgbClr val="FFFFFF"/>
                </a:solidFill>
              </a:rPr>
              <a:t>The implementation answered the question.</a:t>
            </a:r>
          </a:p>
          <a:p>
            <a:pPr algn="l">
              <a:spcBef>
                <a:spcPts val="900"/>
              </a:spcBef>
              <a:buNone/>
            </a:pPr>
            <a:r>
              <a:rPr lang="en-US" sz="1900" b="1" i="0" dirty="0">
                <a:solidFill>
                  <a:srgbClr val="FFFFFF"/>
                </a:solidFill>
              </a:rPr>
              <a:t>Preserve the answer outside the implementation.</a:t>
            </a:r>
          </a:p>
        </p:txBody>
      </p:sp>
      <p:sp>
        <p:nvSpPr>
          <p:cNvPr id="140" name="FooterBand"/>
          <p:cNvSpPr/>
          <p:nvPr/>
        </p:nvSpPr>
        <p:spPr>
          <a:xfrm>
            <a:off x="274320" y="5852160"/>
            <a:ext cx="8595360" cy="566928"/>
          </a:xfrm>
          <a:prstGeom prst="rect">
            <a:avLst/>
          </a:prstGeom>
          <a:solidFill>
            <a:srgbClr val="8E6F3E"/>
          </a:solidFill>
          <a:ln>
            <a:noFill/>
          </a:ln>
        </p:spPr>
        <p:txBody>
          <a:bodyPr wrap="square" lIns="91440" tIns="45720" rIns="91440" bIns="45720" anchor="ctr"/>
          <a:lstStyle/>
          <a:p>
            <a:pPr algn="ctr">
              <a:buNone/>
            </a:pPr>
            <a:r>
              <a:rPr lang="en-US" sz="1900" b="1" i="0" dirty="0">
                <a:solidFill>
                  <a:srgbClr val="FFFFFF"/>
                </a:solidFill>
              </a:rPr>
              <a:t>Cheap implementation changes the economics of acquiring Design evidence.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147" y="118428"/>
            <a:ext cx="9085513" cy="638175"/>
          </a:xfrm>
        </p:spPr>
        <p:txBody>
          <a:bodyPr>
            <a:normAutofit fontScale="90000"/>
          </a:bodyPr>
          <a:lstStyle/>
          <a:p>
            <a:pPr>
              <a:buNone/>
              <a:defRPr b="0"/>
            </a:pPr>
            <a:r>
              <a:rPr lang="en-US" sz="2400" b="0" i="0" dirty="0">
                <a:solidFill>
                  <a:srgbClr val="000000"/>
                </a:solidFill>
              </a:rPr>
              <a:t>🧙  MAGE Moment: What does the firehose of change enable?</a:t>
            </a:r>
          </a:p>
        </p:txBody>
      </p:sp>
      <p:sp>
        <p:nvSpPr>
          <p:cNvPr id="3" name="Slide Number Placeholder 3"/>
          <p:cNvSpPr>
            <a:spLocks noGrp="1"/>
          </p:cNvSpPr>
          <p:nvPr>
            <p:ph type="sldNum" sz="quarter" idx="4"/>
          </p:nvPr>
        </p:nvSpPr>
        <p:spPr/>
        <p:txBody>
          <a:bodyPr/>
          <a:lstStyle/>
          <a:p>
            <a:fld id="{B7EB45DA-9A0D-DC49-8E02-F30A5DDC21C3}" type="slidenum">
              <a:rPr lang="en-US" smtClean="0"/>
              <a:t>30</a:t>
            </a:fld>
            <a:endParaRPr lang="en-US"/>
          </a:p>
        </p:txBody>
      </p:sp>
      <p:sp>
        <p:nvSpPr>
          <p:cNvPr id="4" name="FHArchHdr"/>
          <p:cNvSpPr/>
          <p:nvPr/>
        </p:nvSpPr>
        <p:spPr>
          <a:xfrm>
            <a:off x="822960" y="932688"/>
            <a:ext cx="4023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100" b="1" i="0">
                <a:solidFill>
                  <a:srgbClr val="FFFFFF"/>
                </a:solidFill>
              </a:rPr>
              <a:t>HUMAN ARCHITECT</a:t>
            </a:r>
          </a:p>
        </p:txBody>
      </p:sp>
      <p:sp>
        <p:nvSpPr>
          <p:cNvPr id="5" name="FHArchBody"/>
          <p:cNvSpPr/>
          <p:nvPr/>
        </p:nvSpPr>
        <p:spPr>
          <a:xfrm>
            <a:off x="822960" y="1435608"/>
            <a:ext cx="4023360" cy="1609344"/>
          </a:xfrm>
          <a:prstGeom prst="rect">
            <a:avLst/>
          </a:prstGeom>
          <a:solidFill>
            <a:srgbClr val="FBF8F2"/>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900" b="0" i="0">
                <a:solidFill>
                  <a:srgbClr val="5C4826"/>
                </a:solidFill>
              </a:rPr>
              <a:t>interpret</a:t>
            </a:r>
          </a:p>
          <a:p>
            <a:pPr algn="ctr"/>
            <a:r>
              <a:rPr sz="2000" b="1" i="0">
                <a:solidFill>
                  <a:srgbClr val="5C4826"/>
                </a:solidFill>
              </a:rPr>
              <a:t>LOCAL or STRUCTURAL?</a:t>
            </a:r>
          </a:p>
          <a:p>
            <a:pPr algn="ctr"/>
            <a:r>
              <a:rPr sz="1900" b="0" i="0">
                <a:solidFill>
                  <a:srgbClr val="5C4826"/>
                </a:solidFill>
              </a:rPr>
              <a:t>change architecture</a:t>
            </a:r>
          </a:p>
          <a:p>
            <a:pPr algn="ctr"/>
            <a:r>
              <a:rPr sz="1900" b="0" i="0">
                <a:solidFill>
                  <a:srgbClr val="5C4826"/>
                </a:solidFill>
              </a:rPr>
              <a:t>install controls</a:t>
            </a:r>
          </a:p>
        </p:txBody>
      </p:sp>
      <p:sp>
        <p:nvSpPr>
          <p:cNvPr id="6" name="FHAgent1"/>
          <p:cNvSpPr/>
          <p:nvPr/>
        </p:nvSpPr>
        <p:spPr>
          <a:xfrm>
            <a:off x="868680" y="4187952"/>
            <a:ext cx="822960" cy="5029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0" i="0">
                <a:solidFill>
                  <a:srgbClr val="5C4826"/>
                </a:solidFill>
              </a:rPr>
              <a:t>agent</a:t>
            </a:r>
          </a:p>
        </p:txBody>
      </p:sp>
      <p:sp>
        <p:nvSpPr>
          <p:cNvPr id="7" name="FHAgent2"/>
          <p:cNvSpPr/>
          <p:nvPr/>
        </p:nvSpPr>
        <p:spPr>
          <a:xfrm>
            <a:off x="1755648" y="4187952"/>
            <a:ext cx="822960" cy="5029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0" i="0">
                <a:solidFill>
                  <a:srgbClr val="5C4826"/>
                </a:solidFill>
              </a:rPr>
              <a:t>agent</a:t>
            </a:r>
          </a:p>
        </p:txBody>
      </p:sp>
      <p:sp>
        <p:nvSpPr>
          <p:cNvPr id="8" name="FHAgent3"/>
          <p:cNvSpPr/>
          <p:nvPr/>
        </p:nvSpPr>
        <p:spPr>
          <a:xfrm>
            <a:off x="2642615" y="4187952"/>
            <a:ext cx="822960" cy="5029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0" i="0">
                <a:solidFill>
                  <a:srgbClr val="5C4826"/>
                </a:solidFill>
              </a:rPr>
              <a:t>agent</a:t>
            </a:r>
          </a:p>
        </p:txBody>
      </p:sp>
      <p:sp>
        <p:nvSpPr>
          <p:cNvPr id="9" name="FHAgent4"/>
          <p:cNvSpPr/>
          <p:nvPr/>
        </p:nvSpPr>
        <p:spPr>
          <a:xfrm>
            <a:off x="3529584" y="4187952"/>
            <a:ext cx="822960" cy="5029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0" i="0">
                <a:solidFill>
                  <a:srgbClr val="5C4826"/>
                </a:solidFill>
              </a:rPr>
              <a:t>agent</a:t>
            </a:r>
          </a:p>
        </p:txBody>
      </p:sp>
      <p:sp>
        <p:nvSpPr>
          <p:cNvPr id="10" name="FHAgent5"/>
          <p:cNvSpPr/>
          <p:nvPr/>
        </p:nvSpPr>
        <p:spPr>
          <a:xfrm>
            <a:off x="4416552" y="4187952"/>
            <a:ext cx="822960" cy="50292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0" i="0">
                <a:solidFill>
                  <a:srgbClr val="5C4826"/>
                </a:solidFill>
              </a:rPr>
              <a:t>agent</a:t>
            </a:r>
          </a:p>
        </p:txBody>
      </p:sp>
      <p:cxnSp>
        <p:nvCxnSpPr>
          <p:cNvPr id="601" name="FHArrow"/>
          <p:cNvCxnSpPr/>
          <p:nvPr/>
        </p:nvCxnSpPr>
        <p:spPr>
          <a:xfrm flipV="1">
            <a:off x="1280160" y="3044952"/>
            <a:ext cx="0" cy="1143000"/>
          </a:xfrm>
          <a:prstGeom prst="straightConnector1">
            <a:avLst/>
          </a:prstGeom>
          <a:ln w="31750">
            <a:solidFill>
              <a:srgbClr val="8E6F3E"/>
            </a:solidFill>
            <a:tailEnd type="triangle" w="med" len="med"/>
          </a:ln>
        </p:spPr>
      </p:cxnSp>
      <p:cxnSp>
        <p:nvCxnSpPr>
          <p:cNvPr id="602" name="FHArrow"/>
          <p:cNvCxnSpPr/>
          <p:nvPr/>
        </p:nvCxnSpPr>
        <p:spPr>
          <a:xfrm flipV="1">
            <a:off x="2167128" y="3044952"/>
            <a:ext cx="0" cy="1143000"/>
          </a:xfrm>
          <a:prstGeom prst="straightConnector1">
            <a:avLst/>
          </a:prstGeom>
          <a:ln w="31750">
            <a:solidFill>
              <a:srgbClr val="8E6F3E"/>
            </a:solidFill>
            <a:tailEnd type="triangle" w="med" len="med"/>
          </a:ln>
        </p:spPr>
      </p:cxnSp>
      <p:cxnSp>
        <p:nvCxnSpPr>
          <p:cNvPr id="603" name="FHArrow"/>
          <p:cNvCxnSpPr/>
          <p:nvPr/>
        </p:nvCxnSpPr>
        <p:spPr>
          <a:xfrm flipV="1">
            <a:off x="3054095" y="3044952"/>
            <a:ext cx="0" cy="1143000"/>
          </a:xfrm>
          <a:prstGeom prst="straightConnector1">
            <a:avLst/>
          </a:prstGeom>
          <a:ln w="31750">
            <a:solidFill>
              <a:srgbClr val="8E6F3E"/>
            </a:solidFill>
            <a:tailEnd type="triangle" w="med" len="med"/>
          </a:ln>
        </p:spPr>
      </p:cxnSp>
      <p:cxnSp>
        <p:nvCxnSpPr>
          <p:cNvPr id="604" name="FHArrow"/>
          <p:cNvCxnSpPr/>
          <p:nvPr/>
        </p:nvCxnSpPr>
        <p:spPr>
          <a:xfrm flipV="1">
            <a:off x="3941064" y="3044952"/>
            <a:ext cx="0" cy="1143000"/>
          </a:xfrm>
          <a:prstGeom prst="straightConnector1">
            <a:avLst/>
          </a:prstGeom>
          <a:ln w="31750">
            <a:solidFill>
              <a:srgbClr val="8E6F3E"/>
            </a:solidFill>
            <a:tailEnd type="triangle" w="med" len="med"/>
          </a:ln>
        </p:spPr>
      </p:cxnSp>
      <p:cxnSp>
        <p:nvCxnSpPr>
          <p:cNvPr id="605" name="FHArrow"/>
          <p:cNvCxnSpPr/>
          <p:nvPr/>
        </p:nvCxnSpPr>
        <p:spPr>
          <a:xfrm flipV="1">
            <a:off x="4828032" y="3044952"/>
            <a:ext cx="0" cy="1143000"/>
          </a:xfrm>
          <a:prstGeom prst="straightConnector1">
            <a:avLst/>
          </a:prstGeom>
          <a:ln w="31750">
            <a:solidFill>
              <a:srgbClr val="8E6F3E"/>
            </a:solidFill>
            <a:tailEnd type="triangle" w="med" len="med"/>
          </a:ln>
        </p:spPr>
      </p:cxnSp>
      <p:sp>
        <p:nvSpPr>
          <p:cNvPr id="606" name="FHSignalsLbl"/>
          <p:cNvSpPr/>
          <p:nvPr/>
        </p:nvSpPr>
        <p:spPr>
          <a:xfrm rot="16200000">
            <a:off x="-777240" y="3401568"/>
            <a:ext cx="2377440" cy="411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1" i="0">
                <a:solidFill>
                  <a:srgbClr val="8E6F3E"/>
                </a:solidFill>
              </a:rPr>
              <a:t>▲  FAILURE SIGNALS</a:t>
            </a:r>
          </a:p>
        </p:txBody>
      </p:sp>
      <p:sp>
        <p:nvSpPr>
          <p:cNvPr id="607" name="FHDownLbl"/>
          <p:cNvSpPr/>
          <p:nvPr/>
        </p:nvSpPr>
        <p:spPr>
          <a:xfrm>
            <a:off x="822960" y="4846320"/>
            <a:ext cx="443484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700" b="0" i="1">
                <a:solidFill>
                  <a:srgbClr val="555960"/>
                </a:solidFill>
              </a:rPr>
              <a:t>▼  changes at implementation velocity</a:t>
            </a:r>
          </a:p>
        </p:txBody>
      </p:sp>
      <p:sp>
        <p:nvSpPr>
          <p:cNvPr id="608" name="FHCallout1"/>
          <p:cNvSpPr/>
          <p:nvPr/>
        </p:nvSpPr>
        <p:spPr>
          <a:xfrm>
            <a:off x="5440680" y="932688"/>
            <a:ext cx="3429000" cy="1499616"/>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tIns="54864" bIns="54864" rtlCol="0" anchor="ctr"/>
          <a:lstStyle/>
          <a:p>
            <a:pPr algn="l"/>
            <a:r>
              <a:rPr sz="1700" b="1" i="0">
                <a:solidFill>
                  <a:srgbClr val="5C4826"/>
                </a:solidFill>
              </a:rPr>
              <a:t>The architect cannot review the firehose</a:t>
            </a:r>
          </a:p>
          <a:p>
            <a:pPr algn="l"/>
            <a:r>
              <a:rPr sz="1600" b="0" i="0">
                <a:solidFill>
                  <a:srgbClr val="000000"/>
                </a:solidFill>
              </a:rPr>
              <a:t>Implementation volume exceeds human inspection capacity.</a:t>
            </a:r>
          </a:p>
        </p:txBody>
      </p:sp>
      <p:sp>
        <p:nvSpPr>
          <p:cNvPr id="609" name="FHCallout2"/>
          <p:cNvSpPr/>
          <p:nvPr/>
        </p:nvSpPr>
        <p:spPr>
          <a:xfrm>
            <a:off x="5440680" y="2551176"/>
            <a:ext cx="3429000" cy="1499616"/>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tIns="54864" bIns="54864" rtlCol="0" anchor="ctr"/>
          <a:lstStyle/>
          <a:p>
            <a:pPr algn="l"/>
            <a:r>
              <a:rPr sz="1700" b="1" i="0">
                <a:solidFill>
                  <a:srgbClr val="5C4826"/>
                </a:solidFill>
              </a:rPr>
              <a:t>But the firehose contains information</a:t>
            </a:r>
          </a:p>
          <a:p>
            <a:pPr algn="l"/>
            <a:r>
              <a:rPr sz="1600" b="0" i="0">
                <a:solidFill>
                  <a:srgbClr val="000000"/>
                </a:solidFill>
              </a:rPr>
              <a:t>Related failures surface together, revealing a common structural cause.</a:t>
            </a:r>
          </a:p>
        </p:txBody>
      </p:sp>
      <p:sp>
        <p:nvSpPr>
          <p:cNvPr id="610" name="FHCallout3"/>
          <p:cNvSpPr/>
          <p:nvPr/>
        </p:nvSpPr>
        <p:spPr>
          <a:xfrm>
            <a:off x="5440680" y="4169664"/>
            <a:ext cx="3429000" cy="1499616"/>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wrap="square" tIns="54864" bIns="54864" rtlCol="0" anchor="ctr"/>
          <a:lstStyle/>
          <a:p>
            <a:pPr algn="l"/>
            <a:r>
              <a:rPr sz="1700" b="1" i="0">
                <a:solidFill>
                  <a:srgbClr val="5C4826"/>
                </a:solidFill>
              </a:rPr>
              <a:t>Judgment converts the signal into leverage</a:t>
            </a:r>
          </a:p>
          <a:p>
            <a:pPr algn="l"/>
            <a:r>
              <a:rPr sz="1600" b="0" i="0">
                <a:solidFill>
                  <a:srgbClr val="000000"/>
                </a:solidFill>
              </a:rPr>
              <a:t>Fix the architecture or engineering environment once; future agents inherit the correction.</a:t>
            </a:r>
          </a:p>
        </p:txBody>
      </p:sp>
      <p:sp>
        <p:nvSpPr>
          <p:cNvPr id="611" name="FHFooter"/>
          <p:cNvSpPr/>
          <p:nvPr/>
        </p:nvSpPr>
        <p:spPr>
          <a:xfrm>
            <a:off x="274320" y="5852160"/>
            <a:ext cx="8595360" cy="603504"/>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i="0">
                <a:solidFill>
                  <a:srgbClr val="FFFFFF"/>
                </a:solidFill>
              </a:rPr>
              <a:t>Cheap code creates a firehose of evidence.</a:t>
            </a:r>
          </a:p>
          <a:p>
            <a:pPr algn="ctr"/>
            <a:r>
              <a:rPr sz="2000" b="1" i="0">
                <a:solidFill>
                  <a:srgbClr val="FFFFFF"/>
                </a:solidFill>
              </a:rPr>
              <a:t>Costly judgment determines what it means.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148" y="118428"/>
            <a:ext cx="8590000" cy="638175"/>
          </a:xfrm>
        </p:spPr>
        <p:txBody>
          <a:bodyPr>
            <a:normAutofit fontScale="90000"/>
          </a:bodyPr>
          <a:lstStyle/>
          <a:p>
            <a:pPr>
              <a:buNone/>
              <a:defRPr b="0"/>
            </a:pPr>
            <a:r>
              <a:rPr lang="en-US" sz="2400" b="0" i="0" dirty="0">
                <a:solidFill>
                  <a:srgbClr val="000000"/>
                </a:solidFill>
              </a:rPr>
              <a:t>Design the Advice Service</a:t>
            </a:r>
          </a:p>
        </p:txBody>
      </p:sp>
      <p:sp>
        <p:nvSpPr>
          <p:cNvPr id="3" name="Slide Number Placeholder 3"/>
          <p:cNvSpPr>
            <a:spLocks noGrp="1"/>
          </p:cNvSpPr>
          <p:nvPr>
            <p:ph type="sldNum" sz="quarter" idx="4"/>
          </p:nvPr>
        </p:nvSpPr>
        <p:spPr/>
        <p:txBody>
          <a:bodyPr/>
          <a:lstStyle/>
          <a:p>
            <a:fld id="{B7EB45DA-9A0D-DC49-8E02-F30A5DDC21C3}" type="slidenum">
              <a:rPr lang="en-US" smtClean="0"/>
              <a:t>31</a:t>
            </a:fld>
            <a:endParaRPr lang="en-US"/>
          </a:p>
        </p:txBody>
      </p:sp>
      <p:sp>
        <p:nvSpPr>
          <p:cNvPr id="100" name="S100"/>
          <p:cNvSpPr/>
          <p:nvPr/>
        </p:nvSpPr>
        <p:spPr>
          <a:xfrm>
            <a:off x="312799" y="1016749"/>
            <a:ext cx="4218401" cy="1790000"/>
          </a:xfrm>
          <a:prstGeom prst="rect">
            <a:avLst/>
          </a:prstGeom>
          <a:solidFill>
            <a:srgbClr val="F5F1E8"/>
          </a:solidFill>
          <a:ln w="12700">
            <a:solidFill>
              <a:srgbClr val="C9B991"/>
            </a:solidFill>
          </a:ln>
        </p:spPr>
        <p:txBody>
          <a:bodyPr wrap="square" lIns="140000" tIns="80000" rIns="140000" bIns="45720" anchor="t"/>
          <a:lstStyle/>
          <a:p>
            <a:pPr algn="l">
              <a:buNone/>
            </a:pPr>
            <a:r>
              <a:rPr lang="en-US" sz="2000" b="1" i="0" dirty="0">
                <a:solidFill>
                  <a:srgbClr val="8E6F3E"/>
                </a:solidFill>
              </a:rPr>
              <a:t>RESPONSIBILITY</a:t>
            </a:r>
          </a:p>
          <a:p>
            <a:pPr algn="l">
              <a:spcBef>
                <a:spcPts val="100"/>
              </a:spcBef>
              <a:buNone/>
            </a:pPr>
            <a:r>
              <a:rPr lang="en-US" sz="2000" b="0" i="0" dirty="0">
                <a:solidFill>
                  <a:srgbClr val="000000"/>
                </a:solidFill>
              </a:rPr>
              <a:t>Produce advice from the nightly summary and illness model.</a:t>
            </a:r>
          </a:p>
        </p:txBody>
      </p:sp>
      <p:sp>
        <p:nvSpPr>
          <p:cNvPr id="101" name="S101"/>
          <p:cNvSpPr/>
          <p:nvPr/>
        </p:nvSpPr>
        <p:spPr>
          <a:xfrm>
            <a:off x="4612599" y="1016749"/>
            <a:ext cx="4218401" cy="1790000"/>
          </a:xfrm>
          <a:prstGeom prst="rect">
            <a:avLst/>
          </a:prstGeom>
          <a:solidFill>
            <a:srgbClr val="F5F1E8"/>
          </a:solidFill>
          <a:ln w="12700">
            <a:solidFill>
              <a:srgbClr val="C9B991"/>
            </a:solidFill>
          </a:ln>
        </p:spPr>
        <p:txBody>
          <a:bodyPr wrap="square" lIns="140000" tIns="80000" rIns="140000" bIns="45720" anchor="t"/>
          <a:lstStyle/>
          <a:p>
            <a:pPr algn="l">
              <a:buNone/>
            </a:pPr>
            <a:r>
              <a:rPr lang="en-US" sz="2000" b="1" i="0" dirty="0">
                <a:solidFill>
                  <a:srgbClr val="8E6F3E"/>
                </a:solidFill>
              </a:rPr>
              <a:t>INTERFACE</a:t>
            </a:r>
          </a:p>
          <a:p>
            <a:pPr algn="l">
              <a:spcBef>
                <a:spcPts val="100"/>
              </a:spcBef>
              <a:buNone/>
            </a:pPr>
            <a:r>
              <a:rPr lang="en-US" sz="2000" b="0" i="0" dirty="0">
                <a:solidFill>
                  <a:srgbClr val="000000"/>
                </a:solidFill>
              </a:rPr>
              <a:t>generateAdvice(summary, modelVersion)</a:t>
            </a:r>
            <a:br/>
            <a:r>
              <a:rPr lang="en-US" sz="2000" b="0" i="0" dirty="0">
                <a:solidFill>
                  <a:srgbClr val="000000"/>
                </a:solidFill>
              </a:rPr>
              <a:t>→ Advice</a:t>
            </a:r>
          </a:p>
        </p:txBody>
      </p:sp>
      <p:sp>
        <p:nvSpPr>
          <p:cNvPr id="102" name="S102"/>
          <p:cNvSpPr/>
          <p:nvPr/>
        </p:nvSpPr>
        <p:spPr>
          <a:xfrm>
            <a:off x="312799" y="3000000"/>
            <a:ext cx="8518401" cy="2260000"/>
          </a:xfrm>
          <a:prstGeom prst="rect">
            <a:avLst/>
          </a:prstGeom>
          <a:solidFill>
            <a:srgbClr val="FBF8F2"/>
          </a:solidFill>
          <a:ln w="12700">
            <a:solidFill>
              <a:srgbClr val="C9B991"/>
            </a:solidFill>
          </a:ln>
        </p:spPr>
        <p:txBody>
          <a:bodyPr wrap="square" lIns="140000" tIns="45720" rIns="140000" bIns="45720" anchor="ctr"/>
          <a:lstStyle/>
          <a:p>
            <a:pPr algn="l">
              <a:buNone/>
            </a:pPr>
            <a:r>
              <a:rPr lang="en-US" sz="2000" b="1" i="0" dirty="0">
                <a:solidFill>
                  <a:srgbClr val="8E6F3E"/>
                </a:solidFill>
              </a:rPr>
              <a:t>INHERITED CONSTRAINTS</a:t>
            </a:r>
          </a:p>
          <a:p>
            <a:pPr algn="l">
              <a:spcBef>
                <a:spcPts val="100"/>
              </a:spcBef>
              <a:buNone/>
            </a:pPr>
            <a:r>
              <a:rPr lang="en-US" sz="2000" b="0" i="0" dirty="0">
                <a:solidFill>
                  <a:srgbClr val="000000"/>
                </a:solidFill>
              </a:rPr>
              <a:t>·  advice returned within 2 seconds</a:t>
            </a:r>
          </a:p>
          <a:p>
            <a:pPr algn="l">
              <a:spcBef>
                <a:spcPts val="80"/>
              </a:spcBef>
              <a:buNone/>
            </a:pPr>
            <a:r>
              <a:rPr lang="en-US" sz="2000" b="0" i="0" dirty="0">
                <a:solidFill>
                  <a:srgbClr val="000000"/>
                </a:solidFill>
              </a:rPr>
              <a:t>·  raw sleep data must not escape its boundary</a:t>
            </a:r>
          </a:p>
          <a:p>
            <a:pPr algn="l">
              <a:spcBef>
                <a:spcPts val="80"/>
              </a:spcBef>
              <a:buNone/>
            </a:pPr>
            <a:r>
              <a:rPr lang="en-US" sz="2000" b="0" i="0" dirty="0">
                <a:solidFill>
                  <a:srgbClr val="000000"/>
                </a:solidFill>
              </a:rPr>
              <a:t>·  sharing failure must not block local advice</a:t>
            </a:r>
          </a:p>
        </p:txBody>
      </p:sp>
      <p:sp>
        <p:nvSpPr>
          <p:cNvPr id="141" name="TpsChip"/>
          <p:cNvSpPr/>
          <p:nvPr/>
        </p:nvSpPr>
        <p:spPr>
          <a:xfrm>
            <a:off x="6800000" y="170000"/>
            <a:ext cx="1980000" cy="330000"/>
          </a:xfrm>
          <a:prstGeom prst="roundRect">
            <a:avLst/>
          </a:prstGeom>
          <a:solidFill>
            <a:srgbClr val="8E6F3E"/>
          </a:solidFill>
          <a:ln>
            <a:noFill/>
          </a:ln>
        </p:spPr>
        <p:txBody>
          <a:bodyPr wrap="square" lIns="45720" tIns="0" rIns="45720" bIns="0" anchor="ctr"/>
          <a:lstStyle/>
          <a:p>
            <a:pPr algn="ctr">
              <a:buNone/>
            </a:pPr>
            <a:r>
              <a:rPr lang="en-US" sz="1200" b="1" i="0" dirty="0">
                <a:solidFill>
                  <a:srgbClr val="FFFFFF"/>
                </a:solidFill>
              </a:rPr>
              <a:t>THINK · PAIR · SHARE</a:t>
            </a:r>
          </a:p>
        </p:txBody>
      </p:sp>
      <p:sp>
        <p:nvSpPr>
          <p:cNvPr id="104" name="FooterBand"/>
          <p:cNvSpPr/>
          <p:nvPr/>
        </p:nvSpPr>
        <p:spPr>
          <a:xfrm>
            <a:off x="274320" y="5852160"/>
            <a:ext cx="8595360" cy="566928"/>
          </a:xfrm>
          <a:prstGeom prst="rect">
            <a:avLst/>
          </a:prstGeom>
          <a:solidFill>
            <a:srgbClr val="8E6F3E"/>
          </a:solidFill>
          <a:ln>
            <a:noFill/>
          </a:ln>
        </p:spPr>
        <p:txBody>
          <a:bodyPr wrap="square" lIns="91440" tIns="45720" rIns="91440" bIns="45720" anchor="ctr"/>
          <a:lstStyle/>
          <a:p>
            <a:pPr algn="ctr">
              <a:buNone/>
            </a:pPr>
            <a:r>
              <a:rPr lang="en-US" sz="2000" b="1" i="0" dirty="0">
                <a:solidFill>
                  <a:srgbClr val="FFFFFF"/>
                </a:solidFill>
              </a:rPr>
              <a:t>Design the internals of the Advice Service. Protect ≈20 minutes.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148" y="118428"/>
            <a:ext cx="8590000" cy="638175"/>
          </a:xfrm>
        </p:spPr>
        <p:txBody>
          <a:bodyPr>
            <a:normAutofit fontScale="90000"/>
          </a:bodyPr>
          <a:lstStyle/>
          <a:p>
            <a:pPr>
              <a:buNone/>
              <a:defRPr b="0"/>
            </a:pPr>
            <a:r>
              <a:rPr lang="en-US" sz="2400" b="0" i="0" dirty="0">
                <a:solidFill>
                  <a:srgbClr val="000000"/>
                </a:solidFill>
              </a:rPr>
              <a:t>What decisions remain?</a:t>
            </a:r>
          </a:p>
        </p:txBody>
      </p:sp>
      <p:sp>
        <p:nvSpPr>
          <p:cNvPr id="3" name="Slide Number Placeholder 3"/>
          <p:cNvSpPr>
            <a:spLocks noGrp="1"/>
          </p:cNvSpPr>
          <p:nvPr>
            <p:ph type="sldNum" sz="quarter" idx="4"/>
          </p:nvPr>
        </p:nvSpPr>
        <p:spPr/>
        <p:txBody>
          <a:bodyPr/>
          <a:lstStyle/>
          <a:p>
            <a:fld id="{B7EB45DA-9A0D-DC49-8E02-F30A5DDC21C3}" type="slidenum">
              <a:rPr lang="en-US" smtClean="0"/>
              <a:t>32</a:t>
            </a:fld>
            <a:endParaRPr lang="en-US"/>
          </a:p>
        </p:txBody>
      </p:sp>
      <p:sp>
        <p:nvSpPr>
          <p:cNvPr id="100" name="S100"/>
          <p:cNvSpPr/>
          <p:nvPr/>
        </p:nvSpPr>
        <p:spPr>
          <a:xfrm>
            <a:off x="312799" y="1064380"/>
            <a:ext cx="2640000" cy="719200"/>
          </a:xfrm>
          <a:prstGeom prst="rect">
            <a:avLst/>
          </a:prstGeom>
          <a:solidFill>
            <a:srgbClr val="8E6F3E"/>
          </a:solidFill>
          <a:ln>
            <a:noFill/>
          </a:ln>
        </p:spPr>
        <p:txBody>
          <a:bodyPr wrap="square" lIns="91440" tIns="45720" rIns="91440" bIns="45720" anchor="ctr"/>
          <a:lstStyle/>
          <a:p>
            <a:pPr algn="ctr">
              <a:buNone/>
            </a:pPr>
            <a:r>
              <a:rPr lang="en-US" sz="3000" b="1" i="0" dirty="0">
                <a:solidFill>
                  <a:srgbClr val="FFFFFF"/>
                </a:solidFill>
              </a:rPr>
              <a:t>FOLLOW</a:t>
            </a:r>
          </a:p>
        </p:txBody>
      </p:sp>
      <p:sp>
        <p:nvSpPr>
          <p:cNvPr id="101" name="S101"/>
          <p:cNvSpPr/>
          <p:nvPr/>
        </p:nvSpPr>
        <p:spPr>
          <a:xfrm>
            <a:off x="312799" y="1853180"/>
            <a:ext cx="2640000" cy="2784000"/>
          </a:xfrm>
          <a:prstGeom prst="rect">
            <a:avLst/>
          </a:prstGeom>
          <a:solidFill>
            <a:srgbClr val="F5F1E8"/>
          </a:solidFill>
          <a:ln w="12700">
            <a:solidFill>
              <a:srgbClr val="C9B991"/>
            </a:solidFill>
          </a:ln>
        </p:spPr>
        <p:txBody>
          <a:bodyPr wrap="square" lIns="91440" tIns="45720" rIns="91440" bIns="45720" anchor="t"/>
          <a:lstStyle/>
          <a:p>
            <a:endParaRPr/>
          </a:p>
        </p:txBody>
      </p:sp>
      <p:sp>
        <p:nvSpPr>
          <p:cNvPr id="102" name="S102"/>
          <p:cNvSpPr/>
          <p:nvPr/>
        </p:nvSpPr>
        <p:spPr>
          <a:xfrm>
            <a:off x="3150800" y="1064380"/>
            <a:ext cx="2640000" cy="719200"/>
          </a:xfrm>
          <a:prstGeom prst="rect">
            <a:avLst/>
          </a:prstGeom>
          <a:solidFill>
            <a:srgbClr val="8E6F3E"/>
          </a:solidFill>
          <a:ln>
            <a:noFill/>
          </a:ln>
        </p:spPr>
        <p:txBody>
          <a:bodyPr wrap="square" lIns="91440" tIns="45720" rIns="91440" bIns="45720" anchor="ctr"/>
          <a:lstStyle/>
          <a:p>
            <a:pPr algn="ctr">
              <a:buNone/>
            </a:pPr>
            <a:r>
              <a:rPr lang="en-US" sz="3000" b="1" i="0" dirty="0">
                <a:solidFill>
                  <a:srgbClr val="FFFFFF"/>
                </a:solidFill>
              </a:rPr>
              <a:t>CHOOSE</a:t>
            </a:r>
          </a:p>
        </p:txBody>
      </p:sp>
      <p:sp>
        <p:nvSpPr>
          <p:cNvPr id="103" name="S103"/>
          <p:cNvSpPr/>
          <p:nvPr/>
        </p:nvSpPr>
        <p:spPr>
          <a:xfrm>
            <a:off x="3150800" y="1853180"/>
            <a:ext cx="2640000" cy="2784000"/>
          </a:xfrm>
          <a:prstGeom prst="rect">
            <a:avLst/>
          </a:prstGeom>
          <a:solidFill>
            <a:srgbClr val="F5F1E8"/>
          </a:solidFill>
          <a:ln w="12700">
            <a:solidFill>
              <a:srgbClr val="C9B991"/>
            </a:solidFill>
          </a:ln>
        </p:spPr>
        <p:txBody>
          <a:bodyPr wrap="square" lIns="91440" tIns="45720" rIns="91440" bIns="45720" anchor="t"/>
          <a:lstStyle/>
          <a:p>
            <a:endParaRPr/>
          </a:p>
        </p:txBody>
      </p:sp>
      <p:sp>
        <p:nvSpPr>
          <p:cNvPr id="104" name="S104"/>
          <p:cNvSpPr/>
          <p:nvPr/>
        </p:nvSpPr>
        <p:spPr>
          <a:xfrm>
            <a:off x="5988800" y="1064380"/>
            <a:ext cx="2640000" cy="719200"/>
          </a:xfrm>
          <a:prstGeom prst="rect">
            <a:avLst/>
          </a:prstGeom>
          <a:solidFill>
            <a:srgbClr val="8E6F3E"/>
          </a:solidFill>
          <a:ln>
            <a:noFill/>
          </a:ln>
        </p:spPr>
        <p:txBody>
          <a:bodyPr wrap="square" lIns="91440" tIns="45720" rIns="91440" bIns="45720" anchor="ctr"/>
          <a:lstStyle/>
          <a:p>
            <a:pPr algn="ctr">
              <a:buNone/>
            </a:pPr>
            <a:r>
              <a:rPr lang="en-US" sz="3000" b="1" i="0" dirty="0">
                <a:solidFill>
                  <a:srgbClr val="FFFFFF"/>
                </a:solidFill>
              </a:rPr>
              <a:t>ESCALATE</a:t>
            </a:r>
          </a:p>
        </p:txBody>
      </p:sp>
      <p:sp>
        <p:nvSpPr>
          <p:cNvPr id="105" name="S105"/>
          <p:cNvSpPr/>
          <p:nvPr/>
        </p:nvSpPr>
        <p:spPr>
          <a:xfrm>
            <a:off x="5988800" y="1853180"/>
            <a:ext cx="2640000" cy="2784000"/>
          </a:xfrm>
          <a:prstGeom prst="rect">
            <a:avLst/>
          </a:prstGeom>
          <a:solidFill>
            <a:srgbClr val="F5F1E8"/>
          </a:solidFill>
          <a:ln w="12700">
            <a:solidFill>
              <a:srgbClr val="C9B991"/>
            </a:solidFill>
          </a:ln>
        </p:spPr>
        <p:txBody>
          <a:bodyPr wrap="square" lIns="91440" tIns="45720" rIns="91440" bIns="45720" anchor="t"/>
          <a:lstStyle/>
          <a:p>
            <a:endParaRPr/>
          </a:p>
        </p:txBody>
      </p:sp>
      <p:sp>
        <p:nvSpPr>
          <p:cNvPr id="106" name="S106"/>
          <p:cNvSpPr/>
          <p:nvPr/>
        </p:nvSpPr>
        <p:spPr>
          <a:xfrm>
            <a:off x="277148" y="4864608"/>
            <a:ext cx="8589704" cy="658368"/>
          </a:xfrm>
          <a:prstGeom prst="rect">
            <a:avLst/>
          </a:prstGeom>
          <a:solidFill>
            <a:srgbClr val="FBF8F2"/>
          </a:solidFill>
          <a:ln w="12700">
            <a:solidFill>
              <a:srgbClr val="5C4826"/>
            </a:solidFill>
          </a:ln>
        </p:spPr>
        <p:txBody>
          <a:bodyPr wrap="square" lIns="91440" tIns="45720" rIns="91440" bIns="45720" anchor="ctr"/>
          <a:lstStyle/>
          <a:p>
            <a:pPr algn="ctr">
              <a:buNone/>
            </a:pPr>
            <a:r>
              <a:rPr lang="en-US" sz="2000" b="0" i="0" dirty="0">
                <a:solidFill>
                  <a:srgbClr val="000000"/>
                </a:solidFill>
              </a:rPr>
              <a:t>List the open questions inside this component. Classify each before answering it.   (~3 min)</a:t>
            </a:r>
          </a:p>
        </p:txBody>
      </p:sp>
      <p:sp>
        <p:nvSpPr>
          <p:cNvPr id="107" name="FooterItalic"/>
          <p:cNvSpPr txBox="1"/>
          <p:nvPr/>
        </p:nvSpPr>
        <p:spPr>
          <a:xfrm>
            <a:off x="274320" y="5852160"/>
            <a:ext cx="8595360" cy="566928"/>
          </a:xfrm>
          <a:prstGeom prst="rect">
            <a:avLst/>
          </a:prstGeom>
          <a:solidFill>
            <a:srgbClr val="8E6F3E"/>
          </a:solidFill>
          <a:ln>
            <a:noFill/>
          </a:ln>
        </p:spPr>
        <p:txBody>
          <a:bodyPr wrap="square" lIns="91440" tIns="45720" rIns="91440" bIns="45720" anchor="ctr"/>
          <a:lstStyle/>
          <a:p>
            <a:pPr algn="ctr">
              <a:buNone/>
            </a:pPr>
            <a:r>
              <a:rPr lang="en-US" sz="1900" b="1" i="0" dirty="0">
                <a:solidFill>
                  <a:srgbClr val="FFFFFF"/>
                </a:solidFill>
              </a:rPr>
              <a:t>Pick one consequential CHOOSE decision.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148" y="118428"/>
            <a:ext cx="8590000" cy="638175"/>
          </a:xfrm>
        </p:spPr>
        <p:txBody>
          <a:bodyPr>
            <a:normAutofit fontScale="90000"/>
          </a:bodyPr>
          <a:lstStyle/>
          <a:p>
            <a:pPr>
              <a:buNone/>
              <a:defRPr b="0"/>
            </a:pPr>
            <a:r>
              <a:rPr lang="en-US" sz="2400" b="0" i="0" dirty="0">
                <a:solidFill>
                  <a:srgbClr val="000000"/>
                </a:solidFill>
              </a:rPr>
              <a:t>Compare two mechanisms</a:t>
            </a:r>
          </a:p>
        </p:txBody>
      </p:sp>
      <p:sp>
        <p:nvSpPr>
          <p:cNvPr id="3" name="Slide Number Placeholder 3"/>
          <p:cNvSpPr>
            <a:spLocks noGrp="1"/>
          </p:cNvSpPr>
          <p:nvPr>
            <p:ph type="sldNum" sz="quarter" idx="4"/>
          </p:nvPr>
        </p:nvSpPr>
        <p:spPr/>
        <p:txBody>
          <a:bodyPr/>
          <a:lstStyle/>
          <a:p>
            <a:fld id="{B7EB45DA-9A0D-DC49-8E02-F30A5DDC21C3}" type="slidenum">
              <a:rPr lang="en-US" smtClean="0"/>
              <a:t>33</a:t>
            </a:fld>
            <a:endParaRPr lang="en-US"/>
          </a:p>
        </p:txBody>
      </p:sp>
      <p:sp>
        <p:nvSpPr>
          <p:cNvPr id="100" name="Open"/>
          <p:cNvSpPr/>
          <p:nvPr/>
        </p:nvSpPr>
        <p:spPr>
          <a:xfrm>
            <a:off x="3272000" y="940000"/>
            <a:ext cx="2600000" cy="540000"/>
          </a:xfrm>
          <a:prstGeom prst="rect">
            <a:avLst/>
          </a:prstGeom>
          <a:solidFill>
            <a:srgbClr val="8E6F3E"/>
          </a:solidFill>
          <a:ln>
            <a:noFill/>
          </a:ln>
        </p:spPr>
        <p:txBody>
          <a:bodyPr wrap="square" lIns="91440" tIns="45720" rIns="91440" bIns="45720" anchor="ctr"/>
          <a:lstStyle/>
          <a:p>
            <a:pPr algn="ctr">
              <a:buNone/>
            </a:pPr>
            <a:r>
              <a:rPr lang="en-US" sz="2200" b="1" i="0" dirty="0">
                <a:solidFill>
                  <a:srgbClr val="FFFFFF"/>
                </a:solidFill>
              </a:rPr>
              <a:t>OPEN DECISION</a:t>
            </a:r>
          </a:p>
        </p:txBody>
      </p:sp>
      <p:sp>
        <p:nvSpPr>
          <p:cNvPr id="101" name="C"/>
          <p:cNvSpPr/>
          <p:nvPr/>
        </p:nvSpPr>
        <p:spPr>
          <a:xfrm>
            <a:off x="4558000" y="1480000"/>
            <a:ext cx="28000" cy="200000"/>
          </a:xfrm>
          <a:prstGeom prst="rect">
            <a:avLst/>
          </a:prstGeom>
          <a:solidFill>
            <a:srgbClr val="8E6F3E"/>
          </a:solidFill>
          <a:ln>
            <a:noFill/>
          </a:ln>
        </p:spPr>
        <p:txBody>
          <a:bodyPr wrap="square" lIns="91440" tIns="45720" rIns="91440" bIns="45720" anchor="ctr"/>
          <a:lstStyle/>
          <a:p>
            <a:endParaRPr/>
          </a:p>
        </p:txBody>
      </p:sp>
      <p:sp>
        <p:nvSpPr>
          <p:cNvPr id="102" name="C"/>
          <p:cNvSpPr/>
          <p:nvPr/>
        </p:nvSpPr>
        <p:spPr>
          <a:xfrm>
            <a:off x="2686000" y="1680000"/>
            <a:ext cx="3772000" cy="28000"/>
          </a:xfrm>
          <a:prstGeom prst="rect">
            <a:avLst/>
          </a:prstGeom>
          <a:solidFill>
            <a:srgbClr val="8E6F3E"/>
          </a:solidFill>
          <a:ln>
            <a:noFill/>
          </a:ln>
        </p:spPr>
        <p:txBody>
          <a:bodyPr wrap="square" lIns="91440" tIns="45720" rIns="91440" bIns="45720" anchor="ctr"/>
          <a:lstStyle/>
          <a:p>
            <a:endParaRPr/>
          </a:p>
        </p:txBody>
      </p:sp>
      <p:sp>
        <p:nvSpPr>
          <p:cNvPr id="103" name="C"/>
          <p:cNvSpPr/>
          <p:nvPr/>
        </p:nvSpPr>
        <p:spPr>
          <a:xfrm>
            <a:off x="2686000" y="1680000"/>
            <a:ext cx="28000" cy="620000"/>
          </a:xfrm>
          <a:prstGeom prst="rect">
            <a:avLst/>
          </a:prstGeom>
          <a:solidFill>
            <a:srgbClr val="8E6F3E"/>
          </a:solidFill>
          <a:ln>
            <a:noFill/>
          </a:ln>
        </p:spPr>
        <p:txBody>
          <a:bodyPr wrap="square" lIns="91440" tIns="45720" rIns="91440" bIns="45720" anchor="ctr"/>
          <a:lstStyle/>
          <a:p>
            <a:endParaRPr/>
          </a:p>
        </p:txBody>
      </p:sp>
      <p:sp>
        <p:nvSpPr>
          <p:cNvPr id="104" name="C"/>
          <p:cNvSpPr/>
          <p:nvPr/>
        </p:nvSpPr>
        <p:spPr>
          <a:xfrm>
            <a:off x="6430000" y="1680000"/>
            <a:ext cx="28000" cy="620000"/>
          </a:xfrm>
          <a:prstGeom prst="rect">
            <a:avLst/>
          </a:prstGeom>
          <a:solidFill>
            <a:srgbClr val="8E6F3E"/>
          </a:solidFill>
          <a:ln>
            <a:noFill/>
          </a:ln>
        </p:spPr>
        <p:txBody>
          <a:bodyPr wrap="square" lIns="91440" tIns="45720" rIns="91440" bIns="45720" anchor="ctr"/>
          <a:lstStyle/>
          <a:p>
            <a:endParaRPr/>
          </a:p>
        </p:txBody>
      </p:sp>
      <p:sp>
        <p:nvSpPr>
          <p:cNvPr id="120" name="A"/>
          <p:cNvSpPr/>
          <p:nvPr/>
        </p:nvSpPr>
        <p:spPr>
          <a:xfrm flipV="1">
            <a:off x="2610000" y="2200000"/>
            <a:ext cx="180000" cy="140000"/>
          </a:xfrm>
          <a:prstGeom prst="triangle">
            <a:avLst/>
          </a:prstGeom>
          <a:solidFill>
            <a:srgbClr val="8E6F3E"/>
          </a:solidFill>
          <a:ln>
            <a:noFill/>
          </a:ln>
        </p:spPr>
        <p:txBody>
          <a:bodyPr/>
          <a:lstStyle/>
          <a:p>
            <a:endParaRPr/>
          </a:p>
        </p:txBody>
      </p:sp>
      <p:sp>
        <p:nvSpPr>
          <p:cNvPr id="121" name="A"/>
          <p:cNvSpPr/>
          <p:nvPr/>
        </p:nvSpPr>
        <p:spPr>
          <a:xfrm flipV="1">
            <a:off x="6354000" y="2200000"/>
            <a:ext cx="180000" cy="140000"/>
          </a:xfrm>
          <a:prstGeom prst="triangle">
            <a:avLst/>
          </a:prstGeom>
          <a:solidFill>
            <a:srgbClr val="8E6F3E"/>
          </a:solidFill>
          <a:ln>
            <a:noFill/>
          </a:ln>
        </p:spPr>
        <p:txBody>
          <a:bodyPr/>
          <a:lstStyle/>
          <a:p>
            <a:endParaRPr/>
          </a:p>
        </p:txBody>
      </p:sp>
      <p:sp>
        <p:nvSpPr>
          <p:cNvPr id="105" name="MechA"/>
          <p:cNvSpPr/>
          <p:nvPr/>
        </p:nvSpPr>
        <p:spPr>
          <a:xfrm>
            <a:off x="1400000" y="2300000"/>
            <a:ext cx="2600000" cy="560000"/>
          </a:xfrm>
          <a:prstGeom prst="rect">
            <a:avLst/>
          </a:prstGeom>
          <a:solidFill>
            <a:srgbClr val="F5F1E8"/>
          </a:solidFill>
          <a:ln w="12700">
            <a:solidFill>
              <a:srgbClr val="C9B991"/>
            </a:solidFill>
          </a:ln>
        </p:spPr>
        <p:txBody>
          <a:bodyPr wrap="square" lIns="91440" tIns="45720" rIns="91440" bIns="45720" anchor="ctr"/>
          <a:lstStyle/>
          <a:p>
            <a:pPr algn="ctr">
              <a:buNone/>
            </a:pPr>
            <a:r>
              <a:rPr lang="en-US" sz="2000" b="1" i="0" dirty="0">
                <a:solidFill>
                  <a:srgbClr val="000000"/>
                </a:solidFill>
              </a:rPr>
              <a:t>MECHANISM A</a:t>
            </a:r>
          </a:p>
        </p:txBody>
      </p:sp>
      <p:sp>
        <p:nvSpPr>
          <p:cNvPr id="106" name="MechB"/>
          <p:cNvSpPr/>
          <p:nvPr/>
        </p:nvSpPr>
        <p:spPr>
          <a:xfrm>
            <a:off x="5144000" y="2300000"/>
            <a:ext cx="2600000" cy="560000"/>
          </a:xfrm>
          <a:prstGeom prst="rect">
            <a:avLst/>
          </a:prstGeom>
          <a:solidFill>
            <a:srgbClr val="F5F1E8"/>
          </a:solidFill>
          <a:ln w="12700">
            <a:solidFill>
              <a:srgbClr val="C9B991"/>
            </a:solidFill>
          </a:ln>
        </p:spPr>
        <p:txBody>
          <a:bodyPr wrap="square" lIns="91440" tIns="45720" rIns="91440" bIns="45720" anchor="ctr"/>
          <a:lstStyle/>
          <a:p>
            <a:pPr algn="ctr">
              <a:buNone/>
            </a:pPr>
            <a:r>
              <a:rPr lang="en-US" sz="2000" b="1" i="0" dirty="0">
                <a:solidFill>
                  <a:srgbClr val="000000"/>
                </a:solidFill>
              </a:rPr>
              <a:t>MECHANISM B</a:t>
            </a:r>
          </a:p>
        </p:txBody>
      </p:sp>
      <p:sp>
        <p:nvSpPr>
          <p:cNvPr id="107" name="C"/>
          <p:cNvSpPr/>
          <p:nvPr/>
        </p:nvSpPr>
        <p:spPr>
          <a:xfrm>
            <a:off x="2686000" y="2860000"/>
            <a:ext cx="28000" cy="460000"/>
          </a:xfrm>
          <a:prstGeom prst="rect">
            <a:avLst/>
          </a:prstGeom>
          <a:solidFill>
            <a:srgbClr val="8E6F3E"/>
          </a:solidFill>
          <a:ln>
            <a:noFill/>
          </a:ln>
        </p:spPr>
        <p:txBody>
          <a:bodyPr wrap="square" lIns="91440" tIns="45720" rIns="91440" bIns="45720" anchor="ctr"/>
          <a:lstStyle/>
          <a:p>
            <a:endParaRPr/>
          </a:p>
        </p:txBody>
      </p:sp>
      <p:sp>
        <p:nvSpPr>
          <p:cNvPr id="108" name="C"/>
          <p:cNvSpPr/>
          <p:nvPr/>
        </p:nvSpPr>
        <p:spPr>
          <a:xfrm>
            <a:off x="6430000" y="2860000"/>
            <a:ext cx="28000" cy="460000"/>
          </a:xfrm>
          <a:prstGeom prst="rect">
            <a:avLst/>
          </a:prstGeom>
          <a:solidFill>
            <a:srgbClr val="8E6F3E"/>
          </a:solidFill>
          <a:ln>
            <a:noFill/>
          </a:ln>
        </p:spPr>
        <p:txBody>
          <a:bodyPr wrap="square" lIns="91440" tIns="45720" rIns="91440" bIns="45720" anchor="ctr"/>
          <a:lstStyle/>
          <a:p>
            <a:endParaRPr/>
          </a:p>
        </p:txBody>
      </p:sp>
      <p:sp>
        <p:nvSpPr>
          <p:cNvPr id="109" name="C"/>
          <p:cNvSpPr/>
          <p:nvPr/>
        </p:nvSpPr>
        <p:spPr>
          <a:xfrm>
            <a:off x="2686000" y="3320000"/>
            <a:ext cx="3772000" cy="28000"/>
          </a:xfrm>
          <a:prstGeom prst="rect">
            <a:avLst/>
          </a:prstGeom>
          <a:solidFill>
            <a:srgbClr val="8E6F3E"/>
          </a:solidFill>
          <a:ln>
            <a:noFill/>
          </a:ln>
        </p:spPr>
        <p:txBody>
          <a:bodyPr wrap="square" lIns="91440" tIns="45720" rIns="91440" bIns="45720" anchor="ctr"/>
          <a:lstStyle/>
          <a:p>
            <a:endParaRPr/>
          </a:p>
        </p:txBody>
      </p:sp>
      <p:sp>
        <p:nvSpPr>
          <p:cNvPr id="110" name="C"/>
          <p:cNvSpPr/>
          <p:nvPr/>
        </p:nvSpPr>
        <p:spPr>
          <a:xfrm>
            <a:off x="4558000" y="3320000"/>
            <a:ext cx="28000" cy="220000"/>
          </a:xfrm>
          <a:prstGeom prst="rect">
            <a:avLst/>
          </a:prstGeom>
          <a:solidFill>
            <a:srgbClr val="8E6F3E"/>
          </a:solidFill>
          <a:ln>
            <a:noFill/>
          </a:ln>
        </p:spPr>
        <p:txBody>
          <a:bodyPr wrap="square" lIns="91440" tIns="45720" rIns="91440" bIns="45720" anchor="ctr"/>
          <a:lstStyle/>
          <a:p>
            <a:endParaRPr/>
          </a:p>
        </p:txBody>
      </p:sp>
      <p:sp>
        <p:nvSpPr>
          <p:cNvPr id="122" name="A"/>
          <p:cNvSpPr/>
          <p:nvPr/>
        </p:nvSpPr>
        <p:spPr>
          <a:xfrm flipV="1">
            <a:off x="4482000" y="3540000"/>
            <a:ext cx="180000" cy="140000"/>
          </a:xfrm>
          <a:prstGeom prst="triangle">
            <a:avLst/>
          </a:prstGeom>
          <a:solidFill>
            <a:srgbClr val="8E6F3E"/>
          </a:solidFill>
          <a:ln>
            <a:noFill/>
          </a:ln>
        </p:spPr>
        <p:txBody>
          <a:bodyPr/>
          <a:lstStyle/>
          <a:p>
            <a:endParaRPr/>
          </a:p>
        </p:txBody>
      </p:sp>
      <p:sp>
        <p:nvSpPr>
          <p:cNvPr id="111" name="Cons"/>
          <p:cNvSpPr/>
          <p:nvPr/>
        </p:nvSpPr>
        <p:spPr>
          <a:xfrm>
            <a:off x="2872000" y="3680000"/>
            <a:ext cx="3400000" cy="560000"/>
          </a:xfrm>
          <a:prstGeom prst="rect">
            <a:avLst/>
          </a:prstGeom>
          <a:solidFill>
            <a:srgbClr val="8E6F3E"/>
          </a:solidFill>
          <a:ln>
            <a:noFill/>
          </a:ln>
        </p:spPr>
        <p:txBody>
          <a:bodyPr wrap="square" lIns="91440" tIns="45720" rIns="91440" bIns="45720" anchor="ctr"/>
          <a:lstStyle/>
          <a:p>
            <a:pPr algn="ctr">
              <a:buNone/>
            </a:pPr>
            <a:r>
              <a:rPr lang="en-US" sz="1900" b="1" i="0" dirty="0">
                <a:solidFill>
                  <a:srgbClr val="FFFFFF"/>
                </a:solidFill>
              </a:rPr>
              <a:t>CONSEQUENTIAL DIFFERENCE</a:t>
            </a:r>
          </a:p>
        </p:txBody>
      </p:sp>
      <p:sp>
        <p:nvSpPr>
          <p:cNvPr id="112" name="C"/>
          <p:cNvSpPr/>
          <p:nvPr/>
        </p:nvSpPr>
        <p:spPr>
          <a:xfrm>
            <a:off x="4558000" y="4240000"/>
            <a:ext cx="28000" cy="200000"/>
          </a:xfrm>
          <a:prstGeom prst="rect">
            <a:avLst/>
          </a:prstGeom>
          <a:solidFill>
            <a:srgbClr val="8E6F3E"/>
          </a:solidFill>
          <a:ln>
            <a:noFill/>
          </a:ln>
        </p:spPr>
        <p:txBody>
          <a:bodyPr wrap="square" lIns="91440" tIns="45720" rIns="91440" bIns="45720" anchor="ctr"/>
          <a:lstStyle/>
          <a:p>
            <a:endParaRPr/>
          </a:p>
        </p:txBody>
      </p:sp>
      <p:sp>
        <p:nvSpPr>
          <p:cNvPr id="123" name="A"/>
          <p:cNvSpPr/>
          <p:nvPr/>
        </p:nvSpPr>
        <p:spPr>
          <a:xfrm flipV="1">
            <a:off x="4482000" y="4440000"/>
            <a:ext cx="180000" cy="140000"/>
          </a:xfrm>
          <a:prstGeom prst="triangle">
            <a:avLst/>
          </a:prstGeom>
          <a:solidFill>
            <a:srgbClr val="8E6F3E"/>
          </a:solidFill>
          <a:ln>
            <a:noFill/>
          </a:ln>
        </p:spPr>
        <p:txBody>
          <a:bodyPr/>
          <a:lstStyle/>
          <a:p>
            <a:endParaRPr/>
          </a:p>
        </p:txBody>
      </p:sp>
      <p:sp>
        <p:nvSpPr>
          <p:cNvPr id="113" name="Evid"/>
          <p:cNvSpPr/>
          <p:nvPr/>
        </p:nvSpPr>
        <p:spPr>
          <a:xfrm>
            <a:off x="2472000" y="4580000"/>
            <a:ext cx="4200000" cy="760000"/>
          </a:xfrm>
          <a:prstGeom prst="rect">
            <a:avLst/>
          </a:prstGeom>
          <a:solidFill>
            <a:srgbClr val="F5F1E8"/>
          </a:solidFill>
          <a:ln w="12700">
            <a:solidFill>
              <a:srgbClr val="C9B991"/>
            </a:solidFill>
          </a:ln>
        </p:spPr>
        <p:txBody>
          <a:bodyPr wrap="square" lIns="91440" tIns="45720" rIns="91440" bIns="45720" anchor="ctr"/>
          <a:lstStyle/>
          <a:p>
            <a:pPr algn="ctr">
              <a:buNone/>
            </a:pPr>
            <a:r>
              <a:rPr lang="en-US" sz="1900" b="1" i="0" dirty="0">
                <a:solidFill>
                  <a:srgbClr val="000000"/>
                </a:solidFill>
              </a:rPr>
              <a:t>EVIDENCE THAT WOULD</a:t>
            </a:r>
          </a:p>
          <a:p>
            <a:pPr algn="ctr">
              <a:spcBef>
                <a:spcPts val="80"/>
              </a:spcBef>
              <a:buNone/>
            </a:pPr>
            <a:r>
              <a:rPr lang="en-US" sz="1900" b="1" i="0" dirty="0">
                <a:solidFill>
                  <a:srgbClr val="000000"/>
                </a:solidFill>
              </a:rPr>
              <a:t>CHANGE THE DECISION</a:t>
            </a:r>
          </a:p>
        </p:txBody>
      </p:sp>
      <p:sp>
        <p:nvSpPr>
          <p:cNvPr id="124" name="FooterBand"/>
          <p:cNvSpPr/>
          <p:nvPr/>
        </p:nvSpPr>
        <p:spPr>
          <a:xfrm>
            <a:off x="274320" y="5852160"/>
            <a:ext cx="8595360" cy="566928"/>
          </a:xfrm>
          <a:prstGeom prst="rect">
            <a:avLst/>
          </a:prstGeom>
          <a:solidFill>
            <a:srgbClr val="8E6F3E"/>
          </a:solidFill>
          <a:ln>
            <a:noFill/>
          </a:ln>
        </p:spPr>
        <p:txBody>
          <a:bodyPr wrap="square" lIns="91440" tIns="45720" rIns="91440" bIns="45720" anchor="ctr"/>
          <a:lstStyle/>
          <a:p>
            <a:pPr algn="ctr">
              <a:buNone/>
            </a:pPr>
            <a:r>
              <a:rPr lang="en-US" sz="1800" b="1" i="0" dirty="0">
                <a:solidFill>
                  <a:srgbClr val="FFFFFF"/>
                </a:solidFill>
              </a:rPr>
              <a:t>Two different diagrams are not necessarily two different mechanisms.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148" y="118428"/>
            <a:ext cx="8590000" cy="638175"/>
          </a:xfrm>
        </p:spPr>
        <p:txBody>
          <a:bodyPr>
            <a:normAutofit fontScale="90000"/>
          </a:bodyPr>
          <a:lstStyle/>
          <a:p>
            <a:pPr>
              <a:buNone/>
              <a:defRPr b="0"/>
            </a:pPr>
            <a:r>
              <a:rPr lang="en-US" sz="2400" b="0" i="0" dirty="0">
                <a:solidFill>
                  <a:srgbClr val="000000"/>
                </a:solidFill>
              </a:rPr>
              <a:t>Defend the decision</a:t>
            </a:r>
          </a:p>
        </p:txBody>
      </p:sp>
      <p:sp>
        <p:nvSpPr>
          <p:cNvPr id="3" name="Slide Number Placeholder 3"/>
          <p:cNvSpPr>
            <a:spLocks noGrp="1"/>
          </p:cNvSpPr>
          <p:nvPr>
            <p:ph type="sldNum" sz="quarter" idx="4"/>
          </p:nvPr>
        </p:nvSpPr>
        <p:spPr/>
        <p:txBody>
          <a:bodyPr/>
          <a:lstStyle/>
          <a:p>
            <a:fld id="{B7EB45DA-9A0D-DC49-8E02-F30A5DDC21C3}" type="slidenum">
              <a:rPr lang="en-US" smtClean="0"/>
              <a:t>34</a:t>
            </a:fld>
            <a:endParaRPr lang="en-US"/>
          </a:p>
        </p:txBody>
      </p:sp>
      <p:sp>
        <p:nvSpPr>
          <p:cNvPr id="100" name="Q0"/>
          <p:cNvSpPr/>
          <p:nvPr/>
        </p:nvSpPr>
        <p:spPr>
          <a:xfrm>
            <a:off x="760000" y="1010000"/>
            <a:ext cx="7624000" cy="610000"/>
          </a:xfrm>
          <a:prstGeom prst="rect">
            <a:avLst/>
          </a:prstGeom>
          <a:solidFill>
            <a:srgbClr val="F5F1E8"/>
          </a:solidFill>
          <a:ln w="12700">
            <a:solidFill>
              <a:srgbClr val="C9B991"/>
            </a:solidFill>
          </a:ln>
        </p:spPr>
        <p:txBody>
          <a:bodyPr wrap="square" lIns="160000" tIns="45720" rIns="140000" bIns="45720" anchor="ctr"/>
          <a:lstStyle/>
          <a:p>
            <a:pPr algn="l">
              <a:buNone/>
            </a:pPr>
            <a:r>
              <a:rPr lang="en-US" sz="2000" b="1" i="0" dirty="0">
                <a:solidFill>
                  <a:srgbClr val="8E6F3E"/>
                </a:solidFill>
              </a:rPr>
              <a:t>1</a:t>
            </a:r>
            <a:r>
              <a:rPr lang="en-US" sz="2000" b="0" i="0" dirty="0">
                <a:solidFill>
                  <a:srgbClr val="000000"/>
                </a:solidFill>
              </a:rPr>
              <a:t>    What did you inherit?</a:t>
            </a:r>
          </a:p>
        </p:txBody>
      </p:sp>
      <p:sp>
        <p:nvSpPr>
          <p:cNvPr id="101" name="Q1"/>
          <p:cNvSpPr/>
          <p:nvPr/>
        </p:nvSpPr>
        <p:spPr>
          <a:xfrm>
            <a:off x="760000" y="1665000"/>
            <a:ext cx="7624000" cy="610000"/>
          </a:xfrm>
          <a:prstGeom prst="rect">
            <a:avLst/>
          </a:prstGeom>
          <a:solidFill>
            <a:srgbClr val="FBF8F2"/>
          </a:solidFill>
          <a:ln w="12700">
            <a:solidFill>
              <a:srgbClr val="C9B991"/>
            </a:solidFill>
          </a:ln>
        </p:spPr>
        <p:txBody>
          <a:bodyPr wrap="square" lIns="160000" tIns="45720" rIns="140000" bIns="45720" anchor="ctr"/>
          <a:lstStyle/>
          <a:p>
            <a:pPr algn="l">
              <a:buNone/>
            </a:pPr>
            <a:r>
              <a:rPr lang="en-US" sz="2000" b="1" i="0" dirty="0">
                <a:solidFill>
                  <a:srgbClr val="8E6F3E"/>
                </a:solidFill>
              </a:rPr>
              <a:t>2</a:t>
            </a:r>
            <a:r>
              <a:rPr lang="en-US" sz="2000" b="0" i="0" dirty="0">
                <a:solidFill>
                  <a:srgbClr val="000000"/>
                </a:solidFill>
              </a:rPr>
              <a:t>    What remained open?</a:t>
            </a:r>
          </a:p>
        </p:txBody>
      </p:sp>
      <p:sp>
        <p:nvSpPr>
          <p:cNvPr id="102" name="Q2"/>
          <p:cNvSpPr/>
          <p:nvPr/>
        </p:nvSpPr>
        <p:spPr>
          <a:xfrm>
            <a:off x="760000" y="2320000"/>
            <a:ext cx="7624000" cy="610000"/>
          </a:xfrm>
          <a:prstGeom prst="rect">
            <a:avLst/>
          </a:prstGeom>
          <a:solidFill>
            <a:srgbClr val="F5F1E8"/>
          </a:solidFill>
          <a:ln w="12700">
            <a:solidFill>
              <a:srgbClr val="C9B991"/>
            </a:solidFill>
          </a:ln>
        </p:spPr>
        <p:txBody>
          <a:bodyPr wrap="square" lIns="160000" tIns="45720" rIns="140000" bIns="45720" anchor="ctr"/>
          <a:lstStyle/>
          <a:p>
            <a:pPr algn="l">
              <a:buNone/>
            </a:pPr>
            <a:r>
              <a:rPr lang="en-US" sz="2000" b="1" i="0" dirty="0">
                <a:solidFill>
                  <a:srgbClr val="8E6F3E"/>
                </a:solidFill>
              </a:rPr>
              <a:t>3</a:t>
            </a:r>
            <a:r>
              <a:rPr lang="en-US" sz="2000" b="0" i="0" dirty="0">
                <a:solidFill>
                  <a:srgbClr val="000000"/>
                </a:solidFill>
              </a:rPr>
              <a:t>    What alternatives did you consider?</a:t>
            </a:r>
          </a:p>
        </p:txBody>
      </p:sp>
      <p:sp>
        <p:nvSpPr>
          <p:cNvPr id="103" name="Q3"/>
          <p:cNvSpPr/>
          <p:nvPr/>
        </p:nvSpPr>
        <p:spPr>
          <a:xfrm>
            <a:off x="760000" y="2975000"/>
            <a:ext cx="7624000" cy="610000"/>
          </a:xfrm>
          <a:prstGeom prst="rect">
            <a:avLst/>
          </a:prstGeom>
          <a:solidFill>
            <a:srgbClr val="FBF8F2"/>
          </a:solidFill>
          <a:ln w="12700">
            <a:solidFill>
              <a:srgbClr val="C9B991"/>
            </a:solidFill>
          </a:ln>
        </p:spPr>
        <p:txBody>
          <a:bodyPr wrap="square" lIns="160000" tIns="45720" rIns="140000" bIns="45720" anchor="ctr"/>
          <a:lstStyle/>
          <a:p>
            <a:pPr algn="l">
              <a:buNone/>
            </a:pPr>
            <a:r>
              <a:rPr lang="en-US" sz="2000" b="1" i="0" dirty="0">
                <a:solidFill>
                  <a:srgbClr val="8E6F3E"/>
                </a:solidFill>
              </a:rPr>
              <a:t>4</a:t>
            </a:r>
            <a:r>
              <a:rPr lang="en-US" sz="2000" b="0" i="0" dirty="0">
                <a:solidFill>
                  <a:srgbClr val="000000"/>
                </a:solidFill>
              </a:rPr>
              <a:t>    What consequential difference separated them?</a:t>
            </a:r>
          </a:p>
        </p:txBody>
      </p:sp>
      <p:sp>
        <p:nvSpPr>
          <p:cNvPr id="104" name="Q4"/>
          <p:cNvSpPr/>
          <p:nvPr/>
        </p:nvSpPr>
        <p:spPr>
          <a:xfrm>
            <a:off x="760000" y="3630000"/>
            <a:ext cx="7624000" cy="610000"/>
          </a:xfrm>
          <a:prstGeom prst="rect">
            <a:avLst/>
          </a:prstGeom>
          <a:solidFill>
            <a:srgbClr val="F5F1E8"/>
          </a:solidFill>
          <a:ln w="12700">
            <a:solidFill>
              <a:srgbClr val="C9B991"/>
            </a:solidFill>
          </a:ln>
        </p:spPr>
        <p:txBody>
          <a:bodyPr wrap="square" lIns="160000" tIns="45720" rIns="140000" bIns="45720" anchor="ctr"/>
          <a:lstStyle/>
          <a:p>
            <a:pPr algn="l">
              <a:buNone/>
            </a:pPr>
            <a:r>
              <a:rPr lang="en-US" sz="2000" b="1" i="0" dirty="0">
                <a:solidFill>
                  <a:srgbClr val="8E6F3E"/>
                </a:solidFill>
              </a:rPr>
              <a:t>5</a:t>
            </a:r>
            <a:r>
              <a:rPr lang="en-US" sz="2000" b="0" i="0" dirty="0">
                <a:solidFill>
                  <a:srgbClr val="000000"/>
                </a:solidFill>
              </a:rPr>
              <a:t>    What evidence supports your choice?</a:t>
            </a:r>
          </a:p>
        </p:txBody>
      </p:sp>
      <p:sp>
        <p:nvSpPr>
          <p:cNvPr id="105" name="Q5"/>
          <p:cNvSpPr/>
          <p:nvPr/>
        </p:nvSpPr>
        <p:spPr>
          <a:xfrm>
            <a:off x="760000" y="4285000"/>
            <a:ext cx="7624000" cy="610000"/>
          </a:xfrm>
          <a:prstGeom prst="rect">
            <a:avLst/>
          </a:prstGeom>
          <a:solidFill>
            <a:srgbClr val="FBF8F2"/>
          </a:solidFill>
          <a:ln w="12700">
            <a:solidFill>
              <a:srgbClr val="C9B991"/>
            </a:solidFill>
          </a:ln>
        </p:spPr>
        <p:txBody>
          <a:bodyPr wrap="square" lIns="160000" tIns="45720" rIns="140000" bIns="45720" anchor="ctr"/>
          <a:lstStyle/>
          <a:p>
            <a:pPr algn="l">
              <a:buNone/>
            </a:pPr>
            <a:r>
              <a:rPr lang="en-US" sz="2000" b="1" i="0" dirty="0">
                <a:solidFill>
                  <a:srgbClr val="8E6F3E"/>
                </a:solidFill>
              </a:rPr>
              <a:t>6</a:t>
            </a:r>
            <a:r>
              <a:rPr lang="en-US" sz="2000" b="0" i="0" dirty="0">
                <a:solidFill>
                  <a:srgbClr val="000000"/>
                </a:solidFill>
              </a:rPr>
              <a:t>    What uncertainty remains?</a:t>
            </a:r>
          </a:p>
        </p:txBody>
      </p:sp>
      <p:sp>
        <p:nvSpPr>
          <p:cNvPr id="106" name="Q6"/>
          <p:cNvSpPr/>
          <p:nvPr/>
        </p:nvSpPr>
        <p:spPr>
          <a:xfrm>
            <a:off x="760000" y="4940000"/>
            <a:ext cx="7624000" cy="610000"/>
          </a:xfrm>
          <a:prstGeom prst="rect">
            <a:avLst/>
          </a:prstGeom>
          <a:solidFill>
            <a:srgbClr val="F5F1E8"/>
          </a:solidFill>
          <a:ln w="12700">
            <a:solidFill>
              <a:srgbClr val="C9B991"/>
            </a:solidFill>
          </a:ln>
        </p:spPr>
        <p:txBody>
          <a:bodyPr wrap="square" lIns="160000" tIns="45720" rIns="140000" bIns="45720" anchor="ctr"/>
          <a:lstStyle/>
          <a:p>
            <a:pPr algn="l">
              <a:buNone/>
            </a:pPr>
            <a:r>
              <a:rPr lang="en-US" sz="2000" b="1" i="0" dirty="0">
                <a:solidFill>
                  <a:srgbClr val="8E6F3E"/>
                </a:solidFill>
              </a:rPr>
              <a:t>7</a:t>
            </a:r>
            <a:r>
              <a:rPr lang="en-US" sz="2000" b="0" i="0" dirty="0">
                <a:solidFill>
                  <a:srgbClr val="000000"/>
                </a:solidFill>
              </a:rPr>
              <a:t>    Did you discover anything that should be escalated?</a:t>
            </a:r>
          </a:p>
        </p:txBody>
      </p:sp>
      <p:sp>
        <p:nvSpPr>
          <p:cNvPr id="120" name="FooterItalic"/>
          <p:cNvSpPr txBox="1"/>
          <p:nvPr/>
        </p:nvSpPr>
        <p:spPr>
          <a:xfrm>
            <a:off x="274320" y="5916168"/>
            <a:ext cx="8595360" cy="420000"/>
          </a:xfrm>
          <a:prstGeom prst="rect">
            <a:avLst/>
          </a:prstGeom>
          <a:noFill/>
          <a:ln>
            <a:noFill/>
          </a:ln>
        </p:spPr>
        <p:txBody>
          <a:bodyPr wrap="square" lIns="0" tIns="0" rIns="0" bIns="0" anchor="t"/>
          <a:lstStyle/>
          <a:p>
            <a:pPr algn="ctr">
              <a:buNone/>
            </a:pPr>
            <a:r>
              <a:rPr lang="en-US" sz="1600" b="0" i="1" dirty="0">
                <a:solidFill>
                  <a:srgbClr val="555960"/>
                </a:solidFill>
              </a:rPr>
              <a:t>~6 minutes · selected shares.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100"/>
                                  </p:tgtEl>
                                  <p:attrNameLst>
                                    <p:attrName>style.visibility</p:attrName>
                                  </p:attrNameLst>
                                </p:cBhvr>
                                <p:to>
                                  <p:strVal val="visible"/>
                                </p:to>
                              </p:set>
                              <p:animEffect transition="in" filter="fade">
                                <p:cBhvr>
                                  <p:cTn id="6" dur="500"/>
                                  <p:tgtEl>
                                    <p:spTgt spid="100"/>
                                  </p:tgtEl>
                                </p:cBhvr>
                              </p:animEffect>
                            </p:childTnLst>
                          </p:cTn>
                        </p:par>
                      </p:childTnLst>
                    </p:cTn>
                  </p:par>
                  <p:par>
                    <p:cTn id="7" fill="hold">
                      <p:stCondLst>
                        <p:cond delay="indefinite"/>
                      </p:stCondLst>
                      <p:childTnLst>
                        <p:par>
                          <p:cTn id="8" presetID="10" presetClass="entr" presetSubtype="0" fill="hold" grpId="1" nodeType="clickEffect">
                            <p:stCondLst>
                              <p:cond delay="0"/>
                            </p:stCondLst>
                            <p:childTnLst>
                              <p:set>
                                <p:cBhvr>
                                  <p:cTn id="9" dur="1" fill="hold">
                                    <p:stCondLst>
                                      <p:cond delay="0"/>
                                    </p:stCondLst>
                                  </p:cTn>
                                  <p:tgtEl>
                                    <p:spTgt spid="101"/>
                                  </p:tgtEl>
                                  <p:attrNameLst>
                                    <p:attrName>style.visibility</p:attrName>
                                  </p:attrNameLst>
                                </p:cBhvr>
                                <p:to>
                                  <p:strVal val="visible"/>
                                </p:to>
                              </p:set>
                              <p:animEffect transition="in" filter="fade">
                                <p:cBhvr>
                                  <p:cTn id="10" dur="500"/>
                                  <p:tgtEl>
                                    <p:spTgt spid="101"/>
                                  </p:tgtEl>
                                </p:cBhvr>
                              </p:animEffect>
                            </p:childTnLst>
                          </p:cTn>
                        </p:par>
                      </p:childTnLst>
                    </p:cTn>
                  </p:par>
                  <p:par>
                    <p:cTn id="11" fill="hold">
                      <p:stCondLst>
                        <p:cond delay="indefinite"/>
                      </p:stCondLst>
                      <p:childTnLst>
                        <p:par>
                          <p:cTn id="12" presetID="10" presetClass="entr" presetSubtype="0" fill="hold" grpId="2" nodeType="clickEffect">
                            <p:stCondLst>
                              <p:cond delay="0"/>
                            </p:stCondLst>
                            <p:childTnLst>
                              <p:set>
                                <p:cBhvr>
                                  <p:cTn id="13" dur="1" fill="hold">
                                    <p:stCondLst>
                                      <p:cond delay="0"/>
                                    </p:stCondLst>
                                  </p:cTn>
                                  <p:tgtEl>
                                    <p:spTgt spid="102"/>
                                  </p:tgtEl>
                                  <p:attrNameLst>
                                    <p:attrName>style.visibility</p:attrName>
                                  </p:attrNameLst>
                                </p:cBhvr>
                                <p:to>
                                  <p:strVal val="visible"/>
                                </p:to>
                              </p:set>
                              <p:animEffect transition="in" filter="fade">
                                <p:cBhvr>
                                  <p:cTn id="14" dur="500"/>
                                  <p:tgtEl>
                                    <p:spTgt spid="102"/>
                                  </p:tgtEl>
                                </p:cBhvr>
                              </p:animEffect>
                            </p:childTnLst>
                          </p:cTn>
                        </p:par>
                      </p:childTnLst>
                    </p:cTn>
                  </p:par>
                  <p:par>
                    <p:cTn id="15" fill="hold">
                      <p:stCondLst>
                        <p:cond delay="indefinite"/>
                      </p:stCondLst>
                      <p:childTnLst>
                        <p:par>
                          <p:cTn id="16" presetID="10" presetClass="entr" presetSubtype="0" fill="hold" grpId="3" nodeType="clickEffect">
                            <p:stCondLst>
                              <p:cond delay="0"/>
                            </p:stCondLst>
                            <p:childTnLst>
                              <p:set>
                                <p:cBhvr>
                                  <p:cTn id="17" dur="1" fill="hold">
                                    <p:stCondLst>
                                      <p:cond delay="0"/>
                                    </p:stCondLst>
                                  </p:cTn>
                                  <p:tgtEl>
                                    <p:spTgt spid="103"/>
                                  </p:tgtEl>
                                  <p:attrNameLst>
                                    <p:attrName>style.visibility</p:attrName>
                                  </p:attrNameLst>
                                </p:cBhvr>
                                <p:to>
                                  <p:strVal val="visible"/>
                                </p:to>
                              </p:set>
                              <p:animEffect transition="in" filter="fade">
                                <p:cBhvr>
                                  <p:cTn id="18" dur="500"/>
                                  <p:tgtEl>
                                    <p:spTgt spid="103"/>
                                  </p:tgtEl>
                                </p:cBhvr>
                              </p:animEffect>
                            </p:childTnLst>
                          </p:cTn>
                        </p:par>
                      </p:childTnLst>
                    </p:cTn>
                  </p:par>
                  <p:par>
                    <p:cTn id="19" fill="hold">
                      <p:stCondLst>
                        <p:cond delay="indefinite"/>
                      </p:stCondLst>
                      <p:childTnLst>
                        <p:par>
                          <p:cTn id="20" presetID="10" presetClass="entr" presetSubtype="0" fill="hold" grpId="4" nodeType="clickEffect">
                            <p:stCondLst>
                              <p:cond delay="0"/>
                            </p:stCondLst>
                            <p:childTnLst>
                              <p:set>
                                <p:cBhvr>
                                  <p:cTn id="21" dur="1" fill="hold">
                                    <p:stCondLst>
                                      <p:cond delay="0"/>
                                    </p:stCondLst>
                                  </p:cTn>
                                  <p:tgtEl>
                                    <p:spTgt spid="104"/>
                                  </p:tgtEl>
                                  <p:attrNameLst>
                                    <p:attrName>style.visibility</p:attrName>
                                  </p:attrNameLst>
                                </p:cBhvr>
                                <p:to>
                                  <p:strVal val="visible"/>
                                </p:to>
                              </p:set>
                              <p:animEffect transition="in" filter="fade">
                                <p:cBhvr>
                                  <p:cTn id="22" dur="500"/>
                                  <p:tgtEl>
                                    <p:spTgt spid="104"/>
                                  </p:tgtEl>
                                </p:cBhvr>
                              </p:animEffect>
                            </p:childTnLst>
                          </p:cTn>
                        </p:par>
                      </p:childTnLst>
                    </p:cTn>
                  </p:par>
                  <p:par>
                    <p:cTn id="23" fill="hold">
                      <p:stCondLst>
                        <p:cond delay="indefinite"/>
                      </p:stCondLst>
                      <p:childTnLst>
                        <p:par>
                          <p:cTn id="24" presetID="10" presetClass="entr" presetSubtype="0" fill="hold" grpId="5" nodeType="clickEffect">
                            <p:stCondLst>
                              <p:cond delay="0"/>
                            </p:stCondLst>
                            <p:childTnLst>
                              <p:set>
                                <p:cBhvr>
                                  <p:cTn id="25" dur="1" fill="hold">
                                    <p:stCondLst>
                                      <p:cond delay="0"/>
                                    </p:stCondLst>
                                  </p:cTn>
                                  <p:tgtEl>
                                    <p:spTgt spid="105"/>
                                  </p:tgtEl>
                                  <p:attrNameLst>
                                    <p:attrName>style.visibility</p:attrName>
                                  </p:attrNameLst>
                                </p:cBhvr>
                                <p:to>
                                  <p:strVal val="visible"/>
                                </p:to>
                              </p:set>
                              <p:animEffect transition="in" filter="fade">
                                <p:cBhvr>
                                  <p:cTn id="26" dur="500"/>
                                  <p:tgtEl>
                                    <p:spTgt spid="105"/>
                                  </p:tgtEl>
                                </p:cBhvr>
                              </p:animEffect>
                            </p:childTnLst>
                          </p:cTn>
                        </p:par>
                      </p:childTnLst>
                    </p:cTn>
                  </p:par>
                  <p:par>
                    <p:cTn id="27" fill="hold">
                      <p:stCondLst>
                        <p:cond delay="indefinite"/>
                      </p:stCondLst>
                      <p:childTnLst>
                        <p:par>
                          <p:cTn id="28" presetID="10" presetClass="entr" presetSubtype="0" fill="hold" grpId="6" nodeType="clickEffect">
                            <p:stCondLst>
                              <p:cond delay="0"/>
                            </p:stCondLst>
                            <p:childTnLst>
                              <p:set>
                                <p:cBhvr>
                                  <p:cTn id="29" dur="1" fill="hold">
                                    <p:stCondLst>
                                      <p:cond delay="0"/>
                                    </p:stCondLst>
                                  </p:cTn>
                                  <p:tgtEl>
                                    <p:spTgt spid="106"/>
                                  </p:tgtEl>
                                  <p:attrNameLst>
                                    <p:attrName>style.visibility</p:attrName>
                                  </p:attrNameLst>
                                </p:cBhvr>
                                <p:to>
                                  <p:strVal val="visible"/>
                                </p:to>
                              </p:set>
                              <p:animEffect transition="in" filter="fade">
                                <p:cBhvr>
                                  <p:cTn id="30" dur="500"/>
                                  <p:tgtEl>
                                    <p:spTgt spid="10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100" grpId="0" animBg="1"/>
      <p:bldP spid="101" grpId="1" animBg="1"/>
      <p:bldP spid="102" grpId="2" animBg="1"/>
      <p:bldP spid="103" grpId="3" animBg="1"/>
      <p:bldP spid="104" grpId="4" animBg="1"/>
      <p:bldP spid="105" grpId="5" animBg="1"/>
      <p:bldP spid="106" grpId="6"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148" y="118428"/>
            <a:ext cx="8590000" cy="638175"/>
          </a:xfrm>
        </p:spPr>
        <p:txBody>
          <a:bodyPr>
            <a:normAutofit fontScale="90000"/>
          </a:bodyPr>
          <a:lstStyle/>
          <a:p>
            <a:pPr>
              <a:buNone/>
              <a:defRPr b="0"/>
            </a:pPr>
            <a:r>
              <a:rPr lang="en-US" sz="2400" b="0" i="0" dirty="0">
                <a:solidFill>
                  <a:srgbClr val="000000"/>
                </a:solidFill>
              </a:rPr>
              <a:t>What did Design teach us?</a:t>
            </a:r>
          </a:p>
        </p:txBody>
      </p:sp>
      <p:sp>
        <p:nvSpPr>
          <p:cNvPr id="3" name="Slide Number Placeholder 3"/>
          <p:cNvSpPr>
            <a:spLocks noGrp="1"/>
          </p:cNvSpPr>
          <p:nvPr>
            <p:ph type="sldNum" sz="quarter" idx="4"/>
          </p:nvPr>
        </p:nvSpPr>
        <p:spPr/>
        <p:txBody>
          <a:bodyPr/>
          <a:lstStyle/>
          <a:p>
            <a:fld id="{B7EB45DA-9A0D-DC49-8E02-F30A5DDC21C3}" type="slidenum">
              <a:rPr lang="en-US" smtClean="0"/>
              <a:t>35</a:t>
            </a:fld>
            <a:endParaRPr lang="en-US"/>
          </a:p>
        </p:txBody>
      </p:sp>
      <p:sp>
        <p:nvSpPr>
          <p:cNvPr id="100" name="S100"/>
          <p:cNvSpPr/>
          <p:nvPr/>
        </p:nvSpPr>
        <p:spPr>
          <a:xfrm>
            <a:off x="277147" y="1054416"/>
            <a:ext cx="4589704" cy="770000"/>
          </a:xfrm>
          <a:prstGeom prst="rect">
            <a:avLst/>
          </a:prstGeom>
          <a:solidFill>
            <a:srgbClr val="8E6F3E"/>
          </a:solidFill>
          <a:ln w="9525">
            <a:solidFill>
              <a:srgbClr val="C9B991"/>
            </a:solidFill>
          </a:ln>
        </p:spPr>
        <p:txBody>
          <a:bodyPr wrap="square" lIns="45720" tIns="45720" rIns="45720" bIns="45720" anchor="ctr"/>
          <a:lstStyle/>
          <a:p>
            <a:pPr algn="ctr">
              <a:buNone/>
            </a:pPr>
            <a:r>
              <a:rPr lang="en-US" sz="1900" b="1" i="0" dirty="0">
                <a:solidFill>
                  <a:srgbClr val="FFFFFF"/>
                </a:solidFill>
              </a:rPr>
              <a:t>Discovery</a:t>
            </a:r>
          </a:p>
        </p:txBody>
      </p:sp>
      <p:sp>
        <p:nvSpPr>
          <p:cNvPr id="101" name="S101"/>
          <p:cNvSpPr/>
          <p:nvPr/>
        </p:nvSpPr>
        <p:spPr>
          <a:xfrm>
            <a:off x="4866852" y="1054416"/>
            <a:ext cx="4000000" cy="770000"/>
          </a:xfrm>
          <a:prstGeom prst="rect">
            <a:avLst/>
          </a:prstGeom>
          <a:solidFill>
            <a:srgbClr val="8E6F3E"/>
          </a:solidFill>
          <a:ln w="9525">
            <a:solidFill>
              <a:srgbClr val="C9B991"/>
            </a:solidFill>
          </a:ln>
        </p:spPr>
        <p:txBody>
          <a:bodyPr wrap="square" lIns="45720" tIns="45720" rIns="45720" bIns="45720" anchor="ctr"/>
          <a:lstStyle/>
          <a:p>
            <a:pPr algn="ctr">
              <a:buNone/>
            </a:pPr>
            <a:r>
              <a:rPr lang="en-US" sz="1900" b="1" i="0" dirty="0">
                <a:solidFill>
                  <a:srgbClr val="FFFFFF"/>
                </a:solidFill>
              </a:rPr>
              <a:t>Where does it go?</a:t>
            </a:r>
          </a:p>
        </p:txBody>
      </p:sp>
      <p:sp>
        <p:nvSpPr>
          <p:cNvPr id="102" name="S102"/>
          <p:cNvSpPr/>
          <p:nvPr/>
        </p:nvSpPr>
        <p:spPr>
          <a:xfrm>
            <a:off x="277147" y="1824416"/>
            <a:ext cx="4589704" cy="770000"/>
          </a:xfrm>
          <a:prstGeom prst="rect">
            <a:avLst/>
          </a:prstGeom>
          <a:solidFill>
            <a:srgbClr val="FBF8F2"/>
          </a:solidFill>
          <a:ln w="9525">
            <a:solidFill>
              <a:srgbClr val="C9B991"/>
            </a:solidFill>
          </a:ln>
        </p:spPr>
        <p:txBody>
          <a:bodyPr wrap="square" lIns="45720" tIns="45720" rIns="45720" bIns="45720" anchor="ctr"/>
          <a:lstStyle/>
          <a:p>
            <a:pPr algn="ctr">
              <a:buNone/>
            </a:pPr>
            <a:r>
              <a:rPr lang="en-US" sz="1900" b="1" i="0" dirty="0">
                <a:solidFill>
                  <a:srgbClr val="000000"/>
                </a:solidFill>
              </a:rPr>
              <a:t>Already governed</a:t>
            </a:r>
          </a:p>
        </p:txBody>
      </p:sp>
      <p:sp>
        <p:nvSpPr>
          <p:cNvPr id="103" name="S103"/>
          <p:cNvSpPr/>
          <p:nvPr/>
        </p:nvSpPr>
        <p:spPr>
          <a:xfrm>
            <a:off x="4866852" y="1824416"/>
            <a:ext cx="4000000" cy="770000"/>
          </a:xfrm>
          <a:prstGeom prst="rect">
            <a:avLst/>
          </a:prstGeom>
          <a:solidFill>
            <a:srgbClr val="FBF8F2"/>
          </a:solidFill>
          <a:ln w="9525">
            <a:solidFill>
              <a:srgbClr val="C9B991"/>
            </a:solidFill>
          </a:ln>
        </p:spPr>
        <p:txBody>
          <a:bodyPr wrap="square" lIns="45720" tIns="45720" rIns="45720" bIns="45720" anchor="ctr"/>
          <a:lstStyle/>
          <a:p>
            <a:pPr algn="ctr">
              <a:buNone/>
            </a:pPr>
            <a:r>
              <a:rPr lang="en-US" sz="1900" b="0" i="0" dirty="0">
                <a:solidFill>
                  <a:srgbClr val="000000"/>
                </a:solidFill>
              </a:rPr>
              <a:t>FOLLOW</a:t>
            </a:r>
          </a:p>
        </p:txBody>
      </p:sp>
      <p:sp>
        <p:nvSpPr>
          <p:cNvPr id="104" name="S104"/>
          <p:cNvSpPr/>
          <p:nvPr/>
        </p:nvSpPr>
        <p:spPr>
          <a:xfrm>
            <a:off x="277147" y="2594416"/>
            <a:ext cx="4589704" cy="770000"/>
          </a:xfrm>
          <a:prstGeom prst="rect">
            <a:avLst/>
          </a:prstGeom>
          <a:solidFill>
            <a:srgbClr val="FFFFFF"/>
          </a:solidFill>
          <a:ln w="9525">
            <a:solidFill>
              <a:srgbClr val="C9B991"/>
            </a:solidFill>
          </a:ln>
        </p:spPr>
        <p:txBody>
          <a:bodyPr wrap="square" lIns="45720" tIns="45720" rIns="45720" bIns="45720" anchor="ctr"/>
          <a:lstStyle/>
          <a:p>
            <a:pPr algn="ctr">
              <a:buNone/>
            </a:pPr>
            <a:r>
              <a:rPr lang="en-US" sz="1900" b="1" i="0" dirty="0">
                <a:solidFill>
                  <a:srgbClr val="000000"/>
                </a:solidFill>
              </a:rPr>
              <a:t>Genuinely local</a:t>
            </a:r>
          </a:p>
        </p:txBody>
      </p:sp>
      <p:sp>
        <p:nvSpPr>
          <p:cNvPr id="105" name="S105"/>
          <p:cNvSpPr/>
          <p:nvPr/>
        </p:nvSpPr>
        <p:spPr>
          <a:xfrm>
            <a:off x="4866852" y="2594416"/>
            <a:ext cx="4000000" cy="770000"/>
          </a:xfrm>
          <a:prstGeom prst="rect">
            <a:avLst/>
          </a:prstGeom>
          <a:solidFill>
            <a:srgbClr val="FFFFFF"/>
          </a:solidFill>
          <a:ln w="9525">
            <a:solidFill>
              <a:srgbClr val="C9B991"/>
            </a:solidFill>
          </a:ln>
        </p:spPr>
        <p:txBody>
          <a:bodyPr wrap="square" lIns="45720" tIns="45720" rIns="45720" bIns="45720" anchor="ctr"/>
          <a:lstStyle/>
          <a:p>
            <a:pPr algn="ctr">
              <a:buNone/>
            </a:pPr>
            <a:r>
              <a:rPr lang="en-US" sz="1900" b="0" i="0" dirty="0">
                <a:solidFill>
                  <a:srgbClr val="000000"/>
                </a:solidFill>
              </a:rPr>
              <a:t>CHOOSE</a:t>
            </a:r>
          </a:p>
        </p:txBody>
      </p:sp>
      <p:sp>
        <p:nvSpPr>
          <p:cNvPr id="106" name="S106"/>
          <p:cNvSpPr/>
          <p:nvPr/>
        </p:nvSpPr>
        <p:spPr>
          <a:xfrm>
            <a:off x="277147" y="3364416"/>
            <a:ext cx="4589704" cy="770000"/>
          </a:xfrm>
          <a:prstGeom prst="rect">
            <a:avLst/>
          </a:prstGeom>
          <a:solidFill>
            <a:srgbClr val="FBF8F2"/>
          </a:solidFill>
          <a:ln w="9525">
            <a:solidFill>
              <a:srgbClr val="C9B991"/>
            </a:solidFill>
          </a:ln>
        </p:spPr>
        <p:txBody>
          <a:bodyPr wrap="square" lIns="45720" tIns="45720" rIns="45720" bIns="45720" anchor="ctr"/>
          <a:lstStyle/>
          <a:p>
            <a:pPr algn="ctr">
              <a:buNone/>
            </a:pPr>
            <a:r>
              <a:rPr lang="en-US" sz="1900" b="1" i="0" dirty="0">
                <a:solidFill>
                  <a:srgbClr val="000000"/>
                </a:solidFill>
              </a:rPr>
              <a:t>Recurring across parts</a:t>
            </a:r>
          </a:p>
        </p:txBody>
      </p:sp>
      <p:sp>
        <p:nvSpPr>
          <p:cNvPr id="107" name="S107"/>
          <p:cNvSpPr/>
          <p:nvPr/>
        </p:nvSpPr>
        <p:spPr>
          <a:xfrm>
            <a:off x="4866852" y="3364416"/>
            <a:ext cx="4000000" cy="770000"/>
          </a:xfrm>
          <a:prstGeom prst="rect">
            <a:avLst/>
          </a:prstGeom>
          <a:solidFill>
            <a:srgbClr val="FBF8F2"/>
          </a:solidFill>
          <a:ln w="9525">
            <a:solidFill>
              <a:srgbClr val="C9B991"/>
            </a:solidFill>
          </a:ln>
        </p:spPr>
        <p:txBody>
          <a:bodyPr wrap="square" lIns="45720" tIns="45720" rIns="45720" bIns="45720" anchor="ctr"/>
          <a:lstStyle/>
          <a:p>
            <a:pPr algn="ctr">
              <a:buNone/>
            </a:pPr>
            <a:r>
              <a:rPr lang="en-US" sz="1900" b="0" i="0" dirty="0">
                <a:solidFill>
                  <a:srgbClr val="000000"/>
                </a:solidFill>
              </a:rPr>
              <a:t>ENGINEERING ENVIRONMENT</a:t>
            </a:r>
          </a:p>
        </p:txBody>
      </p:sp>
      <p:sp>
        <p:nvSpPr>
          <p:cNvPr id="108" name="S108"/>
          <p:cNvSpPr/>
          <p:nvPr/>
        </p:nvSpPr>
        <p:spPr>
          <a:xfrm>
            <a:off x="277147" y="4134416"/>
            <a:ext cx="4589704" cy="770000"/>
          </a:xfrm>
          <a:prstGeom prst="rect">
            <a:avLst/>
          </a:prstGeom>
          <a:solidFill>
            <a:srgbClr val="FFFFFF"/>
          </a:solidFill>
          <a:ln w="9525">
            <a:solidFill>
              <a:srgbClr val="C9B991"/>
            </a:solidFill>
          </a:ln>
        </p:spPr>
        <p:txBody>
          <a:bodyPr wrap="square" lIns="45720" tIns="45720" rIns="45720" bIns="45720" anchor="ctr"/>
          <a:lstStyle/>
          <a:p>
            <a:pPr algn="ctr">
              <a:buNone/>
            </a:pPr>
            <a:r>
              <a:rPr lang="en-US" sz="1900" b="1" i="0" dirty="0">
                <a:solidFill>
                  <a:srgbClr val="000000"/>
                </a:solidFill>
              </a:rPr>
              <a:t>Structural consequence</a:t>
            </a:r>
          </a:p>
        </p:txBody>
      </p:sp>
      <p:sp>
        <p:nvSpPr>
          <p:cNvPr id="109" name="S109"/>
          <p:cNvSpPr/>
          <p:nvPr/>
        </p:nvSpPr>
        <p:spPr>
          <a:xfrm>
            <a:off x="4866852" y="4134416"/>
            <a:ext cx="4000000" cy="770000"/>
          </a:xfrm>
          <a:prstGeom prst="rect">
            <a:avLst/>
          </a:prstGeom>
          <a:solidFill>
            <a:srgbClr val="FFFFFF"/>
          </a:solidFill>
          <a:ln w="9525">
            <a:solidFill>
              <a:srgbClr val="C9B991"/>
            </a:solidFill>
          </a:ln>
        </p:spPr>
        <p:txBody>
          <a:bodyPr wrap="square" lIns="45720" tIns="45720" rIns="45720" bIns="45720" anchor="ctr"/>
          <a:lstStyle/>
          <a:p>
            <a:pPr algn="ctr">
              <a:buNone/>
            </a:pPr>
            <a:r>
              <a:rPr lang="en-US" sz="1900" b="0" i="0" dirty="0">
                <a:solidFill>
                  <a:srgbClr val="000000"/>
                </a:solidFill>
              </a:rPr>
              <a:t>ARCHITECTURE</a:t>
            </a:r>
          </a:p>
        </p:txBody>
      </p:sp>
      <p:sp>
        <p:nvSpPr>
          <p:cNvPr id="110" name="S110"/>
          <p:cNvSpPr/>
          <p:nvPr/>
        </p:nvSpPr>
        <p:spPr>
          <a:xfrm>
            <a:off x="277147" y="4904416"/>
            <a:ext cx="4589704" cy="770000"/>
          </a:xfrm>
          <a:prstGeom prst="rect">
            <a:avLst/>
          </a:prstGeom>
          <a:solidFill>
            <a:srgbClr val="FBF8F2"/>
          </a:solidFill>
          <a:ln w="9525">
            <a:solidFill>
              <a:srgbClr val="C9B991"/>
            </a:solidFill>
          </a:ln>
        </p:spPr>
        <p:txBody>
          <a:bodyPr wrap="square" lIns="45720" tIns="45720" rIns="45720" bIns="45720" anchor="ctr"/>
          <a:lstStyle/>
          <a:p>
            <a:pPr algn="ctr">
              <a:buNone/>
            </a:pPr>
            <a:r>
              <a:rPr lang="en-US" sz="1900" b="1" i="0" dirty="0">
                <a:solidFill>
                  <a:srgbClr val="000000"/>
                </a:solidFill>
              </a:rPr>
              <a:t>Missing obligation</a:t>
            </a:r>
          </a:p>
        </p:txBody>
      </p:sp>
      <p:sp>
        <p:nvSpPr>
          <p:cNvPr id="111" name="S111"/>
          <p:cNvSpPr/>
          <p:nvPr/>
        </p:nvSpPr>
        <p:spPr>
          <a:xfrm>
            <a:off x="4866852" y="4904416"/>
            <a:ext cx="4000000" cy="770000"/>
          </a:xfrm>
          <a:prstGeom prst="rect">
            <a:avLst/>
          </a:prstGeom>
          <a:solidFill>
            <a:srgbClr val="FBF8F2"/>
          </a:solidFill>
          <a:ln w="9525">
            <a:solidFill>
              <a:srgbClr val="C9B991"/>
            </a:solidFill>
          </a:ln>
        </p:spPr>
        <p:txBody>
          <a:bodyPr wrap="square" lIns="45720" tIns="45720" rIns="45720" bIns="45720" anchor="ctr"/>
          <a:lstStyle/>
          <a:p>
            <a:pPr algn="ctr">
              <a:buNone/>
            </a:pPr>
            <a:r>
              <a:rPr lang="en-US" sz="1900" b="0" i="0" dirty="0">
                <a:solidFill>
                  <a:srgbClr val="000000"/>
                </a:solidFill>
              </a:rPr>
              <a:t>SPECIFICATION</a:t>
            </a:r>
          </a:p>
        </p:txBody>
      </p:sp>
      <p:sp>
        <p:nvSpPr>
          <p:cNvPr id="112" name="FooterBand"/>
          <p:cNvSpPr/>
          <p:nvPr/>
        </p:nvSpPr>
        <p:spPr>
          <a:xfrm>
            <a:off x="274320" y="5852160"/>
            <a:ext cx="8595360" cy="566928"/>
          </a:xfrm>
          <a:prstGeom prst="rect">
            <a:avLst/>
          </a:prstGeom>
          <a:solidFill>
            <a:srgbClr val="8E6F3E"/>
          </a:solidFill>
          <a:ln>
            <a:noFill/>
          </a:ln>
        </p:spPr>
        <p:txBody>
          <a:bodyPr wrap="square" lIns="91440" tIns="45720" rIns="91440" bIns="45720" anchor="ctr"/>
          <a:lstStyle/>
          <a:p>
            <a:pPr algn="ctr">
              <a:buNone/>
            </a:pPr>
            <a:r>
              <a:rPr lang="en-US" sz="1800" b="1" i="0" dirty="0">
                <a:solidFill>
                  <a:srgbClr val="FFFFFF"/>
                </a:solidFill>
              </a:rPr>
              <a:t>Design produces an implementation plan and evidence about the decisions above it.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7148" y="118428"/>
            <a:ext cx="8590000" cy="638175"/>
          </a:xfrm>
        </p:spPr>
        <p:txBody>
          <a:bodyPr>
            <a:normAutofit fontScale="90000"/>
          </a:bodyPr>
          <a:lstStyle/>
          <a:p>
            <a:pPr>
              <a:buNone/>
              <a:defRPr b="0"/>
            </a:pPr>
            <a:r>
              <a:rPr lang="en-US" sz="2400" b="0" i="0" dirty="0">
                <a:solidFill>
                  <a:srgbClr val="000000"/>
                </a:solidFill>
              </a:rPr>
              <a:t>Constraints flow down. Evidence flows up</a:t>
            </a:r>
          </a:p>
        </p:txBody>
      </p:sp>
      <p:sp>
        <p:nvSpPr>
          <p:cNvPr id="3" name="Slide Number Placeholder 3"/>
          <p:cNvSpPr>
            <a:spLocks noGrp="1"/>
          </p:cNvSpPr>
          <p:nvPr>
            <p:ph type="sldNum" sz="quarter" idx="4"/>
          </p:nvPr>
        </p:nvSpPr>
        <p:spPr/>
        <p:txBody>
          <a:bodyPr/>
          <a:lstStyle/>
          <a:p>
            <a:fld id="{B7EB45DA-9A0D-DC49-8E02-F30A5DDC21C3}" type="slidenum">
              <a:rPr lang="en-US" smtClean="0"/>
              <a:t>36</a:t>
            </a:fld>
            <a:endParaRPr lang="en-US"/>
          </a:p>
        </p:txBody>
      </p:sp>
      <p:sp>
        <p:nvSpPr>
          <p:cNvPr id="100" name="S100"/>
          <p:cNvSpPr/>
          <p:nvPr/>
        </p:nvSpPr>
        <p:spPr>
          <a:xfrm>
            <a:off x="2422000" y="1050000"/>
            <a:ext cx="4300000" cy="700000"/>
          </a:xfrm>
          <a:prstGeom prst="rect">
            <a:avLst/>
          </a:prstGeom>
          <a:solidFill>
            <a:srgbClr val="8E6F3E"/>
          </a:solidFill>
          <a:ln>
            <a:noFill/>
          </a:ln>
        </p:spPr>
        <p:txBody>
          <a:bodyPr wrap="square" lIns="91440" tIns="45720" rIns="91440" bIns="45720" anchor="ctr"/>
          <a:lstStyle/>
          <a:p>
            <a:pPr algn="ctr">
              <a:buNone/>
            </a:pPr>
            <a:r>
              <a:rPr lang="en-US" sz="1800" b="1" i="0" dirty="0">
                <a:solidFill>
                  <a:srgbClr val="FFFFFF"/>
                </a:solidFill>
              </a:rPr>
              <a:t>SPECIFICATION</a:t>
            </a:r>
          </a:p>
          <a:p>
            <a:pPr algn="ctr">
              <a:spcBef>
                <a:spcPts val="60"/>
              </a:spcBef>
              <a:buNone/>
            </a:pPr>
            <a:r>
              <a:rPr lang="en-US" sz="1450" b="0" i="1" dirty="0">
                <a:solidFill>
                  <a:srgbClr val="FFFFFF"/>
                </a:solidFill>
              </a:rPr>
              <a:t>acceptable realization space</a:t>
            </a:r>
          </a:p>
        </p:txBody>
      </p:sp>
      <p:cxnSp>
        <p:nvCxnSpPr>
          <p:cNvPr id="101" name="L101"/>
          <p:cNvCxnSpPr/>
          <p:nvPr/>
        </p:nvCxnSpPr>
        <p:spPr>
          <a:xfrm>
            <a:off x="4572000" y="1750000"/>
            <a:ext cx="0" cy="500000"/>
          </a:xfrm>
          <a:prstGeom prst="straightConnector1">
            <a:avLst/>
          </a:prstGeom>
          <a:ln w="38100">
            <a:solidFill>
              <a:srgbClr val="8E6F3E"/>
            </a:solidFill>
            <a:tailEnd type="triangle" w="med" len="med"/>
          </a:ln>
        </p:spPr>
      </p:cxnSp>
      <p:sp>
        <p:nvSpPr>
          <p:cNvPr id="102" name="S102"/>
          <p:cNvSpPr/>
          <p:nvPr/>
        </p:nvSpPr>
        <p:spPr>
          <a:xfrm>
            <a:off x="2422000" y="2250000"/>
            <a:ext cx="4300000" cy="700000"/>
          </a:xfrm>
          <a:prstGeom prst="rect">
            <a:avLst/>
          </a:prstGeom>
          <a:solidFill>
            <a:srgbClr val="8E6F3E"/>
          </a:solidFill>
          <a:ln>
            <a:noFill/>
          </a:ln>
        </p:spPr>
        <p:txBody>
          <a:bodyPr wrap="square" lIns="91440" tIns="45720" rIns="91440" bIns="45720" anchor="ctr"/>
          <a:lstStyle/>
          <a:p>
            <a:pPr algn="ctr">
              <a:buNone/>
            </a:pPr>
            <a:r>
              <a:rPr lang="en-US" sz="1800" b="1" i="0" dirty="0">
                <a:solidFill>
                  <a:srgbClr val="FFFFFF"/>
                </a:solidFill>
              </a:rPr>
              <a:t>ARCHITECTURE</a:t>
            </a:r>
          </a:p>
          <a:p>
            <a:pPr algn="ctr">
              <a:spcBef>
                <a:spcPts val="60"/>
              </a:spcBef>
              <a:buNone/>
            </a:pPr>
            <a:r>
              <a:rPr lang="en-US" sz="1450" b="0" i="1" dirty="0">
                <a:solidFill>
                  <a:srgbClr val="FFFFFF"/>
                </a:solidFill>
              </a:rPr>
              <a:t>coarse parts + constraints</a:t>
            </a:r>
          </a:p>
        </p:txBody>
      </p:sp>
      <p:cxnSp>
        <p:nvCxnSpPr>
          <p:cNvPr id="103" name="L103"/>
          <p:cNvCxnSpPr/>
          <p:nvPr/>
        </p:nvCxnSpPr>
        <p:spPr>
          <a:xfrm>
            <a:off x="4572000" y="2950000"/>
            <a:ext cx="0" cy="500000"/>
          </a:xfrm>
          <a:prstGeom prst="straightConnector1">
            <a:avLst/>
          </a:prstGeom>
          <a:ln w="38100">
            <a:solidFill>
              <a:srgbClr val="8E6F3E"/>
            </a:solidFill>
            <a:tailEnd type="triangle" w="med" len="med"/>
          </a:ln>
        </p:spPr>
      </p:cxnSp>
      <p:sp>
        <p:nvSpPr>
          <p:cNvPr id="104" name="S104"/>
          <p:cNvSpPr/>
          <p:nvPr/>
        </p:nvSpPr>
        <p:spPr>
          <a:xfrm>
            <a:off x="2422000" y="3450000"/>
            <a:ext cx="4300000" cy="700000"/>
          </a:xfrm>
          <a:prstGeom prst="rect">
            <a:avLst/>
          </a:prstGeom>
          <a:solidFill>
            <a:srgbClr val="8E6F3E"/>
          </a:solidFill>
          <a:ln>
            <a:noFill/>
          </a:ln>
        </p:spPr>
        <p:txBody>
          <a:bodyPr wrap="square" lIns="91440" tIns="45720" rIns="91440" bIns="45720" anchor="ctr"/>
          <a:lstStyle/>
          <a:p>
            <a:pPr algn="ctr">
              <a:buNone/>
            </a:pPr>
            <a:r>
              <a:rPr lang="en-US" sz="1800" b="1" i="0" dirty="0">
                <a:solidFill>
                  <a:srgbClr val="FFFFFF"/>
                </a:solidFill>
              </a:rPr>
              <a:t>DESIGN</a:t>
            </a:r>
          </a:p>
          <a:p>
            <a:pPr algn="ctr">
              <a:spcBef>
                <a:spcPts val="60"/>
              </a:spcBef>
              <a:buNone/>
            </a:pPr>
            <a:r>
              <a:rPr lang="en-US" sz="1450" b="0" i="1" dirty="0">
                <a:solidFill>
                  <a:srgbClr val="FFFFFF"/>
                </a:solidFill>
              </a:rPr>
              <a:t>smaller parts + mechanisms</a:t>
            </a:r>
          </a:p>
        </p:txBody>
      </p:sp>
      <p:cxnSp>
        <p:nvCxnSpPr>
          <p:cNvPr id="105" name="L105"/>
          <p:cNvCxnSpPr/>
          <p:nvPr/>
        </p:nvCxnSpPr>
        <p:spPr>
          <a:xfrm>
            <a:off x="4572000" y="4150000"/>
            <a:ext cx="0" cy="500000"/>
          </a:xfrm>
          <a:prstGeom prst="straightConnector1">
            <a:avLst/>
          </a:prstGeom>
          <a:ln w="38100">
            <a:solidFill>
              <a:srgbClr val="8E6F3E"/>
            </a:solidFill>
            <a:tailEnd type="triangle" w="med" len="med"/>
          </a:ln>
        </p:spPr>
      </p:cxnSp>
      <p:sp>
        <p:nvSpPr>
          <p:cNvPr id="106" name="S106"/>
          <p:cNvSpPr/>
          <p:nvPr/>
        </p:nvSpPr>
        <p:spPr>
          <a:xfrm>
            <a:off x="2422000" y="4650000"/>
            <a:ext cx="4300000" cy="700000"/>
          </a:xfrm>
          <a:prstGeom prst="rect">
            <a:avLst/>
          </a:prstGeom>
          <a:solidFill>
            <a:srgbClr val="8E6F3E"/>
          </a:solidFill>
          <a:ln>
            <a:noFill/>
          </a:ln>
        </p:spPr>
        <p:txBody>
          <a:bodyPr wrap="square" lIns="91440" tIns="45720" rIns="91440" bIns="45720" anchor="ctr"/>
          <a:lstStyle/>
          <a:p>
            <a:pPr algn="ctr">
              <a:buNone/>
            </a:pPr>
            <a:r>
              <a:rPr lang="en-US" sz="1800" b="1" i="0" dirty="0">
                <a:solidFill>
                  <a:srgbClr val="FFFFFF"/>
                </a:solidFill>
              </a:rPr>
              <a:t>IMPLEMENTATION</a:t>
            </a:r>
          </a:p>
          <a:p>
            <a:pPr algn="ctr">
              <a:spcBef>
                <a:spcPts val="60"/>
              </a:spcBef>
              <a:buNone/>
            </a:pPr>
            <a:r>
              <a:rPr lang="en-US" sz="1450" b="0" i="1" dirty="0">
                <a:solidFill>
                  <a:srgbClr val="FFFFFF"/>
                </a:solidFill>
              </a:rPr>
              <a:t>directly-reasonable entities</a:t>
            </a:r>
          </a:p>
        </p:txBody>
      </p:sp>
      <p:cxnSp>
        <p:nvCxnSpPr>
          <p:cNvPr id="107" name="ConstraintsArrow"/>
          <p:cNvCxnSpPr/>
          <p:nvPr/>
        </p:nvCxnSpPr>
        <p:spPr>
          <a:xfrm>
            <a:off x="1900000" y="1050000"/>
            <a:ext cx="0" cy="4300000"/>
          </a:xfrm>
          <a:prstGeom prst="straightConnector1">
            <a:avLst/>
          </a:prstGeom>
          <a:ln w="25400">
            <a:solidFill>
              <a:srgbClr val="8E6F3E"/>
            </a:solidFill>
            <a:tailEnd type="triangle" w="med" len="med"/>
          </a:ln>
        </p:spPr>
      </p:cxnSp>
      <p:sp>
        <p:nvSpPr>
          <p:cNvPr id="108" name="ConstraintsLbl"/>
          <p:cNvSpPr txBox="1"/>
          <p:nvPr/>
        </p:nvSpPr>
        <p:spPr>
          <a:xfrm>
            <a:off x="350000" y="2950000"/>
            <a:ext cx="1450000" cy="350000"/>
          </a:xfrm>
          <a:prstGeom prst="rect">
            <a:avLst/>
          </a:prstGeom>
          <a:noFill/>
          <a:ln>
            <a:noFill/>
          </a:ln>
        </p:spPr>
        <p:txBody>
          <a:bodyPr wrap="square" lIns="0" tIns="0" rIns="0" bIns="0" anchor="t"/>
          <a:lstStyle/>
          <a:p>
            <a:pPr algn="r">
              <a:buNone/>
            </a:pPr>
            <a:r>
              <a:rPr lang="en-US" sz="1450" b="1" i="1" dirty="0">
                <a:solidFill>
                  <a:srgbClr val="8E6F3E"/>
                </a:solidFill>
              </a:rPr>
              <a:t>constraints ↓</a:t>
            </a:r>
          </a:p>
        </p:txBody>
      </p:sp>
      <p:cxnSp>
        <p:nvCxnSpPr>
          <p:cNvPr id="109" name="EvidenceArrow"/>
          <p:cNvCxnSpPr/>
          <p:nvPr/>
        </p:nvCxnSpPr>
        <p:spPr>
          <a:xfrm flipV="1">
            <a:off x="7244000" y="1050000"/>
            <a:ext cx="0" cy="4300000"/>
          </a:xfrm>
          <a:prstGeom prst="straightConnector1">
            <a:avLst/>
          </a:prstGeom>
          <a:ln w="25400">
            <a:solidFill>
              <a:srgbClr val="8E6F3E"/>
            </a:solidFill>
            <a:tailEnd type="triangle" w="med" len="med"/>
          </a:ln>
        </p:spPr>
      </p:cxnSp>
      <p:sp>
        <p:nvSpPr>
          <p:cNvPr id="110" name="EvidenceLbl"/>
          <p:cNvSpPr txBox="1"/>
          <p:nvPr/>
        </p:nvSpPr>
        <p:spPr>
          <a:xfrm>
            <a:off x="7360000" y="2600000"/>
            <a:ext cx="1500000" cy="350000"/>
          </a:xfrm>
          <a:prstGeom prst="rect">
            <a:avLst/>
          </a:prstGeom>
          <a:noFill/>
          <a:ln>
            <a:noFill/>
          </a:ln>
        </p:spPr>
        <p:txBody>
          <a:bodyPr wrap="square" lIns="0" tIns="0" rIns="0" bIns="0" anchor="t"/>
          <a:lstStyle/>
          <a:p>
            <a:pPr algn="l">
              <a:buNone/>
            </a:pPr>
            <a:r>
              <a:rPr lang="en-US" sz="1450" b="1" i="1" dirty="0">
                <a:solidFill>
                  <a:srgbClr val="8E6F3E"/>
                </a:solidFill>
              </a:rPr>
              <a:t>evidence ↑</a:t>
            </a:r>
          </a:p>
        </p:txBody>
      </p:sp>
      <p:sp>
        <p:nvSpPr>
          <p:cNvPr id="111" name="SideAnnotation"/>
          <p:cNvSpPr txBox="1"/>
          <p:nvPr/>
        </p:nvSpPr>
        <p:spPr>
          <a:xfrm>
            <a:off x="7360000" y="3050000"/>
            <a:ext cx="1550000" cy="1500000"/>
          </a:xfrm>
          <a:prstGeom prst="rect">
            <a:avLst/>
          </a:prstGeom>
          <a:noFill/>
          <a:ln>
            <a:noFill/>
          </a:ln>
        </p:spPr>
        <p:txBody>
          <a:bodyPr wrap="square" lIns="0" tIns="0" rIns="0" bIns="0" anchor="t"/>
          <a:lstStyle/>
          <a:p>
            <a:pPr algn="l">
              <a:buNone/>
            </a:pPr>
            <a:r>
              <a:rPr lang="en-US" sz="1150" b="0" i="1" dirty="0">
                <a:solidFill>
                  <a:srgbClr val="555960"/>
                </a:solidFill>
              </a:rPr>
              <a:t>evidence may revise Design, Architecture, the Engineering Environment, or Specification</a:t>
            </a:r>
          </a:p>
        </p:txBody>
      </p:sp>
    </p:spTree>
  </p:cSld>
  <p:clrMapOvr>
    <a:masterClrMapping/>
  </p:clrMapOvr>
</p:sld>
</file>

<file path=ppt/theme/theme1.xml><?xml version="1.0" encoding="utf-8"?>
<a:theme xmlns:a="http://schemas.openxmlformats.org/drawingml/2006/main" name="Purdue1">
  <a:themeElements>
    <a:clrScheme name="PurdueColors">
      <a:dk1>
        <a:srgbClr val="000000"/>
      </a:dk1>
      <a:lt1>
        <a:srgbClr val="000000"/>
      </a:lt1>
      <a:dk2>
        <a:srgbClr val="C4BFC0"/>
      </a:dk2>
      <a:lt2>
        <a:srgbClr val="C9B991"/>
      </a:lt2>
      <a:accent1>
        <a:srgbClr val="8E6F3E"/>
      </a:accent1>
      <a:accent2>
        <a:srgbClr val="555960"/>
      </a:accent2>
      <a:accent3>
        <a:srgbClr val="C9B991"/>
      </a:accent3>
      <a:accent4>
        <a:srgbClr val="FFFFFF"/>
      </a:accent4>
      <a:accent5>
        <a:srgbClr val="000000"/>
      </a:accent5>
      <a:accent6>
        <a:srgbClr val="555960"/>
      </a:accent6>
      <a:hlink>
        <a:srgbClr val="000000"/>
      </a:hlink>
      <a:folHlink>
        <a:srgbClr val="55596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U-CoBrand_Template_Gold_Theme_Std_Screen_2.pptx" id="{33130098-72E9-B14B-8D33-14895F32E203}" vid="{24A02D5D-460C-B047-B557-67731F776B7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02577843-0252-164E-9900-50E04AC84376}">
  <we:reference id="wa104381063" version="1.0.0.1" store="en-001" storeType="OMEX"/>
  <we:alternateReferences>
    <we:reference id="wa104381063" version="1.0.0.1" store="wa104381063"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B2F6451B-05D5-964F-AC61-763C973265E8}">
  <we:reference id="WA200010001" version="1.0.0.1" store="Omex" storeType="OMEX"/>
  <we:alternateReferences>
    <we:reference id="WA200010001" version="1.0.0.1" store="WA200010001" storeType="OMEX"/>
  </we:alternateReferences>
  <we:properties>
    <we:property name="claude.fileId" value="&quot;1299b91e-8e0b-4b63-ab37-4fd482b3179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PU-CoBrand_Template_Gold_Theme_Std_Screen_2</Template>
  <TotalTime>8555</TotalTime>
  <Words>5357</Words>
  <Application>Microsoft Macintosh PowerPoint</Application>
  <PresentationFormat>On-screen Show (4:3)</PresentationFormat>
  <Paragraphs>830</Paragraphs>
  <Slides>36</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Times</vt:lpstr>
      <vt:lpstr>Purdue1</vt:lpstr>
      <vt:lpstr>PowerPoint Presentation</vt:lpstr>
      <vt:lpstr>Architecture handed us parts</vt:lpstr>
      <vt:lpstr>What remains inside the box?</vt:lpstr>
      <vt:lpstr>What does Design inherit?</vt:lpstr>
      <vt:lpstr>Opening the box preserves its obligations</vt:lpstr>
      <vt:lpstr>Design begins with decisions already made</vt:lpstr>
      <vt:lpstr>What remains is a set of degrees of freedom</vt:lpstr>
      <vt:lpstr>Not every open choice is ours to make</vt:lpstr>
      <vt:lpstr>Architecture and Design recur as freedom narrows</vt:lpstr>
      <vt:lpstr>Where does Design end?</vt:lpstr>
      <vt:lpstr>How do we choose mechanisms?</vt:lpstr>
      <vt:lpstr>One responsibility can admit several mechanisms</vt:lpstr>
      <vt:lpstr>Mechanisms have measurable consequences</vt:lpstr>
      <vt:lpstr>Evidence distinguishes the alternatives</vt:lpstr>
      <vt:lpstr>Example: Who owns the truth?</vt:lpstr>
      <vt:lpstr>Example: What consistency must copies provide?</vt:lpstr>
      <vt:lpstr>Example: Must this work happen now?</vt:lpstr>
      <vt:lpstr>Example: How directly should parts depend?</vt:lpstr>
      <vt:lpstr>Example: Which decisions should be hidden?</vt:lpstr>
      <vt:lpstr>Metrics connect Design to the decisions above it</vt:lpstr>
      <vt:lpstr>The mechanism is not the decision</vt:lpstr>
      <vt:lpstr>Can a system of correct components still fail to satisfy its specification?</vt:lpstr>
      <vt:lpstr>Local choices must compose</vt:lpstr>
      <vt:lpstr>What must compose?</vt:lpstr>
      <vt:lpstr>The required mechanism may not fit</vt:lpstr>
      <vt:lpstr>A local workaround can make the architecture false</vt:lpstr>
      <vt:lpstr>Move discoveries to the scope that owns them</vt:lpstr>
      <vt:lpstr>What changes when implementation gets cheap?</vt:lpstr>
      <vt:lpstr>Sometimes the cheapest model is the implementation</vt:lpstr>
      <vt:lpstr>🧙  MAGE Moment: What does the firehose of change enable?</vt:lpstr>
      <vt:lpstr>Design the Advice Service</vt:lpstr>
      <vt:lpstr>What decisions remain?</vt:lpstr>
      <vt:lpstr>Compare two mechanisms</vt:lpstr>
      <vt:lpstr>Defend the decision</vt:lpstr>
      <vt:lpstr>What did Design teach us?</vt:lpstr>
      <vt:lpstr>Constraints flow down. Evidence flows up</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Bowers, Anna K</dc:creator>
  <cp:keywords/>
  <dc:description/>
  <cp:lastModifiedBy>James C Davis</cp:lastModifiedBy>
  <cp:revision>395</cp:revision>
  <dcterms:created xsi:type="dcterms:W3CDTF">2020-02-21T23:00:33Z</dcterms:created>
  <dcterms:modified xsi:type="dcterms:W3CDTF">2026-09-18T14:53:55Z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044bd30-2ed7-4c9d-9d12-46200872a97b_Enabled">
    <vt:lpwstr>true</vt:lpwstr>
  </property>
  <property fmtid="{D5CDD505-2E9C-101B-9397-08002B2CF9AE}" pid="3" name="MSIP_Label_4044bd30-2ed7-4c9d-9d12-46200872a97b_SetDate">
    <vt:lpwstr>2024-09-05T02:27:24Z</vt:lpwstr>
  </property>
  <property fmtid="{D5CDD505-2E9C-101B-9397-08002B2CF9AE}" pid="4" name="MSIP_Label_4044bd30-2ed7-4c9d-9d12-46200872a97b_Method">
    <vt:lpwstr>Standard</vt:lpwstr>
  </property>
  <property fmtid="{D5CDD505-2E9C-101B-9397-08002B2CF9AE}" pid="5" name="MSIP_Label_4044bd30-2ed7-4c9d-9d12-46200872a97b_Name">
    <vt:lpwstr>defa4170-0d19-0005-0004-bc88714345d2</vt:lpwstr>
  </property>
  <property fmtid="{D5CDD505-2E9C-101B-9397-08002B2CF9AE}" pid="6" name="MSIP_Label_4044bd30-2ed7-4c9d-9d12-46200872a97b_SiteId">
    <vt:lpwstr>4130bd39-7c53-419c-b1e5-8758d6d63f21</vt:lpwstr>
  </property>
  <property fmtid="{D5CDD505-2E9C-101B-9397-08002B2CF9AE}" pid="7" name="MSIP_Label_4044bd30-2ed7-4c9d-9d12-46200872a97b_ActionId">
    <vt:lpwstr>e1ff3097-c009-4f67-8781-6e468e7749d4</vt:lpwstr>
  </property>
  <property fmtid="{D5CDD505-2E9C-101B-9397-08002B2CF9AE}" pid="8" name="MSIP_Label_4044bd30-2ed7-4c9d-9d12-46200872a97b_ContentBits">
    <vt:lpwstr>0</vt:lpwstr>
  </property>
</Properties>
</file>