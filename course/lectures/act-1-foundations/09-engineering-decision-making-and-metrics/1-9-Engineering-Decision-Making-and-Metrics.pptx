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1"/>
  </p:notesMasterIdLst>
  <p:sldIdLst>
    <p:sldId id="701" r:id="rId2"/>
    <p:sldId id="702" r:id="rId3"/>
    <p:sldId id="703" r:id="rId4"/>
    <p:sldId id="704" r:id="rId5"/>
    <p:sldId id="706" r:id="rId6"/>
    <p:sldId id="707" r:id="rId7"/>
    <p:sldId id="708" r:id="rId8"/>
    <p:sldId id="709" r:id="rId9"/>
    <p:sldId id="710" r:id="rId10"/>
    <p:sldId id="711" r:id="rId11"/>
    <p:sldId id="712" r:id="rId12"/>
    <p:sldId id="713" r:id="rId13"/>
    <p:sldId id="714" r:id="rId14"/>
    <p:sldId id="715" r:id="rId15"/>
    <p:sldId id="716" r:id="rId16"/>
    <p:sldId id="717" r:id="rId17"/>
    <p:sldId id="718" r:id="rId18"/>
    <p:sldId id="719" r:id="rId19"/>
    <p:sldId id="720" r:id="rId20"/>
    <p:sldId id="721" r:id="rId21"/>
    <p:sldId id="722" r:id="rId22"/>
    <p:sldId id="723" r:id="rId23"/>
    <p:sldId id="724" r:id="rId24"/>
    <p:sldId id="725" r:id="rId25"/>
    <p:sldId id="726" r:id="rId26"/>
    <p:sldId id="727" r:id="rId27"/>
    <p:sldId id="728" r:id="rId28"/>
    <p:sldId id="729" r:id="rId29"/>
    <p:sldId id="730"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notesMaster" Target="notesMasters/notesMaster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tableStyles" Target="tableStyles.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0.5 minutes — </a:t>
            </a:r>
            <a:r>
              <a:rPr i="1" dirty="0"/>
              <a:t>Open the Act I closer: every unit ended in a decision; today the shared reasoning becomes explicit.</a:t>
            </a:r>
          </a:p>
          <a:p>
            <a:endParaRPr dirty="0"/>
          </a:p>
          <a:p>
            <a:r>
              <a:rPr dirty="0"/>
              <a:t>- The chain on screen is the lecture's centre of gravity; do not explain it yet.</a:t>
            </a:r>
          </a:p>
          <a:p>
            <a:r>
              <a:rPr dirty="0"/>
              <a:t>- Frame: this is a synthesis of Requirements through Validation, plus a usable theory of metrics.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Establish that engineering activity repeatedly terminates in a decision. This slide now also carries old slide 5's work.</a:t>
            </a:r>
          </a:p>
          <a:p>
            <a:endParaRPr dirty="0"/>
          </a:p>
          <a:p>
            <a:r>
              <a:rPr dirty="0"/>
              <a:t>We have treated these as different engineering activities because they concern different objects. Requirements decides whether to make a commitment. Specification decides where responsibility belongs and which distinctions must be constrained. Architecture decides how responsibilities and interactions should be organized. Design chooses mechanisms. Validation decides whether the available evidence justifies delivery.</a:t>
            </a:r>
          </a:p>
          <a:p>
            <a:endParaRPr dirty="0"/>
          </a:p>
          <a:p>
            <a:r>
              <a:rPr dirty="0"/>
              <a:t>But notice the repeated structure. Each activity eventually reaches a consequential choice. At that point the engineer has to ask the same question: given what we know, what should we do?</a:t>
            </a:r>
          </a:p>
          <a:p>
            <a:endParaRPr dirty="0"/>
          </a:p>
          <a:p>
            <a:r>
              <a:rPr dirty="0"/>
              <a:t>Today we step outside the individual activities and study that reasoning itself. What do we need to know? What evidence would actually help? When does measurement provide that evidence? And how should what we learn affect the decision?</a:t>
            </a:r>
          </a:p>
          <a:p>
            <a:endParaRPr dirty="0"/>
          </a:p>
          <a:p>
            <a:r>
              <a:rPr dirty="0"/>
              <a:t>- Do not explain the five examples yet; students met each decision in its own unit.</a:t>
            </a:r>
          </a:p>
          <a:p>
            <a:r>
              <a:rPr dirty="0"/>
              <a:t>- The next slide then explains why this recurring decision problem is hard.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a:t>
            </a:r>
            <a:r>
              <a:rPr i="1" dirty="0"/>
              <a:t>Land the temporal problem: the action precedes its consequences.</a:t>
            </a:r>
          </a:p>
          <a:p>
            <a:endParaRPr dirty="0"/>
          </a:p>
          <a:p>
            <a:r>
              <a:rPr dirty="0"/>
              <a:t>- The dashed outcome box is the point: it does not exist yet when we act.</a:t>
            </a:r>
          </a:p>
          <a:p>
            <a:r>
              <a:rPr dirty="0"/>
              <a:t>- Engineering cannot eliminate this uncertainty; it can reduce how often we are wrong and improve the basis on which we act.</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Separate decision quality from outcome quality; this is all the decision theory the lecture needs.</a:t>
            </a:r>
          </a:p>
          <a:p>
            <a:endParaRPr dirty="0"/>
          </a:p>
          <a:p>
            <a:r>
              <a:rPr dirty="0"/>
              <a:t>- Run the TPS briefly; the answer is No, and the converse (luck) matters equally.</a:t>
            </a:r>
          </a:p>
          <a:p>
            <a:r>
              <a:rPr dirty="0"/>
              <a:t>- Build: the scenario and the TPS question are on screen from the start; nothing else. Run the TPS first. One click then reveals the definition, the answer, and the footer.</a:t>
            </a:r>
          </a:p>
          <a:p>
            <a:r>
              <a:rPr dirty="0"/>
              <a:t>- Do NOT expand into probability, utility, or expected value. Slide 4 carries the entire decision-quality burden of the lecture.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1.</a:t>
            </a:r>
          </a:p>
          <a:p>
            <a:endParaRPr dirty="0"/>
          </a:p>
          <a:p>
            <a:r>
              <a:rPr dirty="0"/>
              <a:t>- 15-20 seconds only.</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Three callbacks, one takeaway: models let us reason before consequences can be observed.</a:t>
            </a:r>
          </a:p>
          <a:p>
            <a:endParaRPr dirty="0"/>
          </a:p>
          <a:p>
            <a:r>
              <a:rPr dirty="0"/>
              <a:t>- Pure callback material — Specification, Architecture, Design each built exactly these models. Do not re-teach them.</a:t>
            </a:r>
          </a:p>
          <a:p>
            <a:r>
              <a:rPr dirty="0"/>
              <a:t>- Guard the claim: the model identifies what matters; it does not decide.</a:t>
            </a:r>
          </a:p>
          <a:p>
            <a:r>
              <a:rPr dirty="0"/>
              <a:t>- Compress here if time pressure demands — never in the metrics centre (12-18, 20-24).</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Construct the organizing chain live, one element per click: decision, model, consequential property, evidence, judgment, action.</a:t>
            </a:r>
          </a:p>
          <a:p>
            <a:endParaRPr dirty="0"/>
          </a:p>
          <a:p>
            <a:r>
              <a:rPr dirty="0"/>
              <a:t>- Each click adds one element and its gloss; give each element one sentence, in the words on screen.</a:t>
            </a:r>
          </a:p>
          <a:p>
            <a:r>
              <a:rPr dirty="0"/>
              <a:t>- DECISION: what are we choosing? MODEL: what relationships do we believe matter? CONSEQUENTIAL PROPERTY: what differs among alternatives in a way that matters? EVIDENCE: what do we know about that property? JUDGMENT: is that evidence sufficient given uncertainty and consequence? ACTION comes last — it follows from judgment, not from the evidence alone.</a:t>
            </a:r>
          </a:p>
          <a:p>
            <a:r>
              <a:rPr dirty="0"/>
              <a:t>- This should feel like the instructor constructing a model, not revealing a finished flowchart.</a:t>
            </a:r>
          </a:p>
          <a:p>
            <a:r>
              <a:rPr dirty="0"/>
              <a:t>- This is the organizing model for the rest of the lecture; the closing slides return to it.</a:t>
            </a:r>
          </a:p>
          <a:p>
            <a:r>
              <a:rPr dirty="0"/>
              <a:t>- The next section is a deliberate zoom-in: we open up one part of this chain — how measurement can become evidence.</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 minute — Evidence is broader than measurement; the fan classifies forms of evidence, it does not sequence them.</a:t>
            </a:r>
          </a:p>
          <a:p>
            <a:endParaRPr dirty="0"/>
          </a:p>
          <a:p>
            <a:r>
              <a:rPr dirty="0"/>
              <a:t>- Evidence is broader than measurement. Review, analysis, prototypes, tests, experiments, operational observation, and measurements can all bear on an engineering decision. We are about to concentrate on measurement because metrics require their own reasoning machinery. Do not mistake that focus for a claim that engineering evidence must be numerical.</a:t>
            </a:r>
          </a:p>
          <a:p>
            <a:r>
              <a:rPr dirty="0"/>
              <a:t>- A prototype can demonstrate feasibility; a counterexample can invalidate an assumption; a review can catch the wrong requirement.</a:t>
            </a:r>
          </a:p>
          <a:p>
            <a:r>
              <a:rPr dirty="0"/>
              <a:t>- The purpose of evidence is to reduce uncertainty that matters to a decision.</a:t>
            </a:r>
          </a:p>
          <a:p>
            <a:r>
              <a:rPr dirty="0"/>
              <a:t>- Transition on the highlighted box: measurement is the quantitative path — the </a:t>
            </a:r>
            <a:r>
              <a:rPr dirty="0" err="1"/>
              <a:t>centre</a:t>
            </a:r>
            <a:r>
              <a:rPr dirty="0"/>
              <a:t> of this lecture.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Evidence gets selected because it distinguishes the alternatives.</a:t>
            </a:r>
          </a:p>
          <a:p>
            <a:endParaRPr dirty="0"/>
          </a:p>
          <a:p>
            <a:r>
              <a:rPr dirty="0"/>
              <a:t>- Don't begin with 'what can I measure?' Begin with the uncertainty preventing the decision. If learning the answer wouldn't change what you choose, the measurement may have little decision value.</a:t>
            </a:r>
          </a:p>
          <a:p>
            <a:r>
              <a:rPr dirty="0"/>
              <a:t>- Walk the model: both strategies fit the memory budget (KNOWN); what separates them is whether the larger cache materially improves latency under the expected workload (UNCERTAIN).</a:t>
            </a:r>
          </a:p>
          <a:p>
            <a:r>
              <a:rPr dirty="0"/>
              <a:t>- Ask the room what evidence would actually change the choice; only then click to reveal: run both mechanisms under a representative workload and compare the latency distributions.</a:t>
            </a:r>
          </a:p>
          <a:p>
            <a:r>
              <a:rPr dirty="0"/>
              <a:t>- Design callback, and the handbook's buy-information framing: measurement is bought to remove the uncertainty that blocks the decision.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2. The centre of the lecture begins here.</a:t>
            </a:r>
          </a:p>
          <a:p>
            <a:endParaRPr dirty="0"/>
          </a:p>
          <a:p>
            <a:r>
              <a:rPr dirty="0"/>
              <a:t>- Do NOT title or gloss this as 'measurement is a model' — the metric holds the modeling choice.</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The canonical quantitative chain, unpacked carefully. Terminology must be exact.</a:t>
            </a:r>
          </a:p>
          <a:p>
            <a:endParaRPr dirty="0"/>
          </a:p>
          <a:p>
            <a:r>
              <a:rPr dirty="0"/>
              <a:t>- Property: what we care about. Metric: a model connecting the property to observations we can obtain. Measurement: an observation from applying the metric under conditions. Evidence: what that measurement supports about the property.</a:t>
            </a:r>
          </a:p>
          <a:p>
            <a:r>
              <a:rPr dirty="0"/>
              <a:t>- NEVER say 'measurement is a model.' The metric contains the modeling choice; the measurement supplies values.</a:t>
            </a:r>
          </a:p>
          <a:p>
            <a:r>
              <a:rPr dirty="0"/>
              <a:t>- Deliberate Validation callback — same boxes, same verbs as its evidence-strength slide.</a:t>
            </a:r>
          </a:p>
          <a:p>
            <a:r>
              <a:rPr dirty="0"/>
              <a:t>- (from slide) You met this chain in Validation. Today we unpack each link.</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Work one operationalization end to end; define the word once.</a:t>
            </a:r>
          </a:p>
          <a:p>
            <a:endParaRPr dirty="0"/>
          </a:p>
          <a:p>
            <a:r>
              <a:rPr dirty="0"/>
              <a:t>- Responsiveness is abstract; p99-under-workload-W is the chosen observable aspect; 420 </a:t>
            </a:r>
            <a:r>
              <a:rPr dirty="0" err="1"/>
              <a:t>ms</a:t>
            </a:r>
            <a:r>
              <a:rPr dirty="0"/>
              <a:t> is what applying it produced.</a:t>
            </a:r>
          </a:p>
          <a:p>
            <a:r>
              <a:rPr dirty="0"/>
              <a:t>- Dwell on the right-hand point: the metric is a representation, not the property. Other metrics would represent other aspects.</a:t>
            </a:r>
          </a:p>
          <a:p>
            <a:r>
              <a:rPr dirty="0"/>
              <a:t>- (from slide) The metric chooses which aspect of the property becomes observable.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Measurement in service of a model: it fills parameters and it tests predictions.</a:t>
            </a:r>
          </a:p>
          <a:p>
            <a:endParaRPr dirty="0"/>
          </a:p>
          <a:p>
            <a:r>
              <a:rPr dirty="0"/>
              <a:t>- This is Architecture's quantitative-model language — the latency budget students composed there.</a:t>
            </a:r>
          </a:p>
          <a:p>
            <a:r>
              <a:rPr dirty="0"/>
              <a:t>- Build: opens with the model and its estimates (BEFORE OBSERVATION). Click 1 — use 1: measurement PARAMETERIZES the model (the observed values and line 1). Click 2 — use 2: measurement TESTS the model’s prediction against reality (line 2 and the footer). Keep the two uses distinct; they are different operations.</a:t>
            </a:r>
          </a:p>
          <a:p>
            <a:r>
              <a:rPr dirty="0"/>
              <a:t>- The footer corrects any older phrasing: the metric embodies the modeling choice; the measurement supplies observations. Do not soften it.</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TPS: students generate the conditions that give 420 </a:t>
            </a:r>
            <a:r>
              <a:rPr dirty="0" err="1"/>
              <a:t>ms</a:t>
            </a:r>
            <a:r>
              <a:rPr dirty="0"/>
              <a:t> meaning.</a:t>
            </a:r>
          </a:p>
          <a:p>
            <a:endParaRPr dirty="0"/>
          </a:p>
          <a:p>
            <a:r>
              <a:rPr dirty="0"/>
              <a:t>- Let '420 </a:t>
            </a:r>
            <a:r>
              <a:rPr dirty="0" err="1"/>
              <a:t>ms'</a:t>
            </a:r>
            <a:r>
              <a:rPr dirty="0"/>
              <a:t> sit alone for a beat; run the think-pair-share on the prompt before revealing anything.</a:t>
            </a:r>
          </a:p>
          <a:p>
            <a:r>
              <a:rPr dirty="0"/>
              <a:t>- Animate the six questions up as the room produces them (percentile, measured where, workload, configuration, interval, request population) — do not read them out first.</a:t>
            </a:r>
          </a:p>
          <a:p>
            <a:r>
              <a:rPr dirty="0"/>
              <a:t>- The final click is the deliverable form: p99 = 420 </a:t>
            </a:r>
            <a:r>
              <a:rPr dirty="0" err="1"/>
              <a:t>ms</a:t>
            </a:r>
            <a:r>
              <a:rPr dirty="0"/>
              <a:t> · end-to-end · workload W · configuration C · interval T.</a:t>
            </a:r>
          </a:p>
          <a:p>
            <a:r>
              <a:rPr dirty="0"/>
              <a:t>- Then stop. The students should experience the move from '420 </a:t>
            </a:r>
            <a:r>
              <a:rPr dirty="0" err="1"/>
              <a:t>ms</a:t>
            </a:r>
            <a:r>
              <a:rPr dirty="0"/>
              <a:t> is a fact' to '420 </a:t>
            </a:r>
            <a:r>
              <a:rPr dirty="0" err="1"/>
              <a:t>ms</a:t>
            </a:r>
            <a:r>
              <a:rPr dirty="0"/>
              <a:t> is an observation parameterized by conditions.'</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The scope principle, deliberately drawn like Validation's composition slide.</a:t>
            </a:r>
          </a:p>
          <a:p>
            <a:endParaRPr dirty="0"/>
          </a:p>
          <a:p>
            <a:r>
              <a:rPr dirty="0"/>
              <a:t>- Each component meets its local check; the composed path still fails. Students saw this shape in Validation — say so.</a:t>
            </a:r>
          </a:p>
          <a:p>
            <a:r>
              <a:rPr dirty="0"/>
              <a:t>- Same reasoning as the latency-budget example: 90+80+140+110+100 components can compose past the budget.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2.5 minutes — </a:t>
            </a:r>
            <a:r>
              <a:rPr i="1" dirty="0"/>
              <a:t>Direct versus proxy measurement; the proxy's metric carries a bigger modeling burden.</a:t>
            </a:r>
          </a:p>
          <a:p>
            <a:endParaRPr dirty="0"/>
          </a:p>
          <a:p>
            <a:r>
              <a:rPr dirty="0"/>
              <a:t>- 'Relatively direct' is deliberate: no binary distinction exists in nature.</a:t>
            </a:r>
          </a:p>
          <a:p>
            <a:r>
              <a:rPr dirty="0"/>
              <a:t>- Usability needs several observables, none of which IS usability — the metric models how each bears on it.</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Every metric omits; the omission is the price of usability, not a scandal.</a:t>
            </a:r>
          </a:p>
          <a:p>
            <a:endParaRPr dirty="0"/>
          </a:p>
          <a:p>
            <a:r>
              <a:rPr dirty="0"/>
              <a:t>- Do not frame as anti-metrics. Reduction is why metrics are useful; it is also why interpretation is required.</a:t>
            </a:r>
          </a:p>
          <a:p>
            <a:r>
              <a:rPr dirty="0"/>
              <a:t>- The defect-count row previews context-dependence: what counts, and what gets found, are both choices.</a:t>
            </a:r>
          </a:p>
          <a:p>
            <a:r>
              <a:rPr dirty="0"/>
              <a:t>- (from slide) Know what the metric represents — and what it leaves unresolved.</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3.</a:t>
            </a:r>
          </a:p>
          <a:p>
            <a:endParaRPr dirty="0"/>
          </a:p>
          <a:p>
            <a:r>
              <a:rPr dirty="0"/>
              <a:t>- The failure modes ahead are failures of the relationship between observable and property — not arithmetic errors.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4 minutes — </a:t>
            </a:r>
            <a:r>
              <a:rPr i="1" dirty="0"/>
              <a:t>TPS on the enormous claim; let students generate the missing context.</a:t>
            </a:r>
          </a:p>
          <a:p>
            <a:endParaRPr dirty="0"/>
          </a:p>
          <a:p>
            <a:r>
              <a:rPr dirty="0"/>
              <a:t>- Expect: what does productivity mean? what metric? what conditions, population, period? compared with what? what changed? what was omitted?</a:t>
            </a:r>
          </a:p>
          <a:p>
            <a:r>
              <a:rPr dirty="0"/>
              <a:t>- Reveal the metric, then do NOT immediately call it bad — ask what inference is being made. The next slide does the real work.</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The deeper lesson than 'commit counts are dumb': the assumed relationship is the object of engineering scrutiny.</a:t>
            </a:r>
          </a:p>
          <a:p>
            <a:endParaRPr dirty="0"/>
          </a:p>
          <a:p>
            <a:r>
              <a:rPr dirty="0"/>
              <a:t>- Many important properties can only be reached through proxies; that is normal, not a failure.</a:t>
            </a:r>
          </a:p>
          <a:p>
            <a:r>
              <a:rPr dirty="0"/>
              <a:t>- Discuss what would make the relationship valid: uniform work items? stable practices? no incentive pressure?</a:t>
            </a:r>
          </a:p>
          <a:p>
            <a:r>
              <a:rPr dirty="0"/>
              <a:t>- Teamwork already warned about commits and tickets — use it as a callback, not a novel claim.</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3 minutes — </a:t>
            </a:r>
            <a:r>
              <a:rPr i="1" dirty="0"/>
              <a:t>Goodhart as relationship-destruction, not merely cheating.</a:t>
            </a:r>
          </a:p>
          <a:p>
            <a:endParaRPr dirty="0"/>
          </a:p>
          <a:p>
            <a:r>
              <a:rPr dirty="0"/>
              <a:t>- The interesting mechanism: optimizing the observable changes the practice that made the observable informative.</a:t>
            </a:r>
          </a:p>
          <a:p>
            <a:r>
              <a:rPr dirty="0"/>
              <a:t>- Connect to the surrogation reading: the metric is visible, the property is not, so attention migrates — nobody needs to act in bad faith.</a:t>
            </a:r>
          </a:p>
          <a:p>
            <a:r>
              <a:rPr dirty="0"/>
              <a:t>- In industry, you will hear this whole family of problems called Goodhart’s Law. That’s useful vernacular. Harris and Tayler give us another distinction worth having: surrogation can happen even before anyone deliberately games or optimizes the metric.</a:t>
            </a:r>
          </a:p>
          <a:p>
            <a:r>
              <a:rPr dirty="0"/>
              <a:t>- State the law once, briefly; do not build a slogan slide.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Context determines evidentiary weight; two quick examples, no new machinery.</a:t>
            </a:r>
          </a:p>
          <a:p>
            <a:endParaRPr/>
          </a:p>
          <a:p>
            <a:r>
              <a:t>- Requirements churn is the Process callback: high change rate can be productive learning or weak requirements work — the question is whether the process still fits the work.</a:t>
            </a:r>
          </a:p>
          <a:p>
            <a:r>
              <a:t>- Accelerating out of the hazards section; keep this brisk.</a:t>
            </a:r>
          </a:p>
          <a:p>
            <a:r>
              <a:t>- (from slide) The same metric can be strong evidence in one context and weak in another.</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The usable residue of the metrics centre: four questions, no framework.</a:t>
            </a:r>
          </a:p>
          <a:p>
            <a:endParaRPr dirty="0"/>
          </a:p>
          <a:p>
            <a:r>
              <a:rPr dirty="0"/>
              <a:t>- Resist expansion; the value of this list is that students will actually remember it.</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0.3 minutes — </a:t>
            </a:r>
            <a:r>
              <a:rPr i="1" dirty="0"/>
              <a:t>Name Section 4. Accelerate: Validation taught much of the judgment material.</a:t>
            </a:r>
          </a:p>
          <a:p>
            <a:endParaRPr dirty="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2.5 minutes — Extend the chain to judgment and action, then teach the Act I generalization fresh — do NOT present it as recall; the lectures did not make the per-unit measurement sections prominent.</a:t>
            </a:r>
          </a:p>
          <a:p>
            <a:endParaRPr/>
          </a:p>
          <a:p>
            <a:r>
              <a:t>- Build: table first — header and first three rows, then the remaining rows, then the closing claim line. Students should recognise that every previous unit created a claim BEFORE the chain appears. Only then the chain — the same structure spans all of them — and finally “A number does not decide what to do.”</a:t>
            </a:r>
          </a:p>
          <a:p>
            <a:r>
              <a:t>- The metric and its conditions give the number evidentiary meaning; engineering judgment connects that evidence to action.</a:t>
            </a:r>
          </a:p>
          <a:p>
            <a:r>
              <a:t>- Here's why this matters beyond metrics. Every engineering activity we've studied makes claims about reality. Once we act, reality starts producing evidence about those claims. Process assumes something about how the work behaves. Specification makes assumptions about the environment. Architecture predicts properties of composition. Design predicts consequences of mechanisms. We can observe those things.</a:t>
            </a:r>
          </a:p>
          <a:p>
            <a:r>
              <a:t>- This sets up the closing loop slide: outcomes produce new evidence that can update the models.</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2 minutes — Same evidence, different rational actions; a Validation callback, not a re-teach.</a:t>
            </a:r>
          </a:p>
          <a:p>
            <a:endParaRPr/>
          </a:p>
          <a:p>
            <a:r>
              <a:t>- Two engineers with the same 420-ms measurement can rationally decide differently — consequence, uncertainty, and reversibility differ.</a:t>
            </a:r>
          </a:p>
          <a:p>
            <a:r>
              <a:t>- Compress here under time pressure, never the metrics centre.</a:t>
            </a:r>
          </a:p>
          <a:p>
            <a:r>
              <a:t>- (from slide) Validation asked when evidence is enough; this is that judgment, generalized.</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1.5 minutes — Return to slide 2's question with the machinery now in hand.</a:t>
            </a:r>
          </a:p>
          <a:p>
            <a:endParaRPr/>
          </a:p>
          <a:p>
            <a:r>
              <a:t>- The visual echo of slide 2 is deliberate; students should feel the loop close.</a:t>
            </a:r>
          </a:p>
          <a:p>
            <a:r>
              <a:t>- Do not present the six actions as exhaustive or as always-available peers.</a:t>
            </a:r>
          </a:p>
          <a:p>
            <a:r>
              <a:t>- (from slide) This is the question from the second slide, now with a theory of evidence behind it; the middle of the lecture existed to support it.</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 minutes — </a:t>
            </a:r>
            <a:r>
              <a:rPr i="1" dirty="0"/>
              <a:t>The two questions joined into the recurring loop; the loop is the main visual.</a:t>
            </a:r>
          </a:p>
          <a:p>
            <a:endParaRPr dirty="0"/>
          </a:p>
          <a:p>
            <a:r>
              <a:rPr dirty="0"/>
              <a:t>- The AFTER question is how experience improves the models and judgment behind future decisions.</a:t>
            </a:r>
          </a:p>
          <a:p>
            <a:r>
              <a:rPr dirty="0"/>
              <a:t>- The italic line quietly foreshadows Failure-Aware Engineering (reality arrives uninvited; which model should change?). Do NOT teach that lecture here.</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a:t>
            </a:r>
            <a:r>
              <a:rPr i="1" dirty="0"/>
              <a:t>Close on the Day 1 definition and the course argument in one chain. End there.</a:t>
            </a:r>
          </a:p>
          <a:p>
            <a:endParaRPr dirty="0"/>
          </a:p>
          <a:p>
            <a:r>
              <a:rPr dirty="0"/>
              <a:t>- The definition is verbatim from Day 1 — do not paraphrase it.</a:t>
            </a:r>
          </a:p>
          <a:p>
            <a:r>
              <a:rPr dirty="0"/>
              <a:t>- MODEL, OBSERVE, JUDGE, ACT, LEARN. Do not add another aphorism after the chain; let it end the act.</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4.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p:cNvSpPr>
            <a:spLocks noGrp="1"/>
          </p:cNvSpPr>
          <p:nvPr>
            <p:ph type="ctrTitle"/>
          </p:nvPr>
        </p:nvSpPr>
        <p:spPr>
          <a:xfrm>
            <a:off x="439339" y="565150"/>
            <a:ext cx="8265319" cy="700000"/>
          </a:xfrm>
        </p:spPr>
        <p:txBody>
          <a:bodyPr>
            <a:normAutofit/>
          </a:bodyPr>
          <a:lstStyle/>
          <a:p>
            <a:pPr>
              <a:defRPr b="0"/>
            </a:pPr>
            <a:r>
              <a:rPr lang="en-US" sz="2000" b="0" i="1" dirty="0"/>
              <a:t>ECE 30861/46100: Software Engineering</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371600"/>
            <a:ext cx="8695944" cy="2148840"/>
          </a:xfrm>
          <a:prstGeom prst="rect">
            <a:avLst/>
          </a:prstGeom>
          <a:noFill/>
          <a:ln>
            <a:noFill/>
          </a:ln>
        </p:spPr>
        <p:txBody>
          <a:bodyPr wrap="square" lIns="0" tIns="0" rIns="0" bIns="0" anchor="t"/>
          <a:lstStyle/>
          <a:p>
            <a:pPr algn="ctr"/>
            <a:r>
              <a:rPr sz="4000" b="0" i="0">
                <a:solidFill>
                  <a:srgbClr val="000000"/>
                </a:solidFill>
              </a:rPr>
              <a:t>Engineering Decision-Making and Metrics</a:t>
            </a:r>
          </a:p>
          <a:p>
            <a:pPr algn="ctr"/>
            <a:r>
              <a:rPr sz="2300" b="0" i="1">
                <a:solidFill>
                  <a:srgbClr val="8E6F3E"/>
                </a:solidFill>
              </a:rPr>
              <a:t>Given incomplete knowledge, what should we observe —</a:t>
            </a:r>
          </a:p>
          <a:p>
            <a:pPr algn="ctr"/>
            <a:r>
              <a:rPr sz="2300" b="0" i="1">
                <a:solidFill>
                  <a:srgbClr val="8E6F3E"/>
                </a:solidFill>
              </a:rPr>
              <a:t>and what should we do with what we learn?</a:t>
            </a:r>
          </a:p>
          <a:p>
            <a:pPr algn="ctr"/>
            <a:r>
              <a:rPr sz="2000" b="0" i="1">
                <a:solidFill>
                  <a:srgbClr val="000000"/>
                </a:solidFill>
              </a:rPr>
              <a:t>Prof. James C. Davis</a:t>
            </a:r>
          </a:p>
          <a:p>
            <a:pPr algn="ctr"/>
            <a:r>
              <a:rPr sz="2000" b="0" i="1">
                <a:solidFill>
                  <a:srgbClr val="000000"/>
                </a:solidFill>
              </a:rPr>
              <a:t>Prof. Steve France</a:t>
            </a:r>
          </a:p>
        </p:txBody>
      </p:sp>
      <p:sp>
        <p:nvSpPr>
          <p:cNvPr id="101" name="Label"/>
          <p:cNvSpPr txBox="1"/>
          <p:nvPr/>
        </p:nvSpPr>
        <p:spPr>
          <a:xfrm>
            <a:off x="224028" y="3639312"/>
            <a:ext cx="8695944" cy="301752"/>
          </a:xfrm>
          <a:prstGeom prst="rect">
            <a:avLst/>
          </a:prstGeom>
          <a:noFill/>
          <a:ln>
            <a:noFill/>
          </a:ln>
        </p:spPr>
        <p:txBody>
          <a:bodyPr wrap="square" lIns="0" tIns="0" rIns="0" bIns="0" anchor="t"/>
          <a:lstStyle/>
          <a:p>
            <a:pPr algn="ctr">
              <a:buNone/>
            </a:pPr>
            <a:r>
              <a:rPr lang="en-US" sz="2000" b="1" i="0" dirty="0">
                <a:solidFill>
                  <a:srgbClr val="8E6F3E"/>
                </a:solidFill>
              </a:rPr>
              <a:t>THE CHAIN THIS LECTURE MAKES EXPLICIT</a:t>
            </a:r>
          </a:p>
        </p:txBody>
      </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Every unit of Act I ended in a decision.</a:t>
            </a:r>
          </a:p>
          <a:p>
            <a:pPr algn="ctr">
              <a:spcBef>
                <a:spcPts val="140"/>
              </a:spcBef>
              <a:buNone/>
            </a:pPr>
            <a:r>
              <a:rPr lang="en-US" sz="2000" b="0" i="0" dirty="0">
                <a:solidFill>
                  <a:srgbClr val="555960"/>
                </a:solidFill>
              </a:rPr>
              <a:t>Today: how observations become evidence for engineering decisions.</a:t>
            </a:r>
          </a:p>
        </p:txBody>
      </p:sp>
      <p:sp>
        <p:nvSpPr>
          <p:cNvPr id="110" name="T0"/>
          <p:cNvSpPr/>
          <p:nvPr/>
        </p:nvSpPr>
        <p:spPr>
          <a:xfrm>
            <a:off x="79174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111" name="C100"/>
          <p:cNvCxnSpPr/>
          <p:nvPr/>
        </p:nvCxnSpPr>
        <p:spPr>
          <a:xfrm>
            <a:off x="239194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2" name="T1"/>
          <p:cNvSpPr/>
          <p:nvPr/>
        </p:nvSpPr>
        <p:spPr>
          <a:xfrm>
            <a:off x="2711980" y="4041648"/>
            <a:ext cx="14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113" name="C101"/>
          <p:cNvCxnSpPr/>
          <p:nvPr/>
        </p:nvCxnSpPr>
        <p:spPr>
          <a:xfrm>
            <a:off x="416198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4" name="T2"/>
          <p:cNvSpPr/>
          <p:nvPr/>
        </p:nvSpPr>
        <p:spPr>
          <a:xfrm>
            <a:off x="4482020" y="4041648"/>
            <a:ext cx="19500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115" name="C102"/>
          <p:cNvCxnSpPr/>
          <p:nvPr/>
        </p:nvCxnSpPr>
        <p:spPr>
          <a:xfrm>
            <a:off x="6432020" y="4407408"/>
            <a:ext cx="3200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6" name="T3"/>
          <p:cNvSpPr/>
          <p:nvPr/>
        </p:nvSpPr>
        <p:spPr>
          <a:xfrm>
            <a:off x="6752060" y="4041648"/>
            <a:ext cx="160020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need to make a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9" name="Ital"/>
          <p:cNvSpPr txBox="1"/>
          <p:nvPr/>
        </p:nvSpPr>
        <p:spPr>
          <a:xfrm>
            <a:off x="274320" y="530352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Different units. The same question.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Engineering activity repeatedly terminates in a decision.</a:t>
            </a:r>
          </a:p>
        </p:txBody>
      </p:sp>
      <p:sp>
        <p:nvSpPr>
          <p:cNvPr id="111" name="U0"/>
          <p:cNvSpPr/>
          <p:nvPr/>
        </p:nvSpPr>
        <p:spPr>
          <a:xfrm>
            <a:off x="758952" y="18745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REQUIREMENTS</a:t>
            </a:r>
          </a:p>
        </p:txBody>
      </p:sp>
      <p:sp>
        <p:nvSpPr>
          <p:cNvPr id="112" name="Q0"/>
          <p:cNvSpPr/>
          <p:nvPr/>
        </p:nvSpPr>
        <p:spPr>
          <a:xfrm>
            <a:off x="3566160" y="18745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Make this commitment?</a:t>
            </a:r>
          </a:p>
        </p:txBody>
      </p:sp>
      <p:sp>
        <p:nvSpPr>
          <p:cNvPr id="113" name="U1"/>
          <p:cNvSpPr/>
          <p:nvPr/>
        </p:nvSpPr>
        <p:spPr>
          <a:xfrm>
            <a:off x="758952" y="25603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SPECIFICATION</a:t>
            </a:r>
          </a:p>
        </p:txBody>
      </p:sp>
      <p:sp>
        <p:nvSpPr>
          <p:cNvPr id="114" name="Q1"/>
          <p:cNvSpPr/>
          <p:nvPr/>
        </p:nvSpPr>
        <p:spPr>
          <a:xfrm>
            <a:off x="3566160" y="25603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Allocate responsibility? Constrain this distinction?</a:t>
            </a:r>
          </a:p>
        </p:txBody>
      </p:sp>
      <p:sp>
        <p:nvSpPr>
          <p:cNvPr id="115" name="U2"/>
          <p:cNvSpPr/>
          <p:nvPr/>
        </p:nvSpPr>
        <p:spPr>
          <a:xfrm>
            <a:off x="758952" y="32461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ARCHITECTURE</a:t>
            </a:r>
          </a:p>
        </p:txBody>
      </p:sp>
      <p:sp>
        <p:nvSpPr>
          <p:cNvPr id="116" name="Q2"/>
          <p:cNvSpPr/>
          <p:nvPr/>
        </p:nvSpPr>
        <p:spPr>
          <a:xfrm>
            <a:off x="3566160" y="32461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organization?</a:t>
            </a:r>
          </a:p>
        </p:txBody>
      </p:sp>
      <p:sp>
        <p:nvSpPr>
          <p:cNvPr id="117" name="U3"/>
          <p:cNvSpPr/>
          <p:nvPr/>
        </p:nvSpPr>
        <p:spPr>
          <a:xfrm>
            <a:off x="758952" y="39319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DESIGN</a:t>
            </a:r>
          </a:p>
        </p:txBody>
      </p:sp>
      <p:sp>
        <p:nvSpPr>
          <p:cNvPr id="118" name="Q3"/>
          <p:cNvSpPr/>
          <p:nvPr/>
        </p:nvSpPr>
        <p:spPr>
          <a:xfrm>
            <a:off x="3566160" y="39319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Choose this mechanism?</a:t>
            </a:r>
          </a:p>
        </p:txBody>
      </p:sp>
      <p:sp>
        <p:nvSpPr>
          <p:cNvPr id="119" name="U4"/>
          <p:cNvSpPr/>
          <p:nvPr/>
        </p:nvSpPr>
        <p:spPr>
          <a:xfrm>
            <a:off x="758952" y="4617720"/>
            <a:ext cx="265176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VALIDATION</a:t>
            </a:r>
          </a:p>
        </p:txBody>
      </p:sp>
      <p:sp>
        <p:nvSpPr>
          <p:cNvPr id="120" name="Q4"/>
          <p:cNvSpPr/>
          <p:nvPr/>
        </p:nvSpPr>
        <p:spPr>
          <a:xfrm>
            <a:off x="3566160" y="4617720"/>
            <a:ext cx="4754880" cy="61264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Deliver?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We have to decide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0" name="Decision"/>
          <p:cNvSpPr/>
          <p:nvPr/>
        </p:nvSpPr>
        <p:spPr>
          <a:xfrm>
            <a:off x="822960" y="2331720"/>
            <a:ext cx="2011680" cy="822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DECISION</a:t>
            </a:r>
          </a:p>
        </p:txBody>
      </p:sp>
      <p:cxnSp>
        <p:nvCxnSpPr>
          <p:cNvPr id="101" name="C101"/>
          <p:cNvCxnSpPr/>
          <p:nvPr/>
        </p:nvCxnSpPr>
        <p:spPr>
          <a:xfrm>
            <a:off x="3017520" y="2743200"/>
            <a:ext cx="3108960" cy="0"/>
          </a:xfrm>
          <a:prstGeom prst="straightConnector1">
            <a:avLst/>
          </a:prstGeom>
          <a:ln w="44450">
            <a:solidFill>
              <a:srgbClr val="8E6F3E"/>
            </a:solidFill>
            <a:tailEnd type="triangle" w="med" len="med"/>
          </a:ln>
        </p:spPr>
      </p:cxnSp>
      <p:sp>
        <p:nvSpPr>
          <p:cNvPr id="102" name="Qmark"/>
          <p:cNvSpPr txBox="1"/>
          <p:nvPr/>
        </p:nvSpPr>
        <p:spPr>
          <a:xfrm>
            <a:off x="4160520" y="1874520"/>
            <a:ext cx="822960" cy="685800"/>
          </a:xfrm>
          <a:prstGeom prst="rect">
            <a:avLst/>
          </a:prstGeom>
          <a:noFill/>
          <a:ln>
            <a:noFill/>
          </a:ln>
        </p:spPr>
        <p:txBody>
          <a:bodyPr wrap="square" lIns="0" tIns="0" rIns="0" bIns="0" anchor="t"/>
          <a:lstStyle/>
          <a:p>
            <a:pPr algn="ctr">
              <a:buNone/>
            </a:pPr>
            <a:r>
              <a:rPr lang="en-US" sz="4400" b="1" i="0" dirty="0">
                <a:solidFill>
                  <a:srgbClr val="8E6F3E"/>
                </a:solidFill>
              </a:rPr>
              <a:t>?</a:t>
            </a:r>
          </a:p>
        </p:txBody>
      </p:sp>
      <p:sp>
        <p:nvSpPr>
          <p:cNvPr id="103" name="Outcome"/>
          <p:cNvSpPr/>
          <p:nvPr/>
        </p:nvSpPr>
        <p:spPr>
          <a:xfrm>
            <a:off x="6309360" y="2331720"/>
            <a:ext cx="2011680" cy="822960"/>
          </a:xfrm>
          <a:prstGeom prst="rect">
            <a:avLst/>
          </a:prstGeom>
          <a:solidFill>
            <a:srgbClr val="FBF8F2"/>
          </a:solidFill>
          <a:ln w="12700">
            <a:solidFill>
              <a:srgbClr val="C9B991"/>
            </a:solidFill>
            <a:prstDash val="dash"/>
          </a:ln>
        </p:spPr>
        <p:txBody>
          <a:bodyPr wrap="square" lIns="91440" tIns="45720" rIns="91440" bIns="45720" anchor="ctr"/>
          <a:lstStyle/>
          <a:p>
            <a:pPr algn="ctr">
              <a:buNone/>
            </a:pPr>
            <a:r>
              <a:rPr lang="en-US" sz="2000" b="1" i="0" dirty="0">
                <a:solidFill>
                  <a:srgbClr val="555960"/>
                </a:solidFill>
              </a:rPr>
              <a:t>OUTCOME</a:t>
            </a:r>
          </a:p>
        </p:txBody>
      </p:sp>
      <p:sp>
        <p:nvSpPr>
          <p:cNvPr id="104" name="Under"/>
          <p:cNvSpPr txBox="1"/>
          <p:nvPr/>
        </p:nvSpPr>
        <p:spPr>
          <a:xfrm>
            <a:off x="2468880" y="3703320"/>
            <a:ext cx="4206240" cy="1325880"/>
          </a:xfrm>
          <a:prstGeom prst="rect">
            <a:avLst/>
          </a:prstGeom>
          <a:noFill/>
          <a:ln>
            <a:noFill/>
          </a:ln>
        </p:spPr>
        <p:txBody>
          <a:bodyPr wrap="square" lIns="0" tIns="0" rIns="0" bIns="0" anchor="t"/>
          <a:lstStyle/>
          <a:p>
            <a:pPr algn="ctr">
              <a:buNone/>
            </a:pPr>
            <a:r>
              <a:rPr lang="en-US" sz="2000" b="0" i="0" dirty="0">
                <a:solidFill>
                  <a:srgbClr val="555960"/>
                </a:solidFill>
              </a:rPr>
              <a:t>models incomplete</a:t>
            </a:r>
          </a:p>
          <a:p>
            <a:pPr algn="ctr">
              <a:spcBef>
                <a:spcPts val="160"/>
              </a:spcBef>
              <a:buNone/>
            </a:pPr>
            <a:r>
              <a:rPr lang="en-US" sz="2000" b="0" i="0" dirty="0">
                <a:solidFill>
                  <a:srgbClr val="555960"/>
                </a:solidFill>
              </a:rPr>
              <a:t>evidence finite</a:t>
            </a:r>
          </a:p>
          <a:p>
            <a:pPr algn="ctr">
              <a:spcBef>
                <a:spcPts val="160"/>
              </a:spcBef>
              <a:buNone/>
            </a:pPr>
            <a:r>
              <a:rPr lang="en-US" sz="2000" b="0" i="0" dirty="0">
                <a:solidFill>
                  <a:srgbClr val="555960"/>
                </a:solidFill>
              </a:rPr>
              <a:t>outcomes future</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action must occur before its consequences can be observed.</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 decision ≠ good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00" name="Premise"/>
          <p:cNvSpPr/>
          <p:nvPr/>
        </p:nvSpPr>
        <p:spPr>
          <a:xfrm>
            <a:off x="274320" y="932688"/>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good engineering decision is the decision </a:t>
            </a:r>
            <a:r>
              <a:rPr lang="en-US" sz="2000" b="1" i="0" dirty="0">
                <a:solidFill>
                  <a:srgbClr val="5C4826"/>
                </a:solidFill>
              </a:rPr>
              <a:t>best justified by the evidence available when it must be made.</a:t>
            </a:r>
          </a:p>
        </p:txBody>
      </p:sp>
      <p:sp>
        <p:nvSpPr>
          <p:cNvPr id="101" name="Scenario"/>
          <p:cNvSpPr/>
          <p:nvPr/>
        </p:nvSpPr>
        <p:spPr>
          <a:xfrm>
            <a:off x="274320" y="2029968"/>
            <a:ext cx="8595360" cy="105156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0" i="0" dirty="0">
                <a:solidFill>
                  <a:srgbClr val="5C4826"/>
                </a:solidFill>
              </a:rPr>
              <a:t>Engineers deliver after obtaining evidence they reasonably judge sufficient.</a:t>
            </a:r>
          </a:p>
          <a:p>
            <a:pPr algn="ctr">
              <a:spcBef>
                <a:spcPts val="140"/>
              </a:spcBef>
              <a:buNone/>
            </a:pPr>
            <a:r>
              <a:rPr lang="en-US" sz="2000" b="0" i="0" dirty="0">
                <a:solidFill>
                  <a:srgbClr val="5C4826"/>
                </a:solidFill>
              </a:rPr>
              <a:t>An unforeseen condition later causes failure.</a:t>
            </a:r>
          </a:p>
        </p:txBody>
      </p:sp>
      <p:sp>
        <p:nvSpPr>
          <p:cNvPr id="102" name="TPSbadge"/>
          <p:cNvSpPr/>
          <p:nvPr/>
        </p:nvSpPr>
        <p:spPr>
          <a:xfrm>
            <a:off x="393192" y="3310128"/>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3" name="TpsPrompt"/>
          <p:cNvSpPr txBox="1"/>
          <p:nvPr/>
        </p:nvSpPr>
        <p:spPr>
          <a:xfrm>
            <a:off x="3685032" y="3310128"/>
            <a:ext cx="4727448" cy="512064"/>
          </a:xfrm>
          <a:prstGeom prst="rect">
            <a:avLst/>
          </a:prstGeom>
          <a:noFill/>
          <a:ln>
            <a:noFill/>
          </a:ln>
        </p:spPr>
        <p:txBody>
          <a:bodyPr wrap="square" lIns="0" tIns="0" rIns="0" bIns="0" anchor="ctr"/>
          <a:lstStyle/>
          <a:p>
            <a:pPr algn="ctr">
              <a:buNone/>
            </a:pPr>
            <a:r>
              <a:rPr lang="en-US" sz="2000" b="1" i="0" dirty="0">
                <a:solidFill>
                  <a:srgbClr val="000000"/>
                </a:solidFill>
              </a:rPr>
              <a:t>Was the original decision necessarily bad?</a:t>
            </a:r>
          </a:p>
        </p:txBody>
      </p:sp>
      <p:sp>
        <p:nvSpPr>
          <p:cNvPr id="104" name="Reveal"/>
          <p:cNvSpPr txBox="1"/>
          <p:nvPr/>
        </p:nvSpPr>
        <p:spPr>
          <a:xfrm>
            <a:off x="274320" y="4114800"/>
            <a:ext cx="8595360" cy="868680"/>
          </a:xfrm>
          <a:prstGeom prst="rect">
            <a:avLst/>
          </a:prstGeom>
          <a:noFill/>
          <a:ln>
            <a:noFill/>
          </a:ln>
        </p:spPr>
        <p:txBody>
          <a:bodyPr wrap="square" lIns="0" tIns="0" rIns="0" bIns="0" anchor="t"/>
          <a:lstStyle/>
          <a:p>
            <a:pPr algn="ctr">
              <a:buNone/>
            </a:pPr>
            <a:r>
              <a:rPr lang="en-US" sz="2000" b="0" i="1" dirty="0">
                <a:solidFill>
                  <a:srgbClr val="000000"/>
                </a:solidFill>
              </a:rPr>
              <a:t>No — judge it by the justification available at the time.</a:t>
            </a:r>
          </a:p>
          <a:p>
            <a:pPr algn="ctr">
              <a:spcBef>
                <a:spcPts val="140"/>
              </a:spcBef>
              <a:buNone/>
            </a:pPr>
            <a:r>
              <a:rPr lang="en-US" sz="2000" b="0" i="1" dirty="0">
                <a:solidFill>
                  <a:srgbClr val="000000"/>
                </a:solidFill>
              </a:rPr>
              <a:t>Conversely, a weakly justified decision can succeed through luck.</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Learn from outcomes; judge decisions by their justification.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0"/>
                                        </p:tgtEl>
                                        <p:attrNameLst>
                                          <p:attrName>style.visibility</p:attrName>
                                        </p:attrNameLst>
                                      </p:cBhvr>
                                      <p:to>
                                        <p:strVal val="visible"/>
                                      </p:to>
                                    </p:set>
                                    <p:animEffect transition="in" filter="fade">
                                      <p:cBhvr>
                                        <p:cTn id="7" dur="500"/>
                                        <p:tgtEl>
                                          <p:spTgt spid="100"/>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par>
                                <p:cTn id="11" presetID="10" presetClass="entr" presetSubtype="0" fill="hold" nodeType="withEffect">
                                  <p:stCondLst>
                                    <p:cond delay="0"/>
                                  </p:stCondLst>
                                  <p:childTnLst>
                                    <p:set>
                                      <p:cBhvr>
                                        <p:cTn id="12" dur="1" fill="hold">
                                          <p:stCondLst>
                                            <p:cond delay="0"/>
                                          </p:stCondLst>
                                        </p:cTn>
                                        <p:tgtEl>
                                          <p:spTgt spid="105"/>
                                        </p:tgtEl>
                                        <p:attrNameLst>
                                          <p:attrName>style.visibility</p:attrName>
                                        </p:attrNameLst>
                                      </p:cBhvr>
                                      <p:to>
                                        <p:strVal val="visible"/>
                                      </p:to>
                                    </p:set>
                                    <p:animEffect transition="in" filter="fade">
                                      <p:cBhvr>
                                        <p:cTn id="13" dur="500"/>
                                        <p:tgtEl>
                                          <p:spTgt spid="10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What do we need to know?</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1</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Models let us reason before we know</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0" name="H0"/>
          <p:cNvSpPr txBox="1"/>
          <p:nvPr/>
        </p:nvSpPr>
        <p:spPr>
          <a:xfrm>
            <a:off x="484632"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SPECIFICATION</a:t>
            </a:r>
          </a:p>
        </p:txBody>
      </p:sp>
      <p:sp>
        <p:nvSpPr>
          <p:cNvPr id="101" name="C0"/>
          <p:cNvSpPr/>
          <p:nvPr/>
        </p:nvSpPr>
        <p:spPr>
          <a:xfrm>
            <a:off x="484632"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assumptions</a:t>
            </a:r>
          </a:p>
          <a:p>
            <a:pPr algn="ctr">
              <a:spcBef>
                <a:spcPts val="140"/>
              </a:spcBef>
              <a:buNone/>
            </a:pPr>
            <a:r>
              <a:rPr lang="en-US" sz="2000" b="0" i="0" dirty="0">
                <a:solidFill>
                  <a:srgbClr val="5C4826"/>
                </a:solidFill>
              </a:rPr>
              <a:t>obligations</a:t>
            </a:r>
          </a:p>
        </p:txBody>
      </p:sp>
      <p:sp>
        <p:nvSpPr>
          <p:cNvPr id="102" name="H1"/>
          <p:cNvSpPr txBox="1"/>
          <p:nvPr/>
        </p:nvSpPr>
        <p:spPr>
          <a:xfrm>
            <a:off x="3291840"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ARCHITECTURE</a:t>
            </a:r>
          </a:p>
        </p:txBody>
      </p:sp>
      <p:sp>
        <p:nvSpPr>
          <p:cNvPr id="103" name="C1"/>
          <p:cNvSpPr/>
          <p:nvPr/>
        </p:nvSpPr>
        <p:spPr>
          <a:xfrm>
            <a:off x="3291840"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organization →</a:t>
            </a:r>
          </a:p>
          <a:p>
            <a:pPr algn="ctr">
              <a:spcBef>
                <a:spcPts val="140"/>
              </a:spcBef>
              <a:buNone/>
            </a:pPr>
            <a:r>
              <a:rPr lang="en-US" sz="2000" b="0" i="0" dirty="0">
                <a:solidFill>
                  <a:srgbClr val="5C4826"/>
                </a:solidFill>
              </a:rPr>
              <a:t>predicted system properties</a:t>
            </a:r>
          </a:p>
        </p:txBody>
      </p:sp>
      <p:sp>
        <p:nvSpPr>
          <p:cNvPr id="104" name="H2"/>
          <p:cNvSpPr txBox="1"/>
          <p:nvPr/>
        </p:nvSpPr>
        <p:spPr>
          <a:xfrm>
            <a:off x="6099048" y="896112"/>
            <a:ext cx="2560320" cy="457200"/>
          </a:xfrm>
          <a:prstGeom prst="rect">
            <a:avLst/>
          </a:prstGeom>
          <a:noFill/>
          <a:ln>
            <a:noFill/>
          </a:ln>
        </p:spPr>
        <p:txBody>
          <a:bodyPr wrap="square" lIns="0" tIns="0" rIns="0" bIns="0" anchor="t"/>
          <a:lstStyle/>
          <a:p>
            <a:pPr algn="ctr">
              <a:buNone/>
            </a:pPr>
            <a:r>
              <a:rPr lang="en-US" sz="2100" b="1" i="0" dirty="0">
                <a:solidFill>
                  <a:srgbClr val="8E6F3E"/>
                </a:solidFill>
              </a:rPr>
              <a:t>DESIGN</a:t>
            </a:r>
          </a:p>
        </p:txBody>
      </p:sp>
      <p:sp>
        <p:nvSpPr>
          <p:cNvPr id="105" name="C2"/>
          <p:cNvSpPr/>
          <p:nvPr/>
        </p:nvSpPr>
        <p:spPr>
          <a:xfrm>
            <a:off x="6099048" y="1417320"/>
            <a:ext cx="2560320" cy="14630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mechanism →</a:t>
            </a:r>
          </a:p>
          <a:p>
            <a:pPr algn="ctr">
              <a:spcBef>
                <a:spcPts val="140"/>
              </a:spcBef>
              <a:buNone/>
            </a:pPr>
            <a:r>
              <a:rPr lang="en-US" sz="2000" b="0" i="0" dirty="0">
                <a:solidFill>
                  <a:srgbClr val="5C4826"/>
                </a:solidFill>
              </a:rPr>
              <a:t>consequential tradeoffs</a:t>
            </a:r>
          </a:p>
        </p:txBody>
      </p:sp>
      <p:sp>
        <p:nvSpPr>
          <p:cNvPr id="106" name="Takeaway"/>
          <p:cNvSpPr/>
          <p:nvPr/>
        </p:nvSpPr>
        <p:spPr>
          <a:xfrm>
            <a:off x="274320" y="370000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model identifies relationships we believe matter — before their consequences can be fully observed.</a:t>
            </a:r>
          </a:p>
        </p:txBody>
      </p:sp>
      <p:sp>
        <p:nvSpPr>
          <p:cNvPr id="107" name="Ital"/>
          <p:cNvSpPr txBox="1"/>
          <p:nvPr/>
        </p:nvSpPr>
        <p:spPr>
          <a:xfrm>
            <a:off x="274320" y="4900000"/>
            <a:ext cx="8595360" cy="411480"/>
          </a:xfrm>
          <a:prstGeom prst="rect">
            <a:avLst/>
          </a:prstGeom>
          <a:noFill/>
          <a:ln>
            <a:noFill/>
          </a:ln>
        </p:spPr>
        <p:txBody>
          <a:bodyPr wrap="square" lIns="0" tIns="0" rIns="0" bIns="0" anchor="t"/>
          <a:lstStyle/>
          <a:p>
            <a:pPr algn="ctr">
              <a:buNone/>
            </a:pPr>
            <a:r>
              <a:rPr lang="en-US" sz="2000" b="0" i="1" dirty="0">
                <a:solidFill>
                  <a:srgbClr val="000000"/>
                </a:solidFill>
              </a:rPr>
              <a:t>The model does not make the decision.</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From decision to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4" name="Chain0"/>
          <p:cNvSpPr/>
          <p:nvPr/>
        </p:nvSpPr>
        <p:spPr>
          <a:xfrm>
            <a:off x="411480" y="96012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DECISION</a:t>
            </a:r>
          </a:p>
        </p:txBody>
      </p:sp>
      <p:sp>
        <p:nvSpPr>
          <p:cNvPr id="5" name="Gloss0"/>
          <p:cNvSpPr txBox="1"/>
          <p:nvPr/>
        </p:nvSpPr>
        <p:spPr>
          <a:xfrm>
            <a:off x="3474720" y="960120"/>
            <a:ext cx="5394960" cy="640080"/>
          </a:xfrm>
          <a:prstGeom prst="rect">
            <a:avLst/>
          </a:prstGeom>
          <a:noFill/>
        </p:spPr>
        <p:txBody>
          <a:bodyPr wrap="square" lIns="0" tIns="0" rIns="0" bIns="0" anchor="ctr">
            <a:spAutoFit/>
          </a:bodyPr>
          <a:lstStyle/>
          <a:p>
            <a:pPr algn="l"/>
            <a:r>
              <a:rPr sz="2000" b="0" i="0">
                <a:solidFill>
                  <a:srgbClr val="555960"/>
                </a:solidFill>
              </a:rPr>
              <a:t>what are we choosing?</a:t>
            </a:r>
          </a:p>
        </p:txBody>
      </p:sp>
      <p:sp>
        <p:nvSpPr>
          <p:cNvPr id="6" name="Chain1"/>
          <p:cNvSpPr/>
          <p:nvPr/>
        </p:nvSpPr>
        <p:spPr>
          <a:xfrm>
            <a:off x="411480" y="1938528"/>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MODEL</a:t>
            </a:r>
          </a:p>
        </p:txBody>
      </p:sp>
      <p:sp>
        <p:nvSpPr>
          <p:cNvPr id="7" name="Gloss1"/>
          <p:cNvSpPr txBox="1"/>
          <p:nvPr/>
        </p:nvSpPr>
        <p:spPr>
          <a:xfrm>
            <a:off x="3474720" y="1938528"/>
            <a:ext cx="5394960" cy="640080"/>
          </a:xfrm>
          <a:prstGeom prst="rect">
            <a:avLst/>
          </a:prstGeom>
          <a:noFill/>
        </p:spPr>
        <p:txBody>
          <a:bodyPr wrap="square" lIns="0" tIns="0" rIns="0" bIns="0" anchor="ctr">
            <a:spAutoFit/>
          </a:bodyPr>
          <a:lstStyle/>
          <a:p>
            <a:pPr algn="l"/>
            <a:r>
              <a:rPr sz="2000" b="0" i="0">
                <a:solidFill>
                  <a:srgbClr val="555960"/>
                </a:solidFill>
              </a:rPr>
              <a:t>what relationships do we believe matter?</a:t>
            </a:r>
          </a:p>
        </p:txBody>
      </p:sp>
      <p:cxnSp>
        <p:nvCxnSpPr>
          <p:cNvPr id="8" name="Arr1"/>
          <p:cNvCxnSpPr/>
          <p:nvPr/>
        </p:nvCxnSpPr>
        <p:spPr>
          <a:xfrm>
            <a:off x="1783080" y="1600200"/>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Chain2"/>
          <p:cNvSpPr/>
          <p:nvPr/>
        </p:nvSpPr>
        <p:spPr>
          <a:xfrm>
            <a:off x="411480" y="2916936"/>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CONSEQUENTIAL PROPERTY</a:t>
            </a:r>
          </a:p>
        </p:txBody>
      </p:sp>
      <p:sp>
        <p:nvSpPr>
          <p:cNvPr id="10" name="Gloss2"/>
          <p:cNvSpPr txBox="1"/>
          <p:nvPr/>
        </p:nvSpPr>
        <p:spPr>
          <a:xfrm>
            <a:off x="3474720" y="2916936"/>
            <a:ext cx="5394960" cy="640080"/>
          </a:xfrm>
          <a:prstGeom prst="rect">
            <a:avLst/>
          </a:prstGeom>
          <a:noFill/>
        </p:spPr>
        <p:txBody>
          <a:bodyPr wrap="square" lIns="0" tIns="0" rIns="0" bIns="0" anchor="ctr">
            <a:spAutoFit/>
          </a:bodyPr>
          <a:lstStyle/>
          <a:p>
            <a:pPr algn="l"/>
            <a:r>
              <a:rPr sz="2000" b="0" i="0">
                <a:solidFill>
                  <a:srgbClr val="555960"/>
                </a:solidFill>
              </a:rPr>
              <a:t>what differs among alternatives</a:t>
            </a:r>
          </a:p>
          <a:p>
            <a:pPr algn="l"/>
            <a:r>
              <a:rPr sz="2000" b="0" i="0">
                <a:solidFill>
                  <a:srgbClr val="555960"/>
                </a:solidFill>
              </a:rPr>
              <a:t>in a way that matters?</a:t>
            </a:r>
          </a:p>
        </p:txBody>
      </p:sp>
      <p:cxnSp>
        <p:nvCxnSpPr>
          <p:cNvPr id="11" name="Arr2"/>
          <p:cNvCxnSpPr/>
          <p:nvPr/>
        </p:nvCxnSpPr>
        <p:spPr>
          <a:xfrm>
            <a:off x="1783080" y="2578608"/>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Chain3"/>
          <p:cNvSpPr/>
          <p:nvPr/>
        </p:nvSpPr>
        <p:spPr>
          <a:xfrm>
            <a:off x="411480" y="3895344"/>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EVIDENCE</a:t>
            </a:r>
          </a:p>
        </p:txBody>
      </p:sp>
      <p:sp>
        <p:nvSpPr>
          <p:cNvPr id="13" name="Gloss3"/>
          <p:cNvSpPr txBox="1"/>
          <p:nvPr/>
        </p:nvSpPr>
        <p:spPr>
          <a:xfrm>
            <a:off x="3474720" y="3895344"/>
            <a:ext cx="5394960" cy="640080"/>
          </a:xfrm>
          <a:prstGeom prst="rect">
            <a:avLst/>
          </a:prstGeom>
          <a:noFill/>
        </p:spPr>
        <p:txBody>
          <a:bodyPr wrap="square" lIns="0" tIns="0" rIns="0" bIns="0" anchor="ctr">
            <a:spAutoFit/>
          </a:bodyPr>
          <a:lstStyle/>
          <a:p>
            <a:pPr algn="l"/>
            <a:r>
              <a:rPr sz="2000" b="0" i="0">
                <a:solidFill>
                  <a:srgbClr val="555960"/>
                </a:solidFill>
              </a:rPr>
              <a:t>what do we know about that property?</a:t>
            </a:r>
          </a:p>
        </p:txBody>
      </p:sp>
      <p:cxnSp>
        <p:nvCxnSpPr>
          <p:cNvPr id="14" name="Arr3"/>
          <p:cNvCxnSpPr/>
          <p:nvPr/>
        </p:nvCxnSpPr>
        <p:spPr>
          <a:xfrm>
            <a:off x="1783080" y="3557016"/>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Chain4"/>
          <p:cNvSpPr/>
          <p:nvPr/>
        </p:nvSpPr>
        <p:spPr>
          <a:xfrm>
            <a:off x="411480" y="4873752"/>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JUDGMENT</a:t>
            </a:r>
          </a:p>
        </p:txBody>
      </p:sp>
      <p:sp>
        <p:nvSpPr>
          <p:cNvPr id="16" name="Gloss4"/>
          <p:cNvSpPr txBox="1"/>
          <p:nvPr/>
        </p:nvSpPr>
        <p:spPr>
          <a:xfrm>
            <a:off x="3474720" y="4873752"/>
            <a:ext cx="5394960" cy="640080"/>
          </a:xfrm>
          <a:prstGeom prst="rect">
            <a:avLst/>
          </a:prstGeom>
          <a:noFill/>
        </p:spPr>
        <p:txBody>
          <a:bodyPr wrap="square" lIns="0" tIns="0" rIns="0" bIns="0" anchor="ctr">
            <a:spAutoFit/>
          </a:bodyPr>
          <a:lstStyle/>
          <a:p>
            <a:pPr algn="l"/>
            <a:r>
              <a:rPr sz="2000" b="0" i="0">
                <a:solidFill>
                  <a:srgbClr val="555960"/>
                </a:solidFill>
              </a:rPr>
              <a:t>is that evidence sufficient, given uncertainty and consequence?</a:t>
            </a:r>
          </a:p>
        </p:txBody>
      </p:sp>
      <p:cxnSp>
        <p:nvCxnSpPr>
          <p:cNvPr id="17" name="Arr4"/>
          <p:cNvCxnSpPr/>
          <p:nvPr/>
        </p:nvCxnSpPr>
        <p:spPr>
          <a:xfrm>
            <a:off x="1783080" y="4535424"/>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hain5"/>
          <p:cNvSpPr/>
          <p:nvPr/>
        </p:nvSpPr>
        <p:spPr>
          <a:xfrm>
            <a:off x="411480" y="5852160"/>
            <a:ext cx="27432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ACTION</a:t>
            </a:r>
          </a:p>
        </p:txBody>
      </p:sp>
      <p:sp>
        <p:nvSpPr>
          <p:cNvPr id="19" name="Gloss5"/>
          <p:cNvSpPr txBox="1"/>
          <p:nvPr/>
        </p:nvSpPr>
        <p:spPr>
          <a:xfrm>
            <a:off x="3474720" y="5852160"/>
            <a:ext cx="5394960" cy="640080"/>
          </a:xfrm>
          <a:prstGeom prst="rect">
            <a:avLst/>
          </a:prstGeom>
          <a:noFill/>
        </p:spPr>
        <p:txBody>
          <a:bodyPr wrap="square" lIns="0" tIns="0" rIns="0" bIns="0" anchor="ctr">
            <a:spAutoFit/>
          </a:bodyPr>
          <a:lstStyle/>
          <a:p>
            <a:pPr algn="l"/>
            <a:r>
              <a:rPr sz="2000" b="0" i="0">
                <a:solidFill>
                  <a:srgbClr val="555960"/>
                </a:solidFill>
              </a:rPr>
              <a:t>follows from judgment —</a:t>
            </a:r>
          </a:p>
          <a:p>
            <a:pPr algn="l"/>
            <a:r>
              <a:rPr sz="2000" b="0" i="0">
                <a:solidFill>
                  <a:srgbClr val="555960"/>
                </a:solidFill>
              </a:rPr>
              <a:t>not from the evidence alone</a:t>
            </a:r>
          </a:p>
        </p:txBody>
      </p:sp>
      <p:cxnSp>
        <p:nvCxnSpPr>
          <p:cNvPr id="20" name="Arr5"/>
          <p:cNvCxnSpPr/>
          <p:nvPr/>
        </p:nvCxnSpPr>
        <p:spPr>
          <a:xfrm>
            <a:off x="1783080" y="5513832"/>
            <a:ext cx="0" cy="338328"/>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8"/>
                                        </p:tgtEl>
                                        <p:attrNameLst>
                                          <p:attrName>style.visibility</p:attrName>
                                        </p:attrNameLst>
                                      </p:cBhvr>
                                      <p:to>
                                        <p:strVal val="visible"/>
                                      </p:to>
                                    </p:set>
                                    <p:animEffect transition="in" filter="fade">
                                      <p:cBhvr>
                                        <p:cTn id="15" dur="500"/>
                                        <p:tgtEl>
                                          <p:spTgt spid="8"/>
                                        </p:tgtEl>
                                      </p:cBhvr>
                                    </p:animEffect>
                                  </p:childTnLst>
                                </p:cTn>
                              </p:par>
                              <p:par>
                                <p:cTn id="16" presetID="10" presetClass="entr" presetSubtype="0" fill="hold" nodeType="withEffect">
                                  <p:stCondLst>
                                    <p:cond delay="0"/>
                                  </p:stCondLst>
                                  <p:childTnLst>
                                    <p:set>
                                      <p:cBhvr>
                                        <p:cTn id="17" dur="1" fill="hold">
                                          <p:stCondLst>
                                            <p:cond delay="0"/>
                                          </p:stCondLst>
                                        </p:cTn>
                                        <p:tgtEl>
                                          <p:spTgt spid="6"/>
                                        </p:tgtEl>
                                        <p:attrNameLst>
                                          <p:attrName>style.visibility</p:attrName>
                                        </p:attrNameLst>
                                      </p:cBhvr>
                                      <p:to>
                                        <p:strVal val="visible"/>
                                      </p:to>
                                    </p:set>
                                    <p:animEffect transition="in" filter="fade">
                                      <p:cBhvr>
                                        <p:cTn id="18" dur="500"/>
                                        <p:tgtEl>
                                          <p:spTgt spid="6"/>
                                        </p:tgtEl>
                                      </p:cBhvr>
                                    </p:animEffect>
                                  </p:childTnLst>
                                </p:cTn>
                              </p:par>
                              <p:par>
                                <p:cTn id="19" presetID="10" presetClass="entr" presetSubtype="0" fill="hold" nodeType="withEffect">
                                  <p:stCondLst>
                                    <p:cond delay="0"/>
                                  </p:stCondLst>
                                  <p:childTnLst>
                                    <p:set>
                                      <p:cBhvr>
                                        <p:cTn id="20" dur="1" fill="hold">
                                          <p:stCondLst>
                                            <p:cond delay="0"/>
                                          </p:stCondLst>
                                        </p:cTn>
                                        <p:tgtEl>
                                          <p:spTgt spid="7"/>
                                        </p:tgtEl>
                                        <p:attrNameLst>
                                          <p:attrName>style.visibility</p:attrName>
                                        </p:attrNameLst>
                                      </p:cBhvr>
                                      <p:to>
                                        <p:strVal val="visible"/>
                                      </p:to>
                                    </p:set>
                                    <p:animEffect transition="in" filter="fade">
                                      <p:cBhvr>
                                        <p:cTn id="21" dur="500"/>
                                        <p:tgtEl>
                                          <p:spTgt spid="7"/>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11"/>
                                        </p:tgtEl>
                                        <p:attrNameLst>
                                          <p:attrName>style.visibility</p:attrName>
                                        </p:attrNameLst>
                                      </p:cBhvr>
                                      <p:to>
                                        <p:strVal val="visible"/>
                                      </p:to>
                                    </p:set>
                                    <p:animEffect transition="in" filter="fade">
                                      <p:cBhvr>
                                        <p:cTn id="26" dur="500"/>
                                        <p:tgtEl>
                                          <p:spTgt spid="11"/>
                                        </p:tgtEl>
                                      </p:cBhvr>
                                    </p:animEffect>
                                  </p:childTnLst>
                                </p:cTn>
                              </p:par>
                              <p:par>
                                <p:cTn id="27" presetID="10" presetClass="entr" presetSubtype="0" fill="hold" nodeType="withEffect">
                                  <p:stCondLst>
                                    <p:cond delay="0"/>
                                  </p:stCondLst>
                                  <p:childTnLst>
                                    <p:set>
                                      <p:cBhvr>
                                        <p:cTn id="28" dur="1" fill="hold">
                                          <p:stCondLst>
                                            <p:cond delay="0"/>
                                          </p:stCondLst>
                                        </p:cTn>
                                        <p:tgtEl>
                                          <p:spTgt spid="9"/>
                                        </p:tgtEl>
                                        <p:attrNameLst>
                                          <p:attrName>style.visibility</p:attrName>
                                        </p:attrNameLst>
                                      </p:cBhvr>
                                      <p:to>
                                        <p:strVal val="visible"/>
                                      </p:to>
                                    </p:set>
                                    <p:animEffect transition="in" filter="fade">
                                      <p:cBhvr>
                                        <p:cTn id="29" dur="500"/>
                                        <p:tgtEl>
                                          <p:spTgt spid="9"/>
                                        </p:tgtEl>
                                      </p:cBhvr>
                                    </p:animEffect>
                                  </p:childTnLst>
                                </p:cTn>
                              </p:par>
                              <p:par>
                                <p:cTn id="30" presetID="10" presetClass="entr" presetSubtype="0" fill="hold" nodeType="withEffect">
                                  <p:stCondLst>
                                    <p:cond delay="0"/>
                                  </p:stCondLst>
                                  <p:childTnLst>
                                    <p:set>
                                      <p:cBhvr>
                                        <p:cTn id="31" dur="1" fill="hold">
                                          <p:stCondLst>
                                            <p:cond delay="0"/>
                                          </p:stCondLst>
                                        </p:cTn>
                                        <p:tgtEl>
                                          <p:spTgt spid="10"/>
                                        </p:tgtEl>
                                        <p:attrNameLst>
                                          <p:attrName>style.visibility</p:attrName>
                                        </p:attrNameLst>
                                      </p:cBhvr>
                                      <p:to>
                                        <p:strVal val="visible"/>
                                      </p:to>
                                    </p:set>
                                    <p:animEffect transition="in" filter="fade">
                                      <p:cBhvr>
                                        <p:cTn id="32" dur="500"/>
                                        <p:tgtEl>
                                          <p:spTgt spid="10"/>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4"/>
                                        </p:tgtEl>
                                        <p:attrNameLst>
                                          <p:attrName>style.visibility</p:attrName>
                                        </p:attrNameLst>
                                      </p:cBhvr>
                                      <p:to>
                                        <p:strVal val="visible"/>
                                      </p:to>
                                    </p:set>
                                    <p:animEffect transition="in" filter="fade">
                                      <p:cBhvr>
                                        <p:cTn id="37" dur="500"/>
                                        <p:tgtEl>
                                          <p:spTgt spid="14"/>
                                        </p:tgtEl>
                                      </p:cBhvr>
                                    </p:animEffect>
                                  </p:childTnLst>
                                </p:cTn>
                              </p:par>
                              <p:par>
                                <p:cTn id="38" presetID="10" presetClass="entr" presetSubtype="0" fill="hold" nodeType="withEffect">
                                  <p:stCondLst>
                                    <p:cond delay="0"/>
                                  </p:stCondLst>
                                  <p:childTnLst>
                                    <p:set>
                                      <p:cBhvr>
                                        <p:cTn id="39" dur="1" fill="hold">
                                          <p:stCondLst>
                                            <p:cond delay="0"/>
                                          </p:stCondLst>
                                        </p:cTn>
                                        <p:tgtEl>
                                          <p:spTgt spid="12"/>
                                        </p:tgtEl>
                                        <p:attrNameLst>
                                          <p:attrName>style.visibility</p:attrName>
                                        </p:attrNameLst>
                                      </p:cBhvr>
                                      <p:to>
                                        <p:strVal val="visible"/>
                                      </p:to>
                                    </p:set>
                                    <p:animEffect transition="in" filter="fade">
                                      <p:cBhvr>
                                        <p:cTn id="40" dur="500"/>
                                        <p:tgtEl>
                                          <p:spTgt spid="12"/>
                                        </p:tgtEl>
                                      </p:cBhvr>
                                    </p:animEffect>
                                  </p:childTnLst>
                                </p:cTn>
                              </p:par>
                              <p:par>
                                <p:cTn id="41" presetID="10" presetClass="entr" presetSubtype="0" fill="hold" nodeType="with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7"/>
                                        </p:tgtEl>
                                        <p:attrNameLst>
                                          <p:attrName>style.visibility</p:attrName>
                                        </p:attrNameLst>
                                      </p:cBhvr>
                                      <p:to>
                                        <p:strVal val="visible"/>
                                      </p:to>
                                    </p:set>
                                    <p:animEffect transition="in" filter="fade">
                                      <p:cBhvr>
                                        <p:cTn id="48" dur="500"/>
                                        <p:tgtEl>
                                          <p:spTgt spid="17"/>
                                        </p:tgtEl>
                                      </p:cBhvr>
                                    </p:animEffect>
                                  </p:childTnLst>
                                </p:cTn>
                              </p:par>
                              <p:par>
                                <p:cTn id="49" presetID="10" presetClass="entr" presetSubtype="0" fill="hold" nodeType="withEffect">
                                  <p:stCondLst>
                                    <p:cond delay="0"/>
                                  </p:stCondLst>
                                  <p:childTnLst>
                                    <p:set>
                                      <p:cBhvr>
                                        <p:cTn id="50" dur="1" fill="hold">
                                          <p:stCondLst>
                                            <p:cond delay="0"/>
                                          </p:stCondLst>
                                        </p:cTn>
                                        <p:tgtEl>
                                          <p:spTgt spid="15"/>
                                        </p:tgtEl>
                                        <p:attrNameLst>
                                          <p:attrName>style.visibility</p:attrName>
                                        </p:attrNameLst>
                                      </p:cBhvr>
                                      <p:to>
                                        <p:strVal val="visible"/>
                                      </p:to>
                                    </p:set>
                                    <p:animEffect transition="in" filter="fade">
                                      <p:cBhvr>
                                        <p:cTn id="51" dur="500"/>
                                        <p:tgtEl>
                                          <p:spTgt spid="15"/>
                                        </p:tgtEl>
                                      </p:cBhvr>
                                    </p:animEffect>
                                  </p:childTnLst>
                                </p:cTn>
                              </p:par>
                              <p:par>
                                <p:cTn id="52" presetID="10" presetClass="entr" presetSubtype="0" fill="hold" nodeType="withEffect">
                                  <p:stCondLst>
                                    <p:cond delay="0"/>
                                  </p:stCondLst>
                                  <p:childTnLst>
                                    <p:set>
                                      <p:cBhvr>
                                        <p:cTn id="53" dur="1" fill="hold">
                                          <p:stCondLst>
                                            <p:cond delay="0"/>
                                          </p:stCondLst>
                                        </p:cTn>
                                        <p:tgtEl>
                                          <p:spTgt spid="16"/>
                                        </p:tgtEl>
                                        <p:attrNameLst>
                                          <p:attrName>style.visibility</p:attrName>
                                        </p:attrNameLst>
                                      </p:cBhvr>
                                      <p:to>
                                        <p:strVal val="visible"/>
                                      </p:to>
                                    </p:set>
                                    <p:animEffect transition="in" filter="fade">
                                      <p:cBhvr>
                                        <p:cTn id="54" dur="500"/>
                                        <p:tgtEl>
                                          <p:spTgt spid="16"/>
                                        </p:tgtEl>
                                      </p:cBhvr>
                                    </p:animEffect>
                                  </p:childTnLst>
                                </p:cTn>
                              </p:par>
                            </p:childTnLst>
                          </p:cTn>
                        </p:par>
                      </p:childTnLst>
                    </p:cTn>
                  </p:par>
                  <p:par>
                    <p:cTn id="55" fill="hold">
                      <p:stCondLst>
                        <p:cond delay="indefinite"/>
                      </p:stCondLst>
                      <p:childTnLst>
                        <p:par>
                          <p:cTn id="56" fill="hold">
                            <p:stCondLst>
                              <p:cond delay="0"/>
                            </p:stCondLst>
                            <p:childTnLst>
                              <p:par>
                                <p:cTn id="57" presetID="10" presetClass="entr" presetSubtype="0" fill="hold"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nodeType="withEffect">
                                  <p:stCondLst>
                                    <p:cond delay="0"/>
                                  </p:stCondLst>
                                  <p:childTnLst>
                                    <p:set>
                                      <p:cBhvr>
                                        <p:cTn id="61" dur="1" fill="hold">
                                          <p:stCondLst>
                                            <p:cond delay="0"/>
                                          </p:stCondLst>
                                        </p:cTn>
                                        <p:tgtEl>
                                          <p:spTgt spid="18"/>
                                        </p:tgtEl>
                                        <p:attrNameLst>
                                          <p:attrName>style.visibility</p:attrName>
                                        </p:attrNameLst>
                                      </p:cBhvr>
                                      <p:to>
                                        <p:strVal val="visible"/>
                                      </p:to>
                                    </p:set>
                                    <p:animEffect transition="in" filter="fade">
                                      <p:cBhvr>
                                        <p:cTn id="62" dur="500"/>
                                        <p:tgtEl>
                                          <p:spTgt spid="18"/>
                                        </p:tgtEl>
                                      </p:cBhvr>
                                    </p:animEffect>
                                  </p:childTnLst>
                                </p:cTn>
                              </p:par>
                              <p:par>
                                <p:cTn id="63" presetID="10" presetClass="entr" presetSubtype="0" fill="hold" nodeType="withEffect">
                                  <p:stCondLst>
                                    <p:cond delay="0"/>
                                  </p:stCondLst>
                                  <p:childTnLst>
                                    <p:set>
                                      <p:cBhvr>
                                        <p:cTn id="64" dur="1" fill="hold">
                                          <p:stCondLst>
                                            <p:cond delay="0"/>
                                          </p:stCondLst>
                                        </p:cTn>
                                        <p:tgtEl>
                                          <p:spTgt spid="19"/>
                                        </p:tgtEl>
                                        <p:attrNameLst>
                                          <p:attrName>style.visibility</p:attrName>
                                        </p:attrNameLst>
                                      </p:cBhvr>
                                      <p:to>
                                        <p:strVal val="visible"/>
                                      </p:to>
                                    </p:set>
                                    <p:animEffect transition="in" filter="fade">
                                      <p:cBhvr>
                                        <p:cTn id="65" dur="500"/>
                                        <p:tgtEl>
                                          <p:spTgt spid="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Evidence takes many forms</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1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Measurement is one source of engineering evidence.</a:t>
            </a:r>
          </a:p>
        </p:txBody>
      </p:sp>
      <p:sp>
        <p:nvSpPr>
          <p:cNvPr id="20" name="Hub"/>
          <p:cNvSpPr/>
          <p:nvPr/>
        </p:nvSpPr>
        <p:spPr>
          <a:xfrm>
            <a:off x="685800" y="2910300"/>
            <a:ext cx="2377440" cy="7315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i="0">
                <a:solidFill>
                  <a:srgbClr val="FFFFFF"/>
                </a:solidFill>
              </a:rPr>
              <a:t>EVIDENCE</a:t>
            </a:r>
          </a:p>
        </p:txBody>
      </p:sp>
      <p:sp>
        <p:nvSpPr>
          <p:cNvPr id="21" name="Mech0"/>
          <p:cNvSpPr/>
          <p:nvPr/>
        </p:nvSpPr>
        <p:spPr>
          <a:xfrm>
            <a:off x="4754880" y="10058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Review</a:t>
            </a:r>
          </a:p>
        </p:txBody>
      </p:sp>
      <p:cxnSp>
        <p:nvCxnSpPr>
          <p:cNvPr id="22" name="Fan0"/>
          <p:cNvCxnSpPr/>
          <p:nvPr/>
        </p:nvCxnSpPr>
        <p:spPr>
          <a:xfrm flipV="1">
            <a:off x="3063240" y="125730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3" name="Mech1"/>
          <p:cNvSpPr/>
          <p:nvPr/>
        </p:nvSpPr>
        <p:spPr>
          <a:xfrm>
            <a:off x="4754880" y="167876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Analysis</a:t>
            </a:r>
          </a:p>
        </p:txBody>
      </p:sp>
      <p:cxnSp>
        <p:nvCxnSpPr>
          <p:cNvPr id="24" name="Fan1"/>
          <p:cNvCxnSpPr/>
          <p:nvPr/>
        </p:nvCxnSpPr>
        <p:spPr>
          <a:xfrm flipV="1">
            <a:off x="3063240" y="193022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5" name="Mech2"/>
          <p:cNvSpPr/>
          <p:nvPr/>
        </p:nvSpPr>
        <p:spPr>
          <a:xfrm>
            <a:off x="4754880" y="235168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Prototype</a:t>
            </a:r>
          </a:p>
        </p:txBody>
      </p:sp>
      <p:cxnSp>
        <p:nvCxnSpPr>
          <p:cNvPr id="26" name="Fan2"/>
          <p:cNvCxnSpPr/>
          <p:nvPr/>
        </p:nvCxnSpPr>
        <p:spPr>
          <a:xfrm flipV="1">
            <a:off x="3063240" y="260314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7" name="Mech3"/>
          <p:cNvSpPr/>
          <p:nvPr/>
        </p:nvSpPr>
        <p:spPr>
          <a:xfrm>
            <a:off x="4754880" y="302460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Test</a:t>
            </a:r>
          </a:p>
        </p:txBody>
      </p:sp>
      <p:cxnSp>
        <p:nvCxnSpPr>
          <p:cNvPr id="28" name="Fan3"/>
          <p:cNvCxnSpPr/>
          <p:nvPr/>
        </p:nvCxnSpPr>
        <p:spPr>
          <a:xfrm>
            <a:off x="3063240" y="3276060"/>
            <a:ext cx="1691640" cy="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29" name="Mech4"/>
          <p:cNvSpPr/>
          <p:nvPr/>
        </p:nvSpPr>
        <p:spPr>
          <a:xfrm>
            <a:off x="4754880" y="369752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Experiment</a:t>
            </a:r>
          </a:p>
        </p:txBody>
      </p:sp>
      <p:cxnSp>
        <p:nvCxnSpPr>
          <p:cNvPr id="30" name="Fan4"/>
          <p:cNvCxnSpPr/>
          <p:nvPr/>
        </p:nvCxnSpPr>
        <p:spPr>
          <a:xfrm>
            <a:off x="3063240" y="3276060"/>
            <a:ext cx="1691640" cy="67292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1" name="Mech5"/>
          <p:cNvSpPr/>
          <p:nvPr/>
        </p:nvSpPr>
        <p:spPr>
          <a:xfrm>
            <a:off x="4754880" y="4370440"/>
            <a:ext cx="3200400" cy="5029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Operational observation</a:t>
            </a:r>
          </a:p>
        </p:txBody>
      </p:sp>
      <p:cxnSp>
        <p:nvCxnSpPr>
          <p:cNvPr id="32" name="Fan5"/>
          <p:cNvCxnSpPr/>
          <p:nvPr/>
        </p:nvCxnSpPr>
        <p:spPr>
          <a:xfrm>
            <a:off x="3063240" y="3276060"/>
            <a:ext cx="1691640" cy="134584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
        <p:nvSpPr>
          <p:cNvPr id="33" name="Mech6"/>
          <p:cNvSpPr/>
          <p:nvPr/>
        </p:nvSpPr>
        <p:spPr>
          <a:xfrm>
            <a:off x="4754880" y="5043360"/>
            <a:ext cx="3200400" cy="502920"/>
          </a:xfrm>
          <a:prstGeom prst="rect">
            <a:avLst/>
          </a:prstGeom>
          <a:solidFill>
            <a:srgbClr val="F5F1E8"/>
          </a:solidFill>
          <a:ln w="19050">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1" i="0">
                <a:solidFill>
                  <a:srgbClr val="5C4826"/>
                </a:solidFill>
              </a:rPr>
              <a:t>Measurement</a:t>
            </a:r>
          </a:p>
        </p:txBody>
      </p:sp>
      <p:cxnSp>
        <p:nvCxnSpPr>
          <p:cNvPr id="34" name="Fan6"/>
          <p:cNvCxnSpPr/>
          <p:nvPr/>
        </p:nvCxnSpPr>
        <p:spPr>
          <a:xfrm>
            <a:off x="3063240" y="3276060"/>
            <a:ext cx="1691640" cy="2018760"/>
          </a:xfrm>
          <a:prstGeom prst="line">
            <a:avLst/>
          </a:prstGeom>
          <a:ln w="9525">
            <a:solidFill>
              <a:srgbClr val="C9B991"/>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observation would change the decision?</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4" name="DecisionBand"/>
          <p:cNvSpPr/>
          <p:nvPr/>
        </p:nvSpPr>
        <p:spPr>
          <a:xfrm>
            <a:off x="274320" y="932688"/>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8E6F3E"/>
                </a:solidFill>
              </a:rPr>
              <a:t>DECISION      </a:t>
            </a:r>
            <a:r>
              <a:rPr sz="2000" b="0" i="0">
                <a:solidFill>
                  <a:srgbClr val="5C4826"/>
                </a:solidFill>
              </a:rPr>
              <a:t>Choose between two caching strategies.</a:t>
            </a:r>
          </a:p>
        </p:txBody>
      </p:sp>
      <p:sp>
        <p:nvSpPr>
          <p:cNvPr id="5" name="ModelLbl"/>
          <p:cNvSpPr txBox="1"/>
          <p:nvPr/>
        </p:nvSpPr>
        <p:spPr>
          <a:xfrm>
            <a:off x="310896" y="1623060"/>
            <a:ext cx="3959352" cy="365760"/>
          </a:xfrm>
          <a:prstGeom prst="rect">
            <a:avLst/>
          </a:prstGeom>
          <a:noFill/>
        </p:spPr>
        <p:txBody>
          <a:bodyPr wrap="square" lIns="0" tIns="0" rIns="0" bIns="0" anchor="ctr">
            <a:spAutoFit/>
          </a:bodyPr>
          <a:lstStyle/>
          <a:p>
            <a:pPr algn="l"/>
            <a:r>
              <a:rPr sz="2000" b="1" i="0">
                <a:solidFill>
                  <a:srgbClr val="8E6F3E"/>
                </a:solidFill>
              </a:rPr>
              <a:t>MODEL</a:t>
            </a:r>
          </a:p>
        </p:txBody>
      </p:sp>
      <p:sp>
        <p:nvSpPr>
          <p:cNvPr id="6" name="CardA"/>
          <p:cNvSpPr/>
          <p:nvPr/>
        </p:nvSpPr>
        <p:spPr>
          <a:xfrm>
            <a:off x="310896"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A — larger cache</a:t>
            </a:r>
          </a:p>
          <a:p>
            <a:pPr algn="l"/>
            <a:r>
              <a:rPr sz="2000" b="0" i="0">
                <a:solidFill>
                  <a:srgbClr val="5C4826"/>
                </a:solidFill>
              </a:rPr>
              <a:t>lower expected latency</a:t>
            </a:r>
          </a:p>
          <a:p>
            <a:pPr algn="l"/>
            <a:r>
              <a:rPr sz="2000" b="0" i="0">
                <a:solidFill>
                  <a:srgbClr val="5C4826"/>
                </a:solidFill>
              </a:rPr>
              <a:t>higher memory</a:t>
            </a:r>
          </a:p>
        </p:txBody>
      </p:sp>
      <p:sp>
        <p:nvSpPr>
          <p:cNvPr id="7" name="CardB"/>
          <p:cNvSpPr/>
          <p:nvPr/>
        </p:nvSpPr>
        <p:spPr>
          <a:xfrm>
            <a:off x="4718304" y="2038348"/>
            <a:ext cx="411480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l"/>
            <a:r>
              <a:rPr sz="2000" b="1" i="0">
                <a:solidFill>
                  <a:srgbClr val="5C4826"/>
                </a:solidFill>
              </a:rPr>
              <a:t>B — smaller cache</a:t>
            </a:r>
          </a:p>
          <a:p>
            <a:pPr algn="l"/>
            <a:r>
              <a:rPr sz="2000" b="0" i="0">
                <a:solidFill>
                  <a:srgbClr val="5C4826"/>
                </a:solidFill>
              </a:rPr>
              <a:t>higher expected latency</a:t>
            </a:r>
          </a:p>
          <a:p>
            <a:pPr algn="l"/>
            <a:r>
              <a:rPr sz="2000" b="0" i="0">
                <a:solidFill>
                  <a:srgbClr val="5C4826"/>
                </a:solidFill>
              </a:rPr>
              <a:t>lower memory</a:t>
            </a:r>
          </a:p>
        </p:txBody>
      </p:sp>
      <p:sp>
        <p:nvSpPr>
          <p:cNvPr id="8" name="Known"/>
          <p:cNvSpPr txBox="1"/>
          <p:nvPr/>
        </p:nvSpPr>
        <p:spPr>
          <a:xfrm>
            <a:off x="310896" y="3336028"/>
            <a:ext cx="8558784" cy="457200"/>
          </a:xfrm>
          <a:prstGeom prst="rect">
            <a:avLst/>
          </a:prstGeom>
          <a:noFill/>
        </p:spPr>
        <p:txBody>
          <a:bodyPr wrap="square" lIns="0" tIns="0" rIns="0" bIns="0" anchor="ctr">
            <a:spAutoFit/>
          </a:bodyPr>
          <a:lstStyle/>
          <a:p>
            <a:pPr algn="l"/>
            <a:r>
              <a:rPr sz="2000" b="1" i="0">
                <a:solidFill>
                  <a:srgbClr val="8E6F3E"/>
                </a:solidFill>
              </a:rPr>
              <a:t>KNOWN      </a:t>
            </a:r>
            <a:r>
              <a:rPr sz="2000" b="0" i="0">
                <a:solidFill>
                  <a:srgbClr val="555960"/>
                </a:solidFill>
              </a:rPr>
              <a:t>Both strategies fit the memory budget.</a:t>
            </a:r>
          </a:p>
        </p:txBody>
      </p:sp>
      <p:sp>
        <p:nvSpPr>
          <p:cNvPr id="9" name="Uncertain"/>
          <p:cNvSpPr txBox="1"/>
          <p:nvPr/>
        </p:nvSpPr>
        <p:spPr>
          <a:xfrm>
            <a:off x="310896" y="3857868"/>
            <a:ext cx="8558784" cy="685800"/>
          </a:xfrm>
          <a:prstGeom prst="rect">
            <a:avLst/>
          </a:prstGeom>
          <a:noFill/>
        </p:spPr>
        <p:txBody>
          <a:bodyPr wrap="square" lIns="0" tIns="0" rIns="0" bIns="0" anchor="t">
            <a:spAutoFit/>
          </a:bodyPr>
          <a:lstStyle/>
          <a:p>
            <a:pPr algn="l"/>
            <a:r>
              <a:rPr sz="2000" b="1" i="0">
                <a:solidFill>
                  <a:srgbClr val="8E6F3E"/>
                </a:solidFill>
              </a:rPr>
              <a:t>UNCERTAIN      </a:t>
            </a:r>
            <a:r>
              <a:rPr sz="2000" b="0" i="0">
                <a:solidFill>
                  <a:srgbClr val="555960"/>
                </a:solidFill>
              </a:rPr>
              <a:t>Will the larger cache materially improve latency under the expected workload?</a:t>
            </a:r>
          </a:p>
        </p:txBody>
      </p:sp>
      <p:sp>
        <p:nvSpPr>
          <p:cNvPr id="10" name="AskBand"/>
          <p:cNvSpPr/>
          <p:nvPr/>
        </p:nvSpPr>
        <p:spPr>
          <a:xfrm>
            <a:off x="274320" y="4708868"/>
            <a:ext cx="8595360" cy="54864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5C4826"/>
                </a:solidFill>
              </a:rPr>
              <a:t>What evidence would actually change the choice?</a:t>
            </a:r>
          </a:p>
        </p:txBody>
      </p:sp>
      <p:sp>
        <p:nvSpPr>
          <p:cNvPr id="11" name="Reveal"/>
          <p:cNvSpPr/>
          <p:nvPr/>
        </p:nvSpPr>
        <p:spPr>
          <a:xfrm>
            <a:off x="274320" y="5486400"/>
            <a:ext cx="85953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Run both under a representative workload; compare the latency distributions.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fade">
                                      <p:cBhvr>
                                        <p:cTn id="7" dur="5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properties to measurements</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2</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Property → Metric → Measurement →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114" name="Quote"/>
          <p:cNvSpPr/>
          <p:nvPr/>
        </p:nvSpPr>
        <p:spPr>
          <a:xfrm>
            <a:off x="274320" y="3657600"/>
            <a:ext cx="8595360" cy="6400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1" dirty="0">
                <a:solidFill>
                  <a:srgbClr val="5C4826"/>
                </a:solidFill>
              </a:rPr>
              <a:t>A metric specifies how observations will bear on some aspect of a property.</a:t>
            </a:r>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The metric holds the modeling choice. The measurement supplies values.</a:t>
            </a:r>
          </a:p>
        </p:txBody>
      </p:sp>
      <p:sp>
        <p:nvSpPr>
          <p:cNvPr id="117" name="Chain0"/>
          <p:cNvSpPr/>
          <p:nvPr/>
        </p:nvSpPr>
        <p:spPr>
          <a:xfrm>
            <a:off x="60516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sp>
        <p:nvSpPr>
          <p:cNvPr id="118" name="Chain1"/>
          <p:cNvSpPr/>
          <p:nvPr/>
        </p:nvSpPr>
        <p:spPr>
          <a:xfrm>
            <a:off x="2949840" y="1234440"/>
            <a:ext cx="10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sp>
        <p:nvSpPr>
          <p:cNvPr id="119" name="Chain2"/>
          <p:cNvSpPr/>
          <p:nvPr/>
        </p:nvSpPr>
        <p:spPr>
          <a:xfrm>
            <a:off x="4694520" y="1234440"/>
            <a:ext cx="19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sp>
        <p:nvSpPr>
          <p:cNvPr id="120" name="Chain3"/>
          <p:cNvSpPr/>
          <p:nvPr/>
        </p:nvSpPr>
        <p:spPr>
          <a:xfrm>
            <a:off x="7189200" y="1234440"/>
            <a:ext cx="135000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21" name="C10"/>
          <p:cNvCxnSpPr/>
          <p:nvPr/>
        </p:nvCxnSpPr>
        <p:spPr>
          <a:xfrm>
            <a:off x="2000880" y="1554480"/>
            <a:ext cx="9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2" name="Verb0"/>
          <p:cNvSpPr txBox="1"/>
          <p:nvPr/>
        </p:nvSpPr>
        <p:spPr>
          <a:xfrm>
            <a:off x="1538100" y="810000"/>
            <a:ext cx="1828800" cy="365760"/>
          </a:xfrm>
          <a:prstGeom prst="rect">
            <a:avLst/>
          </a:prstGeom>
          <a:noFill/>
        </p:spPr>
        <p:txBody>
          <a:bodyPr wrap="square" lIns="0" tIns="0" rIns="0" bIns="0" anchor="ctr">
            <a:spAutoFit/>
          </a:bodyPr>
          <a:lstStyle/>
          <a:p>
            <a:pPr algn="ctr"/>
            <a:r>
              <a:rPr sz="2000" b="0" i="1">
                <a:solidFill>
                  <a:srgbClr val="555960"/>
                </a:solidFill>
              </a:rPr>
              <a:t>assessed by</a:t>
            </a:r>
          </a:p>
        </p:txBody>
      </p:sp>
      <p:cxnSp>
        <p:nvCxnSpPr>
          <p:cNvPr id="123" name="C11"/>
          <p:cNvCxnSpPr/>
          <p:nvPr/>
        </p:nvCxnSpPr>
        <p:spPr>
          <a:xfrm>
            <a:off x="4045560" y="1554480"/>
            <a:ext cx="60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4" name="Verb1"/>
          <p:cNvSpPr txBox="1"/>
          <p:nvPr/>
        </p:nvSpPr>
        <p:spPr>
          <a:xfrm>
            <a:off x="3432780" y="810000"/>
            <a:ext cx="1828800" cy="365760"/>
          </a:xfrm>
          <a:prstGeom prst="rect">
            <a:avLst/>
          </a:prstGeom>
          <a:noFill/>
        </p:spPr>
        <p:txBody>
          <a:bodyPr wrap="square" lIns="0" tIns="0" rIns="0" bIns="0" anchor="ctr">
            <a:spAutoFit/>
          </a:bodyPr>
          <a:lstStyle/>
          <a:p>
            <a:pPr algn="ctr"/>
            <a:r>
              <a:rPr sz="2000" b="0" i="1">
                <a:solidFill>
                  <a:srgbClr val="555960"/>
                </a:solidFill>
              </a:rPr>
              <a:t>applied</a:t>
            </a:r>
          </a:p>
        </p:txBody>
      </p:sp>
      <p:cxnSp>
        <p:nvCxnSpPr>
          <p:cNvPr id="125" name="C12"/>
          <p:cNvCxnSpPr/>
          <p:nvPr/>
        </p:nvCxnSpPr>
        <p:spPr>
          <a:xfrm>
            <a:off x="6690240" y="1554480"/>
            <a:ext cx="4532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Verb2"/>
          <p:cNvSpPr txBox="1"/>
          <p:nvPr/>
        </p:nvSpPr>
        <p:spPr>
          <a:xfrm>
            <a:off x="6002460" y="810000"/>
            <a:ext cx="1828800" cy="365760"/>
          </a:xfrm>
          <a:prstGeom prst="rect">
            <a:avLst/>
          </a:prstGeom>
          <a:noFill/>
        </p:spPr>
        <p:txBody>
          <a:bodyPr wrap="square" lIns="0" tIns="0" rIns="0" bIns="0" anchor="ctr">
            <a:spAutoFit/>
          </a:bodyPr>
          <a:lstStyle/>
          <a:p>
            <a:pPr algn="ctr"/>
            <a:r>
              <a:rPr sz="2000" b="0" i="1">
                <a:solidFill>
                  <a:srgbClr val="555960"/>
                </a:solidFill>
              </a:rPr>
              <a:t>bears on</a:t>
            </a:r>
          </a:p>
        </p:txBody>
      </p:sp>
      <p:sp>
        <p:nvSpPr>
          <p:cNvPr id="127" name="Def0"/>
          <p:cNvSpPr/>
          <p:nvPr/>
        </p:nvSpPr>
        <p:spPr>
          <a:xfrm>
            <a:off x="27432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we care about</a:t>
            </a:r>
          </a:p>
        </p:txBody>
      </p:sp>
      <p:sp>
        <p:nvSpPr>
          <p:cNvPr id="128" name="Def1"/>
          <p:cNvSpPr/>
          <p:nvPr/>
        </p:nvSpPr>
        <p:spPr>
          <a:xfrm>
            <a:off x="246900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how observations bear on it</a:t>
            </a:r>
          </a:p>
          <a:p>
            <a:pPr algn="ctr"/>
            <a:r>
              <a:rPr sz="2000" b="0" i="0">
                <a:solidFill>
                  <a:srgbClr val="5C4826"/>
                </a:solidFill>
              </a:rPr>
              <a:t>— the modeling choice</a:t>
            </a:r>
          </a:p>
        </p:txBody>
      </p:sp>
      <p:sp>
        <p:nvSpPr>
          <p:cNvPr id="129" name="Def2"/>
          <p:cNvSpPr/>
          <p:nvPr/>
        </p:nvSpPr>
        <p:spPr>
          <a:xfrm>
            <a:off x="466368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the result, under stated conditions</a:t>
            </a:r>
          </a:p>
        </p:txBody>
      </p:sp>
      <p:sp>
        <p:nvSpPr>
          <p:cNvPr id="130" name="Def3"/>
          <p:cNvSpPr/>
          <p:nvPr/>
        </p:nvSpPr>
        <p:spPr>
          <a:xfrm>
            <a:off x="6858360" y="2148840"/>
            <a:ext cx="2011680" cy="12801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rIns="45720" rtlCol="0" anchor="t"/>
          <a:lstStyle/>
          <a:p>
            <a:pPr algn="ctr"/>
            <a:r>
              <a:rPr sz="2000" b="0" i="0">
                <a:solidFill>
                  <a:srgbClr val="5C4826"/>
                </a:solidFill>
              </a:rPr>
              <a:t>what the result supports</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A metric operationalizes a property</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sp>
        <p:nvSpPr>
          <p:cNvPr id="100" name="S0"/>
          <p:cNvSpPr/>
          <p:nvPr/>
        </p:nvSpPr>
        <p:spPr>
          <a:xfrm>
            <a:off x="502920" y="1234440"/>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end-to-end responsiveness</a:t>
            </a:r>
          </a:p>
        </p:txBody>
      </p:sp>
      <p:cxnSp>
        <p:nvCxnSpPr>
          <p:cNvPr id="101" name="C101"/>
          <p:cNvCxnSpPr/>
          <p:nvPr/>
        </p:nvCxnSpPr>
        <p:spPr>
          <a:xfrm>
            <a:off x="2304288" y="2130552"/>
            <a:ext cx="0" cy="310896"/>
          </a:xfrm>
          <a:prstGeom prst="straightConnector1">
            <a:avLst/>
          </a:prstGeom>
          <a:ln w="19050">
            <a:solidFill>
              <a:srgbClr val="8E6F3E"/>
            </a:solidFill>
            <a:tailEnd type="triangle" w="med" len="med"/>
          </a:ln>
        </p:spPr>
      </p:cxnSp>
      <p:sp>
        <p:nvSpPr>
          <p:cNvPr id="102" name="S1"/>
          <p:cNvSpPr/>
          <p:nvPr/>
        </p:nvSpPr>
        <p:spPr>
          <a:xfrm>
            <a:off x="502920" y="2441448"/>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METRIC</a:t>
            </a:r>
          </a:p>
          <a:p>
            <a:pPr algn="ctr">
              <a:spcBef>
                <a:spcPts val="80"/>
              </a:spcBef>
              <a:buNone/>
            </a:pPr>
            <a:r>
              <a:rPr lang="en-US" sz="2000" b="0" i="0" dirty="0">
                <a:solidFill>
                  <a:srgbClr val="5C4826"/>
                </a:solidFill>
              </a:rPr>
              <a:t>p99 request latency under workload W</a:t>
            </a:r>
          </a:p>
        </p:txBody>
      </p:sp>
      <p:cxnSp>
        <p:nvCxnSpPr>
          <p:cNvPr id="103" name="C103"/>
          <p:cNvCxnSpPr/>
          <p:nvPr/>
        </p:nvCxnSpPr>
        <p:spPr>
          <a:xfrm>
            <a:off x="2304288" y="3337560"/>
            <a:ext cx="0" cy="310896"/>
          </a:xfrm>
          <a:prstGeom prst="straightConnector1">
            <a:avLst/>
          </a:prstGeom>
          <a:ln w="19050">
            <a:solidFill>
              <a:srgbClr val="8E6F3E"/>
            </a:solidFill>
            <a:tailEnd type="triangle" w="med" len="med"/>
          </a:ln>
        </p:spPr>
      </p:cxnSp>
      <p:sp>
        <p:nvSpPr>
          <p:cNvPr id="104" name="S2"/>
          <p:cNvSpPr/>
          <p:nvPr/>
        </p:nvSpPr>
        <p:spPr>
          <a:xfrm>
            <a:off x="502920" y="3648456"/>
            <a:ext cx="3611880" cy="896112"/>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MEASUREMENT</a:t>
            </a:r>
          </a:p>
          <a:p>
            <a:pPr algn="ctr">
              <a:spcBef>
                <a:spcPts val="80"/>
              </a:spcBef>
              <a:buNone/>
            </a:pPr>
            <a:r>
              <a:rPr lang="en-US" sz="2000" b="0" i="0" dirty="0">
                <a:solidFill>
                  <a:srgbClr val="5C4826"/>
                </a:solidFill>
              </a:rPr>
              <a:t>420 ms</a:t>
            </a:r>
          </a:p>
        </p:txBody>
      </p:sp>
      <p:sp>
        <p:nvSpPr>
          <p:cNvPr id="105" name="OpDef"/>
          <p:cNvSpPr/>
          <p:nvPr/>
        </p:nvSpPr>
        <p:spPr>
          <a:xfrm>
            <a:off x="4526280" y="1234440"/>
            <a:ext cx="4297680" cy="1463040"/>
          </a:xfrm>
          <a:prstGeom prst="rect">
            <a:avLst/>
          </a:prstGeom>
          <a:solidFill>
            <a:srgbClr val="F5F1E8"/>
          </a:solidFill>
          <a:ln w="12700">
            <a:solidFill>
              <a:srgbClr val="C9B991"/>
            </a:solidFill>
          </a:ln>
        </p:spPr>
        <p:txBody>
          <a:bodyPr wrap="square" lIns="137160" tIns="45720" rIns="137160" bIns="45720" anchor="ctr"/>
          <a:lstStyle/>
          <a:p>
            <a:pPr algn="ctr">
              <a:buNone/>
            </a:pPr>
            <a:r>
              <a:rPr lang="en-US" sz="2000" b="1" i="0" dirty="0">
                <a:solidFill>
                  <a:srgbClr val="8E6F3E"/>
                </a:solidFill>
              </a:rPr>
              <a:t>OPERATIONALIZE</a:t>
            </a:r>
          </a:p>
          <a:p>
            <a:pPr algn="ctr">
              <a:spcBef>
                <a:spcPts val="140"/>
              </a:spcBef>
              <a:buNone/>
            </a:pPr>
            <a:r>
              <a:rPr lang="en-US" sz="2000" b="0" i="0" dirty="0">
                <a:solidFill>
                  <a:srgbClr val="5C4826"/>
                </a:solidFill>
              </a:rPr>
              <a:t>make an abstract property empirically assessable by specifying what will count as an observation of it</a:t>
            </a:r>
          </a:p>
        </p:txBody>
      </p:sp>
      <p:sp>
        <p:nvSpPr>
          <p:cNvPr id="106" name="NotItself"/>
          <p:cNvSpPr txBox="1"/>
          <p:nvPr/>
        </p:nvSpPr>
        <p:spPr>
          <a:xfrm>
            <a:off x="4526280" y="3154680"/>
            <a:ext cx="4297680" cy="1234440"/>
          </a:xfrm>
          <a:prstGeom prst="rect">
            <a:avLst/>
          </a:prstGeom>
          <a:noFill/>
          <a:ln>
            <a:noFill/>
          </a:ln>
        </p:spPr>
        <p:txBody>
          <a:bodyPr wrap="square" lIns="0" tIns="0" rIns="0" bIns="0" anchor="t"/>
          <a:lstStyle/>
          <a:p>
            <a:pPr algn="l">
              <a:buNone/>
            </a:pPr>
            <a:r>
              <a:rPr lang="en-US" sz="2000" b="1" i="0" dirty="0">
                <a:solidFill>
                  <a:srgbClr val="000000"/>
                </a:solidFill>
              </a:rPr>
              <a:t>p99 latency is not responsiveness itself.</a:t>
            </a:r>
          </a:p>
          <a:p>
            <a:pPr algn="l">
              <a:spcBef>
                <a:spcPts val="160"/>
              </a:spcBef>
              <a:buNone/>
            </a:pPr>
            <a:r>
              <a:rPr lang="en-US" sz="2000" b="0" i="0" dirty="0">
                <a:solidFill>
                  <a:srgbClr val="555960"/>
                </a:solidFill>
              </a:rPr>
              <a:t>It is a chosen representation of one aspect of the property.</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 parameterizes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100" name="Eq"/>
          <p:cNvSpPr/>
          <p:nvPr/>
        </p:nvSpPr>
        <p:spPr>
          <a:xfrm>
            <a:off x="274320" y="960120"/>
            <a:ext cx="8595360" cy="68580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end-to-end latency   =   service  +  queueing  +  communication  +  …</a:t>
            </a:r>
          </a:p>
        </p:txBody>
      </p:sp>
      <p:sp>
        <p:nvSpPr>
          <p:cNvPr id="101" name="LblL"/>
          <p:cNvSpPr txBox="1"/>
          <p:nvPr/>
        </p:nvSpPr>
        <p:spPr>
          <a:xfrm>
            <a:off x="310896"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BEFORE OBSERVATION</a:t>
            </a:r>
          </a:p>
        </p:txBody>
      </p:sp>
      <p:sp>
        <p:nvSpPr>
          <p:cNvPr id="102" name="CardL"/>
          <p:cNvSpPr/>
          <p:nvPr/>
        </p:nvSpPr>
        <p:spPr>
          <a:xfrm>
            <a:off x="310896"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estimate</a:t>
            </a:r>
          </a:p>
          <a:p>
            <a:pPr algn="ctr">
              <a:spcBef>
                <a:spcPts val="140"/>
              </a:spcBef>
              <a:buNone/>
            </a:pPr>
            <a:r>
              <a:rPr lang="en-US" sz="2000" b="0" i="0" dirty="0">
                <a:solidFill>
                  <a:srgbClr val="5C4826"/>
                </a:solidFill>
              </a:rPr>
              <a:t>queueing = assumption</a:t>
            </a:r>
          </a:p>
          <a:p>
            <a:pPr algn="ctr">
              <a:spcBef>
                <a:spcPts val="140"/>
              </a:spcBef>
              <a:buNone/>
            </a:pPr>
            <a:r>
              <a:rPr lang="en-US" sz="2000" b="0" i="0" dirty="0">
                <a:solidFill>
                  <a:srgbClr val="5C4826"/>
                </a:solidFill>
              </a:rPr>
              <a:t>communication = estimate</a:t>
            </a:r>
          </a:p>
        </p:txBody>
      </p:sp>
      <p:cxnSp>
        <p:nvCxnSpPr>
          <p:cNvPr id="103" name="C103"/>
          <p:cNvCxnSpPr/>
          <p:nvPr/>
        </p:nvCxnSpPr>
        <p:spPr>
          <a:xfrm>
            <a:off x="4306824" y="3118104"/>
            <a:ext cx="530352" cy="0"/>
          </a:xfrm>
          <a:prstGeom prst="straightConnector1">
            <a:avLst/>
          </a:prstGeom>
          <a:ln w="28575">
            <a:solidFill>
              <a:srgbClr val="8E6F3E"/>
            </a:solidFill>
            <a:tailEnd type="triangle" w="med" len="med"/>
          </a:ln>
        </p:spPr>
      </p:cxnSp>
      <p:sp>
        <p:nvSpPr>
          <p:cNvPr id="104" name="LblR"/>
          <p:cNvSpPr txBox="1"/>
          <p:nvPr/>
        </p:nvSpPr>
        <p:spPr>
          <a:xfrm>
            <a:off x="4873752" y="1920240"/>
            <a:ext cx="3959352" cy="384048"/>
          </a:xfrm>
          <a:prstGeom prst="rect">
            <a:avLst/>
          </a:prstGeom>
          <a:noFill/>
          <a:ln>
            <a:noFill/>
          </a:ln>
        </p:spPr>
        <p:txBody>
          <a:bodyPr wrap="square" lIns="0" tIns="0" rIns="0" bIns="0" anchor="t"/>
          <a:lstStyle/>
          <a:p>
            <a:pPr algn="ctr">
              <a:buNone/>
            </a:pPr>
            <a:r>
              <a:rPr lang="en-US" sz="2000" b="1" i="0" dirty="0">
                <a:solidFill>
                  <a:srgbClr val="8E6F3E"/>
                </a:solidFill>
              </a:rPr>
              <a:t>AFTER MEASUREMENT</a:t>
            </a:r>
          </a:p>
        </p:txBody>
      </p:sp>
      <p:sp>
        <p:nvSpPr>
          <p:cNvPr id="105" name="CardR"/>
          <p:cNvSpPr/>
          <p:nvPr/>
        </p:nvSpPr>
        <p:spPr>
          <a:xfrm>
            <a:off x="4873752" y="2340864"/>
            <a:ext cx="3959352" cy="15544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service = 180 ms </a:t>
            </a:r>
            <a:r>
              <a:rPr lang="en-US" sz="2000" b="0" i="1" dirty="0">
                <a:solidFill>
                  <a:srgbClr val="8E6F3E"/>
                </a:solidFill>
              </a:rPr>
              <a:t>observed</a:t>
            </a:r>
          </a:p>
          <a:p>
            <a:pPr algn="ctr">
              <a:spcBef>
                <a:spcPts val="140"/>
              </a:spcBef>
              <a:buNone/>
            </a:pPr>
            <a:r>
              <a:rPr lang="en-US" sz="2000" b="0" i="0" dirty="0">
                <a:solidFill>
                  <a:srgbClr val="5C4826"/>
                </a:solidFill>
              </a:rPr>
              <a:t>queueing = 130 ms </a:t>
            </a:r>
            <a:r>
              <a:rPr lang="en-US" sz="2000" b="0" i="1" dirty="0">
                <a:solidFill>
                  <a:srgbClr val="8E6F3E"/>
                </a:solidFill>
              </a:rPr>
              <a:t>observed</a:t>
            </a:r>
          </a:p>
          <a:p>
            <a:pPr algn="ctr">
              <a:spcBef>
                <a:spcPts val="140"/>
              </a:spcBef>
              <a:buNone/>
            </a:pPr>
            <a:r>
              <a:rPr lang="en-US" sz="2000" b="0" i="0" dirty="0">
                <a:solidFill>
                  <a:srgbClr val="5C4826"/>
                </a:solidFill>
              </a:rPr>
              <a:t>communication = 90 ms </a:t>
            </a:r>
            <a:r>
              <a:rPr lang="en-US" sz="2000" b="0" i="1" dirty="0">
                <a:solidFill>
                  <a:srgbClr val="8E6F3E"/>
                </a:solidFill>
              </a:rPr>
              <a:t>observed</a:t>
            </a:r>
          </a:p>
        </p:txBody>
      </p:sp>
      <p:sp>
        <p:nvSpPr>
          <p:cNvPr id="106" name="Two"/>
          <p:cNvSpPr txBox="1"/>
          <p:nvPr/>
        </p:nvSpPr>
        <p:spPr>
          <a:xfrm>
            <a:off x="274320" y="4160520"/>
            <a:ext cx="8595360" cy="868680"/>
          </a:xfrm>
          <a:prstGeom prst="rect">
            <a:avLst/>
          </a:prstGeom>
          <a:noFill/>
          <a:ln>
            <a:noFill/>
          </a:ln>
        </p:spPr>
        <p:txBody>
          <a:bodyPr wrap="square" lIns="2011680" tIns="0" rIns="0" bIns="0" anchor="t"/>
          <a:lstStyle/>
          <a:p>
            <a:pPr algn="l">
              <a:buNone/>
            </a:pPr>
            <a:r>
              <a:rPr lang="en-US" sz="2000" b="1" i="0" dirty="0">
                <a:solidFill>
                  <a:srgbClr val="5C4826"/>
                </a:solidFill>
              </a:rPr>
              <a:t>1   </a:t>
            </a:r>
            <a:r>
              <a:rPr lang="en-US" sz="2000" b="0" i="0" dirty="0">
                <a:solidFill>
                  <a:srgbClr val="555960"/>
                </a:solidFill>
              </a:rPr>
              <a:t>Measurement supplies parameter values.</a:t>
            </a:r>
          </a:p>
          <a:p>
            <a:pPr algn="l">
              <a:spcBef>
                <a:spcPts val="160"/>
              </a:spcBef>
              <a:buNone/>
            </a:pPr>
            <a:r>
              <a:rPr lang="en-US" sz="2000" b="1" i="0" dirty="0">
                <a:solidFill>
                  <a:srgbClr val="5C4826"/>
                </a:solidFill>
              </a:rPr>
              <a:t>2   </a:t>
            </a:r>
            <a:r>
              <a:rPr lang="en-US" sz="2000" b="0" i="0" dirty="0">
                <a:solidFill>
                  <a:srgbClr val="555960"/>
                </a:solidFill>
              </a:rPr>
              <a:t>Measurement tests the model’s prediction against reality.</a:t>
            </a:r>
          </a:p>
        </p:txBody>
      </p:sp>
      <p:sp>
        <p:nvSpPr>
          <p:cNvPr id="107"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Measurement supplies observations to a model; it is not itself the model.</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05"/>
                                        </p:tgtEl>
                                        <p:attrNameLst>
                                          <p:attrName>style.visibility</p:attrName>
                                        </p:attrNameLst>
                                      </p:cBhvr>
                                      <p:to>
                                        <p:strVal val="visible"/>
                                      </p:to>
                                    </p:set>
                                    <p:animEffect transition="in" filter="fade">
                                      <p:cBhvr>
                                        <p:cTn id="10" dur="500"/>
                                        <p:tgtEl>
                                          <p:spTgt spid="10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106">
                                            <p:txEl>
                                              <p:pRg st="0" end="0"/>
                                            </p:txEl>
                                          </p:spTgt>
                                        </p:tgtEl>
                                        <p:attrNameLst>
                                          <p:attrName>style.visibility</p:attrName>
                                        </p:attrNameLst>
                                      </p:cBhvr>
                                      <p:to>
                                        <p:strVal val="visible"/>
                                      </p:to>
                                    </p:set>
                                    <p:animEffect transition="in" filter="fade">
                                      <p:cBhvr>
                                        <p:cTn id="13" dur="500"/>
                                        <p:tgtEl>
                                          <p:spTgt spid="106">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06">
                                            <p:txEl>
                                              <p:pRg st="1" end="1"/>
                                            </p:txEl>
                                          </p:spTgt>
                                        </p:tgtEl>
                                        <p:attrNameLst>
                                          <p:attrName>style.visibility</p:attrName>
                                        </p:attrNameLst>
                                      </p:cBhvr>
                                      <p:to>
                                        <p:strVal val="visible"/>
                                      </p:to>
                                    </p:set>
                                    <p:animEffect transition="in" filter="fade">
                                      <p:cBhvr>
                                        <p:cTn id="18" dur="500"/>
                                        <p:tgtEl>
                                          <p:spTgt spid="106">
                                            <p:txEl>
                                              <p:pRg st="1" end="1"/>
                                            </p:txEl>
                                          </p:spTgt>
                                        </p:tgtEl>
                                      </p:cBhvr>
                                    </p:animEffect>
                                  </p:childTnLst>
                                </p:cTn>
                              </p:par>
                              <p:par>
                                <p:cTn id="19" presetID="10" presetClass="entr" presetSubtype="0" fill="hold" nodeType="withEffect">
                                  <p:stCondLst>
                                    <p:cond delay="0"/>
                                  </p:stCondLst>
                                  <p:childTnLst>
                                    <p:set>
                                      <p:cBhvr>
                                        <p:cTn id="20" dur="1" fill="hold">
                                          <p:stCondLst>
                                            <p:cond delay="0"/>
                                          </p:stCondLst>
                                        </p:cTn>
                                        <p:tgtEl>
                                          <p:spTgt spid="107"/>
                                        </p:tgtEl>
                                        <p:attrNameLst>
                                          <p:attrName>style.visibility</p:attrName>
                                        </p:attrNameLst>
                                      </p:cBhvr>
                                      <p:to>
                                        <p:strVal val="visible"/>
                                      </p:to>
                                    </p:set>
                                    <p:animEffect transition="in" filter="fade">
                                      <p:cBhvr>
                                        <p:cTn id="21"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6" grpId="0"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does 420 ms tell us?</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4" name="TPSbadge"/>
          <p:cNvSpPr/>
          <p:nvPr/>
        </p:nvSpPr>
        <p:spPr>
          <a:xfrm>
            <a:off x="393192" y="894080"/>
            <a:ext cx="3108960" cy="548640"/>
          </a:xfrm>
          <a:prstGeom prst="roundRect">
            <a:avLst/>
          </a:prstGeom>
          <a:solidFill>
            <a:srgbClr val="FBF8F2"/>
          </a:solidFill>
          <a:ln w="15875">
            <a:solidFill>
              <a:srgbClr val="8E6F3E"/>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1" i="0">
                <a:solidFill>
                  <a:srgbClr val="6B3FA0"/>
                </a:solidFill>
              </a:rPr>
              <a:t>THINK</a:t>
            </a:r>
            <a:r>
              <a:rPr sz="2000" b="1" i="0">
                <a:solidFill>
                  <a:srgbClr val="9A9A9A"/>
                </a:solidFill>
              </a:rPr>
              <a:t>  ·  </a:t>
            </a:r>
            <a:r>
              <a:rPr sz="2000" b="1" i="0">
                <a:solidFill>
                  <a:srgbClr val="2E74B5"/>
                </a:solidFill>
              </a:rPr>
              <a:t>PAIR</a:t>
            </a:r>
            <a:r>
              <a:rPr sz="2000" b="1" i="0">
                <a:solidFill>
                  <a:srgbClr val="9A9A9A"/>
                </a:solidFill>
              </a:rPr>
              <a:t>  ·  </a:t>
            </a:r>
            <a:r>
              <a:rPr sz="2000" b="1" i="0">
                <a:solidFill>
                  <a:srgbClr val="B8860B"/>
                </a:solidFill>
              </a:rPr>
              <a:t>SHARE</a:t>
            </a:r>
          </a:p>
        </p:txBody>
      </p:sp>
      <p:sp>
        <p:nvSpPr>
          <p:cNvPr id="5" name="TpsPrompt"/>
          <p:cNvSpPr txBox="1"/>
          <p:nvPr/>
        </p:nvSpPr>
        <p:spPr>
          <a:xfrm>
            <a:off x="3648456" y="894080"/>
            <a:ext cx="5221224" cy="548640"/>
          </a:xfrm>
          <a:prstGeom prst="rect">
            <a:avLst/>
          </a:prstGeom>
          <a:noFill/>
        </p:spPr>
        <p:txBody>
          <a:bodyPr wrap="square" lIns="0" tIns="0" rIns="0" bIns="0" anchor="ctr">
            <a:spAutoFit/>
          </a:bodyPr>
          <a:lstStyle/>
          <a:p>
            <a:pPr algn="l"/>
            <a:r>
              <a:rPr sz="2000" b="0" i="0">
                <a:solidFill>
                  <a:srgbClr val="000000"/>
                </a:solidFill>
              </a:rPr>
              <a:t>What would you need to know before this measurement meant anything?</a:t>
            </a:r>
          </a:p>
        </p:txBody>
      </p:sp>
      <p:sp>
        <p:nvSpPr>
          <p:cNvPr id="6" name="Big"/>
          <p:cNvSpPr txBox="1"/>
          <p:nvPr/>
        </p:nvSpPr>
        <p:spPr>
          <a:xfrm>
            <a:off x="2514600" y="2606040"/>
            <a:ext cx="4114800" cy="822960"/>
          </a:xfrm>
          <a:prstGeom prst="rect">
            <a:avLst/>
          </a:prstGeom>
          <a:noFill/>
        </p:spPr>
        <p:txBody>
          <a:bodyPr wrap="none" lIns="0" tIns="0" rIns="0" bIns="0" anchor="ctr"/>
          <a:lstStyle/>
          <a:p>
            <a:pPr algn="ctr"/>
            <a:r>
              <a:rPr sz="6600" b="1" i="0">
                <a:solidFill>
                  <a:srgbClr val="000000"/>
                </a:solidFill>
              </a:rPr>
              <a:t>420 ms</a:t>
            </a:r>
          </a:p>
        </p:txBody>
      </p:sp>
      <p:sp>
        <p:nvSpPr>
          <p:cNvPr id="7" name="Q_percentile"/>
          <p:cNvSpPr/>
          <p:nvPr/>
        </p:nvSpPr>
        <p:spPr>
          <a:xfrm>
            <a:off x="3200400" y="173736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percentile?</a:t>
            </a:r>
          </a:p>
        </p:txBody>
      </p:sp>
      <p:sp>
        <p:nvSpPr>
          <p:cNvPr id="8" name="Q_where"/>
          <p:cNvSpPr/>
          <p:nvPr/>
        </p:nvSpPr>
        <p:spPr>
          <a:xfrm>
            <a:off x="347472"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measured where?</a:t>
            </a:r>
          </a:p>
        </p:txBody>
      </p:sp>
      <p:sp>
        <p:nvSpPr>
          <p:cNvPr id="9" name="Q_workload"/>
          <p:cNvSpPr/>
          <p:nvPr/>
        </p:nvSpPr>
        <p:spPr>
          <a:xfrm>
            <a:off x="6053328" y="274320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workload?</a:t>
            </a:r>
          </a:p>
        </p:txBody>
      </p:sp>
      <p:sp>
        <p:nvSpPr>
          <p:cNvPr id="10" name="Q_config"/>
          <p:cNvSpPr/>
          <p:nvPr/>
        </p:nvSpPr>
        <p:spPr>
          <a:xfrm>
            <a:off x="3200400" y="3617640"/>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configuration?</a:t>
            </a:r>
          </a:p>
        </p:txBody>
      </p:sp>
      <p:sp>
        <p:nvSpPr>
          <p:cNvPr id="11" name="Q_interval"/>
          <p:cNvSpPr/>
          <p:nvPr/>
        </p:nvSpPr>
        <p:spPr>
          <a:xfrm>
            <a:off x="1188720" y="4394683"/>
            <a:ext cx="27432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over what interval?</a:t>
            </a:r>
          </a:p>
        </p:txBody>
      </p:sp>
      <p:sp>
        <p:nvSpPr>
          <p:cNvPr id="12" name="Q_population"/>
          <p:cNvSpPr/>
          <p:nvPr/>
        </p:nvSpPr>
        <p:spPr>
          <a:xfrm>
            <a:off x="5029200" y="4394683"/>
            <a:ext cx="32004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ctr"/>
            <a:r>
              <a:rPr sz="2000" b="0" i="0">
                <a:solidFill>
                  <a:srgbClr val="5C4826"/>
                </a:solidFill>
              </a:rPr>
              <a:t>which request population?</a:t>
            </a:r>
          </a:p>
        </p:txBody>
      </p:sp>
      <p:sp>
        <p:nvSpPr>
          <p:cNvPr id="17" name="Meaningful"/>
          <p:cNvSpPr/>
          <p:nvPr/>
        </p:nvSpPr>
        <p:spPr>
          <a:xfrm>
            <a:off x="502920" y="5303520"/>
            <a:ext cx="8138160" cy="640080"/>
          </a:xfrm>
          <a:prstGeom prst="rect">
            <a:avLst/>
          </a:prstGeom>
          <a:solidFill>
            <a:srgbClr val="FBF8F2"/>
          </a:solidFill>
          <a:ln w="15875">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5C4826"/>
                </a:solidFill>
              </a:rPr>
              <a:t>p99 = 420 ms  ·  end-to-end  ·  workload W  ·  configuration C  ·  interval T</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
                                        </p:tgtEl>
                                        <p:attrNameLst>
                                          <p:attrName>style.visibility</p:attrName>
                                        </p:attrNameLst>
                                      </p:cBhvr>
                                      <p:to>
                                        <p:strVal val="visible"/>
                                      </p:to>
                                    </p:set>
                                    <p:animEffect transition="in" filter="fade">
                                      <p:cBhvr>
                                        <p:cTn id="7" dur="500"/>
                                        <p:tgtEl>
                                          <p:spTgt spid="7"/>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8"/>
                                        </p:tgtEl>
                                        <p:attrNameLst>
                                          <p:attrName>style.visibility</p:attrName>
                                        </p:attrNameLst>
                                      </p:cBhvr>
                                      <p:to>
                                        <p:strVal val="visible"/>
                                      </p:to>
                                    </p:set>
                                    <p:animEffect transition="in" filter="fade">
                                      <p:cBhvr>
                                        <p:cTn id="12" dur="500"/>
                                        <p:tgtEl>
                                          <p:spTgt spid="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fade">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0"/>
                                        </p:tgtEl>
                                        <p:attrNameLst>
                                          <p:attrName>style.visibility</p:attrName>
                                        </p:attrNameLst>
                                      </p:cBhvr>
                                      <p:to>
                                        <p:strVal val="visible"/>
                                      </p:to>
                                    </p:set>
                                    <p:animEffect transition="in" filter="fade">
                                      <p:cBhvr>
                                        <p:cTn id="22" dur="500"/>
                                        <p:tgtEl>
                                          <p:spTgt spid="1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11"/>
                                        </p:tgtEl>
                                        <p:attrNameLst>
                                          <p:attrName>style.visibility</p:attrName>
                                        </p:attrNameLst>
                                      </p:cBhvr>
                                      <p:to>
                                        <p:strVal val="visible"/>
                                      </p:to>
                                    </p:set>
                                    <p:animEffect transition="in" filter="fade">
                                      <p:cBhvr>
                                        <p:cTn id="27" dur="500"/>
                                        <p:tgtEl>
                                          <p:spTgt spid="1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2"/>
                                        </p:tgtEl>
                                        <p:attrNameLst>
                                          <p:attrName>style.visibility</p:attrName>
                                        </p:attrNameLst>
                                      </p:cBhvr>
                                      <p:to>
                                        <p:strVal val="visible"/>
                                      </p:to>
                                    </p:set>
                                    <p:animEffect transition="in" filter="fade">
                                      <p:cBhvr>
                                        <p:cTn id="32" dur="500"/>
                                        <p:tgtEl>
                                          <p:spTgt spid="12"/>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17"/>
                                        </p:tgtEl>
                                        <p:attrNameLst>
                                          <p:attrName>style.visibility</p:attrName>
                                        </p:attrNameLst>
                                      </p:cBhvr>
                                      <p:to>
                                        <p:strVal val="visible"/>
                                      </p:to>
                                    </p:set>
                                    <p:animEffect transition="in" filter="fade">
                                      <p:cBhvr>
                                        <p:cTn id="37" dur="500"/>
                                        <p:tgtEl>
                                          <p:spTgt spid="1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 where the property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11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Local measurement cannot establish a composed property.</a:t>
            </a:r>
          </a:p>
        </p:txBody>
      </p:sp>
      <p:sp>
        <p:nvSpPr>
          <p:cNvPr id="117" name="K0"/>
          <p:cNvSpPr/>
          <p:nvPr/>
        </p:nvSpPr>
        <p:spPr>
          <a:xfrm>
            <a:off x="91440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i="0">
                <a:solidFill>
                  <a:srgbClr val="5C4826"/>
                </a:solidFill>
              </a:rPr>
              <a:t>A</a:t>
            </a:r>
          </a:p>
        </p:txBody>
      </p:sp>
      <p:sp>
        <p:nvSpPr>
          <p:cNvPr id="118" name="Chk0"/>
          <p:cNvSpPr txBox="1"/>
          <p:nvPr/>
        </p:nvSpPr>
        <p:spPr>
          <a:xfrm>
            <a:off x="91440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19" name="KA0"/>
          <p:cNvCxnSpPr/>
          <p:nvPr/>
        </p:nvCxnSpPr>
        <p:spPr>
          <a:xfrm>
            <a:off x="251460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0" name="K1"/>
          <p:cNvSpPr/>
          <p:nvPr/>
        </p:nvSpPr>
        <p:spPr>
          <a:xfrm>
            <a:off x="283464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i="0">
                <a:solidFill>
                  <a:srgbClr val="5C4826"/>
                </a:solidFill>
              </a:rPr>
              <a:t>B</a:t>
            </a:r>
          </a:p>
        </p:txBody>
      </p:sp>
      <p:sp>
        <p:nvSpPr>
          <p:cNvPr id="121" name="Chk1"/>
          <p:cNvSpPr txBox="1"/>
          <p:nvPr/>
        </p:nvSpPr>
        <p:spPr>
          <a:xfrm>
            <a:off x="283464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2" name="KA1"/>
          <p:cNvCxnSpPr/>
          <p:nvPr/>
        </p:nvCxnSpPr>
        <p:spPr>
          <a:xfrm>
            <a:off x="443484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3" name="K2"/>
          <p:cNvSpPr/>
          <p:nvPr/>
        </p:nvSpPr>
        <p:spPr>
          <a:xfrm>
            <a:off x="475488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i="0">
                <a:solidFill>
                  <a:srgbClr val="5C4826"/>
                </a:solidFill>
              </a:rPr>
              <a:t>C</a:t>
            </a:r>
          </a:p>
        </p:txBody>
      </p:sp>
      <p:sp>
        <p:nvSpPr>
          <p:cNvPr id="124" name="Chk2"/>
          <p:cNvSpPr txBox="1"/>
          <p:nvPr/>
        </p:nvSpPr>
        <p:spPr>
          <a:xfrm>
            <a:off x="475488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cxnSp>
        <p:nvCxnSpPr>
          <p:cNvPr id="125" name="KA2"/>
          <p:cNvCxnSpPr/>
          <p:nvPr/>
        </p:nvCxnSpPr>
        <p:spPr>
          <a:xfrm>
            <a:off x="6355080" y="1851660"/>
            <a:ext cx="27432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K3"/>
          <p:cNvSpPr/>
          <p:nvPr/>
        </p:nvSpPr>
        <p:spPr>
          <a:xfrm>
            <a:off x="6675120" y="1417320"/>
            <a:ext cx="1554480" cy="8686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400" b="1" i="0">
                <a:solidFill>
                  <a:srgbClr val="5C4826"/>
                </a:solidFill>
              </a:rPr>
              <a:t>D</a:t>
            </a:r>
          </a:p>
        </p:txBody>
      </p:sp>
      <p:sp>
        <p:nvSpPr>
          <p:cNvPr id="127" name="Chk3"/>
          <p:cNvSpPr txBox="1"/>
          <p:nvPr/>
        </p:nvSpPr>
        <p:spPr>
          <a:xfrm>
            <a:off x="6675120" y="2377440"/>
            <a:ext cx="1554480" cy="457200"/>
          </a:xfrm>
          <a:prstGeom prst="rect">
            <a:avLst/>
          </a:prstGeom>
          <a:noFill/>
        </p:spPr>
        <p:txBody>
          <a:bodyPr wrap="square" lIns="0" tIns="0" rIns="0" bIns="0" anchor="ctr">
            <a:spAutoFit/>
          </a:bodyPr>
          <a:lstStyle/>
          <a:p>
            <a:pPr algn="ctr"/>
            <a:r>
              <a:rPr sz="2400" b="1" i="0">
                <a:solidFill>
                  <a:srgbClr val="5C4826"/>
                </a:solidFill>
              </a:rPr>
              <a:t>✓</a:t>
            </a:r>
          </a:p>
        </p:txBody>
      </p:sp>
      <p:sp>
        <p:nvSpPr>
          <p:cNvPr id="129" name="Cross"/>
          <p:cNvSpPr txBox="1"/>
          <p:nvPr/>
        </p:nvSpPr>
        <p:spPr>
          <a:xfrm>
            <a:off x="4160520" y="3261360"/>
            <a:ext cx="822960" cy="457200"/>
          </a:xfrm>
          <a:prstGeom prst="rect">
            <a:avLst/>
          </a:prstGeom>
          <a:noFill/>
        </p:spPr>
        <p:txBody>
          <a:bodyPr wrap="square" lIns="0" tIns="0" rIns="0" bIns="0" anchor="ctr">
            <a:spAutoFit/>
          </a:bodyPr>
          <a:lstStyle/>
          <a:p>
            <a:pPr algn="ctr"/>
            <a:r>
              <a:rPr sz="3200" b="1" i="0">
                <a:solidFill>
                  <a:srgbClr val="C0392B"/>
                </a:solidFill>
              </a:rPr>
              <a:t>✗</a:t>
            </a:r>
          </a:p>
        </p:txBody>
      </p:sp>
      <p:sp>
        <p:nvSpPr>
          <p:cNvPr id="130" name="PathLbl"/>
          <p:cNvSpPr txBox="1"/>
          <p:nvPr/>
        </p:nvSpPr>
        <p:spPr>
          <a:xfrm>
            <a:off x="274320" y="3776472"/>
            <a:ext cx="8595360" cy="365760"/>
          </a:xfrm>
          <a:prstGeom prst="rect">
            <a:avLst/>
          </a:prstGeom>
          <a:noFill/>
        </p:spPr>
        <p:txBody>
          <a:bodyPr wrap="square" lIns="0" tIns="0" rIns="0" bIns="0" anchor="ctr">
            <a:spAutoFit/>
          </a:bodyPr>
          <a:lstStyle/>
          <a:p>
            <a:pPr algn="ctr"/>
            <a:r>
              <a:rPr sz="2000" b="0" i="1">
                <a:solidFill>
                  <a:srgbClr val="555960"/>
                </a:solidFill>
              </a:rPr>
              <a:t>the composed path — where the end-to-end property lives</a:t>
            </a:r>
          </a:p>
        </p:txBody>
      </p:sp>
      <p:sp>
        <p:nvSpPr>
          <p:cNvPr id="131" name="Ex"/>
          <p:cNvSpPr txBox="1"/>
          <p:nvPr/>
        </p:nvSpPr>
        <p:spPr>
          <a:xfrm>
            <a:off x="274320" y="4343400"/>
            <a:ext cx="8595360" cy="822960"/>
          </a:xfrm>
          <a:prstGeom prst="rect">
            <a:avLst/>
          </a:prstGeom>
          <a:noFill/>
        </p:spPr>
        <p:txBody>
          <a:bodyPr wrap="square" lIns="0" tIns="0" rIns="0" bIns="0" anchor="ctr">
            <a:spAutoFit/>
          </a:bodyPr>
          <a:lstStyle/>
          <a:p>
            <a:pPr algn="ctr"/>
            <a:r>
              <a:rPr sz="2000" b="0" i="0">
                <a:solidFill>
                  <a:srgbClr val="555960"/>
                </a:solidFill>
              </a:rPr>
              <a:t>component latency  ≠  end-to-end latency</a:t>
            </a:r>
          </a:p>
          <a:p>
            <a:pPr algn="ctr"/>
            <a:r>
              <a:rPr sz="2000" b="0" i="0">
                <a:solidFill>
                  <a:srgbClr val="555960"/>
                </a:solidFill>
              </a:rPr>
              <a:t>service availability  ≠  system availability when dependencies fail together</a:t>
            </a:r>
          </a:p>
        </p:txBody>
      </p:sp>
      <p:cxnSp>
        <p:nvCxnSpPr>
          <p:cNvPr id="132" name="Path"/>
          <p:cNvCxnSpPr/>
          <p:nvPr/>
        </p:nvCxnSpPr>
        <p:spPr>
          <a:xfrm>
            <a:off x="914400" y="3170280"/>
            <a:ext cx="731520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Direct and indirect measurement</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RELATIVELY DIRECT</a:t>
            </a:r>
          </a:p>
        </p:txBody>
      </p:sp>
      <p:sp>
        <p:nvSpPr>
          <p:cNvPr id="101" name="CardL"/>
          <p:cNvSpPr/>
          <p:nvPr/>
        </p:nvSpPr>
        <p:spPr>
          <a:xfrm>
            <a:off x="310896"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request latency</a:t>
            </a:r>
          </a:p>
          <a:p>
            <a:pPr algn="ctr">
              <a:buNone/>
            </a:pPr>
            <a:endParaRPr lang="en-US" sz="600"/>
          </a:p>
          <a:p>
            <a:pPr algn="ctr">
              <a:spcBef>
                <a:spcPts val="160"/>
              </a:spcBef>
              <a:buNone/>
            </a:pPr>
            <a:r>
              <a:rPr lang="en-US" sz="2000" b="1" i="0" dirty="0">
                <a:solidFill>
                  <a:srgbClr val="8E6F3E"/>
                </a:solidFill>
              </a:rPr>
              <a:t>Observable</a:t>
            </a:r>
          </a:p>
          <a:p>
            <a:pPr algn="ctr">
              <a:spcBef>
                <a:spcPts val="80"/>
              </a:spcBef>
              <a:buNone/>
            </a:pPr>
            <a:r>
              <a:rPr lang="en-US" sz="2000" b="0" i="0" dirty="0">
                <a:solidFill>
                  <a:srgbClr val="5C4826"/>
                </a:solidFill>
              </a:rPr>
              <a:t>elapsed time of the request</a:t>
            </a:r>
          </a:p>
          <a:p>
            <a:pPr algn="ctr">
              <a:buNone/>
            </a:pPr>
            <a:endParaRPr lang="en-US" sz="600"/>
          </a:p>
          <a:p>
            <a:pPr algn="ctr">
              <a:spcBef>
                <a:spcPts val="160"/>
              </a:spcBef>
              <a:buNone/>
            </a:pPr>
            <a:r>
              <a:rPr lang="en-US" sz="2000" b="0" i="1" dirty="0">
                <a:solidFill>
                  <a:srgbClr val="555960"/>
                </a:solidFill>
              </a:rPr>
              <a:t>short inferential distance</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INDIRECT — A PROXY</a:t>
            </a:r>
          </a:p>
        </p:txBody>
      </p:sp>
      <p:sp>
        <p:nvSpPr>
          <p:cNvPr id="103" name="CardR"/>
          <p:cNvSpPr/>
          <p:nvPr/>
        </p:nvSpPr>
        <p:spPr>
          <a:xfrm>
            <a:off x="4873752" y="1389888"/>
            <a:ext cx="3959352" cy="2240280"/>
          </a:xfrm>
          <a:prstGeom prst="rect">
            <a:avLst/>
          </a:prstGeom>
          <a:solidFill>
            <a:srgbClr val="F5F1E8"/>
          </a:solidFill>
          <a:ln w="12700">
            <a:solidFill>
              <a:srgbClr val="C9B991"/>
            </a:solidFill>
          </a:ln>
        </p:spPr>
        <p:txBody>
          <a:bodyPr wrap="square" lIns="91440" tIns="68580" rIns="91440" bIns="68580" anchor="t"/>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usability</a:t>
            </a:r>
          </a:p>
          <a:p>
            <a:pPr algn="ctr">
              <a:buNone/>
            </a:pPr>
            <a:endParaRPr lang="en-US" sz="600"/>
          </a:p>
          <a:p>
            <a:pPr algn="ctr">
              <a:spcBef>
                <a:spcPts val="160"/>
              </a:spcBef>
              <a:buNone/>
            </a:pPr>
            <a:r>
              <a:rPr lang="en-US" sz="2000" b="1" i="0" dirty="0">
                <a:solidFill>
                  <a:srgbClr val="8E6F3E"/>
                </a:solidFill>
              </a:rPr>
              <a:t>Possible observations</a:t>
            </a:r>
          </a:p>
          <a:p>
            <a:pPr algn="ctr">
              <a:spcBef>
                <a:spcPts val="80"/>
              </a:spcBef>
              <a:buNone/>
            </a:pPr>
            <a:r>
              <a:rPr lang="en-US" sz="2000" b="0" i="0" dirty="0">
                <a:solidFill>
                  <a:srgbClr val="5C4826"/>
                </a:solidFill>
              </a:rPr>
              <a:t>task completion · errors</a:t>
            </a:r>
          </a:p>
          <a:p>
            <a:pPr algn="ctr">
              <a:spcBef>
                <a:spcPts val="60"/>
              </a:spcBef>
              <a:buNone/>
            </a:pPr>
            <a:r>
              <a:rPr lang="en-US" sz="2000" b="0" i="0" dirty="0">
                <a:solidFill>
                  <a:srgbClr val="5C4826"/>
                </a:solidFill>
              </a:rPr>
              <a:t>hesitation · questionnaire responses</a:t>
            </a:r>
          </a:p>
          <a:p>
            <a:pPr algn="ctr">
              <a:buNone/>
            </a:pPr>
            <a:endParaRPr lang="en-US" sz="600"/>
          </a:p>
          <a:p>
            <a:pPr algn="ctr">
              <a:spcBef>
                <a:spcPts val="160"/>
              </a:spcBef>
              <a:buNone/>
            </a:pPr>
            <a:r>
              <a:rPr lang="en-US" sz="2000" b="0" i="1" dirty="0">
                <a:solidFill>
                  <a:srgbClr val="555960"/>
                </a:solidFill>
              </a:rPr>
              <a:t>a longer inferential distance</a:t>
            </a:r>
          </a:p>
        </p:txBody>
      </p:sp>
      <p:sp>
        <p:nvSpPr>
          <p:cNvPr id="104" name="Bottom"/>
          <p:cNvSpPr/>
          <p:nvPr/>
        </p:nvSpPr>
        <p:spPr>
          <a:xfrm>
            <a:off x="274320" y="4069080"/>
            <a:ext cx="8595360" cy="868680"/>
          </a:xfrm>
          <a:prstGeom prst="rect">
            <a:avLst/>
          </a:prstGeom>
          <a:solidFill>
            <a:srgbClr val="F5F1E8"/>
          </a:solidFill>
          <a:ln w="12700">
            <a:solidFill>
              <a:srgbClr val="C9B991"/>
            </a:solidFill>
          </a:ln>
        </p:spPr>
        <p:txBody>
          <a:bodyPr wrap="square" lIns="91440" tIns="45720" rIns="91440" bIns="45720" anchor="ctr"/>
          <a:lstStyle/>
          <a:p>
            <a:pPr algn="ctr"/>
            <a:r>
              <a:rPr sz="2000" b="0" i="0">
                <a:solidFill>
                  <a:srgbClr val="5C4826"/>
                </a:solidFill>
              </a:rPr>
              <a:t>When the property cannot be observed directly, the metric models the relationship between what we can observe and what we want to know.</a:t>
            </a:r>
          </a:p>
        </p:txBody>
      </p:sp>
      <p:sp>
        <p:nvSpPr>
          <p:cNvPr id="105"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Directness is a matter of degree.</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leave things out</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M0"/>
          <p:cNvSpPr/>
          <p:nvPr/>
        </p:nvSpPr>
        <p:spPr>
          <a:xfrm>
            <a:off x="274320" y="98755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latency</a:t>
            </a:r>
          </a:p>
        </p:txBody>
      </p:sp>
      <p:sp>
        <p:nvSpPr>
          <p:cNvPr id="101" name="O0"/>
          <p:cNvSpPr/>
          <p:nvPr/>
        </p:nvSpPr>
        <p:spPr>
          <a:xfrm>
            <a:off x="3310128" y="98755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omits the slowest 1%</a:t>
            </a:r>
          </a:p>
        </p:txBody>
      </p:sp>
      <p:sp>
        <p:nvSpPr>
          <p:cNvPr id="102" name="M1"/>
          <p:cNvSpPr/>
          <p:nvPr/>
        </p:nvSpPr>
        <p:spPr>
          <a:xfrm>
            <a:off x="274320" y="171907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mean latency</a:t>
            </a:r>
          </a:p>
        </p:txBody>
      </p:sp>
      <p:sp>
        <p:nvSpPr>
          <p:cNvPr id="103" name="O1"/>
          <p:cNvSpPr/>
          <p:nvPr/>
        </p:nvSpPr>
        <p:spPr>
          <a:xfrm>
            <a:off x="3310128" y="171907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hides the distribution</a:t>
            </a:r>
          </a:p>
        </p:txBody>
      </p:sp>
      <p:sp>
        <p:nvSpPr>
          <p:cNvPr id="104" name="M2"/>
          <p:cNvSpPr/>
          <p:nvPr/>
        </p:nvSpPr>
        <p:spPr>
          <a:xfrm>
            <a:off x="274320" y="245059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task completion</a:t>
            </a:r>
          </a:p>
        </p:txBody>
      </p:sp>
      <p:sp>
        <p:nvSpPr>
          <p:cNvPr id="105" name="O2"/>
          <p:cNvSpPr/>
          <p:nvPr/>
        </p:nvSpPr>
        <p:spPr>
          <a:xfrm>
            <a:off x="3310128" y="245059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may omit frustration</a:t>
            </a:r>
          </a:p>
        </p:txBody>
      </p:sp>
      <p:sp>
        <p:nvSpPr>
          <p:cNvPr id="106" name="M3"/>
          <p:cNvSpPr/>
          <p:nvPr/>
        </p:nvSpPr>
        <p:spPr>
          <a:xfrm>
            <a:off x="274320" y="3182112"/>
            <a:ext cx="292608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defect count</a:t>
            </a:r>
          </a:p>
        </p:txBody>
      </p:sp>
      <p:sp>
        <p:nvSpPr>
          <p:cNvPr id="107" name="O3"/>
          <p:cNvSpPr/>
          <p:nvPr/>
        </p:nvSpPr>
        <p:spPr>
          <a:xfrm>
            <a:off x="3310128" y="3182112"/>
            <a:ext cx="5559552" cy="621792"/>
          </a:xfrm>
          <a:prstGeom prst="rect">
            <a:avLst/>
          </a:prstGeom>
          <a:solidFill>
            <a:srgbClr val="FBF8F2"/>
          </a:solidFill>
          <a:ln w="12700">
            <a:solidFill>
              <a:srgbClr val="C9B991"/>
            </a:solidFill>
          </a:ln>
        </p:spPr>
        <p:txBody>
          <a:bodyPr wrap="square" lIns="91440" tIns="45720" rIns="91440" bIns="45720" anchor="ctr"/>
          <a:lstStyle/>
          <a:p>
            <a:pPr algn="ctr">
              <a:buNone/>
            </a:pPr>
            <a:r>
              <a:rPr lang="en-US" sz="2000" b="0" i="0" dirty="0">
                <a:solidFill>
                  <a:srgbClr val="5C4826"/>
                </a:solidFill>
              </a:rPr>
              <a:t>depends on what counts — and what gets found</a:t>
            </a:r>
          </a:p>
        </p:txBody>
      </p:sp>
      <p:sp>
        <p:nvSpPr>
          <p:cNvPr id="108" name="Principle"/>
          <p:cNvSpPr txBox="1"/>
          <p:nvPr/>
        </p:nvSpPr>
        <p:spPr>
          <a:xfrm>
            <a:off x="274320" y="4023360"/>
            <a:ext cx="8595360" cy="548640"/>
          </a:xfrm>
          <a:prstGeom prst="rect">
            <a:avLst/>
          </a:prstGeom>
          <a:noFill/>
          <a:ln>
            <a:noFill/>
          </a:ln>
        </p:spPr>
        <p:txBody>
          <a:bodyPr wrap="square" lIns="0" tIns="0" rIns="0" bIns="0" anchor="t"/>
          <a:lstStyle/>
          <a:p>
            <a:pPr algn="ctr">
              <a:buNone/>
            </a:pPr>
            <a:r>
              <a:rPr lang="en-US" sz="2400" b="1" i="0" dirty="0">
                <a:solidFill>
                  <a:srgbClr val="000000"/>
                </a:solidFill>
              </a:rPr>
              <a:t>Every operationalization is a reduction.</a:t>
            </a:r>
          </a:p>
        </p:txBody>
      </p:sp>
      <p:sp>
        <p:nvSpPr>
          <p:cNvPr id="110"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Reduction is why metrics are useful — and why interpretation is required.</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When metrics mislead</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3</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1554480"/>
            <a:ext cx="7772400" cy="1325880"/>
          </a:xfrm>
        </p:spPr>
        <p:txBody>
          <a:bodyPr>
            <a:normAutofit/>
          </a:bodyPr>
          <a:lstStyle/>
          <a:p>
            <a:pPr algn="ctr">
              <a:buNone/>
              <a:defRPr b="0"/>
            </a:pPr>
            <a:r>
              <a:rPr lang="en-US" sz="4000" b="0" i="0" dirty="0">
                <a:solidFill>
                  <a:srgbClr val="000000"/>
                </a:solidFill>
              </a:rPr>
              <a:t>“Developer productivity</a:t>
            </a:r>
          </a:p>
          <a:p>
            <a:pPr algn="ctr">
              <a:buNone/>
              <a:defRPr b="0"/>
            </a:pPr>
            <a:r>
              <a:rPr lang="en-US" sz="4000" b="0" i="0" dirty="0">
                <a:solidFill>
                  <a:srgbClr val="000000"/>
                </a:solidFill>
              </a:rPr>
              <a:t>increased 22%.”</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00" name="Rule"/>
          <p:cNvSpPr/>
          <p:nvPr/>
        </p:nvSpPr>
        <p:spPr>
          <a:xfrm>
            <a:off x="3429000" y="3154680"/>
            <a:ext cx="2286000" cy="51206"/>
          </a:xfrm>
          <a:prstGeom prst="rect">
            <a:avLst/>
          </a:prstGeom>
          <a:solidFill>
            <a:srgbClr val="8E6F3E"/>
          </a:solidFill>
          <a:ln>
            <a:noFill/>
          </a:ln>
        </p:spPr>
        <p:txBody>
          <a:bodyPr wrap="square" lIns="91440" tIns="45720" rIns="91440" bIns="45720" anchor="ctr"/>
          <a:lstStyle/>
          <a:p>
            <a:endParaRPr/>
          </a:p>
        </p:txBody>
      </p:sp>
      <p:sp>
        <p:nvSpPr>
          <p:cNvPr id="101" name="TPSbadge"/>
          <p:cNvSpPr/>
          <p:nvPr/>
        </p:nvSpPr>
        <p:spPr>
          <a:xfrm>
            <a:off x="3017520" y="3474720"/>
            <a:ext cx="3108960" cy="512064"/>
          </a:xfrm>
          <a:prstGeom prst="roundRect">
            <a:avLst/>
          </a:prstGeom>
          <a:solidFill>
            <a:srgbClr val="FBF8F2"/>
          </a:solidFill>
          <a:ln w="15875">
            <a:solidFill>
              <a:srgbClr val="8E6F3E"/>
            </a:solidFill>
          </a:ln>
        </p:spPr>
        <p:txBody>
          <a:bodyPr wrap="square" lIns="91440" tIns="45720" rIns="91440" bIns="45720" anchor="ctr"/>
          <a:lstStyle/>
          <a:p>
            <a:pPr algn="ctr">
              <a:buNone/>
            </a:pPr>
            <a:r>
              <a:rPr lang="en-US" sz="2000" b="1" i="0" dirty="0">
                <a:solidFill>
                  <a:srgbClr val="6B3FA0"/>
                </a:solidFill>
              </a:rPr>
              <a:t>THINK</a:t>
            </a:r>
            <a:r>
              <a:rPr lang="en-US" sz="2000" b="1" i="0" dirty="0">
                <a:solidFill>
                  <a:srgbClr val="9A9A9A"/>
                </a:solidFill>
              </a:rPr>
              <a:t>  ·  </a:t>
            </a:r>
            <a:r>
              <a:rPr lang="en-US" sz="2000" b="1" i="0" dirty="0">
                <a:solidFill>
                  <a:srgbClr val="2E74B5"/>
                </a:solidFill>
              </a:rPr>
              <a:t>PAIR</a:t>
            </a:r>
            <a:r>
              <a:rPr lang="en-US" sz="2000" b="1" i="0" dirty="0">
                <a:solidFill>
                  <a:srgbClr val="9A9A9A"/>
                </a:solidFill>
              </a:rPr>
              <a:t>  ·  </a:t>
            </a:r>
            <a:r>
              <a:rPr lang="en-US" sz="2000" b="1" i="0" dirty="0">
                <a:solidFill>
                  <a:srgbClr val="B8860B"/>
                </a:solidFill>
              </a:rPr>
              <a:t>SHARE</a:t>
            </a:r>
          </a:p>
        </p:txBody>
      </p:sp>
      <p:sp>
        <p:nvSpPr>
          <p:cNvPr id="102" name="Prompt"/>
          <p:cNvSpPr txBox="1"/>
          <p:nvPr/>
        </p:nvSpPr>
        <p:spPr>
          <a:xfrm>
            <a:off x="685800" y="4160520"/>
            <a:ext cx="7772400" cy="502920"/>
          </a:xfrm>
          <a:prstGeom prst="rect">
            <a:avLst/>
          </a:prstGeom>
          <a:noFill/>
          <a:ln>
            <a:noFill/>
          </a:ln>
        </p:spPr>
        <p:txBody>
          <a:bodyPr wrap="square" lIns="0" tIns="0" rIns="0" bIns="0" anchor="t"/>
          <a:lstStyle/>
          <a:p>
            <a:pPr algn="ctr">
              <a:buNone/>
            </a:pPr>
            <a:r>
              <a:rPr lang="en-US" sz="2000" b="1" i="0" dirty="0">
                <a:solidFill>
                  <a:srgbClr val="000000"/>
                </a:solidFill>
              </a:rPr>
              <a:t>What would you need to know before this claim meant anything?</a:t>
            </a:r>
          </a:p>
        </p:txBody>
      </p:sp>
      <p:sp>
        <p:nvSpPr>
          <p:cNvPr id="103" name="Reveal"/>
          <p:cNvSpPr txBox="1"/>
          <p:nvPr/>
        </p:nvSpPr>
        <p:spPr>
          <a:xfrm>
            <a:off x="685800" y="4983480"/>
            <a:ext cx="7772400" cy="777240"/>
          </a:xfrm>
          <a:prstGeom prst="rect">
            <a:avLst/>
          </a:prstGeom>
          <a:noFill/>
          <a:ln>
            <a:noFill/>
          </a:ln>
        </p:spPr>
        <p:txBody>
          <a:bodyPr wrap="square" lIns="0" tIns="0" rIns="0" bIns="0" anchor="t"/>
          <a:lstStyle/>
          <a:p>
            <a:pPr algn="ctr">
              <a:buNone/>
            </a:pPr>
            <a:r>
              <a:rPr lang="en-US" sz="2000" b="0" i="1" dirty="0">
                <a:solidFill>
                  <a:srgbClr val="555960"/>
                </a:solidFill>
              </a:rPr>
              <a:t>The metric behind the claim: commits / engineer / week</a:t>
            </a:r>
          </a:p>
          <a:p>
            <a:pPr algn="ctr">
              <a:spcBef>
                <a:spcPts val="140"/>
              </a:spcBef>
              <a:buNone/>
            </a:pPr>
            <a:r>
              <a:rPr lang="en-US" sz="2000" b="0" i="1" dirty="0">
                <a:solidFill>
                  <a:srgbClr val="555960"/>
                </a:solidFill>
              </a:rPr>
              <a:t>What inference is being made?</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Proxy metrics</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00" name="Prop"/>
          <p:cNvSpPr/>
          <p:nvPr/>
        </p:nvSpPr>
        <p:spPr>
          <a:xfrm>
            <a:off x="2743200" y="10058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PROPERTY</a:t>
            </a:r>
          </a:p>
          <a:p>
            <a:pPr algn="ctr">
              <a:spcBef>
                <a:spcPts val="80"/>
              </a:spcBef>
              <a:buNone/>
            </a:pPr>
            <a:r>
              <a:rPr lang="en-US" sz="2000" b="0" i="0" dirty="0">
                <a:solidFill>
                  <a:srgbClr val="5C4826"/>
                </a:solidFill>
              </a:rPr>
              <a:t>engineering productivity</a:t>
            </a:r>
          </a:p>
        </p:txBody>
      </p:sp>
      <p:cxnSp>
        <p:nvCxnSpPr>
          <p:cNvPr id="101" name="C101"/>
          <p:cNvCxnSpPr/>
          <p:nvPr/>
        </p:nvCxnSpPr>
        <p:spPr>
          <a:xfrm>
            <a:off x="4572000" y="1874520"/>
            <a:ext cx="0" cy="502920"/>
          </a:xfrm>
          <a:prstGeom prst="straightConnector1">
            <a:avLst/>
          </a:prstGeom>
          <a:ln w="19050">
            <a:solidFill>
              <a:srgbClr val="8E6F3E"/>
            </a:solidFill>
            <a:tailEnd type="triangle" w="med" len="med"/>
          </a:ln>
        </p:spPr>
      </p:cxnSp>
      <p:sp>
        <p:nvSpPr>
          <p:cNvPr id="102" name="Rel"/>
          <p:cNvSpPr txBox="1"/>
          <p:nvPr/>
        </p:nvSpPr>
        <p:spPr>
          <a:xfrm>
            <a:off x="4919472" y="1938528"/>
            <a:ext cx="2560320" cy="384048"/>
          </a:xfrm>
          <a:prstGeom prst="rect">
            <a:avLst/>
          </a:prstGeom>
          <a:noFill/>
          <a:ln>
            <a:noFill/>
          </a:ln>
        </p:spPr>
        <p:txBody>
          <a:bodyPr wrap="square" lIns="0" tIns="0" rIns="0" bIns="0" anchor="t"/>
          <a:lstStyle/>
          <a:p>
            <a:pPr algn="l">
              <a:buNone/>
            </a:pPr>
            <a:r>
              <a:rPr lang="en-US" sz="2000" b="0" i="1" dirty="0">
                <a:solidFill>
                  <a:srgbClr val="555960"/>
                </a:solidFill>
              </a:rPr>
              <a:t>assumed relationship</a:t>
            </a:r>
          </a:p>
        </p:txBody>
      </p:sp>
      <p:sp>
        <p:nvSpPr>
          <p:cNvPr id="103" name="Obs"/>
          <p:cNvSpPr/>
          <p:nvPr/>
        </p:nvSpPr>
        <p:spPr>
          <a:xfrm>
            <a:off x="2743200" y="2377440"/>
            <a:ext cx="3657600" cy="86868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OBSERVABLE</a:t>
            </a:r>
          </a:p>
          <a:p>
            <a:pPr algn="ctr">
              <a:spcBef>
                <a:spcPts val="80"/>
              </a:spcBef>
              <a:buNone/>
            </a:pPr>
            <a:r>
              <a:rPr lang="en-US" sz="2000" b="0" i="0" dirty="0">
                <a:solidFill>
                  <a:srgbClr val="5C4826"/>
                </a:solidFill>
              </a:rPr>
              <a:t>commits / engineer / week</a:t>
            </a:r>
          </a:p>
        </p:txBody>
      </p:sp>
      <p:sp>
        <p:nvSpPr>
          <p:cNvPr id="104" name="Question"/>
          <p:cNvSpPr/>
          <p:nvPr/>
        </p:nvSpPr>
        <p:spPr>
          <a:xfrm>
            <a:off x="502920" y="3703320"/>
            <a:ext cx="8138160" cy="777240"/>
          </a:xfrm>
          <a:prstGeom prst="rect">
            <a:avLst/>
          </a:prstGeom>
          <a:solidFill>
            <a:srgbClr val="FBF8F2"/>
          </a:solidFill>
          <a:ln w="15875">
            <a:solidFill>
              <a:srgbClr val="C9B991"/>
            </a:solidFill>
          </a:ln>
        </p:spPr>
        <p:txBody>
          <a:bodyPr wrap="square" lIns="91440" tIns="45720" rIns="91440" bIns="45720" anchor="ctr"/>
          <a:lstStyle/>
          <a:p>
            <a:pPr algn="ctr"/>
            <a:r>
              <a:rPr sz="2000" b="0" i="0">
                <a:solidFill>
                  <a:srgbClr val="5C4826"/>
                </a:solidFill>
              </a:rPr>
              <a:t>What must be true for this observation</a:t>
            </a:r>
          </a:p>
          <a:p>
            <a:pPr algn="ctr"/>
            <a:r>
              <a:rPr sz="2000" b="0" i="0">
                <a:solidFill>
                  <a:srgbClr val="5C4826"/>
                </a:solidFill>
              </a:rPr>
              <a:t>to provide useful evidence about the property?</a:t>
            </a:r>
          </a:p>
        </p:txBody>
      </p:sp>
      <p:sp>
        <p:nvSpPr>
          <p:cNvPr id="106"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A proxy is not inherently bad. Understand — and defend — the relationship.</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Goodhart’s Law and surrogation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LblL"/>
          <p:cNvSpPr txBox="1"/>
          <p:nvPr/>
        </p:nvSpPr>
        <p:spPr>
          <a:xfrm>
            <a:off x="310896"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BEFORE TARGETING</a:t>
            </a:r>
          </a:p>
        </p:txBody>
      </p:sp>
      <p:sp>
        <p:nvSpPr>
          <p:cNvPr id="101" name="CardL"/>
          <p:cNvSpPr/>
          <p:nvPr/>
        </p:nvSpPr>
        <p:spPr>
          <a:xfrm>
            <a:off x="310896" y="1389888"/>
            <a:ext cx="3959352" cy="237744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commits  ──►  useful output</a:t>
            </a:r>
          </a:p>
          <a:p>
            <a:pPr algn="ctr">
              <a:spcBef>
                <a:spcPts val="160"/>
              </a:spcBef>
              <a:buNone/>
            </a:pPr>
            <a:r>
              <a:rPr lang="en-US" sz="2000" b="0" i="1" dirty="0">
                <a:solidFill>
                  <a:srgbClr val="555960"/>
                </a:solidFill>
              </a:rPr>
              <a:t>an empirical relationship — it can hold</a:t>
            </a:r>
          </a:p>
          <a:p>
            <a:pPr algn="ctr">
              <a:spcBef>
                <a:spcPts val="160"/>
              </a:spcBef>
              <a:buNone/>
            </a:pPr>
            <a:r>
              <a:rPr lang="en-US" sz="2000" b="1" i="1" dirty="0">
                <a:solidFill>
                  <a:srgbClr val="555960"/>
                </a:solidFill>
              </a:rPr>
              <a:t>Surrogation: </a:t>
            </a:r>
            <a:r>
              <a:rPr lang="en-US" sz="2000" b="0" i="1" dirty="0">
                <a:solidFill>
                  <a:srgbClr val="555960"/>
                </a:solidFill>
              </a:rPr>
              <a:t>we begin treating commits as though they </a:t>
            </a:r>
            <a:r>
              <a:rPr lang="en-US" sz="2000" b="1" i="1" dirty="0">
                <a:solidFill>
                  <a:srgbClr val="555960"/>
                </a:solidFill>
              </a:rPr>
              <a:t>are</a:t>
            </a:r>
            <a:r>
              <a:rPr lang="en-US" sz="2000" b="0" i="1" dirty="0">
                <a:solidFill>
                  <a:srgbClr val="555960"/>
                </a:solidFill>
              </a:rPr>
              <a:t> useful output</a:t>
            </a:r>
          </a:p>
        </p:txBody>
      </p:sp>
      <p:sp>
        <p:nvSpPr>
          <p:cNvPr id="102" name="LblR"/>
          <p:cNvSpPr txBox="1"/>
          <p:nvPr/>
        </p:nvSpPr>
        <p:spPr>
          <a:xfrm>
            <a:off x="4873752" y="91440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AFTER TARGETING</a:t>
            </a:r>
          </a:p>
        </p:txBody>
      </p:sp>
      <p:sp>
        <p:nvSpPr>
          <p:cNvPr id="103" name="CardR"/>
          <p:cNvSpPr/>
          <p:nvPr/>
        </p:nvSpPr>
        <p:spPr>
          <a:xfrm>
            <a:off x="4873752" y="1389888"/>
            <a:ext cx="3959352" cy="2377440"/>
          </a:xfrm>
          <a:prstGeom prst="rect">
            <a:avLst/>
          </a:prstGeom>
          <a:solidFill>
            <a:srgbClr val="F5F1E8"/>
          </a:solidFill>
          <a:ln w="12700">
            <a:solidFill>
              <a:srgbClr val="C9B991"/>
            </a:solidFill>
          </a:ln>
        </p:spPr>
        <p:txBody>
          <a:bodyPr wrap="square" lIns="45720" rIns="45720" anchor="ctr"/>
          <a:lstStyle/>
          <a:p>
            <a:pPr algn="ctr"/>
            <a:r>
              <a:rPr sz="2000" b="1" i="0">
                <a:solidFill>
                  <a:srgbClr val="5C4826"/>
                </a:solidFill>
              </a:rPr>
              <a:t>Target: increase commits / engineer / week</a:t>
            </a:r>
          </a:p>
          <a:p>
            <a:pPr algn="ctr"/>
            <a:r>
              <a:rPr sz="2000" b="0" i="0">
                <a:solidFill>
                  <a:srgbClr val="5C4826"/>
                </a:solidFill>
              </a:rPr>
              <a:t>commits rise — useful output need not</a:t>
            </a:r>
          </a:p>
          <a:p>
            <a:pPr algn="ctr">
              <a:buNone/>
            </a:pPr>
            <a:r>
              <a:rPr lang="en-US" sz="2000" b="1" i="1" dirty="0">
                <a:solidFill>
                  <a:srgbClr val="555960"/>
                </a:solidFill>
              </a:rPr>
              <a:t>Goodhart: </a:t>
            </a:r>
            <a:r>
              <a:rPr lang="en-US" sz="2000" b="0" i="1" dirty="0">
                <a:solidFill>
                  <a:srgbClr val="555960"/>
                </a:solidFill>
              </a:rPr>
              <a:t>once commits become the target, the empirical relationship itself can change</a:t>
            </a:r>
          </a:p>
        </p:txBody>
      </p:sp>
      <p:sp>
        <p:nvSpPr>
          <p:cNvPr id="104" name="Law"/>
          <p:cNvSpPr/>
          <p:nvPr/>
        </p:nvSpPr>
        <p:spPr>
          <a:xfrm>
            <a:off x="274320" y="4457700"/>
            <a:ext cx="8595360" cy="800100"/>
          </a:xfrm>
          <a:prstGeom prst="rect">
            <a:avLst/>
          </a:prstGeom>
          <a:solidFill>
            <a:srgbClr val="FBF8F2"/>
          </a:solidFill>
          <a:ln w="15875">
            <a:solidFill>
              <a:srgbClr val="C9B991"/>
            </a:solidFill>
          </a:ln>
        </p:spPr>
        <p:txBody>
          <a:bodyPr wrap="square" lIns="91440" tIns="45720" rIns="91440" bIns="45720" anchor="ctr"/>
          <a:lstStyle/>
          <a:p>
            <a:pPr algn="ctr">
              <a:buNone/>
            </a:pPr>
            <a:r>
              <a:rPr lang="en-US" sz="2000" b="1" i="0" dirty="0">
                <a:solidFill>
                  <a:srgbClr val="5C4826"/>
                </a:solidFill>
              </a:rPr>
              <a:t>Surrogation: </a:t>
            </a:r>
            <a:r>
              <a:rPr lang="en-US" sz="2000" b="0" i="0" dirty="0">
                <a:solidFill>
                  <a:srgbClr val="5C4826"/>
                </a:solidFill>
              </a:rPr>
              <a:t>the measure becomes confused with the property</a:t>
            </a:r>
          </a:p>
          <a:p>
            <a:pPr algn="ctr">
              <a:spcBef>
                <a:spcPts val="140"/>
              </a:spcBef>
              <a:buNone/>
            </a:pPr>
            <a:r>
              <a:rPr lang="en-US" sz="2000" b="1" i="0" dirty="0">
                <a:solidFill>
                  <a:srgbClr val="5C4826"/>
                </a:solidFill>
              </a:rPr>
              <a:t>Goodhart’s Law: </a:t>
            </a:r>
            <a:r>
              <a:rPr lang="en-US" sz="2000" b="0" i="0" dirty="0">
                <a:solidFill>
                  <a:srgbClr val="5C4826"/>
                </a:solidFill>
              </a:rPr>
              <a:t>targeting the measure can change the relationship</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Metrics do not have context-free meanings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00" name="LblL"/>
          <p:cNvSpPr txBox="1"/>
          <p:nvPr/>
        </p:nvSpPr>
        <p:spPr>
          <a:xfrm>
            <a:off x="310896"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p99 LATENCY</a:t>
            </a:r>
          </a:p>
        </p:txBody>
      </p:sp>
      <p:sp>
        <p:nvSpPr>
          <p:cNvPr id="101" name="CardL"/>
          <p:cNvSpPr/>
          <p:nvPr/>
        </p:nvSpPr>
        <p:spPr>
          <a:xfrm>
            <a:off x="310896"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strong evidence under</a:t>
            </a:r>
          </a:p>
          <a:p>
            <a:pPr algn="ctr">
              <a:spcBef>
                <a:spcPts val="60"/>
              </a:spcBef>
              <a:buNone/>
            </a:pPr>
            <a:r>
              <a:rPr lang="en-US" sz="2000" b="1" i="0" dirty="0">
                <a:solidFill>
                  <a:srgbClr val="5C4826"/>
                </a:solidFill>
              </a:rPr>
              <a:t>deployment and workload A</a:t>
            </a:r>
          </a:p>
          <a:p>
            <a:pPr algn="ctr">
              <a:buNone/>
            </a:pPr>
            <a:endParaRPr lang="en-US" sz="500"/>
          </a:p>
          <a:p>
            <a:pPr algn="ctr">
              <a:spcBef>
                <a:spcPts val="140"/>
              </a:spcBef>
              <a:buNone/>
            </a:pPr>
            <a:r>
              <a:rPr lang="en-US" sz="2000" b="0" i="0" dirty="0">
                <a:solidFill>
                  <a:srgbClr val="5C4826"/>
                </a:solidFill>
              </a:rPr>
              <a:t>potentially weak evidence under</a:t>
            </a:r>
          </a:p>
          <a:p>
            <a:pPr algn="ctr">
              <a:spcBef>
                <a:spcPts val="60"/>
              </a:spcBef>
              <a:buNone/>
            </a:pPr>
            <a:r>
              <a:rPr lang="en-US" sz="2000" b="1" i="0" dirty="0">
                <a:solidFill>
                  <a:srgbClr val="5C4826"/>
                </a:solidFill>
              </a:rPr>
              <a:t>deployment and workload B</a:t>
            </a:r>
          </a:p>
        </p:txBody>
      </p:sp>
      <p:sp>
        <p:nvSpPr>
          <p:cNvPr id="102" name="LblR"/>
          <p:cNvSpPr txBox="1"/>
          <p:nvPr/>
        </p:nvSpPr>
        <p:spPr>
          <a:xfrm>
            <a:off x="4873752" y="960120"/>
            <a:ext cx="3959352" cy="411480"/>
          </a:xfrm>
          <a:prstGeom prst="rect">
            <a:avLst/>
          </a:prstGeom>
          <a:noFill/>
          <a:ln>
            <a:noFill/>
          </a:ln>
        </p:spPr>
        <p:txBody>
          <a:bodyPr wrap="square" lIns="0" tIns="0" rIns="0" bIns="0" anchor="t"/>
          <a:lstStyle/>
          <a:p>
            <a:pPr algn="ctr">
              <a:buNone/>
            </a:pPr>
            <a:r>
              <a:rPr lang="en-US" sz="2000" b="1" i="0" dirty="0">
                <a:solidFill>
                  <a:srgbClr val="8E6F3E"/>
                </a:solidFill>
              </a:rPr>
              <a:t>REQUIREMENTS CHURN</a:t>
            </a:r>
          </a:p>
        </p:txBody>
      </p:sp>
      <p:sp>
        <p:nvSpPr>
          <p:cNvPr id="103" name="CardR"/>
          <p:cNvSpPr/>
          <p:nvPr/>
        </p:nvSpPr>
        <p:spPr>
          <a:xfrm>
            <a:off x="4873752" y="1444752"/>
            <a:ext cx="3959352" cy="196596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productive discovery</a:t>
            </a:r>
          </a:p>
          <a:p>
            <a:pPr algn="ctr">
              <a:spcBef>
                <a:spcPts val="60"/>
              </a:spcBef>
              <a:buNone/>
            </a:pPr>
            <a:r>
              <a:rPr lang="en-US" sz="2000" b="0" i="0" dirty="0">
                <a:solidFill>
                  <a:srgbClr val="5C4826"/>
                </a:solidFill>
              </a:rPr>
              <a:t>in one process</a:t>
            </a:r>
          </a:p>
          <a:p>
            <a:pPr algn="ctr">
              <a:buNone/>
            </a:pPr>
            <a:endParaRPr lang="en-US" sz="500"/>
          </a:p>
          <a:p>
            <a:pPr algn="ctr">
              <a:spcBef>
                <a:spcPts val="140"/>
              </a:spcBef>
              <a:buNone/>
            </a:pPr>
            <a:r>
              <a:rPr lang="en-US" sz="2000" b="1" i="0" dirty="0">
                <a:solidFill>
                  <a:srgbClr val="5C4826"/>
                </a:solidFill>
              </a:rPr>
              <a:t>instability</a:t>
            </a:r>
          </a:p>
          <a:p>
            <a:pPr algn="ctr">
              <a:spcBef>
                <a:spcPts val="60"/>
              </a:spcBef>
              <a:buNone/>
            </a:pPr>
            <a:r>
              <a:rPr lang="en-US" sz="2000" b="0" i="0" dirty="0">
                <a:solidFill>
                  <a:srgbClr val="5C4826"/>
                </a:solidFill>
              </a:rPr>
              <a:t>in another</a:t>
            </a:r>
          </a:p>
        </p:txBody>
      </p:sp>
      <p:sp>
        <p:nvSpPr>
          <p:cNvPr id="104" name="Bottom"/>
          <p:cNvSpPr/>
          <p:nvPr/>
        </p:nvSpPr>
        <p:spPr>
          <a:xfrm>
            <a:off x="274320" y="3794760"/>
            <a:ext cx="859536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A metric acquires meaning through the property, conditions, and decision</a:t>
            </a:r>
          </a:p>
          <a:p>
            <a:pPr algn="ctr">
              <a:spcBef>
                <a:spcPts val="60"/>
              </a:spcBef>
              <a:buNone/>
            </a:pPr>
            <a:r>
              <a:rPr lang="en-US" sz="2000" b="0" i="0" dirty="0">
                <a:solidFill>
                  <a:srgbClr val="5C4826"/>
                </a:solidFill>
              </a:rPr>
              <a:t>for which it is being used.</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using a metric</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0" name="Q0"/>
          <p:cNvSpPr/>
          <p:nvPr/>
        </p:nvSpPr>
        <p:spPr>
          <a:xfrm>
            <a:off x="758952" y="1990024"/>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1    </a:t>
            </a:r>
            <a:r>
              <a:rPr lang="en-US" sz="2400" b="0" i="0" dirty="0">
                <a:solidFill>
                  <a:srgbClr val="5C4826"/>
                </a:solidFill>
              </a:rPr>
              <a:t>What property do we care about?</a:t>
            </a:r>
          </a:p>
        </p:txBody>
      </p:sp>
      <p:sp>
        <p:nvSpPr>
          <p:cNvPr id="101" name="Q1"/>
          <p:cNvSpPr/>
          <p:nvPr/>
        </p:nvSpPr>
        <p:spPr>
          <a:xfrm>
            <a:off x="758952" y="2886136"/>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2    </a:t>
            </a:r>
            <a:r>
              <a:rPr lang="en-US" sz="2400" b="0" i="0" dirty="0">
                <a:solidFill>
                  <a:srgbClr val="5C4826"/>
                </a:solidFill>
              </a:rPr>
              <a:t>What observation represents it?</a:t>
            </a:r>
          </a:p>
        </p:txBody>
      </p:sp>
      <p:sp>
        <p:nvSpPr>
          <p:cNvPr id="102" name="Q2"/>
          <p:cNvSpPr/>
          <p:nvPr/>
        </p:nvSpPr>
        <p:spPr>
          <a:xfrm>
            <a:off x="758952" y="3782248"/>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3    </a:t>
            </a:r>
            <a:r>
              <a:rPr lang="en-US" sz="2400" b="0" i="0" dirty="0">
                <a:solidFill>
                  <a:srgbClr val="5C4826"/>
                </a:solidFill>
              </a:rPr>
              <a:t>Under what conditions?</a:t>
            </a:r>
          </a:p>
        </p:txBody>
      </p:sp>
      <p:sp>
        <p:nvSpPr>
          <p:cNvPr id="103" name="Q3"/>
          <p:cNvSpPr/>
          <p:nvPr/>
        </p:nvSpPr>
        <p:spPr>
          <a:xfrm>
            <a:off x="758952" y="4678360"/>
            <a:ext cx="7626096" cy="731520"/>
          </a:xfrm>
          <a:prstGeom prst="rect">
            <a:avLst/>
          </a:prstGeom>
          <a:solidFill>
            <a:srgbClr val="F5F1E8"/>
          </a:solidFill>
          <a:ln w="12700">
            <a:solidFill>
              <a:srgbClr val="C9B991"/>
            </a:solidFill>
          </a:ln>
        </p:spPr>
        <p:txBody>
          <a:bodyPr wrap="square" lIns="137160" tIns="45720" rIns="137160" bIns="45720" anchor="ctr"/>
          <a:lstStyle/>
          <a:p>
            <a:pPr algn="l">
              <a:buNone/>
            </a:pPr>
            <a:r>
              <a:rPr lang="en-US" sz="2400" b="1" i="0" dirty="0">
                <a:solidFill>
                  <a:srgbClr val="8E6F3E"/>
                </a:solidFill>
              </a:rPr>
              <a:t>4    </a:t>
            </a:r>
            <a:r>
              <a:rPr lang="en-US" sz="2400" b="0" i="0" dirty="0">
                <a:solidFill>
                  <a:srgbClr val="5C4826"/>
                </a:solidFill>
              </a:rPr>
              <a:t>What does the observation leave unresolved?</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240280"/>
            <a:ext cx="7772400" cy="914400"/>
          </a:xfrm>
        </p:spPr>
        <p:txBody>
          <a:bodyPr>
            <a:normAutofit/>
          </a:bodyPr>
          <a:lstStyle/>
          <a:p>
            <a:pPr algn="ctr">
              <a:buNone/>
              <a:defRPr b="0"/>
            </a:pPr>
            <a:r>
              <a:rPr lang="en-US" sz="3600" b="0" i="0" dirty="0">
                <a:solidFill>
                  <a:srgbClr val="000000"/>
                </a:solidFill>
              </a:rPr>
              <a:t>From measurement to action</a:t>
            </a:r>
          </a:p>
        </p:txBody>
      </p:sp>
      <p:sp>
        <p:nvSpPr>
          <p:cNvPr id="100" name="SectionLabel"/>
          <p:cNvSpPr txBox="1"/>
          <p:nvPr/>
        </p:nvSpPr>
        <p:spPr>
          <a:xfrm>
            <a:off x="685800" y="1737360"/>
            <a:ext cx="7772400" cy="356616"/>
          </a:xfrm>
          <a:prstGeom prst="rect">
            <a:avLst/>
          </a:prstGeom>
          <a:noFill/>
          <a:ln>
            <a:noFill/>
          </a:ln>
        </p:spPr>
        <p:txBody>
          <a:bodyPr wrap="square" lIns="0" tIns="0" rIns="0" bIns="0" anchor="t"/>
          <a:lstStyle/>
          <a:p>
            <a:pPr algn="ctr">
              <a:buNone/>
            </a:pPr>
            <a:r>
              <a:rPr lang="en-US" sz="2200" b="1" i="0" dirty="0">
                <a:solidFill>
                  <a:srgbClr val="8E6F3E"/>
                </a:solidFill>
              </a:rPr>
              <a:t>SECTION 4</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91440" tIns="45720" rIns="91440" bIns="45720" anchor="ctr"/>
          <a:lstStyle/>
          <a:p>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Measurements become evidence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5" name="Big"/>
          <p:cNvSpPr txBox="1"/>
          <p:nvPr/>
        </p:nvSpPr>
        <p:spPr>
          <a:xfrm>
            <a:off x="274320" y="1620160"/>
            <a:ext cx="8595360" cy="502920"/>
          </a:xfrm>
          <a:prstGeom prst="rect">
            <a:avLst/>
          </a:prstGeom>
          <a:noFill/>
        </p:spPr>
        <p:txBody>
          <a:bodyPr wrap="square" lIns="0" tIns="0" rIns="0" bIns="0" anchor="ctr">
            <a:spAutoFit/>
          </a:bodyPr>
          <a:lstStyle/>
          <a:p>
            <a:pPr algn="ctr"/>
            <a:r>
              <a:rPr sz="3000" b="0" i="0">
                <a:solidFill>
                  <a:srgbClr val="000000"/>
                </a:solidFill>
              </a:rPr>
              <a:t>A number does not decide what to do.</a:t>
            </a:r>
          </a:p>
        </p:txBody>
      </p:sp>
      <p:sp>
        <p:nvSpPr>
          <p:cNvPr id="16" name="HdrL"/>
          <p:cNvSpPr txBox="1"/>
          <p:nvPr/>
        </p:nvSpPr>
        <p:spPr>
          <a:xfrm>
            <a:off x="411480" y="2286000"/>
            <a:ext cx="2560320" cy="365760"/>
          </a:xfrm>
          <a:prstGeom prst="rect">
            <a:avLst/>
          </a:prstGeom>
          <a:noFill/>
        </p:spPr>
        <p:txBody>
          <a:bodyPr wrap="square" lIns="0" tIns="0" rIns="0" bIns="0" anchor="ctr">
            <a:spAutoFit/>
          </a:bodyPr>
          <a:lstStyle/>
          <a:p>
            <a:pPr algn="l"/>
            <a:r>
              <a:rPr sz="2000" b="1" i="0">
                <a:solidFill>
                  <a:srgbClr val="8E6F3E"/>
                </a:solidFill>
              </a:rPr>
              <a:t>ENGINEERING DECISION</a:t>
            </a:r>
          </a:p>
        </p:txBody>
      </p:sp>
      <p:sp>
        <p:nvSpPr>
          <p:cNvPr id="17" name="HdrR"/>
          <p:cNvSpPr txBox="1"/>
          <p:nvPr/>
        </p:nvSpPr>
        <p:spPr>
          <a:xfrm>
            <a:off x="3108960" y="2286000"/>
            <a:ext cx="5760720" cy="365760"/>
          </a:xfrm>
          <a:prstGeom prst="rect">
            <a:avLst/>
          </a:prstGeom>
          <a:noFill/>
        </p:spPr>
        <p:txBody>
          <a:bodyPr wrap="square" lIns="0" tIns="0" rIns="0" bIns="0" anchor="ctr">
            <a:spAutoFit/>
          </a:bodyPr>
          <a:lstStyle/>
          <a:p>
            <a:pPr algn="l"/>
            <a:r>
              <a:rPr sz="2000" b="1" i="0">
                <a:solidFill>
                  <a:srgbClr val="8E6F3E"/>
                </a:solidFill>
              </a:rPr>
              <a:t>PROPERTY WE MIGHT NEED EVIDENCE ABOUT</a:t>
            </a:r>
          </a:p>
        </p:txBody>
      </p:sp>
      <p:sp>
        <p:nvSpPr>
          <p:cNvPr id="18" name="Row0L"/>
          <p:cNvSpPr/>
          <p:nvPr/>
        </p:nvSpPr>
        <p:spPr>
          <a:xfrm>
            <a:off x="411480" y="27400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Process</a:t>
            </a:r>
          </a:p>
        </p:txBody>
      </p:sp>
      <p:sp>
        <p:nvSpPr>
          <p:cNvPr id="19" name="Row0R"/>
          <p:cNvSpPr/>
          <p:nvPr/>
        </p:nvSpPr>
        <p:spPr>
          <a:xfrm>
            <a:off x="3108960" y="27400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Does this process fit the work?</a:t>
            </a:r>
          </a:p>
        </p:txBody>
      </p:sp>
      <p:sp>
        <p:nvSpPr>
          <p:cNvPr id="20" name="Row1L"/>
          <p:cNvSpPr/>
          <p:nvPr/>
        </p:nvSpPr>
        <p:spPr>
          <a:xfrm>
            <a:off x="411480" y="324292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Requirements</a:t>
            </a:r>
          </a:p>
        </p:txBody>
      </p:sp>
      <p:sp>
        <p:nvSpPr>
          <p:cNvPr id="21" name="Row1R"/>
          <p:cNvSpPr/>
          <p:nvPr/>
        </p:nvSpPr>
        <p:spPr>
          <a:xfrm>
            <a:off x="3108960" y="324292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promised outcome occur?</a:t>
            </a:r>
          </a:p>
        </p:txBody>
      </p:sp>
      <p:sp>
        <p:nvSpPr>
          <p:cNvPr id="22" name="Row2L"/>
          <p:cNvSpPr/>
          <p:nvPr/>
        </p:nvSpPr>
        <p:spPr>
          <a:xfrm>
            <a:off x="411480" y="374584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Specification</a:t>
            </a:r>
          </a:p>
        </p:txBody>
      </p:sp>
      <p:sp>
        <p:nvSpPr>
          <p:cNvPr id="23" name="Row2R"/>
          <p:cNvSpPr/>
          <p:nvPr/>
        </p:nvSpPr>
        <p:spPr>
          <a:xfrm>
            <a:off x="3108960" y="374584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Do the assumptions actually hold?</a:t>
            </a:r>
          </a:p>
        </p:txBody>
      </p:sp>
      <p:sp>
        <p:nvSpPr>
          <p:cNvPr id="24" name="Row3L"/>
          <p:cNvSpPr/>
          <p:nvPr/>
        </p:nvSpPr>
        <p:spPr>
          <a:xfrm>
            <a:off x="411480" y="424876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Architecture</a:t>
            </a:r>
          </a:p>
        </p:txBody>
      </p:sp>
      <p:sp>
        <p:nvSpPr>
          <p:cNvPr id="25" name="Row3R"/>
          <p:cNvSpPr/>
          <p:nvPr/>
        </p:nvSpPr>
        <p:spPr>
          <a:xfrm>
            <a:off x="3108960" y="424876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predicted system property emerge?</a:t>
            </a:r>
          </a:p>
        </p:txBody>
      </p:sp>
      <p:sp>
        <p:nvSpPr>
          <p:cNvPr id="26" name="Row4L"/>
          <p:cNvSpPr/>
          <p:nvPr/>
        </p:nvSpPr>
        <p:spPr>
          <a:xfrm>
            <a:off x="411480" y="475168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Design</a:t>
            </a:r>
          </a:p>
        </p:txBody>
      </p:sp>
      <p:sp>
        <p:nvSpPr>
          <p:cNvPr id="27" name="Row4R"/>
          <p:cNvSpPr/>
          <p:nvPr/>
        </p:nvSpPr>
        <p:spPr>
          <a:xfrm>
            <a:off x="3108960" y="475168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Did the mechanism produce the expected tradeoff?</a:t>
            </a:r>
          </a:p>
        </p:txBody>
      </p:sp>
      <p:sp>
        <p:nvSpPr>
          <p:cNvPr id="28" name="Row5L"/>
          <p:cNvSpPr/>
          <p:nvPr/>
        </p:nvSpPr>
        <p:spPr>
          <a:xfrm>
            <a:off x="411480" y="5254600"/>
            <a:ext cx="2560320" cy="4572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tIns="22860" bIns="22860" rtlCol="0" anchor="ctr"/>
          <a:lstStyle/>
          <a:p>
            <a:pPr algn="l"/>
            <a:r>
              <a:rPr sz="2000" b="1" i="0">
                <a:solidFill>
                  <a:srgbClr val="5C4826"/>
                </a:solidFill>
              </a:rPr>
              <a:t>Validation</a:t>
            </a:r>
          </a:p>
        </p:txBody>
      </p:sp>
      <p:sp>
        <p:nvSpPr>
          <p:cNvPr id="29" name="Row5R"/>
          <p:cNvSpPr/>
          <p:nvPr/>
        </p:nvSpPr>
        <p:spPr>
          <a:xfrm>
            <a:off x="3108960" y="5254600"/>
            <a:ext cx="5760720" cy="45720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45720" tIns="22860" rIns="45720" bIns="22860" rtlCol="0" anchor="ctr"/>
          <a:lstStyle/>
          <a:p>
            <a:pPr algn="l"/>
            <a:r>
              <a:rPr sz="2000" b="0" i="0">
                <a:solidFill>
                  <a:srgbClr val="5C4826"/>
                </a:solidFill>
              </a:rPr>
              <a:t>Is the remaining uncertainty acceptable?</a:t>
            </a:r>
          </a:p>
        </p:txBody>
      </p:sp>
      <p:sp>
        <p:nvSpPr>
          <p:cNvPr id="3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wrap="square" rtlCol="0" anchor="ctr"/>
          <a:lstStyle/>
          <a:p>
            <a:pPr algn="ctr"/>
            <a:r>
              <a:rPr sz="2000" b="0" i="0">
                <a:solidFill>
                  <a:srgbClr val="FFFFFF"/>
                </a:solidFill>
              </a:rPr>
              <a:t>Engineering decisions create claims that later evidence can test.</a:t>
            </a:r>
          </a:p>
        </p:txBody>
      </p:sp>
      <p:sp>
        <p:nvSpPr>
          <p:cNvPr id="94" name="Chain0"/>
          <p:cNvSpPr/>
          <p:nvPr/>
        </p:nvSpPr>
        <p:spPr>
          <a:xfrm>
            <a:off x="423910"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PROPERTY</a:t>
            </a:r>
          </a:p>
        </p:txBody>
      </p:sp>
      <p:cxnSp>
        <p:nvCxnSpPr>
          <p:cNvPr id="95" name="CA0"/>
          <p:cNvCxnSpPr/>
          <p:nvPr/>
        </p:nvCxnSpPr>
        <p:spPr>
          <a:xfrm>
            <a:off x="1679940"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6" name="Chain1"/>
          <p:cNvSpPr/>
          <p:nvPr/>
        </p:nvSpPr>
        <p:spPr>
          <a:xfrm>
            <a:off x="1789668"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METRIC</a:t>
            </a:r>
          </a:p>
        </p:txBody>
      </p:sp>
      <p:cxnSp>
        <p:nvCxnSpPr>
          <p:cNvPr id="97" name="CA1"/>
          <p:cNvCxnSpPr/>
          <p:nvPr/>
        </p:nvCxnSpPr>
        <p:spPr>
          <a:xfrm>
            <a:off x="2757408"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8" name="Chain2"/>
          <p:cNvSpPr/>
          <p:nvPr/>
        </p:nvSpPr>
        <p:spPr>
          <a:xfrm>
            <a:off x="2867136" y="934720"/>
            <a:ext cx="19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MEASUREMENT</a:t>
            </a:r>
          </a:p>
        </p:txBody>
      </p:sp>
      <p:cxnSp>
        <p:nvCxnSpPr>
          <p:cNvPr id="99" name="CA2"/>
          <p:cNvCxnSpPr/>
          <p:nvPr/>
        </p:nvCxnSpPr>
        <p:spPr>
          <a:xfrm>
            <a:off x="4817136"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0" name="Chain3"/>
          <p:cNvSpPr/>
          <p:nvPr/>
        </p:nvSpPr>
        <p:spPr>
          <a:xfrm>
            <a:off x="4926864" y="934720"/>
            <a:ext cx="125603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EVIDENCE</a:t>
            </a:r>
          </a:p>
        </p:txBody>
      </p:sp>
      <p:cxnSp>
        <p:nvCxnSpPr>
          <p:cNvPr id="101" name="CA3"/>
          <p:cNvCxnSpPr/>
          <p:nvPr/>
        </p:nvCxnSpPr>
        <p:spPr>
          <a:xfrm>
            <a:off x="6182894"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2" name="Chain4"/>
          <p:cNvSpPr/>
          <p:nvPr/>
        </p:nvSpPr>
        <p:spPr>
          <a:xfrm>
            <a:off x="6292622" y="934720"/>
            <a:ext cx="135000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JUDGMENT</a:t>
            </a:r>
          </a:p>
        </p:txBody>
      </p:sp>
      <p:cxnSp>
        <p:nvCxnSpPr>
          <p:cNvPr id="103" name="CA4"/>
          <p:cNvCxnSpPr/>
          <p:nvPr/>
        </p:nvCxnSpPr>
        <p:spPr>
          <a:xfrm>
            <a:off x="7642622" y="1209040"/>
            <a:ext cx="109728"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4" name="Chain5"/>
          <p:cNvSpPr/>
          <p:nvPr/>
        </p:nvSpPr>
        <p:spPr>
          <a:xfrm>
            <a:off x="7752350" y="934720"/>
            <a:ext cx="96774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ACTION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500"/>
                                        <p:tgtEl>
                                          <p:spTgt spid="16"/>
                                        </p:tgtEl>
                                      </p:cBhvr>
                                    </p:animEffect>
                                  </p:childTnLst>
                                </p:cTn>
                              </p:par>
                              <p:par>
                                <p:cTn id="8" presetID="10" presetClass="entr" presetSubtype="0" fill="hold" nodeType="withEffect">
                                  <p:stCondLst>
                                    <p:cond delay="0"/>
                                  </p:stCondLst>
                                  <p:childTnLst>
                                    <p:set>
                                      <p:cBhvr>
                                        <p:cTn id="9" dur="1" fill="hold">
                                          <p:stCondLst>
                                            <p:cond delay="0"/>
                                          </p:stCondLst>
                                        </p:cTn>
                                        <p:tgtEl>
                                          <p:spTgt spid="17"/>
                                        </p:tgtEl>
                                        <p:attrNameLst>
                                          <p:attrName>style.visibility</p:attrName>
                                        </p:attrNameLst>
                                      </p:cBhvr>
                                      <p:to>
                                        <p:strVal val="visible"/>
                                      </p:to>
                                    </p:set>
                                    <p:animEffect transition="in" filter="fade">
                                      <p:cBhvr>
                                        <p:cTn id="10" dur="500"/>
                                        <p:tgtEl>
                                          <p:spTgt spid="17"/>
                                        </p:tgtEl>
                                      </p:cBhvr>
                                    </p:animEffect>
                                  </p:childTnLst>
                                </p:cTn>
                              </p:par>
                              <p:par>
                                <p:cTn id="11" presetID="10" presetClass="entr" presetSubtype="0" fill="hold" nodeType="withEffect">
                                  <p:stCondLst>
                                    <p:cond delay="0"/>
                                  </p:stCondLst>
                                  <p:childTnLst>
                                    <p:set>
                                      <p:cBhvr>
                                        <p:cTn id="12" dur="1" fill="hold">
                                          <p:stCondLst>
                                            <p:cond delay="0"/>
                                          </p:stCondLst>
                                        </p:cTn>
                                        <p:tgtEl>
                                          <p:spTgt spid="18"/>
                                        </p:tgtEl>
                                        <p:attrNameLst>
                                          <p:attrName>style.visibility</p:attrName>
                                        </p:attrNameLst>
                                      </p:cBhvr>
                                      <p:to>
                                        <p:strVal val="visible"/>
                                      </p:to>
                                    </p:set>
                                    <p:animEffect transition="in" filter="fade">
                                      <p:cBhvr>
                                        <p:cTn id="13" dur="500"/>
                                        <p:tgtEl>
                                          <p:spTgt spid="18"/>
                                        </p:tgtEl>
                                      </p:cBhvr>
                                    </p:animEffect>
                                  </p:childTnLst>
                                </p:cTn>
                              </p:par>
                              <p:par>
                                <p:cTn id="14" presetID="10" presetClass="entr" presetSubtype="0" fill="hold" nodeType="withEffect">
                                  <p:stCondLst>
                                    <p:cond delay="0"/>
                                  </p:stCondLst>
                                  <p:childTnLst>
                                    <p:set>
                                      <p:cBhvr>
                                        <p:cTn id="15" dur="1" fill="hold">
                                          <p:stCondLst>
                                            <p:cond delay="0"/>
                                          </p:stCondLst>
                                        </p:cTn>
                                        <p:tgtEl>
                                          <p:spTgt spid="19"/>
                                        </p:tgtEl>
                                        <p:attrNameLst>
                                          <p:attrName>style.visibility</p:attrName>
                                        </p:attrNameLst>
                                      </p:cBhvr>
                                      <p:to>
                                        <p:strVal val="visible"/>
                                      </p:to>
                                    </p:set>
                                    <p:animEffect transition="in" filter="fade">
                                      <p:cBhvr>
                                        <p:cTn id="16" dur="500"/>
                                        <p:tgtEl>
                                          <p:spTgt spid="19"/>
                                        </p:tgtEl>
                                      </p:cBhvr>
                                    </p:animEffect>
                                  </p:childTnLst>
                                </p:cTn>
                              </p:par>
                              <p:par>
                                <p:cTn id="17" presetID="10" presetClass="entr" presetSubtype="0" fill="hold" nodeType="withEffect">
                                  <p:stCondLst>
                                    <p:cond delay="0"/>
                                  </p:stCondLst>
                                  <p:childTnLst>
                                    <p:set>
                                      <p:cBhvr>
                                        <p:cTn id="18" dur="1" fill="hold">
                                          <p:stCondLst>
                                            <p:cond delay="0"/>
                                          </p:stCondLst>
                                        </p:cTn>
                                        <p:tgtEl>
                                          <p:spTgt spid="20"/>
                                        </p:tgtEl>
                                        <p:attrNameLst>
                                          <p:attrName>style.visibility</p:attrName>
                                        </p:attrNameLst>
                                      </p:cBhvr>
                                      <p:to>
                                        <p:strVal val="visible"/>
                                      </p:to>
                                    </p:set>
                                    <p:animEffect transition="in" filter="fade">
                                      <p:cBhvr>
                                        <p:cTn id="19" dur="500"/>
                                        <p:tgtEl>
                                          <p:spTgt spid="20"/>
                                        </p:tgtEl>
                                      </p:cBhvr>
                                    </p:animEffect>
                                  </p:childTnLst>
                                </p:cTn>
                              </p:par>
                              <p:par>
                                <p:cTn id="20" presetID="10" presetClass="entr" presetSubtype="0" fill="hold" nodeType="withEffect">
                                  <p:stCondLst>
                                    <p:cond delay="0"/>
                                  </p:stCondLst>
                                  <p:childTnLst>
                                    <p:set>
                                      <p:cBhvr>
                                        <p:cTn id="21" dur="1" fill="hold">
                                          <p:stCondLst>
                                            <p:cond delay="0"/>
                                          </p:stCondLst>
                                        </p:cTn>
                                        <p:tgtEl>
                                          <p:spTgt spid="21"/>
                                        </p:tgtEl>
                                        <p:attrNameLst>
                                          <p:attrName>style.visibility</p:attrName>
                                        </p:attrNameLst>
                                      </p:cBhvr>
                                      <p:to>
                                        <p:strVal val="visible"/>
                                      </p:to>
                                    </p:set>
                                    <p:animEffect transition="in" filter="fade">
                                      <p:cBhvr>
                                        <p:cTn id="22" dur="500"/>
                                        <p:tgtEl>
                                          <p:spTgt spid="21"/>
                                        </p:tgtEl>
                                      </p:cBhvr>
                                    </p:animEffect>
                                  </p:childTnLst>
                                </p:cTn>
                              </p:par>
                              <p:par>
                                <p:cTn id="23" presetID="10" presetClass="entr" presetSubtype="0" fill="hold" nodeType="withEffect">
                                  <p:stCondLst>
                                    <p:cond delay="0"/>
                                  </p:stCondLst>
                                  <p:childTnLst>
                                    <p:set>
                                      <p:cBhvr>
                                        <p:cTn id="24" dur="1" fill="hold">
                                          <p:stCondLst>
                                            <p:cond delay="0"/>
                                          </p:stCondLst>
                                        </p:cTn>
                                        <p:tgtEl>
                                          <p:spTgt spid="22"/>
                                        </p:tgtEl>
                                        <p:attrNameLst>
                                          <p:attrName>style.visibility</p:attrName>
                                        </p:attrNameLst>
                                      </p:cBhvr>
                                      <p:to>
                                        <p:strVal val="visible"/>
                                      </p:to>
                                    </p:set>
                                    <p:animEffect transition="in" filter="fade">
                                      <p:cBhvr>
                                        <p:cTn id="25" dur="500"/>
                                        <p:tgtEl>
                                          <p:spTgt spid="22"/>
                                        </p:tgtEl>
                                      </p:cBhvr>
                                    </p:animEffect>
                                  </p:childTnLst>
                                </p:cTn>
                              </p:par>
                              <p:par>
                                <p:cTn id="26" presetID="10" presetClass="entr" presetSubtype="0" fill="hold" nodeType="withEffect">
                                  <p:stCondLst>
                                    <p:cond delay="0"/>
                                  </p:stCondLst>
                                  <p:childTnLst>
                                    <p:set>
                                      <p:cBhvr>
                                        <p:cTn id="27" dur="1" fill="hold">
                                          <p:stCondLst>
                                            <p:cond delay="0"/>
                                          </p:stCondLst>
                                        </p:cTn>
                                        <p:tgtEl>
                                          <p:spTgt spid="23"/>
                                        </p:tgtEl>
                                        <p:attrNameLst>
                                          <p:attrName>style.visibility</p:attrName>
                                        </p:attrNameLst>
                                      </p:cBhvr>
                                      <p:to>
                                        <p:strVal val="visible"/>
                                      </p:to>
                                    </p:set>
                                    <p:animEffect transition="in" filter="fade">
                                      <p:cBhvr>
                                        <p:cTn id="28" dur="500"/>
                                        <p:tgtEl>
                                          <p:spTgt spid="23"/>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24"/>
                                        </p:tgtEl>
                                        <p:attrNameLst>
                                          <p:attrName>style.visibility</p:attrName>
                                        </p:attrNameLst>
                                      </p:cBhvr>
                                      <p:to>
                                        <p:strVal val="visible"/>
                                      </p:to>
                                    </p:set>
                                    <p:animEffect transition="in" filter="fade">
                                      <p:cBhvr>
                                        <p:cTn id="33" dur="500"/>
                                        <p:tgtEl>
                                          <p:spTgt spid="24"/>
                                        </p:tgtEl>
                                      </p:cBhvr>
                                    </p:animEffect>
                                  </p:childTnLst>
                                </p:cTn>
                              </p:par>
                              <p:par>
                                <p:cTn id="34" presetID="10" presetClass="entr" presetSubtype="0" fill="hold" nodeType="withEffect">
                                  <p:stCondLst>
                                    <p:cond delay="0"/>
                                  </p:stCondLst>
                                  <p:childTnLst>
                                    <p:set>
                                      <p:cBhvr>
                                        <p:cTn id="35" dur="1" fill="hold">
                                          <p:stCondLst>
                                            <p:cond delay="0"/>
                                          </p:stCondLst>
                                        </p:cTn>
                                        <p:tgtEl>
                                          <p:spTgt spid="25"/>
                                        </p:tgtEl>
                                        <p:attrNameLst>
                                          <p:attrName>style.visibility</p:attrName>
                                        </p:attrNameLst>
                                      </p:cBhvr>
                                      <p:to>
                                        <p:strVal val="visible"/>
                                      </p:to>
                                    </p:set>
                                    <p:animEffect transition="in" filter="fade">
                                      <p:cBhvr>
                                        <p:cTn id="36" dur="500"/>
                                        <p:tgtEl>
                                          <p:spTgt spid="25"/>
                                        </p:tgtEl>
                                      </p:cBhvr>
                                    </p:animEffect>
                                  </p:childTnLst>
                                </p:cTn>
                              </p:par>
                              <p:par>
                                <p:cTn id="37" presetID="10" presetClass="entr" presetSubtype="0" fill="hold" nodeType="with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5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500"/>
                                        <p:tgtEl>
                                          <p:spTgt spid="27"/>
                                        </p:tgtEl>
                                      </p:cBhvr>
                                    </p:animEffect>
                                  </p:childTnLst>
                                </p:cTn>
                              </p:par>
                              <p:par>
                                <p:cTn id="43" presetID="10" presetClass="entr" presetSubtype="0" fill="hold" nodeType="withEffect">
                                  <p:stCondLst>
                                    <p:cond delay="0"/>
                                  </p:stCondLst>
                                  <p:childTnLst>
                                    <p:set>
                                      <p:cBhvr>
                                        <p:cTn id="44" dur="1" fill="hold">
                                          <p:stCondLst>
                                            <p:cond delay="0"/>
                                          </p:stCondLst>
                                        </p:cTn>
                                        <p:tgtEl>
                                          <p:spTgt spid="28"/>
                                        </p:tgtEl>
                                        <p:attrNameLst>
                                          <p:attrName>style.visibility</p:attrName>
                                        </p:attrNameLst>
                                      </p:cBhvr>
                                      <p:to>
                                        <p:strVal val="visible"/>
                                      </p:to>
                                    </p:set>
                                    <p:animEffect transition="in" filter="fade">
                                      <p:cBhvr>
                                        <p:cTn id="45" dur="500"/>
                                        <p:tgtEl>
                                          <p:spTgt spid="28"/>
                                        </p:tgtEl>
                                      </p:cBhvr>
                                    </p:animEffect>
                                  </p:childTnLst>
                                </p:cTn>
                              </p:par>
                              <p:par>
                                <p:cTn id="46" presetID="10" presetClass="entr" presetSubtype="0" fill="hold" nodeType="with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500"/>
                                        <p:tgtEl>
                                          <p:spTgt spid="29"/>
                                        </p:tgtEl>
                                      </p:cBhvr>
                                    </p:animEffect>
                                  </p:childTnLst>
                                </p:cTn>
                              </p:par>
                            </p:childTnLst>
                          </p:cTn>
                        </p:par>
                      </p:childTnLst>
                    </p:cTn>
                  </p:par>
                  <p:par>
                    <p:cTn id="49" fill="hold">
                      <p:stCondLst>
                        <p:cond delay="indefinite"/>
                      </p:stCondLst>
                      <p:childTnLst>
                        <p:par>
                          <p:cTn id="50" fill="hold">
                            <p:stCondLst>
                              <p:cond delay="0"/>
                            </p:stCondLst>
                            <p:childTnLst>
                              <p:par>
                                <p:cTn id="51" presetID="10" presetClass="entr" presetSubtype="0" fill="hold" nodeType="clickEffect">
                                  <p:stCondLst>
                                    <p:cond delay="0"/>
                                  </p:stCondLst>
                                  <p:childTnLst>
                                    <p:set>
                                      <p:cBhvr>
                                        <p:cTn id="52" dur="1" fill="hold">
                                          <p:stCondLst>
                                            <p:cond delay="0"/>
                                          </p:stCondLst>
                                        </p:cTn>
                                        <p:tgtEl>
                                          <p:spTgt spid="30"/>
                                        </p:tgtEl>
                                        <p:attrNameLst>
                                          <p:attrName>style.visibility</p:attrName>
                                        </p:attrNameLst>
                                      </p:cBhvr>
                                      <p:to>
                                        <p:strVal val="visible"/>
                                      </p:to>
                                    </p:set>
                                    <p:animEffect transition="in" filter="fade">
                                      <p:cBhvr>
                                        <p:cTn id="53" dur="500"/>
                                        <p:tgtEl>
                                          <p:spTgt spid="30"/>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nodeType="clickEffect">
                                  <p:stCondLst>
                                    <p:cond delay="0"/>
                                  </p:stCondLst>
                                  <p:childTnLst>
                                    <p:set>
                                      <p:cBhvr>
                                        <p:cTn id="57" dur="1" fill="hold">
                                          <p:stCondLst>
                                            <p:cond delay="0"/>
                                          </p:stCondLst>
                                        </p:cTn>
                                        <p:tgtEl>
                                          <p:spTgt spid="94"/>
                                        </p:tgtEl>
                                        <p:attrNameLst>
                                          <p:attrName>style.visibility</p:attrName>
                                        </p:attrNameLst>
                                      </p:cBhvr>
                                      <p:to>
                                        <p:strVal val="visible"/>
                                      </p:to>
                                    </p:set>
                                    <p:animEffect transition="in" filter="fade">
                                      <p:cBhvr>
                                        <p:cTn id="58" dur="500"/>
                                        <p:tgtEl>
                                          <p:spTgt spid="94"/>
                                        </p:tgtEl>
                                      </p:cBhvr>
                                    </p:animEffect>
                                  </p:childTnLst>
                                </p:cTn>
                              </p:par>
                              <p:par>
                                <p:cTn id="59" presetID="10" presetClass="entr" presetSubtype="0" fill="hold" nodeType="withEffect">
                                  <p:stCondLst>
                                    <p:cond delay="0"/>
                                  </p:stCondLst>
                                  <p:childTnLst>
                                    <p:set>
                                      <p:cBhvr>
                                        <p:cTn id="60" dur="1" fill="hold">
                                          <p:stCondLst>
                                            <p:cond delay="0"/>
                                          </p:stCondLst>
                                        </p:cTn>
                                        <p:tgtEl>
                                          <p:spTgt spid="95"/>
                                        </p:tgtEl>
                                        <p:attrNameLst>
                                          <p:attrName>style.visibility</p:attrName>
                                        </p:attrNameLst>
                                      </p:cBhvr>
                                      <p:to>
                                        <p:strVal val="visible"/>
                                      </p:to>
                                    </p:set>
                                    <p:animEffect transition="in" filter="fade">
                                      <p:cBhvr>
                                        <p:cTn id="61" dur="500"/>
                                        <p:tgtEl>
                                          <p:spTgt spid="95"/>
                                        </p:tgtEl>
                                      </p:cBhvr>
                                    </p:animEffect>
                                  </p:childTnLst>
                                </p:cTn>
                              </p:par>
                              <p:par>
                                <p:cTn id="62" presetID="10" presetClass="entr" presetSubtype="0" fill="hold" nodeType="withEffect">
                                  <p:stCondLst>
                                    <p:cond delay="0"/>
                                  </p:stCondLst>
                                  <p:childTnLst>
                                    <p:set>
                                      <p:cBhvr>
                                        <p:cTn id="63" dur="1" fill="hold">
                                          <p:stCondLst>
                                            <p:cond delay="0"/>
                                          </p:stCondLst>
                                        </p:cTn>
                                        <p:tgtEl>
                                          <p:spTgt spid="96"/>
                                        </p:tgtEl>
                                        <p:attrNameLst>
                                          <p:attrName>style.visibility</p:attrName>
                                        </p:attrNameLst>
                                      </p:cBhvr>
                                      <p:to>
                                        <p:strVal val="visible"/>
                                      </p:to>
                                    </p:set>
                                    <p:animEffect transition="in" filter="fade">
                                      <p:cBhvr>
                                        <p:cTn id="64" dur="500"/>
                                        <p:tgtEl>
                                          <p:spTgt spid="96"/>
                                        </p:tgtEl>
                                      </p:cBhvr>
                                    </p:animEffect>
                                  </p:childTnLst>
                                </p:cTn>
                              </p:par>
                              <p:par>
                                <p:cTn id="65" presetID="10" presetClass="entr" presetSubtype="0" fill="hold" nodeType="withEffect">
                                  <p:stCondLst>
                                    <p:cond delay="0"/>
                                  </p:stCondLst>
                                  <p:childTnLst>
                                    <p:set>
                                      <p:cBhvr>
                                        <p:cTn id="66" dur="1" fill="hold">
                                          <p:stCondLst>
                                            <p:cond delay="0"/>
                                          </p:stCondLst>
                                        </p:cTn>
                                        <p:tgtEl>
                                          <p:spTgt spid="97"/>
                                        </p:tgtEl>
                                        <p:attrNameLst>
                                          <p:attrName>style.visibility</p:attrName>
                                        </p:attrNameLst>
                                      </p:cBhvr>
                                      <p:to>
                                        <p:strVal val="visible"/>
                                      </p:to>
                                    </p:set>
                                    <p:animEffect transition="in" filter="fade">
                                      <p:cBhvr>
                                        <p:cTn id="67" dur="500"/>
                                        <p:tgtEl>
                                          <p:spTgt spid="97"/>
                                        </p:tgtEl>
                                      </p:cBhvr>
                                    </p:animEffect>
                                  </p:childTnLst>
                                </p:cTn>
                              </p:par>
                              <p:par>
                                <p:cTn id="68" presetID="10" presetClass="entr" presetSubtype="0" fill="hold" nodeType="withEffect">
                                  <p:stCondLst>
                                    <p:cond delay="0"/>
                                  </p:stCondLst>
                                  <p:childTnLst>
                                    <p:set>
                                      <p:cBhvr>
                                        <p:cTn id="69" dur="1" fill="hold">
                                          <p:stCondLst>
                                            <p:cond delay="0"/>
                                          </p:stCondLst>
                                        </p:cTn>
                                        <p:tgtEl>
                                          <p:spTgt spid="98"/>
                                        </p:tgtEl>
                                        <p:attrNameLst>
                                          <p:attrName>style.visibility</p:attrName>
                                        </p:attrNameLst>
                                      </p:cBhvr>
                                      <p:to>
                                        <p:strVal val="visible"/>
                                      </p:to>
                                    </p:set>
                                    <p:animEffect transition="in" filter="fade">
                                      <p:cBhvr>
                                        <p:cTn id="70" dur="500"/>
                                        <p:tgtEl>
                                          <p:spTgt spid="98"/>
                                        </p:tgtEl>
                                      </p:cBhvr>
                                    </p:animEffect>
                                  </p:childTnLst>
                                </p:cTn>
                              </p:par>
                              <p:par>
                                <p:cTn id="71" presetID="10" presetClass="entr" presetSubtype="0" fill="hold" nodeType="withEffect">
                                  <p:stCondLst>
                                    <p:cond delay="0"/>
                                  </p:stCondLst>
                                  <p:childTnLst>
                                    <p:set>
                                      <p:cBhvr>
                                        <p:cTn id="72" dur="1" fill="hold">
                                          <p:stCondLst>
                                            <p:cond delay="0"/>
                                          </p:stCondLst>
                                        </p:cTn>
                                        <p:tgtEl>
                                          <p:spTgt spid="99"/>
                                        </p:tgtEl>
                                        <p:attrNameLst>
                                          <p:attrName>style.visibility</p:attrName>
                                        </p:attrNameLst>
                                      </p:cBhvr>
                                      <p:to>
                                        <p:strVal val="visible"/>
                                      </p:to>
                                    </p:set>
                                    <p:animEffect transition="in" filter="fade">
                                      <p:cBhvr>
                                        <p:cTn id="73" dur="500"/>
                                        <p:tgtEl>
                                          <p:spTgt spid="99"/>
                                        </p:tgtEl>
                                      </p:cBhvr>
                                    </p:animEffect>
                                  </p:childTnLst>
                                </p:cTn>
                              </p:par>
                              <p:par>
                                <p:cTn id="74" presetID="10" presetClass="entr" presetSubtype="0" fill="hold" nodeType="withEffect">
                                  <p:stCondLst>
                                    <p:cond delay="0"/>
                                  </p:stCondLst>
                                  <p:childTnLst>
                                    <p:set>
                                      <p:cBhvr>
                                        <p:cTn id="75" dur="1" fill="hold">
                                          <p:stCondLst>
                                            <p:cond delay="0"/>
                                          </p:stCondLst>
                                        </p:cTn>
                                        <p:tgtEl>
                                          <p:spTgt spid="100"/>
                                        </p:tgtEl>
                                        <p:attrNameLst>
                                          <p:attrName>style.visibility</p:attrName>
                                        </p:attrNameLst>
                                      </p:cBhvr>
                                      <p:to>
                                        <p:strVal val="visible"/>
                                      </p:to>
                                    </p:set>
                                    <p:animEffect transition="in" filter="fade">
                                      <p:cBhvr>
                                        <p:cTn id="76" dur="500"/>
                                        <p:tgtEl>
                                          <p:spTgt spid="100"/>
                                        </p:tgtEl>
                                      </p:cBhvr>
                                    </p:animEffect>
                                  </p:childTnLst>
                                </p:cTn>
                              </p:par>
                              <p:par>
                                <p:cTn id="77" presetID="10" presetClass="entr" presetSubtype="0" fill="hold" nodeType="withEffect">
                                  <p:stCondLst>
                                    <p:cond delay="0"/>
                                  </p:stCondLst>
                                  <p:childTnLst>
                                    <p:set>
                                      <p:cBhvr>
                                        <p:cTn id="78" dur="1" fill="hold">
                                          <p:stCondLst>
                                            <p:cond delay="0"/>
                                          </p:stCondLst>
                                        </p:cTn>
                                        <p:tgtEl>
                                          <p:spTgt spid="101"/>
                                        </p:tgtEl>
                                        <p:attrNameLst>
                                          <p:attrName>style.visibility</p:attrName>
                                        </p:attrNameLst>
                                      </p:cBhvr>
                                      <p:to>
                                        <p:strVal val="visible"/>
                                      </p:to>
                                    </p:set>
                                    <p:animEffect transition="in" filter="fade">
                                      <p:cBhvr>
                                        <p:cTn id="79" dur="500"/>
                                        <p:tgtEl>
                                          <p:spTgt spid="101"/>
                                        </p:tgtEl>
                                      </p:cBhvr>
                                    </p:animEffect>
                                  </p:childTnLst>
                                </p:cTn>
                              </p:par>
                              <p:par>
                                <p:cTn id="80" presetID="10" presetClass="entr" presetSubtype="0" fill="hold" nodeType="withEffect">
                                  <p:stCondLst>
                                    <p:cond delay="0"/>
                                  </p:stCondLst>
                                  <p:childTnLst>
                                    <p:set>
                                      <p:cBhvr>
                                        <p:cTn id="81" dur="1" fill="hold">
                                          <p:stCondLst>
                                            <p:cond delay="0"/>
                                          </p:stCondLst>
                                        </p:cTn>
                                        <p:tgtEl>
                                          <p:spTgt spid="102"/>
                                        </p:tgtEl>
                                        <p:attrNameLst>
                                          <p:attrName>style.visibility</p:attrName>
                                        </p:attrNameLst>
                                      </p:cBhvr>
                                      <p:to>
                                        <p:strVal val="visible"/>
                                      </p:to>
                                    </p:set>
                                    <p:animEffect transition="in" filter="fade">
                                      <p:cBhvr>
                                        <p:cTn id="82" dur="500"/>
                                        <p:tgtEl>
                                          <p:spTgt spid="102"/>
                                        </p:tgtEl>
                                      </p:cBhvr>
                                    </p:animEffect>
                                  </p:childTnLst>
                                </p:cTn>
                              </p:par>
                              <p:par>
                                <p:cTn id="83" presetID="10" presetClass="entr" presetSubtype="0" fill="hold" nodeType="withEffect">
                                  <p:stCondLst>
                                    <p:cond delay="0"/>
                                  </p:stCondLst>
                                  <p:childTnLst>
                                    <p:set>
                                      <p:cBhvr>
                                        <p:cTn id="84" dur="1" fill="hold">
                                          <p:stCondLst>
                                            <p:cond delay="0"/>
                                          </p:stCondLst>
                                        </p:cTn>
                                        <p:tgtEl>
                                          <p:spTgt spid="103"/>
                                        </p:tgtEl>
                                        <p:attrNameLst>
                                          <p:attrName>style.visibility</p:attrName>
                                        </p:attrNameLst>
                                      </p:cBhvr>
                                      <p:to>
                                        <p:strVal val="visible"/>
                                      </p:to>
                                    </p:set>
                                    <p:animEffect transition="in" filter="fade">
                                      <p:cBhvr>
                                        <p:cTn id="85" dur="500"/>
                                        <p:tgtEl>
                                          <p:spTgt spid="103"/>
                                        </p:tgtEl>
                                      </p:cBhvr>
                                    </p:animEffect>
                                  </p:childTnLst>
                                </p:cTn>
                              </p:par>
                              <p:par>
                                <p:cTn id="86" presetID="10" presetClass="entr" presetSubtype="0" fill="hold" nodeType="withEffect">
                                  <p:stCondLst>
                                    <p:cond delay="0"/>
                                  </p:stCondLst>
                                  <p:childTnLst>
                                    <p:set>
                                      <p:cBhvr>
                                        <p:cTn id="87" dur="1" fill="hold">
                                          <p:stCondLst>
                                            <p:cond delay="0"/>
                                          </p:stCondLst>
                                        </p:cTn>
                                        <p:tgtEl>
                                          <p:spTgt spid="104"/>
                                        </p:tgtEl>
                                        <p:attrNameLst>
                                          <p:attrName>style.visibility</p:attrName>
                                        </p:attrNameLst>
                                      </p:cBhvr>
                                      <p:to>
                                        <p:strVal val="visible"/>
                                      </p:to>
                                    </p:set>
                                    <p:animEffect transition="in" filter="fade">
                                      <p:cBhvr>
                                        <p:cTn id="88" dur="500"/>
                                        <p:tgtEl>
                                          <p:spTgt spid="104"/>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15"/>
                                        </p:tgtEl>
                                        <p:attrNameLst>
                                          <p:attrName>style.visibility</p:attrName>
                                        </p:attrNameLst>
                                      </p:cBhvr>
                                      <p:to>
                                        <p:strVal val="visible"/>
                                      </p:to>
                                    </p:set>
                                    <p:animEffect transition="in" filter="fade">
                                      <p:cBhvr>
                                        <p:cTn id="93" dur="500"/>
                                        <p:tgtEl>
                                          <p:spTgt spid="1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The same evidence can justify different actions</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100" name="Evi"/>
          <p:cNvSpPr/>
          <p:nvPr/>
        </p:nvSpPr>
        <p:spPr>
          <a:xfrm>
            <a:off x="274320" y="914400"/>
            <a:ext cx="8595360" cy="621792"/>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1" i="0" dirty="0">
                <a:solidFill>
                  <a:srgbClr val="5C4826"/>
                </a:solidFill>
              </a:rPr>
              <a:t>p99 = 420 ms</a:t>
            </a:r>
            <a:r>
              <a:rPr lang="en-US" sz="2000" b="0" i="0" dirty="0">
                <a:solidFill>
                  <a:srgbClr val="5C4826"/>
                </a:solidFill>
              </a:rPr>
              <a:t> against a bound of </a:t>
            </a:r>
            <a:r>
              <a:rPr lang="en-US" sz="2000" b="1" i="0" dirty="0">
                <a:solidFill>
                  <a:srgbClr val="5C4826"/>
                </a:solidFill>
              </a:rPr>
              <a:t>500 ms</a:t>
            </a:r>
          </a:p>
        </p:txBody>
      </p:sp>
      <p:sp>
        <p:nvSpPr>
          <p:cNvPr id="101" name="H0"/>
          <p:cNvSpPr txBox="1"/>
          <p:nvPr/>
        </p:nvSpPr>
        <p:spPr>
          <a:xfrm>
            <a:off x="484632"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CONSEQUENCE</a:t>
            </a:r>
          </a:p>
        </p:txBody>
      </p:sp>
      <p:sp>
        <p:nvSpPr>
          <p:cNvPr id="102" name="C0"/>
          <p:cNvSpPr/>
          <p:nvPr/>
        </p:nvSpPr>
        <p:spPr>
          <a:xfrm>
            <a:off x="484632"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What happens if we’re wrong?</a:t>
            </a:r>
          </a:p>
        </p:txBody>
      </p:sp>
      <p:sp>
        <p:nvSpPr>
          <p:cNvPr id="103" name="H1"/>
          <p:cNvSpPr txBox="1"/>
          <p:nvPr/>
        </p:nvSpPr>
        <p:spPr>
          <a:xfrm>
            <a:off x="3291840"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UNCERTAINTY</a:t>
            </a:r>
          </a:p>
        </p:txBody>
      </p:sp>
      <p:sp>
        <p:nvSpPr>
          <p:cNvPr id="104" name="C1"/>
          <p:cNvSpPr/>
          <p:nvPr/>
        </p:nvSpPr>
        <p:spPr>
          <a:xfrm>
            <a:off x="3291840"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How representative — how confident — is the evidence?</a:t>
            </a:r>
          </a:p>
        </p:txBody>
      </p:sp>
      <p:sp>
        <p:nvSpPr>
          <p:cNvPr id="105" name="H2"/>
          <p:cNvSpPr txBox="1"/>
          <p:nvPr/>
        </p:nvSpPr>
        <p:spPr>
          <a:xfrm>
            <a:off x="6099048" y="1783080"/>
            <a:ext cx="2560320" cy="457200"/>
          </a:xfrm>
          <a:prstGeom prst="rect">
            <a:avLst/>
          </a:prstGeom>
          <a:noFill/>
          <a:ln>
            <a:noFill/>
          </a:ln>
        </p:spPr>
        <p:txBody>
          <a:bodyPr wrap="square" lIns="0" tIns="0" rIns="0" bIns="0" anchor="t"/>
          <a:lstStyle/>
          <a:p>
            <a:pPr algn="ctr">
              <a:buNone/>
            </a:pPr>
            <a:r>
              <a:rPr lang="en-US" sz="2000" b="1" i="0" dirty="0">
                <a:solidFill>
                  <a:srgbClr val="8E6F3E"/>
                </a:solidFill>
              </a:rPr>
              <a:t>REVERSIBILITY</a:t>
            </a:r>
          </a:p>
        </p:txBody>
      </p:sp>
      <p:sp>
        <p:nvSpPr>
          <p:cNvPr id="106" name="C2"/>
          <p:cNvSpPr/>
          <p:nvPr/>
        </p:nvSpPr>
        <p:spPr>
          <a:xfrm>
            <a:off x="6099048" y="2304288"/>
            <a:ext cx="2560320" cy="1371600"/>
          </a:xfrm>
          <a:prstGeom prst="rect">
            <a:avLst/>
          </a:prstGeom>
          <a:solidFill>
            <a:srgbClr val="F5F1E8"/>
          </a:solidFill>
          <a:ln w="12700">
            <a:solidFill>
              <a:srgbClr val="C9B991"/>
            </a:solidFill>
          </a:ln>
        </p:spPr>
        <p:txBody>
          <a:bodyPr wrap="square" lIns="45720" tIns="27432" rIns="45720" bIns="27432" anchor="ctr"/>
          <a:lstStyle/>
          <a:p>
            <a:pPr algn="ctr">
              <a:buNone/>
            </a:pPr>
            <a:r>
              <a:rPr lang="en-US" sz="2000" b="0" i="0" dirty="0">
                <a:solidFill>
                  <a:srgbClr val="5C4826"/>
                </a:solidFill>
              </a:rPr>
              <a:t>Can consequences be repaired?</a:t>
            </a:r>
          </a:p>
        </p:txBody>
      </p:sp>
      <p:sp>
        <p:nvSpPr>
          <p:cNvPr id="107" name="Ital"/>
          <p:cNvSpPr txBox="1"/>
          <p:nvPr/>
        </p:nvSpPr>
        <p:spPr>
          <a:xfrm>
            <a:off x="274320" y="4526280"/>
            <a:ext cx="8595360" cy="777240"/>
          </a:xfrm>
          <a:prstGeom prst="rect">
            <a:avLst/>
          </a:prstGeom>
          <a:noFill/>
          <a:ln>
            <a:noFill/>
          </a:ln>
        </p:spPr>
        <p:txBody>
          <a:bodyPr wrap="square" lIns="0" tIns="0" rIns="0" bIns="0" anchor="t"/>
          <a:lstStyle/>
          <a:p>
            <a:pPr algn="ctr"/>
            <a:r>
              <a:rPr sz="2000" b="0" i="1">
                <a:solidFill>
                  <a:srgbClr val="555960"/>
                </a:solidFill>
              </a:rPr>
              <a:t>The same margin may be comfortable in a game and unacceptable in a medical device.</a:t>
            </a:r>
          </a:p>
        </p:txBody>
      </p:sp>
      <p:sp>
        <p:nvSpPr>
          <p:cNvPr id="108" name="FooterBand"/>
          <p:cNvSpPr/>
          <p:nvPr/>
        </p:nvSpPr>
        <p:spPr>
          <a:xfrm>
            <a:off x="274320" y="5852160"/>
            <a:ext cx="8595360" cy="566928"/>
          </a:xfrm>
          <a:prstGeom prst="rect">
            <a:avLst/>
          </a:prstGeom>
          <a:solidFill>
            <a:srgbClr val="8E6F3E"/>
          </a:solidFill>
          <a:ln>
            <a:noFill/>
          </a:ln>
        </p:spPr>
        <p:txBody>
          <a:bodyPr wrap="square" lIns="91440" tIns="45720" rIns="91440" bIns="45720" anchor="ctr"/>
          <a:lstStyle/>
          <a:p>
            <a:pPr algn="ctr">
              <a:buNone/>
            </a:pPr>
            <a:r>
              <a:rPr lang="en-US" sz="2000" b="1" i="0" dirty="0">
                <a:solidFill>
                  <a:srgbClr val="FFFFFF"/>
                </a:solidFill>
              </a:rPr>
              <a:t>Evidence does not determine action independently of the decision’s stakes.</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What should we do?</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0" name="BigQ"/>
          <p:cNvSpPr txBox="1"/>
          <p:nvPr/>
        </p:nvSpPr>
        <p:spPr>
          <a:xfrm>
            <a:off x="274320" y="960120"/>
            <a:ext cx="8595360" cy="731520"/>
          </a:xfrm>
          <a:prstGeom prst="rect">
            <a:avLst/>
          </a:prstGeom>
          <a:noFill/>
          <a:ln>
            <a:noFill/>
          </a:ln>
        </p:spPr>
        <p:txBody>
          <a:bodyPr wrap="square" lIns="0" tIns="0" rIns="0" bIns="0" anchor="t"/>
          <a:lstStyle/>
          <a:p>
            <a:pPr algn="ctr">
              <a:buNone/>
            </a:pPr>
            <a:r>
              <a:rPr lang="en-US" sz="3200" b="0" i="0" dirty="0">
                <a:solidFill>
                  <a:srgbClr val="000000"/>
                </a:solidFill>
              </a:rPr>
              <a:t>Given what we know, what should we do?</a:t>
            </a:r>
          </a:p>
        </p:txBody>
      </p:sp>
      <p:sp>
        <p:nvSpPr>
          <p:cNvPr id="108" name="Ital"/>
          <p:cNvSpPr txBox="1"/>
          <p:nvPr/>
        </p:nvSpPr>
        <p:spPr>
          <a:xfrm>
            <a:off x="274320" y="4069080"/>
            <a:ext cx="8595360" cy="777240"/>
          </a:xfrm>
          <a:prstGeom prst="rect">
            <a:avLst/>
          </a:prstGeom>
          <a:noFill/>
          <a:ln>
            <a:noFill/>
          </a:ln>
        </p:spPr>
        <p:txBody>
          <a:bodyPr wrap="square" lIns="0" tIns="0" rIns="0" bIns="0" anchor="t"/>
          <a:lstStyle/>
          <a:p>
            <a:pPr algn="ctr">
              <a:buNone/>
            </a:pPr>
            <a:r>
              <a:rPr lang="en-US" sz="2000" b="0" i="1" dirty="0">
                <a:solidFill>
                  <a:srgbClr val="000000"/>
                </a:solidFill>
              </a:rPr>
              <a:t>Evidence is valuable insofar as it changes the justification for one of these.</a:t>
            </a:r>
          </a:p>
        </p:txBody>
      </p:sp>
      <p:sp>
        <p:nvSpPr>
          <p:cNvPr id="109" name="A0"/>
          <p:cNvSpPr/>
          <p:nvPr/>
        </p:nvSpPr>
        <p:spPr>
          <a:xfrm>
            <a:off x="27432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PROCEED</a:t>
            </a:r>
          </a:p>
        </p:txBody>
      </p:sp>
      <p:sp>
        <p:nvSpPr>
          <p:cNvPr id="110" name="A1"/>
          <p:cNvSpPr/>
          <p:nvPr/>
        </p:nvSpPr>
        <p:spPr>
          <a:xfrm>
            <a:off x="1730044"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CHOOSE</a:t>
            </a:r>
          </a:p>
          <a:p>
            <a:pPr algn="ctr"/>
            <a:r>
              <a:rPr sz="2000" b="1" i="0">
                <a:solidFill>
                  <a:srgbClr val="5C4826"/>
                </a:solidFill>
              </a:rPr>
              <a:t>ANOTHER</a:t>
            </a:r>
          </a:p>
        </p:txBody>
      </p:sp>
      <p:sp>
        <p:nvSpPr>
          <p:cNvPr id="111" name="A2"/>
          <p:cNvSpPr/>
          <p:nvPr/>
        </p:nvSpPr>
        <p:spPr>
          <a:xfrm>
            <a:off x="3185768"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GATHER</a:t>
            </a:r>
          </a:p>
          <a:p>
            <a:pPr algn="ctr"/>
            <a:r>
              <a:rPr sz="2000" b="1" i="0">
                <a:solidFill>
                  <a:srgbClr val="5C4826"/>
                </a:solidFill>
              </a:rPr>
              <a:t>EVIDENCE</a:t>
            </a:r>
          </a:p>
        </p:txBody>
      </p:sp>
      <p:sp>
        <p:nvSpPr>
          <p:cNvPr id="112" name="A3"/>
          <p:cNvSpPr/>
          <p:nvPr/>
        </p:nvSpPr>
        <p:spPr>
          <a:xfrm>
            <a:off x="4641492"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CHANGE</a:t>
            </a:r>
          </a:p>
          <a:p>
            <a:pPr algn="ctr"/>
            <a:r>
              <a:rPr sz="2000" b="1" i="0">
                <a:solidFill>
                  <a:srgbClr val="5C4826"/>
                </a:solidFill>
              </a:rPr>
              <a:t>THE</a:t>
            </a:r>
          </a:p>
          <a:p>
            <a:pPr algn="ctr"/>
            <a:r>
              <a:rPr sz="2000" b="1" i="0">
                <a:solidFill>
                  <a:srgbClr val="5C4826"/>
                </a:solidFill>
              </a:rPr>
              <a:t>SYSTEM</a:t>
            </a:r>
          </a:p>
        </p:txBody>
      </p:sp>
      <p:sp>
        <p:nvSpPr>
          <p:cNvPr id="113" name="A4"/>
          <p:cNvSpPr/>
          <p:nvPr/>
        </p:nvSpPr>
        <p:spPr>
          <a:xfrm>
            <a:off x="6097216"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REVISE</a:t>
            </a:r>
          </a:p>
          <a:p>
            <a:pPr algn="ctr"/>
            <a:r>
              <a:rPr sz="2000" b="1" i="0">
                <a:solidFill>
                  <a:srgbClr val="5C4826"/>
                </a:solidFill>
              </a:rPr>
              <a:t>THE</a:t>
            </a:r>
          </a:p>
          <a:p>
            <a:pPr algn="ctr"/>
            <a:r>
              <a:rPr sz="2000" b="1" i="0">
                <a:solidFill>
                  <a:srgbClr val="5C4826"/>
                </a:solidFill>
              </a:rPr>
              <a:t>MODEL</a:t>
            </a:r>
          </a:p>
        </p:txBody>
      </p:sp>
      <p:sp>
        <p:nvSpPr>
          <p:cNvPr id="114" name="A5"/>
          <p:cNvSpPr/>
          <p:nvPr/>
        </p:nvSpPr>
        <p:spPr>
          <a:xfrm>
            <a:off x="7552940" y="2651760"/>
            <a:ext cx="1316736" cy="1005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27432" tIns="22860" rIns="27432" bIns="22860" rtlCol="0" anchor="ctr"/>
          <a:lstStyle/>
          <a:p>
            <a:pPr algn="ctr"/>
            <a:r>
              <a:rPr sz="2000" b="1" i="0">
                <a:solidFill>
                  <a:srgbClr val="5C4826"/>
                </a:solidFill>
              </a:rPr>
              <a:t>DECLINE</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Before the decision · After the outcome</a:t>
            </a:r>
          </a:p>
        </p:txBody>
      </p:sp>
      <p:sp>
        <p:nvSpPr>
          <p:cNvPr id="3" name="Slide Number Placeholder 3"/>
          <p:cNvSpPr>
            <a:spLocks noGrp="1"/>
          </p:cNvSpPr>
          <p:nvPr>
            <p:ph type="sldNum" sz="quarter" idx="4"/>
          </p:nvPr>
        </p:nvSpPr>
        <p:spPr/>
        <p:txBody>
          <a:bodyPr/>
          <a:lstStyle/>
          <a:p>
            <a:fld id="{B7EB45DA-9A0D-DC49-8E02-F30A5DDC21C3}" type="slidenum">
              <a:rPr lang="en-US" smtClean="0"/>
              <a:t>28</a:t>
            </a:fld>
            <a:endParaRPr lang="en-US"/>
          </a:p>
        </p:txBody>
      </p:sp>
      <p:sp>
        <p:nvSpPr>
          <p:cNvPr id="100" name="Before"/>
          <p:cNvSpPr/>
          <p:nvPr/>
        </p:nvSpPr>
        <p:spPr>
          <a:xfrm>
            <a:off x="310896"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BEFORE</a:t>
            </a:r>
          </a:p>
          <a:p>
            <a:pPr algn="ctr">
              <a:spcBef>
                <a:spcPts val="100"/>
              </a:spcBef>
              <a:buNone/>
            </a:pPr>
            <a:r>
              <a:rPr lang="en-US" sz="2000" b="0" i="0" dirty="0">
                <a:solidFill>
                  <a:srgbClr val="5C4826"/>
                </a:solidFill>
              </a:rPr>
              <a:t>Given what we know,</a:t>
            </a:r>
          </a:p>
          <a:p>
            <a:pPr algn="ctr">
              <a:spcBef>
                <a:spcPts val="60"/>
              </a:spcBef>
              <a:buNone/>
            </a:pPr>
            <a:r>
              <a:rPr lang="en-US" sz="2000" b="0" i="0" dirty="0">
                <a:solidFill>
                  <a:srgbClr val="5C4826"/>
                </a:solidFill>
              </a:rPr>
              <a:t>what should we do?</a:t>
            </a:r>
          </a:p>
        </p:txBody>
      </p:sp>
      <p:sp>
        <p:nvSpPr>
          <p:cNvPr id="101" name="After"/>
          <p:cNvSpPr/>
          <p:nvPr/>
        </p:nvSpPr>
        <p:spPr>
          <a:xfrm>
            <a:off x="4873752" y="932688"/>
            <a:ext cx="3959352" cy="1188720"/>
          </a:xfrm>
          <a:prstGeom prst="rect">
            <a:avLst/>
          </a:prstGeom>
          <a:solidFill>
            <a:srgbClr val="F5F1E8"/>
          </a:solidFill>
          <a:ln w="12700">
            <a:solidFill>
              <a:srgbClr val="C9B991"/>
            </a:solidFill>
          </a:ln>
        </p:spPr>
        <p:txBody>
          <a:bodyPr wrap="square" lIns="45720" tIns="18000" rIns="45720" bIns="18000" anchor="ctr"/>
          <a:lstStyle/>
          <a:p>
            <a:pPr algn="ctr">
              <a:buNone/>
            </a:pPr>
            <a:r>
              <a:rPr lang="en-US" sz="2000" b="1" i="0" dirty="0">
                <a:solidFill>
                  <a:srgbClr val="8E6F3E"/>
                </a:solidFill>
              </a:rPr>
              <a:t>AFTER</a:t>
            </a:r>
          </a:p>
          <a:p>
            <a:pPr algn="ctr">
              <a:spcBef>
                <a:spcPts val="100"/>
              </a:spcBef>
              <a:buNone/>
            </a:pPr>
            <a:r>
              <a:rPr lang="en-US" sz="2000" b="0" i="0" dirty="0">
                <a:solidFill>
                  <a:srgbClr val="5C4826"/>
                </a:solidFill>
              </a:rPr>
              <a:t>Given what happened,</a:t>
            </a:r>
          </a:p>
          <a:p>
            <a:pPr algn="ctr">
              <a:spcBef>
                <a:spcPts val="60"/>
              </a:spcBef>
              <a:buNone/>
            </a:pPr>
            <a:r>
              <a:rPr lang="en-US" sz="2000" b="0" i="0" dirty="0">
                <a:solidFill>
                  <a:srgbClr val="5C4826"/>
                </a:solidFill>
              </a:rPr>
              <a:t>what should we now believe?</a:t>
            </a:r>
          </a:p>
        </p:txBody>
      </p:sp>
      <p:sp>
        <p:nvSpPr>
          <p:cNvPr id="123" name="Foreshadow"/>
          <p:cNvSpPr txBox="1"/>
          <p:nvPr/>
        </p:nvSpPr>
        <p:spPr>
          <a:xfrm>
            <a:off x="274320" y="4617720"/>
            <a:ext cx="8595360" cy="457200"/>
          </a:xfrm>
          <a:prstGeom prst="rect">
            <a:avLst/>
          </a:prstGeom>
          <a:noFill/>
          <a:ln>
            <a:noFill/>
          </a:ln>
        </p:spPr>
        <p:txBody>
          <a:bodyPr wrap="square" lIns="0" tIns="0" rIns="0" bIns="0" anchor="t"/>
          <a:lstStyle/>
          <a:p>
            <a:pPr algn="ctr">
              <a:buNone/>
            </a:pPr>
            <a:r>
              <a:rPr lang="en-US" sz="2000" b="0" i="1" dirty="0">
                <a:solidFill>
                  <a:srgbClr val="555960"/>
                </a:solidFill>
              </a:rPr>
              <a:t>When the outcome surprises us: which model should change?</a:t>
            </a:r>
          </a:p>
        </p:txBody>
      </p:sp>
      <p:sp>
        <p:nvSpPr>
          <p:cNvPr id="124" name="Chain0"/>
          <p:cNvSpPr/>
          <p:nvPr/>
        </p:nvSpPr>
        <p:spPr>
          <a:xfrm>
            <a:off x="208346"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DECISION</a:t>
            </a:r>
          </a:p>
        </p:txBody>
      </p:sp>
      <p:cxnSp>
        <p:nvCxnSpPr>
          <p:cNvPr id="125" name="C29_0"/>
          <p:cNvCxnSpPr/>
          <p:nvPr/>
        </p:nvCxnSpPr>
        <p:spPr>
          <a:xfrm>
            <a:off x="142449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6" name="Chain1"/>
          <p:cNvSpPr/>
          <p:nvPr/>
        </p:nvSpPr>
        <p:spPr>
          <a:xfrm>
            <a:off x="1515938" y="2697480"/>
            <a:ext cx="9271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MODEL</a:t>
            </a:r>
          </a:p>
        </p:txBody>
      </p:sp>
      <p:cxnSp>
        <p:nvCxnSpPr>
          <p:cNvPr id="127" name="C29_1"/>
          <p:cNvCxnSpPr/>
          <p:nvPr/>
        </p:nvCxnSpPr>
        <p:spPr>
          <a:xfrm>
            <a:off x="2443038"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8" name="Chain2"/>
          <p:cNvSpPr/>
          <p:nvPr/>
        </p:nvSpPr>
        <p:spPr>
          <a:xfrm>
            <a:off x="2534478"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EVIDENCE</a:t>
            </a:r>
          </a:p>
        </p:txBody>
      </p:sp>
      <p:cxnSp>
        <p:nvCxnSpPr>
          <p:cNvPr id="129" name="C29_2"/>
          <p:cNvCxnSpPr/>
          <p:nvPr/>
        </p:nvCxnSpPr>
        <p:spPr>
          <a:xfrm>
            <a:off x="375063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0" name="Chain3"/>
          <p:cNvSpPr/>
          <p:nvPr/>
        </p:nvSpPr>
        <p:spPr>
          <a:xfrm>
            <a:off x="3842070" y="2697480"/>
            <a:ext cx="135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JUDGMENT</a:t>
            </a:r>
          </a:p>
        </p:txBody>
      </p:sp>
      <p:cxnSp>
        <p:nvCxnSpPr>
          <p:cNvPr id="131" name="C29_3"/>
          <p:cNvCxnSpPr/>
          <p:nvPr/>
        </p:nvCxnSpPr>
        <p:spPr>
          <a:xfrm>
            <a:off x="5192070"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2" name="Chain4"/>
          <p:cNvSpPr/>
          <p:nvPr/>
        </p:nvSpPr>
        <p:spPr>
          <a:xfrm>
            <a:off x="5283510" y="2697480"/>
            <a:ext cx="102311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ACTION</a:t>
            </a:r>
          </a:p>
        </p:txBody>
      </p:sp>
      <p:cxnSp>
        <p:nvCxnSpPr>
          <p:cNvPr id="133" name="C29_4"/>
          <p:cNvCxnSpPr/>
          <p:nvPr/>
        </p:nvCxnSpPr>
        <p:spPr>
          <a:xfrm>
            <a:off x="630662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4" name="Chain5"/>
          <p:cNvSpPr/>
          <p:nvPr/>
        </p:nvSpPr>
        <p:spPr>
          <a:xfrm>
            <a:off x="6398062" y="2697480"/>
            <a:ext cx="123000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OUTCOME</a:t>
            </a:r>
          </a:p>
        </p:txBody>
      </p:sp>
      <p:cxnSp>
        <p:nvCxnSpPr>
          <p:cNvPr id="135" name="C29_5"/>
          <p:cNvCxnSpPr/>
          <p:nvPr/>
        </p:nvCxnSpPr>
        <p:spPr>
          <a:xfrm>
            <a:off x="7628062" y="2980944"/>
            <a:ext cx="91440" cy="0"/>
          </a:xfrm>
          <a:prstGeom prst="line">
            <a:avLst/>
          </a:prstGeom>
          <a:ln w="19050">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6" name="Chain6"/>
          <p:cNvSpPr/>
          <p:nvPr/>
        </p:nvSpPr>
        <p:spPr>
          <a:xfrm>
            <a:off x="7719502" y="2697480"/>
            <a:ext cx="1216152"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wrap="square" lIns="18288" tIns="18288" rIns="18288" bIns="18288" rtlCol="0" anchor="ctr"/>
          <a:lstStyle/>
          <a:p>
            <a:pPr algn="ctr"/>
            <a:r>
              <a:rPr sz="2000" b="1" i="0">
                <a:solidFill>
                  <a:srgbClr val="5C4826"/>
                </a:solidFill>
              </a:rPr>
              <a:t>NEW</a:t>
            </a:r>
          </a:p>
          <a:p>
            <a:pPr algn="ctr"/>
            <a:r>
              <a:rPr sz="2000" b="1" i="0">
                <a:solidFill>
                  <a:srgbClr val="5C4826"/>
                </a:solidFill>
              </a:rPr>
              <a:t>EVIDENCE</a:t>
            </a:r>
          </a:p>
        </p:txBody>
      </p:sp>
      <p:cxnSp>
        <p:nvCxnSpPr>
          <p:cNvPr id="137" name="SegDown"/>
          <p:cNvCxnSpPr/>
          <p:nvPr/>
        </p:nvCxnSpPr>
        <p:spPr>
          <a:xfrm>
            <a:off x="8327578" y="3264408"/>
            <a:ext cx="0" cy="667512"/>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8" name="SegAcross"/>
          <p:cNvCxnSpPr/>
          <p:nvPr/>
        </p:nvCxnSpPr>
        <p:spPr>
          <a:xfrm>
            <a:off x="1979488" y="3931920"/>
            <a:ext cx="6348090" cy="0"/>
          </a:xfrm>
          <a:prstGeom prst="line">
            <a:avLst/>
          </a:prstGeom>
          <a:ln w="19050">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39" name="SegUp"/>
          <p:cNvCxnSpPr/>
          <p:nvPr/>
        </p:nvCxnSpPr>
        <p:spPr>
          <a:xfrm>
            <a:off x="1979488" y="3264408"/>
            <a:ext cx="0" cy="667512"/>
          </a:xfrm>
          <a:prstGeom prst="line">
            <a:avLst/>
          </a:prstGeom>
          <a:ln w="19050">
            <a:solidFill>
              <a:srgbClr val="8E6F3E"/>
            </a:solidFill>
            <a:headEnd type="triangle" w="med" len="med"/>
          </a:ln>
          <a:effectLst/>
        </p:spPr>
        <p:style>
          <a:lnRef idx="2">
            <a:schemeClr val="accent1"/>
          </a:lnRef>
          <a:fillRef idx="0">
            <a:schemeClr val="accent1"/>
          </a:fillRef>
          <a:effectRef idx="1">
            <a:schemeClr val="accent1"/>
          </a:effectRef>
          <a:fontRef idx="minor">
            <a:schemeClr val="tx1"/>
          </a:fontRef>
        </p:style>
      </p:cxnSp>
      <p:sp>
        <p:nvSpPr>
          <p:cNvPr id="140" name="LoopLbl"/>
          <p:cNvSpPr txBox="1"/>
          <p:nvPr/>
        </p:nvSpPr>
        <p:spPr>
          <a:xfrm>
            <a:off x="4056253" y="4023360"/>
            <a:ext cx="2194560" cy="365760"/>
          </a:xfrm>
          <a:prstGeom prst="rect">
            <a:avLst/>
          </a:prstGeom>
          <a:noFill/>
        </p:spPr>
        <p:txBody>
          <a:bodyPr wrap="square" lIns="0" tIns="0" rIns="0" bIns="0" anchor="ctr">
            <a:spAutoFit/>
          </a:bodyPr>
          <a:lstStyle/>
          <a:p>
            <a:pPr algn="ctr"/>
            <a:r>
              <a:rPr sz="2000" b="0" i="1">
                <a:solidFill>
                  <a:srgbClr val="8E6F3E"/>
                </a:solidFill>
              </a:rPr>
              <a:t>the loop continues</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77148" y="118428"/>
            <a:ext cx="8590000" cy="638175"/>
          </a:xfrm>
        </p:spPr>
        <p:txBody>
          <a:bodyPr>
            <a:normAutofit/>
          </a:bodyPr>
          <a:lstStyle/>
          <a:p>
            <a:pPr>
              <a:buNone/>
              <a:defRPr b="0"/>
            </a:pPr>
            <a:r>
              <a:rPr lang="en-US" sz="2400" b="0" i="0" dirty="0">
                <a:solidFill>
                  <a:srgbClr val="000000"/>
                </a:solidFill>
              </a:rPr>
              <a:t>Engineering is informed control</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Day1"/>
          <p:cNvSpPr txBox="1"/>
          <p:nvPr/>
        </p:nvSpPr>
        <p:spPr>
          <a:xfrm>
            <a:off x="274320" y="1234440"/>
            <a:ext cx="8595360" cy="329184"/>
          </a:xfrm>
          <a:prstGeom prst="rect">
            <a:avLst/>
          </a:prstGeom>
          <a:noFill/>
          <a:ln>
            <a:noFill/>
          </a:ln>
        </p:spPr>
        <p:txBody>
          <a:bodyPr wrap="square" lIns="0" tIns="0" rIns="0" bIns="0" anchor="t"/>
          <a:lstStyle/>
          <a:p>
            <a:pPr algn="ctr">
              <a:buNone/>
            </a:pPr>
            <a:r>
              <a:rPr lang="en-US" sz="2000" b="1" i="0" dirty="0">
                <a:solidFill>
                  <a:srgbClr val="8E6F3E"/>
                </a:solidFill>
              </a:rPr>
              <a:t>FROM DAY 1</a:t>
            </a:r>
          </a:p>
        </p:txBody>
      </p:sp>
      <p:sp>
        <p:nvSpPr>
          <p:cNvPr id="101" name="Def"/>
          <p:cNvSpPr/>
          <p:nvPr/>
        </p:nvSpPr>
        <p:spPr>
          <a:xfrm>
            <a:off x="685800" y="1691640"/>
            <a:ext cx="7772400" cy="868680"/>
          </a:xfrm>
          <a:prstGeom prst="rect">
            <a:avLst/>
          </a:prstGeom>
          <a:solidFill>
            <a:srgbClr val="F5F1E8"/>
          </a:solidFill>
          <a:ln w="12700">
            <a:solidFill>
              <a:srgbClr val="C9B991"/>
            </a:solidFill>
          </a:ln>
        </p:spPr>
        <p:txBody>
          <a:bodyPr wrap="square" lIns="91440" tIns="45720" rIns="91440" bIns="45720" anchor="ctr"/>
          <a:lstStyle/>
          <a:p>
            <a:pPr algn="ctr">
              <a:buNone/>
            </a:pPr>
            <a:r>
              <a:rPr lang="en-US" sz="2000" b="0" i="0" dirty="0">
                <a:solidFill>
                  <a:srgbClr val="5C4826"/>
                </a:solidFill>
              </a:rPr>
              <a:t>Engineering is the discipline of exercising informed control over consequential systems.</a:t>
            </a:r>
          </a:p>
        </p:txBody>
      </p:sp>
      <p:sp>
        <p:nvSpPr>
          <p:cNvPr id="102" name="Close"/>
          <p:cNvSpPr txBox="1"/>
          <p:nvPr/>
        </p:nvSpPr>
        <p:spPr>
          <a:xfrm>
            <a:off x="685800" y="3108960"/>
            <a:ext cx="7772400" cy="914400"/>
          </a:xfrm>
          <a:prstGeom prst="rect">
            <a:avLst/>
          </a:prstGeom>
          <a:noFill/>
          <a:ln>
            <a:noFill/>
          </a:ln>
        </p:spPr>
        <p:txBody>
          <a:bodyPr wrap="square" lIns="0" tIns="0" rIns="0" bIns="0" anchor="t"/>
          <a:lstStyle/>
          <a:p>
            <a:pPr algn="ctr">
              <a:buNone/>
            </a:pPr>
            <a:r>
              <a:rPr lang="en-US" sz="2000" b="0" i="0" dirty="0">
                <a:solidFill>
                  <a:srgbClr val="555960"/>
                </a:solidFill>
              </a:rPr>
              <a:t>Metrics make selected properties of reality observable.</a:t>
            </a:r>
          </a:p>
          <a:p>
            <a:pPr algn="ctr">
              <a:spcBef>
                <a:spcPts val="160"/>
              </a:spcBef>
              <a:buNone/>
            </a:pPr>
            <a:r>
              <a:rPr lang="en-US" sz="2000" b="0" i="0" dirty="0">
                <a:solidFill>
                  <a:srgbClr val="555960"/>
                </a:solidFill>
              </a:rPr>
              <a:t>Engineering judgment determines what those observations</a:t>
            </a:r>
          </a:p>
          <a:p>
            <a:pPr algn="ctr">
              <a:spcBef>
                <a:spcPts val="60"/>
              </a:spcBef>
              <a:buNone/>
            </a:pPr>
            <a:r>
              <a:rPr lang="en-US" sz="2000" b="0" i="0" dirty="0">
                <a:solidFill>
                  <a:srgbClr val="555960"/>
                </a:solidFill>
              </a:rPr>
              <a:t>mean for the decision.</a:t>
            </a:r>
          </a:p>
        </p:txBody>
      </p:sp>
      <p:sp>
        <p:nvSpPr>
          <p:cNvPr id="103" name="Chain0"/>
          <p:cNvSpPr/>
          <p:nvPr/>
        </p:nvSpPr>
        <p:spPr>
          <a:xfrm>
            <a:off x="99669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MODEL</a:t>
            </a:r>
          </a:p>
        </p:txBody>
      </p:sp>
      <p:cxnSp>
        <p:nvCxnSpPr>
          <p:cNvPr id="104" name="C104"/>
          <p:cNvCxnSpPr/>
          <p:nvPr/>
        </p:nvCxnSpPr>
        <p:spPr>
          <a:xfrm>
            <a:off x="2295144" y="4873752"/>
            <a:ext cx="164592" cy="0"/>
          </a:xfrm>
          <a:prstGeom prst="straightConnector1">
            <a:avLst/>
          </a:prstGeom>
          <a:ln w="19050">
            <a:solidFill>
              <a:srgbClr val="8E6F3E"/>
            </a:solidFill>
            <a:tailEnd type="triangle" w="med" len="med"/>
          </a:ln>
        </p:spPr>
      </p:cxnSp>
      <p:sp>
        <p:nvSpPr>
          <p:cNvPr id="105" name="Chain1"/>
          <p:cNvSpPr/>
          <p:nvPr/>
        </p:nvSpPr>
        <p:spPr>
          <a:xfrm>
            <a:off x="245973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OBSERVE</a:t>
            </a:r>
          </a:p>
        </p:txBody>
      </p:sp>
      <p:cxnSp>
        <p:nvCxnSpPr>
          <p:cNvPr id="106" name="C106"/>
          <p:cNvCxnSpPr/>
          <p:nvPr/>
        </p:nvCxnSpPr>
        <p:spPr>
          <a:xfrm>
            <a:off x="3758184" y="4873752"/>
            <a:ext cx="164592" cy="0"/>
          </a:xfrm>
          <a:prstGeom prst="straightConnector1">
            <a:avLst/>
          </a:prstGeom>
          <a:ln w="19050">
            <a:solidFill>
              <a:srgbClr val="8E6F3E"/>
            </a:solidFill>
            <a:tailEnd type="triangle" w="med" len="med"/>
          </a:ln>
        </p:spPr>
      </p:cxnSp>
      <p:sp>
        <p:nvSpPr>
          <p:cNvPr id="107" name="Chain2"/>
          <p:cNvSpPr/>
          <p:nvPr/>
        </p:nvSpPr>
        <p:spPr>
          <a:xfrm>
            <a:off x="392277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JUDGE</a:t>
            </a:r>
          </a:p>
        </p:txBody>
      </p:sp>
      <p:cxnSp>
        <p:nvCxnSpPr>
          <p:cNvPr id="108" name="C108"/>
          <p:cNvCxnSpPr/>
          <p:nvPr/>
        </p:nvCxnSpPr>
        <p:spPr>
          <a:xfrm>
            <a:off x="5221224" y="4873752"/>
            <a:ext cx="164592" cy="0"/>
          </a:xfrm>
          <a:prstGeom prst="straightConnector1">
            <a:avLst/>
          </a:prstGeom>
          <a:ln w="19050">
            <a:solidFill>
              <a:srgbClr val="8E6F3E"/>
            </a:solidFill>
            <a:tailEnd type="triangle" w="med" len="med"/>
          </a:ln>
        </p:spPr>
      </p:cxnSp>
      <p:sp>
        <p:nvSpPr>
          <p:cNvPr id="109" name="Chain3"/>
          <p:cNvSpPr/>
          <p:nvPr/>
        </p:nvSpPr>
        <p:spPr>
          <a:xfrm>
            <a:off x="538581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ACT</a:t>
            </a:r>
          </a:p>
        </p:txBody>
      </p:sp>
      <p:cxnSp>
        <p:nvCxnSpPr>
          <p:cNvPr id="110" name="C110"/>
          <p:cNvCxnSpPr/>
          <p:nvPr/>
        </p:nvCxnSpPr>
        <p:spPr>
          <a:xfrm>
            <a:off x="6684264" y="4873752"/>
            <a:ext cx="164592" cy="0"/>
          </a:xfrm>
          <a:prstGeom prst="straightConnector1">
            <a:avLst/>
          </a:prstGeom>
          <a:ln w="19050">
            <a:solidFill>
              <a:srgbClr val="8E6F3E"/>
            </a:solidFill>
            <a:tailEnd type="triangle" w="med" len="med"/>
          </a:ln>
        </p:spPr>
      </p:cxnSp>
      <p:sp>
        <p:nvSpPr>
          <p:cNvPr id="111" name="Chain4"/>
          <p:cNvSpPr/>
          <p:nvPr/>
        </p:nvSpPr>
        <p:spPr>
          <a:xfrm>
            <a:off x="6848856" y="4572000"/>
            <a:ext cx="1298448" cy="603504"/>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LEARN</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3925</Words>
  <Application>Microsoft Macintosh PowerPoint</Application>
  <PresentationFormat>On-screen Show (4:3)</PresentationFormat>
  <Paragraphs>487</Paragraphs>
  <Slides>29</Slides>
  <Notes>29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29</vt:i4>
      </vt:variant>
    </vt:vector>
  </HeadingPairs>
  <TitlesOfParts>
    <vt:vector size="33" baseType="lpstr">
      <vt:lpstr>Arial</vt:lpstr>
      <vt:lpstr>Calibri</vt:lpstr>
      <vt:lpstr>Times</vt:lpstr>
      <vt:lpstr>Purdue1</vt:lpstr>
      <vt:lpstr>ECE 30861/46100: Software Engineering</vt:lpstr>
      <vt:lpstr>We need to make a decision</vt:lpstr>
      <vt:lpstr>We have to decide before we know</vt:lpstr>
      <vt:lpstr>Good decision ≠ good outcome</vt:lpstr>
      <vt:lpstr>What do we need to know?</vt:lpstr>
      <vt:lpstr>Models let us reason before we know</vt:lpstr>
      <vt:lpstr>From decision to evidence</vt:lpstr>
      <vt:lpstr>Evidence takes many forms</vt:lpstr>
      <vt:lpstr>What observation would change the decision?</vt:lpstr>
      <vt:lpstr>From properties to measurements</vt:lpstr>
      <vt:lpstr>Property → Metric → Measurement → Evidence</vt:lpstr>
      <vt:lpstr>A metric operationalizes a property</vt:lpstr>
      <vt:lpstr>Measurement parameterizes the model</vt:lpstr>
      <vt:lpstr>What does 420 ms tell us?</vt:lpstr>
      <vt:lpstr>Measure where the property exists</vt:lpstr>
      <vt:lpstr>Direct and indirect measurement</vt:lpstr>
      <vt:lpstr>Metrics leave things out</vt:lpstr>
      <vt:lpstr>When metrics mislead</vt:lpstr>
      <vt:lpstr>“Developer productivity increased 22%.”</vt:lpstr>
      <vt:lpstr>Proxy metrics</vt:lpstr>
      <vt:lpstr>Goodhart’s Law and surrogation</vt:lpstr>
      <vt:lpstr>Metrics do not have context-free meanings</vt:lpstr>
      <vt:lpstr>Before using a metric</vt:lpstr>
      <vt:lpstr>From measurement to action</vt:lpstr>
      <vt:lpstr>Measurements become evidence</vt:lpstr>
      <vt:lpstr>The same evidence can justify different actions</vt:lpstr>
      <vt:lpstr>What should we do?</vt:lpstr>
      <vt:lpstr>Before the decision · After the outcome</vt:lpstr>
      <vt:lpstr>Engineering is informed control</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397</cp:revision>
  <dcterms:created xsi:type="dcterms:W3CDTF">2020-02-21T23:00:33Z</dcterms:created>
  <dcterms:modified xsi:type="dcterms:W3CDTF">2026-09-21T17:15:07Z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