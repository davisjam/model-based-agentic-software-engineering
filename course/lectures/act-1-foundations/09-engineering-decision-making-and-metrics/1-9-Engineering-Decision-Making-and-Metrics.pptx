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2"/>
    <p:sldId id="702" r:id="rId3"/>
    <p:sldId id="703" r:id="rId4"/>
    <p:sldId id="704" r:id="rId5"/>
    <p:sldId id="706" r:id="rId6"/>
    <p:sldId id="707" r:id="rId7"/>
    <p:sldId id="708" r:id="rId8"/>
    <p:sldId id="709" r:id="rId9"/>
    <p:sldId id="710" r:id="rId10"/>
    <p:sldId id="731" r:id="rId36"/>
    <p:sldId id="711" r:id="rId11"/>
    <p:sldId id="712" r:id="rId12"/>
    <p:sldId id="713" r:id="rId13"/>
    <p:sldId id="714" r:id="rId14"/>
    <p:sldId id="715" r:id="rId15"/>
    <p:sldId id="716" r:id="rId16"/>
    <p:sldId id="717" r:id="rId17"/>
    <p:sldId id="718" r:id="rId18"/>
    <p:sldId id="732" r:id="rId37"/>
    <p:sldId id="733" r:id="rId38"/>
    <p:sldId id="719" r:id="rId19"/>
    <p:sldId id="720" r:id="rId20"/>
    <p:sldId id="721" r:id="rId21"/>
    <p:sldId id="722" r:id="rId22"/>
    <p:sldId id="723" r:id="rId23"/>
    <p:sldId id="724" r:id="rId24"/>
    <p:sldId id="725" r:id="rId25"/>
    <p:sldId id="726" r:id="rId26"/>
    <p:sldId id="727" r:id="rId27"/>
    <p:sldId id="728" r:id="rId28"/>
    <p:sldId id="729" r:id="rId29"/>
    <p:sldId id="730"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15" autoAdjust="0"/>
    <p:restoredTop sz="64844"/>
  </p:normalViewPr>
  <p:slideViewPr>
    <p:cSldViewPr snapToGrid="0" snapToObjects="1">
      <p:cViewPr varScale="1">
        <p:scale>
          <a:sx n="91" d="100"/>
          <a:sy n="91" d="100"/>
        </p:scale>
        <p:origin x="18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Work one operationalization end to end; define the word once.</a:t>
            </a:r>
          </a:p>
          <a:p>
            <a:endParaRPr dirty="0"/>
          </a:p>
          <a:p>
            <a:r>
              <a:rPr dirty="0"/>
              <a:t xml:space="preserve">- Responsiveness is abstract; p99-under-workload-W is the chosen observable aspect; 420 </a:t>
            </a:r>
            <a:r>
              <a:rPr dirty="0" err="1"/>
              <a:t>ms</a:t>
            </a:r>
            <a:r>
              <a:rPr dirty="0"/>
              <a:t xml:space="preserve">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TPS: students generate the conditions that give 420 </a:t>
            </a:r>
            <a:r>
              <a:rPr dirty="0" err="1"/>
              <a:t>ms</a:t>
            </a:r>
            <a:r>
              <a:rPr dirty="0"/>
              <a:t xml:space="preserve"> meaning.</a:t>
            </a:r>
          </a:p>
          <a:p>
            <a:endParaRPr dirty="0"/>
          </a:p>
          <a:p>
            <a:r>
              <a:rPr dirty="0"/>
              <a:t xml:space="preserve">- Let '420 </a:t>
            </a:r>
            <a:r>
              <a:rPr dirty="0" err="1"/>
              <a:t>ms'</a:t>
            </a:r>
            <a:r>
              <a:rPr dirty="0"/>
              <a:t xml:space="preserve">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xml:space="preserve">- The final click is the deliverable form: p99 = 420 </a:t>
            </a:r>
            <a:r>
              <a:rPr dirty="0" err="1"/>
              <a:t>ms</a:t>
            </a:r>
            <a:r>
              <a:rPr dirty="0"/>
              <a:t xml:space="preserve"> · end-to-end · workload W · configuration C · interval T.</a:t>
            </a:r>
          </a:p>
          <a:p>
            <a:r>
              <a:rPr dirty="0"/>
              <a:t xml:space="preserve">- Then stop. The students should experience the move from '420 </a:t>
            </a:r>
            <a:r>
              <a:rPr dirty="0" err="1"/>
              <a:t>ms</a:t>
            </a:r>
            <a:r>
              <a:rPr dirty="0"/>
              <a:t xml:space="preserve"> is a fact' to '420 </a:t>
            </a:r>
            <a:r>
              <a:rPr dirty="0" err="1"/>
              <a:t>ms</a:t>
            </a:r>
            <a:r>
              <a:rPr dirty="0"/>
              <a:t xml:space="preserve"> is an observation parameterized by conditions.'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The usable residue of the metrics centre: four questions, no framework.</a:t>
            </a:r>
          </a:p>
          <a:p>
            <a:endParaRPr dirty="0"/>
          </a:p>
          <a:p>
            <a:r>
              <a:rPr dirty="0"/>
              <a:t>- Resist expansion; the value of this list is that students will actually remember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4. Accelerate: Validation taught much of the judgment material.</a:t>
            </a:r>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 xml:space="preserve">outcomes </a:t>
            </a:r>
            <a:r>
              <a:rPr lang="en-US" sz="2000" dirty="0">
                <a:solidFill>
                  <a:srgbClr val="555960"/>
                </a:solidFill>
              </a:rPr>
              <a:t xml:space="preserve">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 xml:space="preserve">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 xml:space="preserve">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model identifies relationships we believe matter, </a:t>
            </a:r>
          </a:p>
          <a:p>
            <a:pPr algn="ctr">
              <a:buNone/>
            </a:pPr>
            <a:r>
              <a:rPr lang="en-US" sz="2000" b="0" i="1" dirty="0">
                <a:solidFill>
                  <a:srgbClr val="5C4826"/>
                </a:solidFill>
              </a:rPr>
              <a:t>before</a:t>
            </a:r>
            <a:r>
              <a:rPr lang="en-US" sz="2000" b="0" i="0" dirty="0">
                <a:solidFill>
                  <a:srgbClr val="5C4826"/>
                </a:solidFill>
              </a:rPr>
              <a:t xml:space="preserve">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endParaRPr sz="2000" b="0" i="0" dirty="0">
              <a:solidFill>
                <a:srgbClr val="555960"/>
              </a:solidFill>
            </a:endParaRPr>
          </a:p>
          <a:p>
            <a:pPr algn="l"/>
            <a:r>
              <a:rPr sz="2000" b="0" i="0" dirty="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500"/>
                                        <p:tgtEl>
                                          <p:spTgt spid="40"/>
                                        </p:tgtEl>
                                      </p:cBhvr>
                                    </p:animEffect>
                                  </p:childTnLst>
                                </p:cTn>
                              </p:par>
                              <p:par>
                                <p:cTn id="66" presetID="10" presetClass="entr" presetSubtype="0" fill="hold" nodeType="with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500"/>
                                        <p:tgtEl>
                                          <p:spTgt spid="43"/>
                                        </p:tgtEl>
                                      </p:cBhvr>
                                    </p:animEffect>
                                  </p:childTnLst>
                                </p:cTn>
                              </p:par>
                              <p:par>
                                <p:cTn id="69" presetID="10" presetClass="entr" presetSubtype="0" fill="hold"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0"/>
                                        <p:tgtEl>
                                          <p:spTgt spid="42"/>
                                        </p:tgtEl>
                                      </p:cBhvr>
                                    </p:animEffect>
                                  </p:childTnLst>
                                </p:cTn>
                              </p:par>
                              <p:par>
                                <p:cTn id="72" presetID="10" presetClass="entr" presetSubtype="0" fill="hold" nodeType="withEffect">
                                  <p:stCondLst>
                                    <p:cond delay="0"/>
                                  </p:stCondLst>
                                  <p:childTnLst>
                                    <p:set>
                                      <p:cBhvr>
                                        <p:cTn id="73" dur="1" fill="hold">
                                          <p:stCondLst>
                                            <p:cond delay="0"/>
                                          </p:stCondLst>
                                        </p:cTn>
                                        <p:tgtEl>
                                          <p:spTgt spid="41"/>
                                        </p:tgtEl>
                                        <p:attrNameLst>
                                          <p:attrName>style.visibility</p:attrName>
                                        </p:attrNameLst>
                                      </p:cBhvr>
                                      <p:to>
                                        <p:strVal val="visible"/>
                                      </p:to>
                                    </p:set>
                                    <p:animEffect transition="in" filter="fade">
                                      <p:cBhvr>
                                        <p:cTn id="74"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 xml:space="preserve">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 xml:space="preserve">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 xml:space="preserve">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xml:space="preserve">  ·  </a:t>
            </a:r>
            <a:r>
              <a:rPr sz="2000" b="1" i="0">
                <a:solidFill>
                  <a:srgbClr val="2E74B5"/>
                </a:solidFill>
              </a:rPr>
              <a:t>PAIR</a:t>
            </a:r>
            <a:r>
              <a:rPr sz="2000" b="1" i="0">
                <a:solidFill>
                  <a:srgbClr val="9A9A9A"/>
                </a:solidFill>
              </a:rPr>
              <a:t xml:space="preserve">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 xml:space="preserve">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commits </a:t>
            </a:r>
            <a:r>
              <a:rPr lang="en-US" sz="2000" dirty="0">
                <a:solidFill>
                  <a:srgbClr val="5C4826"/>
                </a:solidFill>
                <a:sym typeface="Wingdings" pitchFamily="2" charset="2"/>
              </a:rPr>
              <a:t xml:space="preserve">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 xml:space="preserve">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xml:space="preserve">;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 xml:space="preserve">Goodhart: </a:t>
            </a:r>
            <a:r>
              <a:rPr lang="en-US" sz="2000" b="0" i="1" dirty="0">
                <a:solidFill>
                  <a:srgbClr val="555960"/>
                </a:solidFill>
              </a:rPr>
              <a:t xml:space="preserve">once commits become </a:t>
            </a:r>
          </a:p>
          <a:p>
            <a:pPr algn="ctr">
              <a:buNone/>
            </a:pPr>
            <a:r>
              <a:rPr lang="en-US" sz="2000" b="0" i="1" dirty="0">
                <a:solidFill>
                  <a:srgbClr val="555960"/>
                </a:solidFill>
              </a:rPr>
              <a:t xml:space="preserve">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 xml:space="preserve">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 xml:space="preserve">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 xml:space="preserve">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 xml:space="preserve">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1   </a:t>
            </a:r>
            <a:r>
              <a:rPr lang="en-US" sz="2000" b="1" i="0" dirty="0">
                <a:solidFill>
                  <a:srgbClr val="5C4826"/>
                </a:solidFill>
              </a:rPr>
              <a:t xml:space="preserve">The decision</a:t>
            </a:r>
            <a:r>
              <a:rPr lang="en-US" sz="2000" b="0" i="0" dirty="0">
                <a:solidFill>
                  <a:srgbClr val="9A9A9A"/>
                </a:solidFill>
              </a:rPr>
              <a:t xml:space="preserve"> — </a:t>
            </a:r>
            <a:r>
              <a:rPr lang="en-US" sz="2000" b="0" i="0" dirty="0">
                <a:solidFill>
                  <a:srgbClr val="5C4826"/>
                </a:solidFill>
              </a:rPr>
              <a:t xml:space="preserve">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2   </a:t>
            </a:r>
            <a:r>
              <a:rPr lang="en-US" sz="2000" b="1" i="0" dirty="0">
                <a:solidFill>
                  <a:srgbClr val="5C4826"/>
                </a:solidFill>
              </a:rPr>
              <a:t xml:space="preserve">The model</a:t>
            </a:r>
            <a:r>
              <a:rPr lang="en-US" sz="2000" b="0" i="0" dirty="0">
                <a:solidFill>
                  <a:srgbClr val="9A9A9A"/>
                </a:solidFill>
              </a:rPr>
              <a:t xml:space="preserve"> — </a:t>
            </a:r>
            <a:r>
              <a:rPr lang="en-US" sz="2000" b="0" i="0" dirty="0">
                <a:solidFill>
                  <a:srgbClr val="5C4826"/>
                </a:solidFill>
              </a:rPr>
              <a:t xml:space="preserve">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3   </a:t>
            </a:r>
            <a:r>
              <a:rPr lang="en-US" sz="2000" b="1" i="0" dirty="0">
                <a:solidFill>
                  <a:srgbClr val="5C4826"/>
                </a:solidFill>
              </a:rPr>
              <a:t xml:space="preserve">The consequential properties</a:t>
            </a:r>
            <a:r>
              <a:rPr lang="en-US" sz="2000" b="0" i="0" dirty="0">
                <a:solidFill>
                  <a:srgbClr val="9A9A9A"/>
                </a:solidFill>
              </a:rPr>
              <a:t xml:space="preserve"> — </a:t>
            </a:r>
            <a:r>
              <a:rPr lang="en-US" sz="2000" b="0" i="0" dirty="0">
                <a:solidFill>
                  <a:srgbClr val="5C4826"/>
                </a:solidFill>
              </a:rPr>
              <a:t xml:space="preserve">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4   </a:t>
            </a:r>
            <a:r>
              <a:rPr lang="en-US" sz="2000" b="1" i="0" dirty="0">
                <a:solidFill>
                  <a:srgbClr val="5C4826"/>
                </a:solidFill>
              </a:rPr>
              <a:t xml:space="preserve">The uncertainty</a:t>
            </a:r>
            <a:r>
              <a:rPr lang="en-US" sz="2000" b="0" i="0" dirty="0">
                <a:solidFill>
                  <a:srgbClr val="9A9A9A"/>
                </a:solidFill>
              </a:rPr>
              <a:t xml:space="preserve"> — </a:t>
            </a:r>
            <a:r>
              <a:rPr lang="en-US" sz="2000" b="0" i="0" dirty="0">
                <a:solidFill>
                  <a:srgbClr val="5C4826"/>
                </a:solidFill>
              </a:rPr>
              <a:t xml:space="preserve">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5   </a:t>
            </a:r>
            <a:r>
              <a:rPr lang="en-US" sz="2000" b="1" i="0" dirty="0">
                <a:solidFill>
                  <a:srgbClr val="5C4826"/>
                </a:solidFill>
              </a:rPr>
              <a:t xml:space="preserve">The evidence needed</a:t>
            </a:r>
            <a:r>
              <a:rPr lang="en-US" sz="2000" b="0" i="0" dirty="0">
                <a:solidFill>
                  <a:srgbClr val="9A9A9A"/>
                </a:solidFill>
              </a:rPr>
              <a:t xml:space="preserve"> — </a:t>
            </a:r>
            <a:r>
              <a:rPr lang="en-US" sz="2000" b="0" i="0" dirty="0">
                <a:solidFill>
                  <a:srgbClr val="5C4826"/>
                </a:solidFill>
              </a:rPr>
              <a:t xml:space="preserve">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Next question: How do we turn a property we care about</a:t>
            </a:r>
          </a:p>
          <a:p>
            <a:pPr algn="ctr">
              <a:buNone/>
            </a:pPr>
            <a:r>
              <a:rPr lang="en-US" sz="2000" b="1" i="0" dirty="0">
                <a:solidFill>
                  <a:srgbClr val="FFFFFF"/>
                </a:solidFill>
              </a:rPr>
              <a:t xml:space="preserve">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12"/>
                                        </p:tgtEl>
                                        <p:attrNameLst>
                                          <p:attrName>style.visibility</p:attrName>
                                        </p:attrNameLst>
                                      </p:cBhvr>
                                      <p:to>
                                        <p:strVal val="visible"/>
                                      </p:to>
                                    </p:set>
                                    <p:animEffect transition="in" filter="fade">
                                      <p:cBhvr>
                                        <p:cTn id="19"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500"/>
                                        <p:tgtEl>
                                          <p:spTgt spid="1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0"/>
                                        </p:tgtEl>
                                        <p:attrNameLst>
                                          <p:attrName>style.visibility</p:attrName>
                                        </p:attrNameLst>
                                      </p:cBhvr>
                                      <p:to>
                                        <p:strVal val="visible"/>
                                      </p:to>
                                    </p:set>
                                    <p:animEffect transition="in" filter="fade">
                                      <p:cBhvr>
                                        <p:cTn id="37"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 xml:space="preserve">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 xml:space="preserve">Metric A</a:t>
            </a:r>
            <a:r>
              <a:rPr lang="en-US" sz="2000" b="0" i="0" dirty="0">
                <a:solidFill>
                  <a:srgbClr val="9A9A9A"/>
                </a:solidFill>
              </a:rPr>
              <a:t xml:space="preserve">  →  </a:t>
            </a:r>
            <a:r>
              <a:rPr lang="en-US" sz="2000" b="0" i="0" dirty="0">
                <a:solidFill>
                  <a:srgbClr val="5C4826"/>
                </a:solidFill>
              </a:rPr>
              <a:t xml:space="preserve">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 xml:space="preserve">Metric B</a:t>
            </a:r>
            <a:r>
              <a:rPr lang="en-US" sz="2000" b="0" i="0" dirty="0">
                <a:solidFill>
                  <a:srgbClr val="9A9A9A"/>
                </a:solidFill>
              </a:rPr>
              <a:t xml:space="preserve">  →  </a:t>
            </a:r>
            <a:r>
              <a:rPr lang="en-US" sz="2000" b="0" i="0" dirty="0">
                <a:solidFill>
                  <a:srgbClr val="5C4826"/>
                </a:solidFill>
              </a:rPr>
              <a:t xml:space="preserve">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 xml:space="preserve">Metric C</a:t>
            </a:r>
            <a:r>
              <a:rPr lang="en-US" sz="2000" b="0" i="0" dirty="0">
                <a:solidFill>
                  <a:srgbClr val="9A9A9A"/>
                </a:solidFill>
              </a:rPr>
              <a:t xml:space="preserve">  →  </a:t>
            </a:r>
            <a:r>
              <a:rPr lang="en-US" sz="2000" b="0" i="0" dirty="0">
                <a:solidFill>
                  <a:srgbClr val="5C4826"/>
                </a:solidFill>
              </a:rPr>
              <a:t xml:space="preserve">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 xml:space="preserve">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 xml:space="preserve">Different metrics expose different aspects of the property.</a:t>
            </a:r>
          </a:p>
          <a:p>
            <a:pPr algn="ctr">
              <a:spcBef>
                <a:spcPts val="140"/>
              </a:spcBef>
              <a:buNone/>
            </a:pPr>
            <a:r>
              <a:rPr lang="en-US" sz="2000" b="1" i="0" dirty="0">
                <a:solidFill>
                  <a:srgbClr val="5C4826"/>
                </a:solidFill>
              </a:rPr>
              <a:t xml:space="preserve">Agreement is stronger when the measurements</a:t>
            </a:r>
          </a:p>
          <a:p>
            <a:pPr algn="ctr">
              <a:buNone/>
            </a:pPr>
            <a:r>
              <a:rPr lang="en-US" sz="2000" b="1" i="0" dirty="0">
                <a:solidFill>
                  <a:srgbClr val="5C4826"/>
                </a:solidFill>
              </a:rPr>
              <a:t xml:space="preserve">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 xml:space="preserve">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 xml:space="preserve">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 xml:space="preserve">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 xml:space="preserve">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0"/>
                                        </p:tgtEl>
                                        <p:attrNameLst>
                                          <p:attrName>style.visibility</p:attrName>
                                        </p:attrNameLst>
                                      </p:cBhvr>
                                      <p:to>
                                        <p:strVal val="visible"/>
                                      </p:to>
                                    </p:set>
                                    <p:animEffect transition="in" filter="fade">
                                      <p:cBhvr>
                                        <p:cTn id="22" dur="500"/>
                                        <p:tgtEl>
                                          <p:spTgt spid="1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1"/>
                                        </p:tgtEl>
                                        <p:attrNameLst>
                                          <p:attrName>style.visibility</p:attrName>
                                        </p:attrNameLst>
                                      </p:cBhvr>
                                      <p:to>
                                        <p:strVal val="visible"/>
                                      </p:to>
                                    </p:set>
                                    <p:animEffect transition="in" filter="fade">
                                      <p:cBhvr>
                                        <p:cTn id="28" dur="500"/>
                                        <p:tgtEl>
                                          <p:spTgt spid="11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500"/>
                                        <p:tgtEl>
                                          <p:spTgt spid="11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0"/>
                                        </p:tgtEl>
                                        <p:attrNameLst>
                                          <p:attrName>style.visibility</p:attrName>
                                        </p:attrNameLst>
                                      </p:cBhvr>
                                      <p:to>
                                        <p:strVal val="visible"/>
                                      </p:to>
                                    </p:set>
                                    <p:animEffect transition="in" filter="fade">
                                      <p:cBhvr>
                                        <p:cTn id="40" dur="500"/>
                                        <p:tgtEl>
                                          <p:spTgt spid="120"/>
                                        </p:tgtEl>
                                      </p:cBhvr>
                                    </p:animEffect>
                                  </p:childTnLst>
                                </p:cTn>
                              </p:par>
                              <p:par>
                                <p:cTn id="41" presetID="10" presetClass="entr" presetSubtype="0" fill="hold" nodeType="withEffect">
                                  <p:stCondLst>
                                    <p:cond delay="0"/>
                                  </p:stCondLst>
                                  <p:childTnLst>
                                    <p:set>
                                      <p:cBhvr>
                                        <p:cTn id="42" dur="1" fill="hold">
                                          <p:stCondLst>
                                            <p:cond delay="0"/>
                                          </p:stCondLst>
                                        </p:cTn>
                                        <p:tgtEl>
                                          <p:spTgt spid="140"/>
                                        </p:tgtEl>
                                        <p:attrNameLst>
                                          <p:attrName>style.visibility</p:attrName>
                                        </p:attrNameLst>
                                      </p:cBhvr>
                                      <p:to>
                                        <p:strVal val="visible"/>
                                      </p:to>
                                    </p:set>
                                    <p:animEffect transition="in" filter="fade">
                                      <p:cBhvr>
                                        <p:cTn id="43" dur="500"/>
                                        <p:tgtEl>
                                          <p:spTgt spid="140"/>
                                        </p:tgtEl>
                                      </p:cBhvr>
                                    </p:animEffect>
                                  </p:childTnLst>
                                </p:cTn>
                              </p:par>
                              <p:par>
                                <p:cTn id="44" presetID="10" presetClass="entr" presetSubtype="0" fill="hold" nodeType="withEffect">
                                  <p:stCondLst>
                                    <p:cond delay="0"/>
                                  </p:stCondLst>
                                  <p:childTnLst>
                                    <p:set>
                                      <p:cBhvr>
                                        <p:cTn id="45" dur="1" fill="hold">
                                          <p:stCondLst>
                                            <p:cond delay="0"/>
                                          </p:stCondLst>
                                        </p:cTn>
                                        <p:tgtEl>
                                          <p:spTgt spid="141"/>
                                        </p:tgtEl>
                                        <p:attrNameLst>
                                          <p:attrName>style.visibility</p:attrName>
                                        </p:attrNameLst>
                                      </p:cBhvr>
                                      <p:to>
                                        <p:strVal val="visible"/>
                                      </p:to>
                                    </p:set>
                                    <p:animEffect transition="in" filter="fade">
                                      <p:cBhvr>
                                        <p:cTn id="46" dur="500"/>
                                        <p:tgtEl>
                                          <p:spTgt spid="141"/>
                                        </p:tgtEl>
                                      </p:cBhvr>
                                    </p:animEffect>
                                  </p:childTnLst>
                                </p:cTn>
                              </p:par>
                              <p:par>
                                <p:cTn id="47" presetID="10" presetClass="entr" presetSubtype="0" fill="hold" nodeType="withEffect">
                                  <p:stCondLst>
                                    <p:cond delay="0"/>
                                  </p:stCondLst>
                                  <p:childTnLst>
                                    <p:set>
                                      <p:cBhvr>
                                        <p:cTn id="48" dur="1" fill="hold">
                                          <p:stCondLst>
                                            <p:cond delay="0"/>
                                          </p:stCondLst>
                                        </p:cTn>
                                        <p:tgtEl>
                                          <p:spTgt spid="142"/>
                                        </p:tgtEl>
                                        <p:attrNameLst>
                                          <p:attrName>style.visibility</p:attrName>
                                        </p:attrNameLst>
                                      </p:cBhvr>
                                      <p:to>
                                        <p:strVal val="visible"/>
                                      </p:to>
                                    </p:set>
                                    <p:animEffect transition="in" filter="fade">
                                      <p:cBhvr>
                                        <p:cTn id="49" dur="500"/>
                                        <p:tgtEl>
                                          <p:spTgt spid="14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50"/>
                                        </p:tgtEl>
                                        <p:attrNameLst>
                                          <p:attrName>style.visibility</p:attrName>
                                        </p:attrNameLst>
                                      </p:cBhvr>
                                      <p:to>
                                        <p:strVal val="visible"/>
                                      </p:to>
                                    </p:set>
                                    <p:animEffect transition="in" filter="fade">
                                      <p:cBhvr>
                                        <p:cTn id="55" dur="500"/>
                                        <p:tgtEl>
                                          <p:spTgt spid="15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0"/>
                                        </p:tgtEl>
                                        <p:attrNameLst>
                                          <p:attrName>style.visibility</p:attrName>
                                        </p:attrNameLst>
                                      </p:cBhvr>
                                      <p:to>
                                        <p:strVal val="visible"/>
                                      </p:to>
                                    </p:set>
                                    <p:animEffect transition="in" filter="fade">
                                      <p:cBhvr>
                                        <p:cTn id="61" dur="500"/>
                                        <p:tgtEl>
                                          <p:spTgt spid="160"/>
                                        </p:tgtEl>
                                      </p:cBhvr>
                                    </p:animEffect>
                                  </p:childTnLst>
                                </p:cTn>
                              </p:par>
                              <p:par>
                                <p:cTn id="62" presetID="10" presetClass="entr" presetSubtype="0" fill="hold" nodeType="withEffect">
                                  <p:stCondLst>
                                    <p:cond delay="0"/>
                                  </p:stCondLst>
                                  <p:childTnLst>
                                    <p:set>
                                      <p:cBhvr>
                                        <p:cTn id="63" dur="1" fill="hold">
                                          <p:stCondLst>
                                            <p:cond delay="0"/>
                                          </p:stCondLst>
                                        </p:cTn>
                                        <p:tgtEl>
                                          <p:spTgt spid="170"/>
                                        </p:tgtEl>
                                        <p:attrNameLst>
                                          <p:attrName>style.visibility</p:attrName>
                                        </p:attrNameLst>
                                      </p:cBhvr>
                                      <p:to>
                                        <p:strVal val="visible"/>
                                      </p:to>
                                    </p:set>
                                    <p:animEffect transition="in" filter="fade">
                                      <p:cBhvr>
                                        <p:cTn id="64" dur="500"/>
                                        <p:tgtEl>
                                          <p:spTgt spid="170"/>
                                        </p:tgtEl>
                                      </p:cBhvr>
                                    </p:animEffect>
                                  </p:childTnLst>
                                </p:cTn>
                              </p:par>
                              <p:par>
                                <p:cTn id="65" presetID="10" presetClass="entr" presetSubtype="0" fill="hold" nodeType="withEffect">
                                  <p:stCondLst>
                                    <p:cond delay="0"/>
                                  </p:stCondLst>
                                  <p:childTnLst>
                                    <p:set>
                                      <p:cBhvr>
                                        <p:cTn id="66" dur="1" fill="hold">
                                          <p:stCondLst>
                                            <p:cond delay="0"/>
                                          </p:stCondLst>
                                        </p:cTn>
                                        <p:tgtEl>
                                          <p:spTgt spid="171"/>
                                        </p:tgtEl>
                                        <p:attrNameLst>
                                          <p:attrName>style.visibility</p:attrName>
                                        </p:attrNameLst>
                                      </p:cBhvr>
                                      <p:to>
                                        <p:strVal val="visible"/>
                                      </p:to>
                                    </p:set>
                                    <p:animEffect transition="in" filter="fade">
                                      <p:cBhvr>
                                        <p:cTn id="67" dur="500"/>
                                        <p:tgtEl>
                                          <p:spTgt spid="171"/>
                                        </p:tgtEl>
                                      </p:cBhvr>
                                    </p:animEffect>
                                  </p:childTnLst>
                                </p:cTn>
                              </p:par>
                              <p:par>
                                <p:cTn id="68" presetID="10" presetClass="entr" presetSubtype="0" fill="hold" nodeType="withEffect">
                                  <p:stCondLst>
                                    <p:cond delay="0"/>
                                  </p:stCondLst>
                                  <p:childTnLst>
                                    <p:set>
                                      <p:cBhvr>
                                        <p:cTn id="69" dur="1" fill="hold">
                                          <p:stCondLst>
                                            <p:cond delay="0"/>
                                          </p:stCondLst>
                                        </p:cTn>
                                        <p:tgtEl>
                                          <p:spTgt spid="172"/>
                                        </p:tgtEl>
                                        <p:attrNameLst>
                                          <p:attrName>style.visibility</p:attrName>
                                        </p:attrNameLst>
                                      </p:cBhvr>
                                      <p:to>
                                        <p:strVal val="visible"/>
                                      </p:to>
                                    </p:set>
                                    <p:animEffect transition="in" filter="fade">
                                      <p:cBhvr>
                                        <p:cTn id="70" dur="500"/>
                                        <p:tgtEl>
                                          <p:spTgt spid="172"/>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80"/>
                                        </p:tgtEl>
                                        <p:attrNameLst>
                                          <p:attrName>style.visibility</p:attrName>
                                        </p:attrNameLst>
                                      </p:cBhvr>
                                      <p:to>
                                        <p:strVal val="visible"/>
                                      </p:to>
                                    </p:set>
                                    <p:animEffect transition="in" filter="fade">
                                      <p:cBhvr>
                                        <p:cTn id="76"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8626</TotalTime>
  <Words>4183</Words>
  <Application>Microsoft Macintosh PowerPoint</Application>
  <PresentationFormat>On-screen Show (4:3)</PresentationFormat>
  <Paragraphs>515</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Times</vt:lpstr>
      <vt:lpstr>Arial</vt:lpstr>
      <vt:lpstr>Calibri</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When metrics mislead</vt:lpstr>
      <vt:lpstr>“Developer productivity increased 22%.”</vt:lpstr>
      <vt:lpstr>Proxy metrics</vt:lpstr>
      <vt:lpstr>Goodhart’s Law and surrogation</vt:lpstr>
      <vt:lpstr>Metrics do not have context-free meanings</vt:lpstr>
      <vt:lpstr>Before using a metric</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398</cp:revision>
  <dcterms:created xsi:type="dcterms:W3CDTF">2020-02-21T23:00:33Z</dcterms:created>
  <dcterms:modified xsi:type="dcterms:W3CDTF">2026-09-23T19:54:04Z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