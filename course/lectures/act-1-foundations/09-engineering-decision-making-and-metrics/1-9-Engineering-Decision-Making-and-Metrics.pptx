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33.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3.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701" r:id="rId2"/>
    <p:sldId id="702" r:id="rId3"/>
    <p:sldId id="703" r:id="rId4"/>
    <p:sldId id="704" r:id="rId5"/>
    <p:sldId id="706" r:id="rId6"/>
    <p:sldId id="707" r:id="rId7"/>
    <p:sldId id="708" r:id="rId8"/>
    <p:sldId id="709" r:id="rId9"/>
    <p:sldId id="710" r:id="rId10"/>
    <p:sldId id="731" r:id="rId11"/>
    <p:sldId id="711" r:id="rId12"/>
    <p:sldId id="712" r:id="rId13"/>
    <p:sldId id="713" r:id="rId14"/>
    <p:sldId id="714" r:id="rId15"/>
    <p:sldId id="715" r:id="rId16"/>
    <p:sldId id="716" r:id="rId17"/>
    <p:sldId id="717" r:id="rId18"/>
    <p:sldId id="718" r:id="rId19"/>
    <p:sldId id="732" r:id="rId20"/>
    <p:sldId id="733" r:id="rId21"/>
    <p:sldId id="719" r:id="rId22"/>
    <p:sldId id="720" r:id="rId23"/>
    <p:sldId id="721" r:id="rId24"/>
    <p:sldId id="722" r:id="rId25"/>
    <p:sldId id="723" r:id="rId26"/>
    <p:sldId id="724" r:id="rId27"/>
    <p:sldId id="734" r:id="rId39"/>
    <p:sldId id="725" r:id="rId28"/>
    <p:sldId id="726" r:id="rId29"/>
    <p:sldId id="727" r:id="rId30"/>
    <p:sldId id="728" r:id="rId31"/>
    <p:sldId id="729" r:id="rId32"/>
    <p:sldId id="730"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4863"/>
  </p:normalViewPr>
  <p:slideViewPr>
    <p:cSldViewPr snapToGrid="0" snapToObjects="1">
      <p:cViewPr varScale="1">
        <p:scale>
          <a:sx n="75" d="100"/>
          <a:sy n="75" d="100"/>
        </p:scale>
        <p:origin x="2432"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39" Type="http://schemas.openxmlformats.org/officeDocument/2006/relationships/slide" Target="slides/slide33.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Work one operationalization end to end; define the word once.</a:t>
            </a:r>
          </a:p>
          <a:p>
            <a:endParaRPr dirty="0"/>
          </a:p>
          <a:p>
            <a:r>
              <a:rPr dirty="0"/>
              <a:t xml:space="preserve">- Responsiveness is abstract; p99-under-workload-W is the chosen observable aspect; 420 </a:t>
            </a:r>
            <a:r>
              <a:rPr dirty="0" err="1"/>
              <a:t>ms</a:t>
            </a:r>
            <a:r>
              <a:rPr dirty="0"/>
              <a:t xml:space="preserve">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TPS: students generate the conditions that give 420 </a:t>
            </a:r>
            <a:r>
              <a:rPr dirty="0" err="1"/>
              <a:t>ms</a:t>
            </a:r>
            <a:r>
              <a:rPr dirty="0"/>
              <a:t xml:space="preserve"> meaning.</a:t>
            </a:r>
          </a:p>
          <a:p>
            <a:endParaRPr dirty="0"/>
          </a:p>
          <a:p>
            <a:r>
              <a:rPr dirty="0"/>
              <a:t xml:space="preserve">- Let '420 </a:t>
            </a:r>
            <a:r>
              <a:rPr dirty="0" err="1"/>
              <a:t>ms'</a:t>
            </a:r>
            <a:r>
              <a:rPr dirty="0"/>
              <a:t xml:space="preserve">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xml:space="preserve">- The final click is the deliverable form: p99 = 420 </a:t>
            </a:r>
            <a:r>
              <a:rPr dirty="0" err="1"/>
              <a:t>ms</a:t>
            </a:r>
            <a:r>
              <a:rPr dirty="0"/>
              <a:t xml:space="preserve"> · end-to-end · workload W · configuration C · interval T.</a:t>
            </a:r>
          </a:p>
          <a:p>
            <a:r>
              <a:rPr dirty="0"/>
              <a:t xml:space="preserve">- Then stop. The students should experience the move from '420 </a:t>
            </a:r>
            <a:r>
              <a:rPr dirty="0" err="1"/>
              <a:t>ms</a:t>
            </a:r>
            <a:r>
              <a:rPr dirty="0"/>
              <a:t xml:space="preserve"> is a fact' to '420 </a:t>
            </a:r>
            <a:r>
              <a:rPr dirty="0" err="1"/>
              <a:t>ms</a:t>
            </a:r>
            <a:r>
              <a:rPr dirty="0"/>
              <a:t xml:space="preserve"> is an observation parameterized by conditions.'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The usable residue of the metrics centre: four questions, no framework.</a:t>
            </a:r>
          </a:p>
          <a:p>
            <a:endParaRPr dirty="0"/>
          </a:p>
          <a:p>
            <a:r>
              <a:rPr dirty="0"/>
              <a:t>- Resist expansion; the value of this list is that students will actually remember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0.3 minutes — </a:t>
            </a:r>
            <a:r>
              <a:rPr i="1" dirty="0"/>
              <a:t>Name Section 4. Accelerate: Validation taught much of the judgment material.</a:t>
            </a:r>
          </a:p>
          <a:p>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10 minutes — </a:t>
            </a:r>
            <a:r>
              <a:rPr i="1" dirty="0"/>
              <a:t>6 minutes team work, 4 minutes comparison.</a:t>
            </a:r>
          </a:p>
          <a:p>
            <a:endParaRPr dirty="0"/>
          </a:p>
          <a:p>
            <a:r>
              <a:rPr dirty="0"/>
              <a:t>Setup: teams of 3–5. Do not interpret the evidence for them. Their task is not to discover the instructor’s preferred action; it is to make and defend a decision. Point out the deliverable: they must fill every blank. The sentence forces evidence to bear on a claim rather than merely reporting a number.</a:t>
            </a:r>
          </a:p>
          <a:p>
            <a:endParaRPr dirty="0"/>
          </a:p>
          <a:p>
            <a:r>
              <a:rPr dirty="0"/>
              <a:t>Circulate. When a team answers quickly, push on the justification: Which properties did you decide matter, and why those? What is not in the table that should be? What does “20–50 jobs/min with substantial uncertainty” do to A’s demonstrated 35? Are you asking for more information because it has decision value, or because more evidence feels safer?</a:t>
            </a:r>
          </a:p>
          <a:p>
            <a:endParaRPr dirty="0"/>
          </a:p>
          <a:p>
            <a:r>
              <a:rPr dirty="0"/>
              <a:t>Do not tell teams which action is correct. Both are defensible. A team may reasonably choose A because observed demand sits mostly within its capacity, it is cheap, and migration remains possible. Another may reasonably choose B because the upper end of expected demand exceeds A’s demonstrated capacity and automatic recovery is consequential.</a:t>
            </a:r>
          </a:p>
          <a:p>
            <a:endParaRPr dirty="0"/>
          </a:p>
          <a:p>
            <a:r>
              <a:rPr dirty="0"/>
              <a:t xml:space="preserve">Comparison: ask for one team choosing A and one choosing B. Put their deliverables against each other. The interesting question is not </a:t>
            </a:r>
            <a:r>
              <a:rPr i="1" dirty="0"/>
              <a:t>who read the measurements correctly</a:t>
            </a:r>
            <a:r>
              <a:rPr dirty="0"/>
              <a:t xml:space="preserve"> but </a:t>
            </a:r>
            <a:r>
              <a:rPr i="1" dirty="0"/>
              <a:t>what model of the decision did each team construct?</a:t>
            </a:r>
          </a:p>
          <a:p>
            <a:endParaRPr dirty="0"/>
          </a:p>
          <a:p>
            <a:r>
              <a:rPr dirty="0"/>
              <a:t>Transition: “You all received exactly the same observations. Why did you make different decisions?”</a:t>
            </a:r>
          </a:p>
          <a:p>
            <a:endParaRPr dirty="0"/>
          </a:p>
          <a:p>
            <a:r>
              <a:rPr dirty="0"/>
              <a:t>- Drive the debrief toward: different properties selected → different importance assigned → different uncertainty tolerated → different action. The next slide gives that experience its name.</a:t>
            </a:r>
          </a:p>
          <a:p>
            <a:r>
              <a:rPr dirty="0"/>
              <a:t>- Let students name consequence, uncertainty and reversibility if they can, rather than supplying all three immediately.</a:t>
            </a:r>
          </a:p>
          <a:p>
            <a:r>
              <a:rPr dirty="0"/>
              <a:t>- The conceptual difficulty here is judgment, not analysis. If teams need 13 minutes, the case has been made too complicated.</a:t>
            </a:r>
          </a:p>
          <a:p>
            <a:r>
              <a:rPr dirty="0"/>
              <a:t>- No staged animation: the whole slide is on screen from the start so teams can work without the instructor talking.</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pic>
        <p:nvPicPr>
          <p:cNvPr id="4" name="Picture 3">
            <a:extLst>
              <a:ext uri="{FF2B5EF4-FFF2-40B4-BE49-F238E27FC236}">
                <a16:creationId xmlns:a16="http://schemas.microsoft.com/office/drawing/2014/main" id="{47C0912A-58B8-56A0-4DAB-2572C9F5D016}"/>
              </a:ext>
            </a:extLst>
          </p:cNvPr>
          <p:cNvPicPr>
            <a:picLocks noChangeAspect="1"/>
          </p:cNvPicPr>
          <p:nvPr/>
        </p:nvPicPr>
        <p:blipFill>
          <a:blip r:embed="rId3"/>
          <a:stretch>
            <a:fillRect/>
          </a:stretch>
        </p:blipFill>
        <p:spPr>
          <a:xfrm>
            <a:off x="8136439" y="30831"/>
            <a:ext cx="974619" cy="14309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 xml:space="preserve">outcomes </a:t>
            </a:r>
            <a:r>
              <a:rPr lang="en-US" sz="2000" dirty="0">
                <a:solidFill>
                  <a:srgbClr val="555960"/>
                </a:solidFill>
              </a:rPr>
              <a:t xml:space="preserve">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A good engineering decision is the decision </a:t>
            </a:r>
            <a:r>
              <a:rPr lang="en-US" sz="2000" b="1" i="0" dirty="0">
                <a:solidFill>
                  <a:srgbClr val="5C4826"/>
                </a:solidFill>
              </a:rPr>
              <a:t xml:space="preserve">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 xml:space="preserve">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A model identifies relationships we believe matter, </a:t>
            </a:r>
          </a:p>
          <a:p>
            <a:pPr algn="ctr">
              <a:buNone/>
            </a:pPr>
            <a:r>
              <a:rPr lang="en-US" sz="2000" b="0" i="1" dirty="0">
                <a:solidFill>
                  <a:srgbClr val="5C4826"/>
                </a:solidFill>
              </a:rPr>
              <a:t>before</a:t>
            </a:r>
            <a:r>
              <a:rPr lang="en-US" sz="2000" b="0" i="0" dirty="0">
                <a:solidFill>
                  <a:srgbClr val="5C4826"/>
                </a:solidFill>
              </a:rPr>
              <a:t xml:space="preserve">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endParaRPr sz="2000" b="0" i="0" dirty="0">
              <a:solidFill>
                <a:srgbClr val="555960"/>
              </a:solidFill>
            </a:endParaRPr>
          </a:p>
          <a:p>
            <a:pPr algn="l"/>
            <a:r>
              <a:rPr sz="2000" b="0" i="0" dirty="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500"/>
                                        <p:tgtEl>
                                          <p:spTgt spid="40"/>
                                        </p:tgtEl>
                                      </p:cBhvr>
                                    </p:animEffect>
                                  </p:childTnLst>
                                </p:cTn>
                              </p:par>
                              <p:par>
                                <p:cTn id="59" presetID="10" presetClass="entr" presetSubtype="0" fill="hold"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500"/>
                                        <p:tgtEl>
                                          <p:spTgt spid="43"/>
                                        </p:tgtEl>
                                      </p:cBhvr>
                                    </p:animEffect>
                                  </p:childTnLst>
                                </p:cTn>
                              </p:par>
                              <p:par>
                                <p:cTn id="62" presetID="10" presetClass="entr" presetSubtype="0" fill="hold" nodeType="with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 xml:space="preserve">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 xml:space="preserve">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 xml:space="preserve">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1   </a:t>
            </a:r>
            <a:r>
              <a:rPr lang="en-US" sz="2000" b="1" i="0" dirty="0">
                <a:solidFill>
                  <a:srgbClr val="5C4826"/>
                </a:solidFill>
              </a:rPr>
              <a:t>The decision</a:t>
            </a:r>
            <a:r>
              <a:rPr lang="en-US" sz="2000" b="0" i="0" dirty="0">
                <a:solidFill>
                  <a:srgbClr val="9A9A9A"/>
                </a:solidFill>
              </a:rPr>
              <a:t xml:space="preserve"> — </a:t>
            </a:r>
            <a:r>
              <a:rPr lang="en-US" sz="2000" b="0" i="0" dirty="0">
                <a:solidFill>
                  <a:srgbClr val="5C4826"/>
                </a:solidFill>
              </a:rPr>
              <a:t>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2   </a:t>
            </a:r>
            <a:r>
              <a:rPr lang="en-US" sz="2000" b="1" i="0" dirty="0">
                <a:solidFill>
                  <a:srgbClr val="5C4826"/>
                </a:solidFill>
              </a:rPr>
              <a:t>The model</a:t>
            </a:r>
            <a:r>
              <a:rPr lang="en-US" sz="2000" b="0" i="0" dirty="0">
                <a:solidFill>
                  <a:srgbClr val="9A9A9A"/>
                </a:solidFill>
              </a:rPr>
              <a:t xml:space="preserve"> — </a:t>
            </a:r>
            <a:r>
              <a:rPr lang="en-US" sz="2000" b="0" i="0" dirty="0">
                <a:solidFill>
                  <a:srgbClr val="5C4826"/>
                </a:solidFill>
              </a:rPr>
              <a:t>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3   </a:t>
            </a:r>
            <a:r>
              <a:rPr lang="en-US" sz="2000" b="1" i="0" dirty="0">
                <a:solidFill>
                  <a:srgbClr val="5C4826"/>
                </a:solidFill>
              </a:rPr>
              <a:t>The consequential properties</a:t>
            </a:r>
            <a:r>
              <a:rPr lang="en-US" sz="2000" b="0" i="0" dirty="0">
                <a:solidFill>
                  <a:srgbClr val="9A9A9A"/>
                </a:solidFill>
              </a:rPr>
              <a:t xml:space="preserve"> — </a:t>
            </a:r>
            <a:r>
              <a:rPr lang="en-US" sz="2000" b="0" i="0" dirty="0">
                <a:solidFill>
                  <a:srgbClr val="5C4826"/>
                </a:solidFill>
              </a:rPr>
              <a:t>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4   </a:t>
            </a:r>
            <a:r>
              <a:rPr lang="en-US" sz="2000" b="1" i="0" dirty="0">
                <a:solidFill>
                  <a:srgbClr val="5C4826"/>
                </a:solidFill>
              </a:rPr>
              <a:t>The uncertainty</a:t>
            </a:r>
            <a:r>
              <a:rPr lang="en-US" sz="2000" b="0" i="0" dirty="0">
                <a:solidFill>
                  <a:srgbClr val="9A9A9A"/>
                </a:solidFill>
              </a:rPr>
              <a:t xml:space="preserve"> — </a:t>
            </a:r>
            <a:r>
              <a:rPr lang="en-US" sz="2000" b="0" i="0" dirty="0">
                <a:solidFill>
                  <a:srgbClr val="5C4826"/>
                </a:solidFill>
              </a:rPr>
              <a:t>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 xml:space="preserve">5   </a:t>
            </a:r>
            <a:r>
              <a:rPr lang="en-US" sz="2000" b="1" i="0" dirty="0">
                <a:solidFill>
                  <a:srgbClr val="5C4826"/>
                </a:solidFill>
              </a:rPr>
              <a:t>The evidence needed</a:t>
            </a:r>
            <a:r>
              <a:rPr lang="en-US" sz="2000" b="0" i="0" dirty="0">
                <a:solidFill>
                  <a:srgbClr val="9A9A9A"/>
                </a:solidFill>
              </a:rPr>
              <a:t xml:space="preserve"> — </a:t>
            </a:r>
            <a:r>
              <a:rPr lang="en-US" sz="2000" b="0" i="0" dirty="0">
                <a:solidFill>
                  <a:srgbClr val="5C4826"/>
                </a:solidFill>
              </a:rPr>
              <a:t>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Next question: How do we turn a property we care about</a:t>
            </a:r>
          </a:p>
          <a:p>
            <a:pPr algn="ctr">
              <a:buNone/>
            </a:pPr>
            <a:r>
              <a:rPr lang="en-US" sz="2000" b="1" i="0" dirty="0">
                <a:solidFill>
                  <a:srgbClr val="FFFFFF"/>
                </a:solidFill>
              </a:rPr>
              <a:t>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4"/>
                                        </p:tgtEl>
                                        <p:attrNameLst>
                                          <p:attrName>style.visibility</p:attrName>
                                        </p:attrNameLst>
                                      </p:cBhvr>
                                      <p:to>
                                        <p:strVal val="visible"/>
                                      </p:to>
                                    </p:set>
                                    <p:animEffect transition="in" filter="fade">
                                      <p:cBhvr>
                                        <p:cTn id="27" dur="500"/>
                                        <p:tgtEl>
                                          <p:spTgt spid="1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
                                        </p:tgtEl>
                                        <p:attrNameLst>
                                          <p:attrName>style.visibility</p:attrName>
                                        </p:attrNameLst>
                                      </p:cBhvr>
                                      <p:to>
                                        <p:strVal val="visible"/>
                                      </p:to>
                                    </p:set>
                                    <p:animEffect transition="in" filter="fade">
                                      <p:cBhvr>
                                        <p:cTn id="3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metric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service = 180 ms </a:t>
            </a:r>
            <a:r>
              <a:rPr lang="en-US" sz="2000" b="0" i="1" dirty="0">
                <a:solidFill>
                  <a:srgbClr val="8E6F3E"/>
                </a:solidFill>
              </a:rPr>
              <a:t>observed</a:t>
            </a:r>
          </a:p>
          <a:p>
            <a:pPr algn="ctr">
              <a:spcBef>
                <a:spcPts val="140"/>
              </a:spcBef>
              <a:buNone/>
            </a:pPr>
            <a:r>
              <a:rPr lang="en-US" sz="2000" b="0" i="0" dirty="0">
                <a:solidFill>
                  <a:srgbClr val="5C4826"/>
                </a:solidFill>
              </a:rPr>
              <a:t xml:space="preserve">queueing = 130 ms </a:t>
            </a:r>
            <a:r>
              <a:rPr lang="en-US" sz="2000" b="0" i="1" dirty="0">
                <a:solidFill>
                  <a:srgbClr val="8E6F3E"/>
                </a:solidFill>
              </a:rPr>
              <a:t>observed</a:t>
            </a:r>
          </a:p>
          <a:p>
            <a:pPr algn="ctr">
              <a:spcBef>
                <a:spcPts val="140"/>
              </a:spcBef>
              <a:buNone/>
            </a:pPr>
            <a:r>
              <a:rPr lang="en-US" sz="2000" b="0" i="0" dirty="0">
                <a:solidFill>
                  <a:srgbClr val="5C4826"/>
                </a:solidFill>
              </a:rPr>
              <a:t xml:space="preserve">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xml:space="preserve">  ·  </a:t>
            </a:r>
            <a:r>
              <a:rPr sz="2000" b="1" i="0">
                <a:solidFill>
                  <a:srgbClr val="2E74B5"/>
                </a:solidFill>
              </a:rPr>
              <a:t>PAIR</a:t>
            </a:r>
            <a:r>
              <a:rPr sz="2000" b="1" i="0">
                <a:solidFill>
                  <a:srgbClr val="9A9A9A"/>
                </a:solidFill>
              </a:rPr>
              <a:t xml:space="preserve">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 xml:space="preserve">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A</a:t>
            </a:r>
            <a:r>
              <a:rPr lang="en-US" sz="2000" b="0" i="0" dirty="0">
                <a:solidFill>
                  <a:srgbClr val="9A9A9A"/>
                </a:solidFill>
              </a:rPr>
              <a:t xml:space="preserve">  →  </a:t>
            </a:r>
            <a:r>
              <a:rPr lang="en-US" sz="2000" b="0" i="0" dirty="0">
                <a:solidFill>
                  <a:srgbClr val="5C4826"/>
                </a:solidFill>
              </a:rPr>
              <a:t>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B</a:t>
            </a:r>
            <a:r>
              <a:rPr lang="en-US" sz="2000" b="0" i="0" dirty="0">
                <a:solidFill>
                  <a:srgbClr val="9A9A9A"/>
                </a:solidFill>
              </a:rPr>
              <a:t xml:space="preserve">  →  </a:t>
            </a:r>
            <a:r>
              <a:rPr lang="en-US" sz="2000" b="0" i="0" dirty="0">
                <a:solidFill>
                  <a:srgbClr val="5C4826"/>
                </a:solidFill>
              </a:rPr>
              <a:t>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C</a:t>
            </a:r>
            <a:r>
              <a:rPr lang="en-US" sz="2000" b="0" i="0" dirty="0">
                <a:solidFill>
                  <a:srgbClr val="9A9A9A"/>
                </a:solidFill>
              </a:rPr>
              <a:t xml:space="preserve">  →  </a:t>
            </a:r>
            <a:r>
              <a:rPr lang="en-US" sz="2000" b="0" i="0" dirty="0">
                <a:solidFill>
                  <a:srgbClr val="5C4826"/>
                </a:solidFill>
              </a:rPr>
              <a:t>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Different metrics expose different aspects of the property.</a:t>
            </a:r>
          </a:p>
          <a:p>
            <a:pPr algn="ctr">
              <a:spcBef>
                <a:spcPts val="140"/>
              </a:spcBef>
              <a:buNone/>
            </a:pPr>
            <a:r>
              <a:rPr lang="en-US" sz="2000" b="1" i="0" dirty="0">
                <a:solidFill>
                  <a:srgbClr val="5C4826"/>
                </a:solidFill>
              </a:rPr>
              <a:t>Agreement is stronger when the measurements</a:t>
            </a:r>
          </a:p>
          <a:p>
            <a:pPr algn="ctr">
              <a:buNone/>
            </a:pPr>
            <a:r>
              <a:rPr lang="en-US" sz="2000" b="1" i="0" dirty="0">
                <a:solidFill>
                  <a:srgbClr val="5C4826"/>
                </a:solidFill>
              </a:rPr>
              <a:t>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500"/>
                                        <p:tgtEl>
                                          <p:spTgt spid="1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2"/>
                                        </p:tgtEl>
                                        <p:attrNameLst>
                                          <p:attrName>style.visibility</p:attrName>
                                        </p:attrNameLst>
                                      </p:cBhvr>
                                      <p:to>
                                        <p:strVal val="visible"/>
                                      </p:to>
                                    </p:set>
                                    <p:animEffect transition="in" filter="fade">
                                      <p:cBhvr>
                                        <p:cTn id="31"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5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par>
                                <p:cTn id="40" presetID="10" presetClass="entr" presetSubtype="0" fill="hold" nodeType="with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nodeType="withEffect">
                                  <p:stCondLst>
                                    <p:cond delay="0"/>
                                  </p:stCondLst>
                                  <p:childTnLst>
                                    <p:set>
                                      <p:cBhvr>
                                        <p:cTn id="44" dur="1" fill="hold">
                                          <p:stCondLst>
                                            <p:cond delay="0"/>
                                          </p:stCondLst>
                                        </p:cTn>
                                        <p:tgtEl>
                                          <p:spTgt spid="142"/>
                                        </p:tgtEl>
                                        <p:attrNameLst>
                                          <p:attrName>style.visibility</p:attrName>
                                        </p:attrNameLst>
                                      </p:cBhvr>
                                      <p:to>
                                        <p:strVal val="visible"/>
                                      </p:to>
                                    </p:set>
                                    <p:animEffect transition="in" filter="fade">
                                      <p:cBhvr>
                                        <p:cTn id="45" dur="500"/>
                                        <p:tgtEl>
                                          <p:spTgt spid="14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0"/>
                                        </p:tgtEl>
                                        <p:attrNameLst>
                                          <p:attrName>style.visibility</p:attrName>
                                        </p:attrNameLst>
                                      </p:cBhvr>
                                      <p:to>
                                        <p:strVal val="visible"/>
                                      </p:to>
                                    </p:set>
                                    <p:animEffect transition="in" filter="fade">
                                      <p:cBhvr>
                                        <p:cTn id="55" dur="500"/>
                                        <p:tgtEl>
                                          <p:spTgt spid="160"/>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80"/>
                                        </p:tgtEl>
                                        <p:attrNameLst>
                                          <p:attrName>style.visibility</p:attrName>
                                        </p:attrNameLst>
                                      </p:cBhvr>
                                      <p:to>
                                        <p:strVal val="visible"/>
                                      </p:to>
                                    </p:set>
                                    <p:animEffect transition="in" filter="fade">
                                      <p:cBhvr>
                                        <p:cTn id="69"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commits </a:t>
            </a:r>
            <a:r>
              <a:rPr lang="en-US" sz="2000" dirty="0">
                <a:solidFill>
                  <a:srgbClr val="5C4826"/>
                </a:solidFill>
                <a:sym typeface="Wingdings" pitchFamily="2" charset="2"/>
              </a:rPr>
              <a:t xml:space="preserve">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 xml:space="preserve">Surrogation: </a:t>
            </a:r>
            <a:r>
              <a:rPr lang="en-US" sz="2000" b="0" i="1" dirty="0">
                <a:solidFill>
                  <a:srgbClr val="555960"/>
                </a:solidFill>
              </a:rPr>
              <a:t xml:space="preserve">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xml:space="preserve">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 xml:space="preserve">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xml:space="preserve">;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 xml:space="preserve">Goodhart: </a:t>
            </a:r>
            <a:r>
              <a:rPr lang="en-US" sz="2000" b="0" i="1" dirty="0">
                <a:solidFill>
                  <a:srgbClr val="555960"/>
                </a:solidFill>
              </a:rPr>
              <a:t xml:space="preserve">once commits become </a:t>
            </a:r>
          </a:p>
          <a:p>
            <a:pPr algn="ctr">
              <a:buNone/>
            </a:pPr>
            <a:r>
              <a:rPr lang="en-US" sz="2000" b="0" i="1" dirty="0">
                <a:solidFill>
                  <a:srgbClr val="555960"/>
                </a:solidFill>
              </a:rPr>
              <a:t xml:space="preserve">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 xml:space="preserve">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 xml:space="preserve">4    </a:t>
            </a:r>
            <a:r>
              <a:rPr lang="en-US" sz="2400" b="0" i="0" dirty="0">
                <a:solidFill>
                  <a:srgbClr val="5C4826"/>
                </a:solidFill>
              </a:rPr>
              <a:t>What does the observation leave unresolved?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xml:space="preserve">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 xml:space="preserve">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 xml:space="preserve">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 xml:space="preserve">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 xml:space="preserve">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5150000" cy="638175"/>
          </a:xfrm>
        </p:spPr>
        <p:txBody>
          <a:bodyPr>
            <a:normAutofit fontScale="90000"/>
          </a:bodyPr>
          <a:lstStyle/>
          <a:p>
            <a:pPr>
              <a:buNone/>
              <a:defRPr b="0"/>
            </a:pPr>
            <a:r>
              <a:rPr lang="en-US" sz="2400" b="0" i="0" dirty="0">
                <a:solidFill>
                  <a:srgbClr val="000000"/>
                </a:solidFill>
              </a:rPr>
              <a:t>You have to choose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1500" b="1" i="0" dirty="0">
                <a:solidFill>
                  <a:srgbClr val="8E6F3E"/>
                </a:solidFill>
              </a:rPr>
              <a:t>TEAM ACTIVITY  ·  10 MINUTES</a:t>
            </a:r>
          </a:p>
        </p:txBody>
      </p:sp>
      <p:sp>
        <p:nvSpPr>
          <p:cNvPr id="101" name="Premise"/>
          <p:cNvSpPr txBox="1"/>
          <p:nvPr/>
        </p:nvSpPr>
        <p:spPr>
          <a:xfrm>
            <a:off x="274320" y="770000"/>
            <a:ext cx="8595360" cy="300000"/>
          </a:xfrm>
          <a:prstGeom prst="rect">
            <a:avLst/>
          </a:prstGeom>
          <a:noFill/>
          <a:ln>
            <a:noFill/>
          </a:ln>
        </p:spPr>
        <p:txBody>
          <a:bodyPr wrap="square" lIns="0" tIns="0" rIns="0" bIns="0" anchor="ctr"/>
          <a:lstStyle/>
          <a:p>
            <a:pPr algn="l">
              <a:buNone/>
            </a:pPr>
            <a:r>
              <a:rPr lang="en-US" sz="1400" b="0" i="0" dirty="0">
                <a:solidFill>
                  <a:srgbClr val="5C4826"/>
                </a:solidFill>
              </a:rPr>
              <a:t>Your team is adding a document-processing operation to a production service. Two designs are viable:</a:t>
            </a:r>
          </a:p>
        </p:txBody>
      </p:sp>
      <p:sp>
        <p:nvSpPr>
          <p:cNvPr id="110" name="HdrA"/>
          <p:cNvSpPr/>
          <p:nvPr/>
        </p:nvSpPr>
        <p:spPr>
          <a:xfrm>
            <a:off x="4174320" y="1140000"/>
            <a:ext cx="2347680" cy="46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A</a:t>
            </a:r>
          </a:p>
          <a:p>
            <a:pPr algn="ctr">
              <a:buNone/>
            </a:pPr>
            <a:r>
              <a:rPr lang="en-US" sz="1300" b="1" i="0" dirty="0">
                <a:solidFill>
                  <a:srgbClr val="FFFFFF"/>
                </a:solidFill>
              </a:rPr>
              <a:t>Process synchronously</a:t>
            </a:r>
          </a:p>
        </p:txBody>
      </p:sp>
      <p:sp>
        <p:nvSpPr>
          <p:cNvPr id="111" name="HdrB"/>
          <p:cNvSpPr/>
          <p:nvPr/>
        </p:nvSpPr>
        <p:spPr>
          <a:xfrm>
            <a:off x="6522000" y="1140000"/>
            <a:ext cx="2347680" cy="46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B</a:t>
            </a:r>
          </a:p>
          <a:p>
            <a:pPr algn="ctr">
              <a:buNone/>
            </a:pPr>
            <a:r>
              <a:rPr lang="en-US" sz="1300" b="1" i="0" dirty="0">
                <a:solidFill>
                  <a:srgbClr val="FFFFFF"/>
                </a:solidFill>
              </a:rPr>
              <a:t>Queue the work</a:t>
            </a:r>
          </a:p>
        </p:txBody>
      </p:sp>
      <p:sp>
        <p:nvSpPr>
          <p:cNvPr id="120" name="R1L"/>
          <p:cNvSpPr/>
          <p:nvPr/>
        </p:nvSpPr>
        <p:spPr>
          <a:xfrm>
            <a:off x="274320" y="16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Implementation effort</a:t>
            </a:r>
          </a:p>
        </p:txBody>
      </p:sp>
      <p:sp>
        <p:nvSpPr>
          <p:cNvPr id="121" name="R1A"/>
          <p:cNvSpPr/>
          <p:nvPr/>
        </p:nvSpPr>
        <p:spPr>
          <a:xfrm>
            <a:off x="4174320" y="16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2 engineer-days</a:t>
            </a:r>
          </a:p>
        </p:txBody>
      </p:sp>
      <p:sp>
        <p:nvSpPr>
          <p:cNvPr id="122" name="R1B"/>
          <p:cNvSpPr/>
          <p:nvPr/>
        </p:nvSpPr>
        <p:spPr>
          <a:xfrm>
            <a:off x="6522000" y="16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7 engineer-days</a:t>
            </a:r>
          </a:p>
        </p:txBody>
      </p:sp>
      <p:sp>
        <p:nvSpPr>
          <p:cNvPr id="130" name="R2L"/>
          <p:cNvSpPr/>
          <p:nvPr/>
        </p:nvSpPr>
        <p:spPr>
          <a:xfrm>
            <a:off x="274320" y="19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Typical completion time</a:t>
            </a:r>
          </a:p>
        </p:txBody>
      </p:sp>
      <p:sp>
        <p:nvSpPr>
          <p:cNvPr id="131" name="R2A"/>
          <p:cNvSpPr/>
          <p:nvPr/>
        </p:nvSpPr>
        <p:spPr>
          <a:xfrm>
            <a:off x="4174320" y="19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4 s</a:t>
            </a:r>
          </a:p>
        </p:txBody>
      </p:sp>
      <p:sp>
        <p:nvSpPr>
          <p:cNvPr id="132" name="R2B"/>
          <p:cNvSpPr/>
          <p:nvPr/>
        </p:nvSpPr>
        <p:spPr>
          <a:xfrm>
            <a:off x="6522000" y="19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9 s</a:t>
            </a:r>
          </a:p>
        </p:txBody>
      </p:sp>
      <p:sp>
        <p:nvSpPr>
          <p:cNvPr id="140" name="R3L"/>
          <p:cNvSpPr/>
          <p:nvPr/>
        </p:nvSpPr>
        <p:spPr>
          <a:xfrm>
            <a:off x="274320" y="22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Failed jobs recovered automatically</a:t>
            </a:r>
          </a:p>
        </p:txBody>
      </p:sp>
      <p:sp>
        <p:nvSpPr>
          <p:cNvPr id="141" name="R3A"/>
          <p:cNvSpPr/>
          <p:nvPr/>
        </p:nvSpPr>
        <p:spPr>
          <a:xfrm>
            <a:off x="4174320" y="22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No</a:t>
            </a:r>
          </a:p>
        </p:txBody>
      </p:sp>
      <p:sp>
        <p:nvSpPr>
          <p:cNvPr id="142" name="R3B"/>
          <p:cNvSpPr/>
          <p:nvPr/>
        </p:nvSpPr>
        <p:spPr>
          <a:xfrm>
            <a:off x="6522000" y="22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Yes</a:t>
            </a:r>
          </a:p>
        </p:txBody>
      </p:sp>
      <p:sp>
        <p:nvSpPr>
          <p:cNvPr id="150" name="R4L"/>
          <p:cNvSpPr/>
          <p:nvPr/>
        </p:nvSpPr>
        <p:spPr>
          <a:xfrm>
            <a:off x="274320" y="25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Peak load handled in experiment</a:t>
            </a:r>
          </a:p>
        </p:txBody>
      </p:sp>
      <p:sp>
        <p:nvSpPr>
          <p:cNvPr id="151" name="R4A"/>
          <p:cNvSpPr/>
          <p:nvPr/>
        </p:nvSpPr>
        <p:spPr>
          <a:xfrm>
            <a:off x="4174320" y="25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35 jobs/min</a:t>
            </a:r>
          </a:p>
        </p:txBody>
      </p:sp>
      <p:sp>
        <p:nvSpPr>
          <p:cNvPr id="152" name="R4B"/>
          <p:cNvSpPr/>
          <p:nvPr/>
        </p:nvSpPr>
        <p:spPr>
          <a:xfrm>
            <a:off x="6522000" y="25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120 jobs/min</a:t>
            </a:r>
          </a:p>
        </p:txBody>
      </p:sp>
      <p:sp>
        <p:nvSpPr>
          <p:cNvPr id="160" name="R5L"/>
          <p:cNvSpPr/>
          <p:nvPr/>
        </p:nvSpPr>
        <p:spPr>
          <a:xfrm>
            <a:off x="274320" y="2800000"/>
            <a:ext cx="3900000" cy="300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New operational components</a:t>
            </a:r>
          </a:p>
        </p:txBody>
      </p:sp>
      <p:sp>
        <p:nvSpPr>
          <p:cNvPr id="161" name="R5A"/>
          <p:cNvSpPr/>
          <p:nvPr/>
        </p:nvSpPr>
        <p:spPr>
          <a:xfrm>
            <a:off x="4174320" y="28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0</a:t>
            </a:r>
          </a:p>
        </p:txBody>
      </p:sp>
      <p:sp>
        <p:nvSpPr>
          <p:cNvPr id="162" name="R5B"/>
          <p:cNvSpPr/>
          <p:nvPr/>
        </p:nvSpPr>
        <p:spPr>
          <a:xfrm>
            <a:off x="6522000" y="2800000"/>
            <a:ext cx="2347680" cy="300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a:t>
            </a:r>
          </a:p>
        </p:txBody>
      </p:sp>
      <p:sp>
        <p:nvSpPr>
          <p:cNvPr id="170" name="Constraints"/>
          <p:cNvSpPr/>
          <p:nvPr/>
        </p:nvSpPr>
        <p:spPr>
          <a:xfrm>
            <a:off x="274320" y="3200000"/>
            <a:ext cx="8595360" cy="500000"/>
          </a:xfrm>
          <a:prstGeom prst="rect">
            <a:avLst/>
          </a:prstGeom>
          <a:solidFill>
            <a:srgbClr val="E8F0F7"/>
          </a:solidFill>
          <a:ln w="12700">
            <a:solidFill>
              <a:srgbClr val="A9C4DB"/>
            </a:solidFill>
          </a:ln>
        </p:spPr>
        <p:txBody>
          <a:bodyPr wrap="square" lIns="137160" tIns="18288" rIns="137160" bIns="18288" anchor="ctr"/>
          <a:lstStyle/>
          <a:p>
            <a:pPr algn="l">
              <a:buNone/>
            </a:pPr>
            <a:r>
              <a:rPr lang="en-US" sz="1400" b="1" i="0" dirty="0">
                <a:solidFill>
                  <a:srgbClr val="5C4826"/>
                </a:solidFill>
              </a:rPr>
              <a:t>Expected launch traffic: 20–50 jobs/min, with substantial uncertainty.</a:t>
            </a:r>
          </a:p>
          <a:p>
            <a:pPr algn="l">
              <a:buNone/>
            </a:pPr>
            <a:r>
              <a:rPr lang="en-US" sz="1400" b="0" i="0" dirty="0">
                <a:solidFill>
                  <a:srgbClr val="5C4826"/>
                </a:solidFill>
              </a:rPr>
              <a:t>A customer is waiting for the feature. You must choose A or B today.</a:t>
            </a:r>
          </a:p>
        </p:txBody>
      </p:sp>
      <p:sp>
        <p:nvSpPr>
          <p:cNvPr id="180" name="DecideBadge"/>
          <p:cNvSpPr/>
          <p:nvPr/>
        </p:nvSpPr>
        <p:spPr>
          <a:xfrm>
            <a:off x="274320" y="3810000"/>
            <a:ext cx="2560320" cy="300000"/>
          </a:xfrm>
          <a:prstGeom prst="roundRect">
            <a:avLst/>
          </a:prstGeom>
          <a:solidFill>
            <a:srgbClr val="FBF8F2"/>
          </a:solidFill>
          <a:ln w="15875">
            <a:solidFill>
              <a:srgbClr val="8E6F3E"/>
            </a:solidFill>
          </a:ln>
        </p:spPr>
        <p:txBody>
          <a:bodyPr wrap="square" lIns="45720" tIns="9144" rIns="45720" bIns="9144" anchor="ctr"/>
          <a:lstStyle/>
          <a:p>
            <a:pPr algn="ctr">
              <a:buNone/>
            </a:pPr>
            <a:r>
              <a:rPr lang="en-US" sz="1400" b="1" i="0" dirty="0">
                <a:solidFill>
                  <a:srgbClr val="8E6F3E"/>
                </a:solidFill>
              </a:rPr>
              <a:t>MAKE THE DECISION</a:t>
            </a:r>
          </a:p>
        </p:txBody>
      </p:sp>
      <p:sp>
        <p:nvSpPr>
          <p:cNvPr id="181" name="DecideNote"/>
          <p:cNvSpPr txBox="1"/>
          <p:nvPr/>
        </p:nvSpPr>
        <p:spPr>
          <a:xfrm>
            <a:off x="2980000" y="3810000"/>
            <a:ext cx="3200000" cy="300000"/>
          </a:xfrm>
          <a:prstGeom prst="rect">
            <a:avLst/>
          </a:prstGeom>
          <a:noFill/>
          <a:ln>
            <a:noFill/>
          </a:ln>
        </p:spPr>
        <p:txBody>
          <a:bodyPr wrap="square" lIns="0" tIns="0" rIns="0" bIns="0" anchor="ctr"/>
          <a:lstStyle/>
          <a:p>
            <a:pPr algn="l">
              <a:buNone/>
            </a:pPr>
            <a:r>
              <a:rPr lang="en-US" sz="1400" b="0" i="0" dirty="0">
                <a:solidFill>
                  <a:srgbClr val="5C4826"/>
                </a:solidFill>
              </a:rPr>
              <a:t>You have 10 minutes.</a:t>
            </a:r>
          </a:p>
        </p:txBody>
      </p:sp>
      <p:sp>
        <p:nvSpPr>
          <p:cNvPr id="190" name="Questions"/>
          <p:cNvSpPr txBox="1"/>
          <p:nvPr/>
        </p:nvSpPr>
        <p:spPr>
          <a:xfrm>
            <a:off x="274320" y="4180000"/>
            <a:ext cx="6000000" cy="1606000"/>
          </a:xfrm>
          <a:prstGeom prst="rect">
            <a:avLst/>
          </a:prstGeom>
          <a:noFill/>
          <a:ln>
            <a:noFill/>
          </a:ln>
        </p:spPr>
        <p:txBody>
          <a:bodyPr wrap="square" lIns="0" tIns="0" rIns="0" bIns="0" anchor="t"/>
          <a:lstStyle/>
          <a:p>
            <a:pPr marL="274320" indent="-274320" algn="l">
              <a:lnSpc>
                <a:spcPts val="1560"/>
              </a:lnSpc>
              <a:spcBef>
                <a:spcPts val="600"/>
              </a:spcBef>
              <a:buNone/>
            </a:pPr>
            <a:r>
              <a:rPr lang="en-US" sz="1300" b="1" i="0" dirty="0">
                <a:solidFill>
                  <a:srgbClr val="8E6F3E"/>
                </a:solidFill>
              </a:rPr>
              <a:t xml:space="preserve">1  </a:t>
            </a:r>
            <a:r>
              <a:rPr lang="en-US" sz="1300" b="0" i="0" dirty="0">
                <a:solidFill>
                  <a:srgbClr val="5C4826"/>
                </a:solidFill>
              </a:rPr>
              <a:t>What properties actually matter to this decision?</a:t>
            </a:r>
          </a:p>
          <a:p>
            <a:pPr marL="274320" indent="-274320" algn="l">
              <a:lnSpc>
                <a:spcPts val="1560"/>
              </a:lnSpc>
              <a:spcBef>
                <a:spcPts val="600"/>
              </a:spcBef>
              <a:buNone/>
            </a:pPr>
            <a:r>
              <a:rPr lang="en-US" sz="1300" b="1" i="0" dirty="0">
                <a:solidFill>
                  <a:srgbClr val="8E6F3E"/>
                </a:solidFill>
              </a:rPr>
              <a:t xml:space="preserve">2  </a:t>
            </a:r>
            <a:r>
              <a:rPr lang="en-US" sz="1300" b="0" i="0" dirty="0">
                <a:solidFill>
                  <a:srgbClr val="5C4826"/>
                </a:solidFill>
              </a:rPr>
              <a:t>What do these measurements tell you about them?</a:t>
            </a:r>
          </a:p>
          <a:p>
            <a:pPr marL="274320" indent="-274320" algn="l">
              <a:lnSpc>
                <a:spcPts val="1560"/>
              </a:lnSpc>
              <a:spcBef>
                <a:spcPts val="600"/>
              </a:spcBef>
              <a:buNone/>
            </a:pPr>
            <a:r>
              <a:rPr lang="en-US" sz="1300" b="1" i="0" dirty="0">
                <a:solidFill>
                  <a:srgbClr val="8E6F3E"/>
                </a:solidFill>
              </a:rPr>
              <a:t xml:space="preserve">3  </a:t>
            </a:r>
            <a:r>
              <a:rPr lang="en-US" sz="1300" b="0" i="0" dirty="0">
                <a:solidFill>
                  <a:srgbClr val="5C4826"/>
                </a:solidFill>
              </a:rPr>
              <a:t>What important thing is not measured?</a:t>
            </a:r>
          </a:p>
          <a:p>
            <a:pPr marL="274320" indent="-274320" algn="l">
              <a:lnSpc>
                <a:spcPts val="1560"/>
              </a:lnSpc>
              <a:spcBef>
                <a:spcPts val="600"/>
              </a:spcBef>
              <a:buNone/>
            </a:pPr>
            <a:r>
              <a:rPr lang="en-US" sz="1300" b="1" i="0" dirty="0">
                <a:solidFill>
                  <a:srgbClr val="8E6F3E"/>
                </a:solidFill>
              </a:rPr>
              <a:t xml:space="preserve">4  </a:t>
            </a:r>
            <a:r>
              <a:rPr lang="en-US" sz="1300" b="0" i="0" dirty="0">
                <a:solidFill>
                  <a:srgbClr val="5C4826"/>
                </a:solidFill>
              </a:rPr>
              <a:t>Which uncertainty could plausibly change your choice?</a:t>
            </a:r>
          </a:p>
          <a:p>
            <a:pPr marL="274320" indent="-274320" algn="l">
              <a:lnSpc>
                <a:spcPts val="1560"/>
              </a:lnSpc>
              <a:spcBef>
                <a:spcPts val="600"/>
              </a:spcBef>
              <a:buNone/>
            </a:pPr>
            <a:r>
              <a:rPr lang="en-US" sz="1300" b="1" i="0" dirty="0">
                <a:solidFill>
                  <a:srgbClr val="8E6F3E"/>
                </a:solidFill>
              </a:rPr>
              <a:t xml:space="preserve">5  </a:t>
            </a:r>
            <a:r>
              <a:rPr lang="en-US" sz="1300" b="0" i="0" dirty="0">
                <a:solidFill>
                  <a:srgbClr val="5C4826"/>
                </a:solidFill>
              </a:rPr>
              <a:t>Would you spend time obtaining more information? If so, what information?</a:t>
            </a:r>
          </a:p>
          <a:p>
            <a:pPr marL="274320" indent="-274320" algn="l">
              <a:lnSpc>
                <a:spcPts val="1560"/>
              </a:lnSpc>
              <a:spcBef>
                <a:spcPts val="600"/>
              </a:spcBef>
              <a:buNone/>
            </a:pPr>
            <a:r>
              <a:rPr lang="en-US" sz="1300" b="1" i="0" dirty="0">
                <a:solidFill>
                  <a:srgbClr val="8E6F3E"/>
                </a:solidFill>
              </a:rPr>
              <a:t xml:space="preserve">6  </a:t>
            </a:r>
            <a:r>
              <a:rPr lang="en-US" sz="1300" b="1" i="0" dirty="0">
                <a:solidFill>
                  <a:srgbClr val="5C4826"/>
                </a:solidFill>
              </a:rPr>
              <a:t>Choose A or B. Defend the choice.</a:t>
            </a:r>
          </a:p>
        </p:txBody>
      </p:sp>
      <p:sp>
        <p:nvSpPr>
          <p:cNvPr id="200" name="DeliverableBox"/>
          <p:cNvSpPr/>
          <p:nvPr/>
        </p:nvSpPr>
        <p:spPr>
          <a:xfrm>
            <a:off x="6424320" y="4180000"/>
            <a:ext cx="2445360" cy="1606000"/>
          </a:xfrm>
          <a:prstGeom prst="rect">
            <a:avLst/>
          </a:prstGeom>
          <a:solidFill>
            <a:srgbClr val="FBF8F2"/>
          </a:solidFill>
          <a:ln w="15875">
            <a:solidFill>
              <a:srgbClr val="8E6F3E"/>
            </a:solidFill>
          </a:ln>
        </p:spPr>
        <p:txBody>
          <a:bodyPr wrap="square" lIns="114300" tIns="45720" rIns="114300" bIns="45720" anchor="t"/>
          <a:lstStyle/>
          <a:p>
            <a:pPr algn="l">
              <a:buNone/>
            </a:pPr>
            <a:r>
              <a:rPr lang="en-US" sz="1300" b="1" i="0" dirty="0">
                <a:solidFill>
                  <a:srgbClr val="8E6F3E"/>
                </a:solidFill>
              </a:rPr>
              <a:t>YOUR DELIVERABLE</a:t>
            </a:r>
          </a:p>
          <a:p>
            <a:pPr algn="l">
              <a:lnSpc>
                <a:spcPts val="1620"/>
              </a:lnSpc>
              <a:spcBef>
                <a:spcPts val="700"/>
              </a:spcBef>
              <a:buNone/>
            </a:pPr>
            <a:r>
              <a:rPr lang="en-US" sz="1300" b="0" i="0" dirty="0">
                <a:solidFill>
                  <a:srgbClr val="5C4826"/>
                </a:solidFill>
              </a:rPr>
              <a:t>We choose ___ because ___.</a:t>
            </a:r>
          </a:p>
          <a:p>
            <a:pPr algn="l">
              <a:lnSpc>
                <a:spcPts val="1620"/>
              </a:lnSpc>
              <a:spcBef>
                <a:spcPts val="700"/>
              </a:spcBef>
              <a:buNone/>
            </a:pPr>
            <a:r>
              <a:rPr lang="en-US" sz="1300" b="0" i="0" dirty="0">
                <a:solidFill>
                  <a:srgbClr val="5C4826"/>
                </a:solidFill>
              </a:rPr>
              <a:t>The most important unresolved uncertainty is ___.</a:t>
            </a:r>
          </a:p>
          <a:p>
            <a:pPr algn="l">
              <a:lnSpc>
                <a:spcPts val="1620"/>
              </a:lnSpc>
              <a:spcBef>
                <a:spcPts val="700"/>
              </a:spcBef>
              <a:buNone/>
            </a:pPr>
            <a:r>
              <a:rPr lang="en-US" sz="1300" b="0" i="0" dirty="0">
                <a:solidFill>
                  <a:srgbClr val="5C4826"/>
                </a:solidFill>
              </a:rPr>
              <a:t>We would change our decision if we learned ___.</a:t>
            </a:r>
          </a:p>
        </p:txBody>
      </p:sp>
      <p:sp>
        <p:nvSpPr>
          <p:cNvPr id="210" name="FooterBand"/>
          <p:cNvSpPr/>
          <p:nvPr/>
        </p:nvSpPr>
        <p:spPr>
          <a:xfrm>
            <a:off x="274320" y="5900000"/>
            <a:ext cx="8595360" cy="555664"/>
          </a:xfrm>
          <a:prstGeom prst="rect">
            <a:avLst/>
          </a:prstGeom>
          <a:solidFill>
            <a:srgbClr val="8E6F3E"/>
          </a:solidFill>
          <a:ln>
            <a:noFill/>
          </a:ln>
        </p:spPr>
        <p:txBody>
          <a:bodyPr wrap="square" lIns="91440" tIns="27432" rIns="91440" bIns="27432" anchor="ctr"/>
          <a:lstStyle/>
          <a:p>
            <a:pPr algn="ctr">
              <a:buNone/>
            </a:pPr>
            <a:r>
              <a:rPr lang="en-US" sz="1600" b="1" i="0" dirty="0">
                <a:solidFill>
                  <a:srgbClr val="FFFFFF"/>
                </a:solidFill>
              </a:rPr>
              <a:t>You cannot answer “it depends” without saying what it depends 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8626</TotalTime>
  <Words>5158</Words>
  <Application>Microsoft Macintosh PowerPoint</Application>
  <PresentationFormat>On-screen Show (4:3)</PresentationFormat>
  <Paragraphs>579</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Times</vt:lpstr>
      <vt:lpstr>Wingdings</vt:lpstr>
      <vt:lpstr>Purdue1</vt:lpstr>
      <vt:lpstr>ECE 30861/46100: Software Engineering</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What do we need to know?</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One property may need several views</vt:lpstr>
      <vt:lpstr>Stretch break</vt:lpstr>
      <vt:lpstr>When metrics mislead</vt:lpstr>
      <vt:lpstr>“Developer productivity increased 22%.”</vt:lpstr>
      <vt:lpstr>Proxy metrics</vt:lpstr>
      <vt:lpstr>Goodhart’s Law and surrogation</vt:lpstr>
      <vt:lpstr>Metrics do not have context-free meanings</vt:lpstr>
      <vt:lpstr>Before using a metric</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399</cp:revision>
  <dcterms:created xsi:type="dcterms:W3CDTF">2020-02-21T23:00:33Z</dcterms:created>
  <dcterms:modified xsi:type="dcterms:W3CDTF">2026-09-24T11:43:51Z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