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8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notesMaster" Target="notesMasters/notes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0.5 minutes — </a:t>
            </a:r>
            <a:r>
              <a:rPr i="1" dirty="0"/>
              <a:t>Open the Act I closer: every unit ended in a decision; today the shared reasoning becomes explicit.</a:t>
            </a:r>
          </a:p>
          <a:p>
            <a:endParaRPr dirty="0"/>
          </a:p>
          <a:p>
            <a:r>
              <a:rPr dirty="0"/>
              <a:t>- The chain on screen is the lecture's centre of gravity; do not explain it yet.</a:t>
            </a:r>
          </a:p>
          <a:p>
            <a:r>
              <a:rPr dirty="0"/>
              <a:t>- Frame: this is a synthesis of Requirements through Validation, plus a usable theory of metrics.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Establish that engineering activity repeatedly terminates in a decision.</a:t>
            </a:r>
          </a:p>
          <a:p>
            <a:endParaRPr dirty="0"/>
          </a:p>
          <a:p>
            <a:r>
              <a:rPr dirty="0"/>
              <a:t>- Do not explain the four examples yet; students met each decision in its own unit.</a:t>
            </a:r>
          </a:p>
          <a:p>
            <a:r>
              <a:rPr dirty="0"/>
              <a:t>- Move fast: slides 1-10 establish framing the students mostly already hold.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Land the temporal problem: the action precedes its consequences.</a:t>
            </a:r>
          </a:p>
          <a:p>
            <a:endParaRPr dirty="0"/>
          </a:p>
          <a:p>
            <a:r>
              <a:rPr dirty="0"/>
              <a:t>- The dashed outcome box is the point: it does not exist yet when we act.</a:t>
            </a:r>
          </a:p>
          <a:p>
            <a:r>
              <a:rPr dirty="0"/>
              <a:t>- Engineering cannot eliminate this uncertainty; it can reduce how often we are wrong and improve the basis on which we act.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Separate decision quality from outcome quality; this is all the decision theory the lecture needs.</a:t>
            </a:r>
          </a:p>
          <a:p>
            <a:endParaRPr dirty="0"/>
          </a:p>
          <a:p>
            <a:r>
              <a:rPr dirty="0"/>
              <a:t>- Run the TPS briefly; the answer is No, and the converse (luck) matters equally.</a:t>
            </a:r>
          </a:p>
          <a:p>
            <a:r>
              <a:rPr dirty="0"/>
              <a:t>- Do NOT expand into probability, utility, or expected value. Slide 4 carries the entire decision-quality burden of the lecture.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Close the first mini-argument with the Act I funnel: the question recurs at every level.</a:t>
            </a:r>
          </a:p>
          <a:p>
            <a:endParaRPr dirty="0"/>
          </a:p>
          <a:p>
            <a:r>
              <a:rPr dirty="0"/>
              <a:t>- This is the Act I sequence students have walked all semester; recognition, not news.</a:t>
            </a:r>
          </a:p>
          <a:p>
            <a:r>
              <a:rPr dirty="0"/>
              <a:t>- The footer question motivates Section 1 — read it aloud and advance.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1.</a:t>
            </a:r>
          </a:p>
          <a:p>
            <a:endParaRPr dirty="0"/>
          </a:p>
          <a:p>
            <a:r>
              <a:rPr dirty="0"/>
              <a:t>- 15-20 seconds only.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Three callbacks, one takeaway: models let us reason before consequences can be observed.</a:t>
            </a:r>
          </a:p>
          <a:p>
            <a:endParaRPr dirty="0"/>
          </a:p>
          <a:p>
            <a:r>
              <a:rPr dirty="0"/>
              <a:t>- Pure callback material — Specification, Architecture, Design each built exactly these models. Do not re-teach them.</a:t>
            </a:r>
          </a:p>
          <a:p>
            <a:r>
              <a:rPr dirty="0"/>
              <a:t>- Guard the claim: the model identifies what matters; it does not decide.</a:t>
            </a:r>
          </a:p>
          <a:p>
            <a:r>
              <a:rPr dirty="0"/>
              <a:t>- Compress here if time pressure demands — never in the metrics centre (12-18, 20-24).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Establish the lecture's organizing chain: decision, model, consequential property, evidence, judgment, action.</a:t>
            </a:r>
          </a:p>
          <a:p>
            <a:endParaRPr dirty="0"/>
          </a:p>
          <a:p>
            <a:r>
              <a:rPr dirty="0"/>
              <a:t>- Build it left to right, one link per beat; each element earns one sentence.</a:t>
            </a:r>
          </a:p>
          <a:p>
            <a:r>
              <a:rPr dirty="0"/>
              <a:t>- Establish it once and reuse it — slides 26, 28, and 29 return to it.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 minute — </a:t>
            </a:r>
            <a:r>
              <a:rPr i="1" dirty="0"/>
              <a:t>Evidence is broader than numbers; Validation taught the mechanisms, so do not re-taxonomize.</a:t>
            </a:r>
          </a:p>
          <a:p>
            <a:endParaRPr dirty="0"/>
          </a:p>
          <a:p>
            <a:r>
              <a:rPr dirty="0"/>
              <a:t>- A prototype can demonstrate feasibility; a counterexample can invalidate an assumption; a review can catch the wrong requirement.</a:t>
            </a:r>
          </a:p>
          <a:p>
            <a:r>
              <a:rPr dirty="0"/>
              <a:t>- Transition verbally on the last line: measurement is the quantitative path — the centre of this lecture.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One coherent example, two Act I callbacks: the spec assumption and the architectural claim.</a:t>
            </a:r>
          </a:p>
          <a:p>
            <a:endParaRPr dirty="0"/>
          </a:p>
          <a:p>
            <a:r>
              <a:rPr dirty="0"/>
              <a:t>- Left: the 5-s assumption against 30-s production traces — evidence that challenges the model the specification rests on.</a:t>
            </a:r>
          </a:p>
          <a:p>
            <a:r>
              <a:rPr dirty="0"/>
              <a:t>- Right: the 200-ms path claim exists across the composed path, so only end-to-end observation can establish it.</a:t>
            </a:r>
          </a:p>
          <a:p>
            <a:r>
              <a:rPr dirty="0"/>
              <a:t>- The footer is the handoff into metrics; read it as the section's closing line.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2. The centre of the lecture begins here.</a:t>
            </a:r>
          </a:p>
          <a:p>
            <a:endParaRPr dirty="0"/>
          </a:p>
          <a:p>
            <a:r>
              <a:rPr dirty="0"/>
              <a:t>- Do NOT title or gloss this as 'measurement is a model' — the metric holds the modeling choice.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canonical quantitative chain, unpacked carefully. Terminology must be exact.</a:t>
            </a:r>
          </a:p>
          <a:p>
            <a:endParaRPr dirty="0"/>
          </a:p>
          <a:p>
            <a:r>
              <a:rPr dirty="0"/>
              <a:t>- Property: what we care about. Metric: a model connecting the property to observations we can obtain. Measurement: an observation from applying the metric under conditions. Evidence: what that measurement supports about the property.</a:t>
            </a:r>
          </a:p>
          <a:p>
            <a:r>
              <a:rPr dirty="0"/>
              <a:t>- NEVER say 'measurement is a model.' The metric contains the modeling choice; the measurement supplies values.</a:t>
            </a:r>
          </a:p>
          <a:p>
            <a:r>
              <a:rPr dirty="0"/>
              <a:t>- Deliberate Validation callback — same boxes, same verbs as its evidence-strength slide.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Work one operationalization end to end; define the word once.</a:t>
            </a:r>
          </a:p>
          <a:p>
            <a:endParaRPr dirty="0"/>
          </a:p>
          <a:p>
            <a:r>
              <a:rPr dirty="0"/>
              <a:t>- Responsiveness is abstract; p99-under-workload-W is the chosen observable aspect; 420 ms is what applying it produced.</a:t>
            </a:r>
          </a:p>
          <a:p>
            <a:r>
              <a:rPr dirty="0"/>
              <a:t>- Dwell on the right-hand point: the metric is a representation, not the property. Other metrics would represent other aspects.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Measurement in service of a model: it fills parameters and it tests predictions.</a:t>
            </a:r>
          </a:p>
          <a:p>
            <a:endParaRPr dirty="0"/>
          </a:p>
          <a:p>
            <a:r>
              <a:rPr dirty="0"/>
              <a:t>- This is Architecture's quantitative-model language — the latency budget students composed there.</a:t>
            </a:r>
          </a:p>
          <a:p>
            <a:r>
              <a:rPr dirty="0"/>
              <a:t>- The footer corrects any older phrasing: the metric embodies the modeling choice; the measurement supplies observations. Do not soften it.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A bare number means nothing; the conditions are part of the measurement.</a:t>
            </a:r>
          </a:p>
          <a:p>
            <a:endParaRPr dirty="0"/>
          </a:p>
          <a:p>
            <a:r>
              <a:rPr dirty="0"/>
              <a:t>- Let '420 ms' sit alone for a beat, then ask the room: 420 ms what?</a:t>
            </a:r>
          </a:p>
          <a:p>
            <a:r>
              <a:rPr dirty="0"/>
              <a:t>- Workload, measurement location, percentile, and request-path definition are the ones the lander highlights; the boxed version at the bottom is the deliverable form.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The scope principle, deliberately drawn like Validation's composition slide.</a:t>
            </a:r>
          </a:p>
          <a:p>
            <a:endParaRPr dirty="0"/>
          </a:p>
          <a:p>
            <a:r>
              <a:rPr dirty="0"/>
              <a:t>- Each component meets its local check; the composed path still fails. Students saw this shape in Validation — say so.</a:t>
            </a:r>
          </a:p>
          <a:p>
            <a:r>
              <a:rPr dirty="0"/>
              <a:t>- Same reasoning as the latency-budget example: 90+80+140+110+100 components can compose past the budget.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2.5 minutes — </a:t>
            </a:r>
            <a:r>
              <a:rPr i="1" dirty="0"/>
              <a:t>Direct versus proxy measurement; the proxy's metric carries a bigger modeling burden.</a:t>
            </a:r>
          </a:p>
          <a:p>
            <a:endParaRPr dirty="0"/>
          </a:p>
          <a:p>
            <a:r>
              <a:rPr dirty="0"/>
              <a:t>- 'Relatively direct' is deliberate: no binary distinction exists in nature.</a:t>
            </a:r>
          </a:p>
          <a:p>
            <a:r>
              <a:rPr dirty="0"/>
              <a:t>- Usability needs several observables, none of which IS usability — the metric models how each bears on it.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Every metric omits; the omission is the price of usability, not a scandal.</a:t>
            </a:r>
          </a:p>
          <a:p>
            <a:endParaRPr dirty="0"/>
          </a:p>
          <a:p>
            <a:r>
              <a:rPr dirty="0"/>
              <a:t>- Do not frame as anti-metrics. Reduction is why metrics are useful; it is also why interpretation is required.</a:t>
            </a:r>
          </a:p>
          <a:p>
            <a:r>
              <a:rPr dirty="0"/>
              <a:t>- The defect-count row previews context-dependence: what counts, and what gets found, are both choices.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3.</a:t>
            </a:r>
          </a:p>
          <a:p>
            <a:endParaRPr dirty="0"/>
          </a:p>
          <a:p>
            <a:r>
              <a:rPr dirty="0"/>
              <a:t>- The failure modes ahead are failures of the relationship between observable and property — not arithmetic errors.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4 minutes — </a:t>
            </a:r>
            <a:r>
              <a:rPr i="1" dirty="0"/>
              <a:t>TPS on the enormous claim; let students generate the missing context.</a:t>
            </a:r>
          </a:p>
          <a:p>
            <a:endParaRPr dirty="0"/>
          </a:p>
          <a:p>
            <a:r>
              <a:rPr dirty="0"/>
              <a:t>- Expect: what does productivity mean? what metric? what conditions, population, period? compared with what? what changed? what was omitted?</a:t>
            </a:r>
          </a:p>
          <a:p>
            <a:r>
              <a:rPr dirty="0"/>
              <a:t>- Reveal the metric, then do NOT immediately call it bad — ask what inference is being made. The next slide does the real work.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The deeper lesson than 'commit counts are dumb': the assumed relationship is the object of engineering scrutiny.</a:t>
            </a:r>
          </a:p>
          <a:p>
            <a:endParaRPr dirty="0"/>
          </a:p>
          <a:p>
            <a:r>
              <a:rPr dirty="0"/>
              <a:t>- Many important properties can only be reached through proxies; that is normal, not a failure.</a:t>
            </a:r>
          </a:p>
          <a:p>
            <a:r>
              <a:rPr dirty="0"/>
              <a:t>- Discuss what would make the relationship valid: uniform work items? stable practices? no incentive pressure?</a:t>
            </a:r>
          </a:p>
          <a:p>
            <a:r>
              <a:rPr dirty="0"/>
              <a:t>- Teamwork already warned about commits and tickets — use it as a callback, not a novel claim.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3 minutes — </a:t>
            </a:r>
            <a:r>
              <a:rPr i="1" dirty="0"/>
              <a:t>Goodhart as relationship-destruction, not merely cheating.</a:t>
            </a:r>
          </a:p>
          <a:p>
            <a:endParaRPr dirty="0"/>
          </a:p>
          <a:p>
            <a:r>
              <a:rPr dirty="0"/>
              <a:t>- The interesting mechanism: optimizing the observable changes the practice that made the observable informative.</a:t>
            </a:r>
          </a:p>
          <a:p>
            <a:r>
              <a:rPr dirty="0"/>
              <a:t>- Connect to the surrogation reading: the metric is visible, the property is not, so attention migrates — nobody needs to act in bad faith.</a:t>
            </a:r>
          </a:p>
          <a:p>
            <a:r>
              <a:rPr dirty="0"/>
              <a:t>- State the law once, briefly; do not build a slogan slide.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Context determines evidentiary weight; two quick examples, no new machinery.</a:t>
            </a:r>
          </a:p>
          <a:p>
            <a:endParaRPr dirty="0"/>
          </a:p>
          <a:p>
            <a:r>
              <a:rPr dirty="0"/>
              <a:t>- Requirements churn is the Process callback: high change rate can be productive learning or weak requirements work — the question is whether the process still fits the work.</a:t>
            </a:r>
          </a:p>
          <a:p>
            <a:r>
              <a:rPr dirty="0"/>
              <a:t>- Accelerating out of the hazards section; keep this brisk.</a:t>
            </a:r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The usable residue of the metrics centre: four questions, no framework.</a:t>
            </a:r>
          </a:p>
          <a:p>
            <a:endParaRPr dirty="0"/>
          </a:p>
          <a:p>
            <a:r>
              <a:rPr dirty="0"/>
              <a:t>- Resist expansion; the value of this list is that students will actually remember it.</a:t>
            </a:r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0.3 minutes — </a:t>
            </a:r>
            <a:r>
              <a:rPr i="1" dirty="0"/>
              <a:t>Name Section 4. Accelerate: Validation taught much of the judgment material.</a:t>
            </a:r>
          </a:p>
          <a:p>
            <a:endParaRPr dirty="0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Expand the chain to judgment and action; deliver the Act I payoff.</a:t>
            </a:r>
          </a:p>
          <a:p>
            <a:endParaRPr dirty="0"/>
          </a:p>
          <a:p>
            <a:r>
              <a:rPr dirty="0"/>
              <a:t>- The chain grows two links; the accented boxes are where engineering re-enters.</a:t>
            </a:r>
          </a:p>
          <a:p>
            <a:r>
              <a:rPr dirty="0"/>
              <a:t>- The MEASURE / INFORMS chips are the exact beat that closed every Act I unit's 'Measurement for decision-making' section. Land the retrospective: THAT is what those sections were doing.</a:t>
            </a:r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Same evidence, different rational actions; a Validation callback, not a re-teach.</a:t>
            </a:r>
          </a:p>
          <a:p>
            <a:endParaRPr dirty="0"/>
          </a:p>
          <a:p>
            <a:r>
              <a:rPr dirty="0"/>
              <a:t>- Two engineers with the same 420-ms measurement can rationally decide differently — consequence, uncertainty, and reversibility differ.</a:t>
            </a:r>
          </a:p>
          <a:p>
            <a:r>
              <a:rPr dirty="0"/>
              <a:t>- Compress here under time pressure, never the metrics centre.</a:t>
            </a:r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Return to slide 2's question with the machinery now in hand.</a:t>
            </a:r>
          </a:p>
          <a:p>
            <a:endParaRPr dirty="0"/>
          </a:p>
          <a:p>
            <a:r>
              <a:rPr dirty="0"/>
              <a:t>- The visual echo of slide 2 is deliberate; students should feel the loop close.</a:t>
            </a:r>
          </a:p>
          <a:p>
            <a:r>
              <a:rPr dirty="0"/>
              <a:t>- Do not present the six actions as exhaustive or as always-available peers.</a:t>
            </a:r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2 minutes — </a:t>
            </a:r>
            <a:r>
              <a:rPr i="1" dirty="0"/>
              <a:t>The two questions joined into the recurring loop; the loop is the main visual.</a:t>
            </a:r>
          </a:p>
          <a:p>
            <a:endParaRPr dirty="0"/>
          </a:p>
          <a:p>
            <a:r>
              <a:rPr dirty="0"/>
              <a:t>- The AFTER question is how experience improves the models and judgment behind future decisions.</a:t>
            </a:r>
          </a:p>
          <a:p>
            <a:r>
              <a:rPr dirty="0"/>
              <a:t>- The italic line quietly foreshadows Failure-Aware Engineering (reality arrives uninvited; which model should change?). Do NOT teach that lecture here.</a:t>
            </a:r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 xml:space="preserve">1.5 minutes — </a:t>
            </a:r>
            <a:r>
              <a:rPr i="1" dirty="0"/>
              <a:t>Close on the Day 1 definition and the course argument in one chain. End there.</a:t>
            </a:r>
          </a:p>
          <a:p>
            <a:endParaRPr dirty="0"/>
          </a:p>
          <a:p>
            <a:r>
              <a:rPr dirty="0"/>
              <a:t>- The definition is verbatim from Day 1 — do not paraphrase it.</a:t>
            </a:r>
          </a:p>
          <a:p>
            <a:r>
              <a:rPr dirty="0"/>
              <a:t>- MODEL, OBSERVE, JUDGE, ACT, LEARN. Do not add another aphorism after the chain; let it end the act.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700000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Decision-Making and Metrics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Given incomplete knowledge, what should we observe — and what should we do with what we learn?</a:t>
            </a:r>
          </a:p>
          <a:p>
            <a:pPr algn="ctr">
              <a:buNone/>
            </a:pPr>
            <a:endParaRPr lang="en-US" sz="1000"/>
          </a:p>
          <a:p>
            <a:pPr algn="ctr">
              <a:spcBef>
                <a:spcPts val="400"/>
              </a:spcBef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CHAIN THIS LECTURE MAKES EXPLICIT</a:t>
            </a:r>
          </a:p>
        </p:txBody>
      </p:sp>
      <p:sp>
        <p:nvSpPr>
          <p:cNvPr id="102" name="T0"/>
          <p:cNvSpPr/>
          <p:nvPr/>
        </p:nvSpPr>
        <p:spPr>
          <a:xfrm>
            <a:off x="580644" y="4041648"/>
            <a:ext cx="1755648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2336292" y="4407408"/>
            <a:ext cx="32004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T1"/>
          <p:cNvSpPr/>
          <p:nvPr/>
        </p:nvSpPr>
        <p:spPr>
          <a:xfrm>
            <a:off x="2656332" y="4041648"/>
            <a:ext cx="1755648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METRIC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411980" y="4407408"/>
            <a:ext cx="32004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T2"/>
          <p:cNvSpPr/>
          <p:nvPr/>
        </p:nvSpPr>
        <p:spPr>
          <a:xfrm>
            <a:off x="4732020" y="4041648"/>
            <a:ext cx="1755648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MEASUREMENT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6487668" y="4407408"/>
            <a:ext cx="32004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T3"/>
          <p:cNvSpPr/>
          <p:nvPr/>
        </p:nvSpPr>
        <p:spPr>
          <a:xfrm>
            <a:off x="6807708" y="4041648"/>
            <a:ext cx="1755648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Every unit of Act I ended in a decision.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Today: the chain that turns what we observe into what we decide.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We need to make a decision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BigQ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3200" b="0" i="0" dirty="0">
                <a:solidFill>
                  <a:srgbClr val="000000"/>
                </a:solidFill>
              </a:rPr>
              <a:t>Given what we know, what should we do?</a:t>
            </a:r>
          </a:p>
        </p:txBody>
      </p:sp>
      <p:sp>
        <p:nvSpPr>
          <p:cNvPr id="101" name="U0"/>
          <p:cNvSpPr/>
          <p:nvPr/>
        </p:nvSpPr>
        <p:spPr>
          <a:xfrm>
            <a:off x="758952" y="2011680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02" name="Q0"/>
          <p:cNvSpPr/>
          <p:nvPr/>
        </p:nvSpPr>
        <p:spPr>
          <a:xfrm>
            <a:off x="3566160" y="2011680"/>
            <a:ext cx="47548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Make this commitment?</a:t>
            </a:r>
          </a:p>
        </p:txBody>
      </p:sp>
      <p:sp>
        <p:nvSpPr>
          <p:cNvPr id="103" name="U1"/>
          <p:cNvSpPr/>
          <p:nvPr/>
        </p:nvSpPr>
        <p:spPr>
          <a:xfrm>
            <a:off x="758952" y="2816352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04" name="Q1"/>
          <p:cNvSpPr/>
          <p:nvPr/>
        </p:nvSpPr>
        <p:spPr>
          <a:xfrm>
            <a:off x="3566160" y="2816352"/>
            <a:ext cx="47548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Choose this organization?</a:t>
            </a:r>
          </a:p>
        </p:txBody>
      </p:sp>
      <p:sp>
        <p:nvSpPr>
          <p:cNvPr id="105" name="U2"/>
          <p:cNvSpPr/>
          <p:nvPr/>
        </p:nvSpPr>
        <p:spPr>
          <a:xfrm>
            <a:off x="758952" y="3621024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DESIGN</a:t>
            </a:r>
          </a:p>
        </p:txBody>
      </p:sp>
      <p:sp>
        <p:nvSpPr>
          <p:cNvPr id="106" name="Q2"/>
          <p:cNvSpPr/>
          <p:nvPr/>
        </p:nvSpPr>
        <p:spPr>
          <a:xfrm>
            <a:off x="3566160" y="3621024"/>
            <a:ext cx="47548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Choose this mechanism?</a:t>
            </a:r>
          </a:p>
        </p:txBody>
      </p:sp>
      <p:sp>
        <p:nvSpPr>
          <p:cNvPr id="107" name="U3"/>
          <p:cNvSpPr/>
          <p:nvPr/>
        </p:nvSpPr>
        <p:spPr>
          <a:xfrm>
            <a:off x="758952" y="4425696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108" name="Q3"/>
          <p:cNvSpPr/>
          <p:nvPr/>
        </p:nvSpPr>
        <p:spPr>
          <a:xfrm>
            <a:off x="3566160" y="4425696"/>
            <a:ext cx="47548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Deliver?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274320" y="5138928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Different units. The same question.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Engineering activity repeatedly terminates in a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We have to decide before we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Decision"/>
          <p:cNvSpPr/>
          <p:nvPr/>
        </p:nvSpPr>
        <p:spPr>
          <a:xfrm>
            <a:off x="822960" y="2331720"/>
            <a:ext cx="20116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DECISION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017520" y="2743200"/>
            <a:ext cx="3108960" cy="0"/>
          </a:xfrm>
          <a:prstGeom prst="straightConnector1">
            <a:avLst/>
          </a:prstGeom>
          <a:ln w="44450">
            <a:solidFill>
              <a:srgbClr val="8E6F3E"/>
            </a:solidFill>
            <a:tailEnd type="triangle" w="med" len="med"/>
          </a:ln>
        </p:spPr>
      </p:cxnSp>
      <p:sp>
        <p:nvSpPr>
          <p:cNvPr id="102" name="Qmark"/>
          <p:cNvSpPr txBox="1"/>
          <p:nvPr/>
        </p:nvSpPr>
        <p:spPr>
          <a:xfrm>
            <a:off x="4160520" y="1874520"/>
            <a:ext cx="82296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03" name="Outcome"/>
          <p:cNvSpPr/>
          <p:nvPr/>
        </p:nvSpPr>
        <p:spPr>
          <a:xfrm>
            <a:off x="6309360" y="2331720"/>
            <a:ext cx="2011680" cy="822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104" name="Under"/>
          <p:cNvSpPr txBox="1"/>
          <p:nvPr/>
        </p:nvSpPr>
        <p:spPr>
          <a:xfrm>
            <a:off x="2468880" y="3703320"/>
            <a:ext cx="420624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models incomplete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evidence finite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outcomes future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action must occur before its consequences can be observed.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Good decision ≠ good outcome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Premise"/>
          <p:cNvSpPr/>
          <p:nvPr/>
        </p:nvSpPr>
        <p:spPr>
          <a:xfrm>
            <a:off x="274320" y="932688"/>
            <a:ext cx="8595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 xml:space="preserve">A good engineering decision is the decision </a:t>
            </a:r>
            <a:r>
              <a:rPr lang="en-US" sz="2000" b="1" i="0" dirty="0">
                <a:solidFill>
                  <a:srgbClr val="5C4826"/>
                </a:solidFill>
              </a:rPr>
              <a:t>best justified by the evidence available when it must be made.</a:t>
            </a:r>
          </a:p>
        </p:txBody>
      </p:sp>
      <p:sp>
        <p:nvSpPr>
          <p:cNvPr id="101" name="Scenario"/>
          <p:cNvSpPr/>
          <p:nvPr/>
        </p:nvSpPr>
        <p:spPr>
          <a:xfrm>
            <a:off x="274320" y="2029968"/>
            <a:ext cx="8595360" cy="1051560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Engineers deliver after obtaining evidence they reasonably judge sufficient.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An unforeseen condition later causes failure.</a:t>
            </a:r>
          </a:p>
        </p:txBody>
      </p:sp>
      <p:sp>
        <p:nvSpPr>
          <p:cNvPr id="102" name="TPSbadge"/>
          <p:cNvSpPr/>
          <p:nvPr/>
        </p:nvSpPr>
        <p:spPr>
          <a:xfrm>
            <a:off x="393192" y="3310128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>SHARE</a:t>
            </a:r>
          </a:p>
        </p:txBody>
      </p:sp>
      <p:sp>
        <p:nvSpPr>
          <p:cNvPr id="103" name="TpsPrompt"/>
          <p:cNvSpPr txBox="1"/>
          <p:nvPr/>
        </p:nvSpPr>
        <p:spPr>
          <a:xfrm>
            <a:off x="3685032" y="3310128"/>
            <a:ext cx="4727448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Was the original decision necessarily bad?</a:t>
            </a:r>
          </a:p>
        </p:txBody>
      </p:sp>
      <p:sp>
        <p:nvSpPr>
          <p:cNvPr id="104" name="Reveal"/>
          <p:cNvSpPr txBox="1"/>
          <p:nvPr/>
        </p:nvSpPr>
        <p:spPr>
          <a:xfrm>
            <a:off x="274320" y="4114800"/>
            <a:ext cx="8595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No — judge it by the justification available at the time.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Conversely, a weakly justified decision can succeed through luck.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Learn from outcomes; judge decisions by their justification.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Engineering keeps asking the question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Band0"/>
          <p:cNvSpPr/>
          <p:nvPr/>
        </p:nvSpPr>
        <p:spPr>
          <a:xfrm>
            <a:off x="2423160" y="932688"/>
            <a:ext cx="4297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REQUIREMENTS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0" i="1" dirty="0">
                <a:solidFill>
                  <a:srgbClr val="5C4826"/>
                </a:solidFill>
              </a:rPr>
              <a:t>Make a commitment?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591056"/>
            <a:ext cx="0" cy="201168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Band1"/>
          <p:cNvSpPr/>
          <p:nvPr/>
        </p:nvSpPr>
        <p:spPr>
          <a:xfrm>
            <a:off x="2423160" y="1792224"/>
            <a:ext cx="4297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SPECIFICATION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0" i="1" dirty="0">
                <a:solidFill>
                  <a:srgbClr val="5C4826"/>
                </a:solidFill>
              </a:rPr>
              <a:t>Allocate responsibility? Constrain this distinction?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450592"/>
            <a:ext cx="0" cy="201168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Band2"/>
          <p:cNvSpPr/>
          <p:nvPr/>
        </p:nvSpPr>
        <p:spPr>
          <a:xfrm>
            <a:off x="2423160" y="2651760"/>
            <a:ext cx="4297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ARCHITECTURE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0" i="1" dirty="0">
                <a:solidFill>
                  <a:srgbClr val="5C4826"/>
                </a:solidFill>
              </a:rPr>
              <a:t>Organize responsibilities and interactions?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310128"/>
            <a:ext cx="0" cy="201168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Band3"/>
          <p:cNvSpPr/>
          <p:nvPr/>
        </p:nvSpPr>
        <p:spPr>
          <a:xfrm>
            <a:off x="2423160" y="3511296"/>
            <a:ext cx="4297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DESIGN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0" i="1" dirty="0">
                <a:solidFill>
                  <a:srgbClr val="5C4826"/>
                </a:solidFill>
              </a:rPr>
              <a:t>Choose this mechanism?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169664"/>
            <a:ext cx="0" cy="201168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Band4"/>
          <p:cNvSpPr/>
          <p:nvPr/>
        </p:nvSpPr>
        <p:spPr>
          <a:xfrm>
            <a:off x="2423160" y="4370832"/>
            <a:ext cx="4297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VALIDATION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0" i="1" dirty="0">
                <a:solidFill>
                  <a:srgbClr val="5C4826"/>
                </a:solidFill>
              </a:rPr>
              <a:t>Deliver?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do we need to know to decide?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What do we need to know?</a:t>
            </a:r>
          </a:p>
        </p:txBody>
      </p:sp>
      <p:sp>
        <p:nvSpPr>
          <p:cNvPr id="10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let us reason before we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H0"/>
          <p:cNvSpPr txBox="1"/>
          <p:nvPr/>
        </p:nvSpPr>
        <p:spPr>
          <a:xfrm>
            <a:off x="484632" y="896112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SPECIFICATION</a:t>
            </a:r>
          </a:p>
        </p:txBody>
      </p:sp>
      <p:sp>
        <p:nvSpPr>
          <p:cNvPr id="101" name="C0"/>
          <p:cNvSpPr/>
          <p:nvPr/>
        </p:nvSpPr>
        <p:spPr>
          <a:xfrm>
            <a:off x="484632" y="1417320"/>
            <a:ext cx="25603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assumptions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obligations</a:t>
            </a:r>
          </a:p>
        </p:txBody>
      </p:sp>
      <p:sp>
        <p:nvSpPr>
          <p:cNvPr id="102" name="H1"/>
          <p:cNvSpPr txBox="1"/>
          <p:nvPr/>
        </p:nvSpPr>
        <p:spPr>
          <a:xfrm>
            <a:off x="3291840" y="896112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ARCHITECTURE</a:t>
            </a:r>
          </a:p>
        </p:txBody>
      </p:sp>
      <p:sp>
        <p:nvSpPr>
          <p:cNvPr id="103" name="C1"/>
          <p:cNvSpPr/>
          <p:nvPr/>
        </p:nvSpPr>
        <p:spPr>
          <a:xfrm>
            <a:off x="3291840" y="1417320"/>
            <a:ext cx="25603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organization →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predicted system properties</a:t>
            </a:r>
          </a:p>
        </p:txBody>
      </p:sp>
      <p:sp>
        <p:nvSpPr>
          <p:cNvPr id="104" name="H2"/>
          <p:cNvSpPr txBox="1"/>
          <p:nvPr/>
        </p:nvSpPr>
        <p:spPr>
          <a:xfrm>
            <a:off x="6099048" y="896112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DESIGN</a:t>
            </a:r>
          </a:p>
        </p:txBody>
      </p:sp>
      <p:sp>
        <p:nvSpPr>
          <p:cNvPr id="105" name="C2"/>
          <p:cNvSpPr/>
          <p:nvPr/>
        </p:nvSpPr>
        <p:spPr>
          <a:xfrm>
            <a:off x="6099048" y="1417320"/>
            <a:ext cx="25603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mechanism →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consequential tradeoffs</a:t>
            </a:r>
          </a:p>
        </p:txBody>
      </p:sp>
      <p:sp>
        <p:nvSpPr>
          <p:cNvPr id="106" name="Takeaway"/>
          <p:cNvSpPr/>
          <p:nvPr/>
        </p:nvSpPr>
        <p:spPr>
          <a:xfrm>
            <a:off x="274320" y="3337560"/>
            <a:ext cx="8595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A model identifies relationships we believe matter — before their consequences can be fully observed.</a:t>
            </a:r>
          </a:p>
        </p:txBody>
      </p:sp>
      <p:sp>
        <p:nvSpPr>
          <p:cNvPr id="107" name="Ital"/>
          <p:cNvSpPr txBox="1"/>
          <p:nvPr/>
        </p:nvSpPr>
        <p:spPr>
          <a:xfrm>
            <a:off x="274320" y="4526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The model does not make the decision.</a:t>
            </a:r>
          </a:p>
        </p:txBody>
      </p:sp>
      <p:sp>
        <p:nvSpPr>
          <p:cNvPr id="10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Models let us reason across the gap between deciding and knowing.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From decision to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Chain0"/>
          <p:cNvSpPr/>
          <p:nvPr/>
        </p:nvSpPr>
        <p:spPr>
          <a:xfrm>
            <a:off x="585216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DECISION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792224" y="1399032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Chain1"/>
          <p:cNvSpPr/>
          <p:nvPr/>
        </p:nvSpPr>
        <p:spPr>
          <a:xfrm>
            <a:off x="1938528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MODEL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3145536" y="1399032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Chain2"/>
          <p:cNvSpPr/>
          <p:nvPr/>
        </p:nvSpPr>
        <p:spPr>
          <a:xfrm>
            <a:off x="3291840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CONSEQUENTIAL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498848" y="1399032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Chain3"/>
          <p:cNvSpPr/>
          <p:nvPr/>
        </p:nvSpPr>
        <p:spPr>
          <a:xfrm>
            <a:off x="4645152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5852160" y="1399032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Chain4"/>
          <p:cNvSpPr/>
          <p:nvPr/>
        </p:nvSpPr>
        <p:spPr>
          <a:xfrm>
            <a:off x="5998464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09" name="C109"/>
          <p:cNvCxnSpPr/>
          <p:nvPr/>
        </p:nvCxnSpPr>
        <p:spPr>
          <a:xfrm>
            <a:off x="7205472" y="1399032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Chain5"/>
          <p:cNvSpPr/>
          <p:nvPr/>
        </p:nvSpPr>
        <p:spPr>
          <a:xfrm>
            <a:off x="7351776" y="1097280"/>
            <a:ext cx="120700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>ACTION</a:t>
            </a:r>
          </a:p>
        </p:txBody>
      </p:sp>
      <p:sp>
        <p:nvSpPr>
          <p:cNvPr id="111" name="ET0"/>
          <p:cNvSpPr txBox="1"/>
          <p:nvPr/>
        </p:nvSpPr>
        <p:spPr>
          <a:xfrm>
            <a:off x="411480" y="210312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decision</a:t>
            </a:r>
          </a:p>
        </p:txBody>
      </p:sp>
      <p:sp>
        <p:nvSpPr>
          <p:cNvPr id="112" name="ED0"/>
          <p:cNvSpPr txBox="1"/>
          <p:nvPr/>
        </p:nvSpPr>
        <p:spPr>
          <a:xfrm>
            <a:off x="3246120" y="2103120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tells us what question matters</a:t>
            </a:r>
          </a:p>
        </p:txBody>
      </p:sp>
      <p:sp>
        <p:nvSpPr>
          <p:cNvPr id="113" name="ET1"/>
          <p:cNvSpPr txBox="1"/>
          <p:nvPr/>
        </p:nvSpPr>
        <p:spPr>
          <a:xfrm>
            <a:off x="411480" y="2615184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14" name="ED1"/>
          <p:cNvSpPr txBox="1"/>
          <p:nvPr/>
        </p:nvSpPr>
        <p:spPr>
          <a:xfrm>
            <a:off x="3246120" y="2615184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identifies the relationships and properties relevant to it</a:t>
            </a:r>
          </a:p>
        </p:txBody>
      </p:sp>
      <p:sp>
        <p:nvSpPr>
          <p:cNvPr id="115" name="ET2"/>
          <p:cNvSpPr txBox="1"/>
          <p:nvPr/>
        </p:nvSpPr>
        <p:spPr>
          <a:xfrm>
            <a:off x="411480" y="3127248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consequential property</a:t>
            </a:r>
          </a:p>
        </p:txBody>
      </p:sp>
      <p:sp>
        <p:nvSpPr>
          <p:cNvPr id="116" name="ED2"/>
          <p:cNvSpPr txBox="1"/>
          <p:nvPr/>
        </p:nvSpPr>
        <p:spPr>
          <a:xfrm>
            <a:off x="3246120" y="3127248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what the model says will differ between alternatives</a:t>
            </a:r>
          </a:p>
        </p:txBody>
      </p:sp>
      <p:sp>
        <p:nvSpPr>
          <p:cNvPr id="117" name="ET3"/>
          <p:cNvSpPr txBox="1"/>
          <p:nvPr/>
        </p:nvSpPr>
        <p:spPr>
          <a:xfrm>
            <a:off x="411480" y="3639312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8" name="ED3"/>
          <p:cNvSpPr txBox="1"/>
          <p:nvPr/>
        </p:nvSpPr>
        <p:spPr>
          <a:xfrm>
            <a:off x="3246120" y="3639312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bears on those claims</a:t>
            </a:r>
          </a:p>
        </p:txBody>
      </p:sp>
      <p:sp>
        <p:nvSpPr>
          <p:cNvPr id="119" name="ET4"/>
          <p:cNvSpPr txBox="1"/>
          <p:nvPr/>
        </p:nvSpPr>
        <p:spPr>
          <a:xfrm>
            <a:off x="411480" y="4151376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judgment</a:t>
            </a:r>
          </a:p>
        </p:txBody>
      </p:sp>
      <p:sp>
        <p:nvSpPr>
          <p:cNvPr id="120" name="ED4"/>
          <p:cNvSpPr txBox="1"/>
          <p:nvPr/>
        </p:nvSpPr>
        <p:spPr>
          <a:xfrm>
            <a:off x="3246120" y="4151376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interprets the evidence in light of the stakes</a:t>
            </a:r>
          </a:p>
        </p:txBody>
      </p:sp>
      <p:sp>
        <p:nvSpPr>
          <p:cNvPr id="121" name="ET5"/>
          <p:cNvSpPr txBox="1"/>
          <p:nvPr/>
        </p:nvSpPr>
        <p:spPr>
          <a:xfrm>
            <a:off x="411480" y="4663440"/>
            <a:ext cx="26060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action</a:t>
            </a:r>
          </a:p>
        </p:txBody>
      </p:sp>
      <p:sp>
        <p:nvSpPr>
          <p:cNvPr id="122" name="ED5"/>
          <p:cNvSpPr txBox="1"/>
          <p:nvPr/>
        </p:nvSpPr>
        <p:spPr>
          <a:xfrm>
            <a:off x="3246120" y="4663440"/>
            <a:ext cx="5577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follows from judgment — not from the evidence alone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organizing model for the rest of the lecture.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takes many forms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Hub"/>
          <p:cNvSpPr/>
          <p:nvPr/>
        </p:nvSpPr>
        <p:spPr>
          <a:xfrm>
            <a:off x="3383280" y="1005840"/>
            <a:ext cx="237744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01" name="R10"/>
          <p:cNvSpPr/>
          <p:nvPr/>
        </p:nvSpPr>
        <p:spPr>
          <a:xfrm>
            <a:off x="274320" y="196596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Review</a:t>
            </a:r>
          </a:p>
        </p:txBody>
      </p:sp>
      <p:sp>
        <p:nvSpPr>
          <p:cNvPr id="102" name="R11"/>
          <p:cNvSpPr/>
          <p:nvPr/>
        </p:nvSpPr>
        <p:spPr>
          <a:xfrm>
            <a:off x="2404872" y="196596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Analysis</a:t>
            </a:r>
          </a:p>
        </p:txBody>
      </p:sp>
      <p:sp>
        <p:nvSpPr>
          <p:cNvPr id="103" name="R12"/>
          <p:cNvSpPr/>
          <p:nvPr/>
        </p:nvSpPr>
        <p:spPr>
          <a:xfrm>
            <a:off x="4535424" y="196596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Prototype</a:t>
            </a:r>
          </a:p>
        </p:txBody>
      </p:sp>
      <p:sp>
        <p:nvSpPr>
          <p:cNvPr id="104" name="R13"/>
          <p:cNvSpPr/>
          <p:nvPr/>
        </p:nvSpPr>
        <p:spPr>
          <a:xfrm>
            <a:off x="6665976" y="196596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Test</a:t>
            </a:r>
          </a:p>
        </p:txBody>
      </p:sp>
      <p:sp>
        <p:nvSpPr>
          <p:cNvPr id="105" name="R20"/>
          <p:cNvSpPr/>
          <p:nvPr/>
        </p:nvSpPr>
        <p:spPr>
          <a:xfrm>
            <a:off x="1197864" y="278892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8000" rIns="27432" bIns="1800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Experiment</a:t>
            </a:r>
          </a:p>
        </p:txBody>
      </p:sp>
      <p:sp>
        <p:nvSpPr>
          <p:cNvPr id="106" name="R21"/>
          <p:cNvSpPr/>
          <p:nvPr/>
        </p:nvSpPr>
        <p:spPr>
          <a:xfrm>
            <a:off x="3328416" y="278892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8000" rIns="27432" bIns="1800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Operational observation</a:t>
            </a:r>
          </a:p>
        </p:txBody>
      </p:sp>
      <p:sp>
        <p:nvSpPr>
          <p:cNvPr id="107" name="R22"/>
          <p:cNvSpPr/>
          <p:nvPr/>
        </p:nvSpPr>
        <p:spPr>
          <a:xfrm>
            <a:off x="5458968" y="2788920"/>
            <a:ext cx="19385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8000" rIns="27432" bIns="1800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Measurement</a:t>
            </a:r>
          </a:p>
        </p:txBody>
      </p:sp>
      <p:sp>
        <p:nvSpPr>
          <p:cNvPr id="108" name="Ital"/>
          <p:cNvSpPr txBox="1"/>
          <p:nvPr/>
        </p:nvSpPr>
        <p:spPr>
          <a:xfrm>
            <a:off x="274320" y="3886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Engineering evidence need not be quantitative.</a:t>
            </a:r>
          </a:p>
        </p:txBody>
      </p:sp>
      <p:sp>
        <p:nvSpPr>
          <p:cNvPr id="109" name="Trans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Many consequential properties can be investigated quantitatively — that path is measurement.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purpose of evidence is to reduce uncertainty that matters to a decision.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observation would change the decision?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10896" y="914400"/>
            <a:ext cx="395935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SPECIFICATION — AN ASSUMPTION</a:t>
            </a:r>
          </a:p>
        </p:txBody>
      </p:sp>
      <p:sp>
        <p:nvSpPr>
          <p:cNvPr id="101" name="CardL"/>
          <p:cNvSpPr/>
          <p:nvPr/>
        </p:nvSpPr>
        <p:spPr>
          <a:xfrm>
            <a:off x="310896" y="1353312"/>
            <a:ext cx="3959352" cy="33101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Assumption: upstream service responds within 5 s</a:t>
            </a:r>
          </a:p>
        </p:txBody>
      </p:sp>
      <p:sp>
        <p:nvSpPr>
          <p:cNvPr id="102" name="ChipL1"/>
          <p:cNvSpPr/>
          <p:nvPr/>
        </p:nvSpPr>
        <p:spPr>
          <a:xfrm>
            <a:off x="548640" y="2331720"/>
            <a:ext cx="1673352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300" b="0" i="1" dirty="0">
                <a:solidFill>
                  <a:srgbClr val="5C4826"/>
                </a:solidFill>
              </a:rPr>
              <a:t>assumed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≤ 5 s</a:t>
            </a:r>
          </a:p>
        </p:txBody>
      </p:sp>
      <p:sp>
        <p:nvSpPr>
          <p:cNvPr id="103" name="ChipL2"/>
          <p:cNvSpPr/>
          <p:nvPr/>
        </p:nvSpPr>
        <p:spPr>
          <a:xfrm>
            <a:off x="2359152" y="2331720"/>
            <a:ext cx="1673352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300" b="0" i="1" dirty="0">
                <a:solidFill>
                  <a:srgbClr val="C0392B"/>
                </a:solidFill>
              </a:rPr>
              <a:t>traces show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1" i="0" dirty="0">
                <a:solidFill>
                  <a:srgbClr val="C0392B"/>
                </a:solidFill>
              </a:rPr>
              <a:t>30 s</a:t>
            </a:r>
          </a:p>
        </p:txBody>
      </p:sp>
      <p:sp>
        <p:nvSpPr>
          <p:cNvPr id="104" name="QL"/>
          <p:cNvSpPr txBox="1"/>
          <p:nvPr/>
        </p:nvSpPr>
        <p:spPr>
          <a:xfrm>
            <a:off x="457200" y="333756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000000"/>
                </a:solidFill>
              </a:rPr>
              <a:t>Is the assumption acceptable?</a:t>
            </a:r>
          </a:p>
        </p:txBody>
      </p:sp>
      <p:sp>
        <p:nvSpPr>
          <p:cNvPr id="105" name="AL"/>
          <p:cNvSpPr txBox="1"/>
          <p:nvPr/>
        </p:nvSpPr>
        <p:spPr>
          <a:xfrm>
            <a:off x="457200" y="3794760"/>
            <a:ext cx="3657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Production traces bear directly on that decision.</a:t>
            </a:r>
          </a:p>
        </p:txBody>
      </p:sp>
      <p:sp>
        <p:nvSpPr>
          <p:cNvPr id="106" name="LblR"/>
          <p:cNvSpPr txBox="1"/>
          <p:nvPr/>
        </p:nvSpPr>
        <p:spPr>
          <a:xfrm>
            <a:off x="4873752" y="914400"/>
            <a:ext cx="395935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ARCHITECTURE — A CLAIM</a:t>
            </a:r>
          </a:p>
        </p:txBody>
      </p:sp>
      <p:sp>
        <p:nvSpPr>
          <p:cNvPr id="107" name="CardR"/>
          <p:cNvSpPr/>
          <p:nvPr/>
        </p:nvSpPr>
        <p:spPr>
          <a:xfrm>
            <a:off x="4873752" y="1353312"/>
            <a:ext cx="3959352" cy="33101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Claim: the request path completes within 200 ms</a:t>
            </a:r>
          </a:p>
        </p:txBody>
      </p:sp>
      <p:sp>
        <p:nvSpPr>
          <p:cNvPr id="108" name="P0"/>
          <p:cNvSpPr/>
          <p:nvPr/>
        </p:nvSpPr>
        <p:spPr>
          <a:xfrm>
            <a:off x="5138928" y="2395728"/>
            <a:ext cx="566928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000" tIns="9000" rIns="9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A</a:t>
            </a:r>
          </a:p>
        </p:txBody>
      </p:sp>
      <p:cxnSp>
        <p:nvCxnSpPr>
          <p:cNvPr id="109" name="C109"/>
          <p:cNvCxnSpPr/>
          <p:nvPr/>
        </p:nvCxnSpPr>
        <p:spPr>
          <a:xfrm>
            <a:off x="5705856" y="2647188"/>
            <a:ext cx="329184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0" name="P1"/>
          <p:cNvSpPr/>
          <p:nvPr/>
        </p:nvSpPr>
        <p:spPr>
          <a:xfrm>
            <a:off x="6035040" y="2395728"/>
            <a:ext cx="566928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000" tIns="9000" rIns="9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B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6601968" y="2647188"/>
            <a:ext cx="329184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2" name="P2"/>
          <p:cNvSpPr/>
          <p:nvPr/>
        </p:nvSpPr>
        <p:spPr>
          <a:xfrm>
            <a:off x="6931152" y="2395728"/>
            <a:ext cx="566928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000" tIns="9000" rIns="9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C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98080" y="2647188"/>
            <a:ext cx="329184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P3"/>
          <p:cNvSpPr/>
          <p:nvPr/>
        </p:nvSpPr>
        <p:spPr>
          <a:xfrm>
            <a:off x="7827264" y="2395728"/>
            <a:ext cx="566928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000" tIns="9000" rIns="9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D</a:t>
            </a:r>
          </a:p>
        </p:txBody>
      </p:sp>
      <p:sp>
        <p:nvSpPr>
          <p:cNvPr id="115" name="QR"/>
          <p:cNvSpPr txBox="1"/>
          <p:nvPr/>
        </p:nvSpPr>
        <p:spPr>
          <a:xfrm>
            <a:off x="5020056" y="333756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000000"/>
                </a:solidFill>
              </a:rPr>
              <a:t>Where must we observe it?</a:t>
            </a:r>
          </a:p>
        </p:txBody>
      </p:sp>
      <p:sp>
        <p:nvSpPr>
          <p:cNvPr id="116" name="AR"/>
          <p:cNvSpPr txBox="1"/>
          <p:nvPr/>
        </p:nvSpPr>
        <p:spPr>
          <a:xfrm>
            <a:off x="5020056" y="3794760"/>
            <a:ext cx="3657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End-to-end — that is where the property exists.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Once we know what property matters, we can ask how to make it observable.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From properties to measurements</a:t>
            </a:r>
          </a:p>
        </p:txBody>
      </p:sp>
      <p:sp>
        <p:nvSpPr>
          <p:cNvPr id="10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Property → Metric → Measurement →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0" name="Chain0"/>
          <p:cNvSpPr/>
          <p:nvPr/>
        </p:nvSpPr>
        <p:spPr>
          <a:xfrm>
            <a:off x="795528" y="1234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2395728" y="1554480"/>
            <a:ext cx="38404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Verb0"/>
          <p:cNvSpPr txBox="1"/>
          <p:nvPr/>
        </p:nvSpPr>
        <p:spPr>
          <a:xfrm>
            <a:off x="2075688" y="960120"/>
            <a:ext cx="10241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3" name="Chain1"/>
          <p:cNvSpPr/>
          <p:nvPr/>
        </p:nvSpPr>
        <p:spPr>
          <a:xfrm>
            <a:off x="2779776" y="1234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METRIC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4379976" y="1554480"/>
            <a:ext cx="38404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Verb1"/>
          <p:cNvSpPr txBox="1"/>
          <p:nvPr/>
        </p:nvSpPr>
        <p:spPr>
          <a:xfrm>
            <a:off x="4059936" y="960120"/>
            <a:ext cx="10241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6" name="Chain2"/>
          <p:cNvSpPr/>
          <p:nvPr/>
        </p:nvSpPr>
        <p:spPr>
          <a:xfrm>
            <a:off x="4764024" y="1234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MEASUREMENT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6364224" y="1554480"/>
            <a:ext cx="38404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Verb2"/>
          <p:cNvSpPr txBox="1"/>
          <p:nvPr/>
        </p:nvSpPr>
        <p:spPr>
          <a:xfrm>
            <a:off x="6044184" y="960120"/>
            <a:ext cx="102412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09" name="Chain3"/>
          <p:cNvSpPr/>
          <p:nvPr/>
        </p:nvSpPr>
        <p:spPr>
          <a:xfrm>
            <a:off x="6748272" y="1234440"/>
            <a:ext cx="16002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0" name="Def0"/>
          <p:cNvSpPr/>
          <p:nvPr/>
        </p:nvSpPr>
        <p:spPr>
          <a:xfrm>
            <a:off x="795528" y="2148840"/>
            <a:ext cx="16002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what we care about</a:t>
            </a:r>
          </a:p>
        </p:txBody>
      </p:sp>
      <p:sp>
        <p:nvSpPr>
          <p:cNvPr id="111" name="Def1"/>
          <p:cNvSpPr/>
          <p:nvPr/>
        </p:nvSpPr>
        <p:spPr>
          <a:xfrm>
            <a:off x="2779776" y="2148840"/>
            <a:ext cx="16002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how observations bear on it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00" b="0" i="1" dirty="0">
                <a:solidFill>
                  <a:srgbClr val="8E6F3E"/>
                </a:solidFill>
              </a:rPr>
              <a:t>the modeling choice</a:t>
            </a:r>
          </a:p>
        </p:txBody>
      </p:sp>
      <p:sp>
        <p:nvSpPr>
          <p:cNvPr id="112" name="Def2"/>
          <p:cNvSpPr/>
          <p:nvPr/>
        </p:nvSpPr>
        <p:spPr>
          <a:xfrm>
            <a:off x="4764024" y="2148840"/>
            <a:ext cx="16002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the result, under stated conditions</a:t>
            </a:r>
          </a:p>
        </p:txBody>
      </p:sp>
      <p:sp>
        <p:nvSpPr>
          <p:cNvPr id="113" name="Def3"/>
          <p:cNvSpPr/>
          <p:nvPr/>
        </p:nvSpPr>
        <p:spPr>
          <a:xfrm>
            <a:off x="6748272" y="2148840"/>
            <a:ext cx="16002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what the result supports</a:t>
            </a:r>
          </a:p>
        </p:txBody>
      </p:sp>
      <p:sp>
        <p:nvSpPr>
          <p:cNvPr id="114" name="Quote"/>
          <p:cNvSpPr/>
          <p:nvPr/>
        </p:nvSpPr>
        <p:spPr>
          <a:xfrm>
            <a:off x="274320" y="3657600"/>
            <a:ext cx="8595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 metric specifies how observations will bear on some aspect of a property.</a:t>
            </a:r>
          </a:p>
        </p:txBody>
      </p:sp>
      <p:sp>
        <p:nvSpPr>
          <p:cNvPr id="115" name="Ital"/>
          <p:cNvSpPr txBox="1"/>
          <p:nvPr/>
        </p:nvSpPr>
        <p:spPr>
          <a:xfrm>
            <a:off x="274320" y="4526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You met this chain in Validation. Today we unpack each link.</a:t>
            </a:r>
          </a:p>
        </p:txBody>
      </p:sp>
      <p:sp>
        <p:nvSpPr>
          <p:cNvPr id="1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metric holds the modeling choice. The measurement supplies values.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metric operationalizes a property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S0"/>
          <p:cNvSpPr/>
          <p:nvPr/>
        </p:nvSpPr>
        <p:spPr>
          <a:xfrm>
            <a:off x="502920" y="1234440"/>
            <a:ext cx="3611880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PROPERTY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end-to-end responsiveness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2304288" y="2130552"/>
            <a:ext cx="0" cy="310896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S1"/>
          <p:cNvSpPr/>
          <p:nvPr/>
        </p:nvSpPr>
        <p:spPr>
          <a:xfrm>
            <a:off x="502920" y="2441448"/>
            <a:ext cx="3611880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METRIC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p99 request latency under workload W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2304288" y="3337560"/>
            <a:ext cx="0" cy="310896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S2"/>
          <p:cNvSpPr/>
          <p:nvPr/>
        </p:nvSpPr>
        <p:spPr>
          <a:xfrm>
            <a:off x="502920" y="3648456"/>
            <a:ext cx="3611880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MEASUREMENT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420 ms</a:t>
            </a:r>
          </a:p>
        </p:txBody>
      </p:sp>
      <p:sp>
        <p:nvSpPr>
          <p:cNvPr id="105" name="OpDef"/>
          <p:cNvSpPr/>
          <p:nvPr/>
        </p:nvSpPr>
        <p:spPr>
          <a:xfrm>
            <a:off x="4526280" y="1234440"/>
            <a:ext cx="429768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45720" rIns="13716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OPERATIONALIZE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make an abstract property empirically assessable by specifying what will count as an observation of it</a:t>
            </a:r>
          </a:p>
        </p:txBody>
      </p:sp>
      <p:sp>
        <p:nvSpPr>
          <p:cNvPr id="106" name="NotItself"/>
          <p:cNvSpPr txBox="1"/>
          <p:nvPr/>
        </p:nvSpPr>
        <p:spPr>
          <a:xfrm>
            <a:off x="4526280" y="3154680"/>
            <a:ext cx="4297680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p99 latency is not responsiveness itself.</a:t>
            </a:r>
          </a:p>
          <a:p>
            <a:pPr algn="l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It is a chosen representation of one aspect of the property.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metric chooses which aspect of the property becomes observable.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Measurement parameterizes the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Eq"/>
          <p:cNvSpPr/>
          <p:nvPr/>
        </p:nvSpPr>
        <p:spPr>
          <a:xfrm>
            <a:off x="274320" y="960120"/>
            <a:ext cx="85953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end-to-end latency   =   service  +  queueing  +  communication  +  …</a:t>
            </a:r>
          </a:p>
        </p:txBody>
      </p:sp>
      <p:sp>
        <p:nvSpPr>
          <p:cNvPr id="101" name="LblL"/>
          <p:cNvSpPr txBox="1"/>
          <p:nvPr/>
        </p:nvSpPr>
        <p:spPr>
          <a:xfrm>
            <a:off x="310896" y="1920240"/>
            <a:ext cx="395935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BEFORE OBSERVATION</a:t>
            </a:r>
          </a:p>
        </p:txBody>
      </p:sp>
      <p:sp>
        <p:nvSpPr>
          <p:cNvPr id="102" name="CardL"/>
          <p:cNvSpPr/>
          <p:nvPr/>
        </p:nvSpPr>
        <p:spPr>
          <a:xfrm>
            <a:off x="310896" y="2340864"/>
            <a:ext cx="3959352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service = estimate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queueing = assumption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communication = estimate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306824" y="3118104"/>
            <a:ext cx="53035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LblR"/>
          <p:cNvSpPr txBox="1"/>
          <p:nvPr/>
        </p:nvSpPr>
        <p:spPr>
          <a:xfrm>
            <a:off x="4873752" y="1920240"/>
            <a:ext cx="395935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AFTER MEASUREMENT</a:t>
            </a:r>
          </a:p>
        </p:txBody>
      </p:sp>
      <p:sp>
        <p:nvSpPr>
          <p:cNvPr id="105" name="CardR"/>
          <p:cNvSpPr/>
          <p:nvPr/>
        </p:nvSpPr>
        <p:spPr>
          <a:xfrm>
            <a:off x="4873752" y="2340864"/>
            <a:ext cx="3959352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 xml:space="preserve">service = 180 ms </a:t>
            </a:r>
            <a:r>
              <a:rPr lang="en-US" sz="1700" b="0" i="1" dirty="0">
                <a:solidFill>
                  <a:srgbClr val="8E6F3E"/>
                </a:solidFill>
              </a:rPr>
              <a:t>observed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 xml:space="preserve">queueing = 130 ms </a:t>
            </a:r>
            <a:r>
              <a:rPr lang="en-US" sz="1700" b="0" i="1" dirty="0">
                <a:solidFill>
                  <a:srgbClr val="8E6F3E"/>
                </a:solidFill>
              </a:rPr>
              <a:t>observed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 xml:space="preserve">communication = 90 ms </a:t>
            </a:r>
            <a:r>
              <a:rPr lang="en-US" sz="1700" b="0" i="1" dirty="0">
                <a:solidFill>
                  <a:srgbClr val="8E6F3E"/>
                </a:solidFill>
              </a:rPr>
              <a:t>observed</a:t>
            </a:r>
          </a:p>
        </p:txBody>
      </p:sp>
      <p:sp>
        <p:nvSpPr>
          <p:cNvPr id="106" name="Two"/>
          <p:cNvSpPr txBox="1"/>
          <p:nvPr/>
        </p:nvSpPr>
        <p:spPr>
          <a:xfrm>
            <a:off x="274320" y="4160520"/>
            <a:ext cx="8595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 xml:space="preserve">1   </a:t>
            </a:r>
            <a:r>
              <a:rPr lang="en-US" sz="1700" b="0" i="0" dirty="0">
                <a:solidFill>
                  <a:srgbClr val="555960"/>
                </a:solidFill>
              </a:rPr>
              <a:t>Measurement supplies parameter values.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 xml:space="preserve">2   </a:t>
            </a:r>
            <a:r>
              <a:rPr lang="en-US" sz="1700" b="0" i="0" dirty="0">
                <a:solidFill>
                  <a:srgbClr val="555960"/>
                </a:solidFill>
              </a:rPr>
              <a:t>Measurement tests the model’s prediction against reality.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Measurement supplies observations to a model; it is not itself the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Conditions are part of the measurement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Big"/>
          <p:cNvSpPr txBox="1"/>
          <p:nvPr/>
        </p:nvSpPr>
        <p:spPr>
          <a:xfrm>
            <a:off x="274320" y="841248"/>
            <a:ext cx="859536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6600" b="1" i="0" dirty="0">
                <a:solidFill>
                  <a:srgbClr val="000000"/>
                </a:solidFill>
              </a:rPr>
              <a:t>420 ms</a:t>
            </a:r>
          </a:p>
        </p:txBody>
      </p:sp>
      <p:sp>
        <p:nvSpPr>
          <p:cNvPr id="101" name="Q"/>
          <p:cNvSpPr txBox="1"/>
          <p:nvPr/>
        </p:nvSpPr>
        <p:spPr>
          <a:xfrm>
            <a:off x="274320" y="192024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1" dirty="0">
                <a:solidFill>
                  <a:srgbClr val="8E6F3E"/>
                </a:solidFill>
              </a:rPr>
              <a:t>420 ms — what?</a:t>
            </a:r>
          </a:p>
        </p:txBody>
      </p:sp>
      <p:sp>
        <p:nvSpPr>
          <p:cNvPr id="102" name="C0"/>
          <p:cNvSpPr/>
          <p:nvPr/>
        </p:nvSpPr>
        <p:spPr>
          <a:xfrm>
            <a:off x="347472" y="2606040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which workload?</a:t>
            </a:r>
          </a:p>
        </p:txBody>
      </p:sp>
      <p:sp>
        <p:nvSpPr>
          <p:cNvPr id="103" name="C1"/>
          <p:cNvSpPr/>
          <p:nvPr/>
        </p:nvSpPr>
        <p:spPr>
          <a:xfrm>
            <a:off x="3246120" y="2606040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which percentile?</a:t>
            </a:r>
          </a:p>
        </p:txBody>
      </p:sp>
      <p:sp>
        <p:nvSpPr>
          <p:cNvPr id="104" name="C2"/>
          <p:cNvSpPr/>
          <p:nvPr/>
        </p:nvSpPr>
        <p:spPr>
          <a:xfrm>
            <a:off x="6144768" y="2606040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measured where?</a:t>
            </a:r>
          </a:p>
        </p:txBody>
      </p:sp>
      <p:sp>
        <p:nvSpPr>
          <p:cNvPr id="105" name="C3"/>
          <p:cNvSpPr/>
          <p:nvPr/>
        </p:nvSpPr>
        <p:spPr>
          <a:xfrm>
            <a:off x="347472" y="3447288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over what interval?</a:t>
            </a:r>
          </a:p>
        </p:txBody>
      </p:sp>
      <p:sp>
        <p:nvSpPr>
          <p:cNvPr id="106" name="C4"/>
          <p:cNvSpPr/>
          <p:nvPr/>
        </p:nvSpPr>
        <p:spPr>
          <a:xfrm>
            <a:off x="3246120" y="3447288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which configuration?</a:t>
            </a:r>
          </a:p>
        </p:txBody>
      </p:sp>
      <p:sp>
        <p:nvSpPr>
          <p:cNvPr id="107" name="C5"/>
          <p:cNvSpPr/>
          <p:nvPr/>
        </p:nvSpPr>
        <p:spPr>
          <a:xfrm>
            <a:off x="6144768" y="3447288"/>
            <a:ext cx="26517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13716" rIns="27432" bIns="13716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which request population?</a:t>
            </a:r>
          </a:p>
        </p:txBody>
      </p:sp>
      <p:sp>
        <p:nvSpPr>
          <p:cNvPr id="108" name="Meaningful"/>
          <p:cNvSpPr/>
          <p:nvPr/>
        </p:nvSpPr>
        <p:spPr>
          <a:xfrm>
            <a:off x="502920" y="4343400"/>
            <a:ext cx="8138160" cy="658368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p99 = 420 ms  ·  end-to-end  ·  workload W  ·  configuration C  ·  interval T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Changing the conditions can change what the measurement means.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Measure where the property exists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K0"/>
          <p:cNvSpPr/>
          <p:nvPr/>
        </p:nvSpPr>
        <p:spPr>
          <a:xfrm>
            <a:off x="1005840" y="1234440"/>
            <a:ext cx="123444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1" name="Chk0"/>
          <p:cNvSpPr txBox="1"/>
          <p:nvPr/>
        </p:nvSpPr>
        <p:spPr>
          <a:xfrm>
            <a:off x="1005840" y="201168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2240280" y="1577340"/>
            <a:ext cx="64008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3" name="K1"/>
          <p:cNvSpPr/>
          <p:nvPr/>
        </p:nvSpPr>
        <p:spPr>
          <a:xfrm>
            <a:off x="2880360" y="1234440"/>
            <a:ext cx="123444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4" name="Chk1"/>
          <p:cNvSpPr txBox="1"/>
          <p:nvPr/>
        </p:nvSpPr>
        <p:spPr>
          <a:xfrm>
            <a:off x="2880360" y="201168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114800" y="1577340"/>
            <a:ext cx="64008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K2"/>
          <p:cNvSpPr/>
          <p:nvPr/>
        </p:nvSpPr>
        <p:spPr>
          <a:xfrm>
            <a:off x="4754880" y="1234440"/>
            <a:ext cx="123444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7" name="Chk2"/>
          <p:cNvSpPr txBox="1"/>
          <p:nvPr/>
        </p:nvSpPr>
        <p:spPr>
          <a:xfrm>
            <a:off x="4754880" y="201168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08" name="C108"/>
          <p:cNvCxnSpPr/>
          <p:nvPr/>
        </p:nvCxnSpPr>
        <p:spPr>
          <a:xfrm>
            <a:off x="5989320" y="1577340"/>
            <a:ext cx="64008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K3"/>
          <p:cNvSpPr/>
          <p:nvPr/>
        </p:nvSpPr>
        <p:spPr>
          <a:xfrm>
            <a:off x="6629400" y="1234440"/>
            <a:ext cx="123444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</a:t>
            </a:r>
          </a:p>
        </p:txBody>
      </p:sp>
      <p:sp>
        <p:nvSpPr>
          <p:cNvPr id="110" name="Chk3"/>
          <p:cNvSpPr txBox="1"/>
          <p:nvPr/>
        </p:nvSpPr>
        <p:spPr>
          <a:xfrm>
            <a:off x="6629400" y="201168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1005840" y="2788920"/>
            <a:ext cx="676656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Cross"/>
          <p:cNvSpPr txBox="1"/>
          <p:nvPr/>
        </p:nvSpPr>
        <p:spPr>
          <a:xfrm>
            <a:off x="4069080" y="2852928"/>
            <a:ext cx="822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13" name="PathLbl"/>
          <p:cNvSpPr txBox="1"/>
          <p:nvPr/>
        </p:nvSpPr>
        <p:spPr>
          <a:xfrm>
            <a:off x="274320" y="340156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the composed path — where the end-to-end property lives</a:t>
            </a:r>
          </a:p>
        </p:txBody>
      </p:sp>
      <p:sp>
        <p:nvSpPr>
          <p:cNvPr id="114" name="Principle"/>
          <p:cNvSpPr/>
          <p:nvPr/>
        </p:nvSpPr>
        <p:spPr>
          <a:xfrm>
            <a:off x="274320" y="3931920"/>
            <a:ext cx="8595360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Measure at the scope where the property exists.</a:t>
            </a:r>
          </a:p>
        </p:txBody>
      </p:sp>
      <p:sp>
        <p:nvSpPr>
          <p:cNvPr id="115" name="Ex"/>
          <p:cNvSpPr txBox="1"/>
          <p:nvPr/>
        </p:nvSpPr>
        <p:spPr>
          <a:xfrm>
            <a:off x="274320" y="4736592"/>
            <a:ext cx="8595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component latency  ≠  end-to-end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service availability  ≠  system availability when dependencies fail together</a:t>
            </a:r>
          </a:p>
        </p:txBody>
      </p:sp>
      <p:sp>
        <p:nvSpPr>
          <p:cNvPr id="1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Local measurement cannot establish a composed property.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Direct and indirect measurement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10896" y="91440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RELATIVELY DIRECT</a:t>
            </a:r>
          </a:p>
        </p:txBody>
      </p:sp>
      <p:sp>
        <p:nvSpPr>
          <p:cNvPr id="101" name="CardL"/>
          <p:cNvSpPr/>
          <p:nvPr/>
        </p:nvSpPr>
        <p:spPr>
          <a:xfrm>
            <a:off x="310896" y="1389888"/>
            <a:ext cx="3959352" cy="2240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Property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request latency</a:t>
            </a:r>
          </a:p>
          <a:p>
            <a:pPr algn="ctr">
              <a:buNone/>
            </a:pPr>
            <a:endParaRPr lang="en-US" sz="600"/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Observable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elapsed time of the request</a:t>
            </a:r>
          </a:p>
          <a:p>
            <a:pPr algn="ctr">
              <a:buNone/>
            </a:pPr>
            <a:endParaRPr lang="en-US" sz="600"/>
          </a:p>
          <a:p>
            <a:pPr algn="ctr">
              <a:spcBef>
                <a:spcPts val="16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short inferential distance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873752" y="91440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INDIRECT — A PROXY</a:t>
            </a:r>
          </a:p>
        </p:txBody>
      </p:sp>
      <p:sp>
        <p:nvSpPr>
          <p:cNvPr id="103" name="CardR"/>
          <p:cNvSpPr/>
          <p:nvPr/>
        </p:nvSpPr>
        <p:spPr>
          <a:xfrm>
            <a:off x="4873752" y="1389888"/>
            <a:ext cx="3959352" cy="2240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Property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usability</a:t>
            </a:r>
          </a:p>
          <a:p>
            <a:pPr algn="ctr">
              <a:buNone/>
            </a:pPr>
            <a:endParaRPr lang="en-US" sz="600"/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Possible observations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task completion · errors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hesitation · questionnaire responses</a:t>
            </a:r>
          </a:p>
          <a:p>
            <a:pPr algn="ctr">
              <a:buNone/>
            </a:pPr>
            <a:endParaRPr lang="en-US" sz="600"/>
          </a:p>
          <a:p>
            <a:pPr algn="ctr">
              <a:spcBef>
                <a:spcPts val="16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a longer inferential distance</a:t>
            </a:r>
          </a:p>
        </p:txBody>
      </p:sp>
      <p:sp>
        <p:nvSpPr>
          <p:cNvPr id="104" name="Bottom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When the property cannot be observed directly, the metric models the relationship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between what we can observe and what we want to know.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Directness is a matter of degree — not a binary found in nature.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Metrics leave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274320" y="987552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p99 latency</a:t>
            </a:r>
          </a:p>
        </p:txBody>
      </p:sp>
      <p:sp>
        <p:nvSpPr>
          <p:cNvPr id="101" name="O0"/>
          <p:cNvSpPr/>
          <p:nvPr/>
        </p:nvSpPr>
        <p:spPr>
          <a:xfrm>
            <a:off x="3310128" y="987552"/>
            <a:ext cx="5559552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omits the slowest 1%</a:t>
            </a:r>
          </a:p>
        </p:txBody>
      </p:sp>
      <p:sp>
        <p:nvSpPr>
          <p:cNvPr id="102" name="M1"/>
          <p:cNvSpPr/>
          <p:nvPr/>
        </p:nvSpPr>
        <p:spPr>
          <a:xfrm>
            <a:off x="274320" y="1719072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mean latency</a:t>
            </a:r>
          </a:p>
        </p:txBody>
      </p:sp>
      <p:sp>
        <p:nvSpPr>
          <p:cNvPr id="103" name="O1"/>
          <p:cNvSpPr/>
          <p:nvPr/>
        </p:nvSpPr>
        <p:spPr>
          <a:xfrm>
            <a:off x="3310128" y="1719072"/>
            <a:ext cx="5559552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hides the distribution</a:t>
            </a:r>
          </a:p>
        </p:txBody>
      </p:sp>
      <p:sp>
        <p:nvSpPr>
          <p:cNvPr id="104" name="M2"/>
          <p:cNvSpPr/>
          <p:nvPr/>
        </p:nvSpPr>
        <p:spPr>
          <a:xfrm>
            <a:off x="274320" y="2450592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task completion</a:t>
            </a:r>
          </a:p>
        </p:txBody>
      </p:sp>
      <p:sp>
        <p:nvSpPr>
          <p:cNvPr id="105" name="O2"/>
          <p:cNvSpPr/>
          <p:nvPr/>
        </p:nvSpPr>
        <p:spPr>
          <a:xfrm>
            <a:off x="3310128" y="2450592"/>
            <a:ext cx="5559552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may omit frustration</a:t>
            </a:r>
          </a:p>
        </p:txBody>
      </p:sp>
      <p:sp>
        <p:nvSpPr>
          <p:cNvPr id="106" name="M3"/>
          <p:cNvSpPr/>
          <p:nvPr/>
        </p:nvSpPr>
        <p:spPr>
          <a:xfrm>
            <a:off x="274320" y="3182112"/>
            <a:ext cx="292608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defect count</a:t>
            </a:r>
          </a:p>
        </p:txBody>
      </p:sp>
      <p:sp>
        <p:nvSpPr>
          <p:cNvPr id="107" name="O3"/>
          <p:cNvSpPr/>
          <p:nvPr/>
        </p:nvSpPr>
        <p:spPr>
          <a:xfrm>
            <a:off x="3310128" y="3182112"/>
            <a:ext cx="5559552" cy="62179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depends on what counts — and what gets found</a:t>
            </a:r>
          </a:p>
        </p:txBody>
      </p:sp>
      <p:sp>
        <p:nvSpPr>
          <p:cNvPr id="108" name="Principle"/>
          <p:cNvSpPr txBox="1"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>Every operationalization is a reduction.</a:t>
            </a:r>
          </a:p>
        </p:txBody>
      </p:sp>
      <p:sp>
        <p:nvSpPr>
          <p:cNvPr id="109" name="Ital"/>
          <p:cNvSpPr txBox="1"/>
          <p:nvPr/>
        </p:nvSpPr>
        <p:spPr>
          <a:xfrm>
            <a:off x="274320" y="470916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Know what the metric represents — and what it leaves unresolved.</a:t>
            </a:r>
          </a:p>
        </p:txBody>
      </p:sp>
      <p:sp>
        <p:nvSpPr>
          <p:cNvPr id="1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Reduction is why metrics are useful — and why interpretation is required.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When metrics mislead</a:t>
            </a:r>
          </a:p>
        </p:txBody>
      </p:sp>
      <p:sp>
        <p:nvSpPr>
          <p:cNvPr id="10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54480"/>
            <a:ext cx="7772400" cy="132588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“Developer productivity</a:t>
            </a:r>
          </a:p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increased 22%.”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0" name="Rule"/>
          <p:cNvSpPr/>
          <p:nvPr/>
        </p:nvSpPr>
        <p:spPr>
          <a:xfrm>
            <a:off x="3429000" y="31546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  <p:sp>
        <p:nvSpPr>
          <p:cNvPr id="101" name="TPSbadge"/>
          <p:cNvSpPr/>
          <p:nvPr/>
        </p:nvSpPr>
        <p:spPr>
          <a:xfrm>
            <a:off x="3017520" y="3474720"/>
            <a:ext cx="3108960" cy="512064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>SHARE</a:t>
            </a:r>
          </a:p>
        </p:txBody>
      </p:sp>
      <p:sp>
        <p:nvSpPr>
          <p:cNvPr id="102" name="Prompt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>What would you need to know before this claim meant anything?</a:t>
            </a:r>
          </a:p>
        </p:txBody>
      </p:sp>
      <p:sp>
        <p:nvSpPr>
          <p:cNvPr id="103" name="Reveal"/>
          <p:cNvSpPr txBox="1"/>
          <p:nvPr/>
        </p:nvSpPr>
        <p:spPr>
          <a:xfrm>
            <a:off x="685800" y="4983480"/>
            <a:ext cx="7772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metric behind the claim: commits / engineer / week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inference is being made?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Proxy metrics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0" name="Prop"/>
          <p:cNvSpPr/>
          <p:nvPr/>
        </p:nvSpPr>
        <p:spPr>
          <a:xfrm>
            <a:off x="2743200" y="1005840"/>
            <a:ext cx="365760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PROPERTY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engineering productivity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874520"/>
            <a:ext cx="0" cy="50292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Rel"/>
          <p:cNvSpPr txBox="1"/>
          <p:nvPr/>
        </p:nvSpPr>
        <p:spPr>
          <a:xfrm>
            <a:off x="4919472" y="1938528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assumed relationship</a:t>
            </a:r>
          </a:p>
        </p:txBody>
      </p:sp>
      <p:sp>
        <p:nvSpPr>
          <p:cNvPr id="103" name="Obs"/>
          <p:cNvSpPr/>
          <p:nvPr/>
        </p:nvSpPr>
        <p:spPr>
          <a:xfrm>
            <a:off x="2743200" y="2377440"/>
            <a:ext cx="365760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OBSERVABLE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commits / engineer / week</a:t>
            </a:r>
          </a:p>
        </p:txBody>
      </p:sp>
      <p:sp>
        <p:nvSpPr>
          <p:cNvPr id="104" name="Question"/>
          <p:cNvSpPr/>
          <p:nvPr/>
        </p:nvSpPr>
        <p:spPr>
          <a:xfrm>
            <a:off x="502920" y="3703320"/>
            <a:ext cx="8138160" cy="777240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What must be true for this observation to provide useful evidence about the property?</a:t>
            </a:r>
          </a:p>
        </p:txBody>
      </p:sp>
      <p:sp>
        <p:nvSpPr>
          <p:cNvPr id="105" name="Callback"/>
          <p:cNvSpPr txBox="1"/>
          <p:nvPr/>
        </p:nvSpPr>
        <p:spPr>
          <a:xfrm>
            <a:off x="274320" y="480060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Teamwork’s warning, generalized: commit counts and tickets closed are poor substitutes for capability.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proxy is not inherently bad. Understand — and defend —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Goodhart’s Law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10896" y="91440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BEFORE TARGETING</a:t>
            </a:r>
          </a:p>
        </p:txBody>
      </p:sp>
      <p:sp>
        <p:nvSpPr>
          <p:cNvPr id="101" name="CardL"/>
          <p:cNvSpPr/>
          <p:nvPr/>
        </p:nvSpPr>
        <p:spPr>
          <a:xfrm>
            <a:off x="310896" y="1389888"/>
            <a:ext cx="3959352" cy="1600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commits  ──►  useful output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an empirical relationship — it can hold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873752" y="91440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AFTER TARGETING</a:t>
            </a:r>
          </a:p>
        </p:txBody>
      </p:sp>
      <p:sp>
        <p:nvSpPr>
          <p:cNvPr id="103" name="CardR"/>
          <p:cNvSpPr/>
          <p:nvPr/>
        </p:nvSpPr>
        <p:spPr>
          <a:xfrm>
            <a:off x="4873752" y="1389888"/>
            <a:ext cx="3959352" cy="1600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Target: increase commits / engineer / week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commits rise — useful output need not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the informative practice itself changed</a:t>
            </a:r>
          </a:p>
        </p:txBody>
      </p:sp>
      <p:sp>
        <p:nvSpPr>
          <p:cNvPr id="104" name="Law"/>
          <p:cNvSpPr/>
          <p:nvPr/>
        </p:nvSpPr>
        <p:spPr>
          <a:xfrm>
            <a:off x="274320" y="3520440"/>
            <a:ext cx="8595360" cy="658368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Goodhart’s Law: when a measure becomes a target, it ceases to be a good measure.</a:t>
            </a:r>
          </a:p>
        </p:txBody>
      </p:sp>
      <p:sp>
        <p:nvSpPr>
          <p:cNvPr id="105" name="Ital"/>
          <p:cNvSpPr txBox="1"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000000"/>
                </a:solidFill>
              </a:rPr>
              <a:t>No bad faith required — attention migrates to what is visible.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Optimization can destroy what made the proxy informative.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Metrics do not have context-free meanings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310896" y="96012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p99 LATENCY</a:t>
            </a:r>
          </a:p>
        </p:txBody>
      </p:sp>
      <p:sp>
        <p:nvSpPr>
          <p:cNvPr id="101" name="CardL"/>
          <p:cNvSpPr/>
          <p:nvPr/>
        </p:nvSpPr>
        <p:spPr>
          <a:xfrm>
            <a:off x="310896" y="1444752"/>
            <a:ext cx="3959352" cy="1965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strong evidence under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deployment and workload A</a:t>
            </a:r>
          </a:p>
          <a:p>
            <a:pPr algn="ctr">
              <a:buNone/>
            </a:pPr>
            <a:endParaRPr lang="en-US" sz="500"/>
          </a:p>
          <a:p>
            <a:pPr algn="ctr">
              <a:spcBef>
                <a:spcPts val="14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potentially weak evidence under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deployment and workload B</a:t>
            </a:r>
          </a:p>
        </p:txBody>
      </p:sp>
      <p:sp>
        <p:nvSpPr>
          <p:cNvPr id="102" name="LblR"/>
          <p:cNvSpPr txBox="1"/>
          <p:nvPr/>
        </p:nvSpPr>
        <p:spPr>
          <a:xfrm>
            <a:off x="4873752" y="960120"/>
            <a:ext cx="3959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REQUIREMENTS CHURN</a:t>
            </a:r>
          </a:p>
        </p:txBody>
      </p:sp>
      <p:sp>
        <p:nvSpPr>
          <p:cNvPr id="103" name="CardR"/>
          <p:cNvSpPr/>
          <p:nvPr/>
        </p:nvSpPr>
        <p:spPr>
          <a:xfrm>
            <a:off x="4873752" y="1444752"/>
            <a:ext cx="3959352" cy="1965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productive discovery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in one process</a:t>
            </a:r>
          </a:p>
          <a:p>
            <a:pPr algn="ctr">
              <a:buNone/>
            </a:pPr>
            <a:endParaRPr lang="en-US" sz="500"/>
          </a:p>
          <a:p>
            <a:pPr algn="ctr">
              <a:spcBef>
                <a:spcPts val="140"/>
              </a:spcBef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instability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in another</a:t>
            </a:r>
          </a:p>
        </p:txBody>
      </p:sp>
      <p:sp>
        <p:nvSpPr>
          <p:cNvPr id="104" name="Bottom"/>
          <p:cNvSpPr/>
          <p:nvPr/>
        </p:nvSpPr>
        <p:spPr>
          <a:xfrm>
            <a:off x="274320" y="3794760"/>
            <a:ext cx="859536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A metric acquires meaning through the property, conditions, and decision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for which it is being used.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same metric can be strong evidence in one context and weak in another.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Before using a metric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100" name="Q0"/>
          <p:cNvSpPr/>
          <p:nvPr/>
        </p:nvSpPr>
        <p:spPr>
          <a:xfrm>
            <a:off x="758952" y="1188720"/>
            <a:ext cx="7626096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45720" rIns="13716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1    </a:t>
            </a:r>
            <a:r>
              <a:rPr lang="en-US" sz="2000" b="0" i="0" dirty="0">
                <a:solidFill>
                  <a:srgbClr val="5C4826"/>
                </a:solidFill>
              </a:rPr>
              <a:t>What property do we care about?</a:t>
            </a:r>
          </a:p>
        </p:txBody>
      </p:sp>
      <p:sp>
        <p:nvSpPr>
          <p:cNvPr id="101" name="Q1"/>
          <p:cNvSpPr/>
          <p:nvPr/>
        </p:nvSpPr>
        <p:spPr>
          <a:xfrm>
            <a:off x="758952" y="2084832"/>
            <a:ext cx="7626096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45720" rIns="13716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2    </a:t>
            </a:r>
            <a:r>
              <a:rPr lang="en-US" sz="2000" b="0" i="0" dirty="0">
                <a:solidFill>
                  <a:srgbClr val="5C4826"/>
                </a:solidFill>
              </a:rPr>
              <a:t>What observation represents it?</a:t>
            </a:r>
          </a:p>
        </p:txBody>
      </p:sp>
      <p:sp>
        <p:nvSpPr>
          <p:cNvPr id="102" name="Q2"/>
          <p:cNvSpPr/>
          <p:nvPr/>
        </p:nvSpPr>
        <p:spPr>
          <a:xfrm>
            <a:off x="758952" y="2980944"/>
            <a:ext cx="7626096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45720" rIns="13716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3    </a:t>
            </a:r>
            <a:r>
              <a:rPr lang="en-US" sz="2000" b="0" i="0" dirty="0">
                <a:solidFill>
                  <a:srgbClr val="5C4826"/>
                </a:solidFill>
              </a:rPr>
              <a:t>Under what conditions?</a:t>
            </a:r>
          </a:p>
        </p:txBody>
      </p:sp>
      <p:sp>
        <p:nvSpPr>
          <p:cNvPr id="103" name="Q3"/>
          <p:cNvSpPr/>
          <p:nvPr/>
        </p:nvSpPr>
        <p:spPr>
          <a:xfrm>
            <a:off x="758952" y="3877056"/>
            <a:ext cx="7626096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45720" rIns="137160" bIns="45720" anchor="ctr"/>
          <a:lstStyle/>
          <a:p>
            <a:pPr algn="l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 xml:space="preserve">4    </a:t>
            </a:r>
            <a:r>
              <a:rPr lang="en-US" sz="2000" b="0" i="0" dirty="0">
                <a:solidFill>
                  <a:srgbClr val="5C4826"/>
                </a:solidFill>
              </a:rPr>
              <a:t>What does the observation leave unresolved?</a:t>
            </a:r>
          </a:p>
        </p:txBody>
      </p:sp>
      <p:sp>
        <p:nvSpPr>
          <p:cNvPr id="104" name="Ital"/>
          <p:cNvSpPr txBox="1"/>
          <p:nvPr/>
        </p:nvSpPr>
        <p:spPr>
          <a:xfrm>
            <a:off x="274320" y="493776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>Four questions — small enough to remember.</a:t>
            </a:r>
          </a:p>
        </p:txBody>
      </p:sp>
      <p:sp>
        <p:nvSpPr>
          <p:cNvPr id="10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them before the number is allowed to mean anything.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>From measurement to action</a:t>
            </a:r>
          </a:p>
        </p:txBody>
      </p:sp>
      <p:sp>
        <p:nvSpPr>
          <p:cNvPr id="100" name="SectionLabel"/>
          <p:cNvSpPr txBox="1"/>
          <p:nvPr/>
        </p:nvSpPr>
        <p:spPr>
          <a:xfrm>
            <a:off x="685800" y="173736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Measurements become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0" name="Chain0"/>
          <p:cNvSpPr/>
          <p:nvPr/>
        </p:nvSpPr>
        <p:spPr>
          <a:xfrm>
            <a:off x="585216" y="1280160"/>
            <a:ext cx="1207008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792224" y="1545336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Verb0"/>
          <p:cNvSpPr txBox="1"/>
          <p:nvPr/>
        </p:nvSpPr>
        <p:spPr>
          <a:xfrm>
            <a:off x="1472184" y="1005840"/>
            <a:ext cx="78638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90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3" name="Chain1"/>
          <p:cNvSpPr/>
          <p:nvPr/>
        </p:nvSpPr>
        <p:spPr>
          <a:xfrm>
            <a:off x="1938528" y="1280160"/>
            <a:ext cx="1207008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METRIC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145536" y="1545336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Verb1"/>
          <p:cNvSpPr txBox="1"/>
          <p:nvPr/>
        </p:nvSpPr>
        <p:spPr>
          <a:xfrm>
            <a:off x="2825496" y="1005840"/>
            <a:ext cx="78638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90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6" name="Chain2"/>
          <p:cNvSpPr/>
          <p:nvPr/>
        </p:nvSpPr>
        <p:spPr>
          <a:xfrm>
            <a:off x="3291840" y="1280160"/>
            <a:ext cx="1207008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MEASUREMENT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498848" y="1545336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Verb2"/>
          <p:cNvSpPr txBox="1"/>
          <p:nvPr/>
        </p:nvSpPr>
        <p:spPr>
          <a:xfrm>
            <a:off x="4178808" y="1005840"/>
            <a:ext cx="78638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90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09" name="Chain3"/>
          <p:cNvSpPr/>
          <p:nvPr/>
        </p:nvSpPr>
        <p:spPr>
          <a:xfrm>
            <a:off x="4645152" y="1280160"/>
            <a:ext cx="1207008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852160" y="1545336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Verb3"/>
          <p:cNvSpPr txBox="1"/>
          <p:nvPr/>
        </p:nvSpPr>
        <p:spPr>
          <a:xfrm>
            <a:off x="5532120" y="1005840"/>
            <a:ext cx="78638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90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2" name="Chain4"/>
          <p:cNvSpPr/>
          <p:nvPr/>
        </p:nvSpPr>
        <p:spPr>
          <a:xfrm>
            <a:off x="5998464" y="1280160"/>
            <a:ext cx="1207008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205472" y="1545336"/>
            <a:ext cx="146304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4" name="Verb4"/>
          <p:cNvSpPr txBox="1"/>
          <p:nvPr/>
        </p:nvSpPr>
        <p:spPr>
          <a:xfrm>
            <a:off x="6885432" y="1005840"/>
            <a:ext cx="786384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900" b="0" i="1" dirty="0">
                <a:solidFill>
                  <a:srgbClr val="555960"/>
                </a:solidFill>
              </a:rPr>
              <a:t>determines</a:t>
            </a:r>
          </a:p>
        </p:txBody>
      </p:sp>
      <p:sp>
        <p:nvSpPr>
          <p:cNvPr id="115" name="Chain5"/>
          <p:cNvSpPr/>
          <p:nvPr/>
        </p:nvSpPr>
        <p:spPr>
          <a:xfrm>
            <a:off x="7351776" y="1280160"/>
            <a:ext cx="1207008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16" name="Big"/>
          <p:cNvSpPr txBox="1"/>
          <p:nvPr/>
        </p:nvSpPr>
        <p:spPr>
          <a:xfrm>
            <a:off x="274320" y="2286000"/>
            <a:ext cx="859536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3000" b="1" i="0" dirty="0">
                <a:solidFill>
                  <a:srgbClr val="000000"/>
                </a:solidFill>
              </a:rPr>
              <a:t>A number does not decide what to do.</a:t>
            </a:r>
          </a:p>
        </p:txBody>
      </p:sp>
      <p:sp>
        <p:nvSpPr>
          <p:cNvPr id="117" name="Expl"/>
          <p:cNvSpPr txBox="1"/>
          <p:nvPr/>
        </p:nvSpPr>
        <p:spPr>
          <a:xfrm>
            <a:off x="274320" y="3154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The metric and its conditions give the number evidentiary meaning.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Engineering judgment connects that evidence to action.</a:t>
            </a:r>
          </a:p>
        </p:txBody>
      </p:sp>
      <p:sp>
        <p:nvSpPr>
          <p:cNvPr id="118" name="MeasureChip"/>
          <p:cNvSpPr/>
          <p:nvPr/>
        </p:nvSpPr>
        <p:spPr>
          <a:xfrm>
            <a:off x="274320" y="4206240"/>
            <a:ext cx="128016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45720" tIns="22860" rIns="45720" bIns="2286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MEASURE</a:t>
            </a:r>
          </a:p>
        </p:txBody>
      </p:sp>
      <p:sp>
        <p:nvSpPr>
          <p:cNvPr id="119" name="MeasureText"/>
          <p:cNvSpPr txBox="1"/>
          <p:nvPr/>
        </p:nvSpPr>
        <p:spPr>
          <a:xfrm>
            <a:off x="1737360" y="420624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every Act I unit closed by measuring its own models — process fit, assumptions, predictions</a:t>
            </a:r>
          </a:p>
        </p:txBody>
      </p:sp>
      <p:sp>
        <p:nvSpPr>
          <p:cNvPr id="120" name="InformsChip"/>
          <p:cNvSpPr/>
          <p:nvPr/>
        </p:nvSpPr>
        <p:spPr>
          <a:xfrm>
            <a:off x="274320" y="4782312"/>
            <a:ext cx="128016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45720" tIns="22860" rIns="45720" bIns="2286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INFORMS</a:t>
            </a:r>
          </a:p>
        </p:txBody>
      </p:sp>
      <p:sp>
        <p:nvSpPr>
          <p:cNvPr id="121" name="InformsText"/>
          <p:cNvSpPr txBox="1"/>
          <p:nvPr/>
        </p:nvSpPr>
        <p:spPr>
          <a:xfrm>
            <a:off x="1737360" y="4782312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400" b="0" i="0" dirty="0">
                <a:solidFill>
                  <a:srgbClr val="5C4826"/>
                </a:solidFill>
              </a:rPr>
              <a:t>…to inform that unit’s decision. This chain is what those sections were doing.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informs judgment; it does not replace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same evidence can justify different actions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Evi"/>
          <p:cNvSpPr/>
          <p:nvPr/>
        </p:nvSpPr>
        <p:spPr>
          <a:xfrm>
            <a:off x="274320" y="914400"/>
            <a:ext cx="8595360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p99 = 420 ms</a:t>
            </a:r>
            <a:r>
              <a:rPr lang="en-US" sz="2000" b="0" i="0" dirty="0">
                <a:solidFill>
                  <a:srgbClr val="5C4826"/>
                </a:solidFill>
              </a:rPr>
              <a:t xml:space="preserve"> against a bound of </a:t>
            </a:r>
            <a:r>
              <a:rPr lang="en-US" sz="2000" b="1" i="0" dirty="0">
                <a:solidFill>
                  <a:srgbClr val="5C4826"/>
                </a:solidFill>
              </a:rPr>
              <a:t>500 ms</a:t>
            </a:r>
          </a:p>
        </p:txBody>
      </p:sp>
      <p:sp>
        <p:nvSpPr>
          <p:cNvPr id="101" name="H0"/>
          <p:cNvSpPr txBox="1"/>
          <p:nvPr/>
        </p:nvSpPr>
        <p:spPr>
          <a:xfrm>
            <a:off x="484632" y="17830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02" name="C0"/>
          <p:cNvSpPr/>
          <p:nvPr/>
        </p:nvSpPr>
        <p:spPr>
          <a:xfrm>
            <a:off x="484632" y="2304288"/>
            <a:ext cx="25603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What happens if we’re wrong?</a:t>
            </a:r>
          </a:p>
        </p:txBody>
      </p:sp>
      <p:sp>
        <p:nvSpPr>
          <p:cNvPr id="103" name="H1"/>
          <p:cNvSpPr txBox="1"/>
          <p:nvPr/>
        </p:nvSpPr>
        <p:spPr>
          <a:xfrm>
            <a:off x="3291840" y="17830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UNCERTAINTY</a:t>
            </a:r>
          </a:p>
        </p:txBody>
      </p:sp>
      <p:sp>
        <p:nvSpPr>
          <p:cNvPr id="104" name="C1"/>
          <p:cNvSpPr/>
          <p:nvPr/>
        </p:nvSpPr>
        <p:spPr>
          <a:xfrm>
            <a:off x="3291840" y="2304288"/>
            <a:ext cx="25603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How representative — how confident — is the evidence?</a:t>
            </a:r>
          </a:p>
        </p:txBody>
      </p:sp>
      <p:sp>
        <p:nvSpPr>
          <p:cNvPr id="105" name="H2"/>
          <p:cNvSpPr txBox="1"/>
          <p:nvPr/>
        </p:nvSpPr>
        <p:spPr>
          <a:xfrm>
            <a:off x="6099048" y="17830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REVERSIBILITY</a:t>
            </a:r>
          </a:p>
        </p:txBody>
      </p:sp>
      <p:sp>
        <p:nvSpPr>
          <p:cNvPr id="106" name="C2"/>
          <p:cNvSpPr/>
          <p:nvPr/>
        </p:nvSpPr>
        <p:spPr>
          <a:xfrm>
            <a:off x="6099048" y="2304288"/>
            <a:ext cx="25603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Can consequences be repaired?</a:t>
            </a:r>
          </a:p>
        </p:txBody>
      </p:sp>
      <p:sp>
        <p:nvSpPr>
          <p:cNvPr id="107" name="Ital"/>
          <p:cNvSpPr txBox="1"/>
          <p:nvPr/>
        </p:nvSpPr>
        <p:spPr>
          <a:xfrm>
            <a:off x="274320" y="416052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000000"/>
                </a:solidFill>
              </a:rPr>
              <a:t>The same margin may be comfortable in a game and unacceptable in a medical device.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Validation asked when evidence is enough; this is that judgment, generalized.</a:t>
            </a:r>
          </a:p>
        </p:txBody>
      </p:sp>
      <p:sp>
        <p:nvSpPr>
          <p:cNvPr id="10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does not determine action independently of the decision’s stakes.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BigQ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3200" b="0" i="0" dirty="0">
                <a:solidFill>
                  <a:srgbClr val="000000"/>
                </a:solidFill>
              </a:rPr>
              <a:t>Given what we know, what should we do?</a:t>
            </a:r>
          </a:p>
        </p:txBody>
      </p:sp>
      <p:sp>
        <p:nvSpPr>
          <p:cNvPr id="101" name="Echo"/>
          <p:cNvSpPr txBox="1"/>
          <p:nvPr/>
        </p:nvSpPr>
        <p:spPr>
          <a:xfrm>
            <a:off x="274320" y="1783080"/>
            <a:ext cx="85953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— the question from the second slide, now with a theory of evidence behind it</a:t>
            </a:r>
          </a:p>
        </p:txBody>
      </p:sp>
      <p:sp>
        <p:nvSpPr>
          <p:cNvPr id="102" name="A0"/>
          <p:cNvSpPr/>
          <p:nvPr/>
        </p:nvSpPr>
        <p:spPr>
          <a:xfrm>
            <a:off x="274320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PROCEED</a:t>
            </a:r>
          </a:p>
        </p:txBody>
      </p:sp>
      <p:sp>
        <p:nvSpPr>
          <p:cNvPr id="103" name="A1"/>
          <p:cNvSpPr/>
          <p:nvPr/>
        </p:nvSpPr>
        <p:spPr>
          <a:xfrm>
            <a:off x="1726387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>CHOOSE ANOTHER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>ALTERNATIVE</a:t>
            </a:r>
          </a:p>
        </p:txBody>
      </p:sp>
      <p:sp>
        <p:nvSpPr>
          <p:cNvPr id="104" name="A2"/>
          <p:cNvSpPr/>
          <p:nvPr/>
        </p:nvSpPr>
        <p:spPr>
          <a:xfrm>
            <a:off x="3178454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GATHER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05" name="A3"/>
          <p:cNvSpPr/>
          <p:nvPr/>
        </p:nvSpPr>
        <p:spPr>
          <a:xfrm>
            <a:off x="4630522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CHANGE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THE SYSTEM</a:t>
            </a:r>
          </a:p>
        </p:txBody>
      </p:sp>
      <p:sp>
        <p:nvSpPr>
          <p:cNvPr id="106" name="A4"/>
          <p:cNvSpPr/>
          <p:nvPr/>
        </p:nvSpPr>
        <p:spPr>
          <a:xfrm>
            <a:off x="6082589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REVISE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THE MODEL</a:t>
            </a:r>
          </a:p>
        </p:txBody>
      </p:sp>
      <p:sp>
        <p:nvSpPr>
          <p:cNvPr id="107" name="A5"/>
          <p:cNvSpPr/>
          <p:nvPr/>
        </p:nvSpPr>
        <p:spPr>
          <a:xfrm>
            <a:off x="7534656" y="2651760"/>
            <a:ext cx="1316736" cy="914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" tIns="9000" rIns="13716" bIns="9000" anchor="ctr"/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>DECLINE</a:t>
            </a:r>
          </a:p>
        </p:txBody>
      </p:sp>
      <p:sp>
        <p:nvSpPr>
          <p:cNvPr id="108" name="Ital"/>
          <p:cNvSpPr txBox="1"/>
          <p:nvPr/>
        </p:nvSpPr>
        <p:spPr>
          <a:xfrm>
            <a:off x="274320" y="40690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Neither exhaustive nor always peers.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Evidence is valuable insofar as it changes the justification for one of these.</a:t>
            </a:r>
          </a:p>
        </p:txBody>
      </p:sp>
      <p:sp>
        <p:nvSpPr>
          <p:cNvPr id="10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middle of this lecture existed to support this question.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Before the decision · After the outcome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100" name="Before"/>
          <p:cNvSpPr/>
          <p:nvPr/>
        </p:nvSpPr>
        <p:spPr>
          <a:xfrm>
            <a:off x="310896" y="932688"/>
            <a:ext cx="3959352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BEFORE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Given what we know,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what should we do?</a:t>
            </a:r>
          </a:p>
        </p:txBody>
      </p:sp>
      <p:sp>
        <p:nvSpPr>
          <p:cNvPr id="101" name="After"/>
          <p:cNvSpPr/>
          <p:nvPr/>
        </p:nvSpPr>
        <p:spPr>
          <a:xfrm>
            <a:off x="4873752" y="932688"/>
            <a:ext cx="3959352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45720" tIns="18000" rIns="45720" bIns="18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AFTER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Given what happened,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what should we now believe?</a:t>
            </a:r>
          </a:p>
        </p:txBody>
      </p:sp>
      <p:sp>
        <p:nvSpPr>
          <p:cNvPr id="102" name="Chain0"/>
          <p:cNvSpPr/>
          <p:nvPr/>
        </p:nvSpPr>
        <p:spPr>
          <a:xfrm>
            <a:off x="530352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DECISION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1591056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Chain1"/>
          <p:cNvSpPr/>
          <p:nvPr/>
        </p:nvSpPr>
        <p:spPr>
          <a:xfrm>
            <a:off x="1700784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MODEL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2761488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Chain2"/>
          <p:cNvSpPr/>
          <p:nvPr/>
        </p:nvSpPr>
        <p:spPr>
          <a:xfrm>
            <a:off x="2871216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3931920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Chain3"/>
          <p:cNvSpPr/>
          <p:nvPr/>
        </p:nvSpPr>
        <p:spPr>
          <a:xfrm>
            <a:off x="4041648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09" name="C109"/>
          <p:cNvCxnSpPr/>
          <p:nvPr/>
        </p:nvCxnSpPr>
        <p:spPr>
          <a:xfrm>
            <a:off x="5102352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Chain4"/>
          <p:cNvSpPr/>
          <p:nvPr/>
        </p:nvSpPr>
        <p:spPr>
          <a:xfrm>
            <a:off x="5212080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6272784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Chain5"/>
          <p:cNvSpPr/>
          <p:nvPr/>
        </p:nvSpPr>
        <p:spPr>
          <a:xfrm>
            <a:off x="6382512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OUTCOME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443216" y="2980944"/>
            <a:ext cx="109728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4" name="Chain6"/>
          <p:cNvSpPr/>
          <p:nvPr/>
        </p:nvSpPr>
        <p:spPr>
          <a:xfrm>
            <a:off x="7552944" y="2697480"/>
            <a:ext cx="106070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NEW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000" b="1" i="0" dirty="0">
                <a:solidFill>
                  <a:srgbClr val="5C4826"/>
                </a:solidFill>
              </a:rPr>
              <a:t>EVIDENCE</a:t>
            </a:r>
          </a:p>
        </p:txBody>
      </p:sp>
      <p:sp>
        <p:nvSpPr>
          <p:cNvPr id="116" name="Seg115"/>
          <p:cNvSpPr/>
          <p:nvPr/>
        </p:nvSpPr>
        <p:spPr>
          <a:xfrm>
            <a:off x="8069580" y="3264408"/>
            <a:ext cx="2743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endParaRPr lang="en-US" sz="200"/>
          </a:p>
        </p:txBody>
      </p:sp>
      <p:sp>
        <p:nvSpPr>
          <p:cNvPr id="118" name="Seg117"/>
          <p:cNvSpPr/>
          <p:nvPr/>
        </p:nvSpPr>
        <p:spPr>
          <a:xfrm>
            <a:off x="1046988" y="3767328"/>
            <a:ext cx="7050024" cy="2743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endParaRPr lang="en-US" sz="200"/>
          </a:p>
        </p:txBody>
      </p:sp>
      <p:sp>
        <p:nvSpPr>
          <p:cNvPr id="120" name="Seg119"/>
          <p:cNvSpPr/>
          <p:nvPr/>
        </p:nvSpPr>
        <p:spPr>
          <a:xfrm>
            <a:off x="1046988" y="3447288"/>
            <a:ext cx="27432" cy="34747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endParaRPr lang="en-US" sz="200"/>
          </a:p>
        </p:txBody>
      </p:sp>
      <p:sp>
        <p:nvSpPr>
          <p:cNvPr id="121" name="A121"/>
          <p:cNvSpPr/>
          <p:nvPr/>
        </p:nvSpPr>
        <p:spPr>
          <a:xfrm>
            <a:off x="969264" y="3310128"/>
            <a:ext cx="182880" cy="137160"/>
          </a:xfrm>
          <a:prstGeom prst="triangle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pPr algn="ctr">
              <a:buNone/>
            </a:pPr>
            <a:endParaRPr lang="en-US" sz="200"/>
          </a:p>
        </p:txBody>
      </p:sp>
      <p:sp>
        <p:nvSpPr>
          <p:cNvPr id="122" name="LoopLbl"/>
          <p:cNvSpPr txBox="1"/>
          <p:nvPr/>
        </p:nvSpPr>
        <p:spPr>
          <a:xfrm>
            <a:off x="3474720" y="400507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8E6F3E"/>
                </a:solidFill>
              </a:rPr>
              <a:t>the loop continues</a:t>
            </a:r>
          </a:p>
        </p:txBody>
      </p:sp>
      <p:sp>
        <p:nvSpPr>
          <p:cNvPr id="123" name="Foreshadow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When the outcome surprises us: which model should change?</a:t>
            </a:r>
          </a:p>
        </p:txBody>
      </p:sp>
      <p:sp>
        <p:nvSpPr>
          <p:cNvPr id="12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Engineering continues around this loop.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Engineering is informed control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100" name="Day1"/>
          <p:cNvSpPr txBox="1"/>
          <p:nvPr/>
        </p:nvSpPr>
        <p:spPr>
          <a:xfrm>
            <a:off x="274320" y="1234440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FROM DAY 1</a:t>
            </a:r>
          </a:p>
        </p:txBody>
      </p:sp>
      <p:sp>
        <p:nvSpPr>
          <p:cNvPr id="101" name="Def"/>
          <p:cNvSpPr/>
          <p:nvPr/>
        </p:nvSpPr>
        <p:spPr>
          <a:xfrm>
            <a:off x="685800" y="1691640"/>
            <a:ext cx="777240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is the discipline of exercising informed control over consequential systems.</a:t>
            </a:r>
          </a:p>
        </p:txBody>
      </p:sp>
      <p:sp>
        <p:nvSpPr>
          <p:cNvPr id="102" name="Close"/>
          <p:cNvSpPr txBox="1"/>
          <p:nvPr/>
        </p:nvSpPr>
        <p:spPr>
          <a:xfrm>
            <a:off x="685800" y="3108960"/>
            <a:ext cx="7772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Metrics make selected properties of reality observable.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Engineering judgment determines what those observations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mean for the decision.</a:t>
            </a:r>
          </a:p>
        </p:txBody>
      </p:sp>
      <p:sp>
        <p:nvSpPr>
          <p:cNvPr id="103" name="Chain0"/>
          <p:cNvSpPr/>
          <p:nvPr/>
        </p:nvSpPr>
        <p:spPr>
          <a:xfrm>
            <a:off x="996696" y="4572000"/>
            <a:ext cx="129844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MODEL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2295144" y="4873752"/>
            <a:ext cx="164592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Chain1"/>
          <p:cNvSpPr/>
          <p:nvPr/>
        </p:nvSpPr>
        <p:spPr>
          <a:xfrm>
            <a:off x="2459736" y="4572000"/>
            <a:ext cx="129844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OBSERVE</a:t>
            </a:r>
          </a:p>
        </p:txBody>
      </p:sp>
      <p:cxnSp>
        <p:nvCxnSpPr>
          <p:cNvPr id="106" name="C106"/>
          <p:cNvCxnSpPr/>
          <p:nvPr/>
        </p:nvCxnSpPr>
        <p:spPr>
          <a:xfrm>
            <a:off x="3758184" y="4873752"/>
            <a:ext cx="164592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Chain2"/>
          <p:cNvSpPr/>
          <p:nvPr/>
        </p:nvSpPr>
        <p:spPr>
          <a:xfrm>
            <a:off x="3922776" y="4572000"/>
            <a:ext cx="129844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JUDGE</a:t>
            </a:r>
          </a:p>
        </p:txBody>
      </p:sp>
      <p:cxnSp>
        <p:nvCxnSpPr>
          <p:cNvPr id="108" name="C108"/>
          <p:cNvCxnSpPr/>
          <p:nvPr/>
        </p:nvCxnSpPr>
        <p:spPr>
          <a:xfrm>
            <a:off x="5221224" y="4873752"/>
            <a:ext cx="164592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hain3"/>
          <p:cNvSpPr/>
          <p:nvPr/>
        </p:nvSpPr>
        <p:spPr>
          <a:xfrm>
            <a:off x="5385816" y="4572000"/>
            <a:ext cx="129844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ACT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6684264" y="4873752"/>
            <a:ext cx="164592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Chain4"/>
          <p:cNvSpPr/>
          <p:nvPr/>
        </p:nvSpPr>
        <p:spPr>
          <a:xfrm>
            <a:off x="6848856" y="4572000"/>
            <a:ext cx="1298448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8000" tIns="9000" rIns="18000" bIns="900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LEARN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8555</TotalTime>
  <Words>5357</Words>
  <Application>Microsoft Macintosh PowerPoint</Application>
  <PresentationFormat>On-screen Show (4:3)</PresentationFormat>
  <Paragraphs>830</Paragraphs>
  <Slides>36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Times</vt:lpstr>
      <vt:lpstr>Purdue1</vt:lpstr>
      <vt:lpstr>ECE 30861/46100: Software Engineering</vt:lpstr>
      <vt:lpstr>Architecture handed us parts</vt:lpstr>
      <vt:lpstr>What remains inside the box?</vt:lpstr>
      <vt:lpstr>What does Design inherit?</vt:lpstr>
      <vt:lpstr>Opening the box preserves its obligations</vt:lpstr>
      <vt:lpstr>Design begins with decisions already made</vt:lpstr>
      <vt:lpstr>What remains is a set of degrees of freedom</vt:lpstr>
      <vt:lpstr>Not every open choice is ours to make</vt:lpstr>
      <vt:lpstr>Architecture and Design recur as freedom narrows</vt:lpstr>
      <vt:lpstr>Where does Design end?</vt:lpstr>
      <vt:lpstr>How do we choose mechanisms?</vt:lpstr>
      <vt:lpstr>One responsibility can admit several mechanisms</vt:lpstr>
      <vt:lpstr>Mechanisms have measurable consequences</vt:lpstr>
      <vt:lpstr>Evidence distinguishes the alternatives</vt:lpstr>
      <vt:lpstr>Example: Who owns the truth?</vt:lpstr>
      <vt:lpstr>Example: What consistency must copies provide?</vt:lpstr>
      <vt:lpstr>Example: Must this work happen now?</vt:lpstr>
      <vt:lpstr>Example: How directly should parts depend?</vt:lpstr>
      <vt:lpstr>Example: Which decisions should be hidden?</vt:lpstr>
      <vt:lpstr>Metrics connect Design to the decisions above it</vt:lpstr>
      <vt:lpstr>The mechanism is not the decision</vt:lpstr>
      <vt:lpstr>Can a system of correct components still fail to satisfy its specification?</vt:lpstr>
      <vt:lpstr>Local choices must compose</vt:lpstr>
      <vt:lpstr>What must compose?</vt:lpstr>
      <vt:lpstr>The required mechanism may not fit</vt:lpstr>
      <vt:lpstr>A local workaround can make the architecture false</vt:lpstr>
      <vt:lpstr>Move discoveries to the scope that owns them</vt:lpstr>
      <vt:lpstr>What changes when implementation gets cheap?</vt:lpstr>
      <vt:lpstr>Sometimes the cheapest model is the implementation</vt:lpstr>
      <vt:lpstr>🧙  MAGE Moment: What does the firehose of change enable?</vt:lpstr>
      <vt:lpstr>Design the Advice Service</vt:lpstr>
      <vt:lpstr>What decisions remain?</vt:lpstr>
      <vt:lpstr>Compare two mechanisms</vt:lpstr>
      <vt:lpstr>Defend the decision</vt:lpstr>
      <vt:lpstr>What did Design teach us?</vt:lpstr>
      <vt:lpstr>Constraints flow down. Evidence flows up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395</cp:revision>
  <dcterms:created xsi:type="dcterms:W3CDTF">2020-02-21T23:00:33Z</dcterms:created>
  <dcterms:modified xsi:type="dcterms:W3CDTF">2026-09-18T14:53:55Z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