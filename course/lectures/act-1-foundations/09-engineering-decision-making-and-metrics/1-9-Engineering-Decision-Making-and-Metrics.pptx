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5"/>
  </p:notesMasterIdLst>
  <p:sldIdLst>
    <p:sldId id="701" r:id="rId2"/>
    <p:sldId id="702" r:id="rId3"/>
    <p:sldId id="703" r:id="rId4"/>
    <p:sldId id="704" r:id="rId5"/>
    <p:sldId id="706" r:id="rId6"/>
    <p:sldId id="707" r:id="rId7"/>
    <p:sldId id="708" r:id="rId8"/>
    <p:sldId id="709" r:id="rId9"/>
    <p:sldId id="710" r:id="rId10"/>
    <p:sldId id="731" r:id="rId11"/>
    <p:sldId id="711" r:id="rId12"/>
    <p:sldId id="712" r:id="rId13"/>
    <p:sldId id="713" r:id="rId14"/>
    <p:sldId id="714" r:id="rId15"/>
    <p:sldId id="715" r:id="rId16"/>
    <p:sldId id="716" r:id="rId17"/>
    <p:sldId id="717" r:id="rId18"/>
    <p:sldId id="718" r:id="rId19"/>
    <p:sldId id="732" r:id="rId20"/>
    <p:sldId id="733" r:id="rId21"/>
    <p:sldId id="719" r:id="rId22"/>
    <p:sldId id="720" r:id="rId23"/>
    <p:sldId id="721" r:id="rId24"/>
    <p:sldId id="722" r:id="rId25"/>
    <p:sldId id="723" r:id="rId26"/>
    <p:sldId id="724" r:id="rId27"/>
    <p:sldId id="734" r:id="rId28"/>
    <p:sldId id="725" r:id="rId29"/>
    <p:sldId id="726" r:id="rId30"/>
    <p:sldId id="727" r:id="rId31"/>
    <p:sldId id="728" r:id="rId32"/>
    <p:sldId id="729" r:id="rId33"/>
    <p:sldId id="730"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244" autoAdjust="0"/>
    <p:restoredTop sz="64795"/>
  </p:normalViewPr>
  <p:slideViewPr>
    <p:cSldViewPr snapToGrid="0" snapToObjects="1">
      <p:cViewPr varScale="1">
        <p:scale>
          <a:sx n="75" d="100"/>
          <a:sy n="75" d="100"/>
        </p:scale>
        <p:origin x="1224"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9/24/26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engineering activity repeatedly terminates in a decision. This slide now also carries old slide 5's work.</a:t>
            </a:r>
          </a:p>
          <a:p>
            <a:endParaRPr dirty="0"/>
          </a:p>
          <a:p>
            <a:r>
              <a:rPr dirty="0"/>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endParaRPr dirty="0"/>
          </a:p>
          <a:p>
            <a:r>
              <a:rPr dirty="0"/>
              <a:t>But notice the repeated structure. Each activity eventually reaches a consequential choice. At that point the engineer has to ask the same question: given what we know, what should we do?</a:t>
            </a:r>
          </a:p>
          <a:p>
            <a:endParaRPr dirty="0"/>
          </a:p>
          <a:p>
            <a:r>
              <a:rPr dirty="0"/>
              <a:t>Today we step outside the individual activities and study that reasoning itself. What do we need to know? What evidence would actually help? When does measurement provide that evidence? And how should what we learn affect the decision?</a:t>
            </a:r>
          </a:p>
          <a:p>
            <a:endParaRPr dirty="0"/>
          </a:p>
          <a:p>
            <a:r>
              <a:rPr dirty="0"/>
              <a:t>- Do not explain the five examples yet; students met each decision in its own unit.</a:t>
            </a:r>
          </a:p>
          <a:p>
            <a:r>
              <a:rPr dirty="0"/>
              <a:t>- The next slide then explains why this recurring decision problem is hard.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the risk-management callout, and the footer.</a:t>
            </a:r>
          </a:p>
          <a:p>
            <a:r>
              <a:rPr dirty="0"/>
              <a:t>- “Evidence available” does not mean “evidence somebody happened to look at.” A defensible decision includes asking what consequential information is missing, what could go wrong because it is missing, whether more evidence is worth acquiring, and what residual risk is being accepted. Ignoring a recognizable hazard is not excused merely because the bad outcome had not yet occurred.</a:t>
            </a:r>
          </a:p>
          <a:p>
            <a:r>
              <a:rPr dirty="0"/>
              <a:t>- Organizational point: evidence can be technically available while organizational incentives, hierarchy, or schedule pressure prevent it from receiving appropriate weight — that is a real engineering-decision failure, not merely bad luck.</a:t>
            </a:r>
          </a:p>
          <a:p>
            <a:r>
              <a:rPr dirty="0"/>
              <a:t>- Do NOT expand into probability, utility, or expected value, and do NOT turn this into a risk-management lecture. Slide 4 carries the entire decision-quality burden of the lecture.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1.</a:t>
            </a:r>
          </a:p>
          <a:p>
            <a:endParaRPr dirty="0"/>
          </a:p>
          <a:p>
            <a:r>
              <a:rPr dirty="0"/>
              <a:t>- 15-20 seconds only.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Expect the objection “we didn’t call this a model.” Industrial engineers may never call it a model. But if we believe changing X affects Y, and use that relationship to interpret evidence, we are relying on one.</a:t>
            </a:r>
          </a:p>
          <a:p>
            <a:r>
              <a:rPr dirty="0"/>
              <a:t>- This sets up Act II, where Modeling defines a model as a purposeful reduction: models are already everywhere; later we learn to externalize and engineer them deliberately.</a:t>
            </a:r>
          </a:p>
          <a:p>
            <a:r>
              <a:rPr dirty="0"/>
              <a:t>- Compress here if time pressure demands — never in the metrics centre (12-18, 20-24).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Construct the organizing chain live, one element per click: decision, model, consequential property, evidence, judgment, action.</a:t>
            </a:r>
          </a:p>
          <a:p>
            <a:endParaRPr dirty="0"/>
          </a:p>
          <a:p>
            <a:r>
              <a:rPr dirty="0"/>
              <a:t>- Each click adds one element and its gloss; give each element one sentence, in the words on screen.</a:t>
            </a:r>
          </a:p>
          <a:p>
            <a:r>
              <a:rPr dirty="0"/>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rPr dirty="0"/>
              <a:t>- This should feel like the instructor constructing a model, not revealing a finished flowchart.</a:t>
            </a:r>
          </a:p>
          <a:p>
            <a:r>
              <a:rPr dirty="0"/>
              <a:t>- This is the organizing model for the rest of the lecture; the closing slides return to it.</a:t>
            </a:r>
          </a:p>
          <a:p>
            <a:r>
              <a:rPr dirty="0"/>
              <a:t>- The next section is a deliberate zoom-in: we open up one part of this chain — how measurement can become evidence.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Evidence is broader than measurement. Review, analysis, prototypes, tests, experiments, and operational observation can all provide evidence relevant to an engineering decision.</a:t>
            </a:r>
          </a:p>
          <a:p>
            <a:endParaRPr dirty="0"/>
          </a:p>
          <a:p>
            <a:r>
              <a:rPr dirty="0"/>
              <a:t>Measurement is not another category alongside these. We measure properties while testing, experimenting, observing operation, evaluating prototypes, and sometimes while reviewing or analyzing artifacts.</a:t>
            </a:r>
          </a:p>
          <a:p>
            <a:endParaRPr dirty="0"/>
          </a:p>
          <a:p>
            <a:r>
              <a:rPr dirty="0"/>
              <a:t>Our concern today is measurement, so we are going to narrow into that cross-cutting activity. The important question is not simply whether we can measure something. It is how a measurement bears on a property we care about and therefore becomes evidence for a decision.</a:t>
            </a:r>
          </a:p>
          <a:p>
            <a:endParaRPr dirty="0"/>
          </a:p>
          <a:p>
            <a:r>
              <a:rPr dirty="0"/>
              <a:t>Transition: What has to happen for an observation or number to become engineering evidence?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Evidence gets selected because it distinguishes the alternatives.</a:t>
            </a:r>
          </a:p>
          <a:p>
            <a:endParaRPr dirty="0"/>
          </a:p>
          <a:p>
            <a:r>
              <a:rPr dirty="0"/>
              <a:t>- Don't begin with 'what can I measure?' Begin with the uncertainty preventing the decision. If learning the answer wouldn't change what you choose, the measurement may have little decision value.</a:t>
            </a:r>
          </a:p>
          <a:p>
            <a:r>
              <a:rPr dirty="0"/>
              <a:t>- Walk the model: both strategies fit the memory budget (KNOWN); what separates them is whether the larger cache materially improves latency under the expected workload (UNCERTAIN).</a:t>
            </a:r>
          </a:p>
          <a:p>
            <a:r>
              <a:rPr dirty="0"/>
              <a:t>- Ask the room what evidence would actually change the choice; only then click to reveal: run both mechanisms under a representative workload and compare the latency distributions.</a:t>
            </a:r>
          </a:p>
          <a:p>
            <a:r>
              <a:rPr dirty="0"/>
              <a:t>- Design callback, and the handbook's buy-information framing: measurement is bought to remove the uncertainty that blocks the decision.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Section 1’s own question, answered as a procedure students can perform.</a:t>
            </a:r>
          </a:p>
          <a:p>
            <a:endParaRPr dirty="0"/>
          </a:p>
          <a:p>
            <a:r>
              <a:rPr dirty="0"/>
              <a:t>- Slide 7 gave the conceptual chain. This slide is the checklist: five things to identify before an engineering decision is well posed.</a:t>
            </a:r>
          </a:p>
          <a:p>
            <a:r>
              <a:rPr dirty="0"/>
              <a:t>- Nothing here is new. 1 and 2 are the model slides; 3 is the consequential-property idea from the chain; 4 and 5 are the caching example restated as a procedure.</a:t>
            </a:r>
          </a:p>
          <a:p>
            <a:r>
              <a:rPr dirty="0"/>
              <a:t>- Walk 4 and 5 together: the uncertainty names what blocks the decision, and the evidence needed is whatever would remove it. That pairing is the doorway into Section 2.</a:t>
            </a:r>
          </a:p>
          <a:p>
            <a:r>
              <a:rPr dirty="0"/>
              <a:t>- Build: one click per item, then the footer. Do not read all five and then explain; name each as it lands.</a:t>
            </a:r>
          </a:p>
          <a:p>
            <a:r>
              <a:rPr dirty="0"/>
              <a:t>- Section 1 must not end without this. The section asked the question; this answers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2. The centre of the lecture begins here.</a:t>
            </a:r>
          </a:p>
          <a:p>
            <a:endParaRPr dirty="0"/>
          </a:p>
          <a:p>
            <a:r>
              <a:rPr dirty="0"/>
              <a:t>- Do NOT title or gloss this as 'measurement is a model' — the metric holds the modeling choice.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canonical quantitative chain, unpacked carefully. Terminology must be exact.</a:t>
            </a:r>
          </a:p>
          <a:p>
            <a:endParaRPr dirty="0"/>
          </a:p>
          <a:p>
            <a:r>
              <a:rPr dirty="0"/>
              <a:t>- Property: what we care about. Metric: a model connecting the property to observations we can obtain. Measurement: an observation from applying the metric under conditions. Evidence: what that measurement supports about the property.</a:t>
            </a:r>
          </a:p>
          <a:p>
            <a:r>
              <a:rPr dirty="0"/>
              <a:t>- NEVER say 'measurement is a model.' The metric contains the modeling choice; the measurement supplies values.</a:t>
            </a:r>
          </a:p>
          <a:p>
            <a:r>
              <a:rPr dirty="0"/>
              <a:t>- Deliberate Validation callback — same boxes, same verbs as its evidence-strength slide.</a:t>
            </a:r>
          </a:p>
          <a:p>
            <a:r>
              <a:rPr dirty="0"/>
              <a:t>- (from slide) You met this chain in Validation. Today we unpack each link.</a:t>
            </a:r>
          </a:p>
          <a:p>
            <a:r>
              <a:rPr dirty="0"/>
              <a:t>- Pace (2:00): the boxes do the work. Define each term once and move; later slides point back here rather than re-explaining the chain.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Work one operationalization end to end; define the word once.</a:t>
            </a:r>
          </a:p>
          <a:p>
            <a:endParaRPr dirty="0"/>
          </a:p>
          <a:p>
            <a:r>
              <a:rPr dirty="0"/>
              <a:t>- Responsiveness is abstract; p99-under-workload-W is the chosen observable aspect; 420 </a:t>
            </a:r>
            <a:r>
              <a:rPr dirty="0" err="1"/>
              <a:t>ms</a:t>
            </a:r>
            <a:r>
              <a:rPr dirty="0"/>
              <a:t> is what applying it produced.</a:t>
            </a:r>
          </a:p>
          <a:p>
            <a:r>
              <a:rPr dirty="0"/>
              <a:t>- Dwell on the right-hand point: the metric is a representation, not the property. Other metrics would represent other aspects.</a:t>
            </a:r>
          </a:p>
          <a:p>
            <a:r>
              <a:rPr dirty="0"/>
              <a:t>- (from slide) The metric chooses which aspect of the property becomes observable.</a:t>
            </a:r>
          </a:p>
          <a:p>
            <a:r>
              <a:rPr dirty="0"/>
              <a:t>- Pace (2:00): land “p99 latency is not responsiveness itself” and move on. Do not linger.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a:p>
            <a:r>
              <a:rPr dirty="0"/>
              <a:t>- Pace (2:00): two clicks, two sentences, move 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TPS: students generate the conditions that give 420 </a:t>
            </a:r>
            <a:r>
              <a:rPr dirty="0" err="1"/>
              <a:t>ms</a:t>
            </a:r>
            <a:r>
              <a:rPr dirty="0"/>
              <a:t> meaning.</a:t>
            </a:r>
          </a:p>
          <a:p>
            <a:endParaRPr dirty="0"/>
          </a:p>
          <a:p>
            <a:r>
              <a:rPr dirty="0"/>
              <a:t>- Let '420 </a:t>
            </a:r>
            <a:r>
              <a:rPr dirty="0" err="1"/>
              <a:t>ms'</a:t>
            </a:r>
            <a:r>
              <a:rPr dirty="0"/>
              <a:t> sit alone for a beat; run the think-pair-share on the prompt before revealing anything.</a:t>
            </a:r>
          </a:p>
          <a:p>
            <a:r>
              <a:rPr dirty="0"/>
              <a:t>- Animate the six questions up as the room produces them (percentile, measured where, workload, configuration, interval, request population) — do not read them out first.</a:t>
            </a:r>
          </a:p>
          <a:p>
            <a:r>
              <a:rPr dirty="0"/>
              <a:t>- The final click is the deliverable form: p99 = 420 </a:t>
            </a:r>
            <a:r>
              <a:rPr dirty="0" err="1"/>
              <a:t>ms</a:t>
            </a:r>
            <a:r>
              <a:rPr dirty="0"/>
              <a:t> · end-to-end · workload W · configuration C · interval T.</a:t>
            </a:r>
          </a:p>
          <a:p>
            <a:r>
              <a:rPr dirty="0"/>
              <a:t>- Then stop. The students should experience the move from '420 </a:t>
            </a:r>
            <a:r>
              <a:rPr dirty="0" err="1"/>
              <a:t>ms</a:t>
            </a:r>
            <a:r>
              <a:rPr dirty="0"/>
              <a:t> is a fact' to '420 </a:t>
            </a:r>
            <a:r>
              <a:rPr dirty="0" err="1"/>
              <a:t>ms</a:t>
            </a:r>
            <a:r>
              <a:rPr dirty="0"/>
              <a:t> is an observation parameterized by conditions.'</a:t>
            </a:r>
          </a:p>
          <a:p>
            <a:r>
              <a:rPr dirty="0"/>
              <a:t>- Pace (2:00): keep the TPS brisk — about 45 seconds of pair discussion, two or three answers, then reveal.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scope principle, on a real industrial property, deliberately drawn like Validation's composition slide.</a:t>
            </a:r>
          </a:p>
          <a:p>
            <a:endParaRPr dirty="0"/>
          </a:p>
          <a:p>
            <a:r>
              <a:rPr dirty="0"/>
              <a:t>Students met this composition shape in Validation — say so explicitly: “Every local measurement can look acceptable while the property at the scope we actually care about fails.”</a:t>
            </a:r>
          </a:p>
          <a:p>
            <a:endParaRPr dirty="0"/>
          </a:p>
          <a:p>
            <a:r>
              <a:rPr dirty="0"/>
              <a:t>The property is stick-to-glass latency: the interval from the pilot moving a control until the HUD changes. Same reasoning as the latency-budget arithmetic: 90 + 80 + 140 + 110 ms across sensing, computation, communication, and rendering, plus 100 ms of queueing and scheduling along the path, compose to 520 ms — past a 500 ms end-to-end budget — while every local number looks acceptable.</a:t>
            </a:r>
          </a:p>
          <a:p>
            <a:endParaRPr dirty="0"/>
          </a:p>
          <a:p>
            <a:r>
              <a:rPr dirty="0"/>
              <a:t>The point is not that local measurements are bad. They answer claims at a different scope. No one of the four stage teams can establish stick-to-glass latency from its own instrument.</a:t>
            </a:r>
          </a:p>
          <a:p>
            <a:endParaRPr dirty="0"/>
          </a:p>
          <a:p>
            <a:r>
              <a:rPr dirty="0"/>
              <a:t>Be careful with the phrase end-to-end. The ends are relative to the property we are trying to establish. If our property is latency from an API request arriving to a response leaving, those events define the ends. If our property is the time from a user clicking “Pay” until the payment appears in account history, the ends are farther apart and may cross several services. If our property concerns a single component, its boundary may itself define the relevant ends. The scope comes from the property, not from the architecture diagram.</a:t>
            </a:r>
          </a:p>
          <a:p>
            <a:endParaRPr dirty="0"/>
          </a:p>
          <a:p>
            <a:r>
              <a:rPr dirty="0"/>
              <a:t>EMPHASIS — say this aloud: “The scope comes from the property, not from the architecture diagram.”</a:t>
            </a:r>
          </a:p>
          <a:p>
            <a:endParaRPr dirty="0"/>
          </a:p>
          <a:p>
            <a:r>
              <a:rPr dirty="0"/>
              <a:t>That is why “measure where the property exists” is the rule. First identify the property and the events or boundaries over which it is defined. Then measure at that scope.</a:t>
            </a:r>
          </a:p>
          <a:p>
            <a:endParaRPr dirty="0"/>
          </a:p>
          <a:p>
            <a:r>
              <a:rPr dirty="0"/>
              <a:t>Build (5 clicks): 1 the enclosing scope and sensing → computation → communication → rendering; 2 local numbers and green checks — each local measurement looks acceptable; 3 the heavy end-to-end arrow and the total; 4 the red X; 5 the two closing lines and the footer.</a:t>
            </a:r>
          </a:p>
          <a:p>
            <a:r>
              <a:rPr dirty="0"/>
              <a:t>- Pace (2:00): Validation callback, the arithmetic, the conclusion. The end-to-end caveat is one sentence, not a digression.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a:p>
            <a:r>
              <a:rPr dirty="0"/>
              <a:t>- Pace (1:30): straightforward once metric-as-model has landed. State the contrast and move.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Every metric omits; the omission is the price of usability, not a scandal.</a:t>
            </a:r>
          </a:p>
          <a:p>
            <a:endParaRPr dirty="0"/>
          </a:p>
          <a:p>
            <a:r>
              <a:rPr dirty="0"/>
              <a:t>- Do not frame as anti-metrics. Reduction is why metrics are useful; it is also why interpretation is required.</a:t>
            </a:r>
          </a:p>
          <a:p>
            <a:r>
              <a:rPr dirty="0"/>
              <a:t>- The defect-count row previews context-dependence: what counts, and what gets found, are both choices.</a:t>
            </a:r>
          </a:p>
          <a:p>
            <a:r>
              <a:rPr dirty="0"/>
              <a:t>- (from slide) Know what the metric represents — and what it leaves unresolved.</a:t>
            </a:r>
          </a:p>
          <a:p>
            <a:r>
              <a:rPr dirty="0"/>
              <a:t>- Pace (1:30): the examples are self-explanatory. Land the line and leave.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One property, several metrics: the point is complementary evidence, not more evidence.</a:t>
            </a:r>
          </a:p>
          <a:p>
            <a:endParaRPr dirty="0"/>
          </a:p>
          <a:p>
            <a:r>
              <a:rPr dirty="0"/>
              <a:t>- The chain on slide 12 invites students to infer one property, one metric. It is not so. A property usually has several observable aspects, and each metric chooses one.</a:t>
            </a:r>
          </a:p>
          <a:p>
            <a:r>
              <a:rPr dirty="0"/>
              <a:t>- State the guard explicitly and do not soften it: this is NOT “more metrics are better.” Three correlated proxies that share one blind spot are not three independent reasons — they are one reason counted three times.</a:t>
            </a:r>
          </a:p>
          <a:p>
            <a:r>
              <a:rPr dirty="0"/>
              <a:t>- The useful question is therefore not how many metrics, but whether their blind spots differ.</a:t>
            </a:r>
          </a:p>
          <a:p>
            <a:r>
              <a:rPr dirty="0"/>
              <a:t>- Worked example: defect count is falling, issues found during test observation remain, and integration escapes keep occurring. Each speaks to integration readiness from a different direction; they disagree, and the disagreement is the information.</a:t>
            </a:r>
          </a:p>
          <a:p>
            <a:r>
              <a:rPr dirty="0"/>
              <a:t>- Ask the room which of the three could be wrong for the same reason. That is the blind-spot question.</a:t>
            </a:r>
          </a:p>
          <a:p>
            <a:r>
              <a:rPr dirty="0"/>
              <a:t>- Pace (2:00): substantive — preserve this one. It is not a compression target.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a:t>
            </a:r>
            <a:r>
              <a:rPr i="1" dirty="0"/>
              <a:t>Stretch break.</a:t>
            </a:r>
          </a:p>
          <a:p>
            <a:endParaRPr dirty="0"/>
          </a:p>
          <a:p>
            <a:r>
              <a:rPr dirty="0"/>
              <a:t>- The constructive account is complete: property, metric, measurement, evidence. Section 3 turns adversarial.</a:t>
            </a:r>
          </a:p>
          <a:p>
            <a:r>
              <a:rPr dirty="0"/>
              <a:t>- Resume on the Section 3 divider.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3.</a:t>
            </a:r>
          </a:p>
          <a:p>
            <a:endParaRPr dirty="0"/>
          </a:p>
          <a:p>
            <a:r>
              <a:rPr dirty="0"/>
              <a:t>- The failure modes ahead are failures of the relationship between observable and property — not arithmetic errors.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a:p>
            <a:r>
              <a:rPr dirty="0"/>
              <a:t>- Pace (2:30): run it briskly. The team activity now does the serious application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Human and organizational properties are especially likely to require proxies because the property itself is rarely directly observable.</a:t>
            </a:r>
          </a:p>
          <a:p>
            <a:r>
              <a:rPr dirty="0"/>
              <a:t>- Discuss what would make the relationship valid: uniform work items? stable practices? no incentive pressure?</a:t>
            </a:r>
          </a:p>
          <a:p>
            <a:r>
              <a:rPr dirty="0"/>
              <a:t>- Teamwork already warned about commits and tickets — use it as a callback, not a novel claim.</a:t>
            </a:r>
          </a:p>
          <a:p>
            <a:r>
              <a:rPr dirty="0"/>
              <a:t>- Pace (2:00): name one or two validity conditions; do not enumerate them exhaustively.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a:p>
            <a:r>
              <a:rPr dirty="0"/>
              <a:t>- Pace (2:30): genuinely new vocabulary — keep the time this one needs.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Context determines evidentiary weight; two quick examples, no new machinery.</a:t>
            </a:r>
          </a:p>
          <a:p>
            <a:endParaRPr dirty="0"/>
          </a:p>
          <a:p>
            <a:r>
              <a:rPr dirty="0"/>
              <a:t>- Requirements churn is the Process callback: high change rate can be productive learning or weak requirements work — the question is whether the process still fits the work.</a:t>
            </a:r>
          </a:p>
          <a:p>
            <a:r>
              <a:rPr dirty="0"/>
              <a:t>- Accelerating out of the hazards section; keep this brisk.</a:t>
            </a:r>
          </a:p>
          <a:p>
            <a:r>
              <a:rPr dirty="0"/>
              <a:t>- (from slide) The same metric can be strong evidence in one context and weak in another.</a:t>
            </a:r>
          </a:p>
          <a:p>
            <a:r>
              <a:rPr dirty="0"/>
              <a:t>- Pace (1:00): these are essentially captions. Read them and move.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The usable residue of the metrics centre: four questions, no framework.</a:t>
            </a:r>
          </a:p>
          <a:p>
            <a:endParaRPr dirty="0"/>
          </a:p>
          <a:p>
            <a:r>
              <a:rPr dirty="0"/>
              <a:t>- Resist expansion; the value of this list is that students will actually remember it.</a:t>
            </a:r>
          </a:p>
          <a:p>
            <a:r>
              <a:rPr dirty="0"/>
              <a:t>- Pace (1:00): read the four as setup for the activity, not as a mini-lecture.</a:t>
            </a:r>
          </a:p>
          <a:p>
            <a:endParaRPr dirty="0"/>
          </a:p>
          <a:p>
            <a:r>
              <a:rPr dirty="0"/>
              <a:t>Transition: “Those four questions are enough to criticize somebody else’s metric. Now you have to make an engineering decision with imperfect evidence.”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 </a:t>
            </a:r>
            <a:r>
              <a:rPr i="1" dirty="0"/>
              <a:t>6 minutes team work, 4 minutes comparison.</a:t>
            </a:r>
          </a:p>
          <a:p>
            <a:endParaRPr dirty="0"/>
          </a:p>
          <a:p>
            <a:r>
              <a:rPr b="1" dirty="0"/>
              <a:t>Purpose. </a:t>
            </a:r>
            <a:r>
              <a:rPr dirty="0"/>
              <a:t>This activity integrates the lecture so far. Students must move from a consequential property, through measurements and evidence, to an engineering action under uncertainty. The objective is not to identify a uniquely correct design. More than one decision can be defensible.</a:t>
            </a:r>
          </a:p>
          <a:p>
            <a:endParaRPr dirty="0"/>
          </a:p>
          <a:p>
            <a:r>
              <a:rPr b="1" dirty="0"/>
              <a:t>Set up the case. </a:t>
            </a:r>
            <a:r>
              <a:rPr dirty="0"/>
              <a:t>Teams of 3–5. Tell students that both designs are viable. A is cheaper to implement, faster for a typical job, and operationally simpler. B has demonstrated substantially greater peak throughput and automatic recovery, but costs more engineering effort, increases typical completion time, and introduces operational machinery. Expected traffic overlaps A’s demonstrated peak capacity, but the expected workload itself is uncertain. Do not interpret the evidence for them; their task is not to discover the instructor’s preferred action, it is to make and defend a decision.</a:t>
            </a:r>
          </a:p>
          <a:p>
            <a:endParaRPr dirty="0"/>
          </a:p>
          <a:p>
            <a:r>
              <a:rPr b="1" dirty="0"/>
              <a:t>The deliverable is on the form, not the slide. </a:t>
            </a:r>
            <a:r>
              <a:rPr dirty="0"/>
              <a:t>Every team completes three sentences: “We will ___ because ___.” “The most important unresolved uncertainty is ___.” “We would change our decision if we learned ___.” Require every blank to be filled — the sentences force evidence to bear on a claim rather than merely reporting a number. Note the wording: </a:t>
            </a:r>
            <a:r>
              <a:rPr i="1" dirty="0"/>
              <a:t>we will</a:t>
            </a:r>
            <a:r>
              <a:rPr dirty="0"/>
              <a:t>, not </a:t>
            </a:r>
            <a:r>
              <a:rPr i="1" dirty="0"/>
              <a:t>we choose</a:t>
            </a:r>
            <a:r>
              <a:rPr dirty="0"/>
              <a:t>, because gathering evidence is an admissible answer.</a:t>
            </a:r>
          </a:p>
          <a:p>
            <a:endParaRPr dirty="0"/>
          </a:p>
          <a:p>
            <a:r>
              <a:rPr b="1" dirty="0"/>
              <a:t>Emphasize what the table does not establish. </a:t>
            </a:r>
            <a:r>
              <a:rPr dirty="0"/>
              <a:t>“35 jobs/min” is the peak load A handled in an experiment. It is not a statement that A fails at 36 jobs/min. Likewise, 20–50 jobs/min is an uncertain expectation, not a workload specification. Do not let students silently convert measurements into guarantees.</a:t>
            </a:r>
          </a:p>
          <a:p>
            <a:endParaRPr dirty="0"/>
          </a:p>
          <a:p>
            <a:r>
              <a:rPr b="1" dirty="0"/>
              <a:t>Make delay real. </a:t>
            </a:r>
            <a:r>
              <a:rPr dirty="0"/>
              <a:t>The customer is waiting. Every day the team spends gathering more evidence delays delivery by one day. Gathering evidence is therefore an engineering action with a cost, not a free preliminary step. Students may nevertheless decide that delaying delivery is justified.</a:t>
            </a:r>
          </a:p>
          <a:p>
            <a:endParaRPr dirty="0"/>
          </a:p>
          <a:p>
            <a:r>
              <a:rPr b="1" dirty="0"/>
              <a:t>Do not force A or B. </a:t>
            </a:r>
            <a:r>
              <a:rPr dirty="0"/>
              <a:t>A team’s action may be to choose A, choose B, gather more evidence, reformulate the alternatives, revisit an upstream assumption, or refuse the proposed change. If they choose to gather evidence, require them to say exactly what they would observe and why that observation could change the decision.</a:t>
            </a:r>
          </a:p>
          <a:p>
            <a:endParaRPr dirty="0"/>
          </a:p>
          <a:p>
            <a:r>
              <a:rPr b="1" dirty="0"/>
              <a:t>Push on vague requests for evidence. </a:t>
            </a:r>
            <a:r>
              <a:rPr dirty="0"/>
              <a:t>If a team says “we need more data,” ask: What observation? Which uncertainty does it reduce? What would you do differently depending on the result? If they cannot answer those questions, they have not justified buying the information.</a:t>
            </a:r>
          </a:p>
          <a:p>
            <a:endParaRPr dirty="0"/>
          </a:p>
          <a:p>
            <a:r>
              <a:rPr b="1" dirty="0"/>
              <a:t>Push on properties. </a:t>
            </a:r>
            <a:r>
              <a:rPr dirty="0"/>
              <a:t>Students may reasonably care about responsiveness, throughput/capacity, reliability/recovery, implementation effort, operational complexity, or time to customer value. They should not merely enumerate all of these. Ask which are consequential for this decision and why.</a:t>
            </a:r>
          </a:p>
          <a:p>
            <a:endParaRPr dirty="0"/>
          </a:p>
          <a:p>
            <a:r>
              <a:rPr b="1" dirty="0"/>
              <a:t>Push on metrics. </a:t>
            </a:r>
            <a:r>
              <a:rPr dirty="0"/>
              <a:t>“Typical completion time” is deliberately underspecified. What does typical mean? Under what workload? Likewise, experimentally handled peak load is evidence only under the experimental conditions. This connects directly to the earlier point that metrics have meaning relative to property, conditions, and decision.</a:t>
            </a:r>
          </a:p>
          <a:p>
            <a:endParaRPr dirty="0"/>
          </a:p>
          <a:p>
            <a:r>
              <a:rPr b="1" dirty="0"/>
              <a:t>Look for the central tension. </a:t>
            </a:r>
            <a:r>
              <a:rPr dirty="0"/>
              <a:t>Expected traffic of 20–50 jobs/min overlaps A’s demonstrated 35 jobs/min. That should make workload/capacity uncertainty salient, but do not tell students that this must be their decisive uncertainty. A team could reasonably regard failure/recovery behavior, customer latency, or operational complexity as more consequential.</a:t>
            </a:r>
          </a:p>
          <a:p>
            <a:endParaRPr dirty="0"/>
          </a:p>
          <a:p>
            <a:r>
              <a:rPr b="1" dirty="0"/>
              <a:t>Debrief. </a:t>
            </a:r>
            <a:r>
              <a:rPr dirty="0"/>
              <a:t>Ask two teams that made different decisions to defend them from the same evidence. Put their deliverables against each other. The interesting question is not </a:t>
            </a:r>
            <a:r>
              <a:rPr i="1" dirty="0"/>
              <a:t>who read the measurements correctly</a:t>
            </a:r>
            <a:r>
              <a:rPr dirty="0"/>
              <a:t> but </a:t>
            </a:r>
            <a:r>
              <a:rPr i="1" dirty="0"/>
              <a:t>what model of the decision did each team construct?</a:t>
            </a:r>
            <a:r>
              <a:rPr dirty="0"/>
              <a:t> Transition: “You all received exactly the same observations. Why did you make different decisions?” Use the disagreement to introduce the next section: evidence does not mechanically determine action. Consequence, uncertainty, reversibility, and the cost of further information affect what action is justified.</a:t>
            </a:r>
          </a:p>
          <a:p>
            <a:endParaRPr dirty="0"/>
          </a:p>
          <a:p>
            <a:r>
              <a:rPr dirty="0"/>
              <a:t>- Drive the debrief toward: different properties selected → different importance assigned → different uncertainty tolerated → different action. The section that follows gives that experience its name: slide 28 opens it, and the naming happens on slides 29–30.</a:t>
            </a:r>
          </a:p>
          <a:p>
            <a:r>
              <a:rPr dirty="0"/>
              <a:t>- Let students name consequence, uncertainty and reversibility if they can, rather than supplying all three immediately.</a:t>
            </a:r>
          </a:p>
          <a:p>
            <a:r>
              <a:rPr dirty="0"/>
              <a:t>- The conceptual difficulty here is judgment, not analysis. If teams need 13 minutes, the case has been made too complicated.</a:t>
            </a:r>
          </a:p>
          <a:p>
            <a:r>
              <a:rPr dirty="0"/>
              <a:t>- No staged animation: the whole slide is on screen from the start so teams can work without the instructor talking.</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0.25 minutes — </a:t>
            </a:r>
            <a:r>
              <a:rPr i="1" dirty="0"/>
              <a:t>Name Section 4. Accelerate: Validation taught much of the judgment material.</a:t>
            </a:r>
          </a:p>
          <a:p>
            <a:endParaRPr dirty="0"/>
          </a:p>
          <a:p>
            <a:r>
              <a:rPr dirty="0"/>
              <a:t>- Pace (0:15): divider only. Name the section and go.</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Extend the chain to judgment and action, then teach the Act I generalization fresh — do NOT present it as recall; the lectures did not make the per-unit measurement sections prominent.</a:t>
            </a:r>
          </a:p>
          <a:p>
            <a:endParaRPr/>
          </a:p>
          <a:p>
            <a:r>
              <a:t>- Build: the table row by row, and each row lands as a PAIR — engineering decision, then the property or claim requiring evidence — so students see decision, then claim to test, six times over. Header first, then one click per row. Then the closing claim line: engineering decisions create claims that later evidence can test. Then “A number does not decide what to do.” The chain comes LAST, as the generalization: the same structure spans all six rows. Do not animate top-to-bottom merely because that matches the layout.</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a:p>
            <a:r>
              <a:rPr dirty="0"/>
              <a:t>- Pace (1:30): generalize across Act I; do not walk every row aloud.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Same evidence, different rational actions; a Validation callback, not a re-teach.</a:t>
            </a:r>
          </a:p>
          <a:p>
            <a:endParaRPr/>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a:p>
            <a:r>
              <a:rPr dirty="0"/>
              <a:t>- Pace (1:30): this now names what the room just experienced in the activity, so it lands faster.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endParaRPr/>
          </a:p>
          <a:p>
            <a:r>
              <a:t>- The visual echo of slide 2 is deliberate; students should feel the loop close.</a:t>
            </a:r>
          </a:p>
          <a:p>
            <a:r>
              <a:t>- Do not present the five actions as exhaustive or as always-available peers.</a:t>
            </a:r>
          </a:p>
          <a:p>
            <a:r>
              <a:rPr dirty="0"/>
              <a:t>- The vocabulary is Validation’s, deliberately: deliver, gather more evidence, change, revisit upstream, refuse. Act I is being synthesized here, so no new action vocabulary is introduced. CHANGE covers changing the candidate system; REVISIT UPSTREAM covers discovering that the model, specification, or requirements framing needs revision.</a:t>
            </a:r>
          </a:p>
          <a:p>
            <a:r>
              <a:t>- (from slide) This is the question from the second slide, now with a theory of evidence behind it; the middle of the lecture existed to support it.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pic>
        <p:nvPicPr>
          <p:cNvPr id="4" name="Picture 3">
            <a:extLst>
              <a:ext uri="{FF2B5EF4-FFF2-40B4-BE49-F238E27FC236}">
                <a16:creationId xmlns:a16="http://schemas.microsoft.com/office/drawing/2014/main" id="{47C0912A-58B8-56A0-4DAB-2572C9F5D016}"/>
              </a:ext>
            </a:extLst>
          </p:cNvPr>
          <p:cNvPicPr>
            <a:picLocks noChangeAspect="1"/>
          </p:cNvPicPr>
          <p:nvPr/>
        </p:nvPicPr>
        <p:blipFill>
          <a:blip r:embed="rId3"/>
          <a:stretch>
            <a:fillRect/>
          </a:stretch>
        </p:blipFill>
        <p:spPr>
          <a:xfrm>
            <a:off x="8136439" y="30831"/>
            <a:ext cx="974619" cy="14309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Engineers need to make decisions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We must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dirty="0">
                <a:solidFill>
                  <a:srgbClr val="555960"/>
                </a:solidFill>
              </a:rPr>
              <a:t>m</a:t>
            </a:r>
            <a:r>
              <a:rPr lang="en-US" sz="2000" b="0" i="0" dirty="0">
                <a:solidFill>
                  <a:srgbClr val="555960"/>
                </a:solidFill>
              </a:rPr>
              <a:t>odels are incomplete</a:t>
            </a:r>
          </a:p>
          <a:p>
            <a:pPr algn="ctr">
              <a:spcBef>
                <a:spcPts val="160"/>
              </a:spcBef>
              <a:buNone/>
            </a:pPr>
            <a:r>
              <a:rPr lang="en-US" sz="2000" b="0" i="0" dirty="0">
                <a:solidFill>
                  <a:srgbClr val="555960"/>
                </a:solidFill>
              </a:rPr>
              <a:t>evidence is finite</a:t>
            </a:r>
          </a:p>
          <a:p>
            <a:pPr algn="ctr">
              <a:spcBef>
                <a:spcPts val="160"/>
              </a:spcBef>
              <a:buNone/>
            </a:pPr>
            <a:r>
              <a:rPr lang="en-US" sz="2000" b="0" i="0" dirty="0">
                <a:solidFill>
                  <a:srgbClr val="555960"/>
                </a:solidFill>
              </a:rPr>
              <a:t>outcomes </a:t>
            </a:r>
            <a:r>
              <a:rPr lang="en-US" sz="2000" dirty="0">
                <a:solidFill>
                  <a:srgbClr val="555960"/>
                </a:solidFill>
              </a:rPr>
              <a:t>are a </a:t>
            </a:r>
            <a:r>
              <a:rPr lang="en-US" sz="2000" b="0" i="0" dirty="0">
                <a:solidFill>
                  <a:srgbClr val="555960"/>
                </a:solidFill>
              </a:rPr>
              <a:t>future state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880000"/>
            <a:ext cx="8595360" cy="80000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A good engineering decision is the decision </a:t>
            </a:r>
            <a:r>
              <a:rPr lang="en-US" sz="2000" b="1" i="0" dirty="0">
                <a:solidFill>
                  <a:srgbClr val="5C4826"/>
                </a:solidFill>
              </a:rPr>
              <a:t>best justified </a:t>
            </a:r>
          </a:p>
          <a:p>
            <a:pPr algn="ctr">
              <a:buNone/>
            </a:pPr>
            <a:r>
              <a:rPr lang="en-US" sz="2000" b="1" i="0" dirty="0">
                <a:solidFill>
                  <a:srgbClr val="5C4826"/>
                </a:solidFill>
              </a:rPr>
              <a:t>by the evidence available when it must be made.</a:t>
            </a:r>
          </a:p>
        </p:txBody>
      </p:sp>
      <p:sp>
        <p:nvSpPr>
          <p:cNvPr id="101" name="Scenario"/>
          <p:cNvSpPr/>
          <p:nvPr/>
        </p:nvSpPr>
        <p:spPr>
          <a:xfrm>
            <a:off x="274320" y="1860000"/>
            <a:ext cx="8595360" cy="98000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06000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03" name="TpsPrompt"/>
          <p:cNvSpPr txBox="1"/>
          <p:nvPr/>
        </p:nvSpPr>
        <p:spPr>
          <a:xfrm>
            <a:off x="3685032" y="3060000"/>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3790000"/>
            <a:ext cx="8595360" cy="740000"/>
          </a:xfrm>
          <a:prstGeom prst="rect">
            <a:avLst/>
          </a:prstGeom>
          <a:noFill/>
          <a:ln>
            <a:noFill/>
          </a:ln>
        </p:spPr>
        <p:txBody>
          <a:bodyPr wrap="square" lIns="0" tIns="0" rIns="0" bIns="0" anchor="t"/>
          <a:lstStyle/>
          <a:p>
            <a:pPr algn="ctr">
              <a:buNone/>
            </a:pPr>
            <a:r>
              <a:rPr lang="en-US" sz="2000" b="0" i="1" dirty="0">
                <a:solidFill>
                  <a:srgbClr val="000000"/>
                </a:solidFill>
              </a:rPr>
              <a:t>No. </a:t>
            </a:r>
            <a:r>
              <a:rPr lang="en-US" sz="2000" i="1" dirty="0">
                <a:solidFill>
                  <a:srgbClr val="000000"/>
                </a:solidFill>
              </a:rPr>
              <a:t>J</a:t>
            </a:r>
            <a:r>
              <a:rPr lang="en-US" sz="2000" b="0" i="1" dirty="0">
                <a:solidFill>
                  <a:srgbClr val="000000"/>
                </a:solidFill>
              </a:rPr>
              <a:t>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6" name="RiskBadge"/>
          <p:cNvSpPr/>
          <p:nvPr/>
        </p:nvSpPr>
        <p:spPr>
          <a:xfrm>
            <a:off x="274320" y="4700000"/>
            <a:ext cx="2560320" cy="64008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8E6F3E"/>
                </a:solidFill>
              </a:rPr>
              <a:t>RISK MANAGEMENT</a:t>
            </a:r>
          </a:p>
        </p:txBody>
      </p:sp>
      <p:sp>
        <p:nvSpPr>
          <p:cNvPr id="107" name="RiskNote"/>
          <p:cNvSpPr txBox="1"/>
          <p:nvPr/>
        </p:nvSpPr>
        <p:spPr>
          <a:xfrm>
            <a:off x="3017520" y="4700000"/>
            <a:ext cx="5852160" cy="640080"/>
          </a:xfrm>
          <a:prstGeom prst="rect">
            <a:avLst/>
          </a:prstGeom>
          <a:noFill/>
          <a:ln>
            <a:noFill/>
          </a:ln>
        </p:spPr>
        <p:txBody>
          <a:bodyPr wrap="square" lIns="0" tIns="0" rIns="0" bIns="0" anchor="ctr"/>
          <a:lstStyle/>
          <a:p>
            <a:pPr algn="l">
              <a:buNone/>
            </a:pPr>
            <a:r>
              <a:rPr lang="en-US" sz="2000" b="0" i="0" dirty="0">
                <a:solidFill>
                  <a:srgbClr val="5C4826"/>
                </a:solidFill>
              </a:rPr>
              <a:t>Identify consequential uncertainty and decide</a:t>
            </a:r>
          </a:p>
          <a:p>
            <a:pPr algn="l">
              <a:buNone/>
            </a:pPr>
            <a:r>
              <a:rPr lang="en-US" sz="2000" b="0" i="0" dirty="0">
                <a:solidFill>
                  <a:srgbClr val="5C4826"/>
                </a:solidFill>
              </a:rPr>
              <a:t>what risk can responsibly remain.</a:t>
            </a:r>
          </a:p>
        </p:txBody>
      </p:sp>
      <p:sp>
        <p:nvSpPr>
          <p:cNvPr id="105"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a:p>
            <a:pPr algn="ctr">
              <a:buNone/>
            </a:pPr>
            <a:r>
              <a:rPr lang="en-US" sz="2000" b="1" i="0" dirty="0">
                <a:solidFill>
                  <a:srgbClr val="FFFFFF"/>
                </a:solidFill>
              </a:rPr>
              <a:t>and treatment of uncertainty.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animBg="1"/>
      <p:bldP spid="107" grpId="0"/>
      <p:bldP spid="10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38328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 model identifies relationships we believe matter, </a:t>
            </a:r>
          </a:p>
          <a:p>
            <a:pPr algn="ctr">
              <a:buNone/>
            </a:pPr>
            <a:r>
              <a:rPr lang="en-US" sz="2000" b="0" i="1" dirty="0">
                <a:solidFill>
                  <a:srgbClr val="5C4826"/>
                </a:solidFill>
              </a:rPr>
              <a:t>before</a:t>
            </a:r>
            <a:r>
              <a:rPr lang="en-US" sz="2000" b="0" i="0" dirty="0">
                <a:solidFill>
                  <a:srgbClr val="5C4826"/>
                </a:solidFill>
              </a:rPr>
              <a:t> their consequences can be fully observed.</a:t>
            </a:r>
          </a:p>
        </p:txBody>
      </p:sp>
      <p:sp>
        <p:nvSpPr>
          <p:cNvPr id="107" name="Implicit"/>
          <p:cNvSpPr txBox="1"/>
          <p:nvPr/>
        </p:nvSpPr>
        <p:spPr>
          <a:xfrm>
            <a:off x="274320" y="4480560"/>
            <a:ext cx="8595360" cy="1005840"/>
          </a:xfrm>
          <a:prstGeom prst="rect">
            <a:avLst/>
          </a:prstGeom>
          <a:noFill/>
          <a:ln>
            <a:noFill/>
          </a:ln>
        </p:spPr>
        <p:txBody>
          <a:bodyPr wrap="square" lIns="0" tIns="0" rIns="0" bIns="0" anchor="ctr"/>
          <a:lstStyle/>
          <a:p>
            <a:pPr algn="ctr">
              <a:buNone/>
            </a:pPr>
            <a:r>
              <a:rPr lang="en-US" sz="2000" b="1" i="0" dirty="0">
                <a:solidFill>
                  <a:srgbClr val="5C4826"/>
                </a:solidFill>
              </a:rPr>
              <a:t>The model may be explicit or implicit.</a:t>
            </a:r>
          </a:p>
          <a:p>
            <a:pPr algn="ctr">
              <a:spcBef>
                <a:spcPts val="140"/>
              </a:spcBef>
              <a:buNone/>
            </a:pPr>
            <a:r>
              <a:rPr lang="en-US" sz="2000" b="0" i="0" dirty="0">
                <a:solidFill>
                  <a:srgbClr val="5C4826"/>
                </a:solidFill>
              </a:rPr>
              <a:t>An equation, diagram, rule of thumb, causal belief, or assumed relationship</a:t>
            </a:r>
          </a:p>
          <a:p>
            <a:pPr algn="ctr">
              <a:buNone/>
            </a:pPr>
            <a:r>
              <a:rPr lang="en-US" sz="2000" b="0" i="0" dirty="0">
                <a:solidFill>
                  <a:srgbClr val="5C4826"/>
                </a:solidFill>
              </a:rPr>
              <a:t>can all supply the model behind a decision.</a:t>
            </a:r>
          </a:p>
        </p:txBody>
      </p:sp>
      <p:sp>
        <p:nvSpPr>
          <p:cNvPr id="4" name="FooterBand">
            <a:extLst>
              <a:ext uri="{FF2B5EF4-FFF2-40B4-BE49-F238E27FC236}">
                <a16:creationId xmlns:a16="http://schemas.microsoft.com/office/drawing/2014/main" id="{16B68A1E-77D9-B3CF-C4E9-6B4ED3EA2F00}"/>
              </a:ext>
            </a:extLst>
          </p:cNvPr>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model does not make the decision.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ACTION</a:t>
            </a:r>
          </a:p>
        </p:txBody>
      </p:sp>
      <p:sp>
        <p:nvSpPr>
          <p:cNvPr id="19" name="Gloss5"/>
          <p:cNvSpPr txBox="1"/>
          <p:nvPr/>
        </p:nvSpPr>
        <p:spPr>
          <a:xfrm>
            <a:off x="3474720" y="6018311"/>
            <a:ext cx="5394960" cy="307777"/>
          </a:xfrm>
          <a:prstGeom prst="rect">
            <a:avLst/>
          </a:prstGeom>
          <a:noFill/>
        </p:spPr>
        <p:txBody>
          <a:bodyPr wrap="square" lIns="0" tIns="0" rIns="0" bIns="0" anchor="ctr">
            <a:spAutoFit/>
          </a:bodyPr>
          <a:lstStyle/>
          <a:p>
            <a:pPr algn="l"/>
            <a:r>
              <a:rPr sz="2000" b="0" i="0" dirty="0">
                <a:solidFill>
                  <a:srgbClr val="555960"/>
                </a:solidFill>
              </a:rPr>
              <a:t>follows from judgment</a:t>
            </a:r>
            <a:r>
              <a:rPr lang="en-US" sz="2000" b="0" i="0" dirty="0">
                <a:solidFill>
                  <a:srgbClr val="555960"/>
                </a:solidFill>
              </a:rPr>
              <a:t>,</a:t>
            </a:r>
            <a:r>
              <a:rPr lang="en-US" sz="2000" dirty="0">
                <a:solidFill>
                  <a:srgbClr val="555960"/>
                </a:solidFill>
              </a:rPr>
              <a:t> </a:t>
            </a:r>
            <a:r>
              <a:rPr sz="2000" b="0" i="0" dirty="0">
                <a:solidFill>
                  <a:srgbClr val="555960"/>
                </a:solidFill>
              </a:rPr>
              <a:t>not evidence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000" b="1" i="0" dirty="0">
                <a:solidFill>
                  <a:srgbClr val="FFFFFF"/>
                </a:solidFill>
              </a:rPr>
              <a:t>A measurement becomes evidence only relative to a claim.</a:t>
            </a:r>
          </a:p>
        </p:txBody>
      </p:sp>
      <p:sp>
        <p:nvSpPr>
          <p:cNvPr id="20" name="Hub"/>
          <p:cNvSpPr/>
          <p:nvPr/>
        </p:nvSpPr>
        <p:spPr>
          <a:xfrm>
            <a:off x="685800" y="1932432"/>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buNone/>
            </a:pPr>
            <a:r>
              <a:rPr lang="en-US" sz="2400" b="1" i="0" dirty="0">
                <a:solidFill>
                  <a:srgbClr val="FFFFFF"/>
                </a:solidFill>
              </a:rPr>
              <a:t>EVIDENCE</a:t>
            </a:r>
          </a:p>
        </p:txBody>
      </p:sp>
      <p:cxnSp>
        <p:nvCxnSpPr>
          <p:cNvPr id="22" name="Fan0"/>
          <p:cNvCxnSpPr/>
          <p:nvPr/>
        </p:nvCxnSpPr>
        <p:spPr>
          <a:xfrm flipV="1">
            <a:off x="3063240" y="10789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1" name="Mech0"/>
          <p:cNvSpPr/>
          <p:nvPr/>
        </p:nvSpPr>
        <p:spPr>
          <a:xfrm>
            <a:off x="4754880" y="8503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Review</a:t>
            </a:r>
          </a:p>
        </p:txBody>
      </p:sp>
      <p:cxnSp>
        <p:nvCxnSpPr>
          <p:cNvPr id="24" name="Fan1"/>
          <p:cNvCxnSpPr/>
          <p:nvPr/>
        </p:nvCxnSpPr>
        <p:spPr>
          <a:xfrm flipV="1">
            <a:off x="3063240" y="156667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33807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Analysis</a:t>
            </a:r>
          </a:p>
        </p:txBody>
      </p:sp>
      <p:cxnSp>
        <p:nvCxnSpPr>
          <p:cNvPr id="26" name="Fan2"/>
          <p:cNvCxnSpPr/>
          <p:nvPr/>
        </p:nvCxnSpPr>
        <p:spPr>
          <a:xfrm flipV="1">
            <a:off x="3063240" y="205435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182575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Prototype</a:t>
            </a:r>
          </a:p>
        </p:txBody>
      </p:sp>
      <p:cxnSp>
        <p:nvCxnSpPr>
          <p:cNvPr id="28" name="Fan3"/>
          <p:cNvCxnSpPr/>
          <p:nvPr/>
        </p:nvCxnSpPr>
        <p:spPr>
          <a:xfrm>
            <a:off x="3063240" y="2298192"/>
            <a:ext cx="1691640" cy="243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231343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Test</a:t>
            </a:r>
          </a:p>
        </p:txBody>
      </p:sp>
      <p:cxnSp>
        <p:nvCxnSpPr>
          <p:cNvPr id="30" name="Fan4"/>
          <p:cNvCxnSpPr/>
          <p:nvPr/>
        </p:nvCxnSpPr>
        <p:spPr>
          <a:xfrm>
            <a:off x="3063240" y="2298192"/>
            <a:ext cx="1691640" cy="7315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280111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0" i="0" dirty="0">
                <a:solidFill>
                  <a:srgbClr val="5C4826"/>
                </a:solidFill>
              </a:rPr>
              <a:t>Experiment</a:t>
            </a:r>
          </a:p>
        </p:txBody>
      </p:sp>
      <p:cxnSp>
        <p:nvCxnSpPr>
          <p:cNvPr id="32" name="Fan5"/>
          <p:cNvCxnSpPr/>
          <p:nvPr/>
        </p:nvCxnSpPr>
        <p:spPr>
          <a:xfrm>
            <a:off x="3063240" y="2298192"/>
            <a:ext cx="1691640" cy="121920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3288792"/>
            <a:ext cx="320040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dirty="0">
                <a:solidFill>
                  <a:srgbClr val="5C4826"/>
                </a:solidFill>
              </a:rPr>
              <a:t>O</a:t>
            </a:r>
            <a:r>
              <a:rPr lang="en-US" sz="2000" b="0" i="0" dirty="0">
                <a:solidFill>
                  <a:srgbClr val="5C4826"/>
                </a:solidFill>
              </a:rPr>
              <a:t>bservation</a:t>
            </a:r>
          </a:p>
        </p:txBody>
      </p:sp>
      <p:sp>
        <p:nvSpPr>
          <p:cNvPr id="35" name="CrossBand"/>
          <p:cNvSpPr/>
          <p:nvPr/>
        </p:nvSpPr>
        <p:spPr>
          <a:xfrm>
            <a:off x="685800" y="3931920"/>
            <a:ext cx="7269480" cy="457200"/>
          </a:xfrm>
          <a:prstGeom prst="rect">
            <a:avLst/>
          </a:prstGeom>
          <a:noFill/>
          <a:ln w="15875">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buNone/>
            </a:pPr>
            <a:r>
              <a:rPr lang="en-US" sz="2000" b="1" i="0" dirty="0">
                <a:solidFill>
                  <a:srgbClr val="8E6F3E"/>
                </a:solidFill>
              </a:rPr>
              <a:t>MEASUREMENT CAN OCCUR WITHIN ANY OF THESE</a:t>
            </a:r>
          </a:p>
        </p:txBody>
      </p:sp>
      <p:sp>
        <p:nvSpPr>
          <p:cNvPr id="40" name="ClaimBox"/>
          <p:cNvSpPr/>
          <p:nvPr/>
        </p:nvSpPr>
        <p:spPr>
          <a:xfrm>
            <a:off x="685800" y="4572000"/>
            <a:ext cx="338328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CLAIM</a:t>
            </a:r>
          </a:p>
          <a:p>
            <a:pPr algn="ctr">
              <a:spcBef>
                <a:spcPts val="140"/>
              </a:spcBef>
              <a:buNone/>
            </a:pPr>
            <a:r>
              <a:rPr lang="en-US" sz="2000" b="0" i="0" dirty="0">
                <a:solidFill>
                  <a:srgbClr val="5C4826"/>
                </a:solidFill>
              </a:rPr>
              <a:t>system meets the 500 ms</a:t>
            </a:r>
          </a:p>
          <a:p>
            <a:pPr algn="ctr">
              <a:buNone/>
            </a:pPr>
            <a:r>
              <a:rPr lang="en-US" sz="2000" b="0" i="0" dirty="0">
                <a:solidFill>
                  <a:srgbClr val="5C4826"/>
                </a:solidFill>
              </a:rPr>
              <a:t>responsiveness requirement</a:t>
            </a:r>
          </a:p>
        </p:txBody>
      </p:sp>
      <p:sp>
        <p:nvSpPr>
          <p:cNvPr id="43" name="MeasBox"/>
          <p:cNvSpPr/>
          <p:nvPr/>
        </p:nvSpPr>
        <p:spPr>
          <a:xfrm>
            <a:off x="5577840" y="4572000"/>
            <a:ext cx="2377440" cy="10972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8E6F3E"/>
                </a:solidFill>
              </a:rPr>
              <a:t>MEASUREMENT</a:t>
            </a:r>
          </a:p>
          <a:p>
            <a:pPr algn="ctr">
              <a:spcBef>
                <a:spcPts val="140"/>
              </a:spcBef>
              <a:buNone/>
            </a:pPr>
            <a:r>
              <a:rPr lang="en-US" sz="2000" b="0" i="0" dirty="0">
                <a:solidFill>
                  <a:srgbClr val="5C4826"/>
                </a:solidFill>
              </a:rPr>
              <a:t>p99 = 420 ms</a:t>
            </a:r>
          </a:p>
        </p:txBody>
      </p:sp>
      <p:sp>
        <p:nvSpPr>
          <p:cNvPr id="41" name="EvidenceLbl"/>
          <p:cNvSpPr txBox="1"/>
          <p:nvPr/>
        </p:nvSpPr>
        <p:spPr>
          <a:xfrm>
            <a:off x="4206240" y="4663440"/>
            <a:ext cx="1234440" cy="365760"/>
          </a:xfrm>
          <a:prstGeom prst="rect">
            <a:avLst/>
          </a:prstGeom>
          <a:noFill/>
          <a:ln>
            <a:noFill/>
          </a:ln>
        </p:spPr>
        <p:txBody>
          <a:bodyPr wrap="square" lIns="0" tIns="0" rIns="0" bIns="0" anchor="ctr"/>
          <a:lstStyle/>
          <a:p>
            <a:pPr algn="ctr">
              <a:buNone/>
            </a:pPr>
            <a:r>
              <a:rPr lang="en-US" sz="2000" b="1" i="0" dirty="0">
                <a:solidFill>
                  <a:srgbClr val="8E6F3E"/>
                </a:solidFill>
              </a:rPr>
              <a:t>EVIDENCE</a:t>
            </a:r>
          </a:p>
        </p:txBody>
      </p:sp>
      <p:cxnSp>
        <p:nvCxnSpPr>
          <p:cNvPr id="42" name="EvidenceArrow"/>
          <p:cNvCxnSpPr/>
          <p:nvPr/>
        </p:nvCxnSpPr>
        <p:spPr>
          <a:xfrm flipH="1">
            <a:off x="4206240" y="5120640"/>
            <a:ext cx="1234440" cy="0"/>
          </a:xfrm>
          <a:prstGeom prst="line">
            <a:avLst/>
          </a:prstGeom>
          <a:ln w="2222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50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500"/>
                                        <p:tgtEl>
                                          <p:spTgt spid="23"/>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500"/>
                                        <p:tgtEl>
                                          <p:spTgt spid="25"/>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50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50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500"/>
                                        <p:tgtEl>
                                          <p:spTgt spid="29"/>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50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500"/>
                                        <p:tgtEl>
                                          <p:spTgt spid="3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500"/>
                                        <p:tgtEl>
                                          <p:spTgt spid="35"/>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500"/>
                                        <p:tgtEl>
                                          <p:spTgt spid="40"/>
                                        </p:tgtEl>
                                      </p:cBhvr>
                                    </p:animEffect>
                                  </p:childTnLst>
                                </p:cTn>
                              </p:par>
                              <p:par>
                                <p:cTn id="54" presetID="10" presetClass="entr" presetSubtype="0" fill="hold" nodeType="withEffect">
                                  <p:stCondLst>
                                    <p:cond delay="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500"/>
                                        <p:tgtEl>
                                          <p:spTgt spid="43"/>
                                        </p:tgtEl>
                                      </p:cBhvr>
                                    </p:animEffect>
                                  </p:childTnLst>
                                </p:cTn>
                              </p:par>
                              <p:par>
                                <p:cTn id="57" presetID="10" presetClass="entr" presetSubtype="0" fill="hold" nodeType="withEffect">
                                  <p:stCondLst>
                                    <p:cond delay="0"/>
                                  </p:stCondLst>
                                  <p:childTnLst>
                                    <p:set>
                                      <p:cBhvr>
                                        <p:cTn id="58" dur="1" fill="hold">
                                          <p:stCondLst>
                                            <p:cond delay="0"/>
                                          </p:stCondLst>
                                        </p:cTn>
                                        <p:tgtEl>
                                          <p:spTgt spid="42"/>
                                        </p:tgtEl>
                                        <p:attrNameLst>
                                          <p:attrName>style.visibility</p:attrName>
                                        </p:attrNameLst>
                                      </p:cBhvr>
                                      <p:to>
                                        <p:strVal val="visible"/>
                                      </p:to>
                                    </p:set>
                                    <p:animEffect transition="in" filter="fade">
                                      <p:cBhvr>
                                        <p:cTn id="59" dur="500"/>
                                        <p:tgtEl>
                                          <p:spTgt spid="42"/>
                                        </p:tgtEl>
                                      </p:cBhvr>
                                    </p:animEffect>
                                  </p:childTnLst>
                                </p:cTn>
                              </p:par>
                              <p:par>
                                <p:cTn id="60" presetID="10" presetClass="entr" presetSubtype="0" fill="hold" nodeType="with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500"/>
                                        <p:tgtEl>
                                          <p:spTgt spid="41"/>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8E6F3E"/>
                </a:solidFill>
              </a:rPr>
              <a:t>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dirty="0">
                <a:solidFill>
                  <a:srgbClr val="5C4826"/>
                </a:solidFill>
              </a:rPr>
              <a:t>A — larger cache</a:t>
            </a:r>
          </a:p>
          <a:p>
            <a:pPr marL="342900" indent="-225425" algn="l">
              <a:buFont typeface="Arial" panose="020B0604020202020204" pitchFamily="34" charset="0"/>
              <a:buChar char="•"/>
            </a:pPr>
            <a:r>
              <a:rPr sz="2000" b="0" i="0" dirty="0">
                <a:solidFill>
                  <a:srgbClr val="5C4826"/>
                </a:solidFill>
              </a:rPr>
              <a:t>lower expected latency</a:t>
            </a:r>
          </a:p>
          <a:p>
            <a:pPr marL="342900" indent="-225425" algn="l">
              <a:buFont typeface="Arial" panose="020B0604020202020204" pitchFamily="34" charset="0"/>
              <a:buChar char="•"/>
            </a:pPr>
            <a:r>
              <a:rPr sz="2000" b="0" i="0" dirty="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dirty="0">
                <a:solidFill>
                  <a:srgbClr val="5C4826"/>
                </a:solidFill>
              </a:rPr>
              <a:t>B — smaller cache</a:t>
            </a:r>
          </a:p>
          <a:p>
            <a:pPr marL="342900" indent="-157163" algn="l">
              <a:buFont typeface="Arial" panose="020B0604020202020204" pitchFamily="34" charset="0"/>
              <a:buChar char="•"/>
            </a:pPr>
            <a:r>
              <a:rPr sz="2000" b="0" i="0" dirty="0">
                <a:solidFill>
                  <a:srgbClr val="5C4826"/>
                </a:solidFill>
              </a:rPr>
              <a:t>higher expected latency</a:t>
            </a:r>
          </a:p>
          <a:p>
            <a:pPr marL="342900" indent="-157163" algn="l">
              <a:buFont typeface="Arial" panose="020B0604020202020204" pitchFamily="34" charset="0"/>
              <a:buChar char="•"/>
            </a:pPr>
            <a:r>
              <a:rPr sz="2000" b="0" i="0" dirty="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dirty="0">
                <a:solidFill>
                  <a:srgbClr val="5C4826"/>
                </a:solidFill>
              </a:rPr>
              <a:t>What evidence would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dirty="0">
                <a:solidFill>
                  <a:srgbClr val="5C4826"/>
                </a:solidFill>
              </a:rPr>
              <a:t>Run both under a representative workload; compare the latency distributions</a:t>
            </a:r>
            <a:r>
              <a:rPr lang="en-US" sz="2000" b="0" i="0" dirty="0">
                <a:solidFill>
                  <a:srgbClr val="5C4826"/>
                </a:solidFill>
              </a:rPr>
              <a:t>?</a:t>
            </a:r>
            <a:endParaRPr sz="2000" b="0" i="0" dirty="0">
              <a:solidFill>
                <a:srgbClr val="5C4826"/>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Recap: What do we need to know?</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0" name="Lead"/>
          <p:cNvSpPr txBox="1"/>
          <p:nvPr/>
        </p:nvSpPr>
        <p:spPr>
          <a:xfrm>
            <a:off x="274320" y="850392"/>
            <a:ext cx="8595360" cy="411480"/>
          </a:xfrm>
          <a:prstGeom prst="rect">
            <a:avLst/>
          </a:prstGeom>
          <a:noFill/>
          <a:ln>
            <a:noFill/>
          </a:ln>
        </p:spPr>
        <p:txBody>
          <a:bodyPr wrap="square" lIns="0" tIns="45720" rIns="0" bIns="45720" anchor="ctr"/>
          <a:lstStyle/>
          <a:p>
            <a:pPr algn="ctr">
              <a:buNone/>
            </a:pPr>
            <a:r>
              <a:rPr lang="en-US" sz="2000" b="0" i="0" dirty="0">
                <a:solidFill>
                  <a:srgbClr val="5C4826"/>
                </a:solidFill>
              </a:rPr>
              <a:t>To make an engineering decision, identify:</a:t>
            </a:r>
          </a:p>
        </p:txBody>
      </p:sp>
      <p:sp>
        <p:nvSpPr>
          <p:cNvPr id="110" name="R0"/>
          <p:cNvSpPr/>
          <p:nvPr/>
        </p:nvSpPr>
        <p:spPr>
          <a:xfrm>
            <a:off x="274320" y="141732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1   </a:t>
            </a:r>
            <a:r>
              <a:rPr lang="en-US" sz="2000" b="1" i="0" dirty="0">
                <a:solidFill>
                  <a:srgbClr val="5C4826"/>
                </a:solidFill>
              </a:rPr>
              <a:t>The decision</a:t>
            </a:r>
            <a:r>
              <a:rPr lang="en-US" sz="2000" b="0" i="0" dirty="0">
                <a:solidFill>
                  <a:srgbClr val="9A9A9A"/>
                </a:solidFill>
              </a:rPr>
              <a:t> — </a:t>
            </a:r>
            <a:r>
              <a:rPr lang="en-US" sz="2000" b="0" i="0" dirty="0">
                <a:solidFill>
                  <a:srgbClr val="5C4826"/>
                </a:solidFill>
              </a:rPr>
              <a:t>what are we choosing?</a:t>
            </a:r>
          </a:p>
        </p:txBody>
      </p:sp>
      <p:sp>
        <p:nvSpPr>
          <p:cNvPr id="111" name="R1"/>
          <p:cNvSpPr/>
          <p:nvPr/>
        </p:nvSpPr>
        <p:spPr>
          <a:xfrm>
            <a:off x="274320" y="224028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2   </a:t>
            </a:r>
            <a:r>
              <a:rPr lang="en-US" sz="2000" b="1" i="0" dirty="0">
                <a:solidFill>
                  <a:srgbClr val="5C4826"/>
                </a:solidFill>
              </a:rPr>
              <a:t>The model</a:t>
            </a:r>
            <a:r>
              <a:rPr lang="en-US" sz="2000" b="0" i="0" dirty="0">
                <a:solidFill>
                  <a:srgbClr val="9A9A9A"/>
                </a:solidFill>
              </a:rPr>
              <a:t> — </a:t>
            </a:r>
            <a:r>
              <a:rPr lang="en-US" sz="2000" b="0" i="0" dirty="0">
                <a:solidFill>
                  <a:srgbClr val="5C4826"/>
                </a:solidFill>
              </a:rPr>
              <a:t>what relationships do we believe matter?</a:t>
            </a:r>
          </a:p>
        </p:txBody>
      </p:sp>
      <p:sp>
        <p:nvSpPr>
          <p:cNvPr id="112" name="R2"/>
          <p:cNvSpPr/>
          <p:nvPr/>
        </p:nvSpPr>
        <p:spPr>
          <a:xfrm>
            <a:off x="274320" y="306324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3   </a:t>
            </a:r>
            <a:r>
              <a:rPr lang="en-US" sz="2000" b="1" i="0" dirty="0">
                <a:solidFill>
                  <a:srgbClr val="5C4826"/>
                </a:solidFill>
              </a:rPr>
              <a:t>The consequential properties</a:t>
            </a:r>
            <a:r>
              <a:rPr lang="en-US" sz="2000" b="0" i="0" dirty="0">
                <a:solidFill>
                  <a:srgbClr val="9A9A9A"/>
                </a:solidFill>
              </a:rPr>
              <a:t> — </a:t>
            </a:r>
            <a:r>
              <a:rPr lang="en-US" sz="2000" b="0" i="0" dirty="0">
                <a:solidFill>
                  <a:srgbClr val="5C4826"/>
                </a:solidFill>
              </a:rPr>
              <a:t>what differences among alternatives matter?</a:t>
            </a:r>
          </a:p>
        </p:txBody>
      </p:sp>
      <p:sp>
        <p:nvSpPr>
          <p:cNvPr id="113" name="R3"/>
          <p:cNvSpPr/>
          <p:nvPr/>
        </p:nvSpPr>
        <p:spPr>
          <a:xfrm>
            <a:off x="274320" y="388620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4   </a:t>
            </a:r>
            <a:r>
              <a:rPr lang="en-US" sz="2000" b="1" i="0" dirty="0">
                <a:solidFill>
                  <a:srgbClr val="5C4826"/>
                </a:solidFill>
              </a:rPr>
              <a:t>The uncertainty</a:t>
            </a:r>
            <a:r>
              <a:rPr lang="en-US" sz="2000" b="0" i="0" dirty="0">
                <a:solidFill>
                  <a:srgbClr val="9A9A9A"/>
                </a:solidFill>
              </a:rPr>
              <a:t> — </a:t>
            </a:r>
            <a:r>
              <a:rPr lang="en-US" sz="2000" b="0" i="0" dirty="0">
                <a:solidFill>
                  <a:srgbClr val="5C4826"/>
                </a:solidFill>
              </a:rPr>
              <a:t>what do we not yet know that could change the decision?</a:t>
            </a:r>
          </a:p>
        </p:txBody>
      </p:sp>
      <p:sp>
        <p:nvSpPr>
          <p:cNvPr id="114" name="R4"/>
          <p:cNvSpPr/>
          <p:nvPr/>
        </p:nvSpPr>
        <p:spPr>
          <a:xfrm>
            <a:off x="274320" y="4709160"/>
            <a:ext cx="8595360" cy="731520"/>
          </a:xfrm>
          <a:prstGeom prst="rect">
            <a:avLst/>
          </a:prstGeom>
          <a:solidFill>
            <a:srgbClr val="F5F1E8"/>
          </a:solidFill>
          <a:ln w="12700">
            <a:solidFill>
              <a:srgbClr val="C9B991"/>
            </a:solidFill>
          </a:ln>
        </p:spPr>
        <p:txBody>
          <a:bodyPr wrap="square" lIns="91440" tIns="45720" rIns="45720" bIns="45720" anchor="ctr"/>
          <a:lstStyle/>
          <a:p>
            <a:pPr marL="457200" indent="-457200" algn="l">
              <a:buNone/>
            </a:pPr>
            <a:r>
              <a:rPr lang="en-US" sz="2000" b="1" i="0" dirty="0">
                <a:solidFill>
                  <a:srgbClr val="8E6F3E"/>
                </a:solidFill>
              </a:rPr>
              <a:t>5   </a:t>
            </a:r>
            <a:r>
              <a:rPr lang="en-US" sz="2000" b="1" i="0" dirty="0">
                <a:solidFill>
                  <a:srgbClr val="5C4826"/>
                </a:solidFill>
              </a:rPr>
              <a:t>The evidence needed</a:t>
            </a:r>
            <a:r>
              <a:rPr lang="en-US" sz="2000" b="0" i="0" dirty="0">
                <a:solidFill>
                  <a:srgbClr val="9A9A9A"/>
                </a:solidFill>
              </a:rPr>
              <a:t> — </a:t>
            </a:r>
            <a:r>
              <a:rPr lang="en-US" sz="2000" b="0" i="0" dirty="0">
                <a:solidFill>
                  <a:srgbClr val="5C4826"/>
                </a:solidFill>
              </a:rPr>
              <a:t>what observation would reduce that uncertainty?</a:t>
            </a:r>
          </a:p>
        </p:txBody>
      </p:sp>
      <p:sp>
        <p:nvSpPr>
          <p:cNvPr id="120" name="FooterBand"/>
          <p:cNvSpPr/>
          <p:nvPr/>
        </p:nvSpPr>
        <p:spPr>
          <a:xfrm>
            <a:off x="274320" y="5687568"/>
            <a:ext cx="8595360" cy="768096"/>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Next question: How do we turn a property we care about</a:t>
            </a:r>
          </a:p>
          <a:p>
            <a:pPr algn="ctr">
              <a:buNone/>
            </a:pPr>
            <a:r>
              <a:rPr lang="en-US" sz="2000" b="1" i="0" dirty="0">
                <a:solidFill>
                  <a:srgbClr val="FFFFFF"/>
                </a:solidFill>
              </a:rPr>
              <a:t>into something we can observe?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1"/>
                                        </p:tgtEl>
                                        <p:attrNameLst>
                                          <p:attrName>style.visibility</p:attrName>
                                        </p:attrNameLst>
                                      </p:cBhvr>
                                      <p:to>
                                        <p:strVal val="visible"/>
                                      </p:to>
                                    </p:set>
                                    <p:animEffect transition="in" filter="fade">
                                      <p:cBhvr>
                                        <p:cTn id="12" dur="500"/>
                                        <p:tgtEl>
                                          <p:spTgt spid="1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2"/>
                                        </p:tgtEl>
                                        <p:attrNameLst>
                                          <p:attrName>style.visibility</p:attrName>
                                        </p:attrNameLst>
                                      </p:cBhvr>
                                      <p:to>
                                        <p:strVal val="visible"/>
                                      </p:to>
                                    </p:set>
                                    <p:animEffect transition="in" filter="fade">
                                      <p:cBhvr>
                                        <p:cTn id="17" dur="500"/>
                                        <p:tgtEl>
                                          <p:spTgt spid="1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3"/>
                                        </p:tgtEl>
                                        <p:attrNameLst>
                                          <p:attrName>style.visibility</p:attrName>
                                        </p:attrNameLst>
                                      </p:cBhvr>
                                      <p:to>
                                        <p:strVal val="visible"/>
                                      </p:to>
                                    </p:set>
                                    <p:animEffect transition="in" filter="fade">
                                      <p:cBhvr>
                                        <p:cTn id="22" dur="500"/>
                                        <p:tgtEl>
                                          <p:spTgt spid="11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4"/>
                                        </p:tgtEl>
                                        <p:attrNameLst>
                                          <p:attrName>style.visibility</p:attrName>
                                        </p:attrNameLst>
                                      </p:cBhvr>
                                      <p:to>
                                        <p:strVal val="visible"/>
                                      </p:to>
                                    </p:set>
                                    <p:animEffect transition="in" filter="fade">
                                      <p:cBhvr>
                                        <p:cTn id="27" dur="500"/>
                                        <p:tgtEl>
                                          <p:spTgt spid="11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0"/>
                                        </p:tgtEl>
                                        <p:attrNameLst>
                                          <p:attrName>style.visibility</p:attrName>
                                        </p:attrNameLst>
                                      </p:cBhvr>
                                      <p:to>
                                        <p:strVal val="visible"/>
                                      </p:to>
                                    </p:set>
                                    <p:animEffect transition="in" filter="fade">
                                      <p:cBhvr>
                                        <p:cTn id="32" dur="5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14" name="MetricDef"/>
          <p:cNvSpPr/>
          <p:nvPr/>
        </p:nvSpPr>
        <p:spPr>
          <a:xfrm>
            <a:off x="274320" y="3739897"/>
            <a:ext cx="8595360" cy="566924"/>
          </a:xfrm>
          <a:prstGeom prst="rect">
            <a:avLst/>
          </a:prstGeom>
          <a:solidFill>
            <a:srgbClr val="E8F0F7"/>
          </a:solidFill>
          <a:ln w="12700">
            <a:solidFill>
              <a:srgbClr val="A9C4DB"/>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spcBef>
                <a:spcPts val="140"/>
              </a:spcBef>
              <a:buNone/>
            </a:pPr>
            <a:r>
              <a:rPr lang="en-US" sz="2000" b="0" i="0" dirty="0">
                <a:solidFill>
                  <a:srgbClr val="5C4826"/>
                </a:solidFill>
              </a:rPr>
              <a:t>A </a:t>
            </a:r>
            <a:r>
              <a:rPr lang="en-US" sz="2800" b="1" i="1" u="sng" dirty="0">
                <a:solidFill>
                  <a:srgbClr val="5C4826"/>
                </a:solidFill>
              </a:rPr>
              <a:t>metric</a:t>
            </a:r>
            <a:r>
              <a:rPr lang="en-US" sz="2000" b="0" i="0" dirty="0">
                <a:solidFill>
                  <a:srgbClr val="5C4826"/>
                </a:solidFill>
              </a:rPr>
              <a:t> specifies how observations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a:t>
            </a:r>
            <a:r>
              <a:rPr lang="en-US" sz="2800" i="1" dirty="0">
                <a:solidFill>
                  <a:srgbClr val="FFFFFF"/>
                </a:solidFill>
              </a:rPr>
              <a:t>measurement</a:t>
            </a:r>
            <a:r>
              <a:rPr lang="en-US" sz="2000" b="1" i="0" dirty="0">
                <a:solidFill>
                  <a:srgbClr val="FFFFFF"/>
                </a:solidFill>
              </a:rPr>
              <a: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38991"/>
            <a:ext cx="1828800" cy="307777"/>
          </a:xfrm>
          <a:prstGeom prst="rect">
            <a:avLst/>
          </a:prstGeom>
          <a:noFill/>
        </p:spPr>
        <p:txBody>
          <a:bodyPr wrap="square" lIns="0" tIns="0" rIns="0" bIns="0" anchor="ctr">
            <a:spAutoFit/>
          </a:bodyPr>
          <a:lstStyle/>
          <a:p>
            <a:pPr algn="ctr"/>
            <a:r>
              <a:rPr lang="en-US" sz="2000" i="1" dirty="0">
                <a:solidFill>
                  <a:srgbClr val="555960"/>
                </a:solidFill>
              </a:rPr>
              <a:t>q</a:t>
            </a:r>
            <a:r>
              <a:rPr lang="en-US" sz="2000" b="0" i="1" dirty="0">
                <a:solidFill>
                  <a:srgbClr val="555960"/>
                </a:solidFill>
              </a:rPr>
              <a:t>uantified by</a:t>
            </a:r>
            <a:endParaRPr sz="2000" b="0" i="1" dirty="0">
              <a:solidFill>
                <a:srgbClr val="555960"/>
              </a:solidFill>
            </a:endParaRP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lang="en-US" sz="2000" dirty="0">
                <a:solidFill>
                  <a:srgbClr val="5C4826"/>
                </a:solidFill>
              </a:rPr>
              <a:t>m</a:t>
            </a:r>
            <a:r>
              <a:rPr lang="en-US" sz="2000" b="0" i="0" dirty="0">
                <a:solidFill>
                  <a:srgbClr val="5C4826"/>
                </a:solidFill>
              </a:rPr>
              <a:t>odel that connects property to observation</a:t>
            </a:r>
            <a:endParaRPr sz="2000" b="0" i="0" dirty="0">
              <a:solidFill>
                <a:srgbClr val="5C4826"/>
              </a:solidFill>
            </a:endParaRP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dirty="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the result supports</a:t>
            </a:r>
          </a:p>
        </p:txBody>
      </p:sp>
      <p:cxnSp>
        <p:nvCxnSpPr>
          <p:cNvPr id="5" name="Straight Arrow Connector 4">
            <a:extLst>
              <a:ext uri="{FF2B5EF4-FFF2-40B4-BE49-F238E27FC236}">
                <a16:creationId xmlns:a16="http://schemas.microsoft.com/office/drawing/2014/main" id="{8A498575-94F6-0398-0B77-252F532EEB5C}"/>
              </a:ext>
            </a:extLst>
          </p:cNvPr>
          <p:cNvCxnSpPr/>
          <p:nvPr/>
        </p:nvCxnSpPr>
        <p:spPr>
          <a:xfrm flipV="1">
            <a:off x="1538100" y="1874520"/>
            <a:ext cx="1366020" cy="1865377"/>
          </a:xfrm>
          <a:prstGeom prst="straightConnector1">
            <a:avLst/>
          </a:prstGeom>
          <a:ln w="76200">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91BF9832-74DE-440A-0EFC-FED2CE059935}"/>
              </a:ext>
            </a:extLst>
          </p:cNvPr>
          <p:cNvCxnSpPr>
            <a:cxnSpLocks/>
          </p:cNvCxnSpPr>
          <p:nvPr/>
        </p:nvCxnSpPr>
        <p:spPr>
          <a:xfrm flipH="1" flipV="1">
            <a:off x="4694520" y="1874520"/>
            <a:ext cx="825747" cy="3977640"/>
          </a:xfrm>
          <a:prstGeom prst="straightConnector1">
            <a:avLst/>
          </a:prstGeom>
          <a:ln w="76200">
            <a:headEnd type="triangle" w="med" len="med"/>
            <a:tailEnd type="none" w="med" len="med"/>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 grpId="0" animBg="1"/>
      <p:bldP spid="1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S0"/>
          <p:cNvSpPr/>
          <p:nvPr/>
        </p:nvSpPr>
        <p:spPr>
          <a:xfrm>
            <a:off x="502920" y="1234440"/>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254966"/>
            <a:ext cx="0" cy="310896"/>
          </a:xfrm>
          <a:prstGeom prst="straightConnector1">
            <a:avLst/>
          </a:prstGeom>
          <a:ln w="19050">
            <a:solidFill>
              <a:srgbClr val="8E6F3E"/>
            </a:solidFill>
            <a:tailEnd type="triangle" w="med" len="med"/>
          </a:ln>
        </p:spPr>
      </p:cxnSp>
      <p:sp>
        <p:nvSpPr>
          <p:cNvPr id="102" name="S1"/>
          <p:cNvSpPr/>
          <p:nvPr/>
        </p:nvSpPr>
        <p:spPr>
          <a:xfrm>
            <a:off x="502920" y="2565862"/>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567961"/>
            <a:ext cx="0" cy="310896"/>
          </a:xfrm>
          <a:prstGeom prst="straightConnector1">
            <a:avLst/>
          </a:prstGeom>
          <a:ln w="19050">
            <a:solidFill>
              <a:srgbClr val="8E6F3E"/>
            </a:solidFill>
            <a:tailEnd type="triangle" w="med" len="med"/>
          </a:ln>
        </p:spPr>
      </p:cxnSp>
      <p:sp>
        <p:nvSpPr>
          <p:cNvPr id="104" name="S2"/>
          <p:cNvSpPr/>
          <p:nvPr/>
        </p:nvSpPr>
        <p:spPr>
          <a:xfrm>
            <a:off x="502920" y="3878857"/>
            <a:ext cx="3611880" cy="1020526"/>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E8F0F7"/>
          </a:solidFill>
          <a:ln w="12700">
            <a:solidFill>
              <a:srgbClr val="A9C4DB"/>
            </a:solidFill>
          </a:ln>
        </p:spPr>
        <p:txBody>
          <a:bodyPr wrap="square" lIns="137160" tIns="45720" rIns="137160" bIns="45720" anchor="ctr"/>
          <a:lstStyle/>
          <a:p>
            <a:pPr algn="ctr">
              <a:buNone/>
            </a:pPr>
            <a:r>
              <a:rPr lang="en-US" sz="2000" b="1" i="0" dirty="0">
                <a:solidFill>
                  <a:srgbClr val="2E74B5"/>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180 ms </a:t>
            </a:r>
            <a:r>
              <a:rPr lang="en-US" sz="2000" b="0" i="1" dirty="0">
                <a:solidFill>
                  <a:srgbClr val="8E6F3E"/>
                </a:solidFill>
              </a:rPr>
              <a:t>observed</a:t>
            </a:r>
          </a:p>
          <a:p>
            <a:pPr algn="ctr">
              <a:spcBef>
                <a:spcPts val="140"/>
              </a:spcBef>
              <a:buNone/>
            </a:pPr>
            <a:r>
              <a:rPr lang="en-US" sz="2000" b="0" i="0" dirty="0">
                <a:solidFill>
                  <a:srgbClr val="5C4826"/>
                </a:solidFill>
              </a:rPr>
              <a:t>queueing = 130 ms </a:t>
            </a:r>
            <a:r>
              <a:rPr lang="en-US" sz="2000" b="0" i="1" dirty="0">
                <a:solidFill>
                  <a:srgbClr val="8E6F3E"/>
                </a:solidFill>
              </a:rPr>
              <a:t>observed</a:t>
            </a:r>
          </a:p>
          <a:p>
            <a:pPr algn="ctr">
              <a:spcBef>
                <a:spcPts val="140"/>
              </a:spcBef>
              <a:buNone/>
            </a:pPr>
            <a:r>
              <a:rPr lang="en-US" sz="2000" b="0" i="0" dirty="0">
                <a:solidFill>
                  <a:srgbClr val="5C4826"/>
                </a:solidFill>
              </a:rPr>
              <a:t>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marL="342900" indent="-342900" algn="l">
              <a:buClr>
                <a:srgbClr val="5C4826"/>
              </a:buClr>
              <a:buFont typeface="Calibri" panose="020F0502020204030204" pitchFamily="34" charset="0"/>
              <a:buAutoNum type="arabicPlain"/>
            </a:pPr>
            <a:r>
              <a:rPr lang="en-US" sz="2000" b="0" i="0" dirty="0">
                <a:solidFill>
                  <a:srgbClr val="555960"/>
                </a:solidFill>
              </a:rPr>
              <a:t>Measurement supplies parameter values.</a:t>
            </a:r>
          </a:p>
          <a:p>
            <a:pPr marL="342900" indent="-342900" algn="l">
              <a:spcBef>
                <a:spcPts val="160"/>
              </a:spcBef>
              <a:buClr>
                <a:srgbClr val="5C4826"/>
              </a:buClr>
              <a:buFont typeface="Calibri" panose="020F0502020204030204" pitchFamily="34" charset="0"/>
              <a:buAutoNum type="arabicPlain"/>
            </a:pP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P spid="10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6B3FA0"/>
                </a:solidFill>
              </a:rPr>
              <a:t>THINK</a:t>
            </a:r>
            <a:r>
              <a:rPr sz="2000" b="1" i="0">
                <a:solidFill>
                  <a:srgbClr val="9A9A9A"/>
                </a:solidFill>
              </a:rPr>
              <a:t>  ·  </a:t>
            </a:r>
            <a:r>
              <a:rPr sz="2000" b="1" i="0">
                <a:solidFill>
                  <a:srgbClr val="2E74B5"/>
                </a:solidFill>
              </a:rPr>
              <a:t>PAIR</a:t>
            </a:r>
            <a:r>
              <a:rPr sz="2000" b="1" i="0">
                <a:solidFill>
                  <a:srgbClr val="9A9A9A"/>
                </a:solidFill>
              </a:rPr>
              <a:t>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request population?</a:t>
            </a:r>
          </a:p>
        </p:txBody>
      </p:sp>
      <p:sp>
        <p:nvSpPr>
          <p:cNvPr id="17" name="Meaningful"/>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0" name="Scope"/>
          <p:cNvSpPr/>
          <p:nvPr/>
        </p:nvSpPr>
        <p:spPr>
          <a:xfrm>
            <a:off x="274320" y="1143000"/>
            <a:ext cx="8595360" cy="2606040"/>
          </a:xfrm>
          <a:prstGeom prst="rect">
            <a:avLst/>
          </a:prstGeom>
          <a:solidFill>
            <a:srgbClr val="FBF8F2"/>
          </a:solidFill>
          <a:ln w="952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a:p>
        </p:txBody>
      </p:sp>
      <p:sp>
        <p:nvSpPr>
          <p:cNvPr id="201" name="ScopeLbl"/>
          <p:cNvSpPr txBox="1"/>
          <p:nvPr/>
        </p:nvSpPr>
        <p:spPr>
          <a:xfrm>
            <a:off x="411480" y="1216152"/>
            <a:ext cx="5486400" cy="274320"/>
          </a:xfrm>
          <a:prstGeom prst="rect">
            <a:avLst/>
          </a:prstGeom>
          <a:noFill/>
        </p:spPr>
        <p:txBody>
          <a:bodyPr wrap="square" lIns="0" tIns="0" rIns="0" bIns="0" anchor="ctr"/>
          <a:lstStyle/>
          <a:p>
            <a:pPr algn="l">
              <a:buNone/>
            </a:pPr>
            <a:r>
              <a:rPr lang="en-US" sz="1200" b="1" i="0" dirty="0">
                <a:solidFill>
                  <a:srgbClr val="A08A5F"/>
                </a:solidFill>
              </a:rPr>
              <a:t>STICK-TO-GLASS LATENCY  ·  PILOT MOVES CONTROL → HUD CHANGES</a:t>
            </a:r>
          </a:p>
        </p:txBody>
      </p:sp>
      <p:sp>
        <p:nvSpPr>
          <p:cNvPr id="210" name="K0"/>
          <p:cNvSpPr/>
          <p:nvPr/>
        </p:nvSpPr>
        <p:spPr>
          <a:xfrm>
            <a:off x="41148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Sensing</a:t>
            </a:r>
          </a:p>
        </p:txBody>
      </p:sp>
      <p:cxnSp>
        <p:nvCxnSpPr>
          <p:cNvPr id="220" name="KA0"/>
          <p:cNvCxnSpPr/>
          <p:nvPr/>
        </p:nvCxnSpPr>
        <p:spPr>
          <a:xfrm>
            <a:off x="228600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1" name="K1"/>
          <p:cNvSpPr/>
          <p:nvPr/>
        </p:nvSpPr>
        <p:spPr>
          <a:xfrm>
            <a:off x="257556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Computation</a:t>
            </a:r>
          </a:p>
        </p:txBody>
      </p:sp>
      <p:cxnSp>
        <p:nvCxnSpPr>
          <p:cNvPr id="221" name="KA1"/>
          <p:cNvCxnSpPr/>
          <p:nvPr/>
        </p:nvCxnSpPr>
        <p:spPr>
          <a:xfrm>
            <a:off x="445008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2" name="K2"/>
          <p:cNvSpPr/>
          <p:nvPr/>
        </p:nvSpPr>
        <p:spPr>
          <a:xfrm>
            <a:off x="473964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Communication</a:t>
            </a:r>
          </a:p>
        </p:txBody>
      </p:sp>
      <p:cxnSp>
        <p:nvCxnSpPr>
          <p:cNvPr id="222" name="KA2"/>
          <p:cNvCxnSpPr/>
          <p:nvPr/>
        </p:nvCxnSpPr>
        <p:spPr>
          <a:xfrm>
            <a:off x="6614160" y="1943100"/>
            <a:ext cx="2438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3" name="K3"/>
          <p:cNvSpPr/>
          <p:nvPr/>
        </p:nvSpPr>
        <p:spPr>
          <a:xfrm>
            <a:off x="6903720" y="1554480"/>
            <a:ext cx="18288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45720" rIns="45720" bIns="45720" rtlCol="0" anchor="ctr"/>
          <a:lstStyle/>
          <a:p>
            <a:pPr algn="ctr">
              <a:buNone/>
            </a:pPr>
            <a:r>
              <a:rPr lang="en-US" sz="2000" b="1" i="0" dirty="0">
                <a:solidFill>
                  <a:srgbClr val="5C4826"/>
                </a:solidFill>
              </a:rPr>
              <a:t>Rendering</a:t>
            </a:r>
          </a:p>
        </p:txBody>
      </p:sp>
      <p:sp>
        <p:nvSpPr>
          <p:cNvPr id="230" name="M0"/>
          <p:cNvSpPr txBox="1"/>
          <p:nvPr/>
        </p:nvSpPr>
        <p:spPr>
          <a:xfrm>
            <a:off x="411480" y="2423160"/>
            <a:ext cx="1828800" cy="365760"/>
          </a:xfrm>
          <a:prstGeom prst="rect">
            <a:avLst/>
          </a:prstGeom>
          <a:noFill/>
        </p:spPr>
        <p:txBody>
          <a:bodyPr wrap="square" lIns="0" tIns="0" rIns="0" bIns="0" anchor="ctr"/>
          <a:lstStyle/>
          <a:p>
            <a:pPr algn="ctr">
              <a:buNone/>
            </a:pPr>
            <a:r>
              <a:rPr lang="en-US" sz="2000" b="1" i="0" dirty="0">
                <a:solidFill>
                  <a:srgbClr val="5C4826"/>
                </a:solidFill>
              </a:rPr>
              <a:t>90 ms</a:t>
            </a:r>
          </a:p>
        </p:txBody>
      </p:sp>
      <p:sp>
        <p:nvSpPr>
          <p:cNvPr id="231" name="M1"/>
          <p:cNvSpPr txBox="1"/>
          <p:nvPr/>
        </p:nvSpPr>
        <p:spPr>
          <a:xfrm>
            <a:off x="2575560" y="2423160"/>
            <a:ext cx="1828800" cy="365760"/>
          </a:xfrm>
          <a:prstGeom prst="rect">
            <a:avLst/>
          </a:prstGeom>
          <a:noFill/>
        </p:spPr>
        <p:txBody>
          <a:bodyPr wrap="square" lIns="0" tIns="0" rIns="0" bIns="0" anchor="ctr"/>
          <a:lstStyle/>
          <a:p>
            <a:pPr algn="ctr">
              <a:buNone/>
            </a:pPr>
            <a:r>
              <a:rPr lang="en-US" sz="2000" b="1" i="0" dirty="0">
                <a:solidFill>
                  <a:srgbClr val="5C4826"/>
                </a:solidFill>
              </a:rPr>
              <a:t>80 ms</a:t>
            </a:r>
          </a:p>
        </p:txBody>
      </p:sp>
      <p:sp>
        <p:nvSpPr>
          <p:cNvPr id="232" name="M2"/>
          <p:cNvSpPr txBox="1"/>
          <p:nvPr/>
        </p:nvSpPr>
        <p:spPr>
          <a:xfrm>
            <a:off x="4739640" y="2423160"/>
            <a:ext cx="1828800" cy="365760"/>
          </a:xfrm>
          <a:prstGeom prst="rect">
            <a:avLst/>
          </a:prstGeom>
          <a:noFill/>
        </p:spPr>
        <p:txBody>
          <a:bodyPr wrap="square" lIns="0" tIns="0" rIns="0" bIns="0" anchor="ctr"/>
          <a:lstStyle/>
          <a:p>
            <a:pPr algn="ctr">
              <a:buNone/>
            </a:pPr>
            <a:r>
              <a:rPr lang="en-US" sz="2000" b="1" i="0" dirty="0">
                <a:solidFill>
                  <a:srgbClr val="5C4826"/>
                </a:solidFill>
              </a:rPr>
              <a:t>140 ms</a:t>
            </a:r>
          </a:p>
        </p:txBody>
      </p:sp>
      <p:sp>
        <p:nvSpPr>
          <p:cNvPr id="233" name="M3"/>
          <p:cNvSpPr txBox="1"/>
          <p:nvPr/>
        </p:nvSpPr>
        <p:spPr>
          <a:xfrm>
            <a:off x="6903720" y="2423160"/>
            <a:ext cx="1828800" cy="365760"/>
          </a:xfrm>
          <a:prstGeom prst="rect">
            <a:avLst/>
          </a:prstGeom>
          <a:noFill/>
        </p:spPr>
        <p:txBody>
          <a:bodyPr wrap="square" lIns="0" tIns="0" rIns="0" bIns="0" anchor="ctr"/>
          <a:lstStyle/>
          <a:p>
            <a:pPr algn="ctr">
              <a:buNone/>
            </a:pPr>
            <a:r>
              <a:rPr lang="en-US" sz="2000" b="1" i="0" dirty="0">
                <a:solidFill>
                  <a:srgbClr val="5C4826"/>
                </a:solidFill>
              </a:rPr>
              <a:t>110 ms</a:t>
            </a:r>
          </a:p>
        </p:txBody>
      </p:sp>
      <p:sp>
        <p:nvSpPr>
          <p:cNvPr id="240" name="Chk0"/>
          <p:cNvSpPr txBox="1"/>
          <p:nvPr/>
        </p:nvSpPr>
        <p:spPr>
          <a:xfrm>
            <a:off x="41148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1" name="Chk1"/>
          <p:cNvSpPr txBox="1"/>
          <p:nvPr/>
        </p:nvSpPr>
        <p:spPr>
          <a:xfrm>
            <a:off x="257556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2" name="Chk2"/>
          <p:cNvSpPr txBox="1"/>
          <p:nvPr/>
        </p:nvSpPr>
        <p:spPr>
          <a:xfrm>
            <a:off x="473964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43" name="Chk3"/>
          <p:cNvSpPr txBox="1"/>
          <p:nvPr/>
        </p:nvSpPr>
        <p:spPr>
          <a:xfrm>
            <a:off x="6903720" y="2834640"/>
            <a:ext cx="1828800" cy="411480"/>
          </a:xfrm>
          <a:prstGeom prst="rect">
            <a:avLst/>
          </a:prstGeom>
          <a:noFill/>
        </p:spPr>
        <p:txBody>
          <a:bodyPr wrap="square" lIns="0" tIns="0" rIns="0" bIns="0" anchor="ctr"/>
          <a:lstStyle/>
          <a:p>
            <a:pPr algn="ctr">
              <a:buNone/>
            </a:pPr>
            <a:r>
              <a:rPr lang="en-US" sz="2400" b="1" i="0" dirty="0">
                <a:solidFill>
                  <a:srgbClr val="1F7A4D"/>
                </a:solidFill>
              </a:rPr>
              <a:t>✓</a:t>
            </a:r>
          </a:p>
        </p:txBody>
      </p:sp>
      <p:sp>
        <p:nvSpPr>
          <p:cNvPr id="250" name="CommLbl"/>
          <p:cNvSpPr txBox="1"/>
          <p:nvPr/>
        </p:nvSpPr>
        <p:spPr>
          <a:xfrm>
            <a:off x="274320" y="3291840"/>
            <a:ext cx="8595360" cy="365760"/>
          </a:xfrm>
          <a:prstGeom prst="rect">
            <a:avLst/>
          </a:prstGeom>
          <a:noFill/>
        </p:spPr>
        <p:txBody>
          <a:bodyPr wrap="square" lIns="0" tIns="0" rIns="0" bIns="0" anchor="ctr"/>
          <a:lstStyle/>
          <a:p>
            <a:pPr algn="ctr">
              <a:buNone/>
            </a:pPr>
            <a:r>
              <a:rPr lang="en-US" sz="2000" b="0" i="0" dirty="0">
                <a:solidFill>
                  <a:srgbClr val="5C4826"/>
                </a:solidFill>
              </a:rPr>
              <a:t>+ 100 ms queueing and scheduling along the path</a:t>
            </a:r>
            <a:r>
              <a:rPr lang="en-US" sz="2000" b="1" i="0" dirty="0">
                <a:solidFill>
                  <a:srgbClr val="1F7A4D"/>
                </a:solidFill>
              </a:rPr>
              <a:t>  ✓</a:t>
            </a:r>
          </a:p>
        </p:txBody>
      </p:sp>
      <p:cxnSp>
        <p:nvCxnSpPr>
          <p:cNvPr id="260" name="HeavyArrow"/>
          <p:cNvCxnSpPr/>
          <p:nvPr/>
        </p:nvCxnSpPr>
        <p:spPr>
          <a:xfrm>
            <a:off x="411480" y="4069080"/>
            <a:ext cx="8321040" cy="0"/>
          </a:xfrm>
          <a:prstGeom prst="line">
            <a:avLst/>
          </a:prstGeom>
          <a:ln w="57150">
            <a:solidFill>
              <a:srgbClr val="5C4826"/>
            </a:solidFill>
            <a:tailEnd type="triangle" w="lg" len="lg"/>
          </a:ln>
          <a:effectLst/>
        </p:spPr>
        <p:style>
          <a:lnRef idx="2">
            <a:schemeClr val="accent1"/>
          </a:lnRef>
          <a:fillRef idx="0">
            <a:schemeClr val="accent1"/>
          </a:fillRef>
          <a:effectRef idx="1">
            <a:schemeClr val="accent1"/>
          </a:effectRef>
          <a:fontRef idx="minor">
            <a:schemeClr val="tx1"/>
          </a:fontRef>
        </p:style>
      </p:cxnSp>
      <p:sp>
        <p:nvSpPr>
          <p:cNvPr id="261" name="TotalLbl"/>
          <p:cNvSpPr txBox="1"/>
          <p:nvPr/>
        </p:nvSpPr>
        <p:spPr>
          <a:xfrm>
            <a:off x="274320" y="4206240"/>
            <a:ext cx="8595360" cy="457200"/>
          </a:xfrm>
          <a:prstGeom prst="rect">
            <a:avLst/>
          </a:prstGeom>
          <a:noFill/>
        </p:spPr>
        <p:txBody>
          <a:bodyPr wrap="square" lIns="0" tIns="0" rIns="0" bIns="0" anchor="ctr"/>
          <a:lstStyle/>
          <a:p>
            <a:pPr algn="ctr">
              <a:buNone/>
            </a:pPr>
            <a:r>
              <a:rPr lang="en-US" sz="2000" b="1" i="0" dirty="0">
                <a:solidFill>
                  <a:srgbClr val="5C4826"/>
                </a:solidFill>
              </a:rPr>
              <a:t>END-TO-END MEASUREMENT: 520 ms</a:t>
            </a:r>
          </a:p>
        </p:txBody>
      </p:sp>
      <p:sp>
        <p:nvSpPr>
          <p:cNvPr id="262" name="RedX"/>
          <p:cNvSpPr txBox="1"/>
          <p:nvPr/>
        </p:nvSpPr>
        <p:spPr>
          <a:xfrm>
            <a:off x="6492240" y="4183380"/>
            <a:ext cx="548640" cy="502920"/>
          </a:xfrm>
          <a:prstGeom prst="rect">
            <a:avLst/>
          </a:prstGeom>
          <a:noFill/>
        </p:spPr>
        <p:txBody>
          <a:bodyPr wrap="square" lIns="0" tIns="0" rIns="0" bIns="0" anchor="ctr"/>
          <a:lstStyle/>
          <a:p>
            <a:pPr algn="ctr">
              <a:buNone/>
            </a:pPr>
            <a:r>
              <a:rPr lang="en-US" sz="3200" b="1" i="0" dirty="0">
                <a:solidFill>
                  <a:srgbClr val="C0392B"/>
                </a:solidFill>
              </a:rPr>
              <a:t>✗</a:t>
            </a:r>
          </a:p>
        </p:txBody>
      </p:sp>
      <p:sp>
        <p:nvSpPr>
          <p:cNvPr id="131" name="Ex"/>
          <p:cNvSpPr txBox="1"/>
          <p:nvPr/>
        </p:nvSpPr>
        <p:spPr>
          <a:xfrm>
            <a:off x="274320" y="4846320"/>
            <a:ext cx="8595360" cy="822960"/>
          </a:xfrm>
          <a:prstGeom prst="rect">
            <a:avLst/>
          </a:prstGeom>
          <a:noFill/>
        </p:spPr>
        <p:txBody>
          <a:bodyPr wrap="square" lIns="0" tIns="0" rIns="0" bIns="0" anchor="ctr">
            <a:spAutoFit/>
          </a:bodyPr>
          <a:lstStyle/>
          <a:p>
            <a:pPr algn="ctr"/>
            <a:r>
              <a:rPr sz="2000" b="0" i="0">
                <a:solidFill>
                  <a:srgbClr val="555960"/>
                </a:solidFill>
              </a:rPr>
              <a:t>The property exists across the path.</a:t>
            </a:r>
          </a:p>
          <a:p>
            <a:pPr algn="ctr"/>
            <a:r>
              <a:rPr sz="2000" b="0" i="0">
                <a:solidFill>
                  <a:srgbClr val="555960"/>
                </a:solidFill>
              </a:rPr>
              <a:t>No component measurement establishes it.</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par>
                                <p:cTn id="8" presetID="10" presetClass="entr" presetSubtype="0" fill="hold" nodeType="withEffect">
                                  <p:stCondLst>
                                    <p:cond delay="0"/>
                                  </p:stCondLst>
                                  <p:childTnLst>
                                    <p:set>
                                      <p:cBhvr>
                                        <p:cTn id="9" dur="1" fill="hold">
                                          <p:stCondLst>
                                            <p:cond delay="0"/>
                                          </p:stCondLst>
                                        </p:cTn>
                                        <p:tgtEl>
                                          <p:spTgt spid="201"/>
                                        </p:tgtEl>
                                        <p:attrNameLst>
                                          <p:attrName>style.visibility</p:attrName>
                                        </p:attrNameLst>
                                      </p:cBhvr>
                                      <p:to>
                                        <p:strVal val="visible"/>
                                      </p:to>
                                    </p:set>
                                    <p:animEffect transition="in" filter="fade">
                                      <p:cBhvr>
                                        <p:cTn id="10" dur="500"/>
                                        <p:tgtEl>
                                          <p:spTgt spid="201"/>
                                        </p:tgtEl>
                                      </p:cBhvr>
                                    </p:animEffect>
                                  </p:childTnLst>
                                </p:cTn>
                              </p:par>
                              <p:par>
                                <p:cTn id="11" presetID="10" presetClass="entr" presetSubtype="0" fill="hold" nodeType="withEffect">
                                  <p:stCondLst>
                                    <p:cond delay="0"/>
                                  </p:stCondLst>
                                  <p:childTnLst>
                                    <p:set>
                                      <p:cBhvr>
                                        <p:cTn id="12" dur="1" fill="hold">
                                          <p:stCondLst>
                                            <p:cond delay="0"/>
                                          </p:stCondLst>
                                        </p:cTn>
                                        <p:tgtEl>
                                          <p:spTgt spid="210"/>
                                        </p:tgtEl>
                                        <p:attrNameLst>
                                          <p:attrName>style.visibility</p:attrName>
                                        </p:attrNameLst>
                                      </p:cBhvr>
                                      <p:to>
                                        <p:strVal val="visible"/>
                                      </p:to>
                                    </p:set>
                                    <p:animEffect transition="in" filter="fade">
                                      <p:cBhvr>
                                        <p:cTn id="13" dur="500"/>
                                        <p:tgtEl>
                                          <p:spTgt spid="210"/>
                                        </p:tgtEl>
                                      </p:cBhvr>
                                    </p:animEffect>
                                  </p:childTnLst>
                                </p:cTn>
                              </p:par>
                              <p:par>
                                <p:cTn id="14" presetID="10" presetClass="entr" presetSubtype="0" fill="hold" nodeType="withEffect">
                                  <p:stCondLst>
                                    <p:cond delay="0"/>
                                  </p:stCondLst>
                                  <p:childTnLst>
                                    <p:set>
                                      <p:cBhvr>
                                        <p:cTn id="15" dur="1" fill="hold">
                                          <p:stCondLst>
                                            <p:cond delay="0"/>
                                          </p:stCondLst>
                                        </p:cTn>
                                        <p:tgtEl>
                                          <p:spTgt spid="220"/>
                                        </p:tgtEl>
                                        <p:attrNameLst>
                                          <p:attrName>style.visibility</p:attrName>
                                        </p:attrNameLst>
                                      </p:cBhvr>
                                      <p:to>
                                        <p:strVal val="visible"/>
                                      </p:to>
                                    </p:set>
                                    <p:animEffect transition="in" filter="fade">
                                      <p:cBhvr>
                                        <p:cTn id="16" dur="500"/>
                                        <p:tgtEl>
                                          <p:spTgt spid="220"/>
                                        </p:tgtEl>
                                      </p:cBhvr>
                                    </p:animEffect>
                                  </p:childTnLst>
                                </p:cTn>
                              </p:par>
                              <p:par>
                                <p:cTn id="17" presetID="10" presetClass="entr" presetSubtype="0" fill="hold" nodeType="withEffect">
                                  <p:stCondLst>
                                    <p:cond delay="0"/>
                                  </p:stCondLst>
                                  <p:childTnLst>
                                    <p:set>
                                      <p:cBhvr>
                                        <p:cTn id="18" dur="1" fill="hold">
                                          <p:stCondLst>
                                            <p:cond delay="0"/>
                                          </p:stCondLst>
                                        </p:cTn>
                                        <p:tgtEl>
                                          <p:spTgt spid="211"/>
                                        </p:tgtEl>
                                        <p:attrNameLst>
                                          <p:attrName>style.visibility</p:attrName>
                                        </p:attrNameLst>
                                      </p:cBhvr>
                                      <p:to>
                                        <p:strVal val="visible"/>
                                      </p:to>
                                    </p:set>
                                    <p:animEffect transition="in" filter="fade">
                                      <p:cBhvr>
                                        <p:cTn id="19" dur="500"/>
                                        <p:tgtEl>
                                          <p:spTgt spid="211"/>
                                        </p:tgtEl>
                                      </p:cBhvr>
                                    </p:animEffect>
                                  </p:childTnLst>
                                </p:cTn>
                              </p:par>
                              <p:par>
                                <p:cTn id="20" presetID="10" presetClass="entr" presetSubtype="0" fill="hold" nodeType="withEffect">
                                  <p:stCondLst>
                                    <p:cond delay="0"/>
                                  </p:stCondLst>
                                  <p:childTnLst>
                                    <p:set>
                                      <p:cBhvr>
                                        <p:cTn id="21" dur="1" fill="hold">
                                          <p:stCondLst>
                                            <p:cond delay="0"/>
                                          </p:stCondLst>
                                        </p:cTn>
                                        <p:tgtEl>
                                          <p:spTgt spid="221"/>
                                        </p:tgtEl>
                                        <p:attrNameLst>
                                          <p:attrName>style.visibility</p:attrName>
                                        </p:attrNameLst>
                                      </p:cBhvr>
                                      <p:to>
                                        <p:strVal val="visible"/>
                                      </p:to>
                                    </p:set>
                                    <p:animEffect transition="in" filter="fade">
                                      <p:cBhvr>
                                        <p:cTn id="22" dur="500"/>
                                        <p:tgtEl>
                                          <p:spTgt spid="221"/>
                                        </p:tgtEl>
                                      </p:cBhvr>
                                    </p:animEffect>
                                  </p:childTnLst>
                                </p:cTn>
                              </p:par>
                              <p:par>
                                <p:cTn id="23" presetID="10" presetClass="entr" presetSubtype="0" fill="hold" nodeType="withEffect">
                                  <p:stCondLst>
                                    <p:cond delay="0"/>
                                  </p:stCondLst>
                                  <p:childTnLst>
                                    <p:set>
                                      <p:cBhvr>
                                        <p:cTn id="24" dur="1" fill="hold">
                                          <p:stCondLst>
                                            <p:cond delay="0"/>
                                          </p:stCondLst>
                                        </p:cTn>
                                        <p:tgtEl>
                                          <p:spTgt spid="212"/>
                                        </p:tgtEl>
                                        <p:attrNameLst>
                                          <p:attrName>style.visibility</p:attrName>
                                        </p:attrNameLst>
                                      </p:cBhvr>
                                      <p:to>
                                        <p:strVal val="visible"/>
                                      </p:to>
                                    </p:set>
                                    <p:animEffect transition="in" filter="fade">
                                      <p:cBhvr>
                                        <p:cTn id="25" dur="500"/>
                                        <p:tgtEl>
                                          <p:spTgt spid="212"/>
                                        </p:tgtEl>
                                      </p:cBhvr>
                                    </p:animEffect>
                                  </p:childTnLst>
                                </p:cTn>
                              </p:par>
                              <p:par>
                                <p:cTn id="26" presetID="10" presetClass="entr" presetSubtype="0" fill="hold" nodeType="withEffect">
                                  <p:stCondLst>
                                    <p:cond delay="0"/>
                                  </p:stCondLst>
                                  <p:childTnLst>
                                    <p:set>
                                      <p:cBhvr>
                                        <p:cTn id="27" dur="1" fill="hold">
                                          <p:stCondLst>
                                            <p:cond delay="0"/>
                                          </p:stCondLst>
                                        </p:cTn>
                                        <p:tgtEl>
                                          <p:spTgt spid="222"/>
                                        </p:tgtEl>
                                        <p:attrNameLst>
                                          <p:attrName>style.visibility</p:attrName>
                                        </p:attrNameLst>
                                      </p:cBhvr>
                                      <p:to>
                                        <p:strVal val="visible"/>
                                      </p:to>
                                    </p:set>
                                    <p:animEffect transition="in" filter="fade">
                                      <p:cBhvr>
                                        <p:cTn id="28" dur="500"/>
                                        <p:tgtEl>
                                          <p:spTgt spid="222"/>
                                        </p:tgtEl>
                                      </p:cBhvr>
                                    </p:animEffect>
                                  </p:childTnLst>
                                </p:cTn>
                              </p:par>
                              <p:par>
                                <p:cTn id="29" presetID="10" presetClass="entr" presetSubtype="0" fill="hold" nodeType="withEffect">
                                  <p:stCondLst>
                                    <p:cond delay="0"/>
                                  </p:stCondLst>
                                  <p:childTnLst>
                                    <p:set>
                                      <p:cBhvr>
                                        <p:cTn id="30" dur="1" fill="hold">
                                          <p:stCondLst>
                                            <p:cond delay="0"/>
                                          </p:stCondLst>
                                        </p:cTn>
                                        <p:tgtEl>
                                          <p:spTgt spid="213"/>
                                        </p:tgtEl>
                                        <p:attrNameLst>
                                          <p:attrName>style.visibility</p:attrName>
                                        </p:attrNameLst>
                                      </p:cBhvr>
                                      <p:to>
                                        <p:strVal val="visible"/>
                                      </p:to>
                                    </p:set>
                                    <p:animEffect transition="in" filter="fade">
                                      <p:cBhvr>
                                        <p:cTn id="31" dur="500"/>
                                        <p:tgtEl>
                                          <p:spTgt spid="213"/>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30"/>
                                        </p:tgtEl>
                                        <p:attrNameLst>
                                          <p:attrName>style.visibility</p:attrName>
                                        </p:attrNameLst>
                                      </p:cBhvr>
                                      <p:to>
                                        <p:strVal val="visible"/>
                                      </p:to>
                                    </p:set>
                                    <p:animEffect transition="in" filter="fade">
                                      <p:cBhvr>
                                        <p:cTn id="36" dur="500"/>
                                        <p:tgtEl>
                                          <p:spTgt spid="230"/>
                                        </p:tgtEl>
                                      </p:cBhvr>
                                    </p:animEffect>
                                  </p:childTnLst>
                                </p:cTn>
                              </p:par>
                              <p:par>
                                <p:cTn id="37" presetID="10" presetClass="entr" presetSubtype="0" fill="hold" nodeType="withEffect">
                                  <p:stCondLst>
                                    <p:cond delay="0"/>
                                  </p:stCondLst>
                                  <p:childTnLst>
                                    <p:set>
                                      <p:cBhvr>
                                        <p:cTn id="38" dur="1" fill="hold">
                                          <p:stCondLst>
                                            <p:cond delay="0"/>
                                          </p:stCondLst>
                                        </p:cTn>
                                        <p:tgtEl>
                                          <p:spTgt spid="240"/>
                                        </p:tgtEl>
                                        <p:attrNameLst>
                                          <p:attrName>style.visibility</p:attrName>
                                        </p:attrNameLst>
                                      </p:cBhvr>
                                      <p:to>
                                        <p:strVal val="visible"/>
                                      </p:to>
                                    </p:set>
                                    <p:animEffect transition="in" filter="fade">
                                      <p:cBhvr>
                                        <p:cTn id="39" dur="500"/>
                                        <p:tgtEl>
                                          <p:spTgt spid="240"/>
                                        </p:tgtEl>
                                      </p:cBhvr>
                                    </p:animEffect>
                                  </p:childTnLst>
                                </p:cTn>
                              </p:par>
                              <p:par>
                                <p:cTn id="40" presetID="10" presetClass="entr" presetSubtype="0" fill="hold" nodeType="withEffect">
                                  <p:stCondLst>
                                    <p:cond delay="0"/>
                                  </p:stCondLst>
                                  <p:childTnLst>
                                    <p:set>
                                      <p:cBhvr>
                                        <p:cTn id="41" dur="1" fill="hold">
                                          <p:stCondLst>
                                            <p:cond delay="0"/>
                                          </p:stCondLst>
                                        </p:cTn>
                                        <p:tgtEl>
                                          <p:spTgt spid="231"/>
                                        </p:tgtEl>
                                        <p:attrNameLst>
                                          <p:attrName>style.visibility</p:attrName>
                                        </p:attrNameLst>
                                      </p:cBhvr>
                                      <p:to>
                                        <p:strVal val="visible"/>
                                      </p:to>
                                    </p:set>
                                    <p:animEffect transition="in" filter="fade">
                                      <p:cBhvr>
                                        <p:cTn id="42" dur="500"/>
                                        <p:tgtEl>
                                          <p:spTgt spid="231"/>
                                        </p:tgtEl>
                                      </p:cBhvr>
                                    </p:animEffect>
                                  </p:childTnLst>
                                </p:cTn>
                              </p:par>
                              <p:par>
                                <p:cTn id="43" presetID="10" presetClass="entr" presetSubtype="0" fill="hold" nodeType="withEffect">
                                  <p:stCondLst>
                                    <p:cond delay="0"/>
                                  </p:stCondLst>
                                  <p:childTnLst>
                                    <p:set>
                                      <p:cBhvr>
                                        <p:cTn id="44" dur="1" fill="hold">
                                          <p:stCondLst>
                                            <p:cond delay="0"/>
                                          </p:stCondLst>
                                        </p:cTn>
                                        <p:tgtEl>
                                          <p:spTgt spid="241"/>
                                        </p:tgtEl>
                                        <p:attrNameLst>
                                          <p:attrName>style.visibility</p:attrName>
                                        </p:attrNameLst>
                                      </p:cBhvr>
                                      <p:to>
                                        <p:strVal val="visible"/>
                                      </p:to>
                                    </p:set>
                                    <p:animEffect transition="in" filter="fade">
                                      <p:cBhvr>
                                        <p:cTn id="45" dur="500"/>
                                        <p:tgtEl>
                                          <p:spTgt spid="241"/>
                                        </p:tgtEl>
                                      </p:cBhvr>
                                    </p:animEffect>
                                  </p:childTnLst>
                                </p:cTn>
                              </p:par>
                              <p:par>
                                <p:cTn id="46" presetID="10" presetClass="entr" presetSubtype="0" fill="hold" nodeType="withEffect">
                                  <p:stCondLst>
                                    <p:cond delay="0"/>
                                  </p:stCondLst>
                                  <p:childTnLst>
                                    <p:set>
                                      <p:cBhvr>
                                        <p:cTn id="47" dur="1" fill="hold">
                                          <p:stCondLst>
                                            <p:cond delay="0"/>
                                          </p:stCondLst>
                                        </p:cTn>
                                        <p:tgtEl>
                                          <p:spTgt spid="232"/>
                                        </p:tgtEl>
                                        <p:attrNameLst>
                                          <p:attrName>style.visibility</p:attrName>
                                        </p:attrNameLst>
                                      </p:cBhvr>
                                      <p:to>
                                        <p:strVal val="visible"/>
                                      </p:to>
                                    </p:set>
                                    <p:animEffect transition="in" filter="fade">
                                      <p:cBhvr>
                                        <p:cTn id="48" dur="500"/>
                                        <p:tgtEl>
                                          <p:spTgt spid="232"/>
                                        </p:tgtEl>
                                      </p:cBhvr>
                                    </p:animEffect>
                                  </p:childTnLst>
                                </p:cTn>
                              </p:par>
                              <p:par>
                                <p:cTn id="49" presetID="10" presetClass="entr" presetSubtype="0" fill="hold" nodeType="withEffect">
                                  <p:stCondLst>
                                    <p:cond delay="0"/>
                                  </p:stCondLst>
                                  <p:childTnLst>
                                    <p:set>
                                      <p:cBhvr>
                                        <p:cTn id="50" dur="1" fill="hold">
                                          <p:stCondLst>
                                            <p:cond delay="0"/>
                                          </p:stCondLst>
                                        </p:cTn>
                                        <p:tgtEl>
                                          <p:spTgt spid="242"/>
                                        </p:tgtEl>
                                        <p:attrNameLst>
                                          <p:attrName>style.visibility</p:attrName>
                                        </p:attrNameLst>
                                      </p:cBhvr>
                                      <p:to>
                                        <p:strVal val="visible"/>
                                      </p:to>
                                    </p:set>
                                    <p:animEffect transition="in" filter="fade">
                                      <p:cBhvr>
                                        <p:cTn id="51" dur="500"/>
                                        <p:tgtEl>
                                          <p:spTgt spid="242"/>
                                        </p:tgtEl>
                                      </p:cBhvr>
                                    </p:animEffect>
                                  </p:childTnLst>
                                </p:cTn>
                              </p:par>
                              <p:par>
                                <p:cTn id="52" presetID="10" presetClass="entr" presetSubtype="0" fill="hold" nodeType="withEffect">
                                  <p:stCondLst>
                                    <p:cond delay="0"/>
                                  </p:stCondLst>
                                  <p:childTnLst>
                                    <p:set>
                                      <p:cBhvr>
                                        <p:cTn id="53" dur="1" fill="hold">
                                          <p:stCondLst>
                                            <p:cond delay="0"/>
                                          </p:stCondLst>
                                        </p:cTn>
                                        <p:tgtEl>
                                          <p:spTgt spid="233"/>
                                        </p:tgtEl>
                                        <p:attrNameLst>
                                          <p:attrName>style.visibility</p:attrName>
                                        </p:attrNameLst>
                                      </p:cBhvr>
                                      <p:to>
                                        <p:strVal val="visible"/>
                                      </p:to>
                                    </p:set>
                                    <p:animEffect transition="in" filter="fade">
                                      <p:cBhvr>
                                        <p:cTn id="54" dur="500"/>
                                        <p:tgtEl>
                                          <p:spTgt spid="233"/>
                                        </p:tgtEl>
                                      </p:cBhvr>
                                    </p:animEffect>
                                  </p:childTnLst>
                                </p:cTn>
                              </p:par>
                              <p:par>
                                <p:cTn id="55" presetID="10" presetClass="entr" presetSubtype="0" fill="hold" nodeType="withEffect">
                                  <p:stCondLst>
                                    <p:cond delay="0"/>
                                  </p:stCondLst>
                                  <p:childTnLst>
                                    <p:set>
                                      <p:cBhvr>
                                        <p:cTn id="56" dur="1" fill="hold">
                                          <p:stCondLst>
                                            <p:cond delay="0"/>
                                          </p:stCondLst>
                                        </p:cTn>
                                        <p:tgtEl>
                                          <p:spTgt spid="243"/>
                                        </p:tgtEl>
                                        <p:attrNameLst>
                                          <p:attrName>style.visibility</p:attrName>
                                        </p:attrNameLst>
                                      </p:cBhvr>
                                      <p:to>
                                        <p:strVal val="visible"/>
                                      </p:to>
                                    </p:set>
                                    <p:animEffect transition="in" filter="fade">
                                      <p:cBhvr>
                                        <p:cTn id="57" dur="500"/>
                                        <p:tgtEl>
                                          <p:spTgt spid="243"/>
                                        </p:tgtEl>
                                      </p:cBhvr>
                                    </p:animEffect>
                                  </p:childTnLst>
                                </p:cTn>
                              </p:par>
                              <p:par>
                                <p:cTn id="58" presetID="10" presetClass="entr" presetSubtype="0" fill="hold" nodeType="withEffect">
                                  <p:stCondLst>
                                    <p:cond delay="0"/>
                                  </p:stCondLst>
                                  <p:childTnLst>
                                    <p:set>
                                      <p:cBhvr>
                                        <p:cTn id="59" dur="1" fill="hold">
                                          <p:stCondLst>
                                            <p:cond delay="0"/>
                                          </p:stCondLst>
                                        </p:cTn>
                                        <p:tgtEl>
                                          <p:spTgt spid="250"/>
                                        </p:tgtEl>
                                        <p:attrNameLst>
                                          <p:attrName>style.visibility</p:attrName>
                                        </p:attrNameLst>
                                      </p:cBhvr>
                                      <p:to>
                                        <p:strVal val="visible"/>
                                      </p:to>
                                    </p:set>
                                    <p:animEffect transition="in" filter="fade">
                                      <p:cBhvr>
                                        <p:cTn id="60" dur="500"/>
                                        <p:tgtEl>
                                          <p:spTgt spid="250"/>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60"/>
                                        </p:tgtEl>
                                        <p:attrNameLst>
                                          <p:attrName>style.visibility</p:attrName>
                                        </p:attrNameLst>
                                      </p:cBhvr>
                                      <p:to>
                                        <p:strVal val="visible"/>
                                      </p:to>
                                    </p:set>
                                    <p:animEffect transition="in" filter="fade">
                                      <p:cBhvr>
                                        <p:cTn id="65" dur="500"/>
                                        <p:tgtEl>
                                          <p:spTgt spid="260"/>
                                        </p:tgtEl>
                                      </p:cBhvr>
                                    </p:animEffect>
                                  </p:childTnLst>
                                </p:cTn>
                              </p:par>
                              <p:par>
                                <p:cTn id="66" presetID="10" presetClass="entr" presetSubtype="0" fill="hold" nodeType="withEffect">
                                  <p:stCondLst>
                                    <p:cond delay="0"/>
                                  </p:stCondLst>
                                  <p:childTnLst>
                                    <p:set>
                                      <p:cBhvr>
                                        <p:cTn id="67" dur="1" fill="hold">
                                          <p:stCondLst>
                                            <p:cond delay="0"/>
                                          </p:stCondLst>
                                        </p:cTn>
                                        <p:tgtEl>
                                          <p:spTgt spid="261"/>
                                        </p:tgtEl>
                                        <p:attrNameLst>
                                          <p:attrName>style.visibility</p:attrName>
                                        </p:attrNameLst>
                                      </p:cBhvr>
                                      <p:to>
                                        <p:strVal val="visible"/>
                                      </p:to>
                                    </p:set>
                                    <p:animEffect transition="in" filter="fade">
                                      <p:cBhvr>
                                        <p:cTn id="68" dur="500"/>
                                        <p:tgtEl>
                                          <p:spTgt spid="261"/>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262"/>
                                        </p:tgtEl>
                                        <p:attrNameLst>
                                          <p:attrName>style.visibility</p:attrName>
                                        </p:attrNameLst>
                                      </p:cBhvr>
                                      <p:to>
                                        <p:strVal val="visible"/>
                                      </p:to>
                                    </p:set>
                                    <p:animEffect transition="in" filter="fade">
                                      <p:cBhvr>
                                        <p:cTn id="73" dur="500"/>
                                        <p:tgtEl>
                                          <p:spTgt spid="262"/>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131"/>
                                        </p:tgtEl>
                                        <p:attrNameLst>
                                          <p:attrName>style.visibility</p:attrName>
                                        </p:attrNameLst>
                                      </p:cBhvr>
                                      <p:to>
                                        <p:strVal val="visible"/>
                                      </p:to>
                                    </p:set>
                                    <p:animEffect transition="in" filter="fade">
                                      <p:cBhvr>
                                        <p:cTn id="78" dur="500"/>
                                        <p:tgtEl>
                                          <p:spTgt spid="131"/>
                                        </p:tgtEl>
                                      </p:cBhvr>
                                    </p:animEffect>
                                  </p:childTnLst>
                                </p:cTn>
                              </p:par>
                              <p:par>
                                <p:cTn id="79" presetID="10" presetClass="entr" presetSubtype="0" fill="hold" nodeType="withEffect">
                                  <p:stCondLst>
                                    <p:cond delay="0"/>
                                  </p:stCondLst>
                                  <p:childTnLst>
                                    <p:set>
                                      <p:cBhvr>
                                        <p:cTn id="80" dur="1" fill="hold">
                                          <p:stCondLst>
                                            <p:cond delay="0"/>
                                          </p:stCondLst>
                                        </p:cTn>
                                        <p:tgtEl>
                                          <p:spTgt spid="116"/>
                                        </p:tgtEl>
                                        <p:attrNameLst>
                                          <p:attrName>style.visibility</p:attrName>
                                        </p:attrNameLst>
                                      </p:cBhvr>
                                      <p:to>
                                        <p:strVal val="visible"/>
                                      </p:to>
                                    </p:set>
                                    <p:animEffect transition="in" filter="fade">
                                      <p:cBhvr>
                                        <p:cTn id="81"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INDIRECT </a:t>
            </a:r>
            <a:r>
              <a:rPr lang="en-US" sz="2000" b="1" dirty="0">
                <a:solidFill>
                  <a:srgbClr val="8E6F3E"/>
                </a:solidFill>
              </a:rPr>
              <a:t>(</a:t>
            </a:r>
            <a:r>
              <a:rPr lang="en-US" sz="2000" b="1" i="0" dirty="0">
                <a:solidFill>
                  <a:srgbClr val="8E6F3E"/>
                </a:solidFill>
              </a:rPr>
              <a:t>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noFill/>
          <a:ln>
            <a:no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and why interpretation is required.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property may need several views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Prop"/>
          <p:cNvSpPr/>
          <p:nvPr/>
        </p:nvSpPr>
        <p:spPr>
          <a:xfrm>
            <a:off x="274320" y="1783080"/>
            <a:ext cx="237744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PROPERTY / CLAIM</a:t>
            </a:r>
          </a:p>
        </p:txBody>
      </p:sp>
      <p:sp>
        <p:nvSpPr>
          <p:cNvPr id="110" name="Metric0"/>
          <p:cNvSpPr/>
          <p:nvPr/>
        </p:nvSpPr>
        <p:spPr>
          <a:xfrm>
            <a:off x="2926080" y="118872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A</a:t>
            </a:r>
            <a:r>
              <a:rPr lang="en-US" sz="2000" b="0" i="0" dirty="0">
                <a:solidFill>
                  <a:srgbClr val="9A9A9A"/>
                </a:solidFill>
              </a:rPr>
              <a:t>  →  </a:t>
            </a:r>
            <a:r>
              <a:rPr lang="en-US" sz="2000" b="0" i="0" dirty="0">
                <a:solidFill>
                  <a:srgbClr val="5C4826"/>
                </a:solidFill>
              </a:rPr>
              <a:t>Measurement</a:t>
            </a:r>
          </a:p>
        </p:txBody>
      </p:sp>
      <p:sp>
        <p:nvSpPr>
          <p:cNvPr id="111" name="Metric1"/>
          <p:cNvSpPr/>
          <p:nvPr/>
        </p:nvSpPr>
        <p:spPr>
          <a:xfrm>
            <a:off x="2926080" y="182880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B</a:t>
            </a:r>
            <a:r>
              <a:rPr lang="en-US" sz="2000" b="0" i="0" dirty="0">
                <a:solidFill>
                  <a:srgbClr val="9A9A9A"/>
                </a:solidFill>
              </a:rPr>
              <a:t>  →  </a:t>
            </a:r>
            <a:r>
              <a:rPr lang="en-US" sz="2000" b="0" i="0" dirty="0">
                <a:solidFill>
                  <a:srgbClr val="5C4826"/>
                </a:solidFill>
              </a:rPr>
              <a:t>Measurement</a:t>
            </a:r>
          </a:p>
        </p:txBody>
      </p:sp>
      <p:sp>
        <p:nvSpPr>
          <p:cNvPr id="112" name="Metric2"/>
          <p:cNvSpPr/>
          <p:nvPr/>
        </p:nvSpPr>
        <p:spPr>
          <a:xfrm>
            <a:off x="2926080" y="2468880"/>
            <a:ext cx="3383280" cy="5486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5C4826"/>
                </a:solidFill>
              </a:rPr>
              <a:t>Metric C</a:t>
            </a:r>
            <a:r>
              <a:rPr lang="en-US" sz="2000" b="0" i="0" dirty="0">
                <a:solidFill>
                  <a:srgbClr val="9A9A9A"/>
                </a:solidFill>
              </a:rPr>
              <a:t>  →  </a:t>
            </a:r>
            <a:r>
              <a:rPr lang="en-US" sz="2000" b="0" i="0" dirty="0">
                <a:solidFill>
                  <a:srgbClr val="5C4826"/>
                </a:solidFill>
              </a:rPr>
              <a:t>Measurement</a:t>
            </a:r>
          </a:p>
        </p:txBody>
      </p:sp>
      <p:sp>
        <p:nvSpPr>
          <p:cNvPr id="120" name="Evid"/>
          <p:cNvSpPr/>
          <p:nvPr/>
        </p:nvSpPr>
        <p:spPr>
          <a:xfrm>
            <a:off x="6583680" y="1783080"/>
            <a:ext cx="2286000" cy="640080"/>
          </a:xfrm>
          <a:prstGeom prst="rect">
            <a:avLst/>
          </a:prstGeom>
          <a:solidFill>
            <a:srgbClr val="8E6F3E"/>
          </a:solidFill>
          <a:ln>
            <a:noFill/>
          </a:ln>
        </p:spPr>
        <p:txBody>
          <a:bodyPr wrap="square" lIns="137160" tIns="45720" rIns="137160" bIns="45720" anchor="ctr"/>
          <a:lstStyle/>
          <a:p>
            <a:pPr algn="ctr">
              <a:buNone/>
            </a:pPr>
            <a:r>
              <a:rPr lang="en-US" sz="2000" b="1" i="0" dirty="0">
                <a:solidFill>
                  <a:srgbClr val="FFFFFF"/>
                </a:solidFill>
              </a:rPr>
              <a:t>EVIDENCE</a:t>
            </a:r>
          </a:p>
        </p:txBody>
      </p:sp>
      <p:cxnSp>
        <p:nvCxnSpPr>
          <p:cNvPr id="130" name="L0"/>
          <p:cNvCxnSpPr/>
          <p:nvPr/>
        </p:nvCxnSpPr>
        <p:spPr>
          <a:xfrm flipV="1">
            <a:off x="2651760" y="146304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1" name="L1"/>
          <p:cNvCxnSpPr/>
          <p:nvPr/>
        </p:nvCxnSpPr>
        <p:spPr>
          <a:xfrm>
            <a:off x="2651760" y="2103120"/>
            <a:ext cx="274320" cy="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32" name="L2"/>
          <p:cNvCxnSpPr/>
          <p:nvPr/>
        </p:nvCxnSpPr>
        <p:spPr>
          <a:xfrm>
            <a:off x="2651760" y="2103120"/>
            <a:ext cx="274320" cy="64008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40" name="R0"/>
          <p:cNvCxnSpPr/>
          <p:nvPr/>
        </p:nvCxnSpPr>
        <p:spPr>
          <a:xfrm>
            <a:off x="6309360" y="146304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1" name="R1"/>
          <p:cNvCxnSpPr/>
          <p:nvPr/>
        </p:nvCxnSpPr>
        <p:spPr>
          <a:xfrm>
            <a:off x="6309360" y="2103120"/>
            <a:ext cx="274320" cy="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2" name="R2"/>
          <p:cNvCxnSpPr/>
          <p:nvPr/>
        </p:nvCxnSpPr>
        <p:spPr>
          <a:xfrm flipV="1">
            <a:off x="6309360" y="2103120"/>
            <a:ext cx="274320" cy="640080"/>
          </a:xfrm>
          <a:prstGeom prst="line">
            <a:avLst/>
          </a:prstGeom>
          <a:ln w="1270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0" name="Ideas"/>
          <p:cNvSpPr txBox="1"/>
          <p:nvPr/>
        </p:nvSpPr>
        <p:spPr>
          <a:xfrm>
            <a:off x="274320" y="3200400"/>
            <a:ext cx="8595360" cy="1005840"/>
          </a:xfrm>
          <a:prstGeom prst="rect">
            <a:avLst/>
          </a:prstGeom>
          <a:noFill/>
          <a:ln>
            <a:noFill/>
          </a:ln>
        </p:spPr>
        <p:txBody>
          <a:bodyPr wrap="square" lIns="0" tIns="45720" rIns="0" bIns="45720" anchor="ctr"/>
          <a:lstStyle/>
          <a:p>
            <a:pPr algn="ctr">
              <a:buNone/>
            </a:pPr>
            <a:r>
              <a:rPr lang="en-US" sz="2000" b="0" i="0" dirty="0">
                <a:solidFill>
                  <a:srgbClr val="5C4826"/>
                </a:solidFill>
              </a:rPr>
              <a:t>Different metrics expose different aspects of the property.</a:t>
            </a:r>
          </a:p>
          <a:p>
            <a:pPr algn="ctr">
              <a:spcBef>
                <a:spcPts val="140"/>
              </a:spcBef>
              <a:buNone/>
            </a:pPr>
            <a:r>
              <a:rPr lang="en-US" sz="2000" b="1" i="0" dirty="0">
                <a:solidFill>
                  <a:srgbClr val="5C4826"/>
                </a:solidFill>
              </a:rPr>
              <a:t>Agreement is stronger when the measurements</a:t>
            </a:r>
          </a:p>
          <a:p>
            <a:pPr algn="ctr">
              <a:buNone/>
            </a:pPr>
            <a:r>
              <a:rPr lang="en-US" sz="2000" b="1" i="0" dirty="0">
                <a:solidFill>
                  <a:srgbClr val="5C4826"/>
                </a:solidFill>
              </a:rPr>
              <a:t>do not share the same blind spot.</a:t>
            </a:r>
          </a:p>
        </p:txBody>
      </p:sp>
      <p:sp>
        <p:nvSpPr>
          <p:cNvPr id="160" name="ExLbl"/>
          <p:cNvSpPr txBox="1"/>
          <p:nvPr/>
        </p:nvSpPr>
        <p:spPr>
          <a:xfrm>
            <a:off x="274320" y="4389120"/>
            <a:ext cx="8595360" cy="365760"/>
          </a:xfrm>
          <a:prstGeom prst="rect">
            <a:avLst/>
          </a:prstGeom>
          <a:noFill/>
          <a:ln>
            <a:noFill/>
          </a:ln>
        </p:spPr>
        <p:txBody>
          <a:bodyPr wrap="square" lIns="0" tIns="45720" rIns="0" bIns="45720" anchor="ctr"/>
          <a:lstStyle/>
          <a:p>
            <a:pPr algn="ctr">
              <a:buNone/>
            </a:pPr>
            <a:r>
              <a:rPr lang="en-US" sz="2000" b="1" i="0" dirty="0">
                <a:solidFill>
                  <a:srgbClr val="8E6F3E"/>
                </a:solidFill>
              </a:rPr>
              <a:t>WORKED EXAMPLE  ·  INTEGRATION READINESS</a:t>
            </a:r>
          </a:p>
        </p:txBody>
      </p:sp>
      <p:sp>
        <p:nvSpPr>
          <p:cNvPr id="170" name="Ex0"/>
          <p:cNvSpPr/>
          <p:nvPr/>
        </p:nvSpPr>
        <p:spPr>
          <a:xfrm>
            <a:off x="274320"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defect count falling</a:t>
            </a:r>
          </a:p>
        </p:txBody>
      </p:sp>
      <p:sp>
        <p:nvSpPr>
          <p:cNvPr id="171" name="Ex1"/>
          <p:cNvSpPr/>
          <p:nvPr/>
        </p:nvSpPr>
        <p:spPr>
          <a:xfrm>
            <a:off x="3188808"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test-observation issues remaining</a:t>
            </a:r>
          </a:p>
        </p:txBody>
      </p:sp>
      <p:sp>
        <p:nvSpPr>
          <p:cNvPr id="172" name="Ex2"/>
          <p:cNvSpPr/>
          <p:nvPr/>
        </p:nvSpPr>
        <p:spPr>
          <a:xfrm>
            <a:off x="6103296" y="4800600"/>
            <a:ext cx="2765808" cy="64008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0" i="0" dirty="0">
                <a:solidFill>
                  <a:srgbClr val="5C4826"/>
                </a:solidFill>
              </a:rPr>
              <a:t>integration escapes continuing</a:t>
            </a:r>
          </a:p>
        </p:txBody>
      </p:sp>
      <p:sp>
        <p:nvSpPr>
          <p:cNvPr id="18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Three proxies sharing one blind spot are not three independent reasons.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30"/>
                                        </p:tgtEl>
                                        <p:attrNameLst>
                                          <p:attrName>style.visibility</p:attrName>
                                        </p:attrNameLst>
                                      </p:cBhvr>
                                      <p:to>
                                        <p:strVal val="visible"/>
                                      </p:to>
                                    </p:set>
                                    <p:animEffect transition="in" filter="fade">
                                      <p:cBhvr>
                                        <p:cTn id="10" dur="500"/>
                                        <p:tgtEl>
                                          <p:spTgt spid="130"/>
                                        </p:tgtEl>
                                      </p:cBhvr>
                                    </p:animEffect>
                                  </p:childTnLst>
                                </p:cTn>
                              </p:par>
                              <p:par>
                                <p:cTn id="11" presetID="10" presetClass="entr" presetSubtype="0" fill="hold" nodeType="withEffect">
                                  <p:stCondLst>
                                    <p:cond delay="0"/>
                                  </p:stCondLst>
                                  <p:childTnLst>
                                    <p:set>
                                      <p:cBhvr>
                                        <p:cTn id="12" dur="1" fill="hold">
                                          <p:stCondLst>
                                            <p:cond delay="0"/>
                                          </p:stCondLst>
                                        </p:cTn>
                                        <p:tgtEl>
                                          <p:spTgt spid="131"/>
                                        </p:tgtEl>
                                        <p:attrNameLst>
                                          <p:attrName>style.visibility</p:attrName>
                                        </p:attrNameLst>
                                      </p:cBhvr>
                                      <p:to>
                                        <p:strVal val="visible"/>
                                      </p:to>
                                    </p:set>
                                    <p:animEffect transition="in" filter="fade">
                                      <p:cBhvr>
                                        <p:cTn id="13" dur="500"/>
                                        <p:tgtEl>
                                          <p:spTgt spid="131"/>
                                        </p:tgtEl>
                                      </p:cBhvr>
                                    </p:animEffect>
                                  </p:childTnLst>
                                </p:cTn>
                              </p:par>
                              <p:par>
                                <p:cTn id="14" presetID="10" presetClass="entr" presetSubtype="0" fill="hold" nodeType="withEffect">
                                  <p:stCondLst>
                                    <p:cond delay="0"/>
                                  </p:stCondLst>
                                  <p:childTnLst>
                                    <p:set>
                                      <p:cBhvr>
                                        <p:cTn id="15" dur="1" fill="hold">
                                          <p:stCondLst>
                                            <p:cond delay="0"/>
                                          </p:stCondLst>
                                        </p:cTn>
                                        <p:tgtEl>
                                          <p:spTgt spid="132"/>
                                        </p:tgtEl>
                                        <p:attrNameLst>
                                          <p:attrName>style.visibility</p:attrName>
                                        </p:attrNameLst>
                                      </p:cBhvr>
                                      <p:to>
                                        <p:strVal val="visible"/>
                                      </p:to>
                                    </p:set>
                                    <p:animEffect transition="in" filter="fade">
                                      <p:cBhvr>
                                        <p:cTn id="16" dur="500"/>
                                        <p:tgtEl>
                                          <p:spTgt spid="13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0"/>
                                        </p:tgtEl>
                                        <p:attrNameLst>
                                          <p:attrName>style.visibility</p:attrName>
                                        </p:attrNameLst>
                                      </p:cBhvr>
                                      <p:to>
                                        <p:strVal val="visible"/>
                                      </p:to>
                                    </p:set>
                                    <p:animEffect transition="in" filter="fade">
                                      <p:cBhvr>
                                        <p:cTn id="21" dur="500"/>
                                        <p:tgtEl>
                                          <p:spTgt spid="11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1"/>
                                        </p:tgtEl>
                                        <p:attrNameLst>
                                          <p:attrName>style.visibility</p:attrName>
                                        </p:attrNameLst>
                                      </p:cBhvr>
                                      <p:to>
                                        <p:strVal val="visible"/>
                                      </p:to>
                                    </p:set>
                                    <p:animEffect transition="in" filter="fade">
                                      <p:cBhvr>
                                        <p:cTn id="26" dur="500"/>
                                        <p:tgtEl>
                                          <p:spTgt spid="1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12"/>
                                        </p:tgtEl>
                                        <p:attrNameLst>
                                          <p:attrName>style.visibility</p:attrName>
                                        </p:attrNameLst>
                                      </p:cBhvr>
                                      <p:to>
                                        <p:strVal val="visible"/>
                                      </p:to>
                                    </p:set>
                                    <p:animEffect transition="in" filter="fade">
                                      <p:cBhvr>
                                        <p:cTn id="31" dur="500"/>
                                        <p:tgtEl>
                                          <p:spTgt spid="1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0"/>
                                        </p:tgtEl>
                                        <p:attrNameLst>
                                          <p:attrName>style.visibility</p:attrName>
                                        </p:attrNameLst>
                                      </p:cBhvr>
                                      <p:to>
                                        <p:strVal val="visible"/>
                                      </p:to>
                                    </p:set>
                                    <p:animEffect transition="in" filter="fade">
                                      <p:cBhvr>
                                        <p:cTn id="36" dur="500"/>
                                        <p:tgtEl>
                                          <p:spTgt spid="120"/>
                                        </p:tgtEl>
                                      </p:cBhvr>
                                    </p:animEffect>
                                  </p:childTnLst>
                                </p:cTn>
                              </p:par>
                              <p:par>
                                <p:cTn id="37" presetID="10" presetClass="entr" presetSubtype="0" fill="hold" nodeType="withEffect">
                                  <p:stCondLst>
                                    <p:cond delay="0"/>
                                  </p:stCondLst>
                                  <p:childTnLst>
                                    <p:set>
                                      <p:cBhvr>
                                        <p:cTn id="38" dur="1" fill="hold">
                                          <p:stCondLst>
                                            <p:cond delay="0"/>
                                          </p:stCondLst>
                                        </p:cTn>
                                        <p:tgtEl>
                                          <p:spTgt spid="140"/>
                                        </p:tgtEl>
                                        <p:attrNameLst>
                                          <p:attrName>style.visibility</p:attrName>
                                        </p:attrNameLst>
                                      </p:cBhvr>
                                      <p:to>
                                        <p:strVal val="visible"/>
                                      </p:to>
                                    </p:set>
                                    <p:animEffect transition="in" filter="fade">
                                      <p:cBhvr>
                                        <p:cTn id="39" dur="500"/>
                                        <p:tgtEl>
                                          <p:spTgt spid="140"/>
                                        </p:tgtEl>
                                      </p:cBhvr>
                                    </p:animEffect>
                                  </p:childTnLst>
                                </p:cTn>
                              </p:par>
                              <p:par>
                                <p:cTn id="40" presetID="10" presetClass="entr" presetSubtype="0" fill="hold" nodeType="withEffect">
                                  <p:stCondLst>
                                    <p:cond delay="0"/>
                                  </p:stCondLst>
                                  <p:childTnLst>
                                    <p:set>
                                      <p:cBhvr>
                                        <p:cTn id="41" dur="1" fill="hold">
                                          <p:stCondLst>
                                            <p:cond delay="0"/>
                                          </p:stCondLst>
                                        </p:cTn>
                                        <p:tgtEl>
                                          <p:spTgt spid="141"/>
                                        </p:tgtEl>
                                        <p:attrNameLst>
                                          <p:attrName>style.visibility</p:attrName>
                                        </p:attrNameLst>
                                      </p:cBhvr>
                                      <p:to>
                                        <p:strVal val="visible"/>
                                      </p:to>
                                    </p:set>
                                    <p:animEffect transition="in" filter="fade">
                                      <p:cBhvr>
                                        <p:cTn id="42" dur="500"/>
                                        <p:tgtEl>
                                          <p:spTgt spid="141"/>
                                        </p:tgtEl>
                                      </p:cBhvr>
                                    </p:animEffect>
                                  </p:childTnLst>
                                </p:cTn>
                              </p:par>
                              <p:par>
                                <p:cTn id="43" presetID="10" presetClass="entr" presetSubtype="0" fill="hold" nodeType="withEffect">
                                  <p:stCondLst>
                                    <p:cond delay="0"/>
                                  </p:stCondLst>
                                  <p:childTnLst>
                                    <p:set>
                                      <p:cBhvr>
                                        <p:cTn id="44" dur="1" fill="hold">
                                          <p:stCondLst>
                                            <p:cond delay="0"/>
                                          </p:stCondLst>
                                        </p:cTn>
                                        <p:tgtEl>
                                          <p:spTgt spid="142"/>
                                        </p:tgtEl>
                                        <p:attrNameLst>
                                          <p:attrName>style.visibility</p:attrName>
                                        </p:attrNameLst>
                                      </p:cBhvr>
                                      <p:to>
                                        <p:strVal val="visible"/>
                                      </p:to>
                                    </p:set>
                                    <p:animEffect transition="in" filter="fade">
                                      <p:cBhvr>
                                        <p:cTn id="45" dur="500"/>
                                        <p:tgtEl>
                                          <p:spTgt spid="14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500"/>
                                        <p:tgtEl>
                                          <p:spTgt spid="150"/>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60"/>
                                        </p:tgtEl>
                                        <p:attrNameLst>
                                          <p:attrName>style.visibility</p:attrName>
                                        </p:attrNameLst>
                                      </p:cBhvr>
                                      <p:to>
                                        <p:strVal val="visible"/>
                                      </p:to>
                                    </p:set>
                                    <p:animEffect transition="in" filter="fade">
                                      <p:cBhvr>
                                        <p:cTn id="55" dur="500"/>
                                        <p:tgtEl>
                                          <p:spTgt spid="160"/>
                                        </p:tgtEl>
                                      </p:cBhvr>
                                    </p:animEffect>
                                  </p:childTnLst>
                                </p:cTn>
                              </p:par>
                              <p:par>
                                <p:cTn id="56" presetID="10" presetClass="entr" presetSubtype="0" fill="hold" nodeType="withEffect">
                                  <p:stCondLst>
                                    <p:cond delay="0"/>
                                  </p:stCondLst>
                                  <p:childTnLst>
                                    <p:set>
                                      <p:cBhvr>
                                        <p:cTn id="57" dur="1" fill="hold">
                                          <p:stCondLst>
                                            <p:cond delay="0"/>
                                          </p:stCondLst>
                                        </p:cTn>
                                        <p:tgtEl>
                                          <p:spTgt spid="170"/>
                                        </p:tgtEl>
                                        <p:attrNameLst>
                                          <p:attrName>style.visibility</p:attrName>
                                        </p:attrNameLst>
                                      </p:cBhvr>
                                      <p:to>
                                        <p:strVal val="visible"/>
                                      </p:to>
                                    </p:set>
                                    <p:animEffect transition="in" filter="fade">
                                      <p:cBhvr>
                                        <p:cTn id="58" dur="500"/>
                                        <p:tgtEl>
                                          <p:spTgt spid="170"/>
                                        </p:tgtEl>
                                      </p:cBhvr>
                                    </p:animEffect>
                                  </p:childTnLst>
                                </p:cTn>
                              </p:par>
                              <p:par>
                                <p:cTn id="59" presetID="10"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animEffect transition="in" filter="fade">
                                      <p:cBhvr>
                                        <p:cTn id="61" dur="500"/>
                                        <p:tgtEl>
                                          <p:spTgt spid="171"/>
                                        </p:tgtEl>
                                      </p:cBhvr>
                                    </p:animEffect>
                                  </p:childTnLst>
                                </p:cTn>
                              </p:par>
                              <p:par>
                                <p:cTn id="62" presetID="10" presetClass="entr" presetSubtype="0" fill="hold" nodeType="withEffect">
                                  <p:stCondLst>
                                    <p:cond delay="0"/>
                                  </p:stCondLst>
                                  <p:childTnLst>
                                    <p:set>
                                      <p:cBhvr>
                                        <p:cTn id="63" dur="1" fill="hold">
                                          <p:stCondLst>
                                            <p:cond delay="0"/>
                                          </p:stCondLst>
                                        </p:cTn>
                                        <p:tgtEl>
                                          <p:spTgt spid="172"/>
                                        </p:tgtEl>
                                        <p:attrNameLst>
                                          <p:attrName>style.visibility</p:attrName>
                                        </p:attrNameLst>
                                      </p:cBhvr>
                                      <p:to>
                                        <p:strVal val="visible"/>
                                      </p:to>
                                    </p:set>
                                    <p:animEffect transition="in" filter="fade">
                                      <p:cBhvr>
                                        <p:cTn id="64" dur="500"/>
                                        <p:tgtEl>
                                          <p:spTgt spid="17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180"/>
                                        </p:tgtEl>
                                        <p:attrNameLst>
                                          <p:attrName>style.visibility</p:attrName>
                                        </p:attrNameLst>
                                      </p:cBhvr>
                                      <p:to>
                                        <p:strVal val="visible"/>
                                      </p:to>
                                    </p:set>
                                    <p:animEffect transition="in" filter="fade">
                                      <p:cBhvr>
                                        <p:cTn id="69" dur="5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pPr algn="ctr">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fontScale="90000"/>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noFill/>
          <a:ln>
            <a:no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and defend the relationship.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commits </a:t>
            </a:r>
            <a:r>
              <a:rPr lang="en-US" sz="2000" dirty="0">
                <a:solidFill>
                  <a:srgbClr val="5C4826"/>
                </a:solidFill>
                <a:sym typeface="Wingdings" pitchFamily="2" charset="2"/>
              </a:rPr>
              <a:t> </a:t>
            </a:r>
            <a:r>
              <a:rPr lang="en-US" sz="2000" b="0" i="0" dirty="0">
                <a:solidFill>
                  <a:srgbClr val="5C4826"/>
                </a:solidFill>
              </a:rPr>
              <a:t>useful output</a:t>
            </a:r>
          </a:p>
          <a:p>
            <a:pPr algn="ctr">
              <a:spcBef>
                <a:spcPts val="160"/>
              </a:spcBef>
              <a:buNone/>
            </a:pPr>
            <a:r>
              <a:rPr lang="en-US" sz="2000" b="0" i="1" dirty="0">
                <a:solidFill>
                  <a:srgbClr val="555960"/>
                </a:solidFill>
              </a:rPr>
              <a:t>an empirical relationship; it can hold</a:t>
            </a:r>
          </a:p>
          <a:p>
            <a:pPr algn="ctr">
              <a:spcBef>
                <a:spcPts val="160"/>
              </a:spcBef>
              <a:buNone/>
            </a:pPr>
            <a:endParaRPr lang="en-US" sz="2000" b="0" i="1" dirty="0">
              <a:solidFill>
                <a:srgbClr val="555960"/>
              </a:solidFill>
            </a:endParaRPr>
          </a:p>
          <a:p>
            <a:pPr algn="ctr">
              <a:spcBef>
                <a:spcPts val="160"/>
              </a:spcBef>
              <a:buNone/>
            </a:pPr>
            <a:r>
              <a:rPr lang="en-US" sz="2000" b="1" i="1" dirty="0">
                <a:solidFill>
                  <a:srgbClr val="555960"/>
                </a:solidFill>
              </a:rPr>
              <a:t>Surrogation: </a:t>
            </a:r>
            <a:r>
              <a:rPr lang="en-US" sz="2000" b="0" i="1" dirty="0">
                <a:solidFill>
                  <a:srgbClr val="555960"/>
                </a:solidFill>
              </a:rPr>
              <a:t>we begin treating commits as though they </a:t>
            </a:r>
          </a:p>
          <a:p>
            <a:pPr algn="ctr">
              <a:spcBef>
                <a:spcPts val="160"/>
              </a:spcBef>
              <a:buNone/>
            </a:pPr>
            <a:r>
              <a:rPr lang="en-US" sz="2000" b="1" i="1" dirty="0">
                <a:solidFill>
                  <a:srgbClr val="555960"/>
                </a:solidFill>
              </a:rPr>
              <a:t>are</a:t>
            </a:r>
            <a:r>
              <a:rPr lang="en-US" sz="2000" b="0" i="1" dirty="0">
                <a:solidFill>
                  <a:srgbClr val="555960"/>
                </a:solidFill>
              </a:rPr>
              <a:t>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572000" y="1389888"/>
            <a:ext cx="4261104" cy="2377440"/>
          </a:xfrm>
          <a:prstGeom prst="rect">
            <a:avLst/>
          </a:prstGeom>
          <a:solidFill>
            <a:srgbClr val="F5F1E8"/>
          </a:solidFill>
          <a:ln w="12700">
            <a:solidFill>
              <a:srgbClr val="C9B991"/>
            </a:solidFill>
          </a:ln>
        </p:spPr>
        <p:txBody>
          <a:bodyPr wrap="square" lIns="45720" rIns="45720" anchor="ctr"/>
          <a:lstStyle/>
          <a:p>
            <a:pPr algn="ctr"/>
            <a:r>
              <a:rPr sz="2000" b="1" i="0" dirty="0">
                <a:solidFill>
                  <a:srgbClr val="5C4826"/>
                </a:solidFill>
              </a:rPr>
              <a:t>Target: increase </a:t>
            </a:r>
            <a:endParaRPr lang="en-US" sz="2000" b="1" dirty="0">
              <a:solidFill>
                <a:srgbClr val="5C4826"/>
              </a:solidFill>
            </a:endParaRPr>
          </a:p>
          <a:p>
            <a:pPr algn="ctr"/>
            <a:r>
              <a:rPr sz="2000" b="1" i="0" dirty="0">
                <a:solidFill>
                  <a:srgbClr val="5C4826"/>
                </a:solidFill>
              </a:rPr>
              <a:t>commits / engineer / week</a:t>
            </a:r>
          </a:p>
          <a:p>
            <a:pPr algn="ctr"/>
            <a:r>
              <a:rPr sz="2000" b="0" i="0" dirty="0">
                <a:solidFill>
                  <a:srgbClr val="5C4826"/>
                </a:solidFill>
              </a:rPr>
              <a:t>commits rise</a:t>
            </a:r>
            <a:r>
              <a:rPr lang="en-US" sz="2000" b="0" i="0" dirty="0">
                <a:solidFill>
                  <a:srgbClr val="5C4826"/>
                </a:solidFill>
              </a:rPr>
              <a:t>; </a:t>
            </a:r>
            <a:r>
              <a:rPr sz="2000" b="0" i="0" dirty="0">
                <a:solidFill>
                  <a:srgbClr val="5C4826"/>
                </a:solidFill>
              </a:rPr>
              <a:t>useful output need not</a:t>
            </a:r>
            <a:endParaRPr lang="en-US" sz="2000" b="0" i="0" dirty="0">
              <a:solidFill>
                <a:srgbClr val="5C4826"/>
              </a:solidFill>
            </a:endParaRPr>
          </a:p>
          <a:p>
            <a:pPr algn="ctr"/>
            <a:endParaRPr sz="2000" b="0" i="0" dirty="0">
              <a:solidFill>
                <a:srgbClr val="5C4826"/>
              </a:solidFill>
            </a:endParaRPr>
          </a:p>
          <a:p>
            <a:pPr algn="ctr">
              <a:buNone/>
            </a:pPr>
            <a:r>
              <a:rPr lang="en-US" sz="2000" b="1" i="1" dirty="0">
                <a:solidFill>
                  <a:srgbClr val="555960"/>
                </a:solidFill>
              </a:rPr>
              <a:t>Goodhart: </a:t>
            </a:r>
            <a:r>
              <a:rPr lang="en-US" sz="2000" b="0" i="1" dirty="0">
                <a:solidFill>
                  <a:srgbClr val="555960"/>
                </a:solidFill>
              </a:rPr>
              <a:t>once commits become </a:t>
            </a:r>
          </a:p>
          <a:p>
            <a:pPr algn="ctr">
              <a:buNone/>
            </a:pPr>
            <a:r>
              <a:rPr lang="en-US" sz="2000" b="0" i="1" dirty="0">
                <a:solidFill>
                  <a:srgbClr val="555960"/>
                </a:solidFill>
              </a:rPr>
              <a:t>the target, the empirical </a:t>
            </a:r>
          </a:p>
          <a:p>
            <a:pPr algn="ctr">
              <a:buNone/>
            </a:pPr>
            <a:r>
              <a:rPr lang="en-US" sz="2000" b="0" i="1" dirty="0">
                <a:solidFill>
                  <a:srgbClr val="555960"/>
                </a:solidFill>
              </a:rPr>
              <a:t>relationship itself can change</a:t>
            </a:r>
          </a:p>
        </p:txBody>
      </p:sp>
      <p:sp>
        <p:nvSpPr>
          <p:cNvPr id="104" name="SurrogationDef"/>
          <p:cNvSpPr/>
          <p:nvPr/>
        </p:nvSpPr>
        <p:spPr>
          <a:xfrm>
            <a:off x="310896" y="4343400"/>
            <a:ext cx="3959352"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SURROGATION</a:t>
            </a:r>
          </a:p>
          <a:p>
            <a:pPr algn="ctr">
              <a:spcBef>
                <a:spcPts val="140"/>
              </a:spcBef>
              <a:buNone/>
            </a:pPr>
            <a:r>
              <a:rPr lang="en-US" sz="2000" b="0" i="0" dirty="0">
                <a:solidFill>
                  <a:srgbClr val="5C4826"/>
                </a:solidFill>
              </a:rPr>
              <a:t>We mistake the measure</a:t>
            </a:r>
          </a:p>
          <a:p>
            <a:pPr algn="ctr">
              <a:buNone/>
            </a:pPr>
            <a:r>
              <a:rPr lang="en-US" sz="2000" b="0" i="0" dirty="0">
                <a:solidFill>
                  <a:srgbClr val="5C4826"/>
                </a:solidFill>
              </a:rPr>
              <a:t>for the property.</a:t>
            </a:r>
          </a:p>
        </p:txBody>
      </p:sp>
      <p:sp>
        <p:nvSpPr>
          <p:cNvPr id="105" name="GoodhartDef"/>
          <p:cNvSpPr/>
          <p:nvPr/>
        </p:nvSpPr>
        <p:spPr>
          <a:xfrm>
            <a:off x="4572000" y="4343400"/>
            <a:ext cx="4261104" cy="1188720"/>
          </a:xfrm>
          <a:prstGeom prst="rect">
            <a:avLst/>
          </a:prstGeom>
          <a:solidFill>
            <a:srgbClr val="E8F0F7"/>
          </a:solidFill>
          <a:ln w="15875">
            <a:solidFill>
              <a:srgbClr val="A9C4DB"/>
            </a:solidFill>
          </a:ln>
        </p:spPr>
        <p:txBody>
          <a:bodyPr wrap="square" lIns="91440" tIns="45720" rIns="91440" bIns="45720" anchor="ctr"/>
          <a:lstStyle/>
          <a:p>
            <a:pPr algn="ctr">
              <a:buNone/>
            </a:pPr>
            <a:r>
              <a:rPr lang="en-US" sz="2000" b="1" i="0" dirty="0">
                <a:solidFill>
                  <a:srgbClr val="2E74B5"/>
                </a:solidFill>
              </a:rPr>
              <a:t>GOODHART</a:t>
            </a:r>
          </a:p>
          <a:p>
            <a:pPr algn="ctr">
              <a:spcBef>
                <a:spcPts val="140"/>
              </a:spcBef>
              <a:buNone/>
            </a:pPr>
            <a:r>
              <a:rPr lang="en-US" sz="2000" b="0" i="0" dirty="0">
                <a:solidFill>
                  <a:srgbClr val="5C4826"/>
                </a:solidFill>
              </a:rPr>
              <a:t>Targeting the measure changes</a:t>
            </a:r>
          </a:p>
          <a:p>
            <a:pPr algn="ctr">
              <a:buNone/>
            </a:pPr>
            <a:r>
              <a:rPr lang="en-US" sz="2000" b="0" i="0" dirty="0">
                <a:solidFill>
                  <a:srgbClr val="5C4826"/>
                </a:solidFill>
              </a:rPr>
              <a:t>the relationship that made it useful.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noFill/>
          <a:ln>
            <a:noFill/>
          </a:ln>
        </p:spPr>
        <p:txBody>
          <a:bodyPr wrap="square" lIns="91440" tIns="45720" rIns="91440" bIns="45720" anchor="ctr"/>
          <a:lstStyle/>
          <a:p>
            <a:pPr algn="ctr">
              <a:buNone/>
            </a:pPr>
            <a:r>
              <a:rPr lang="en-US" sz="2000" b="0" i="0" dirty="0">
                <a:solidFill>
                  <a:srgbClr val="5C4826"/>
                </a:solidFill>
              </a:rPr>
              <a:t>A metric acquires meaning through the property, </a:t>
            </a:r>
          </a:p>
          <a:p>
            <a:pPr algn="ctr">
              <a:buNone/>
            </a:pPr>
            <a:r>
              <a:rPr lang="en-US" sz="2000" b="0" i="0" dirty="0">
                <a:solidFill>
                  <a:srgbClr val="5C4826"/>
                </a:solidFill>
              </a:rPr>
              <a:t>conditions, and decision for which it is being used.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4    </a:t>
            </a:r>
            <a:r>
              <a:rPr lang="en-US" sz="2400" b="0" i="0" dirty="0">
                <a:solidFill>
                  <a:srgbClr val="5C4826"/>
                </a:solidFill>
              </a:rPr>
              <a:t>What does the observation leave unresolved?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5150000" cy="638175"/>
          </a:xfrm>
        </p:spPr>
        <p:txBody>
          <a:bodyPr>
            <a:normAutofit fontScale="90000"/>
          </a:bodyPr>
          <a:lstStyle/>
          <a:p>
            <a:pPr>
              <a:buNone/>
              <a:defRPr b="0"/>
            </a:pPr>
            <a:r>
              <a:rPr lang="en-US" sz="2400" b="0" i="0" dirty="0">
                <a:solidFill>
                  <a:srgbClr val="000000"/>
                </a:solidFill>
              </a:rPr>
              <a:t>You have to choose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1500" b="1" i="0" dirty="0">
                <a:solidFill>
                  <a:srgbClr val="8E6F3E"/>
                </a:solidFill>
              </a:rPr>
              <a:t>TEAM ACTIVITY  ·  10 MINUTES</a:t>
            </a:r>
          </a:p>
        </p:txBody>
      </p:sp>
      <p:sp>
        <p:nvSpPr>
          <p:cNvPr id="101" name="Premise"/>
          <p:cNvSpPr txBox="1"/>
          <p:nvPr/>
        </p:nvSpPr>
        <p:spPr>
          <a:xfrm>
            <a:off x="274320" y="770000"/>
            <a:ext cx="8595360" cy="430000"/>
          </a:xfrm>
          <a:prstGeom prst="rect">
            <a:avLst/>
          </a:prstGeom>
          <a:noFill/>
          <a:ln>
            <a:noFill/>
          </a:ln>
        </p:spPr>
        <p:txBody>
          <a:bodyPr wrap="square" lIns="0" tIns="0" rIns="0" bIns="0" anchor="ctr"/>
          <a:lstStyle/>
          <a:p>
            <a:pPr algn="l">
              <a:buNone/>
            </a:pPr>
            <a:r>
              <a:rPr lang="en-US" sz="1400" b="0" i="0" dirty="0">
                <a:solidFill>
                  <a:srgbClr val="5C4826"/>
                </a:solidFill>
              </a:rPr>
              <a:t>Your team is adding a document-processing operation to a production service. The feature is ready to build, but the team must choose between two viable designs.</a:t>
            </a:r>
          </a:p>
        </p:txBody>
      </p:sp>
      <p:sp>
        <p:nvSpPr>
          <p:cNvPr id="110" name="HdrA"/>
          <p:cNvSpPr/>
          <p:nvPr/>
        </p:nvSpPr>
        <p:spPr>
          <a:xfrm>
            <a:off x="4174320" y="1250000"/>
            <a:ext cx="2347680" cy="42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A</a:t>
            </a:r>
          </a:p>
          <a:p>
            <a:pPr algn="ctr">
              <a:buNone/>
            </a:pPr>
            <a:r>
              <a:rPr lang="en-US" sz="1300" b="1" i="0" dirty="0">
                <a:solidFill>
                  <a:srgbClr val="FFFFFF"/>
                </a:solidFill>
              </a:rPr>
              <a:t>Process synchronously</a:t>
            </a:r>
          </a:p>
        </p:txBody>
      </p:sp>
      <p:sp>
        <p:nvSpPr>
          <p:cNvPr id="111" name="HdrB"/>
          <p:cNvSpPr/>
          <p:nvPr/>
        </p:nvSpPr>
        <p:spPr>
          <a:xfrm>
            <a:off x="6522000" y="1250000"/>
            <a:ext cx="2347680" cy="420000"/>
          </a:xfrm>
          <a:prstGeom prst="rect">
            <a:avLst/>
          </a:prstGeom>
          <a:solidFill>
            <a:srgbClr val="8E6F3E"/>
          </a:solidFill>
          <a:ln w="12700">
            <a:solidFill>
              <a:srgbClr val="8E6F3E"/>
            </a:solidFill>
          </a:ln>
        </p:spPr>
        <p:txBody>
          <a:bodyPr wrap="square" lIns="45720" tIns="27432" rIns="45720" bIns="27432" anchor="ctr"/>
          <a:lstStyle/>
          <a:p>
            <a:pPr algn="ctr">
              <a:buNone/>
            </a:pPr>
            <a:r>
              <a:rPr lang="en-US" sz="1600" b="1" i="0" dirty="0">
                <a:solidFill>
                  <a:srgbClr val="FFFFFF"/>
                </a:solidFill>
              </a:rPr>
              <a:t>B</a:t>
            </a:r>
          </a:p>
          <a:p>
            <a:pPr algn="ctr">
              <a:buNone/>
            </a:pPr>
            <a:r>
              <a:rPr lang="en-US" sz="1300" b="1" i="0" dirty="0">
                <a:solidFill>
                  <a:srgbClr val="FFFFFF"/>
                </a:solidFill>
              </a:rPr>
              <a:t>Queue the work</a:t>
            </a:r>
          </a:p>
        </p:txBody>
      </p:sp>
      <p:sp>
        <p:nvSpPr>
          <p:cNvPr id="120" name="R1L"/>
          <p:cNvSpPr/>
          <p:nvPr/>
        </p:nvSpPr>
        <p:spPr>
          <a:xfrm>
            <a:off x="274320" y="167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Implementation effort</a:t>
            </a:r>
          </a:p>
        </p:txBody>
      </p:sp>
      <p:sp>
        <p:nvSpPr>
          <p:cNvPr id="121" name="R1A"/>
          <p:cNvSpPr/>
          <p:nvPr/>
        </p:nvSpPr>
        <p:spPr>
          <a:xfrm>
            <a:off x="4174320" y="167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2 engineer-days</a:t>
            </a:r>
          </a:p>
        </p:txBody>
      </p:sp>
      <p:sp>
        <p:nvSpPr>
          <p:cNvPr id="122" name="R1B"/>
          <p:cNvSpPr/>
          <p:nvPr/>
        </p:nvSpPr>
        <p:spPr>
          <a:xfrm>
            <a:off x="6522000" y="167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7 engineer-days</a:t>
            </a:r>
          </a:p>
        </p:txBody>
      </p:sp>
      <p:sp>
        <p:nvSpPr>
          <p:cNvPr id="130" name="R2L"/>
          <p:cNvSpPr/>
          <p:nvPr/>
        </p:nvSpPr>
        <p:spPr>
          <a:xfrm>
            <a:off x="274320" y="1915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Typical completion time</a:t>
            </a:r>
          </a:p>
        </p:txBody>
      </p:sp>
      <p:sp>
        <p:nvSpPr>
          <p:cNvPr id="131" name="R2A"/>
          <p:cNvSpPr/>
          <p:nvPr/>
        </p:nvSpPr>
        <p:spPr>
          <a:xfrm>
            <a:off x="4174320" y="191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4 s</a:t>
            </a:r>
          </a:p>
        </p:txBody>
      </p:sp>
      <p:sp>
        <p:nvSpPr>
          <p:cNvPr id="132" name="R2B"/>
          <p:cNvSpPr/>
          <p:nvPr/>
        </p:nvSpPr>
        <p:spPr>
          <a:xfrm>
            <a:off x="6522000" y="191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9 s</a:t>
            </a:r>
          </a:p>
        </p:txBody>
      </p:sp>
      <p:sp>
        <p:nvSpPr>
          <p:cNvPr id="140" name="R3L"/>
          <p:cNvSpPr/>
          <p:nvPr/>
        </p:nvSpPr>
        <p:spPr>
          <a:xfrm>
            <a:off x="274320" y="216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Failed jobs recovered automatically</a:t>
            </a:r>
          </a:p>
        </p:txBody>
      </p:sp>
      <p:sp>
        <p:nvSpPr>
          <p:cNvPr id="141" name="R3A"/>
          <p:cNvSpPr/>
          <p:nvPr/>
        </p:nvSpPr>
        <p:spPr>
          <a:xfrm>
            <a:off x="4174320" y="216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No</a:t>
            </a:r>
          </a:p>
        </p:txBody>
      </p:sp>
      <p:sp>
        <p:nvSpPr>
          <p:cNvPr id="142" name="R3B"/>
          <p:cNvSpPr/>
          <p:nvPr/>
        </p:nvSpPr>
        <p:spPr>
          <a:xfrm>
            <a:off x="6522000" y="216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Yes</a:t>
            </a:r>
          </a:p>
        </p:txBody>
      </p:sp>
      <p:sp>
        <p:nvSpPr>
          <p:cNvPr id="150" name="R4L"/>
          <p:cNvSpPr/>
          <p:nvPr/>
        </p:nvSpPr>
        <p:spPr>
          <a:xfrm>
            <a:off x="274320" y="2405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Peak load handled in experiment</a:t>
            </a:r>
          </a:p>
        </p:txBody>
      </p:sp>
      <p:sp>
        <p:nvSpPr>
          <p:cNvPr id="151" name="R4A"/>
          <p:cNvSpPr/>
          <p:nvPr/>
        </p:nvSpPr>
        <p:spPr>
          <a:xfrm>
            <a:off x="4174320" y="240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35 jobs/min</a:t>
            </a:r>
          </a:p>
        </p:txBody>
      </p:sp>
      <p:sp>
        <p:nvSpPr>
          <p:cNvPr id="152" name="R4B"/>
          <p:cNvSpPr/>
          <p:nvPr/>
        </p:nvSpPr>
        <p:spPr>
          <a:xfrm>
            <a:off x="6522000" y="2405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120 jobs/min</a:t>
            </a:r>
          </a:p>
        </p:txBody>
      </p:sp>
      <p:sp>
        <p:nvSpPr>
          <p:cNvPr id="160" name="R5L"/>
          <p:cNvSpPr/>
          <p:nvPr/>
        </p:nvSpPr>
        <p:spPr>
          <a:xfrm>
            <a:off x="274320" y="2650000"/>
            <a:ext cx="3900000" cy="245000"/>
          </a:xfrm>
          <a:prstGeom prst="rect">
            <a:avLst/>
          </a:prstGeom>
          <a:solidFill>
            <a:srgbClr val="F5F1E8"/>
          </a:solidFill>
          <a:ln w="12700">
            <a:solidFill>
              <a:srgbClr val="C9B991"/>
            </a:solidFill>
          </a:ln>
        </p:spPr>
        <p:txBody>
          <a:bodyPr wrap="square" lIns="137160" tIns="18288" rIns="45720" bIns="18288" anchor="ctr"/>
          <a:lstStyle/>
          <a:p>
            <a:pPr algn="l">
              <a:buNone/>
            </a:pPr>
            <a:r>
              <a:rPr lang="en-US" sz="1400" b="0" i="0" dirty="0">
                <a:solidFill>
                  <a:srgbClr val="5C4826"/>
                </a:solidFill>
              </a:rPr>
              <a:t>New operational components</a:t>
            </a:r>
          </a:p>
        </p:txBody>
      </p:sp>
      <p:sp>
        <p:nvSpPr>
          <p:cNvPr id="161" name="R5A"/>
          <p:cNvSpPr/>
          <p:nvPr/>
        </p:nvSpPr>
        <p:spPr>
          <a:xfrm>
            <a:off x="4174320" y="265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0</a:t>
            </a:r>
          </a:p>
        </p:txBody>
      </p:sp>
      <p:sp>
        <p:nvSpPr>
          <p:cNvPr id="162" name="R5B"/>
          <p:cNvSpPr/>
          <p:nvPr/>
        </p:nvSpPr>
        <p:spPr>
          <a:xfrm>
            <a:off x="6522000" y="2650000"/>
            <a:ext cx="2347680" cy="245000"/>
          </a:xfrm>
          <a:prstGeom prst="rect">
            <a:avLst/>
          </a:prstGeom>
          <a:solidFill>
            <a:srgbClr val="FBF8F2"/>
          </a:solidFill>
          <a:ln w="12700">
            <a:solidFill>
              <a:srgbClr val="C9B991"/>
            </a:solidFill>
          </a:ln>
        </p:spPr>
        <p:txBody>
          <a:bodyPr wrap="square" lIns="45720" tIns="18288" rIns="45720" bIns="18288" anchor="ctr"/>
          <a:lstStyle/>
          <a:p>
            <a:pPr algn="ctr">
              <a:buNone/>
            </a:pPr>
            <a:r>
              <a:rPr lang="en-US" sz="1400" b="1" i="0" dirty="0">
                <a:solidFill>
                  <a:srgbClr val="5C4826"/>
                </a:solidFill>
              </a:rPr>
              <a:t>3</a:t>
            </a:r>
          </a:p>
        </p:txBody>
      </p:sp>
      <p:sp>
        <p:nvSpPr>
          <p:cNvPr id="170" name="DecisionContext"/>
          <p:cNvSpPr/>
          <p:nvPr/>
        </p:nvSpPr>
        <p:spPr>
          <a:xfrm>
            <a:off x="274320" y="3025000"/>
            <a:ext cx="8595360" cy="860000"/>
          </a:xfrm>
          <a:prstGeom prst="rect">
            <a:avLst/>
          </a:prstGeom>
          <a:solidFill>
            <a:srgbClr val="E8F0F7"/>
          </a:solidFill>
          <a:ln w="25400">
            <a:solidFill>
              <a:srgbClr val="5B87AD"/>
            </a:solidFill>
          </a:ln>
        </p:spPr>
        <p:txBody>
          <a:bodyPr wrap="square" lIns="137160" tIns="27432" rIns="137160" bIns="27432" anchor="ctr"/>
          <a:lstStyle/>
          <a:p>
            <a:pPr algn="l">
              <a:lnSpc>
                <a:spcPts val="1560"/>
              </a:lnSpc>
              <a:buNone/>
            </a:pPr>
            <a:r>
              <a:rPr lang="en-US" sz="1300" b="1" i="0" dirty="0">
                <a:solidFill>
                  <a:srgbClr val="1F4E71"/>
                </a:solidFill>
              </a:rPr>
              <a:t>DECISION CONTEXT</a:t>
            </a:r>
          </a:p>
          <a:p>
            <a:pPr algn="l">
              <a:lnSpc>
                <a:spcPts val="1600"/>
              </a:lnSpc>
              <a:spcBef>
                <a:spcPts val="200"/>
              </a:spcBef>
              <a:buNone/>
            </a:pPr>
            <a:r>
              <a:rPr lang="en-US" sz="1400" b="0" i="0" dirty="0">
                <a:solidFill>
                  <a:srgbClr val="5C4826"/>
                </a:solidFill>
              </a:rPr>
              <a:t>Expected launch traffic is 20–50 jobs/min, with substantial uncertainty.</a:t>
            </a:r>
          </a:p>
          <a:p>
            <a:pPr algn="l">
              <a:lnSpc>
                <a:spcPts val="1600"/>
              </a:lnSpc>
              <a:buNone/>
            </a:pPr>
            <a:r>
              <a:rPr lang="en-US" sz="1400" b="0" i="0" dirty="0">
                <a:solidFill>
                  <a:srgbClr val="5C4826"/>
                </a:solidFill>
              </a:rPr>
              <a:t>A customer is waiting for the feature. Each day spent gathering more evidence delays delivery by one day.</a:t>
            </a:r>
          </a:p>
          <a:p>
            <a:pPr algn="l">
              <a:lnSpc>
                <a:spcPts val="1600"/>
              </a:lnSpc>
              <a:buNone/>
            </a:pPr>
            <a:r>
              <a:rPr lang="en-US" sz="1400" b="1" i="0" dirty="0">
                <a:solidFill>
                  <a:srgbClr val="5C4826"/>
                </a:solidFill>
              </a:rPr>
              <a:t>The team must decide what to do today.</a:t>
            </a:r>
          </a:p>
        </p:txBody>
      </p:sp>
      <p:sp>
        <p:nvSpPr>
          <p:cNvPr id="180" name="DecideBadge"/>
          <p:cNvSpPr/>
          <p:nvPr/>
        </p:nvSpPr>
        <p:spPr>
          <a:xfrm>
            <a:off x="274320" y="4000000"/>
            <a:ext cx="2560320" cy="290000"/>
          </a:xfrm>
          <a:prstGeom prst="roundRect">
            <a:avLst/>
          </a:prstGeom>
          <a:solidFill>
            <a:srgbClr val="FBF8F2"/>
          </a:solidFill>
          <a:ln w="15875">
            <a:solidFill>
              <a:srgbClr val="8E6F3E"/>
            </a:solidFill>
          </a:ln>
        </p:spPr>
        <p:txBody>
          <a:bodyPr wrap="square" lIns="45720" tIns="9144" rIns="45720" bIns="9144" anchor="ctr"/>
          <a:lstStyle/>
          <a:p>
            <a:pPr algn="ctr">
              <a:buNone/>
            </a:pPr>
            <a:r>
              <a:rPr lang="en-US" sz="1400" b="1" i="0" dirty="0">
                <a:solidFill>
                  <a:srgbClr val="8E6F3E"/>
                </a:solidFill>
              </a:rPr>
              <a:t>MAKE THE DECISION</a:t>
            </a:r>
          </a:p>
        </p:txBody>
      </p:sp>
      <p:sp>
        <p:nvSpPr>
          <p:cNvPr id="181" name="DecideNote"/>
          <p:cNvSpPr txBox="1"/>
          <p:nvPr/>
        </p:nvSpPr>
        <p:spPr>
          <a:xfrm>
            <a:off x="2980000" y="4000000"/>
            <a:ext cx="3200000" cy="290000"/>
          </a:xfrm>
          <a:prstGeom prst="rect">
            <a:avLst/>
          </a:prstGeom>
          <a:noFill/>
          <a:ln>
            <a:noFill/>
          </a:ln>
        </p:spPr>
        <p:txBody>
          <a:bodyPr wrap="square" lIns="0" tIns="0" rIns="0" bIns="0" anchor="ctr"/>
          <a:lstStyle/>
          <a:p>
            <a:pPr algn="l">
              <a:buNone/>
            </a:pPr>
            <a:r>
              <a:rPr lang="en-US" sz="1400" b="0" i="0" dirty="0">
                <a:solidFill>
                  <a:srgbClr val="5C4826"/>
                </a:solidFill>
              </a:rPr>
              <a:t>You have 10 minutes.</a:t>
            </a:r>
          </a:p>
        </p:txBody>
      </p:sp>
      <p:sp>
        <p:nvSpPr>
          <p:cNvPr id="210" name="FooterBand"/>
          <p:cNvSpPr/>
          <p:nvPr/>
        </p:nvSpPr>
        <p:spPr>
          <a:xfrm>
            <a:off x="274320" y="5900000"/>
            <a:ext cx="8595360" cy="555664"/>
          </a:xfrm>
          <a:prstGeom prst="rect">
            <a:avLst/>
          </a:prstGeom>
          <a:solidFill>
            <a:srgbClr val="8E6F3E"/>
          </a:solidFill>
          <a:ln>
            <a:noFill/>
          </a:ln>
        </p:spPr>
        <p:txBody>
          <a:bodyPr wrap="square" lIns="91440" tIns="27432" rIns="91440" bIns="27432" anchor="ctr"/>
          <a:lstStyle/>
          <a:p>
            <a:pPr algn="ctr">
              <a:buNone/>
            </a:pPr>
            <a:r>
              <a:rPr lang="en-US" sz="1600" b="1" i="0" dirty="0">
                <a:solidFill>
                  <a:srgbClr val="FFFFFF"/>
                </a:solidFill>
              </a:rPr>
              <a:t>You cannot answer “it depends” without saying what it depends on.</a:t>
            </a:r>
          </a:p>
        </p:txBody>
      </p:sp>
      <p:sp>
        <p:nvSpPr>
          <p:cNvPr id="190" name="Questions"/>
          <p:cNvSpPr txBox="1"/>
          <p:nvPr/>
        </p:nvSpPr>
        <p:spPr>
          <a:xfrm>
            <a:off x="274320" y="4400000"/>
            <a:ext cx="6000000" cy="1330000"/>
          </a:xfrm>
          <a:prstGeom prst="rect">
            <a:avLst/>
          </a:prstGeom>
          <a:noFill/>
          <a:ln>
            <a:noFill/>
          </a:ln>
        </p:spPr>
        <p:txBody>
          <a:bodyPr wrap="square" lIns="0" tIns="0" rIns="0" bIns="0" anchor="t"/>
          <a:lstStyle/>
          <a:p>
            <a:pPr marL="274320" indent="-274320" algn="l">
              <a:lnSpc>
                <a:spcPts val="1560"/>
              </a:lnSpc>
              <a:spcBef>
                <a:spcPts val="250"/>
              </a:spcBef>
              <a:buNone/>
            </a:pPr>
            <a:r>
              <a:rPr lang="en-US" sz="1300" b="1" i="0" dirty="0">
                <a:solidFill>
                  <a:srgbClr val="8E6F3E"/>
                </a:solidFill>
              </a:rPr>
              <a:t>1  </a:t>
            </a:r>
            <a:r>
              <a:rPr lang="en-US" sz="1300" b="0" i="0" dirty="0">
                <a:solidFill>
                  <a:srgbClr val="5C4826"/>
                </a:solidFill>
              </a:rPr>
              <a:t>What consequential properties matter?</a:t>
            </a:r>
          </a:p>
          <a:p>
            <a:pPr marL="274320" indent="-274320" algn="l">
              <a:lnSpc>
                <a:spcPts val="1560"/>
              </a:lnSpc>
              <a:spcBef>
                <a:spcPts val="250"/>
              </a:spcBef>
              <a:buNone/>
            </a:pPr>
            <a:r>
              <a:rPr lang="en-US" sz="1300" b="1" i="0" dirty="0">
                <a:solidFill>
                  <a:srgbClr val="8E6F3E"/>
                </a:solidFill>
              </a:rPr>
              <a:t>2  </a:t>
            </a:r>
            <a:r>
              <a:rPr lang="en-US" sz="1300" b="0" i="0" dirty="0">
                <a:solidFill>
                  <a:srgbClr val="5C4826"/>
                </a:solidFill>
              </a:rPr>
              <a:t>What do these measurements support? What do they not tell you?</a:t>
            </a:r>
          </a:p>
          <a:p>
            <a:pPr marL="274320" indent="-274320" algn="l">
              <a:lnSpc>
                <a:spcPts val="1560"/>
              </a:lnSpc>
              <a:spcBef>
                <a:spcPts val="250"/>
              </a:spcBef>
              <a:buNone/>
            </a:pPr>
            <a:r>
              <a:rPr lang="en-US" sz="1300" b="1" i="0" dirty="0">
                <a:solidFill>
                  <a:srgbClr val="8E6F3E"/>
                </a:solidFill>
              </a:rPr>
              <a:t>3  </a:t>
            </a:r>
            <a:r>
              <a:rPr lang="en-US" sz="1300" b="0" i="0" dirty="0">
                <a:solidFill>
                  <a:srgbClr val="5C4826"/>
                </a:solidFill>
              </a:rPr>
              <a:t>What unresolved uncertainty is most capable of changing your decision?</a:t>
            </a:r>
          </a:p>
          <a:p>
            <a:pPr marL="274320" indent="-274320" algn="l">
              <a:lnSpc>
                <a:spcPts val="1560"/>
              </a:lnSpc>
              <a:spcBef>
                <a:spcPts val="250"/>
              </a:spcBef>
              <a:buNone/>
            </a:pPr>
            <a:r>
              <a:rPr lang="en-US" sz="1300" b="1" i="0" dirty="0">
                <a:solidFill>
                  <a:srgbClr val="8E6F3E"/>
                </a:solidFill>
              </a:rPr>
              <a:t>4  </a:t>
            </a:r>
            <a:r>
              <a:rPr lang="en-US" sz="1300" b="0" i="0" dirty="0">
                <a:solidFill>
                  <a:srgbClr val="5C4826"/>
                </a:solidFill>
              </a:rPr>
              <a:t>What observation would most reduce that uncertainty?</a:t>
            </a:r>
          </a:p>
          <a:p>
            <a:pPr marL="274320" indent="-274320" algn="l">
              <a:lnSpc>
                <a:spcPts val="1560"/>
              </a:lnSpc>
              <a:spcBef>
                <a:spcPts val="250"/>
              </a:spcBef>
              <a:buNone/>
            </a:pPr>
            <a:r>
              <a:rPr lang="en-US" sz="1300" b="1" i="0" dirty="0">
                <a:solidFill>
                  <a:srgbClr val="8E6F3E"/>
                </a:solidFill>
              </a:rPr>
              <a:t>5  </a:t>
            </a:r>
            <a:r>
              <a:rPr lang="en-US" sz="1300" b="0" i="0" dirty="0">
                <a:solidFill>
                  <a:srgbClr val="5C4826"/>
                </a:solidFill>
              </a:rPr>
              <a:t>Is obtaining that information worth its cost or delay? Why?</a:t>
            </a:r>
          </a:p>
          <a:p>
            <a:pPr marL="274320" indent="-274320" algn="l">
              <a:lnSpc>
                <a:spcPts val="1560"/>
              </a:lnSpc>
              <a:spcBef>
                <a:spcPts val="250"/>
              </a:spcBef>
              <a:buNone/>
            </a:pPr>
            <a:r>
              <a:rPr lang="en-US" sz="1300" b="1" i="0" dirty="0">
                <a:solidFill>
                  <a:srgbClr val="8E6F3E"/>
                </a:solidFill>
              </a:rPr>
              <a:t>6  </a:t>
            </a:r>
            <a:r>
              <a:rPr lang="en-US" sz="1300" b="1" i="0" dirty="0">
                <a:solidFill>
                  <a:srgbClr val="5C4826"/>
                </a:solidFill>
              </a:rPr>
              <a:t>What should the team do? Defend the decision.</a:t>
            </a:r>
          </a:p>
        </p:txBody>
      </p:sp>
      <p:pic>
        <p:nvPicPr>
          <p:cNvPr id="4" name="Picture 3">
            <a:extLst>
              <a:ext uri="{FF2B5EF4-FFF2-40B4-BE49-F238E27FC236}">
                <a16:creationId xmlns:a16="http://schemas.microsoft.com/office/drawing/2014/main" id="{5F99D84E-2A70-7702-D8EF-78BCD9DA4EA6}"/>
              </a:ext>
            </a:extLst>
          </p:cNvPr>
          <p:cNvPicPr>
            <a:picLocks noChangeAspect="1"/>
          </p:cNvPicPr>
          <p:nvPr/>
        </p:nvPicPr>
        <p:blipFill>
          <a:blip r:embed="rId3"/>
          <a:stretch>
            <a:fillRect/>
          </a:stretch>
        </p:blipFill>
        <p:spPr>
          <a:xfrm>
            <a:off x="6380000" y="4090000"/>
            <a:ext cx="1560115" cy="1606001"/>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5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500"/>
                                        <p:tgtEl>
                                          <p:spTgt spid="20"/>
                                        </p:tgtEl>
                                      </p:cBhvr>
                                    </p:animEffect>
                                  </p:childTnLst>
                                </p:cTn>
                              </p:par>
                              <p:par>
                                <p:cTn id="24" presetID="10" presetClass="entr" presetSubtype="0" fill="hold"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nodeType="with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500"/>
                                        <p:tgtEl>
                                          <p:spTgt spid="2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nodeType="withEffect">
                                  <p:stCondLst>
                                    <p:cond delay="0"/>
                                  </p:stCondLst>
                                  <p:childTnLst>
                                    <p:set>
                                      <p:cBhvr>
                                        <p:cTn id="41" dur="1" fill="hold">
                                          <p:stCondLst>
                                            <p:cond delay="0"/>
                                          </p:stCondLst>
                                        </p:cTn>
                                        <p:tgtEl>
                                          <p:spTgt spid="25"/>
                                        </p:tgtEl>
                                        <p:attrNameLst>
                                          <p:attrName>style.visibility</p:attrName>
                                        </p:attrNameLst>
                                      </p:cBhvr>
                                      <p:to>
                                        <p:strVal val="visible"/>
                                      </p:to>
                                    </p:set>
                                    <p:animEffect transition="in" filter="fade">
                                      <p:cBhvr>
                                        <p:cTn id="42" dur="500"/>
                                        <p:tgtEl>
                                          <p:spTgt spid="2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00"/>
                                        <p:tgtEl>
                                          <p:spTgt spid="26"/>
                                        </p:tgtEl>
                                      </p:cBhvr>
                                    </p:animEffect>
                                  </p:childTnLst>
                                </p:cTn>
                              </p:par>
                              <p:par>
                                <p:cTn id="48" presetID="10" presetClass="entr" presetSubtype="0" fill="hold"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500"/>
                                        <p:tgtEl>
                                          <p:spTgt spid="28"/>
                                        </p:tgtEl>
                                      </p:cBhvr>
                                    </p:animEffect>
                                  </p:childTnLst>
                                </p:cTn>
                              </p:par>
                              <p:par>
                                <p:cTn id="56" presetID="10" presetClass="entr" presetSubtype="0" fill="hold" nodeType="with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500"/>
                                        <p:tgtEl>
                                          <p:spTgt spid="2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00"/>
                                        <p:tgtEl>
                                          <p:spTgt spid="30"/>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4"/>
                                        </p:tgtEl>
                                        <p:attrNameLst>
                                          <p:attrName>style.visibility</p:attrName>
                                        </p:attrNameLst>
                                      </p:cBhvr>
                                      <p:to>
                                        <p:strVal val="visible"/>
                                      </p:to>
                                    </p:set>
                                    <p:animEffect transition="in" filter="fade">
                                      <p:cBhvr>
                                        <p:cTn id="73" dur="500"/>
                                        <p:tgtEl>
                                          <p:spTgt spid="94"/>
                                        </p:tgtEl>
                                      </p:cBhvr>
                                    </p:animEffect>
                                  </p:childTnLst>
                                </p:cTn>
                              </p:par>
                              <p:par>
                                <p:cTn id="74" presetID="10" presetClass="entr" presetSubtype="0" fill="hold" nodeType="withEffect">
                                  <p:stCondLst>
                                    <p:cond delay="0"/>
                                  </p:stCondLst>
                                  <p:childTnLst>
                                    <p:set>
                                      <p:cBhvr>
                                        <p:cTn id="75" dur="1" fill="hold">
                                          <p:stCondLst>
                                            <p:cond delay="0"/>
                                          </p:stCondLst>
                                        </p:cTn>
                                        <p:tgtEl>
                                          <p:spTgt spid="95"/>
                                        </p:tgtEl>
                                        <p:attrNameLst>
                                          <p:attrName>style.visibility</p:attrName>
                                        </p:attrNameLst>
                                      </p:cBhvr>
                                      <p:to>
                                        <p:strVal val="visible"/>
                                      </p:to>
                                    </p:set>
                                    <p:animEffect transition="in" filter="fade">
                                      <p:cBhvr>
                                        <p:cTn id="76" dur="500"/>
                                        <p:tgtEl>
                                          <p:spTgt spid="95"/>
                                        </p:tgtEl>
                                      </p:cBhvr>
                                    </p:animEffect>
                                  </p:childTnLst>
                                </p:cTn>
                              </p:par>
                              <p:par>
                                <p:cTn id="77" presetID="10" presetClass="entr" presetSubtype="0" fill="hold" nodeType="withEffect">
                                  <p:stCondLst>
                                    <p:cond delay="0"/>
                                  </p:stCondLst>
                                  <p:childTnLst>
                                    <p:set>
                                      <p:cBhvr>
                                        <p:cTn id="78" dur="1" fill="hold">
                                          <p:stCondLst>
                                            <p:cond delay="0"/>
                                          </p:stCondLst>
                                        </p:cTn>
                                        <p:tgtEl>
                                          <p:spTgt spid="96"/>
                                        </p:tgtEl>
                                        <p:attrNameLst>
                                          <p:attrName>style.visibility</p:attrName>
                                        </p:attrNameLst>
                                      </p:cBhvr>
                                      <p:to>
                                        <p:strVal val="visible"/>
                                      </p:to>
                                    </p:set>
                                    <p:animEffect transition="in" filter="fade">
                                      <p:cBhvr>
                                        <p:cTn id="79" dur="500"/>
                                        <p:tgtEl>
                                          <p:spTgt spid="96"/>
                                        </p:tgtEl>
                                      </p:cBhvr>
                                    </p:animEffect>
                                  </p:childTnLst>
                                </p:cTn>
                              </p:par>
                              <p:par>
                                <p:cTn id="80" presetID="10" presetClass="entr" presetSubtype="0" fill="hold" nodeType="withEffect">
                                  <p:stCondLst>
                                    <p:cond delay="0"/>
                                  </p:stCondLst>
                                  <p:childTnLst>
                                    <p:set>
                                      <p:cBhvr>
                                        <p:cTn id="81" dur="1" fill="hold">
                                          <p:stCondLst>
                                            <p:cond delay="0"/>
                                          </p:stCondLst>
                                        </p:cTn>
                                        <p:tgtEl>
                                          <p:spTgt spid="97"/>
                                        </p:tgtEl>
                                        <p:attrNameLst>
                                          <p:attrName>style.visibility</p:attrName>
                                        </p:attrNameLst>
                                      </p:cBhvr>
                                      <p:to>
                                        <p:strVal val="visible"/>
                                      </p:to>
                                    </p:set>
                                    <p:animEffect transition="in" filter="fade">
                                      <p:cBhvr>
                                        <p:cTn id="82" dur="500"/>
                                        <p:tgtEl>
                                          <p:spTgt spid="97"/>
                                        </p:tgtEl>
                                      </p:cBhvr>
                                    </p:animEffect>
                                  </p:childTnLst>
                                </p:cTn>
                              </p:par>
                              <p:par>
                                <p:cTn id="83" presetID="10" presetClass="entr" presetSubtype="0" fill="hold" nodeType="withEffect">
                                  <p:stCondLst>
                                    <p:cond delay="0"/>
                                  </p:stCondLst>
                                  <p:childTnLst>
                                    <p:set>
                                      <p:cBhvr>
                                        <p:cTn id="84" dur="1" fill="hold">
                                          <p:stCondLst>
                                            <p:cond delay="0"/>
                                          </p:stCondLst>
                                        </p:cTn>
                                        <p:tgtEl>
                                          <p:spTgt spid="98"/>
                                        </p:tgtEl>
                                        <p:attrNameLst>
                                          <p:attrName>style.visibility</p:attrName>
                                        </p:attrNameLst>
                                      </p:cBhvr>
                                      <p:to>
                                        <p:strVal val="visible"/>
                                      </p:to>
                                    </p:set>
                                    <p:animEffect transition="in" filter="fade">
                                      <p:cBhvr>
                                        <p:cTn id="85" dur="500"/>
                                        <p:tgtEl>
                                          <p:spTgt spid="98"/>
                                        </p:tgtEl>
                                      </p:cBhvr>
                                    </p:animEffect>
                                  </p:childTnLst>
                                </p:cTn>
                              </p:par>
                              <p:par>
                                <p:cTn id="86" presetID="10" presetClass="entr" presetSubtype="0" fill="hold" nodeType="withEffect">
                                  <p:stCondLst>
                                    <p:cond delay="0"/>
                                  </p:stCondLst>
                                  <p:childTnLst>
                                    <p:set>
                                      <p:cBhvr>
                                        <p:cTn id="87" dur="1" fill="hold">
                                          <p:stCondLst>
                                            <p:cond delay="0"/>
                                          </p:stCondLst>
                                        </p:cTn>
                                        <p:tgtEl>
                                          <p:spTgt spid="99"/>
                                        </p:tgtEl>
                                        <p:attrNameLst>
                                          <p:attrName>style.visibility</p:attrName>
                                        </p:attrNameLst>
                                      </p:cBhvr>
                                      <p:to>
                                        <p:strVal val="visible"/>
                                      </p:to>
                                    </p:set>
                                    <p:animEffect transition="in" filter="fade">
                                      <p:cBhvr>
                                        <p:cTn id="88" dur="500"/>
                                        <p:tgtEl>
                                          <p:spTgt spid="99"/>
                                        </p:tgtEl>
                                      </p:cBhvr>
                                    </p:animEffect>
                                  </p:childTnLst>
                                </p:cTn>
                              </p:par>
                              <p:par>
                                <p:cTn id="89" presetID="10" presetClass="entr" presetSubtype="0" fill="hold" nodeType="withEffect">
                                  <p:stCondLst>
                                    <p:cond delay="0"/>
                                  </p:stCondLst>
                                  <p:childTnLst>
                                    <p:set>
                                      <p:cBhvr>
                                        <p:cTn id="90" dur="1" fill="hold">
                                          <p:stCondLst>
                                            <p:cond delay="0"/>
                                          </p:stCondLst>
                                        </p:cTn>
                                        <p:tgtEl>
                                          <p:spTgt spid="100"/>
                                        </p:tgtEl>
                                        <p:attrNameLst>
                                          <p:attrName>style.visibility</p:attrName>
                                        </p:attrNameLst>
                                      </p:cBhvr>
                                      <p:to>
                                        <p:strVal val="visible"/>
                                      </p:to>
                                    </p:set>
                                    <p:animEffect transition="in" filter="fade">
                                      <p:cBhvr>
                                        <p:cTn id="91" dur="500"/>
                                        <p:tgtEl>
                                          <p:spTgt spid="100"/>
                                        </p:tgtEl>
                                      </p:cBhvr>
                                    </p:animEffect>
                                  </p:childTnLst>
                                </p:cTn>
                              </p:par>
                              <p:par>
                                <p:cTn id="92" presetID="10" presetClass="entr" presetSubtype="0" fill="hold" nodeType="withEffect">
                                  <p:stCondLst>
                                    <p:cond delay="0"/>
                                  </p:stCondLst>
                                  <p:childTnLst>
                                    <p:set>
                                      <p:cBhvr>
                                        <p:cTn id="93" dur="1" fill="hold">
                                          <p:stCondLst>
                                            <p:cond delay="0"/>
                                          </p:stCondLst>
                                        </p:cTn>
                                        <p:tgtEl>
                                          <p:spTgt spid="101"/>
                                        </p:tgtEl>
                                        <p:attrNameLst>
                                          <p:attrName>style.visibility</p:attrName>
                                        </p:attrNameLst>
                                      </p:cBhvr>
                                      <p:to>
                                        <p:strVal val="visible"/>
                                      </p:to>
                                    </p:set>
                                    <p:animEffect transition="in" filter="fade">
                                      <p:cBhvr>
                                        <p:cTn id="94" dur="500"/>
                                        <p:tgtEl>
                                          <p:spTgt spid="101"/>
                                        </p:tgtEl>
                                      </p:cBhvr>
                                    </p:animEffect>
                                  </p:childTnLst>
                                </p:cTn>
                              </p:par>
                              <p:par>
                                <p:cTn id="95" presetID="10" presetClass="entr" presetSubtype="0" fill="hold" nodeType="withEffect">
                                  <p:stCondLst>
                                    <p:cond delay="0"/>
                                  </p:stCondLst>
                                  <p:childTnLst>
                                    <p:set>
                                      <p:cBhvr>
                                        <p:cTn id="96" dur="1" fill="hold">
                                          <p:stCondLst>
                                            <p:cond delay="0"/>
                                          </p:stCondLst>
                                        </p:cTn>
                                        <p:tgtEl>
                                          <p:spTgt spid="102"/>
                                        </p:tgtEl>
                                        <p:attrNameLst>
                                          <p:attrName>style.visibility</p:attrName>
                                        </p:attrNameLst>
                                      </p:cBhvr>
                                      <p:to>
                                        <p:strVal val="visible"/>
                                      </p:to>
                                    </p:set>
                                    <p:animEffect transition="in" filter="fade">
                                      <p:cBhvr>
                                        <p:cTn id="97" dur="500"/>
                                        <p:tgtEl>
                                          <p:spTgt spid="102"/>
                                        </p:tgtEl>
                                      </p:cBhvr>
                                    </p:animEffect>
                                  </p:childTnLst>
                                </p:cTn>
                              </p:par>
                              <p:par>
                                <p:cTn id="98" presetID="10" presetClass="entr" presetSubtype="0" fill="hold" nodeType="withEffect">
                                  <p:stCondLst>
                                    <p:cond delay="0"/>
                                  </p:stCondLst>
                                  <p:childTnLst>
                                    <p:set>
                                      <p:cBhvr>
                                        <p:cTn id="99" dur="1" fill="hold">
                                          <p:stCondLst>
                                            <p:cond delay="0"/>
                                          </p:stCondLst>
                                        </p:cTn>
                                        <p:tgtEl>
                                          <p:spTgt spid="103"/>
                                        </p:tgtEl>
                                        <p:attrNameLst>
                                          <p:attrName>style.visibility</p:attrName>
                                        </p:attrNameLst>
                                      </p:cBhvr>
                                      <p:to>
                                        <p:strVal val="visible"/>
                                      </p:to>
                                    </p:set>
                                    <p:animEffect transition="in" filter="fade">
                                      <p:cBhvr>
                                        <p:cTn id="100" dur="500"/>
                                        <p:tgtEl>
                                          <p:spTgt spid="103"/>
                                        </p:tgtEl>
                                      </p:cBhvr>
                                    </p:animEffect>
                                  </p:childTnLst>
                                </p:cTn>
                              </p:par>
                              <p:par>
                                <p:cTn id="101" presetID="10" presetClass="entr" presetSubtype="0" fill="hold" nodeType="withEffect">
                                  <p:stCondLst>
                                    <p:cond delay="0"/>
                                  </p:stCondLst>
                                  <p:childTnLst>
                                    <p:set>
                                      <p:cBhvr>
                                        <p:cTn id="102" dur="1" fill="hold">
                                          <p:stCondLst>
                                            <p:cond delay="0"/>
                                          </p:stCondLst>
                                        </p:cTn>
                                        <p:tgtEl>
                                          <p:spTgt spid="104"/>
                                        </p:tgtEl>
                                        <p:attrNameLst>
                                          <p:attrName>style.visibility</p:attrName>
                                        </p:attrNameLst>
                                      </p:cBhvr>
                                      <p:to>
                                        <p:strVal val="visible"/>
                                      </p:to>
                                    </p:set>
                                    <p:animEffect transition="in" filter="fade">
                                      <p:cBhvr>
                                        <p:cTn id="103"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What happens if </a:t>
            </a:r>
            <a:endParaRPr lang="en-US" sz="2000" dirty="0">
              <a:solidFill>
                <a:srgbClr val="5C4826"/>
              </a:solidFill>
            </a:endParaRPr>
          </a:p>
          <a:p>
            <a:pPr algn="ctr">
              <a:buNone/>
            </a:pPr>
            <a:r>
              <a:rPr lang="en-US" sz="2000" b="0" i="0" dirty="0">
                <a:solidFill>
                  <a:srgbClr val="5C4826"/>
                </a:solidFill>
              </a:rPr>
              <a:t>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(confident)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Can consequences </a:t>
            </a:r>
          </a:p>
          <a:p>
            <a:pPr algn="ctr">
              <a:buNone/>
            </a:pPr>
            <a:r>
              <a:rPr lang="en-US" sz="2000" b="0" i="0" dirty="0">
                <a:solidFill>
                  <a:srgbClr val="5C4826"/>
                </a:solidFill>
              </a:rPr>
              <a:t>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dirty="0">
                <a:solidFill>
                  <a:srgbClr val="555960"/>
                </a:solidFill>
              </a:rPr>
              <a:t>The same margin may be comfortable in a game </a:t>
            </a:r>
            <a:endParaRPr lang="en-US" sz="2000" b="0" i="1" dirty="0">
              <a:solidFill>
                <a:srgbClr val="555960"/>
              </a:solidFill>
            </a:endParaRPr>
          </a:p>
          <a:p>
            <a:pPr algn="ctr"/>
            <a:r>
              <a:rPr sz="2000" b="0" i="1" dirty="0">
                <a:solidFill>
                  <a:srgbClr val="555960"/>
                </a:solidFill>
              </a:rPr>
              <a:t>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p:bldP spid="108"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DELIVER</a:t>
            </a:r>
          </a:p>
        </p:txBody>
      </p:sp>
      <p:sp>
        <p:nvSpPr>
          <p:cNvPr id="110" name="A1"/>
          <p:cNvSpPr/>
          <p:nvPr/>
        </p:nvSpPr>
        <p:spPr>
          <a:xfrm>
            <a:off x="2020824"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GATHER</a:t>
            </a:r>
          </a:p>
          <a:p>
            <a:pPr algn="ctr"/>
            <a:r>
              <a:rPr sz="2000" b="1" i="0">
                <a:solidFill>
                  <a:srgbClr val="5C4826"/>
                </a:solidFill>
              </a:rPr>
              <a:t>MORE</a:t>
            </a:r>
          </a:p>
          <a:p>
            <a:pPr algn="ctr"/>
            <a:r>
              <a:rPr sz="2000" b="1" i="0">
                <a:solidFill>
                  <a:srgbClr val="5C4826"/>
                </a:solidFill>
              </a:rPr>
              <a:t>EVIDENCE</a:t>
            </a:r>
          </a:p>
        </p:txBody>
      </p:sp>
      <p:sp>
        <p:nvSpPr>
          <p:cNvPr id="111" name="A2"/>
          <p:cNvSpPr/>
          <p:nvPr/>
        </p:nvSpPr>
        <p:spPr>
          <a:xfrm>
            <a:off x="3767328"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CHANGE</a:t>
            </a:r>
          </a:p>
        </p:txBody>
      </p:sp>
      <p:sp>
        <p:nvSpPr>
          <p:cNvPr id="112" name="A3"/>
          <p:cNvSpPr/>
          <p:nvPr/>
        </p:nvSpPr>
        <p:spPr>
          <a:xfrm>
            <a:off x="5513832"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REVISIT</a:t>
            </a:r>
          </a:p>
          <a:p>
            <a:pPr algn="ctr"/>
            <a:r>
              <a:rPr sz="2000" b="1" i="0">
                <a:solidFill>
                  <a:srgbClr val="5C4826"/>
                </a:solidFill>
              </a:rPr>
              <a:t>UPSTREAM</a:t>
            </a:r>
          </a:p>
        </p:txBody>
      </p:sp>
      <p:sp>
        <p:nvSpPr>
          <p:cNvPr id="113" name="A4"/>
          <p:cNvSpPr/>
          <p:nvPr/>
        </p:nvSpPr>
        <p:spPr>
          <a:xfrm>
            <a:off x="7260336" y="2651760"/>
            <a:ext cx="1609344"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REFUSE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E8F0F7"/>
          </a:solidFill>
          <a:ln w="12700">
            <a:solidFill>
              <a:srgbClr val="A9C4DB"/>
            </a:solidFill>
          </a:ln>
        </p:spPr>
        <p:txBody>
          <a:bodyPr wrap="square" lIns="91440" tIns="45720" rIns="91440" bIns="45720" anchor="ctr"/>
          <a:lstStyle/>
          <a:p>
            <a:pPr algn="ctr">
              <a:buNone/>
            </a:pPr>
            <a:r>
              <a:rPr lang="en-US" sz="2000" b="0" i="0" dirty="0">
                <a:solidFill>
                  <a:srgbClr val="5C4826"/>
                </a:solidFill>
              </a:rPr>
              <a:t>Engineering is the discipline of exercising </a:t>
            </a:r>
          </a:p>
          <a:p>
            <a:pPr algn="ctr">
              <a:buNone/>
            </a:pPr>
            <a:r>
              <a:rPr lang="en-US" sz="2000" b="0" i="0" dirty="0">
                <a:solidFill>
                  <a:srgbClr val="5C4826"/>
                </a:solidFill>
              </a:rPr>
              <a:t>informed control over consequential systems.</a:t>
            </a:r>
          </a:p>
        </p:txBody>
      </p:sp>
      <p:sp>
        <p:nvSpPr>
          <p:cNvPr id="102" name="Close"/>
          <p:cNvSpPr txBox="1"/>
          <p:nvPr/>
        </p:nvSpPr>
        <p:spPr>
          <a:xfrm>
            <a:off x="685800" y="3108960"/>
            <a:ext cx="7772400" cy="104101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Engineering judgment determines what </a:t>
            </a:r>
          </a:p>
          <a:p>
            <a:pPr algn="ctr">
              <a:spcBef>
                <a:spcPts val="160"/>
              </a:spcBef>
              <a:buNone/>
            </a:pPr>
            <a:r>
              <a:rPr lang="en-US" sz="2000" b="0" i="0" dirty="0">
                <a:solidFill>
                  <a:srgbClr val="555960"/>
                </a:solidFill>
              </a:rPr>
              <a:t>those observations 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8630</TotalTime>
  <Words>6559</Words>
  <Application>Microsoft Macintosh PowerPoint</Application>
  <PresentationFormat>On-screen Show (4:3)</PresentationFormat>
  <Paragraphs>661</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Times</vt:lpstr>
      <vt:lpstr>Wingdings</vt:lpstr>
      <vt:lpstr>Purdue1</vt:lpstr>
      <vt:lpstr>PowerPoint Presentation</vt:lpstr>
      <vt:lpstr>Engineers need to make decisions</vt:lpstr>
      <vt:lpstr>We must decide before we know</vt:lpstr>
      <vt:lpstr>Good decision ≠ good outcome</vt:lpstr>
      <vt:lpstr>What do we need to know?</vt:lpstr>
      <vt:lpstr>Models let us reason before we know</vt:lpstr>
      <vt:lpstr>From decision to evidence</vt:lpstr>
      <vt:lpstr>Evidence takes many forms</vt:lpstr>
      <vt:lpstr>What observation would change the decision?</vt:lpstr>
      <vt:lpstr>Recap: What do we need to know?</vt:lpstr>
      <vt:lpstr>From properties to measurements</vt:lpstr>
      <vt:lpstr>Property → Metric → Measurement → Evidence</vt:lpstr>
      <vt:lpstr>A metric operationalizes a property</vt:lpstr>
      <vt:lpstr>Measurement parameterizes the model</vt:lpstr>
      <vt:lpstr>What does 420 ms tell us?</vt:lpstr>
      <vt:lpstr>Measure where the property exists</vt:lpstr>
      <vt:lpstr>Direct and indirect measurement</vt:lpstr>
      <vt:lpstr>Metrics leave things out</vt:lpstr>
      <vt:lpstr>One property may need several views</vt:lpstr>
      <vt:lpstr>Stretch break</vt:lpstr>
      <vt:lpstr>When metrics mislead</vt:lpstr>
      <vt:lpstr>“Developer productivity increased 22%.”</vt:lpstr>
      <vt:lpstr>Proxy metrics</vt:lpstr>
      <vt:lpstr>Goodhart’s Law and surrogation</vt:lpstr>
      <vt:lpstr>Metrics do not have context-free meanings</vt:lpstr>
      <vt:lpstr>Before using a metric</vt:lpstr>
      <vt:lpstr>You have to choose</vt:lpstr>
      <vt:lpstr>From measurement to action</vt:lpstr>
      <vt:lpstr>Measurements become evidence</vt:lpstr>
      <vt:lpstr>The same evidence can justify different actions</vt:lpstr>
      <vt:lpstr>What should we do?</vt:lpstr>
      <vt:lpstr>Before the decision · After the outcome</vt:lpstr>
      <vt:lpstr>Engineering is informed control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413</cp:revision>
  <dcterms:created xsi:type="dcterms:W3CDTF">2020-02-21T23:00:33Z</dcterms:created>
  <dcterms:modified xsi:type="dcterms:W3CDTF">2026-09-24T17:23:38Z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